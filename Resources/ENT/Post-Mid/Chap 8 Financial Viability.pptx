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5" roundtripDataSignature="AMtx7mgJ5nLVTmp2MMnX17MTpOOU9QPW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CA08C3-715C-4A61-9D14-A62D07780F15}">
  <a:tblStyle styleId="{50CA08C3-715C-4A61-9D14-A62D07780F15}"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127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033879C0-7D80-405A-93CE-FBF772F808C0}" styleName="Table_1">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If this PowerPoint presentation contains mathematical equations, you may need to check that your computer has the following installed:</a:t>
            </a:r>
            <a:endParaRPr/>
          </a:p>
          <a:p>
            <a:pPr indent="0" lvl="0" marL="0" marR="0" rtl="0" algn="l">
              <a:lnSpc>
                <a:spcPct val="100000"/>
              </a:lnSpc>
              <a:spcBef>
                <a:spcPts val="0"/>
              </a:spcBef>
              <a:spcAft>
                <a:spcPts val="0"/>
              </a:spcAft>
              <a:buClr>
                <a:schemeClr val="dk1"/>
              </a:buClr>
              <a:buSzPts val="1200"/>
              <a:buFont typeface="Arial"/>
              <a:buNone/>
            </a:pPr>
            <a:r>
              <a:rPr lang="en-US"/>
              <a:t>1) MathType Plugin</a:t>
            </a:r>
            <a:endParaRPr/>
          </a:p>
          <a:p>
            <a:pPr indent="0" lvl="0" marL="0" marR="0" rtl="0" algn="l">
              <a:lnSpc>
                <a:spcPct val="100000"/>
              </a:lnSpc>
              <a:spcBef>
                <a:spcPts val="0"/>
              </a:spcBef>
              <a:spcAft>
                <a:spcPts val="0"/>
              </a:spcAft>
              <a:buClr>
                <a:schemeClr val="dk1"/>
              </a:buClr>
              <a:buSzPts val="1200"/>
              <a:buFont typeface="Arial"/>
              <a:buNone/>
            </a:pPr>
            <a:r>
              <a:rPr lang="en-US"/>
              <a:t>2) Math Player (free versions available)</a:t>
            </a:r>
            <a:endParaRPr/>
          </a:p>
          <a:p>
            <a:pPr indent="0" lvl="0" marL="0" marR="0" rtl="0" algn="l">
              <a:lnSpc>
                <a:spcPct val="100000"/>
              </a:lnSpc>
              <a:spcBef>
                <a:spcPts val="0"/>
              </a:spcBef>
              <a:spcAft>
                <a:spcPts val="0"/>
              </a:spcAft>
              <a:buClr>
                <a:schemeClr val="dk1"/>
              </a:buClr>
              <a:buSzPts val="1200"/>
              <a:buFont typeface="Arial"/>
              <a:buNone/>
            </a:pPr>
            <a:r>
              <a:rPr lang="en-US"/>
              <a:t>3) NVDA Reader (free versions available)</a:t>
            </a:r>
            <a:endParaRPr/>
          </a:p>
        </p:txBody>
      </p:sp>
      <p:sp>
        <p:nvSpPr>
          <p:cNvPr id="109" name="Google Shape;10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a0c5cba76_4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a0c5cba76_4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aa0c5cba76_4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hapter Opener" showMasterSp="0">
  <p:cSld name="2_Chapter Opener">
    <p:spTree>
      <p:nvGrpSpPr>
        <p:cNvPr id="17" name="Shape 17"/>
        <p:cNvGrpSpPr/>
        <p:nvPr/>
      </p:nvGrpSpPr>
      <p:grpSpPr>
        <a:xfrm>
          <a:off x="0" y="0"/>
          <a:ext cx="0" cy="0"/>
          <a:chOff x="0" y="0"/>
          <a:chExt cx="0" cy="0"/>
        </a:xfrm>
      </p:grpSpPr>
      <p:sp>
        <p:nvSpPr>
          <p:cNvPr id="18" name="Google Shape;18;p39"/>
          <p:cNvSpPr txBox="1"/>
          <p:nvPr>
            <p:ph type="title"/>
          </p:nvPr>
        </p:nvSpPr>
        <p:spPr>
          <a:xfrm>
            <a:off x="457200" y="215372"/>
            <a:ext cx="8229600" cy="6228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9"/>
          <p:cNvSpPr txBox="1"/>
          <p:nvPr>
            <p:ph idx="1" type="body"/>
          </p:nvPr>
        </p:nvSpPr>
        <p:spPr>
          <a:xfrm>
            <a:off x="457200" y="816430"/>
            <a:ext cx="8229600" cy="47897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000"/>
              <a:buNone/>
              <a:defRPr sz="2000">
                <a:solidFill>
                  <a:srgbClr val="007FA3"/>
                </a:solidFil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SzPts val="2400"/>
              <a:buNone/>
              <a:defRPr sz="2400">
                <a:solidFill>
                  <a:schemeClr val="lt1"/>
                </a:solidFill>
              </a:defRPr>
            </a:lvl6pPr>
            <a:lvl7pPr indent="-228600" lvl="6" marL="3200400" algn="l">
              <a:spcBef>
                <a:spcPts val="0"/>
              </a:spcBef>
              <a:spcAft>
                <a:spcPts val="0"/>
              </a:spcAft>
              <a:buSzPts val="2400"/>
              <a:buNone/>
              <a:defRPr sz="2400">
                <a:solidFill>
                  <a:schemeClr val="lt1"/>
                </a:solidFill>
              </a:defRPr>
            </a:lvl7pPr>
            <a:lvl8pPr indent="-228600" lvl="7" marL="3657600" algn="l">
              <a:spcBef>
                <a:spcPts val="0"/>
              </a:spcBef>
              <a:spcAft>
                <a:spcPts val="0"/>
              </a:spcAft>
              <a:buSzPts val="2400"/>
              <a:buNone/>
              <a:defRPr sz="2400">
                <a:solidFill>
                  <a:schemeClr val="lt1"/>
                </a:solidFill>
              </a:defRPr>
            </a:lvl8pPr>
            <a:lvl9pPr indent="-228600" lvl="8" marL="4114800" algn="l">
              <a:spcBef>
                <a:spcPts val="0"/>
              </a:spcBef>
              <a:spcAft>
                <a:spcPts val="0"/>
              </a:spcAft>
              <a:buSzPts val="2400"/>
              <a:buNone/>
              <a:defRPr sz="2400">
                <a:solidFill>
                  <a:schemeClr val="lt1"/>
                </a:solidFill>
              </a:defRPr>
            </a:lvl9pPr>
          </a:lstStyle>
          <a:p/>
        </p:txBody>
      </p:sp>
      <p:sp>
        <p:nvSpPr>
          <p:cNvPr id="20" name="Google Shape;20;p39"/>
          <p:cNvSpPr txBox="1"/>
          <p:nvPr>
            <p:ph idx="2" type="body"/>
          </p:nvPr>
        </p:nvSpPr>
        <p:spPr>
          <a:xfrm>
            <a:off x="5029200" y="1600201"/>
            <a:ext cx="3657600" cy="1600199"/>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3000"/>
              <a:buNone/>
              <a:defRPr sz="3000"/>
            </a:lvl1pPr>
            <a:lvl2pPr indent="-228600" lvl="1" marL="914400" algn="l">
              <a:spcBef>
                <a:spcPts val="0"/>
              </a:spcBef>
              <a:spcAft>
                <a:spcPts val="0"/>
              </a:spcAft>
              <a:buSzPts val="4400"/>
              <a:buNone/>
              <a:defRPr sz="4400"/>
            </a:lvl2pPr>
            <a:lvl3pPr indent="-228600" lvl="2" marL="1371600" algn="l">
              <a:spcBef>
                <a:spcPts val="0"/>
              </a:spcBef>
              <a:spcAft>
                <a:spcPts val="0"/>
              </a:spcAft>
              <a:buSzPts val="4400"/>
              <a:buNone/>
              <a:defRPr sz="4400"/>
            </a:lvl3pPr>
            <a:lvl4pPr indent="-228600" lvl="3" marL="1828800" algn="l">
              <a:spcBef>
                <a:spcPts val="0"/>
              </a:spcBef>
              <a:spcAft>
                <a:spcPts val="0"/>
              </a:spcAft>
              <a:buSzPts val="4400"/>
              <a:buNone/>
              <a:defRPr sz="4400"/>
            </a:lvl4pPr>
            <a:lvl5pPr indent="-228600" lvl="4" marL="2286000" algn="l">
              <a:spcBef>
                <a:spcPts val="0"/>
              </a:spcBef>
              <a:spcAft>
                <a:spcPts val="0"/>
              </a:spcAft>
              <a:buSzPts val="4400"/>
              <a:buNone/>
              <a:defRPr sz="4400"/>
            </a:lvl5pPr>
            <a:lvl6pPr indent="-228600" lvl="5" marL="2743200" algn="l">
              <a:spcBef>
                <a:spcPts val="0"/>
              </a:spcBef>
              <a:spcAft>
                <a:spcPts val="0"/>
              </a:spcAft>
              <a:buSzPts val="4400"/>
              <a:buNone/>
              <a:defRPr sz="4400"/>
            </a:lvl6pPr>
            <a:lvl7pPr indent="-228600" lvl="6" marL="3200400" algn="l">
              <a:spcBef>
                <a:spcPts val="0"/>
              </a:spcBef>
              <a:spcAft>
                <a:spcPts val="0"/>
              </a:spcAft>
              <a:buSzPts val="4400"/>
              <a:buNone/>
              <a:defRPr sz="4400"/>
            </a:lvl7pPr>
            <a:lvl8pPr indent="-228600" lvl="7" marL="3657600" algn="l">
              <a:spcBef>
                <a:spcPts val="0"/>
              </a:spcBef>
              <a:spcAft>
                <a:spcPts val="0"/>
              </a:spcAft>
              <a:buSzPts val="4400"/>
              <a:buNone/>
              <a:defRPr sz="4400"/>
            </a:lvl8pPr>
            <a:lvl9pPr indent="-228600" lvl="8" marL="4114800" algn="l">
              <a:spcBef>
                <a:spcPts val="0"/>
              </a:spcBef>
              <a:spcAft>
                <a:spcPts val="0"/>
              </a:spcAft>
              <a:buSzPts val="4400"/>
              <a:buNone/>
              <a:defRPr sz="4400"/>
            </a:lvl9pPr>
          </a:lstStyle>
          <a:p/>
        </p:txBody>
      </p:sp>
      <p:sp>
        <p:nvSpPr>
          <p:cNvPr id="21" name="Google Shape;21;p39"/>
          <p:cNvSpPr txBox="1"/>
          <p:nvPr>
            <p:ph idx="3" type="body"/>
          </p:nvPr>
        </p:nvSpPr>
        <p:spPr>
          <a:xfrm>
            <a:off x="5029200" y="3200400"/>
            <a:ext cx="3657600" cy="292576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200"/>
              <a:buNone/>
              <a:defRPr sz="2200"/>
            </a:lvl1pPr>
            <a:lvl2pPr indent="-228600" lvl="1" marL="914400" algn="l">
              <a:spcBef>
                <a:spcPts val="0"/>
              </a:spcBef>
              <a:spcAft>
                <a:spcPts val="0"/>
              </a:spcAft>
              <a:buSzPts val="1600"/>
              <a:buNone/>
              <a:defRPr/>
            </a:lvl2pPr>
            <a:lvl3pPr indent="-228600" lvl="2" marL="1371600" algn="l">
              <a:spcBef>
                <a:spcPts val="0"/>
              </a:spcBef>
              <a:spcAft>
                <a:spcPts val="0"/>
              </a:spcAft>
              <a:buSzPts val="1600"/>
              <a:buNone/>
              <a:defRPr/>
            </a:lvl3pPr>
            <a:lvl4pPr indent="-228600" lvl="3" marL="1828800" algn="l">
              <a:spcBef>
                <a:spcPts val="0"/>
              </a:spcBef>
              <a:spcAft>
                <a:spcPts val="0"/>
              </a:spcAft>
              <a:buSzPts val="1600"/>
              <a:buNone/>
              <a:defRPr/>
            </a:lvl4pPr>
            <a:lvl5pPr indent="-228600" lvl="4" marL="2286000" algn="l">
              <a:spcBef>
                <a:spcPts val="0"/>
              </a:spcBef>
              <a:spcAft>
                <a:spcPts val="0"/>
              </a:spcAft>
              <a:buSzPts val="1600"/>
              <a:buNone/>
              <a:defRPr/>
            </a:lvl5pPr>
            <a:lvl6pPr indent="-228600" lvl="5" marL="2743200" algn="l">
              <a:spcBef>
                <a:spcPts val="0"/>
              </a:spcBef>
              <a:spcAft>
                <a:spcPts val="0"/>
              </a:spcAft>
              <a:buSzPts val="1600"/>
              <a:buNone/>
              <a:defRPr/>
            </a:lvl6pPr>
            <a:lvl7pPr indent="-228600" lvl="6" marL="3200400" algn="l">
              <a:spcBef>
                <a:spcPts val="0"/>
              </a:spcBef>
              <a:spcAft>
                <a:spcPts val="0"/>
              </a:spcAft>
              <a:buSzPts val="1600"/>
              <a:buNone/>
              <a:defRPr/>
            </a:lvl7pPr>
            <a:lvl8pPr indent="-228600" lvl="7" marL="3657600" algn="l">
              <a:spcBef>
                <a:spcPts val="0"/>
              </a:spcBef>
              <a:spcAft>
                <a:spcPts val="0"/>
              </a:spcAft>
              <a:buSzPts val="1600"/>
              <a:buNone/>
              <a:defRPr/>
            </a:lvl8pPr>
            <a:lvl9pPr indent="-228600" lvl="8" marL="4114800" algn="l">
              <a:spcBef>
                <a:spcPts val="0"/>
              </a:spcBef>
              <a:spcAft>
                <a:spcPts val="0"/>
              </a:spcAft>
              <a:buSzPts val="1600"/>
              <a:buNone/>
              <a:defRPr/>
            </a:lvl9pPr>
          </a:lstStyle>
          <a:p/>
        </p:txBody>
      </p:sp>
      <p:sp>
        <p:nvSpPr>
          <p:cNvPr id="22" name="Google Shape;22;p39"/>
          <p:cNvSpPr txBox="1"/>
          <p:nvPr>
            <p:ph idx="11" type="ftr"/>
          </p:nvPr>
        </p:nvSpPr>
        <p:spPr>
          <a:xfrm>
            <a:off x="93969" y="6165337"/>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9"/>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9"/>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25" name="Google Shape;25;p39"/>
          <p:cNvPicPr preferRelativeResize="0"/>
          <p:nvPr/>
        </p:nvPicPr>
        <p:blipFill rotWithShape="1">
          <a:blip r:embed="rId2">
            <a:alphaModFix/>
          </a:blip>
          <a:srcRect b="0" l="0" r="0" t="0"/>
          <a:stretch/>
        </p:blipFill>
        <p:spPr>
          <a:xfrm>
            <a:off x="457200" y="6434394"/>
            <a:ext cx="918000" cy="279915"/>
          </a:xfrm>
          <a:prstGeom prst="rect">
            <a:avLst/>
          </a:prstGeom>
          <a:noFill/>
          <a:ln>
            <a:noFill/>
          </a:ln>
        </p:spPr>
      </p:pic>
      <p:sp>
        <p:nvSpPr>
          <p:cNvPr id="26" name="Google Shape;26;p39"/>
          <p:cNvSpPr txBox="1"/>
          <p:nvPr/>
        </p:nvSpPr>
        <p:spPr>
          <a:xfrm>
            <a:off x="2590800" y="6407663"/>
            <a:ext cx="609600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2019 Pearson Education, Ltd. All Rights Reserved.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p:cSld name="Learning Objectives">
    <p:spTree>
      <p:nvGrpSpPr>
        <p:cNvPr id="27" name="Shape 27"/>
        <p:cNvGrpSpPr/>
        <p:nvPr/>
      </p:nvGrpSpPr>
      <p:grpSpPr>
        <a:xfrm>
          <a:off x="0" y="0"/>
          <a:ext cx="0" cy="0"/>
          <a:chOff x="0" y="0"/>
          <a:chExt cx="0" cy="0"/>
        </a:xfrm>
      </p:grpSpPr>
      <p:sp>
        <p:nvSpPr>
          <p:cNvPr id="28" name="Google Shape;28;p40"/>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254000" lvl="0" marL="457200" algn="l">
              <a:spcBef>
                <a:spcPts val="1500"/>
              </a:spcBef>
              <a:spcAft>
                <a:spcPts val="0"/>
              </a:spcAft>
              <a:buClr>
                <a:srgbClr val="007FA3"/>
              </a:buClr>
              <a:buSzPts val="400"/>
              <a:buChar char="•"/>
              <a:defRPr sz="1600"/>
            </a:lvl1pPr>
            <a:lvl2pPr indent="-330200" lvl="1" marL="914400" algn="l">
              <a:spcBef>
                <a:spcPts val="600"/>
              </a:spcBef>
              <a:spcAft>
                <a:spcPts val="0"/>
              </a:spcAft>
              <a:buClr>
                <a:srgbClr val="007FA3"/>
              </a:buClr>
              <a:buSzPts val="1600"/>
              <a:buChar char="–"/>
              <a:defRPr sz="1600"/>
            </a:lvl2pPr>
            <a:lvl3pPr indent="-330200" lvl="2" marL="1371600" algn="l">
              <a:spcBef>
                <a:spcPts val="600"/>
              </a:spcBef>
              <a:spcAft>
                <a:spcPts val="0"/>
              </a:spcAft>
              <a:buClr>
                <a:srgbClr val="007FA3"/>
              </a:buClr>
              <a:buSzPts val="1600"/>
              <a:buChar char="▪"/>
              <a:defRPr sz="1600"/>
            </a:lvl3pPr>
            <a:lvl4pPr indent="-330200" lvl="3" marL="1828800" algn="l">
              <a:spcBef>
                <a:spcPts val="600"/>
              </a:spcBef>
              <a:spcAft>
                <a:spcPts val="0"/>
              </a:spcAft>
              <a:buClr>
                <a:srgbClr val="007FA3"/>
              </a:buClr>
              <a:buSzPts val="1600"/>
              <a:buChar char="–"/>
              <a:defRPr sz="1600"/>
            </a:lvl4pPr>
            <a:lvl5pPr indent="-330200" lvl="4" marL="2286000" algn="l">
              <a:spcBef>
                <a:spcPts val="600"/>
              </a:spcBef>
              <a:spcAft>
                <a:spcPts val="0"/>
              </a:spcAft>
              <a:buClr>
                <a:srgbClr val="007FA3"/>
              </a:buClr>
              <a:buSzPts val="1600"/>
              <a:buChar char="•"/>
              <a:defRPr sz="1600"/>
            </a:lvl5pPr>
            <a:lvl6pPr indent="-330200" lvl="5" marL="2743200" algn="l">
              <a:spcBef>
                <a:spcPts val="300"/>
              </a:spcBef>
              <a:spcAft>
                <a:spcPts val="0"/>
              </a:spcAft>
              <a:buClr>
                <a:srgbClr val="007FA3"/>
              </a:buClr>
              <a:buSzPts val="1600"/>
              <a:buChar char="•"/>
              <a:defRPr sz="1600"/>
            </a:lvl6pPr>
            <a:lvl7pPr indent="-330200" lvl="6" marL="3200400" algn="l">
              <a:spcBef>
                <a:spcPts val="300"/>
              </a:spcBef>
              <a:spcAft>
                <a:spcPts val="0"/>
              </a:spcAft>
              <a:buClr>
                <a:srgbClr val="007FA3"/>
              </a:buClr>
              <a:buSzPts val="1600"/>
              <a:buChar char="•"/>
              <a:defRPr sz="1600"/>
            </a:lvl7pPr>
            <a:lvl8pPr indent="-330200" lvl="7" marL="3657600" algn="l">
              <a:spcBef>
                <a:spcPts val="300"/>
              </a:spcBef>
              <a:spcAft>
                <a:spcPts val="0"/>
              </a:spcAft>
              <a:buClr>
                <a:srgbClr val="007FA3"/>
              </a:buClr>
              <a:buSzPts val="1600"/>
              <a:buChar char="•"/>
              <a:defRPr sz="1600"/>
            </a:lvl8pPr>
            <a:lvl9pPr indent="-330200" lvl="8" marL="4114800" algn="l">
              <a:spcBef>
                <a:spcPts val="300"/>
              </a:spcBef>
              <a:spcAft>
                <a:spcPts val="0"/>
              </a:spcAft>
              <a:buClr>
                <a:srgbClr val="007FA3"/>
              </a:buClr>
              <a:buSzPts val="1600"/>
              <a:buChar char="•"/>
              <a:defRPr sz="1600"/>
            </a:lvl9pPr>
          </a:lstStyle>
          <a:p/>
        </p:txBody>
      </p:sp>
      <p:sp>
        <p:nvSpPr>
          <p:cNvPr id="30" name="Google Shape;30;p40"/>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p41"/>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Clr>
                <a:srgbClr val="007FA3"/>
              </a:buClr>
              <a:buSzPts val="1600"/>
              <a:buChar char="•"/>
              <a:defRPr/>
            </a:lvl1pPr>
            <a:lvl2pPr indent="-330200" lvl="1" marL="914400" algn="l">
              <a:spcBef>
                <a:spcPts val="600"/>
              </a:spcBef>
              <a:spcAft>
                <a:spcPts val="0"/>
              </a:spcAft>
              <a:buClr>
                <a:srgbClr val="007FA3"/>
              </a:buClr>
              <a:buSzPts val="1600"/>
              <a:buChar char="–"/>
              <a:defRPr/>
            </a:lvl2pPr>
            <a:lvl3pPr indent="-330200" lvl="2" marL="1371600" algn="l">
              <a:spcBef>
                <a:spcPts val="600"/>
              </a:spcBef>
              <a:spcAft>
                <a:spcPts val="0"/>
              </a:spcAft>
              <a:buClr>
                <a:srgbClr val="007FA3"/>
              </a:buClr>
              <a:buSzPts val="1600"/>
              <a:buChar char="▪"/>
              <a:defRPr/>
            </a:lvl3pPr>
            <a:lvl4pPr indent="-330200" lvl="3" marL="1828800" algn="l">
              <a:spcBef>
                <a:spcPts val="600"/>
              </a:spcBef>
              <a:spcAft>
                <a:spcPts val="0"/>
              </a:spcAft>
              <a:buClr>
                <a:srgbClr val="007FA3"/>
              </a:buClr>
              <a:buSzPts val="1600"/>
              <a:buChar char="–"/>
              <a:defRPr/>
            </a:lvl4pPr>
            <a:lvl5pPr indent="-330200" lvl="4" marL="2286000" algn="l">
              <a:spcBef>
                <a:spcPts val="600"/>
              </a:spcBef>
              <a:spcAft>
                <a:spcPts val="0"/>
              </a:spcAft>
              <a:buClr>
                <a:srgbClr val="007FA3"/>
              </a:buClr>
              <a:buSzPts val="1600"/>
              <a:buChar char="•"/>
              <a:defRPr/>
            </a:lvl5pPr>
            <a:lvl6pPr indent="-330200" lvl="5" marL="2743200" algn="l">
              <a:spcBef>
                <a:spcPts val="300"/>
              </a:spcBef>
              <a:spcAft>
                <a:spcPts val="0"/>
              </a:spcAft>
              <a:buClr>
                <a:srgbClr val="007FA3"/>
              </a:buClr>
              <a:buSzPts val="1600"/>
              <a:buChar char="•"/>
              <a:defRPr/>
            </a:lvl6pPr>
            <a:lvl7pPr indent="-330200" lvl="6" marL="3200400" algn="l">
              <a:spcBef>
                <a:spcPts val="300"/>
              </a:spcBef>
              <a:spcAft>
                <a:spcPts val="0"/>
              </a:spcAft>
              <a:buClr>
                <a:srgbClr val="007FA3"/>
              </a:buClr>
              <a:buSzPts val="1600"/>
              <a:buChar char="•"/>
              <a:defRPr/>
            </a:lvl7pPr>
            <a:lvl8pPr indent="-330200" lvl="7" marL="3657600" algn="l">
              <a:spcBef>
                <a:spcPts val="300"/>
              </a:spcBef>
              <a:spcAft>
                <a:spcPts val="0"/>
              </a:spcAft>
              <a:buClr>
                <a:srgbClr val="007FA3"/>
              </a:buClr>
              <a:buSzPts val="1600"/>
              <a:buChar char="•"/>
              <a:defRPr/>
            </a:lvl8pPr>
            <a:lvl9pPr indent="-330200" lvl="8" marL="4114800" algn="l">
              <a:spcBef>
                <a:spcPts val="300"/>
              </a:spcBef>
              <a:spcAft>
                <a:spcPts val="0"/>
              </a:spcAft>
              <a:buClr>
                <a:srgbClr val="007FA3"/>
              </a:buClr>
              <a:buSzPts val="1600"/>
              <a:buChar char="•"/>
              <a:defRPr/>
            </a:lvl9pPr>
          </a:lstStyle>
          <a:p/>
        </p:txBody>
      </p:sp>
      <p:sp>
        <p:nvSpPr>
          <p:cNvPr id="36" name="Google Shape;36;p41"/>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1"/>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9" name="Shape 39"/>
        <p:cNvGrpSpPr/>
        <p:nvPr/>
      </p:nvGrpSpPr>
      <p:grpSpPr>
        <a:xfrm>
          <a:off x="0" y="0"/>
          <a:ext cx="0" cy="0"/>
          <a:chOff x="0" y="0"/>
          <a:chExt cx="0" cy="0"/>
        </a:xfrm>
      </p:grpSpPr>
      <p:sp>
        <p:nvSpPr>
          <p:cNvPr id="40" name="Google Shape;40;p4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2"/>
          <p:cNvSpPr txBox="1"/>
          <p:nvPr>
            <p:ph idx="1" type="body"/>
          </p:nvPr>
        </p:nvSpPr>
        <p:spPr>
          <a:xfrm>
            <a:off x="457200" y="1600200"/>
            <a:ext cx="8229600" cy="2163763"/>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42" name="Google Shape;42;p42"/>
          <p:cNvSpPr txBox="1"/>
          <p:nvPr>
            <p:ph idx="2" type="body"/>
          </p:nvPr>
        </p:nvSpPr>
        <p:spPr>
          <a:xfrm>
            <a:off x="457200" y="3962400"/>
            <a:ext cx="8229600" cy="2163763"/>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43" name="Google Shape;43;p42"/>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2"/>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2"/>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6" name="Shape 46"/>
        <p:cNvGrpSpPr/>
        <p:nvPr/>
      </p:nvGrpSpPr>
      <p:grpSpPr>
        <a:xfrm>
          <a:off x="0" y="0"/>
          <a:ext cx="0" cy="0"/>
          <a:chOff x="0" y="0"/>
          <a:chExt cx="0" cy="0"/>
        </a:xfrm>
      </p:grpSpPr>
      <p:sp>
        <p:nvSpPr>
          <p:cNvPr id="47" name="Google Shape;47;p43"/>
          <p:cNvSpPr/>
          <p:nvPr/>
        </p:nvSpPr>
        <p:spPr>
          <a:xfrm>
            <a:off x="0" y="0"/>
            <a:ext cx="9144000" cy="3886200"/>
          </a:xfrm>
          <a:prstGeom prst="rect">
            <a:avLst/>
          </a:prstGeom>
          <a:solidFill>
            <a:srgbClr val="007FA3"/>
          </a:solidFill>
          <a:ln cap="flat" cmpd="sng" w="25400">
            <a:solidFill>
              <a:srgbClr val="007F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8" name="Google Shape;48;p43"/>
          <p:cNvSpPr txBox="1"/>
          <p:nvPr>
            <p:ph type="ctrTitle"/>
          </p:nvPr>
        </p:nvSpPr>
        <p:spPr>
          <a:xfrm>
            <a:off x="685800" y="762000"/>
            <a:ext cx="7772400" cy="283845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3600"/>
              <a:buFont typeface="Times New Roma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3"/>
          <p:cNvSpPr txBox="1"/>
          <p:nvPr>
            <p:ph idx="1" type="subTitle"/>
          </p:nvPr>
        </p:nvSpPr>
        <p:spPr>
          <a:xfrm>
            <a:off x="674687" y="3962400"/>
            <a:ext cx="7794626" cy="17526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800"/>
              <a:buNone/>
              <a:defRPr sz="1800">
                <a:solidFill>
                  <a:schemeClr val="dk1"/>
                </a:solidFill>
              </a:defRPr>
            </a:lvl1pPr>
            <a:lvl2pPr lvl="1" algn="ctr">
              <a:spcBef>
                <a:spcPts val="600"/>
              </a:spcBef>
              <a:spcAft>
                <a:spcPts val="0"/>
              </a:spcAft>
              <a:buSzPts val="1600"/>
              <a:buNone/>
              <a:defRPr>
                <a:solidFill>
                  <a:srgbClr val="888888"/>
                </a:solidFill>
              </a:defRPr>
            </a:lvl2pPr>
            <a:lvl3pPr lvl="2" algn="ctr">
              <a:spcBef>
                <a:spcPts val="600"/>
              </a:spcBef>
              <a:spcAft>
                <a:spcPts val="0"/>
              </a:spcAft>
              <a:buSzPts val="1600"/>
              <a:buNone/>
              <a:defRPr>
                <a:solidFill>
                  <a:srgbClr val="888888"/>
                </a:solidFill>
              </a:defRPr>
            </a:lvl3pPr>
            <a:lvl4pPr lvl="3" algn="ctr">
              <a:spcBef>
                <a:spcPts val="600"/>
              </a:spcBef>
              <a:spcAft>
                <a:spcPts val="0"/>
              </a:spcAft>
              <a:buSzPts val="1600"/>
              <a:buNone/>
              <a:defRPr>
                <a:solidFill>
                  <a:srgbClr val="888888"/>
                </a:solidFill>
              </a:defRPr>
            </a:lvl4pPr>
            <a:lvl5pPr lvl="4" algn="ctr">
              <a:spcBef>
                <a:spcPts val="600"/>
              </a:spcBef>
              <a:spcAft>
                <a:spcPts val="0"/>
              </a:spcAft>
              <a:buSzPts val="1600"/>
              <a:buNone/>
              <a:defRPr>
                <a:solidFill>
                  <a:srgbClr val="888888"/>
                </a:solidFill>
              </a:defRPr>
            </a:lvl5pPr>
            <a:lvl6pPr lvl="5" algn="ctr">
              <a:spcBef>
                <a:spcPts val="300"/>
              </a:spcBef>
              <a:spcAft>
                <a:spcPts val="0"/>
              </a:spcAft>
              <a:buSzPts val="1600"/>
              <a:buNone/>
              <a:defRPr>
                <a:solidFill>
                  <a:srgbClr val="888888"/>
                </a:solidFill>
              </a:defRPr>
            </a:lvl6pPr>
            <a:lvl7pPr lvl="6" algn="ctr">
              <a:spcBef>
                <a:spcPts val="300"/>
              </a:spcBef>
              <a:spcAft>
                <a:spcPts val="0"/>
              </a:spcAft>
              <a:buSzPts val="1600"/>
              <a:buNone/>
              <a:defRPr>
                <a:solidFill>
                  <a:srgbClr val="888888"/>
                </a:solidFill>
              </a:defRPr>
            </a:lvl7pPr>
            <a:lvl8pPr lvl="7" algn="ctr">
              <a:spcBef>
                <a:spcPts val="300"/>
              </a:spcBef>
              <a:spcAft>
                <a:spcPts val="0"/>
              </a:spcAft>
              <a:buSzPts val="1600"/>
              <a:buNone/>
              <a:defRPr>
                <a:solidFill>
                  <a:srgbClr val="888888"/>
                </a:solidFill>
              </a:defRPr>
            </a:lvl8pPr>
            <a:lvl9pPr lvl="8" algn="ctr">
              <a:spcBef>
                <a:spcPts val="300"/>
              </a:spcBef>
              <a:spcAft>
                <a:spcPts val="0"/>
              </a:spcAft>
              <a:buSzPts val="1600"/>
              <a:buNone/>
              <a:defRPr>
                <a:solidFill>
                  <a:srgbClr val="888888"/>
                </a:solidFill>
              </a:defRPr>
            </a:lvl9pPr>
          </a:lstStyle>
          <a:p/>
        </p:txBody>
      </p:sp>
      <p:sp>
        <p:nvSpPr>
          <p:cNvPr id="50" name="Google Shape;50;p43"/>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3"/>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53" name="Google Shape;53;p43"/>
          <p:cNvPicPr preferRelativeResize="0"/>
          <p:nvPr/>
        </p:nvPicPr>
        <p:blipFill rotWithShape="1">
          <a:blip r:embed="rId2">
            <a:alphaModFix/>
          </a:blip>
          <a:srcRect b="0" l="0" r="0" t="0"/>
          <a:stretch/>
        </p:blipFill>
        <p:spPr>
          <a:xfrm>
            <a:off x="685800" y="6434394"/>
            <a:ext cx="918000" cy="279915"/>
          </a:xfrm>
          <a:prstGeom prst="rect">
            <a:avLst/>
          </a:prstGeom>
          <a:noFill/>
          <a:ln>
            <a:noFill/>
          </a:ln>
        </p:spPr>
      </p:pic>
      <p:sp>
        <p:nvSpPr>
          <p:cNvPr id="54" name="Google Shape;54;p43"/>
          <p:cNvSpPr txBox="1"/>
          <p:nvPr/>
        </p:nvSpPr>
        <p:spPr>
          <a:xfrm>
            <a:off x="2590800" y="6407663"/>
            <a:ext cx="609600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2016, 2012, 2010 Pearson Education, Inc. All Rights Reserved.</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showMasterSp="0">
  <p:cSld name="Chapter Opener">
    <p:spTree>
      <p:nvGrpSpPr>
        <p:cNvPr id="55" name="Shape 55"/>
        <p:cNvGrpSpPr/>
        <p:nvPr/>
      </p:nvGrpSpPr>
      <p:grpSpPr>
        <a:xfrm>
          <a:off x="0" y="0"/>
          <a:ext cx="0" cy="0"/>
          <a:chOff x="0" y="0"/>
          <a:chExt cx="0" cy="0"/>
        </a:xfrm>
      </p:grpSpPr>
      <p:sp>
        <p:nvSpPr>
          <p:cNvPr id="56" name="Google Shape;56;p44"/>
          <p:cNvSpPr txBox="1"/>
          <p:nvPr>
            <p:ph type="title"/>
          </p:nvPr>
        </p:nvSpPr>
        <p:spPr>
          <a:xfrm>
            <a:off x="457200" y="215372"/>
            <a:ext cx="8229600" cy="6228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4"/>
          <p:cNvSpPr txBox="1"/>
          <p:nvPr>
            <p:ph idx="1" type="body"/>
          </p:nvPr>
        </p:nvSpPr>
        <p:spPr>
          <a:xfrm>
            <a:off x="457200" y="816430"/>
            <a:ext cx="8229600" cy="47897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000"/>
              <a:buNone/>
              <a:defRPr sz="2000">
                <a:solidFill>
                  <a:srgbClr val="007FA3"/>
                </a:solidFil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SzPts val="2400"/>
              <a:buNone/>
              <a:defRPr sz="2400">
                <a:solidFill>
                  <a:schemeClr val="lt1"/>
                </a:solidFill>
              </a:defRPr>
            </a:lvl6pPr>
            <a:lvl7pPr indent="-228600" lvl="6" marL="3200400" algn="l">
              <a:spcBef>
                <a:spcPts val="0"/>
              </a:spcBef>
              <a:spcAft>
                <a:spcPts val="0"/>
              </a:spcAft>
              <a:buSzPts val="2400"/>
              <a:buNone/>
              <a:defRPr sz="2400">
                <a:solidFill>
                  <a:schemeClr val="lt1"/>
                </a:solidFill>
              </a:defRPr>
            </a:lvl7pPr>
            <a:lvl8pPr indent="-228600" lvl="7" marL="3657600" algn="l">
              <a:spcBef>
                <a:spcPts val="0"/>
              </a:spcBef>
              <a:spcAft>
                <a:spcPts val="0"/>
              </a:spcAft>
              <a:buSzPts val="2400"/>
              <a:buNone/>
              <a:defRPr sz="2400">
                <a:solidFill>
                  <a:schemeClr val="lt1"/>
                </a:solidFill>
              </a:defRPr>
            </a:lvl8pPr>
            <a:lvl9pPr indent="-228600" lvl="8" marL="4114800" algn="l">
              <a:spcBef>
                <a:spcPts val="0"/>
              </a:spcBef>
              <a:spcAft>
                <a:spcPts val="0"/>
              </a:spcAft>
              <a:buSzPts val="2400"/>
              <a:buNone/>
              <a:defRPr sz="2400">
                <a:solidFill>
                  <a:schemeClr val="lt1"/>
                </a:solidFill>
              </a:defRPr>
            </a:lvl9pPr>
          </a:lstStyle>
          <a:p/>
        </p:txBody>
      </p:sp>
      <p:sp>
        <p:nvSpPr>
          <p:cNvPr id="58" name="Google Shape;58;p44"/>
          <p:cNvSpPr txBox="1"/>
          <p:nvPr>
            <p:ph idx="2" type="body"/>
          </p:nvPr>
        </p:nvSpPr>
        <p:spPr>
          <a:xfrm>
            <a:off x="5029200" y="1600201"/>
            <a:ext cx="3657600" cy="1600199"/>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3000"/>
              <a:buNone/>
              <a:defRPr sz="3000"/>
            </a:lvl1pPr>
            <a:lvl2pPr indent="-228600" lvl="1" marL="914400" algn="l">
              <a:spcBef>
                <a:spcPts val="0"/>
              </a:spcBef>
              <a:spcAft>
                <a:spcPts val="0"/>
              </a:spcAft>
              <a:buSzPts val="4400"/>
              <a:buNone/>
              <a:defRPr sz="4400"/>
            </a:lvl2pPr>
            <a:lvl3pPr indent="-228600" lvl="2" marL="1371600" algn="l">
              <a:spcBef>
                <a:spcPts val="0"/>
              </a:spcBef>
              <a:spcAft>
                <a:spcPts val="0"/>
              </a:spcAft>
              <a:buSzPts val="4400"/>
              <a:buNone/>
              <a:defRPr sz="4400"/>
            </a:lvl3pPr>
            <a:lvl4pPr indent="-228600" lvl="3" marL="1828800" algn="l">
              <a:spcBef>
                <a:spcPts val="0"/>
              </a:spcBef>
              <a:spcAft>
                <a:spcPts val="0"/>
              </a:spcAft>
              <a:buSzPts val="4400"/>
              <a:buNone/>
              <a:defRPr sz="4400"/>
            </a:lvl4pPr>
            <a:lvl5pPr indent="-228600" lvl="4" marL="2286000" algn="l">
              <a:spcBef>
                <a:spcPts val="0"/>
              </a:spcBef>
              <a:spcAft>
                <a:spcPts val="0"/>
              </a:spcAft>
              <a:buSzPts val="4400"/>
              <a:buNone/>
              <a:defRPr sz="4400"/>
            </a:lvl5pPr>
            <a:lvl6pPr indent="-228600" lvl="5" marL="2743200" algn="l">
              <a:spcBef>
                <a:spcPts val="0"/>
              </a:spcBef>
              <a:spcAft>
                <a:spcPts val="0"/>
              </a:spcAft>
              <a:buSzPts val="4400"/>
              <a:buNone/>
              <a:defRPr sz="4400"/>
            </a:lvl6pPr>
            <a:lvl7pPr indent="-228600" lvl="6" marL="3200400" algn="l">
              <a:spcBef>
                <a:spcPts val="0"/>
              </a:spcBef>
              <a:spcAft>
                <a:spcPts val="0"/>
              </a:spcAft>
              <a:buSzPts val="4400"/>
              <a:buNone/>
              <a:defRPr sz="4400"/>
            </a:lvl7pPr>
            <a:lvl8pPr indent="-228600" lvl="7" marL="3657600" algn="l">
              <a:spcBef>
                <a:spcPts val="0"/>
              </a:spcBef>
              <a:spcAft>
                <a:spcPts val="0"/>
              </a:spcAft>
              <a:buSzPts val="4400"/>
              <a:buNone/>
              <a:defRPr sz="4400"/>
            </a:lvl8pPr>
            <a:lvl9pPr indent="-228600" lvl="8" marL="4114800" algn="l">
              <a:spcBef>
                <a:spcPts val="0"/>
              </a:spcBef>
              <a:spcAft>
                <a:spcPts val="0"/>
              </a:spcAft>
              <a:buSzPts val="4400"/>
              <a:buNone/>
              <a:defRPr sz="4400"/>
            </a:lvl9pPr>
          </a:lstStyle>
          <a:p/>
        </p:txBody>
      </p:sp>
      <p:sp>
        <p:nvSpPr>
          <p:cNvPr id="59" name="Google Shape;59;p44"/>
          <p:cNvSpPr txBox="1"/>
          <p:nvPr>
            <p:ph idx="3" type="body"/>
          </p:nvPr>
        </p:nvSpPr>
        <p:spPr>
          <a:xfrm>
            <a:off x="5029200" y="3200400"/>
            <a:ext cx="3657600" cy="292576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200"/>
              <a:buNone/>
              <a:defRPr sz="2200"/>
            </a:lvl1pPr>
            <a:lvl2pPr indent="-228600" lvl="1" marL="914400" algn="l">
              <a:spcBef>
                <a:spcPts val="0"/>
              </a:spcBef>
              <a:spcAft>
                <a:spcPts val="0"/>
              </a:spcAft>
              <a:buSzPts val="1600"/>
              <a:buNone/>
              <a:defRPr/>
            </a:lvl2pPr>
            <a:lvl3pPr indent="-228600" lvl="2" marL="1371600" algn="l">
              <a:spcBef>
                <a:spcPts val="0"/>
              </a:spcBef>
              <a:spcAft>
                <a:spcPts val="0"/>
              </a:spcAft>
              <a:buSzPts val="1600"/>
              <a:buNone/>
              <a:defRPr/>
            </a:lvl3pPr>
            <a:lvl4pPr indent="-228600" lvl="3" marL="1828800" algn="l">
              <a:spcBef>
                <a:spcPts val="0"/>
              </a:spcBef>
              <a:spcAft>
                <a:spcPts val="0"/>
              </a:spcAft>
              <a:buSzPts val="1600"/>
              <a:buNone/>
              <a:defRPr/>
            </a:lvl4pPr>
            <a:lvl5pPr indent="-228600" lvl="4" marL="2286000" algn="l">
              <a:spcBef>
                <a:spcPts val="0"/>
              </a:spcBef>
              <a:spcAft>
                <a:spcPts val="0"/>
              </a:spcAft>
              <a:buSzPts val="1600"/>
              <a:buNone/>
              <a:defRPr/>
            </a:lvl5pPr>
            <a:lvl6pPr indent="-228600" lvl="5" marL="2743200" algn="l">
              <a:spcBef>
                <a:spcPts val="0"/>
              </a:spcBef>
              <a:spcAft>
                <a:spcPts val="0"/>
              </a:spcAft>
              <a:buSzPts val="1600"/>
              <a:buNone/>
              <a:defRPr/>
            </a:lvl6pPr>
            <a:lvl7pPr indent="-228600" lvl="6" marL="3200400" algn="l">
              <a:spcBef>
                <a:spcPts val="0"/>
              </a:spcBef>
              <a:spcAft>
                <a:spcPts val="0"/>
              </a:spcAft>
              <a:buSzPts val="1600"/>
              <a:buNone/>
              <a:defRPr/>
            </a:lvl7pPr>
            <a:lvl8pPr indent="-228600" lvl="7" marL="3657600" algn="l">
              <a:spcBef>
                <a:spcPts val="0"/>
              </a:spcBef>
              <a:spcAft>
                <a:spcPts val="0"/>
              </a:spcAft>
              <a:buSzPts val="1600"/>
              <a:buNone/>
              <a:defRPr/>
            </a:lvl8pPr>
            <a:lvl9pPr indent="-228600" lvl="8" marL="4114800" algn="l">
              <a:spcBef>
                <a:spcPts val="0"/>
              </a:spcBef>
              <a:spcAft>
                <a:spcPts val="0"/>
              </a:spcAft>
              <a:buSzPts val="1600"/>
              <a:buNone/>
              <a:defRPr/>
            </a:lvl9pPr>
          </a:lstStyle>
          <a:p/>
        </p:txBody>
      </p:sp>
      <p:pic>
        <p:nvPicPr>
          <p:cNvPr descr="Pearson Logo" id="60" name="Google Shape;60;p44"/>
          <p:cNvPicPr preferRelativeResize="0"/>
          <p:nvPr/>
        </p:nvPicPr>
        <p:blipFill rotWithShape="1">
          <a:blip r:embed="rId2">
            <a:alphaModFix/>
          </a:blip>
          <a:srcRect b="0" l="0" r="0" t="0"/>
          <a:stretch/>
        </p:blipFill>
        <p:spPr>
          <a:xfrm>
            <a:off x="453600" y="6434394"/>
            <a:ext cx="918000" cy="27991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1" name="Shape 61"/>
        <p:cNvGrpSpPr/>
        <p:nvPr/>
      </p:nvGrpSpPr>
      <p:grpSpPr>
        <a:xfrm>
          <a:off x="0" y="0"/>
          <a:ext cx="0" cy="0"/>
          <a:chOff x="0" y="0"/>
          <a:chExt cx="0" cy="0"/>
        </a:xfrm>
      </p:grpSpPr>
      <p:sp>
        <p:nvSpPr>
          <p:cNvPr id="62" name="Google Shape;62;p45"/>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5"/>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5"/>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earning Objectives and Content">
  <p:cSld name="Title + Learning Objectives and Content">
    <p:spTree>
      <p:nvGrpSpPr>
        <p:cNvPr id="66" name="Shape 66"/>
        <p:cNvGrpSpPr/>
        <p:nvPr/>
      </p:nvGrpSpPr>
      <p:grpSpPr>
        <a:xfrm>
          <a:off x="0" y="0"/>
          <a:ext cx="0" cy="0"/>
          <a:chOff x="0" y="0"/>
          <a:chExt cx="0" cy="0"/>
        </a:xfrm>
      </p:grpSpPr>
      <p:sp>
        <p:nvSpPr>
          <p:cNvPr id="67" name="Google Shape;67;p46"/>
          <p:cNvSpPr txBox="1"/>
          <p:nvPr>
            <p:ph type="title"/>
          </p:nvPr>
        </p:nvSpPr>
        <p:spPr>
          <a:xfrm>
            <a:off x="457200" y="215372"/>
            <a:ext cx="8229600" cy="6228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46"/>
          <p:cNvSpPr txBox="1"/>
          <p:nvPr>
            <p:ph idx="1" type="body"/>
          </p:nvPr>
        </p:nvSpPr>
        <p:spPr>
          <a:xfrm>
            <a:off x="457200" y="816430"/>
            <a:ext cx="8229600" cy="40277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600"/>
              <a:buNone/>
              <a:defRPr sz="1600">
                <a:solidFill>
                  <a:srgbClr val="007FA3"/>
                </a:solidFil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SzPts val="2400"/>
              <a:buNone/>
              <a:defRPr sz="2400">
                <a:solidFill>
                  <a:schemeClr val="lt1"/>
                </a:solidFill>
              </a:defRPr>
            </a:lvl6pPr>
            <a:lvl7pPr indent="-228600" lvl="6" marL="3200400" algn="l">
              <a:spcBef>
                <a:spcPts val="0"/>
              </a:spcBef>
              <a:spcAft>
                <a:spcPts val="0"/>
              </a:spcAft>
              <a:buSzPts val="2400"/>
              <a:buNone/>
              <a:defRPr sz="2400">
                <a:solidFill>
                  <a:schemeClr val="lt1"/>
                </a:solidFill>
              </a:defRPr>
            </a:lvl7pPr>
            <a:lvl8pPr indent="-228600" lvl="7" marL="3657600" algn="l">
              <a:spcBef>
                <a:spcPts val="0"/>
              </a:spcBef>
              <a:spcAft>
                <a:spcPts val="0"/>
              </a:spcAft>
              <a:buSzPts val="2400"/>
              <a:buNone/>
              <a:defRPr sz="2400">
                <a:solidFill>
                  <a:schemeClr val="lt1"/>
                </a:solidFill>
              </a:defRPr>
            </a:lvl8pPr>
            <a:lvl9pPr indent="-228600" lvl="8" marL="4114800" algn="l">
              <a:spcBef>
                <a:spcPts val="0"/>
              </a:spcBef>
              <a:spcAft>
                <a:spcPts val="0"/>
              </a:spcAft>
              <a:buSzPts val="2400"/>
              <a:buNone/>
              <a:defRPr sz="2400">
                <a:solidFill>
                  <a:schemeClr val="lt1"/>
                </a:solidFill>
              </a:defRPr>
            </a:lvl9pPr>
          </a:lstStyle>
          <a:p/>
        </p:txBody>
      </p:sp>
      <p:sp>
        <p:nvSpPr>
          <p:cNvPr id="69" name="Google Shape;69;p46"/>
          <p:cNvSpPr txBox="1"/>
          <p:nvPr>
            <p:ph idx="2"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42900" lvl="0" marL="457200" algn="l">
              <a:spcBef>
                <a:spcPts val="15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30200" lvl="4" marL="2286000" algn="l">
              <a:spcBef>
                <a:spcPts val="600"/>
              </a:spcBef>
              <a:spcAft>
                <a:spcPts val="0"/>
              </a:spcAft>
              <a:buSzPts val="1600"/>
              <a:buChar char="•"/>
              <a:defRPr/>
            </a:lvl5pPr>
            <a:lvl6pPr indent="-330200" lvl="5" marL="2743200" algn="l">
              <a:spcBef>
                <a:spcPts val="300"/>
              </a:spcBef>
              <a:spcAft>
                <a:spcPts val="0"/>
              </a:spcAft>
              <a:buSzPts val="1600"/>
              <a:buChar char="•"/>
              <a:defRPr/>
            </a:lvl6pPr>
            <a:lvl7pPr indent="-330200" lvl="6" marL="3200400" algn="l">
              <a:spcBef>
                <a:spcPts val="300"/>
              </a:spcBef>
              <a:spcAft>
                <a:spcPts val="0"/>
              </a:spcAft>
              <a:buSzPts val="1600"/>
              <a:buChar char="•"/>
              <a:defRPr/>
            </a:lvl7pPr>
            <a:lvl8pPr indent="-330200" lvl="7" marL="3657600" algn="l">
              <a:spcBef>
                <a:spcPts val="300"/>
              </a:spcBef>
              <a:spcAft>
                <a:spcPts val="0"/>
              </a:spcAft>
              <a:buSzPts val="1600"/>
              <a:buChar char="•"/>
              <a:defRPr/>
            </a:lvl8pPr>
            <a:lvl9pPr indent="-330200" lvl="8" marL="4114800" algn="l">
              <a:spcBef>
                <a:spcPts val="300"/>
              </a:spcBef>
              <a:spcAft>
                <a:spcPts val="0"/>
              </a:spcAft>
              <a:buSzPts val="1600"/>
              <a:buChar char="•"/>
              <a:defRPr/>
            </a:lvl9pPr>
          </a:lstStyle>
          <a:p/>
        </p:txBody>
      </p:sp>
      <p:sp>
        <p:nvSpPr>
          <p:cNvPr id="70" name="Google Shape;70;p46"/>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6"/>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gure + Caption" showMasterSp="0">
  <p:cSld name="Figure + Caption">
    <p:spTree>
      <p:nvGrpSpPr>
        <p:cNvPr id="73" name="Shape 73"/>
        <p:cNvGrpSpPr/>
        <p:nvPr/>
      </p:nvGrpSpPr>
      <p:grpSpPr>
        <a:xfrm>
          <a:off x="0" y="0"/>
          <a:ext cx="0" cy="0"/>
          <a:chOff x="0" y="0"/>
          <a:chExt cx="0" cy="0"/>
        </a:xfrm>
      </p:grpSpPr>
      <p:sp>
        <p:nvSpPr>
          <p:cNvPr id="74" name="Google Shape;74;p47"/>
          <p:cNvSpPr txBox="1"/>
          <p:nvPr>
            <p:ph type="title"/>
          </p:nvPr>
        </p:nvSpPr>
        <p:spPr>
          <a:xfrm>
            <a:off x="457200" y="228600"/>
            <a:ext cx="8229600" cy="1066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3400"/>
              <a:buFont typeface="Times New Roman"/>
              <a:buNone/>
              <a:defRPr sz="3400">
                <a:solidFill>
                  <a:srgbClr val="007FA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7"/>
          <p:cNvSpPr txBox="1"/>
          <p:nvPr>
            <p:ph idx="1" type="body"/>
          </p:nvPr>
        </p:nvSpPr>
        <p:spPr>
          <a:xfrm>
            <a:off x="457200" y="5368160"/>
            <a:ext cx="8229600" cy="916856"/>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800"/>
              <a:buNone/>
              <a:defRPr sz="800"/>
            </a:lvl1pPr>
            <a:lvl2pPr indent="-228600" lvl="1" marL="914400" algn="l">
              <a:spcBef>
                <a:spcPts val="0"/>
              </a:spcBef>
              <a:spcAft>
                <a:spcPts val="0"/>
              </a:spcAft>
              <a:buSzPts val="1600"/>
              <a:buNone/>
              <a:defRPr sz="1600"/>
            </a:lvl2pPr>
            <a:lvl3pPr indent="-228600" lvl="2" marL="1371600" algn="l">
              <a:spcBef>
                <a:spcPts val="0"/>
              </a:spcBef>
              <a:spcAft>
                <a:spcPts val="0"/>
              </a:spcAft>
              <a:buSzPts val="1600"/>
              <a:buNone/>
              <a:defRPr sz="1600"/>
            </a:lvl3pPr>
            <a:lvl4pPr indent="-228600" lvl="3" marL="1828800" algn="l">
              <a:spcBef>
                <a:spcPts val="0"/>
              </a:spcBef>
              <a:spcAft>
                <a:spcPts val="0"/>
              </a:spcAft>
              <a:buSzPts val="1600"/>
              <a:buNone/>
              <a:defRPr sz="1600"/>
            </a:lvl4pPr>
            <a:lvl5pPr indent="-228600" lvl="4" marL="2286000" algn="l">
              <a:spcBef>
                <a:spcPts val="0"/>
              </a:spcBef>
              <a:spcAft>
                <a:spcPts val="0"/>
              </a:spcAft>
              <a:buSzPts val="1600"/>
              <a:buNone/>
              <a:defRPr sz="1600"/>
            </a:lvl5pPr>
            <a:lvl6pPr indent="-228600" lvl="5" marL="2743200" algn="l">
              <a:spcBef>
                <a:spcPts val="0"/>
              </a:spcBef>
              <a:spcAft>
                <a:spcPts val="0"/>
              </a:spcAft>
              <a:buSzPts val="1600"/>
              <a:buNone/>
              <a:defRPr sz="1600"/>
            </a:lvl6pPr>
            <a:lvl7pPr indent="-228600" lvl="6" marL="3200400" algn="l">
              <a:spcBef>
                <a:spcPts val="0"/>
              </a:spcBef>
              <a:spcAft>
                <a:spcPts val="0"/>
              </a:spcAft>
              <a:buSzPts val="1600"/>
              <a:buNone/>
              <a:defRPr sz="1600"/>
            </a:lvl7pPr>
            <a:lvl8pPr indent="-228600" lvl="7" marL="3657600" algn="l">
              <a:spcBef>
                <a:spcPts val="0"/>
              </a:spcBef>
              <a:spcAft>
                <a:spcPts val="0"/>
              </a:spcAft>
              <a:buSzPts val="1600"/>
              <a:buNone/>
              <a:defRPr sz="1600"/>
            </a:lvl8pPr>
            <a:lvl9pPr indent="-228600" lvl="8" marL="4114800" algn="l">
              <a:spcBef>
                <a:spcPts val="0"/>
              </a:spcBef>
              <a:spcAft>
                <a:spcPts val="0"/>
              </a:spcAft>
              <a:buSzPts val="1600"/>
              <a:buNone/>
              <a:defRPr sz="1600"/>
            </a:lvl9pPr>
          </a:lstStyle>
          <a:p/>
        </p:txBody>
      </p:sp>
      <p:sp>
        <p:nvSpPr>
          <p:cNvPr id="76" name="Google Shape;76;p47"/>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7"/>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dk1"/>
                </a:solidFill>
                <a:latin typeface="Arial"/>
                <a:ea typeface="Arial"/>
                <a:cs typeface="Arial"/>
                <a:sym typeface="Arial"/>
              </a:defRPr>
            </a:lvl1pPr>
            <a:lvl2pPr indent="0" lvl="1" marL="0" algn="r">
              <a:spcBef>
                <a:spcPts val="0"/>
              </a:spcBef>
              <a:buNone/>
              <a:defRPr b="0" i="0" sz="900" u="none" cap="none" strike="noStrike">
                <a:solidFill>
                  <a:schemeClr val="dk1"/>
                </a:solidFill>
                <a:latin typeface="Arial"/>
                <a:ea typeface="Arial"/>
                <a:cs typeface="Arial"/>
                <a:sym typeface="Arial"/>
              </a:defRPr>
            </a:lvl2pPr>
            <a:lvl3pPr indent="0" lvl="2" marL="0" algn="r">
              <a:spcBef>
                <a:spcPts val="0"/>
              </a:spcBef>
              <a:buNone/>
              <a:defRPr b="0" i="0" sz="900" u="none" cap="none" strike="noStrike">
                <a:solidFill>
                  <a:schemeClr val="dk1"/>
                </a:solidFill>
                <a:latin typeface="Arial"/>
                <a:ea typeface="Arial"/>
                <a:cs typeface="Arial"/>
                <a:sym typeface="Arial"/>
              </a:defRPr>
            </a:lvl3pPr>
            <a:lvl4pPr indent="0" lvl="3" marL="0" algn="r">
              <a:spcBef>
                <a:spcPts val="0"/>
              </a:spcBef>
              <a:buNone/>
              <a:defRPr b="0" i="0" sz="900" u="none" cap="none" strike="noStrike">
                <a:solidFill>
                  <a:schemeClr val="dk1"/>
                </a:solidFill>
                <a:latin typeface="Arial"/>
                <a:ea typeface="Arial"/>
                <a:cs typeface="Arial"/>
                <a:sym typeface="Arial"/>
              </a:defRPr>
            </a:lvl4pPr>
            <a:lvl5pPr indent="0" lvl="4" marL="0" algn="r">
              <a:spcBef>
                <a:spcPts val="0"/>
              </a:spcBef>
              <a:buNone/>
              <a:defRPr b="0" i="0" sz="900" u="none" cap="none" strike="noStrike">
                <a:solidFill>
                  <a:schemeClr val="dk1"/>
                </a:solidFill>
                <a:latin typeface="Arial"/>
                <a:ea typeface="Arial"/>
                <a:cs typeface="Arial"/>
                <a:sym typeface="Arial"/>
              </a:defRPr>
            </a:lvl5pPr>
            <a:lvl6pPr indent="0" lvl="5" marL="0" algn="r">
              <a:spcBef>
                <a:spcPts val="0"/>
              </a:spcBef>
              <a:buNone/>
              <a:defRPr b="0" i="0" sz="900" u="none" cap="none" strike="noStrike">
                <a:solidFill>
                  <a:schemeClr val="dk1"/>
                </a:solidFill>
                <a:latin typeface="Arial"/>
                <a:ea typeface="Arial"/>
                <a:cs typeface="Arial"/>
                <a:sym typeface="Arial"/>
              </a:defRPr>
            </a:lvl6pPr>
            <a:lvl7pPr indent="0" lvl="6" marL="0" algn="r">
              <a:spcBef>
                <a:spcPts val="0"/>
              </a:spcBef>
              <a:buNone/>
              <a:defRPr b="0" i="0" sz="900" u="none" cap="none" strike="noStrike">
                <a:solidFill>
                  <a:schemeClr val="dk1"/>
                </a:solidFill>
                <a:latin typeface="Arial"/>
                <a:ea typeface="Arial"/>
                <a:cs typeface="Arial"/>
                <a:sym typeface="Arial"/>
              </a:defRPr>
            </a:lvl7pPr>
            <a:lvl8pPr indent="0" lvl="7" marL="0" algn="r">
              <a:spcBef>
                <a:spcPts val="0"/>
              </a:spcBef>
              <a:buNone/>
              <a:defRPr b="0" i="0" sz="900" u="none" cap="none" strike="noStrike">
                <a:solidFill>
                  <a:schemeClr val="dk1"/>
                </a:solidFill>
                <a:latin typeface="Arial"/>
                <a:ea typeface="Arial"/>
                <a:cs typeface="Arial"/>
                <a:sym typeface="Arial"/>
              </a:defRPr>
            </a:lvl8pPr>
            <a:lvl9pPr indent="0" lvl="8" mar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79" name="Google Shape;79;p47"/>
          <p:cNvPicPr preferRelativeResize="0"/>
          <p:nvPr/>
        </p:nvPicPr>
        <p:blipFill rotWithShape="1">
          <a:blip r:embed="rId2">
            <a:alphaModFix/>
          </a:blip>
          <a:srcRect b="0" l="0" r="0" t="0"/>
          <a:stretch/>
        </p:blipFill>
        <p:spPr>
          <a:xfrm>
            <a:off x="457200" y="6434394"/>
            <a:ext cx="918000" cy="279915"/>
          </a:xfrm>
          <a:prstGeom prst="rect">
            <a:avLst/>
          </a:prstGeom>
          <a:noFill/>
          <a:ln>
            <a:noFill/>
          </a:ln>
        </p:spPr>
      </p:pic>
      <p:sp>
        <p:nvSpPr>
          <p:cNvPr id="80" name="Google Shape;80;p47"/>
          <p:cNvSpPr txBox="1"/>
          <p:nvPr/>
        </p:nvSpPr>
        <p:spPr>
          <a:xfrm>
            <a:off x="2590800" y="6407663"/>
            <a:ext cx="609600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2016, 2012, 2010 Pearson Education, Inc. All Rights Reserved.</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81" name="Shape 81"/>
        <p:cNvGrpSpPr/>
        <p:nvPr/>
      </p:nvGrpSpPr>
      <p:grpSpPr>
        <a:xfrm>
          <a:off x="0" y="0"/>
          <a:ext cx="0" cy="0"/>
          <a:chOff x="0" y="0"/>
          <a:chExt cx="0" cy="0"/>
        </a:xfrm>
      </p:grpSpPr>
      <p:sp>
        <p:nvSpPr>
          <p:cNvPr id="82" name="Google Shape;82;p48"/>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8"/>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8"/>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4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48"/>
          <p:cNvSpPr txBox="1"/>
          <p:nvPr>
            <p:ph idx="1" type="body"/>
          </p:nvPr>
        </p:nvSpPr>
        <p:spPr>
          <a:xfrm>
            <a:off x="457200" y="1600201"/>
            <a:ext cx="8229600" cy="9144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87" name="Google Shape;87;p48"/>
          <p:cNvSpPr txBox="1"/>
          <p:nvPr>
            <p:ph idx="2" type="body"/>
          </p:nvPr>
        </p:nvSpPr>
        <p:spPr>
          <a:xfrm>
            <a:off x="457200" y="2667000"/>
            <a:ext cx="3886200" cy="24384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88" name="Google Shape;88;p48"/>
          <p:cNvSpPr txBox="1"/>
          <p:nvPr>
            <p:ph idx="3" type="body"/>
          </p:nvPr>
        </p:nvSpPr>
        <p:spPr>
          <a:xfrm>
            <a:off x="4419600" y="2667000"/>
            <a:ext cx="4267200" cy="2438400"/>
          </a:xfrm>
          <a:prstGeom prst="rect">
            <a:avLst/>
          </a:prstGeom>
          <a:noFill/>
          <a:ln>
            <a:noFill/>
          </a:ln>
        </p:spPr>
        <p:txBody>
          <a:bodyPr anchorCtr="0" anchor="t" bIns="0" lIns="0" spcFirstLastPara="1" rIns="0" wrap="square" tIns="0">
            <a:noAutofit/>
          </a:bodyPr>
          <a:lstStyle>
            <a:lvl1pPr indent="-342900" lvl="0" marL="457200" algn="l">
              <a:spcBef>
                <a:spcPts val="15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 name="Shape 89"/>
        <p:cNvGrpSpPr/>
        <p:nvPr/>
      </p:nvGrpSpPr>
      <p:grpSpPr>
        <a:xfrm>
          <a:off x="0" y="0"/>
          <a:ext cx="0" cy="0"/>
          <a:chOff x="0" y="0"/>
          <a:chExt cx="0" cy="0"/>
        </a:xfrm>
      </p:grpSpPr>
      <p:sp>
        <p:nvSpPr>
          <p:cNvPr id="90" name="Google Shape;90;p49"/>
          <p:cNvSpPr txBox="1"/>
          <p:nvPr>
            <p:ph type="title"/>
          </p:nvPr>
        </p:nvSpPr>
        <p:spPr>
          <a:xfrm>
            <a:off x="685800" y="1447800"/>
            <a:ext cx="7772400" cy="215265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3400"/>
              <a:buFont typeface="Times New Roman"/>
              <a:buNone/>
              <a:defRPr b="1" sz="3400" cap="none">
                <a:solidFill>
                  <a:srgbClr val="007FA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49"/>
          <p:cNvSpPr txBox="1"/>
          <p:nvPr>
            <p:ph idx="1" type="body"/>
          </p:nvPr>
        </p:nvSpPr>
        <p:spPr>
          <a:xfrm>
            <a:off x="674687" y="3962400"/>
            <a:ext cx="7794627" cy="17526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600"/>
              <a:buNone/>
              <a:defRPr sz="1600">
                <a:solidFill>
                  <a:srgbClr val="007FA3"/>
                </a:solidFill>
              </a:defRPr>
            </a:lvl1pPr>
            <a:lvl2pPr indent="-228600" lvl="1" marL="914400" algn="l">
              <a:spcBef>
                <a:spcPts val="600"/>
              </a:spcBef>
              <a:spcAft>
                <a:spcPts val="0"/>
              </a:spcAft>
              <a:buSzPts val="1800"/>
              <a:buNone/>
              <a:defRPr sz="1800">
                <a:solidFill>
                  <a:srgbClr val="888888"/>
                </a:solidFill>
              </a:defRPr>
            </a:lvl2pPr>
            <a:lvl3pPr indent="-228600" lvl="2" marL="1371600" algn="l">
              <a:spcBef>
                <a:spcPts val="600"/>
              </a:spcBef>
              <a:spcAft>
                <a:spcPts val="0"/>
              </a:spcAft>
              <a:buSzPts val="1600"/>
              <a:buNone/>
              <a:defRPr sz="1600">
                <a:solidFill>
                  <a:srgbClr val="888888"/>
                </a:solidFill>
              </a:defRPr>
            </a:lvl3pPr>
            <a:lvl4pPr indent="-228600" lvl="3" marL="1828800" algn="l">
              <a:spcBef>
                <a:spcPts val="600"/>
              </a:spcBef>
              <a:spcAft>
                <a:spcPts val="0"/>
              </a:spcAft>
              <a:buSzPts val="1400"/>
              <a:buNone/>
              <a:defRPr sz="1400">
                <a:solidFill>
                  <a:srgbClr val="888888"/>
                </a:solidFill>
              </a:defRPr>
            </a:lvl4pPr>
            <a:lvl5pPr indent="-228600" lvl="4" marL="2286000" algn="l">
              <a:spcBef>
                <a:spcPts val="600"/>
              </a:spcBef>
              <a:spcAft>
                <a:spcPts val="0"/>
              </a:spcAft>
              <a:buSzPts val="1400"/>
              <a:buNone/>
              <a:defRPr sz="1400">
                <a:solidFill>
                  <a:srgbClr val="888888"/>
                </a:solidFill>
              </a:defRPr>
            </a:lvl5pPr>
            <a:lvl6pPr indent="-228600" lvl="5" marL="2743200" algn="l">
              <a:spcBef>
                <a:spcPts val="300"/>
              </a:spcBef>
              <a:spcAft>
                <a:spcPts val="0"/>
              </a:spcAft>
              <a:buSzPts val="1400"/>
              <a:buNone/>
              <a:defRPr sz="1400">
                <a:solidFill>
                  <a:srgbClr val="888888"/>
                </a:solidFill>
              </a:defRPr>
            </a:lvl6pPr>
            <a:lvl7pPr indent="-228600" lvl="6" marL="3200400" algn="l">
              <a:spcBef>
                <a:spcPts val="300"/>
              </a:spcBef>
              <a:spcAft>
                <a:spcPts val="0"/>
              </a:spcAft>
              <a:buSzPts val="1400"/>
              <a:buNone/>
              <a:defRPr sz="1400">
                <a:solidFill>
                  <a:srgbClr val="888888"/>
                </a:solidFill>
              </a:defRPr>
            </a:lvl7pPr>
            <a:lvl8pPr indent="-228600" lvl="7" marL="3657600" algn="l">
              <a:spcBef>
                <a:spcPts val="300"/>
              </a:spcBef>
              <a:spcAft>
                <a:spcPts val="0"/>
              </a:spcAft>
              <a:buSzPts val="1400"/>
              <a:buNone/>
              <a:defRPr sz="1400">
                <a:solidFill>
                  <a:srgbClr val="888888"/>
                </a:solidFill>
              </a:defRPr>
            </a:lvl8pPr>
            <a:lvl9pPr indent="-228600" lvl="8" marL="4114800" algn="l">
              <a:spcBef>
                <a:spcPts val="300"/>
              </a:spcBef>
              <a:spcAft>
                <a:spcPts val="0"/>
              </a:spcAft>
              <a:buSzPts val="1400"/>
              <a:buNone/>
              <a:defRPr sz="1400">
                <a:solidFill>
                  <a:srgbClr val="888888"/>
                </a:solidFill>
              </a:defRPr>
            </a:lvl9pPr>
          </a:lstStyle>
          <a:p/>
        </p:txBody>
      </p:sp>
      <p:sp>
        <p:nvSpPr>
          <p:cNvPr id="92" name="Google Shape;92;p49"/>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9"/>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49"/>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5" name="Shape 95"/>
        <p:cNvGrpSpPr/>
        <p:nvPr/>
      </p:nvGrpSpPr>
      <p:grpSpPr>
        <a:xfrm>
          <a:off x="0" y="0"/>
          <a:ext cx="0" cy="0"/>
          <a:chOff x="0" y="0"/>
          <a:chExt cx="0" cy="0"/>
        </a:xfrm>
      </p:grpSpPr>
      <p:sp>
        <p:nvSpPr>
          <p:cNvPr id="96" name="Google Shape;96;p50"/>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50"/>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0"/>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0"/>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100" name="Shape 100"/>
        <p:cNvGrpSpPr/>
        <p:nvPr/>
      </p:nvGrpSpPr>
      <p:grpSpPr>
        <a:xfrm>
          <a:off x="0" y="0"/>
          <a:ext cx="0" cy="0"/>
          <a:chOff x="0" y="0"/>
          <a:chExt cx="0" cy="0"/>
        </a:xfrm>
      </p:grpSpPr>
      <p:sp>
        <p:nvSpPr>
          <p:cNvPr id="101" name="Google Shape;101;p51"/>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1"/>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1"/>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dk1"/>
                </a:solidFill>
                <a:latin typeface="Arial"/>
                <a:ea typeface="Arial"/>
                <a:cs typeface="Arial"/>
                <a:sym typeface="Arial"/>
              </a:defRPr>
            </a:lvl1pPr>
            <a:lvl2pPr indent="0" lvl="1" marL="0" algn="r">
              <a:spcBef>
                <a:spcPts val="0"/>
              </a:spcBef>
              <a:buNone/>
              <a:defRPr b="0" i="0" sz="900" u="none" cap="none" strike="noStrike">
                <a:solidFill>
                  <a:schemeClr val="dk1"/>
                </a:solidFill>
                <a:latin typeface="Arial"/>
                <a:ea typeface="Arial"/>
                <a:cs typeface="Arial"/>
                <a:sym typeface="Arial"/>
              </a:defRPr>
            </a:lvl2pPr>
            <a:lvl3pPr indent="0" lvl="2" marL="0" algn="r">
              <a:spcBef>
                <a:spcPts val="0"/>
              </a:spcBef>
              <a:buNone/>
              <a:defRPr b="0" i="0" sz="900" u="none" cap="none" strike="noStrike">
                <a:solidFill>
                  <a:schemeClr val="dk1"/>
                </a:solidFill>
                <a:latin typeface="Arial"/>
                <a:ea typeface="Arial"/>
                <a:cs typeface="Arial"/>
                <a:sym typeface="Arial"/>
              </a:defRPr>
            </a:lvl3pPr>
            <a:lvl4pPr indent="0" lvl="3" marL="0" algn="r">
              <a:spcBef>
                <a:spcPts val="0"/>
              </a:spcBef>
              <a:buNone/>
              <a:defRPr b="0" i="0" sz="900" u="none" cap="none" strike="noStrike">
                <a:solidFill>
                  <a:schemeClr val="dk1"/>
                </a:solidFill>
                <a:latin typeface="Arial"/>
                <a:ea typeface="Arial"/>
                <a:cs typeface="Arial"/>
                <a:sym typeface="Arial"/>
              </a:defRPr>
            </a:lvl4pPr>
            <a:lvl5pPr indent="0" lvl="4" marL="0" algn="r">
              <a:spcBef>
                <a:spcPts val="0"/>
              </a:spcBef>
              <a:buNone/>
              <a:defRPr b="0" i="0" sz="900" u="none" cap="none" strike="noStrike">
                <a:solidFill>
                  <a:schemeClr val="dk1"/>
                </a:solidFill>
                <a:latin typeface="Arial"/>
                <a:ea typeface="Arial"/>
                <a:cs typeface="Arial"/>
                <a:sym typeface="Arial"/>
              </a:defRPr>
            </a:lvl5pPr>
            <a:lvl6pPr indent="0" lvl="5" marL="0" algn="r">
              <a:spcBef>
                <a:spcPts val="0"/>
              </a:spcBef>
              <a:buNone/>
              <a:defRPr b="0" i="0" sz="900" u="none" cap="none" strike="noStrike">
                <a:solidFill>
                  <a:schemeClr val="dk1"/>
                </a:solidFill>
                <a:latin typeface="Arial"/>
                <a:ea typeface="Arial"/>
                <a:cs typeface="Arial"/>
                <a:sym typeface="Arial"/>
              </a:defRPr>
            </a:lvl6pPr>
            <a:lvl7pPr indent="0" lvl="6" marL="0" algn="r">
              <a:spcBef>
                <a:spcPts val="0"/>
              </a:spcBef>
              <a:buNone/>
              <a:defRPr b="0" i="0" sz="900" u="none" cap="none" strike="noStrike">
                <a:solidFill>
                  <a:schemeClr val="dk1"/>
                </a:solidFill>
                <a:latin typeface="Arial"/>
                <a:ea typeface="Arial"/>
                <a:cs typeface="Arial"/>
                <a:sym typeface="Arial"/>
              </a:defRPr>
            </a:lvl7pPr>
            <a:lvl8pPr indent="0" lvl="7" marL="0" algn="r">
              <a:spcBef>
                <a:spcPts val="0"/>
              </a:spcBef>
              <a:buNone/>
              <a:defRPr b="0" i="0" sz="900" u="none" cap="none" strike="noStrike">
                <a:solidFill>
                  <a:schemeClr val="dk1"/>
                </a:solidFill>
                <a:latin typeface="Arial"/>
                <a:ea typeface="Arial"/>
                <a:cs typeface="Arial"/>
                <a:sym typeface="Arial"/>
              </a:defRPr>
            </a:lvl8pPr>
            <a:lvl9pPr indent="0" lvl="8" mar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104" name="Google Shape;104;p51"/>
          <p:cNvPicPr preferRelativeResize="0"/>
          <p:nvPr/>
        </p:nvPicPr>
        <p:blipFill rotWithShape="1">
          <a:blip r:embed="rId2">
            <a:alphaModFix/>
          </a:blip>
          <a:srcRect b="0" l="0" r="0" t="0"/>
          <a:stretch/>
        </p:blipFill>
        <p:spPr>
          <a:xfrm>
            <a:off x="457200" y="6434394"/>
            <a:ext cx="918000" cy="279915"/>
          </a:xfrm>
          <a:prstGeom prst="rect">
            <a:avLst/>
          </a:prstGeom>
          <a:noFill/>
          <a:ln>
            <a:noFill/>
          </a:ln>
        </p:spPr>
      </p:pic>
      <p:sp>
        <p:nvSpPr>
          <p:cNvPr id="105" name="Google Shape;105;p51"/>
          <p:cNvSpPr txBox="1"/>
          <p:nvPr/>
        </p:nvSpPr>
        <p:spPr>
          <a:xfrm>
            <a:off x="2590800" y="6407663"/>
            <a:ext cx="609600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2016, 2012, 2010 Pearson Education, Inc. All Rights Reserved.</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30200" lvl="0" marL="457200" marR="0" rtl="0" algn="l">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2" name="Google Shape;12;p38"/>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8"/>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8"/>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lt1"/>
                </a:solidFill>
                <a:latin typeface="Arial"/>
                <a:ea typeface="Arial"/>
                <a:cs typeface="Arial"/>
                <a:sym typeface="Arial"/>
              </a:defRPr>
            </a:lvl1pPr>
            <a:lvl2pPr indent="0" lvl="1" marL="0" marR="0" rtl="0" algn="r">
              <a:spcBef>
                <a:spcPts val="0"/>
              </a:spcBef>
              <a:buNone/>
              <a:defRPr b="0" i="0" sz="900" u="none" cap="none" strike="noStrike">
                <a:solidFill>
                  <a:schemeClr val="lt1"/>
                </a:solidFill>
                <a:latin typeface="Arial"/>
                <a:ea typeface="Arial"/>
                <a:cs typeface="Arial"/>
                <a:sym typeface="Arial"/>
              </a:defRPr>
            </a:lvl2pPr>
            <a:lvl3pPr indent="0" lvl="2" marL="0" marR="0" rtl="0" algn="r">
              <a:spcBef>
                <a:spcPts val="0"/>
              </a:spcBef>
              <a:buNone/>
              <a:defRPr b="0" i="0" sz="900" u="none" cap="none" strike="noStrike">
                <a:solidFill>
                  <a:schemeClr val="lt1"/>
                </a:solidFill>
                <a:latin typeface="Arial"/>
                <a:ea typeface="Arial"/>
                <a:cs typeface="Arial"/>
                <a:sym typeface="Arial"/>
              </a:defRPr>
            </a:lvl3pPr>
            <a:lvl4pPr indent="0" lvl="3" marL="0" marR="0" rtl="0" algn="r">
              <a:spcBef>
                <a:spcPts val="0"/>
              </a:spcBef>
              <a:buNone/>
              <a:defRPr b="0" i="0" sz="900" u="none" cap="none" strike="noStrike">
                <a:solidFill>
                  <a:schemeClr val="lt1"/>
                </a:solidFill>
                <a:latin typeface="Arial"/>
                <a:ea typeface="Arial"/>
                <a:cs typeface="Arial"/>
                <a:sym typeface="Arial"/>
              </a:defRPr>
            </a:lvl4pPr>
            <a:lvl5pPr indent="0" lvl="4" marL="0" marR="0" rtl="0" algn="r">
              <a:spcBef>
                <a:spcPts val="0"/>
              </a:spcBef>
              <a:buNone/>
              <a:defRPr b="0" i="0" sz="900" u="none" cap="none" strike="noStrike">
                <a:solidFill>
                  <a:schemeClr val="lt1"/>
                </a:solidFill>
                <a:latin typeface="Arial"/>
                <a:ea typeface="Arial"/>
                <a:cs typeface="Arial"/>
                <a:sym typeface="Arial"/>
              </a:defRPr>
            </a:lvl5pPr>
            <a:lvl6pPr indent="0" lvl="5" marL="0" marR="0" rtl="0" algn="r">
              <a:spcBef>
                <a:spcPts val="0"/>
              </a:spcBef>
              <a:buNone/>
              <a:defRPr b="0" i="0" sz="900" u="none" cap="none" strike="noStrike">
                <a:solidFill>
                  <a:schemeClr val="lt1"/>
                </a:solidFill>
                <a:latin typeface="Arial"/>
                <a:ea typeface="Arial"/>
                <a:cs typeface="Arial"/>
                <a:sym typeface="Arial"/>
              </a:defRPr>
            </a:lvl6pPr>
            <a:lvl7pPr indent="0" lvl="6" marL="0" marR="0" rtl="0" algn="r">
              <a:spcBef>
                <a:spcPts val="0"/>
              </a:spcBef>
              <a:buNone/>
              <a:defRPr b="0" i="0" sz="900" u="none" cap="none" strike="noStrike">
                <a:solidFill>
                  <a:schemeClr val="lt1"/>
                </a:solidFill>
                <a:latin typeface="Arial"/>
                <a:ea typeface="Arial"/>
                <a:cs typeface="Arial"/>
                <a:sym typeface="Arial"/>
              </a:defRPr>
            </a:lvl7pPr>
            <a:lvl8pPr indent="0" lvl="7" marL="0" marR="0" rtl="0" algn="r">
              <a:spcBef>
                <a:spcPts val="0"/>
              </a:spcBef>
              <a:buNone/>
              <a:defRPr b="0" i="0" sz="900" u="none" cap="none" strike="noStrike">
                <a:solidFill>
                  <a:schemeClr val="lt1"/>
                </a:solidFill>
                <a:latin typeface="Arial"/>
                <a:ea typeface="Arial"/>
                <a:cs typeface="Arial"/>
                <a:sym typeface="Arial"/>
              </a:defRPr>
            </a:lvl8pPr>
            <a:lvl9pPr indent="0" lvl="8" marL="0" marR="0" rt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15" name="Google Shape;15;p38"/>
          <p:cNvPicPr preferRelativeResize="0"/>
          <p:nvPr/>
        </p:nvPicPr>
        <p:blipFill rotWithShape="1">
          <a:blip r:embed="rId1">
            <a:alphaModFix/>
          </a:blip>
          <a:srcRect b="0" l="0" r="0" t="0"/>
          <a:stretch/>
        </p:blipFill>
        <p:spPr>
          <a:xfrm>
            <a:off x="457200" y="6434394"/>
            <a:ext cx="918000" cy="279915"/>
          </a:xfrm>
          <a:prstGeom prst="rect">
            <a:avLst/>
          </a:prstGeom>
          <a:noFill/>
          <a:ln>
            <a:noFill/>
          </a:ln>
        </p:spPr>
      </p:pic>
      <p:sp>
        <p:nvSpPr>
          <p:cNvPr id="16" name="Google Shape;16;p38"/>
          <p:cNvSpPr txBox="1"/>
          <p:nvPr/>
        </p:nvSpPr>
        <p:spPr>
          <a:xfrm>
            <a:off x="2590800" y="6407663"/>
            <a:ext cx="609600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2019 Pearson Education, Ltd. All Rights Reserved.</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type="title"/>
          </p:nvPr>
        </p:nvSpPr>
        <p:spPr>
          <a:xfrm>
            <a:off x="457201" y="228600"/>
            <a:ext cx="8353718" cy="990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Entrepreneurship: Successfully Launching New Ventures</a:t>
            </a:r>
            <a:endParaRPr/>
          </a:p>
        </p:txBody>
      </p:sp>
      <p:sp>
        <p:nvSpPr>
          <p:cNvPr id="112" name="Google Shape;112;p1"/>
          <p:cNvSpPr txBox="1"/>
          <p:nvPr>
            <p:ph idx="1" type="body"/>
          </p:nvPr>
        </p:nvSpPr>
        <p:spPr>
          <a:xfrm>
            <a:off x="457202" y="1373052"/>
            <a:ext cx="8229598" cy="34906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400"/>
              <a:buNone/>
            </a:pPr>
            <a:r>
              <a:rPr lang="en-US" sz="2400"/>
              <a:t>Sixth Edition, Global Edition</a:t>
            </a:r>
            <a:endParaRPr sz="2400"/>
          </a:p>
        </p:txBody>
      </p:sp>
      <p:sp>
        <p:nvSpPr>
          <p:cNvPr id="113" name="Google Shape;113;p1"/>
          <p:cNvSpPr txBox="1"/>
          <p:nvPr>
            <p:ph idx="2" type="body"/>
          </p:nvPr>
        </p:nvSpPr>
        <p:spPr>
          <a:xfrm>
            <a:off x="4531808" y="1917421"/>
            <a:ext cx="3657600" cy="1282979"/>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SzPts val="3600"/>
              <a:buNone/>
            </a:pPr>
            <a:r>
              <a:rPr b="1" lang="en-US" sz="3600"/>
              <a:t>Chapter 8</a:t>
            </a:r>
            <a:endParaRPr/>
          </a:p>
        </p:txBody>
      </p:sp>
      <p:sp>
        <p:nvSpPr>
          <p:cNvPr id="114" name="Google Shape;114;p1"/>
          <p:cNvSpPr txBox="1"/>
          <p:nvPr>
            <p:ph idx="3" type="body"/>
          </p:nvPr>
        </p:nvSpPr>
        <p:spPr>
          <a:xfrm>
            <a:off x="4014872" y="3398837"/>
            <a:ext cx="4706112" cy="2773363"/>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3600"/>
              <a:buNone/>
            </a:pPr>
            <a:r>
              <a:rPr lang="en-US" sz="3600"/>
              <a:t>Assessing a New Venture’s </a:t>
            </a:r>
            <a:r>
              <a:rPr i="1" lang="en-US" sz="3600"/>
              <a:t>Financial Strength </a:t>
            </a:r>
            <a:r>
              <a:rPr lang="en-US" sz="3600"/>
              <a:t>and Viability</a:t>
            </a:r>
            <a:endParaRPr/>
          </a:p>
        </p:txBody>
      </p:sp>
      <p:pic>
        <p:nvPicPr>
          <p:cNvPr descr="Front Cover: Entrepreneurship: Successfully Launching New Ventures Sixth Edition by Barringer and Ireland." id="115" name="Google Shape;115;p1"/>
          <p:cNvPicPr preferRelativeResize="0"/>
          <p:nvPr/>
        </p:nvPicPr>
        <p:blipFill rotWithShape="1">
          <a:blip r:embed="rId3">
            <a:alphaModFix/>
          </a:blip>
          <a:srcRect b="0" l="0" r="0" t="0"/>
          <a:stretch/>
        </p:blipFill>
        <p:spPr>
          <a:xfrm>
            <a:off x="475736" y="1858419"/>
            <a:ext cx="3371657" cy="43672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Learning Objectives </a:t>
            </a:r>
            <a:r>
              <a:rPr b="0" lang="en-US" sz="2000"/>
              <a:t>(1 of 2)</a:t>
            </a:r>
            <a:endParaRPr b="0" sz="2000"/>
          </a:p>
        </p:txBody>
      </p:sp>
      <p:sp>
        <p:nvSpPr>
          <p:cNvPr id="121" name="Google Shape;121;p2"/>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511175" lvl="0" marL="511175" rtl="0" algn="l">
              <a:spcBef>
                <a:spcPts val="0"/>
              </a:spcBef>
              <a:spcAft>
                <a:spcPts val="0"/>
              </a:spcAft>
              <a:buSzPts val="2400"/>
              <a:buNone/>
            </a:pPr>
            <a:r>
              <a:rPr b="1" lang="en-US" sz="2400">
                <a:solidFill>
                  <a:srgbClr val="007FA3"/>
                </a:solidFill>
                <a:latin typeface="Arial"/>
                <a:ea typeface="Arial"/>
                <a:cs typeface="Arial"/>
                <a:sym typeface="Arial"/>
              </a:rPr>
              <a:t>8.1</a:t>
            </a:r>
            <a:r>
              <a:rPr b="1" lang="en-US" sz="2400">
                <a:latin typeface="Arial"/>
                <a:ea typeface="Arial"/>
                <a:cs typeface="Arial"/>
                <a:sym typeface="Arial"/>
              </a:rPr>
              <a:t> </a:t>
            </a:r>
            <a:r>
              <a:rPr lang="en-US" sz="2400">
                <a:latin typeface="Arial"/>
                <a:ea typeface="Arial"/>
                <a:cs typeface="Arial"/>
                <a:sym typeface="Arial"/>
              </a:rPr>
              <a:t>Learn about the importance of understanding the financial management of an entrepreneurial firm.</a:t>
            </a:r>
            <a:endParaRPr/>
          </a:p>
          <a:p>
            <a:pPr indent="-511175" lvl="0" marL="511175" rtl="0" algn="l">
              <a:spcBef>
                <a:spcPts val="1500"/>
              </a:spcBef>
              <a:spcAft>
                <a:spcPts val="0"/>
              </a:spcAft>
              <a:buSzPts val="2400"/>
              <a:buNone/>
            </a:pPr>
            <a:r>
              <a:rPr b="1" lang="en-US" sz="2400">
                <a:solidFill>
                  <a:srgbClr val="007FA3"/>
                </a:solidFill>
                <a:latin typeface="Arial"/>
                <a:ea typeface="Arial"/>
                <a:cs typeface="Arial"/>
                <a:sym typeface="Arial"/>
              </a:rPr>
              <a:t>8.2</a:t>
            </a:r>
            <a:r>
              <a:rPr b="1" lang="en-US" sz="2400">
                <a:latin typeface="Arial"/>
                <a:ea typeface="Arial"/>
                <a:cs typeface="Arial"/>
                <a:sym typeface="Arial"/>
              </a:rPr>
              <a:t> </a:t>
            </a:r>
            <a:r>
              <a:rPr lang="en-US" sz="2400">
                <a:latin typeface="Arial"/>
                <a:ea typeface="Arial"/>
                <a:cs typeface="Arial"/>
                <a:sym typeface="Arial"/>
              </a:rPr>
              <a:t>Identify the four main financial objectives of entrepreneurial firms.</a:t>
            </a:r>
            <a:endParaRPr/>
          </a:p>
          <a:p>
            <a:pPr indent="-511175" lvl="0" marL="511175" rtl="0" algn="l">
              <a:spcBef>
                <a:spcPts val="1500"/>
              </a:spcBef>
              <a:spcAft>
                <a:spcPts val="0"/>
              </a:spcAft>
              <a:buSzPts val="2400"/>
              <a:buNone/>
            </a:pPr>
            <a:r>
              <a:rPr b="1" lang="en-US" sz="2400">
                <a:solidFill>
                  <a:srgbClr val="007FA3"/>
                </a:solidFill>
                <a:latin typeface="Arial"/>
                <a:ea typeface="Arial"/>
                <a:cs typeface="Arial"/>
                <a:sym typeface="Arial"/>
              </a:rPr>
              <a:t>8.3</a:t>
            </a:r>
            <a:r>
              <a:rPr b="1" lang="en-US" sz="2400">
                <a:latin typeface="Arial"/>
                <a:ea typeface="Arial"/>
                <a:cs typeface="Arial"/>
                <a:sym typeface="Arial"/>
              </a:rPr>
              <a:t> </a:t>
            </a:r>
            <a:r>
              <a:rPr lang="en-US" sz="2400">
                <a:latin typeface="Arial"/>
                <a:ea typeface="Arial"/>
                <a:cs typeface="Arial"/>
                <a:sym typeface="Arial"/>
              </a:rPr>
              <a:t>Describe the process of financial management as used in entrepreneurial firms.</a:t>
            </a:r>
            <a:endParaRPr/>
          </a:p>
          <a:p>
            <a:pPr indent="-511175" lvl="0" marL="511175" rtl="0" algn="l">
              <a:spcBef>
                <a:spcPts val="1500"/>
              </a:spcBef>
              <a:spcAft>
                <a:spcPts val="0"/>
              </a:spcAft>
              <a:buSzPts val="2400"/>
              <a:buNone/>
            </a:pPr>
            <a:r>
              <a:rPr b="1" lang="en-US" sz="2400">
                <a:solidFill>
                  <a:srgbClr val="007FA3"/>
                </a:solidFill>
                <a:latin typeface="Arial"/>
                <a:ea typeface="Arial"/>
                <a:cs typeface="Arial"/>
                <a:sym typeface="Arial"/>
              </a:rPr>
              <a:t>8.4</a:t>
            </a:r>
            <a:r>
              <a:rPr b="1" lang="en-US" sz="2400">
                <a:latin typeface="Arial"/>
                <a:ea typeface="Arial"/>
                <a:cs typeface="Arial"/>
                <a:sym typeface="Arial"/>
              </a:rPr>
              <a:t> </a:t>
            </a:r>
            <a:r>
              <a:rPr lang="en-US" sz="2400">
                <a:latin typeface="Arial"/>
                <a:ea typeface="Arial"/>
                <a:cs typeface="Arial"/>
                <a:sym typeface="Arial"/>
              </a:rPr>
              <a:t>Explain the difference between historical and pro forma financial statements.</a:t>
            </a:r>
            <a:endParaRPr/>
          </a:p>
          <a:p>
            <a:pPr indent="-511175" lvl="0" marL="511175" rtl="0" algn="l">
              <a:spcBef>
                <a:spcPts val="1500"/>
              </a:spcBef>
              <a:spcAft>
                <a:spcPts val="0"/>
              </a:spcAft>
              <a:buSzPts val="2400"/>
              <a:buNone/>
            </a:pPr>
            <a:r>
              <a:rPr b="1" lang="en-US" sz="2400">
                <a:solidFill>
                  <a:srgbClr val="007FA3"/>
                </a:solidFill>
                <a:latin typeface="Arial"/>
                <a:ea typeface="Arial"/>
                <a:cs typeface="Arial"/>
                <a:sym typeface="Arial"/>
              </a:rPr>
              <a:t>8.5</a:t>
            </a:r>
            <a:r>
              <a:rPr b="1" lang="en-US" sz="2400">
                <a:latin typeface="Arial"/>
                <a:ea typeface="Arial"/>
                <a:cs typeface="Arial"/>
                <a:sym typeface="Arial"/>
              </a:rPr>
              <a:t> </a:t>
            </a:r>
            <a:r>
              <a:rPr lang="en-US" sz="2400">
                <a:latin typeface="Arial"/>
                <a:ea typeface="Arial"/>
                <a:cs typeface="Arial"/>
                <a:sym typeface="Arial"/>
              </a:rPr>
              <a:t>Describe the different historical financial statements and their purpose.</a:t>
            </a: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Learning Objectives </a:t>
            </a:r>
            <a:r>
              <a:rPr b="0" lang="en-US" sz="2000"/>
              <a:t>(2 of 2)</a:t>
            </a:r>
            <a:endParaRPr b="0" sz="2000"/>
          </a:p>
        </p:txBody>
      </p:sp>
      <p:sp>
        <p:nvSpPr>
          <p:cNvPr id="127" name="Google Shape;127;p3"/>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511175" lvl="0" marL="511175" rtl="0" algn="l">
              <a:spcBef>
                <a:spcPts val="0"/>
              </a:spcBef>
              <a:spcAft>
                <a:spcPts val="0"/>
              </a:spcAft>
              <a:buSzPts val="2400"/>
              <a:buNone/>
            </a:pPr>
            <a:r>
              <a:rPr b="1" lang="en-US" sz="2400">
                <a:solidFill>
                  <a:srgbClr val="007FA3"/>
                </a:solidFill>
                <a:latin typeface="Arial"/>
                <a:ea typeface="Arial"/>
                <a:cs typeface="Arial"/>
                <a:sym typeface="Arial"/>
              </a:rPr>
              <a:t>8.6</a:t>
            </a:r>
            <a:r>
              <a:rPr b="1" lang="en-US" sz="2400">
                <a:latin typeface="Arial"/>
                <a:ea typeface="Arial"/>
                <a:cs typeface="Arial"/>
                <a:sym typeface="Arial"/>
              </a:rPr>
              <a:t> </a:t>
            </a:r>
            <a:r>
              <a:rPr lang="en-US" sz="2400">
                <a:latin typeface="Arial"/>
                <a:ea typeface="Arial"/>
                <a:cs typeface="Arial"/>
                <a:sym typeface="Arial"/>
              </a:rPr>
              <a:t>Discuss the role of forecasts in projecting a firm’s future income and expenses.</a:t>
            </a:r>
            <a:endParaRPr/>
          </a:p>
          <a:p>
            <a:pPr indent="0" lvl="0" marL="0" rtl="0" algn="l">
              <a:spcBef>
                <a:spcPts val="1500"/>
              </a:spcBef>
              <a:spcAft>
                <a:spcPts val="0"/>
              </a:spcAft>
              <a:buSzPts val="2400"/>
              <a:buNone/>
            </a:pPr>
            <a:r>
              <a:rPr b="1" lang="en-US" sz="2400">
                <a:solidFill>
                  <a:srgbClr val="007FA3"/>
                </a:solidFill>
                <a:latin typeface="Arial"/>
                <a:ea typeface="Arial"/>
                <a:cs typeface="Arial"/>
                <a:sym typeface="Arial"/>
              </a:rPr>
              <a:t>8.7</a:t>
            </a:r>
            <a:r>
              <a:rPr b="1" lang="en-US" sz="2400">
                <a:latin typeface="Arial"/>
                <a:ea typeface="Arial"/>
                <a:cs typeface="Arial"/>
                <a:sym typeface="Arial"/>
              </a:rPr>
              <a:t> </a:t>
            </a:r>
            <a:r>
              <a:rPr lang="en-US" sz="2400">
                <a:latin typeface="Arial"/>
                <a:ea typeface="Arial"/>
                <a:cs typeface="Arial"/>
                <a:sym typeface="Arial"/>
              </a:rPr>
              <a:t>Explain the purpose of pro forma financial statements.</a:t>
            </a:r>
            <a:endParaRPr sz="24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a0c5cba76_4_0"/>
          <p:cNvSpPr txBox="1"/>
          <p:nvPr>
            <p:ph idx="1" type="body"/>
          </p:nvPr>
        </p:nvSpPr>
        <p:spPr>
          <a:xfrm>
            <a:off x="457200" y="147975"/>
            <a:ext cx="8229600" cy="5978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sz="2100"/>
              <a:t>Class Activity</a:t>
            </a:r>
            <a:endParaRPr b="1" sz="2100"/>
          </a:p>
          <a:p>
            <a:pPr indent="0" lvl="0" marL="0" rtl="0" algn="l">
              <a:lnSpc>
                <a:spcPct val="115000"/>
              </a:lnSpc>
              <a:spcBef>
                <a:spcPts val="1200"/>
              </a:spcBef>
              <a:spcAft>
                <a:spcPts val="0"/>
              </a:spcAft>
              <a:buNone/>
            </a:pPr>
            <a:r>
              <a:rPr b="1" lang="en-US" sz="1800"/>
              <a:t>Team Task):</a:t>
            </a:r>
            <a:r>
              <a:rPr lang="en-US" sz="1800"/>
              <a:t> Each team working on the CCP solution must complete the following for their Minimum Viable Product (MVP):</a:t>
            </a:r>
            <a:endParaRPr sz="1800"/>
          </a:p>
          <a:p>
            <a:pPr indent="0" lvl="0" marL="0" rtl="0" algn="l">
              <a:lnSpc>
                <a:spcPct val="115000"/>
              </a:lnSpc>
              <a:spcBef>
                <a:spcPts val="1200"/>
              </a:spcBef>
              <a:spcAft>
                <a:spcPts val="0"/>
              </a:spcAft>
              <a:buNone/>
            </a:pPr>
            <a:r>
              <a:rPr b="1" lang="en-US" sz="1800"/>
              <a:t>Define the Revenue Stream:</a:t>
            </a:r>
            <a:r>
              <a:rPr lang="en-US" sz="1800"/>
              <a:t> Specifically, how does your innovative solution addressing the CCP generate cash? (e.g., Subscription, Transaction Fee, Data Access Fee, etc.) .</a:t>
            </a:r>
            <a:endParaRPr sz="1800"/>
          </a:p>
          <a:p>
            <a:pPr indent="0" lvl="0" marL="0" rtl="0" algn="l">
              <a:lnSpc>
                <a:spcPct val="115000"/>
              </a:lnSpc>
              <a:spcBef>
                <a:spcPts val="1200"/>
              </a:spcBef>
              <a:spcAft>
                <a:spcPts val="0"/>
              </a:spcAft>
              <a:buNone/>
            </a:pPr>
            <a:r>
              <a:rPr b="1" lang="en-US" sz="1800"/>
              <a:t>Estimate a Key Metric:</a:t>
            </a:r>
            <a:r>
              <a:rPr lang="en-US" sz="1800"/>
              <a:t> Project two-year figures for your most important </a:t>
            </a:r>
            <a:r>
              <a:rPr b="1" lang="en-US" sz="1800"/>
              <a:t>Measure</a:t>
            </a:r>
            <a:r>
              <a:rPr lang="en-US" sz="1800"/>
              <a:t> phase metric (e.g., number of transactions, number of active users) that you would use to inform your sales forecast.</a:t>
            </a:r>
            <a:endParaRPr sz="1800"/>
          </a:p>
          <a:p>
            <a:pPr indent="0" lvl="0" marL="0" rtl="0" algn="l">
              <a:lnSpc>
                <a:spcPct val="115000"/>
              </a:lnSpc>
              <a:spcBef>
                <a:spcPts val="1200"/>
              </a:spcBef>
              <a:spcAft>
                <a:spcPts val="0"/>
              </a:spcAft>
              <a:buNone/>
            </a:pPr>
            <a:r>
              <a:rPr b="1" lang="en-US" sz="1800"/>
              <a:t>Calculate a Pro Forma Profit Margin:</a:t>
            </a:r>
            <a:r>
              <a:rPr lang="en-US" sz="1800"/>
              <a:t> Based on your projected revenue (sales forecast) and estimated costs (cost of goods sold, S,G&amp;A expenses), calculate a projected </a:t>
            </a:r>
            <a:r>
              <a:rPr b="1" lang="en-US" sz="1800"/>
              <a:t>Profit Margin</a:t>
            </a:r>
            <a:r>
              <a:rPr lang="en-US" sz="1800"/>
              <a:t> for Year 2 of your solution. State your assumptions clearly.</a:t>
            </a:r>
            <a:endParaRPr b="1" sz="1800"/>
          </a:p>
          <a:p>
            <a:pPr indent="0" lvl="0" marL="0" rtl="0" algn="l">
              <a:lnSpc>
                <a:spcPct val="115000"/>
              </a:lnSpc>
              <a:spcBef>
                <a:spcPts val="1200"/>
              </a:spcBef>
              <a:spcAft>
                <a:spcPts val="0"/>
              </a:spcAft>
              <a:buNone/>
            </a:pPr>
            <a:r>
              <a:rPr lang="en-US" sz="1800"/>
              <a:t>If your projected Profit Margin is less than the industry standard, what specific action from the </a:t>
            </a:r>
            <a:r>
              <a:rPr b="1" lang="en-US" sz="1800"/>
              <a:t>Learn Phase</a:t>
            </a:r>
            <a:r>
              <a:rPr lang="en-US" sz="1800"/>
              <a:t> (Pivot or Persevere strategy ) would you present to investors and why? </a:t>
            </a:r>
            <a:endParaRPr sz="1800"/>
          </a:p>
          <a:p>
            <a:pPr indent="0" lvl="0" marL="0" rtl="0" algn="l">
              <a:spcBef>
                <a:spcPts val="1500"/>
              </a:spcBef>
              <a:spcAft>
                <a:spcPts val="0"/>
              </a:spcAft>
              <a:buNone/>
            </a:pPr>
            <a:r>
              <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Financial Management </a:t>
            </a:r>
            <a:r>
              <a:rPr b="0" lang="en-US" sz="2000"/>
              <a:t>(1 of 2)</a:t>
            </a:r>
            <a:endParaRPr b="0" sz="2000"/>
          </a:p>
        </p:txBody>
      </p:sp>
      <p:sp>
        <p:nvSpPr>
          <p:cNvPr id="139" name="Google Shape;139;p4"/>
          <p:cNvSpPr txBox="1"/>
          <p:nvPr>
            <p:ph idx="1" type="body"/>
          </p:nvPr>
        </p:nvSpPr>
        <p:spPr>
          <a:xfrm>
            <a:off x="457200" y="1600200"/>
            <a:ext cx="8229600" cy="4724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lang="en-US" sz="2400"/>
              <a:t>Financial Management</a:t>
            </a:r>
            <a:endParaRPr/>
          </a:p>
          <a:p>
            <a:pPr indent="-283464" lvl="1" marL="740664" rtl="0" algn="l">
              <a:spcBef>
                <a:spcPts val="600"/>
              </a:spcBef>
              <a:spcAft>
                <a:spcPts val="0"/>
              </a:spcAft>
              <a:buSzPts val="2400"/>
              <a:buChar char="–"/>
            </a:pPr>
            <a:r>
              <a:rPr lang="en-US" sz="2400"/>
              <a:t>Financial management deals with two things: raising money and managing a company’s finances in a way that achieves the highest rate of return.</a:t>
            </a:r>
            <a:endParaRPr/>
          </a:p>
          <a:p>
            <a:pPr indent="-283464" lvl="1" marL="740664" rtl="0" algn="l">
              <a:spcBef>
                <a:spcPts val="600"/>
              </a:spcBef>
              <a:spcAft>
                <a:spcPts val="0"/>
              </a:spcAft>
              <a:buSzPts val="2400"/>
              <a:buChar char="–"/>
            </a:pPr>
            <a:r>
              <a:rPr lang="en-US" sz="2400"/>
              <a:t>Chapter 10 focuses on raising money. This chapter focuses primarily on:</a:t>
            </a:r>
            <a:endParaRPr/>
          </a:p>
          <a:p>
            <a:pPr indent="-228600" lvl="2" marL="1143000" rtl="0" algn="l">
              <a:spcBef>
                <a:spcPts val="600"/>
              </a:spcBef>
              <a:spcAft>
                <a:spcPts val="0"/>
              </a:spcAft>
              <a:buSzPts val="2400"/>
              <a:buChar char="▪"/>
            </a:pPr>
            <a:r>
              <a:rPr lang="en-US" sz="2400"/>
              <a:t>How a new venture tracks its financial progress through preparing, analyzing, and maintaining past financial statements.</a:t>
            </a:r>
            <a:endParaRPr/>
          </a:p>
          <a:p>
            <a:pPr indent="-228600" lvl="2" marL="1143000" rtl="0" algn="l">
              <a:spcBef>
                <a:spcPts val="600"/>
              </a:spcBef>
              <a:spcAft>
                <a:spcPts val="0"/>
              </a:spcAft>
              <a:buSzPts val="2400"/>
              <a:buChar char="▪"/>
            </a:pPr>
            <a:r>
              <a:rPr lang="en-US" sz="2400"/>
              <a:t>How a new venture forecasts future income and expenses by preparing pro forma (or projected) financial statements.</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Financial Management </a:t>
            </a:r>
            <a:r>
              <a:rPr b="0" lang="en-US" sz="2000"/>
              <a:t>(2 of 2)</a:t>
            </a:r>
            <a:endParaRPr b="0" sz="2000"/>
          </a:p>
        </p:txBody>
      </p:sp>
      <p:sp>
        <p:nvSpPr>
          <p:cNvPr id="145" name="Google Shape;145;p5"/>
          <p:cNvSpPr txBox="1"/>
          <p:nvPr>
            <p:ph idx="1" type="body"/>
          </p:nvPr>
        </p:nvSpPr>
        <p:spPr>
          <a:xfrm>
            <a:off x="457200" y="1600200"/>
            <a:ext cx="8229600" cy="457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sz="2000"/>
              <a:t>The financial management of a firm deals with questions such as the following on an ongoing basis:</a:t>
            </a:r>
            <a:endParaRPr/>
          </a:p>
          <a:p>
            <a:pPr indent="-256032" lvl="0" marL="256032" rtl="0" algn="l">
              <a:spcBef>
                <a:spcPts val="800"/>
              </a:spcBef>
              <a:spcAft>
                <a:spcPts val="0"/>
              </a:spcAft>
              <a:buSzPts val="2000"/>
              <a:buFont typeface="Arial"/>
              <a:buChar char="•"/>
            </a:pPr>
            <a:r>
              <a:rPr lang="en-US" sz="2000"/>
              <a:t>How are we doing? Are we making or losing money?</a:t>
            </a:r>
            <a:endParaRPr/>
          </a:p>
          <a:p>
            <a:pPr indent="-256032" lvl="0" marL="256032" rtl="0" algn="l">
              <a:spcBef>
                <a:spcPts val="800"/>
              </a:spcBef>
              <a:spcAft>
                <a:spcPts val="0"/>
              </a:spcAft>
              <a:buSzPts val="2000"/>
              <a:buFont typeface="Arial"/>
              <a:buChar char="•"/>
            </a:pPr>
            <a:r>
              <a:rPr lang="en-US" sz="2000"/>
              <a:t>How much cash do we have on hand?</a:t>
            </a:r>
            <a:endParaRPr/>
          </a:p>
          <a:p>
            <a:pPr indent="-256032" lvl="0" marL="256032" rtl="0" algn="l">
              <a:spcBef>
                <a:spcPts val="800"/>
              </a:spcBef>
              <a:spcAft>
                <a:spcPts val="0"/>
              </a:spcAft>
              <a:buSzPts val="2000"/>
              <a:buFont typeface="Arial"/>
              <a:buChar char="•"/>
            </a:pPr>
            <a:r>
              <a:rPr lang="en-US" sz="2000"/>
              <a:t>Do we have enough cash to meet our short-term obligations?</a:t>
            </a:r>
            <a:endParaRPr/>
          </a:p>
          <a:p>
            <a:pPr indent="-256032" lvl="0" marL="256032" rtl="0" algn="l">
              <a:spcBef>
                <a:spcPts val="800"/>
              </a:spcBef>
              <a:spcAft>
                <a:spcPts val="0"/>
              </a:spcAft>
              <a:buSzPts val="2000"/>
              <a:buFont typeface="Arial"/>
              <a:buChar char="•"/>
            </a:pPr>
            <a:r>
              <a:rPr lang="en-US" sz="2000"/>
              <a:t>How efficiently are we utilizing our assets?</a:t>
            </a:r>
            <a:endParaRPr/>
          </a:p>
          <a:p>
            <a:pPr indent="-256032" lvl="0" marL="256032" rtl="0" algn="l">
              <a:spcBef>
                <a:spcPts val="800"/>
              </a:spcBef>
              <a:spcAft>
                <a:spcPts val="0"/>
              </a:spcAft>
              <a:buSzPts val="2000"/>
              <a:buFont typeface="Arial"/>
              <a:buChar char="•"/>
            </a:pPr>
            <a:r>
              <a:rPr lang="en-US" sz="2000"/>
              <a:t>How do our growth and net profits compare to those of our industry peers?</a:t>
            </a:r>
            <a:endParaRPr/>
          </a:p>
          <a:p>
            <a:pPr indent="-256032" lvl="0" marL="256032" rtl="0" algn="l">
              <a:spcBef>
                <a:spcPts val="800"/>
              </a:spcBef>
              <a:spcAft>
                <a:spcPts val="0"/>
              </a:spcAft>
              <a:buSzPts val="2000"/>
              <a:buFont typeface="Arial"/>
              <a:buChar char="•"/>
            </a:pPr>
            <a:r>
              <a:rPr lang="en-US" sz="2000"/>
              <a:t>Where will the funds we need for capital improvements come from?</a:t>
            </a:r>
            <a:endParaRPr/>
          </a:p>
          <a:p>
            <a:pPr indent="-256032" lvl="0" marL="256032" rtl="0" algn="l">
              <a:spcBef>
                <a:spcPts val="800"/>
              </a:spcBef>
              <a:spcAft>
                <a:spcPts val="0"/>
              </a:spcAft>
              <a:buSzPts val="2000"/>
              <a:buFont typeface="Arial"/>
              <a:buChar char="•"/>
            </a:pPr>
            <a:r>
              <a:rPr lang="en-US" sz="2000"/>
              <a:t>Are there ways we can partner with other firms to share risk and reduce the amount of cash we need?</a:t>
            </a:r>
            <a:endParaRPr/>
          </a:p>
          <a:p>
            <a:pPr indent="-256032" lvl="0" marL="256032" rtl="0" algn="l">
              <a:spcBef>
                <a:spcPts val="800"/>
              </a:spcBef>
              <a:spcAft>
                <a:spcPts val="0"/>
              </a:spcAft>
              <a:buSzPts val="2000"/>
              <a:buFont typeface="Arial"/>
              <a:buChar char="•"/>
            </a:pPr>
            <a:r>
              <a:rPr lang="en-US" sz="2000"/>
              <a:t>Overall, are we in good shape financially?</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Financial Objectives of a Firm </a:t>
            </a:r>
            <a:r>
              <a:rPr b="0" lang="en-US" sz="2000"/>
              <a:t>(1 of 3)</a:t>
            </a:r>
            <a:endParaRPr b="0" sz="2000"/>
          </a:p>
        </p:txBody>
      </p:sp>
      <p:sp>
        <p:nvSpPr>
          <p:cNvPr id="151" name="Google Shape;151;p6"/>
          <p:cNvSpPr txBox="1"/>
          <p:nvPr>
            <p:ph idx="1" type="body"/>
          </p:nvPr>
        </p:nvSpPr>
        <p:spPr>
          <a:xfrm>
            <a:off x="457200" y="1600201"/>
            <a:ext cx="8229600" cy="380999"/>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200"/>
              <a:buNone/>
            </a:pPr>
            <a:r>
              <a:rPr b="1" lang="en-US" sz="2200"/>
              <a:t>Figure 8.1 </a:t>
            </a:r>
            <a:r>
              <a:rPr lang="en-US" sz="2200"/>
              <a:t>Primary Financial Objectives of Entrepreneurial Firms</a:t>
            </a:r>
            <a:endParaRPr/>
          </a:p>
        </p:txBody>
      </p:sp>
      <p:pic>
        <p:nvPicPr>
          <p:cNvPr descr="Four primary financial objectives of entrepreneurial firms. Profitability is a company’s ability to make a profit. Liquidity is a company’s ability to meet its short term obligations. Efficiency is a how productively a firm utilizes its assets. Stability is the overall health of the financial structure of the firm, particularly as it relates to its debt to equity ratio." id="152" name="Google Shape;152;p6"/>
          <p:cNvPicPr preferRelativeResize="0"/>
          <p:nvPr/>
        </p:nvPicPr>
        <p:blipFill rotWithShape="1">
          <a:blip r:embed="rId3">
            <a:alphaModFix/>
          </a:blip>
          <a:srcRect b="0" l="0" r="0" t="0"/>
          <a:stretch/>
        </p:blipFill>
        <p:spPr>
          <a:xfrm>
            <a:off x="511220" y="2349498"/>
            <a:ext cx="7946980" cy="26797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Financial Objectives of a Firm </a:t>
            </a:r>
            <a:r>
              <a:rPr b="0" lang="en-US" sz="2000"/>
              <a:t>(2 of 3)</a:t>
            </a:r>
            <a:endParaRPr b="0" sz="2000"/>
          </a:p>
        </p:txBody>
      </p:sp>
      <p:sp>
        <p:nvSpPr>
          <p:cNvPr id="158" name="Google Shape;158;p7"/>
          <p:cNvSpPr txBox="1"/>
          <p:nvPr>
            <p:ph idx="1" type="body"/>
          </p:nvPr>
        </p:nvSpPr>
        <p:spPr>
          <a:xfrm>
            <a:off x="457200" y="1600200"/>
            <a:ext cx="8077200" cy="48006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100"/>
              <a:buChar char="•"/>
            </a:pPr>
            <a:r>
              <a:rPr lang="en-US" sz="2100"/>
              <a:t>Profitability</a:t>
            </a:r>
            <a:endParaRPr/>
          </a:p>
          <a:p>
            <a:pPr indent="-285750" lvl="1" marL="740664" rtl="0" algn="l">
              <a:spcBef>
                <a:spcPts val="600"/>
              </a:spcBef>
              <a:spcAft>
                <a:spcPts val="0"/>
              </a:spcAft>
              <a:buSzPts val="2100"/>
              <a:buChar char="–"/>
            </a:pPr>
            <a:r>
              <a:rPr lang="en-US" sz="2100"/>
              <a:t>Is the ability to earn a profit.</a:t>
            </a:r>
            <a:endParaRPr/>
          </a:p>
          <a:p>
            <a:pPr indent="-228600" lvl="2" marL="1143000" rtl="0" algn="l">
              <a:spcBef>
                <a:spcPts val="600"/>
              </a:spcBef>
              <a:spcAft>
                <a:spcPts val="0"/>
              </a:spcAft>
              <a:buSzPts val="2100"/>
              <a:buChar char="▪"/>
            </a:pPr>
            <a:r>
              <a:rPr lang="en-US" sz="2100"/>
              <a:t>Many start-ups are not profitable during their first one to three years while they are training employees and building their brands.</a:t>
            </a:r>
            <a:endParaRPr/>
          </a:p>
          <a:p>
            <a:pPr indent="-228600" lvl="2" marL="1143000" rtl="0" algn="l">
              <a:spcBef>
                <a:spcPts val="600"/>
              </a:spcBef>
              <a:spcAft>
                <a:spcPts val="0"/>
              </a:spcAft>
              <a:buSzPts val="2100"/>
              <a:buChar char="▪"/>
            </a:pPr>
            <a:r>
              <a:rPr lang="en-US" sz="2100"/>
              <a:t>However, a firm must become profitable to remain viable and provide a return to its owners.</a:t>
            </a:r>
            <a:endParaRPr/>
          </a:p>
          <a:p>
            <a:pPr indent="-256032" lvl="0" marL="256032" rtl="0" algn="l">
              <a:spcBef>
                <a:spcPts val="1500"/>
              </a:spcBef>
              <a:spcAft>
                <a:spcPts val="0"/>
              </a:spcAft>
              <a:buSzPts val="2100"/>
              <a:buChar char="•"/>
            </a:pPr>
            <a:r>
              <a:rPr lang="en-US" sz="2100"/>
              <a:t>Liquidity</a:t>
            </a:r>
            <a:endParaRPr/>
          </a:p>
          <a:p>
            <a:pPr indent="-285750" lvl="1" marL="740664" rtl="0" algn="l">
              <a:spcBef>
                <a:spcPts val="600"/>
              </a:spcBef>
              <a:spcAft>
                <a:spcPts val="0"/>
              </a:spcAft>
              <a:buSzPts val="2100"/>
              <a:buChar char="–"/>
            </a:pPr>
            <a:r>
              <a:rPr lang="en-US" sz="2100"/>
              <a:t>Is a company’s ability to meet its short-term financial obligations.</a:t>
            </a:r>
            <a:endParaRPr/>
          </a:p>
          <a:p>
            <a:pPr indent="-228600" lvl="2" marL="1143000" rtl="0" algn="l">
              <a:spcBef>
                <a:spcPts val="600"/>
              </a:spcBef>
              <a:spcAft>
                <a:spcPts val="0"/>
              </a:spcAft>
              <a:buSzPts val="2100"/>
              <a:buChar char="▪"/>
            </a:pPr>
            <a:r>
              <a:rPr lang="en-US" sz="2100"/>
              <a:t>Even if a firm is profitable, it is often a challenge to keep enough money in the bank to meet its routine obligations in a timely manner.</a:t>
            </a:r>
            <a:endParaRPr sz="2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Financial Objectives of a Firm </a:t>
            </a:r>
            <a:r>
              <a:rPr b="0" lang="en-US" sz="2000"/>
              <a:t>(3 of 3)</a:t>
            </a:r>
            <a:endParaRPr b="0" sz="2000"/>
          </a:p>
        </p:txBody>
      </p:sp>
      <p:sp>
        <p:nvSpPr>
          <p:cNvPr id="164" name="Google Shape;164;p8"/>
          <p:cNvSpPr txBox="1"/>
          <p:nvPr>
            <p:ph idx="1" type="body"/>
          </p:nvPr>
        </p:nvSpPr>
        <p:spPr>
          <a:xfrm>
            <a:off x="457200" y="1600200"/>
            <a:ext cx="8382000" cy="46482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Efficiency</a:t>
            </a:r>
            <a:endParaRPr/>
          </a:p>
          <a:p>
            <a:pPr indent="-285750" lvl="1" marL="740664" rtl="0" algn="l">
              <a:spcBef>
                <a:spcPts val="600"/>
              </a:spcBef>
              <a:spcAft>
                <a:spcPts val="0"/>
              </a:spcAft>
              <a:buSzPts val="2200"/>
              <a:buChar char="–"/>
            </a:pPr>
            <a:r>
              <a:rPr lang="en-US" sz="2200"/>
              <a:t>Is how productively a firm utilizes its assets relative to its revenue and its profits.</a:t>
            </a:r>
            <a:endParaRPr/>
          </a:p>
          <a:p>
            <a:pPr indent="-228600" lvl="2" marL="1143000" rtl="0" algn="l">
              <a:spcBef>
                <a:spcPts val="600"/>
              </a:spcBef>
              <a:spcAft>
                <a:spcPts val="0"/>
              </a:spcAft>
              <a:buSzPts val="2200"/>
              <a:buChar char="▪"/>
            </a:pPr>
            <a:r>
              <a:rPr lang="en-US" sz="2200"/>
              <a:t>Southwest Airlines, for example, uses its assets very productively. Its turnaround time, or the time its airplanes sit on the ground while they are being unloaded and reloaded, is the lowest in the airline industry.</a:t>
            </a:r>
            <a:endParaRPr/>
          </a:p>
          <a:p>
            <a:pPr indent="-256032" lvl="0" marL="256032" rtl="0" algn="l">
              <a:spcBef>
                <a:spcPts val="1500"/>
              </a:spcBef>
              <a:spcAft>
                <a:spcPts val="0"/>
              </a:spcAft>
              <a:buSzPts val="2200"/>
              <a:buChar char="•"/>
            </a:pPr>
            <a:r>
              <a:rPr lang="en-US" sz="2200"/>
              <a:t>Stability</a:t>
            </a:r>
            <a:endParaRPr/>
          </a:p>
          <a:p>
            <a:pPr indent="-285750" lvl="1" marL="740664" rtl="0" algn="l">
              <a:spcBef>
                <a:spcPts val="600"/>
              </a:spcBef>
              <a:spcAft>
                <a:spcPts val="0"/>
              </a:spcAft>
              <a:buSzPts val="2200"/>
              <a:buChar char="–"/>
            </a:pPr>
            <a:r>
              <a:rPr lang="en-US" sz="2200"/>
              <a:t>Is the strength and vigor of the firm’s overall financial posture.</a:t>
            </a:r>
            <a:endParaRPr/>
          </a:p>
          <a:p>
            <a:pPr indent="-228600" lvl="2" marL="1143000" rtl="0" algn="l">
              <a:spcBef>
                <a:spcPts val="600"/>
              </a:spcBef>
              <a:spcAft>
                <a:spcPts val="0"/>
              </a:spcAft>
              <a:buSzPts val="2200"/>
              <a:buChar char="▪"/>
            </a:pPr>
            <a:r>
              <a:rPr lang="en-US" sz="2200"/>
              <a:t>For a firm to be stable, it must not only earn a profit and remain liquid but also keep its debt in check.</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The Process of Financial </a:t>
            </a:r>
            <a:br>
              <a:rPr lang="en-US" sz="3600"/>
            </a:br>
            <a:r>
              <a:rPr lang="en-US" sz="3600"/>
              <a:t>Management </a:t>
            </a:r>
            <a:r>
              <a:rPr b="0" lang="en-US" sz="2000"/>
              <a:t>(1 of 4)</a:t>
            </a:r>
            <a:endParaRPr b="0" sz="2000"/>
          </a:p>
        </p:txBody>
      </p:sp>
      <p:sp>
        <p:nvSpPr>
          <p:cNvPr id="170" name="Google Shape;170;p9"/>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Importance of Financial Statements</a:t>
            </a:r>
            <a:endParaRPr/>
          </a:p>
          <a:p>
            <a:pPr indent="-285750" lvl="1" marL="740664" rtl="0" algn="l">
              <a:spcBef>
                <a:spcPts val="600"/>
              </a:spcBef>
              <a:spcAft>
                <a:spcPts val="0"/>
              </a:spcAft>
              <a:buSzPts val="2200"/>
              <a:buChar char="–"/>
            </a:pPr>
            <a:r>
              <a:rPr lang="en-US" sz="2200"/>
              <a:t>To assess whether its financial objectives are being met, firms rely heavily on analysis of financial statements.</a:t>
            </a:r>
            <a:endParaRPr/>
          </a:p>
          <a:p>
            <a:pPr indent="-228600" lvl="2" marL="1143000" rtl="0" algn="l">
              <a:spcBef>
                <a:spcPts val="600"/>
              </a:spcBef>
              <a:spcAft>
                <a:spcPts val="0"/>
              </a:spcAft>
              <a:buSzPts val="2200"/>
              <a:buChar char="▪"/>
            </a:pPr>
            <a:r>
              <a:rPr lang="en-US" sz="2200"/>
              <a:t>A financial statement is a written report that quantitatively describes a firm’s financial health.</a:t>
            </a:r>
            <a:endParaRPr/>
          </a:p>
          <a:p>
            <a:pPr indent="-228600" lvl="2" marL="1143000" rtl="0" algn="l">
              <a:spcBef>
                <a:spcPts val="600"/>
              </a:spcBef>
              <a:spcAft>
                <a:spcPts val="0"/>
              </a:spcAft>
              <a:buSzPts val="2200"/>
              <a:buChar char="▪"/>
            </a:pPr>
            <a:r>
              <a:rPr lang="en-US" sz="2200"/>
              <a:t>The income statement, the balance sheet, and the statement of cash flows are the financial statements entrepreneurs use most commonly.</a:t>
            </a:r>
            <a:endParaRPr/>
          </a:p>
          <a:p>
            <a:pPr indent="-256032" lvl="0" marL="256032" rtl="0" algn="l">
              <a:spcBef>
                <a:spcPts val="1500"/>
              </a:spcBef>
              <a:spcAft>
                <a:spcPts val="0"/>
              </a:spcAft>
              <a:buSzPts val="2200"/>
              <a:buChar char="•"/>
            </a:pPr>
            <a:r>
              <a:rPr lang="en-US" sz="2200"/>
              <a:t>Forecasts</a:t>
            </a:r>
            <a:endParaRPr/>
          </a:p>
          <a:p>
            <a:pPr indent="-285750" lvl="1" marL="740664" rtl="0" algn="l">
              <a:spcBef>
                <a:spcPts val="600"/>
              </a:spcBef>
              <a:spcAft>
                <a:spcPts val="0"/>
              </a:spcAft>
              <a:buSzPts val="2200"/>
              <a:buChar char="–"/>
            </a:pPr>
            <a:r>
              <a:rPr lang="en-US" sz="2200"/>
              <a:t>Are an estimate of a firm’s future income and expenses, based on past performance, its current circumstances, and its future plans.</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The Process of Financial </a:t>
            </a:r>
            <a:br>
              <a:rPr lang="en-US" sz="3600"/>
            </a:br>
            <a:r>
              <a:rPr lang="en-US" sz="3600"/>
              <a:t>Management </a:t>
            </a:r>
            <a:r>
              <a:rPr b="0" lang="en-US" sz="2000"/>
              <a:t>(2 of 4)</a:t>
            </a:r>
            <a:endParaRPr b="0" sz="2000"/>
          </a:p>
        </p:txBody>
      </p:sp>
      <p:sp>
        <p:nvSpPr>
          <p:cNvPr id="176" name="Google Shape;176;p10"/>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Forecasts (continued)</a:t>
            </a:r>
            <a:endParaRPr/>
          </a:p>
          <a:p>
            <a:pPr indent="-285750" lvl="1" marL="740664" rtl="0" algn="l">
              <a:spcBef>
                <a:spcPts val="600"/>
              </a:spcBef>
              <a:spcAft>
                <a:spcPts val="0"/>
              </a:spcAft>
              <a:buSzPts val="2200"/>
              <a:buChar char="–"/>
            </a:pPr>
            <a:r>
              <a:rPr lang="en-US" sz="2200"/>
              <a:t>New ventures typically base their forecasts on an estimate of sales and then on industry averages or the experiences of similar start-ups regarding the cost of goods sold and other expenses.</a:t>
            </a:r>
            <a:endParaRPr/>
          </a:p>
          <a:p>
            <a:pPr indent="-256032" lvl="0" marL="256032" rtl="0" algn="l">
              <a:spcBef>
                <a:spcPts val="1500"/>
              </a:spcBef>
              <a:spcAft>
                <a:spcPts val="0"/>
              </a:spcAft>
              <a:buSzPts val="2200"/>
              <a:buChar char="•"/>
            </a:pPr>
            <a:r>
              <a:rPr lang="en-US" sz="2200"/>
              <a:t>Budgets</a:t>
            </a:r>
            <a:endParaRPr/>
          </a:p>
          <a:p>
            <a:pPr indent="-285750" lvl="1" marL="740664" rtl="0" algn="l">
              <a:spcBef>
                <a:spcPts val="600"/>
              </a:spcBef>
              <a:spcAft>
                <a:spcPts val="0"/>
              </a:spcAft>
              <a:buSzPts val="2200"/>
              <a:buChar char="–"/>
            </a:pPr>
            <a:r>
              <a:rPr lang="en-US" sz="2200"/>
              <a:t>Are itemized forecasts of a company’s income, expenses, and capital needs and are also an important tool for financial planning and control.</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The Process of Financial </a:t>
            </a:r>
            <a:br>
              <a:rPr lang="en-US" sz="3600"/>
            </a:br>
            <a:r>
              <a:rPr lang="en-US" sz="3600"/>
              <a:t>Management </a:t>
            </a:r>
            <a:r>
              <a:rPr b="0" lang="en-US" sz="2000"/>
              <a:t>(3 of 4)</a:t>
            </a:r>
            <a:endParaRPr b="0" sz="2000"/>
          </a:p>
        </p:txBody>
      </p:sp>
      <p:sp>
        <p:nvSpPr>
          <p:cNvPr id="182" name="Google Shape;182;p11"/>
          <p:cNvSpPr txBox="1"/>
          <p:nvPr>
            <p:ph idx="1" type="body"/>
          </p:nvPr>
        </p:nvSpPr>
        <p:spPr>
          <a:xfrm>
            <a:off x="457200" y="1600200"/>
            <a:ext cx="81534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Financial Ratios</a:t>
            </a:r>
            <a:endParaRPr/>
          </a:p>
          <a:p>
            <a:pPr indent="-285750" lvl="1" marL="740664" rtl="0" algn="l">
              <a:spcBef>
                <a:spcPts val="600"/>
              </a:spcBef>
              <a:spcAft>
                <a:spcPts val="0"/>
              </a:spcAft>
              <a:buSzPts val="2200"/>
              <a:buChar char="–"/>
            </a:pPr>
            <a:r>
              <a:rPr lang="en-US" sz="2200"/>
              <a:t>Depict relationships between items on a firm’s financial statements.</a:t>
            </a:r>
            <a:endParaRPr/>
          </a:p>
          <a:p>
            <a:pPr indent="-285750" lvl="1" marL="740664" rtl="0" algn="l">
              <a:spcBef>
                <a:spcPts val="600"/>
              </a:spcBef>
              <a:spcAft>
                <a:spcPts val="0"/>
              </a:spcAft>
              <a:buSzPts val="2200"/>
              <a:buChar char="–"/>
            </a:pPr>
            <a:r>
              <a:rPr lang="en-US" sz="2200"/>
              <a:t>An analysis of its financial ratios helps a firm determine whether it is meeting its financial objectives and how it stacks up against industry peers.</a:t>
            </a:r>
            <a:endParaRPr/>
          </a:p>
          <a:p>
            <a:pPr indent="-256032" lvl="0" marL="256032" rtl="0" algn="l">
              <a:spcBef>
                <a:spcPts val="1500"/>
              </a:spcBef>
              <a:spcAft>
                <a:spcPts val="0"/>
              </a:spcAft>
              <a:buSzPts val="2200"/>
              <a:buChar char="•"/>
            </a:pPr>
            <a:r>
              <a:rPr lang="en-US" sz="2200"/>
              <a:t>Importance of Financial Management</a:t>
            </a:r>
            <a:endParaRPr/>
          </a:p>
          <a:p>
            <a:pPr indent="-285750" lvl="1" marL="740664" rtl="0" algn="l">
              <a:spcBef>
                <a:spcPts val="600"/>
              </a:spcBef>
              <a:spcAft>
                <a:spcPts val="0"/>
              </a:spcAft>
              <a:buSzPts val="2200"/>
              <a:buChar char="–"/>
            </a:pPr>
            <a:r>
              <a:rPr lang="en-US" sz="2200"/>
              <a:t>Many experienced entrepreneurs stress the importance of keeping on top of the financial management of the firm.</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The Process of Financial </a:t>
            </a:r>
            <a:br>
              <a:rPr lang="en-US" sz="3600"/>
            </a:br>
            <a:r>
              <a:rPr lang="en-US" sz="3600"/>
              <a:t>Management </a:t>
            </a:r>
            <a:r>
              <a:rPr b="0" lang="en-US" sz="2000"/>
              <a:t>(4 of 4)</a:t>
            </a:r>
            <a:endParaRPr b="0" sz="2000"/>
          </a:p>
        </p:txBody>
      </p:sp>
      <p:sp>
        <p:nvSpPr>
          <p:cNvPr id="188" name="Google Shape;188;p12"/>
          <p:cNvSpPr txBox="1"/>
          <p:nvPr>
            <p:ph idx="1" type="body"/>
          </p:nvPr>
        </p:nvSpPr>
        <p:spPr>
          <a:xfrm>
            <a:off x="457200" y="1600201"/>
            <a:ext cx="82296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200"/>
              <a:buNone/>
            </a:pPr>
            <a:r>
              <a:rPr b="1" lang="en-US" sz="2200"/>
              <a:t>Figure 8.2 </a:t>
            </a:r>
            <a:r>
              <a:rPr lang="en-US" sz="2200"/>
              <a:t>The Process of Financial Management</a:t>
            </a:r>
            <a:endParaRPr/>
          </a:p>
        </p:txBody>
      </p:sp>
      <p:pic>
        <p:nvPicPr>
          <p:cNvPr descr="Four steps in the process in the financial management. The first step is preparation of historic financial statements including income statement, balance sheet, and statement of cash flows. The second step is preparation of forecasts including income, expenses, and capital expenditures. The third step is preparation of pro forma financial statements including pro forma income statement, pro forma balance sheet, and prof forma statement of cash flows. The fourth step is ongoing analysis of financial results including ratio analysis, measuring results versus plans, and measuring results versus industry norms." id="189" name="Google Shape;189;p12"/>
          <p:cNvPicPr preferRelativeResize="0"/>
          <p:nvPr/>
        </p:nvPicPr>
        <p:blipFill rotWithShape="1">
          <a:blip r:embed="rId3">
            <a:alphaModFix/>
          </a:blip>
          <a:srcRect b="0" l="0" r="0" t="0"/>
          <a:stretch/>
        </p:blipFill>
        <p:spPr>
          <a:xfrm>
            <a:off x="2286967" y="2092108"/>
            <a:ext cx="4570066" cy="42116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Financial Statements</a:t>
            </a:r>
            <a:endParaRPr sz="3600"/>
          </a:p>
        </p:txBody>
      </p:sp>
      <p:sp>
        <p:nvSpPr>
          <p:cNvPr id="195" name="Google Shape;195;p13"/>
          <p:cNvSpPr txBox="1"/>
          <p:nvPr>
            <p:ph idx="1" type="body"/>
          </p:nvPr>
        </p:nvSpPr>
        <p:spPr>
          <a:xfrm>
            <a:off x="457200" y="1600200"/>
            <a:ext cx="80772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Historical Financial Statements</a:t>
            </a:r>
            <a:endParaRPr/>
          </a:p>
          <a:p>
            <a:pPr indent="-285750" lvl="1" marL="742950" rtl="0" algn="l">
              <a:spcBef>
                <a:spcPts val="600"/>
              </a:spcBef>
              <a:spcAft>
                <a:spcPts val="0"/>
              </a:spcAft>
              <a:buSzPts val="2200"/>
              <a:buChar char="–"/>
            </a:pPr>
            <a:r>
              <a:rPr lang="en-US" sz="2200"/>
              <a:t>Reflect past performance and are usually prepared on a quarterly and annual basis.</a:t>
            </a:r>
            <a:endParaRPr/>
          </a:p>
          <a:p>
            <a:pPr indent="-228600" lvl="2" marL="1143000" rtl="0" algn="l">
              <a:spcBef>
                <a:spcPts val="600"/>
              </a:spcBef>
              <a:spcAft>
                <a:spcPts val="0"/>
              </a:spcAft>
              <a:buSzPts val="2200"/>
              <a:buChar char="▪"/>
            </a:pPr>
            <a:r>
              <a:rPr lang="en-US" sz="2200"/>
              <a:t>Publicly traded firms are required by the SEC to prepare financial statements and make them available to the public.</a:t>
            </a:r>
            <a:endParaRPr/>
          </a:p>
          <a:p>
            <a:pPr indent="-256032" lvl="0" marL="256032" rtl="0" algn="l">
              <a:spcBef>
                <a:spcPts val="1500"/>
              </a:spcBef>
              <a:spcAft>
                <a:spcPts val="0"/>
              </a:spcAft>
              <a:buSzPts val="2200"/>
              <a:buChar char="•"/>
            </a:pPr>
            <a:r>
              <a:rPr lang="en-US" sz="2200"/>
              <a:t>Pro Forma Financial Statements</a:t>
            </a:r>
            <a:endParaRPr/>
          </a:p>
          <a:p>
            <a:pPr indent="-285750" lvl="1" marL="740664" rtl="0" algn="l">
              <a:spcBef>
                <a:spcPts val="600"/>
              </a:spcBef>
              <a:spcAft>
                <a:spcPts val="0"/>
              </a:spcAft>
              <a:buSzPts val="2200"/>
              <a:buChar char="–"/>
            </a:pPr>
            <a:r>
              <a:rPr lang="en-US" sz="2200"/>
              <a:t>Are projections for future periods based on forecasts and are typically completed for two to three years in the future.</a:t>
            </a:r>
            <a:endParaRPr/>
          </a:p>
          <a:p>
            <a:pPr indent="-228600" lvl="2" marL="1143000" rtl="0" algn="l">
              <a:spcBef>
                <a:spcPts val="600"/>
              </a:spcBef>
              <a:spcAft>
                <a:spcPts val="0"/>
              </a:spcAft>
              <a:buSzPts val="2200"/>
              <a:buChar char="▪"/>
            </a:pPr>
            <a:r>
              <a:rPr lang="en-US" sz="2200"/>
              <a:t>Pro forma financial statements are strictly planning tools and are not required by the SEC.</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New Venture Fitness Drinks </a:t>
            </a:r>
            <a:r>
              <a:rPr b="0" lang="en-US" sz="2000"/>
              <a:t>(1 of 2)</a:t>
            </a:r>
            <a:endParaRPr sz="2000"/>
          </a:p>
        </p:txBody>
      </p:sp>
      <p:sp>
        <p:nvSpPr>
          <p:cNvPr id="201" name="Google Shape;201;p14"/>
          <p:cNvSpPr txBox="1"/>
          <p:nvPr>
            <p:ph idx="1" type="body"/>
          </p:nvPr>
        </p:nvSpPr>
        <p:spPr>
          <a:xfrm>
            <a:off x="457200" y="1600200"/>
            <a:ext cx="8077200" cy="4724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New Venture Fitness Drinks</a:t>
            </a:r>
            <a:endParaRPr/>
          </a:p>
          <a:p>
            <a:pPr indent="-285750" lvl="1" marL="741600" rtl="0" algn="l">
              <a:spcBef>
                <a:spcPts val="600"/>
              </a:spcBef>
              <a:spcAft>
                <a:spcPts val="0"/>
              </a:spcAft>
              <a:buSzPts val="2200"/>
              <a:buChar char="–"/>
            </a:pPr>
            <a:r>
              <a:rPr lang="en-US" sz="2200"/>
              <a:t>To illustrate how financial statements are prepared, we used New Venture Fitness Drinks, the fictitious sports drink company introduced in Chapter 3.</a:t>
            </a:r>
            <a:endParaRPr/>
          </a:p>
          <a:p>
            <a:pPr indent="-228600" lvl="2" marL="1143000" rtl="0" algn="l">
              <a:spcBef>
                <a:spcPts val="600"/>
              </a:spcBef>
              <a:spcAft>
                <a:spcPts val="0"/>
              </a:spcAft>
              <a:buSzPts val="2200"/>
              <a:buChar char="▪"/>
            </a:pPr>
            <a:r>
              <a:rPr lang="en-US" sz="2200"/>
              <a:t>New Venture Fitness Drinks has been in business for five years.</a:t>
            </a:r>
            <a:endParaRPr/>
          </a:p>
          <a:p>
            <a:pPr indent="-228600" lvl="2" marL="1143000" rtl="0" algn="l">
              <a:spcBef>
                <a:spcPts val="600"/>
              </a:spcBef>
              <a:spcAft>
                <a:spcPts val="0"/>
              </a:spcAft>
              <a:buSzPts val="2200"/>
              <a:buChar char="▪"/>
            </a:pPr>
            <a:r>
              <a:rPr lang="en-US" sz="2200"/>
              <a:t>Targeting sports enthusiasts, the company sells a line of nutritional fitness drinks.</a:t>
            </a:r>
            <a:endParaRPr/>
          </a:p>
          <a:p>
            <a:pPr indent="-228600" lvl="2" marL="1143000" rtl="0" algn="l">
              <a:spcBef>
                <a:spcPts val="600"/>
              </a:spcBef>
              <a:spcAft>
                <a:spcPts val="0"/>
              </a:spcAft>
              <a:buSzPts val="2200"/>
              <a:buChar char="▪"/>
            </a:pPr>
            <a:r>
              <a:rPr lang="en-US" sz="2200"/>
              <a:t>It opened a single location in 2016, added a second location in 2018, and plans to add a third in 2019.</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5"/>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New Venture Fitness Drinks </a:t>
            </a:r>
            <a:r>
              <a:rPr b="0" lang="en-US" sz="2000"/>
              <a:t>(2 of 2)</a:t>
            </a:r>
            <a:endParaRPr sz="2000"/>
          </a:p>
        </p:txBody>
      </p:sp>
      <p:sp>
        <p:nvSpPr>
          <p:cNvPr id="207" name="Google Shape;207;p15"/>
          <p:cNvSpPr txBox="1"/>
          <p:nvPr>
            <p:ph idx="1" type="body"/>
          </p:nvPr>
        </p:nvSpPr>
        <p:spPr>
          <a:xfrm>
            <a:off x="457200" y="1600200"/>
            <a:ext cx="8077200" cy="4724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New Venture Fitness Drinks (continued)</a:t>
            </a:r>
            <a:endParaRPr/>
          </a:p>
          <a:p>
            <a:pPr indent="-285750" lvl="1" marL="741600" rtl="0" algn="l">
              <a:spcBef>
                <a:spcPts val="600"/>
              </a:spcBef>
              <a:spcAft>
                <a:spcPts val="0"/>
              </a:spcAft>
              <a:buSzPts val="2200"/>
              <a:buChar char="–"/>
            </a:pPr>
            <a:r>
              <a:rPr lang="en-US" sz="2200"/>
              <a:t>To illustrate how financial statements are prepared, we used New Venture Fitness Drinks, the fictitious sports drink company introduced in Chapter 3.</a:t>
            </a:r>
            <a:endParaRPr/>
          </a:p>
          <a:p>
            <a:pPr indent="-228600" lvl="2" marL="1143000" rtl="0" algn="l">
              <a:spcBef>
                <a:spcPts val="600"/>
              </a:spcBef>
              <a:spcAft>
                <a:spcPts val="0"/>
              </a:spcAft>
              <a:buSzPts val="2200"/>
              <a:buChar char="▪"/>
            </a:pPr>
            <a:r>
              <a:rPr lang="en-US" sz="2200"/>
              <a:t>The company’s strategy is to place small restaurants, similar to smoothie restaurants, near large outdoor sports complexes.</a:t>
            </a:r>
            <a:endParaRPr/>
          </a:p>
          <a:p>
            <a:pPr indent="-228600" lvl="2" marL="1143000" rtl="0" algn="l">
              <a:spcBef>
                <a:spcPts val="600"/>
              </a:spcBef>
              <a:spcAft>
                <a:spcPts val="0"/>
              </a:spcAft>
              <a:buSzPts val="2200"/>
              <a:buChar char="▪"/>
            </a:pPr>
            <a:r>
              <a:rPr lang="en-US" sz="2200"/>
              <a:t>The company is profitable and is growing at a rate of 25 percent per year.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Financial Statements</a:t>
            </a:r>
            <a:endParaRPr sz="3600"/>
          </a:p>
        </p:txBody>
      </p:sp>
      <p:sp>
        <p:nvSpPr>
          <p:cNvPr id="213" name="Google Shape;213;p16"/>
          <p:cNvSpPr txBox="1"/>
          <p:nvPr>
            <p:ph idx="2" type="body"/>
          </p:nvPr>
        </p:nvSpPr>
        <p:spPr>
          <a:xfrm>
            <a:off x="457200" y="1600201"/>
            <a:ext cx="8229600" cy="4572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lang="en-US" sz="2400">
                <a:solidFill>
                  <a:schemeClr val="dk1"/>
                </a:solidFill>
              </a:rPr>
              <a:t>Three types of historical financial statements</a:t>
            </a:r>
            <a:endParaRPr sz="2400">
              <a:solidFill>
                <a:schemeClr val="dk1"/>
              </a:solidFill>
            </a:endParaRPr>
          </a:p>
        </p:txBody>
      </p:sp>
      <p:graphicFrame>
        <p:nvGraphicFramePr>
          <p:cNvPr id="214" name="Google Shape;214;p16"/>
          <p:cNvGraphicFramePr/>
          <p:nvPr/>
        </p:nvGraphicFramePr>
        <p:xfrm>
          <a:off x="457200" y="2209800"/>
          <a:ext cx="3000000" cy="3000000"/>
        </p:xfrm>
        <a:graphic>
          <a:graphicData uri="http://schemas.openxmlformats.org/drawingml/2006/table">
            <a:tbl>
              <a:tblPr bandRow="1" firstRow="1">
                <a:noFill/>
                <a:tableStyleId>{50CA08C3-715C-4A61-9D14-A62D07780F15}</a:tableStyleId>
              </a:tblPr>
              <a:tblGrid>
                <a:gridCol w="2667000"/>
                <a:gridCol w="5562600"/>
              </a:tblGrid>
              <a:tr h="370850">
                <a:tc>
                  <a:txBody>
                    <a:bodyPr/>
                    <a:lstStyle/>
                    <a:p>
                      <a:pPr indent="0" lvl="0" marL="0" marR="0" rtl="0" algn="l">
                        <a:lnSpc>
                          <a:spcPct val="100000"/>
                        </a:lnSpc>
                        <a:spcBef>
                          <a:spcPts val="0"/>
                        </a:spcBef>
                        <a:spcAft>
                          <a:spcPts val="0"/>
                        </a:spcAft>
                        <a:buClr>
                          <a:schemeClr val="dk1"/>
                        </a:buClr>
                        <a:buSzPts val="2000"/>
                        <a:buFont typeface="Arial"/>
                        <a:buNone/>
                      </a:pPr>
                      <a:r>
                        <a:rPr b="1" lang="en-US" sz="2000" u="none" cap="none" strike="noStrike"/>
                        <a:t>Financial Statement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1" lang="en-US" sz="2000" u="none" cap="none" strike="noStrike"/>
                        <a:t>Purpose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2000"/>
                        <a:buFont typeface="Arial"/>
                        <a:buNone/>
                      </a:pPr>
                      <a:r>
                        <a:rPr b="0" lang="en-US" sz="2000" u="none" cap="none" strike="noStrike"/>
                        <a:t>Income Statement</a:t>
                      </a:r>
                      <a:endParaRPr/>
                    </a:p>
                    <a:p>
                      <a:pPr indent="0" lvl="0" marL="0" marR="0" rtl="0" algn="l">
                        <a:spcBef>
                          <a:spcPts val="0"/>
                        </a:spcBef>
                        <a:spcAft>
                          <a:spcPts val="0"/>
                        </a:spcAft>
                        <a:buNone/>
                      </a:pPr>
                      <a:r>
                        <a:t/>
                      </a:r>
                      <a:endParaRPr b="0" sz="20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lang="en-US" sz="2000"/>
                        <a:t>Reflects the results of the operations of a firm over a specified period of time. It records all the revenues and expenses for the given period and shows whether the firm is making a profit or is experiencing a loss.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2000"/>
                        <a:buFont typeface="Arial"/>
                        <a:buNone/>
                      </a:pPr>
                      <a:r>
                        <a:rPr b="0" lang="en-US" sz="2000"/>
                        <a:t>Balance Sheet</a:t>
                      </a:r>
                      <a:endParaRPr/>
                    </a:p>
                    <a:p>
                      <a:pPr indent="0" lvl="0" marL="0" marR="0" rtl="0" algn="l">
                        <a:spcBef>
                          <a:spcPts val="0"/>
                        </a:spcBef>
                        <a:spcAft>
                          <a:spcPts val="0"/>
                        </a:spcAft>
                        <a:buNone/>
                      </a:pPr>
                      <a:r>
                        <a:t/>
                      </a:r>
                      <a:endParaRPr b="0" sz="20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lang="en-US" sz="2000"/>
                        <a:t>Is a snapshot of a company’s assets, liabilities, and owner’s equity at a specific point in time.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2000"/>
                        <a:buFont typeface="Arial"/>
                        <a:buNone/>
                      </a:pPr>
                      <a:r>
                        <a:rPr b="0" lang="en-US" sz="2000"/>
                        <a:t>Statement of cash flows</a:t>
                      </a:r>
                      <a:endParaRPr/>
                    </a:p>
                    <a:p>
                      <a:pPr indent="0" lvl="0" marL="0" marR="0" rtl="0" algn="l">
                        <a:spcBef>
                          <a:spcPts val="0"/>
                        </a:spcBef>
                        <a:spcAft>
                          <a:spcPts val="0"/>
                        </a:spcAft>
                        <a:buNone/>
                      </a:pPr>
                      <a:r>
                        <a:t/>
                      </a:r>
                      <a:endParaRPr b="0" sz="20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lang="en-US" sz="2000"/>
                        <a:t>Summarizes the changes in a firm’s cash position for a specified period of time and details why the changes occurred.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Income Statements</a:t>
            </a:r>
            <a:endParaRPr b="0" sz="3600"/>
          </a:p>
        </p:txBody>
      </p:sp>
      <p:sp>
        <p:nvSpPr>
          <p:cNvPr id="220" name="Google Shape;220;p17"/>
          <p:cNvSpPr txBox="1"/>
          <p:nvPr>
            <p:ph idx="1" type="body"/>
          </p:nvPr>
        </p:nvSpPr>
        <p:spPr>
          <a:xfrm>
            <a:off x="457200" y="137160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800"/>
              <a:buNone/>
            </a:pPr>
            <a:r>
              <a:rPr b="1" lang="en-US" sz="1800"/>
              <a:t>Table 8.1 </a:t>
            </a:r>
            <a:r>
              <a:rPr lang="en-US" sz="1800"/>
              <a:t>Consolidated Income Statements for New Venture Fitness Drinks, Inc.</a:t>
            </a:r>
            <a:endParaRPr sz="1800"/>
          </a:p>
        </p:txBody>
      </p:sp>
      <p:graphicFrame>
        <p:nvGraphicFramePr>
          <p:cNvPr id="221" name="Google Shape;221;p17"/>
          <p:cNvGraphicFramePr/>
          <p:nvPr/>
        </p:nvGraphicFramePr>
        <p:xfrm>
          <a:off x="457200" y="1752600"/>
          <a:ext cx="3000000" cy="3000000"/>
        </p:xfrm>
        <a:graphic>
          <a:graphicData uri="http://schemas.openxmlformats.org/drawingml/2006/table">
            <a:tbl>
              <a:tblPr bandRow="1" firstRow="1">
                <a:noFill/>
                <a:tableStyleId>{033879C0-7D80-405A-93CE-FBF772F808C0}</a:tableStyleId>
              </a:tblPr>
              <a:tblGrid>
                <a:gridCol w="3048000"/>
                <a:gridCol w="1749375"/>
                <a:gridCol w="1741350"/>
                <a:gridCol w="1691475"/>
              </a:tblGrid>
              <a:tr h="251200">
                <a:tc>
                  <a:txBody>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200" u="none" strike="noStrike">
                          <a:latin typeface="Arial"/>
                          <a:ea typeface="Arial"/>
                          <a:cs typeface="Arial"/>
                          <a:sym typeface="Arial"/>
                        </a:rPr>
                        <a:t>December 31, 2018</a:t>
                      </a:r>
                      <a:endParaRPr b="1" sz="1200">
                        <a:latin typeface="Arial"/>
                        <a:ea typeface="Arial"/>
                        <a:cs typeface="Arial"/>
                        <a:sym typeface="Arial"/>
                      </a:endParaRPr>
                    </a:p>
                  </a:txBody>
                  <a:tcPr marT="45725" marB="45725" marR="98075" marL="98075">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200" u="none" strike="noStrike">
                          <a:latin typeface="Arial"/>
                          <a:ea typeface="Arial"/>
                          <a:cs typeface="Arial"/>
                          <a:sym typeface="Arial"/>
                        </a:rPr>
                        <a:t>December 31, 2017</a:t>
                      </a:r>
                      <a:endParaRPr b="1" sz="1200">
                        <a:latin typeface="Arial"/>
                        <a:ea typeface="Arial"/>
                        <a:cs typeface="Arial"/>
                        <a:sym typeface="Arial"/>
                      </a:endParaRPr>
                    </a:p>
                  </a:txBody>
                  <a:tcPr marT="45725" marB="45725" marR="98075" marL="98075">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200" u="none" strike="noStrike">
                          <a:latin typeface="Arial"/>
                          <a:ea typeface="Arial"/>
                          <a:cs typeface="Arial"/>
                          <a:sym typeface="Arial"/>
                        </a:rPr>
                        <a:t>December 31, 2016</a:t>
                      </a:r>
                      <a:endParaRPr b="1" sz="1200">
                        <a:latin typeface="Arial"/>
                        <a:ea typeface="Arial"/>
                        <a:cs typeface="Arial"/>
                        <a:sym typeface="Arial"/>
                      </a:endParaRPr>
                    </a:p>
                  </a:txBody>
                  <a:tcPr marT="45725" marB="45725" marR="98075" marL="98075">
                    <a:lnB cap="flat" cmpd="sng" w="12700">
                      <a:solidFill>
                        <a:schemeClr val="dk1"/>
                      </a:solidFill>
                      <a:prstDash val="solid"/>
                      <a:round/>
                      <a:headEnd len="sm" w="sm" type="none"/>
                      <a:tailEnd len="sm" w="sm" type="none"/>
                    </a:lnB>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Net sales</a:t>
                      </a:r>
                      <a:endParaRPr sz="1200">
                        <a:latin typeface="Arial"/>
                        <a:ea typeface="Arial"/>
                        <a:cs typeface="Arial"/>
                        <a:sym typeface="Arial"/>
                      </a:endParaRPr>
                    </a:p>
                  </a:txBody>
                  <a:tcPr marT="45725" marB="45725" marR="98075" marL="98075">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$586,600</a:t>
                      </a:r>
                      <a:endParaRPr sz="1200">
                        <a:latin typeface="Arial"/>
                        <a:ea typeface="Arial"/>
                        <a:cs typeface="Arial"/>
                        <a:sym typeface="Arial"/>
                      </a:endParaRPr>
                    </a:p>
                  </a:txBody>
                  <a:tcPr marT="45725" marB="45725" marR="98075" marL="98075">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$463,100</a:t>
                      </a:r>
                      <a:endParaRPr sz="1200">
                        <a:latin typeface="Arial"/>
                        <a:ea typeface="Arial"/>
                        <a:cs typeface="Arial"/>
                        <a:sym typeface="Arial"/>
                      </a:endParaRPr>
                    </a:p>
                  </a:txBody>
                  <a:tcPr marT="45725" marB="45725" marR="98075" marL="98075">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$368,900</a:t>
                      </a:r>
                      <a:endParaRPr sz="1200">
                        <a:latin typeface="Arial"/>
                        <a:ea typeface="Arial"/>
                        <a:cs typeface="Arial"/>
                        <a:sym typeface="Arial"/>
                      </a:endParaRPr>
                    </a:p>
                  </a:txBody>
                  <a:tcPr marT="45725" marB="45725" marR="98075" marL="98075">
                    <a:lnT cap="flat" cmpd="sng" w="12700">
                      <a:solidFill>
                        <a:schemeClr val="dk1"/>
                      </a:solidFill>
                      <a:prstDash val="solid"/>
                      <a:round/>
                      <a:headEnd len="sm" w="sm" type="none"/>
                      <a:tailEnd len="sm" w="sm" type="none"/>
                    </a:lnT>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Cost of sales</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268,900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225,500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201,500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Gross profit</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a:latin typeface="Arial"/>
                          <a:ea typeface="Arial"/>
                          <a:cs typeface="Arial"/>
                          <a:sym typeface="Arial"/>
                        </a:rPr>
                        <a:t>317,700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a:latin typeface="Arial"/>
                          <a:ea typeface="Arial"/>
                          <a:cs typeface="Arial"/>
                          <a:sym typeface="Arial"/>
                        </a:rPr>
                        <a:t>237,600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a:latin typeface="Arial"/>
                          <a:ea typeface="Arial"/>
                          <a:cs typeface="Arial"/>
                          <a:sym typeface="Arial"/>
                        </a:rPr>
                        <a:t>167,400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b="1" lang="en-US" sz="1200" u="none" strike="noStrike">
                          <a:latin typeface="Arial"/>
                          <a:ea typeface="Arial"/>
                          <a:cs typeface="Arial"/>
                          <a:sym typeface="Arial"/>
                        </a:rPr>
                        <a:t>Operating expenses</a:t>
                      </a:r>
                      <a:endParaRPr b="1"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b="0" i="0" lang="en-US" sz="1200" u="none" cap="none" strike="noStrike">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b="0" i="0" lang="en-US" sz="1200" u="none" cap="none" strike="noStrike">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b="0" i="0" lang="en-US" sz="1200" u="none" cap="none" strike="noStrike">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solidFill>
                      <a:schemeClr val="lt1"/>
                    </a:solidFill>
                  </a:tcPr>
                </a:tc>
              </a:tr>
              <a:tr h="423075">
                <a:tc>
                  <a:txBody>
                    <a:bodyPr/>
                    <a:lstStyle/>
                    <a:p>
                      <a:pPr indent="0" lvl="0" marL="0" marR="0" rtl="0" algn="l">
                        <a:spcBef>
                          <a:spcPts val="0"/>
                        </a:spcBef>
                        <a:spcAft>
                          <a:spcPts val="0"/>
                        </a:spcAft>
                        <a:buNone/>
                      </a:pPr>
                      <a:r>
                        <a:rPr lang="en-US" sz="1200" u="none" strike="noStrike">
                          <a:latin typeface="Arial"/>
                          <a:ea typeface="Arial"/>
                          <a:cs typeface="Arial"/>
                          <a:sym typeface="Arial"/>
                        </a:rPr>
                        <a:t>Selling, general, and administrative expenses</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117,800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104,700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90,200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Depreciation</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13,500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5,900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5,100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Operating income</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186,400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127,000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72,100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b="1" lang="en-US" sz="1200" u="none" strike="noStrike">
                          <a:latin typeface="Arial"/>
                          <a:ea typeface="Arial"/>
                          <a:cs typeface="Arial"/>
                          <a:sym typeface="Arial"/>
                        </a:rPr>
                        <a:t>Other income</a:t>
                      </a:r>
                      <a:endParaRPr b="1"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b="0" i="0" lang="en-US" sz="1200" u="none" cap="none" strike="noStrike">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b="0" i="0" lang="en-US" sz="1200" u="none" cap="none" strike="noStrike">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b="0" i="0" lang="en-US" sz="1200" u="none" cap="none" strike="noStrike">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Interest income</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1,900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800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1,100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Interest expense</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(15,000)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(6,900)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(6,400)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Other income (expense), net</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10,900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(1,300)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1,200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Income before income taxes</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184,200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119,600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68,000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Income tax expense</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53,200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36,600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18,000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Net income</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131,000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83,000</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50,000</a:t>
                      </a:r>
                      <a:endParaRPr sz="1200">
                        <a:latin typeface="Arial"/>
                        <a:ea typeface="Arial"/>
                        <a:cs typeface="Arial"/>
                        <a:sym typeface="Arial"/>
                      </a:endParaRPr>
                    </a:p>
                  </a:txBody>
                  <a:tcPr marT="45725" marB="45725" marR="98075" marL="98075">
                    <a:solidFill>
                      <a:schemeClr val="lt1"/>
                    </a:solidFill>
                  </a:tcPr>
                </a:tc>
              </a:tr>
              <a:tr h="251200">
                <a:tc>
                  <a:txBody>
                    <a:bodyPr/>
                    <a:lstStyle/>
                    <a:p>
                      <a:pPr indent="0" lvl="0" marL="0" marR="0" rtl="0" algn="l">
                        <a:spcBef>
                          <a:spcPts val="0"/>
                        </a:spcBef>
                        <a:spcAft>
                          <a:spcPts val="0"/>
                        </a:spcAft>
                        <a:buNone/>
                      </a:pPr>
                      <a:r>
                        <a:rPr lang="en-US" sz="1200" u="none" strike="noStrike">
                          <a:latin typeface="Arial"/>
                          <a:ea typeface="Arial"/>
                          <a:cs typeface="Arial"/>
                          <a:sym typeface="Arial"/>
                        </a:rPr>
                        <a:t>Earnings per share</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1.31</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0.83</a:t>
                      </a:r>
                      <a:endParaRPr sz="1200">
                        <a:latin typeface="Arial"/>
                        <a:ea typeface="Arial"/>
                        <a:cs typeface="Arial"/>
                        <a:sym typeface="Arial"/>
                      </a:endParaRPr>
                    </a:p>
                  </a:txBody>
                  <a:tcPr marT="45725" marB="45725" marR="98075" marL="98075">
                    <a:solidFill>
                      <a:schemeClr val="lt1"/>
                    </a:solidFill>
                  </a:tcPr>
                </a:tc>
                <a:tc>
                  <a:txBody>
                    <a:bodyPr/>
                    <a:lstStyle/>
                    <a:p>
                      <a:pPr indent="0" lvl="0" marL="0" marR="0" rtl="0" algn="r">
                        <a:spcBef>
                          <a:spcPts val="0"/>
                        </a:spcBef>
                        <a:spcAft>
                          <a:spcPts val="0"/>
                        </a:spcAft>
                        <a:buNone/>
                      </a:pPr>
                      <a:r>
                        <a:rPr lang="en-US" sz="1200" u="none" strike="noStrike">
                          <a:latin typeface="Arial"/>
                          <a:ea typeface="Arial"/>
                          <a:cs typeface="Arial"/>
                          <a:sym typeface="Arial"/>
                        </a:rPr>
                        <a:t>0.50</a:t>
                      </a:r>
                      <a:endParaRPr sz="1200">
                        <a:latin typeface="Arial"/>
                        <a:ea typeface="Arial"/>
                        <a:cs typeface="Arial"/>
                        <a:sym typeface="Arial"/>
                      </a:endParaRPr>
                    </a:p>
                  </a:txBody>
                  <a:tcPr marT="45725" marB="45725" marR="98075" marL="98075">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Balance Sheets </a:t>
            </a:r>
            <a:r>
              <a:rPr b="0" lang="en-US" sz="2000"/>
              <a:t>(1 of 2)</a:t>
            </a:r>
            <a:endParaRPr b="0" sz="2000"/>
          </a:p>
        </p:txBody>
      </p:sp>
      <p:sp>
        <p:nvSpPr>
          <p:cNvPr id="227" name="Google Shape;227;p18"/>
          <p:cNvSpPr txBox="1"/>
          <p:nvPr>
            <p:ph idx="2" type="body"/>
          </p:nvPr>
        </p:nvSpPr>
        <p:spPr>
          <a:xfrm>
            <a:off x="457200" y="1524000"/>
            <a:ext cx="8229600" cy="762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None/>
            </a:pPr>
            <a:r>
              <a:rPr lang="en-US" sz="2200"/>
              <a:t>Assets</a:t>
            </a:r>
            <a:endParaRPr/>
          </a:p>
          <a:p>
            <a:pPr indent="0" lvl="0" marL="0" rtl="0" algn="l">
              <a:spcBef>
                <a:spcPts val="1500"/>
              </a:spcBef>
              <a:spcAft>
                <a:spcPts val="0"/>
              </a:spcAft>
              <a:buSzPts val="1900"/>
              <a:buNone/>
            </a:pPr>
            <a:r>
              <a:rPr b="1" lang="en-US" sz="1900"/>
              <a:t>Table 8.2 </a:t>
            </a:r>
            <a:r>
              <a:rPr lang="en-US" sz="1900"/>
              <a:t>Consolidated Balance Sheets for New Venture Fitness Drinks, Inc.</a:t>
            </a:r>
            <a:endParaRPr sz="1900"/>
          </a:p>
        </p:txBody>
      </p:sp>
      <p:graphicFrame>
        <p:nvGraphicFramePr>
          <p:cNvPr id="228" name="Google Shape;228;p18"/>
          <p:cNvGraphicFramePr/>
          <p:nvPr/>
        </p:nvGraphicFramePr>
        <p:xfrm>
          <a:off x="482838" y="2400512"/>
          <a:ext cx="3000000" cy="3000000"/>
        </p:xfrm>
        <a:graphic>
          <a:graphicData uri="http://schemas.openxmlformats.org/drawingml/2006/table">
            <a:tbl>
              <a:tblPr bandRow="1" firstRow="1">
                <a:noFill/>
                <a:tableStyleId>{033879C0-7D80-405A-93CE-FBF772F808C0}</a:tableStyleId>
              </a:tblPr>
              <a:tblGrid>
                <a:gridCol w="3200400"/>
                <a:gridCol w="1752600"/>
                <a:gridCol w="1676400"/>
                <a:gridCol w="1599475"/>
              </a:tblGrid>
              <a:tr h="304800">
                <a:tc>
                  <a:txBody>
                    <a:bodyPr/>
                    <a:lstStyle/>
                    <a:p>
                      <a:pPr indent="0" lvl="0" marL="0" marR="0" rtl="0" algn="l">
                        <a:lnSpc>
                          <a:spcPct val="100000"/>
                        </a:lnSpc>
                        <a:spcBef>
                          <a:spcPts val="0"/>
                        </a:spcBef>
                        <a:spcAft>
                          <a:spcPts val="0"/>
                        </a:spcAft>
                        <a:buClr>
                          <a:schemeClr val="dk1"/>
                        </a:buClr>
                        <a:buSzPts val="1200"/>
                        <a:buFont typeface="Arial"/>
                        <a:buNone/>
                      </a:pPr>
                      <a:r>
                        <a:rPr lang="en-US" sz="1200"/>
                        <a:t>Assets</a:t>
                      </a:r>
                      <a:endParaRPr/>
                    </a:p>
                  </a:txBody>
                  <a:tcPr marT="45725" marB="45725" marR="94325" marL="94325">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200" u="none" strike="noStrike"/>
                        <a:t>December 31, 2018</a:t>
                      </a:r>
                      <a:endParaRPr b="1" sz="1200"/>
                    </a:p>
                  </a:txBody>
                  <a:tcPr marT="45725" marB="45725" marR="94325" marL="94325">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200" u="none" strike="noStrike"/>
                        <a:t>December 31, 2017</a:t>
                      </a:r>
                      <a:endParaRPr b="1" sz="1200"/>
                    </a:p>
                  </a:txBody>
                  <a:tcPr marT="45725" marB="45725" marR="94325" marL="94325">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200" u="none" strike="noStrike"/>
                        <a:t>December 31, 2016</a:t>
                      </a:r>
                      <a:endParaRPr b="1" sz="1200"/>
                    </a:p>
                  </a:txBody>
                  <a:tcPr marT="45725" marB="45725" marR="94325" marL="94325">
                    <a:lnB cap="flat" cmpd="sng" w="12700">
                      <a:solidFill>
                        <a:schemeClr val="dk1"/>
                      </a:solidFill>
                      <a:prstDash val="solid"/>
                      <a:round/>
                      <a:headEnd len="sm" w="sm" type="none"/>
                      <a:tailEnd len="sm" w="sm" type="none"/>
                    </a:lnB>
                    <a:solidFill>
                      <a:schemeClr val="lt1"/>
                    </a:solidFill>
                  </a:tcPr>
                </a:tc>
              </a:tr>
              <a:tr h="260500">
                <a:tc>
                  <a:txBody>
                    <a:bodyPr/>
                    <a:lstStyle/>
                    <a:p>
                      <a:pPr indent="0" lvl="0" marL="0" marR="0" rtl="0" algn="l">
                        <a:spcBef>
                          <a:spcPts val="0"/>
                        </a:spcBef>
                        <a:spcAft>
                          <a:spcPts val="0"/>
                        </a:spcAft>
                        <a:buNone/>
                      </a:pPr>
                      <a:r>
                        <a:rPr b="1" lang="en-US" sz="1200" u="none" strike="noStrike"/>
                        <a:t>Current assets</a:t>
                      </a:r>
                      <a:endParaRPr b="1" sz="1200"/>
                    </a:p>
                  </a:txBody>
                  <a:tcPr marT="45725" marB="45725" marR="94325" marL="94325">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solidFill>
                          <a:schemeClr val="lt1"/>
                        </a:solidFill>
                      </a:endParaRPr>
                    </a:p>
                  </a:txBody>
                  <a:tcPr marT="45725" marB="45725" marR="94325" marL="94325">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4325" marL="94325">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4325" marL="94325">
                    <a:lnT cap="flat" cmpd="sng" w="12700">
                      <a:solidFill>
                        <a:schemeClr val="dk1"/>
                      </a:solidFill>
                      <a:prstDash val="solid"/>
                      <a:round/>
                      <a:headEnd len="sm" w="sm" type="none"/>
                      <a:tailEnd len="sm" w="sm" type="none"/>
                    </a:lnT>
                    <a:solidFill>
                      <a:schemeClr val="lt1"/>
                    </a:solidFill>
                  </a:tcPr>
                </a:tc>
              </a:tr>
              <a:tr h="260500">
                <a:tc>
                  <a:txBody>
                    <a:bodyPr/>
                    <a:lstStyle/>
                    <a:p>
                      <a:pPr indent="0" lvl="0" marL="0" marR="0" rtl="0" algn="l">
                        <a:spcBef>
                          <a:spcPts val="0"/>
                        </a:spcBef>
                        <a:spcAft>
                          <a:spcPts val="0"/>
                        </a:spcAft>
                        <a:buNone/>
                      </a:pPr>
                      <a:r>
                        <a:rPr lang="en-US" sz="1200" u="none" strike="noStrike"/>
                        <a:t>Cash and cash equivalents</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$63,800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$54,600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$56,500</a:t>
                      </a:r>
                      <a:endParaRPr sz="1200"/>
                    </a:p>
                  </a:txBody>
                  <a:tcPr marT="45725" marB="45725" marR="94325" marL="94325">
                    <a:solidFill>
                      <a:schemeClr val="lt1"/>
                    </a:solidFill>
                  </a:tcPr>
                </a:tc>
              </a:tr>
              <a:tr h="434175">
                <a:tc>
                  <a:txBody>
                    <a:bodyPr/>
                    <a:lstStyle/>
                    <a:p>
                      <a:pPr indent="0" lvl="0" marL="0" marR="0" rtl="0" algn="l">
                        <a:spcBef>
                          <a:spcPts val="0"/>
                        </a:spcBef>
                        <a:spcAft>
                          <a:spcPts val="0"/>
                        </a:spcAft>
                        <a:buNone/>
                      </a:pPr>
                      <a:r>
                        <a:rPr lang="en-US" sz="1200" u="none" strike="noStrike"/>
                        <a:t>Accounts receivable, less allowance for doubtful accounts</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39,600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48,900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50,200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Inventories</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19,200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20,400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21,400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Total current assets</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122,600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123,900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128,100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b="1" lang="en-US" sz="1200" u="none" strike="noStrike"/>
                        <a:t>Property, plant, and equipment</a:t>
                      </a:r>
                      <a:endParaRPr/>
                    </a:p>
                  </a:txBody>
                  <a:tcPr marT="45725" marB="45725" marR="94325" marL="94325">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solidFill>
                          <a:schemeClr val="lt1"/>
                        </a:solidFill>
                      </a:endParaRPr>
                    </a:p>
                  </a:txBody>
                  <a:tcPr marT="45725" marB="45725" marR="94325" marL="94325">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Land</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260,000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160,000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160,000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Buildings and equipment</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412,000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261,500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149,000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Total property, plant, and equipment</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672,000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421,500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309,000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Less: accumulated depreciation</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65,000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51,500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45,600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Net property, plant, and equipment</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607,000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370,000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263,400</a:t>
                      </a:r>
                      <a:endParaRPr sz="1200"/>
                    </a:p>
                  </a:txBody>
                  <a:tcPr marT="45725" marB="45725" marR="94325" marL="94325">
                    <a:solidFill>
                      <a:schemeClr val="lt1"/>
                    </a:solidFill>
                  </a:tcPr>
                </a:tc>
              </a:tr>
              <a:tr h="260500">
                <a:tc>
                  <a:txBody>
                    <a:bodyPr/>
                    <a:lstStyle/>
                    <a:p>
                      <a:pPr indent="0" lvl="0" marL="0" marR="0" rtl="0" algn="l">
                        <a:spcBef>
                          <a:spcPts val="0"/>
                        </a:spcBef>
                        <a:spcAft>
                          <a:spcPts val="0"/>
                        </a:spcAft>
                        <a:buNone/>
                      </a:pPr>
                      <a:r>
                        <a:rPr lang="en-US" sz="1200" u="none" strike="noStrike"/>
                        <a:t>Total assets</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729,600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493,900</a:t>
                      </a:r>
                      <a:endParaRPr sz="1200"/>
                    </a:p>
                  </a:txBody>
                  <a:tcPr marT="45725" marB="45725" marR="94325" marL="94325">
                    <a:solidFill>
                      <a:schemeClr val="lt1"/>
                    </a:solidFill>
                  </a:tcPr>
                </a:tc>
                <a:tc>
                  <a:txBody>
                    <a:bodyPr/>
                    <a:lstStyle/>
                    <a:p>
                      <a:pPr indent="0" lvl="0" marL="0" marR="0" rtl="0" algn="r">
                        <a:spcBef>
                          <a:spcPts val="0"/>
                        </a:spcBef>
                        <a:spcAft>
                          <a:spcPts val="0"/>
                        </a:spcAft>
                        <a:buNone/>
                      </a:pPr>
                      <a:r>
                        <a:rPr lang="en-US" sz="1200" u="none" strike="noStrike"/>
                        <a:t>391,500</a:t>
                      </a:r>
                      <a:endParaRPr sz="1200"/>
                    </a:p>
                  </a:txBody>
                  <a:tcPr marT="45725" marB="45725" marR="94325" marL="94325">
                    <a:solidFill>
                      <a:schemeClr val="lt1"/>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9"/>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Balance Sheets </a:t>
            </a:r>
            <a:r>
              <a:rPr b="0" lang="en-US" sz="2000"/>
              <a:t>(2 of 2)</a:t>
            </a:r>
            <a:endParaRPr sz="2000"/>
          </a:p>
        </p:txBody>
      </p:sp>
      <p:graphicFrame>
        <p:nvGraphicFramePr>
          <p:cNvPr id="234" name="Google Shape;234;p19"/>
          <p:cNvGraphicFramePr/>
          <p:nvPr/>
        </p:nvGraphicFramePr>
        <p:xfrm>
          <a:off x="474292" y="2392680"/>
          <a:ext cx="3000000" cy="3000000"/>
        </p:xfrm>
        <a:graphic>
          <a:graphicData uri="http://schemas.openxmlformats.org/drawingml/2006/table">
            <a:tbl>
              <a:tblPr bandRow="1" firstRow="1">
                <a:noFill/>
                <a:tableStyleId>{033879C0-7D80-405A-93CE-FBF772F808C0}</a:tableStyleId>
              </a:tblPr>
              <a:tblGrid>
                <a:gridCol w="3200400"/>
                <a:gridCol w="1676400"/>
                <a:gridCol w="1600200"/>
                <a:gridCol w="1752600"/>
              </a:tblGrid>
              <a:tr h="304800">
                <a:tc>
                  <a:txBody>
                    <a:bodyPr/>
                    <a:lstStyle/>
                    <a:p>
                      <a:pPr indent="0" lvl="0" marL="0" marR="0" rtl="0" algn="l">
                        <a:spcBef>
                          <a:spcPts val="0"/>
                        </a:spcBef>
                        <a:spcAft>
                          <a:spcPts val="0"/>
                        </a:spcAft>
                        <a:buNone/>
                      </a:pPr>
                      <a:r>
                        <a:rPr lang="en-US" sz="1200" u="none" strike="noStrike"/>
                        <a:t>Assets</a:t>
                      </a:r>
                      <a:endParaRPr b="1"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December 31, 2018</a:t>
                      </a:r>
                      <a:endParaRPr b="1"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December 31, 2017</a:t>
                      </a:r>
                      <a:endParaRPr b="1"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December 31, 2016</a:t>
                      </a:r>
                      <a:endParaRPr b="1" sz="1200"/>
                    </a:p>
                  </a:txBody>
                  <a:tcPr marT="45725" marB="45725" marR="91450" marL="91450">
                    <a:solidFill>
                      <a:schemeClr val="lt1"/>
                    </a:solidFill>
                  </a:tcPr>
                </a:tc>
              </a:tr>
              <a:tr h="433125">
                <a:tc>
                  <a:txBody>
                    <a:bodyPr/>
                    <a:lstStyle/>
                    <a:p>
                      <a:pPr indent="0" lvl="0" marL="0" marR="0" rtl="0" algn="l">
                        <a:lnSpc>
                          <a:spcPct val="100000"/>
                        </a:lnSpc>
                        <a:spcBef>
                          <a:spcPts val="0"/>
                        </a:spcBef>
                        <a:spcAft>
                          <a:spcPts val="0"/>
                        </a:spcAft>
                        <a:buClr>
                          <a:schemeClr val="dk1"/>
                        </a:buClr>
                        <a:buSzPts val="1200"/>
                        <a:buFont typeface="Arial"/>
                        <a:buNone/>
                      </a:pPr>
                      <a:r>
                        <a:rPr b="1" lang="en-US" sz="1200" u="none" strike="noStrike"/>
                        <a:t>Liabilities and shareholders’ equity</a:t>
                      </a:r>
                      <a:br>
                        <a:rPr b="1" lang="en-US" sz="1200" u="none" strike="noStrike"/>
                      </a:br>
                      <a:r>
                        <a:rPr b="1" lang="en-US" sz="1200" u="none" strike="noStrike"/>
                        <a:t>Current liabilities</a:t>
                      </a:r>
                      <a:endParaRPr b="1"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solidFill>
                          <a:schemeClr val="lt1"/>
                        </a:solidFill>
                      </a:endParaRPr>
                    </a:p>
                  </a:txBody>
                  <a:tcPr marT="45725" marB="45725" marR="91450" marL="91450">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solidFill>
                          <a:schemeClr val="lt1"/>
                        </a:solidFill>
                      </a:endParaRPr>
                    </a:p>
                  </a:txBody>
                  <a:tcPr marT="45725" marB="45725" marR="91450" marL="91450">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solidFill>
                          <a:schemeClr val="lt1"/>
                        </a:solidFill>
                      </a:endParaRPr>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Accounts payable</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30,200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46,900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50,400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Accrued expenses</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9,900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8,000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4,100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Total current liabilities</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40,100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54,900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54,500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Long-term liabilities Long-term debt</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249,500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130,000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111,000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Long-term liabilities</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249,500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130,000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111,000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Total liabilities</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289,600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184,900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165,500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b="1" lang="en-US" sz="1200" u="none" strike="noStrike"/>
                        <a:t>Shareholders’ equity</a:t>
                      </a:r>
                      <a:endParaRPr b="1"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a:solidFill>
                            <a:schemeClr val="lt1"/>
                          </a:solidFill>
                        </a:rPr>
                        <a:t>Blank</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Common stock (100,000 shares)</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10,000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10,000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10,000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Retained earnings</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430,000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299,000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216,000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Total shareholders’ equity</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440,000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309,000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226,000</a:t>
                      </a:r>
                      <a:endParaRPr sz="1200"/>
                    </a:p>
                  </a:txBody>
                  <a:tcPr marT="45725" marB="45725" marR="91450" marL="91450">
                    <a:solidFill>
                      <a:schemeClr val="lt1"/>
                    </a:solidFill>
                  </a:tcPr>
                </a:tc>
              </a:tr>
              <a:tr h="259875">
                <a:tc>
                  <a:txBody>
                    <a:bodyPr/>
                    <a:lstStyle/>
                    <a:p>
                      <a:pPr indent="0" lvl="0" marL="0" marR="0" rtl="0" algn="l">
                        <a:spcBef>
                          <a:spcPts val="0"/>
                        </a:spcBef>
                        <a:spcAft>
                          <a:spcPts val="0"/>
                        </a:spcAft>
                        <a:buNone/>
                      </a:pPr>
                      <a:r>
                        <a:rPr lang="en-US" sz="1200" u="none" strike="noStrike"/>
                        <a:t>Total liabilities and shareholders’ equity</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729,600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493,900</a:t>
                      </a:r>
                      <a:endParaRPr sz="1200"/>
                    </a:p>
                  </a:txBody>
                  <a:tcPr marT="45725" marB="45725" marR="91450" marL="91450">
                    <a:solidFill>
                      <a:schemeClr val="lt1"/>
                    </a:solidFill>
                  </a:tcPr>
                </a:tc>
                <a:tc>
                  <a:txBody>
                    <a:bodyPr/>
                    <a:lstStyle/>
                    <a:p>
                      <a:pPr indent="0" lvl="0" marL="0" marR="0" rtl="0" algn="r">
                        <a:spcBef>
                          <a:spcPts val="0"/>
                        </a:spcBef>
                        <a:spcAft>
                          <a:spcPts val="0"/>
                        </a:spcAft>
                        <a:buNone/>
                      </a:pPr>
                      <a:r>
                        <a:rPr lang="en-US" sz="1200" u="none" strike="noStrike"/>
                        <a:t>391,500</a:t>
                      </a:r>
                      <a:endParaRPr sz="1200"/>
                    </a:p>
                  </a:txBody>
                  <a:tcPr marT="45725" marB="45725" marR="91450" marL="91450">
                    <a:solidFill>
                      <a:schemeClr val="lt1"/>
                    </a:solidFill>
                  </a:tcPr>
                </a:tc>
              </a:tr>
            </a:tbl>
          </a:graphicData>
        </a:graphic>
      </p:graphicFrame>
      <p:sp>
        <p:nvSpPr>
          <p:cNvPr id="235" name="Google Shape;235;p19"/>
          <p:cNvSpPr txBox="1"/>
          <p:nvPr/>
        </p:nvSpPr>
        <p:spPr>
          <a:xfrm>
            <a:off x="457200" y="1524000"/>
            <a:ext cx="8229600" cy="762000"/>
          </a:xfrm>
          <a:prstGeom prst="rect">
            <a:avLst/>
          </a:prstGeom>
          <a:noFill/>
          <a:ln>
            <a:noFill/>
          </a:ln>
        </p:spPr>
        <p:txBody>
          <a:bodyPr anchorCtr="0" anchor="t" bIns="0" lIns="0" spcFirstLastPara="1" rIns="0" wrap="square" tIns="0">
            <a:noAutofit/>
          </a:bodyPr>
          <a:lstStyle/>
          <a:p>
            <a:pPr indent="-256032" lvl="0" marL="256032" marR="0" rtl="0" algn="l">
              <a:spcBef>
                <a:spcPts val="0"/>
              </a:spcBef>
              <a:spcAft>
                <a:spcPts val="0"/>
              </a:spcAft>
              <a:buClr>
                <a:srgbClr val="007FA3"/>
              </a:buClr>
              <a:buSzPts val="2200"/>
              <a:buFont typeface="Arial"/>
              <a:buNone/>
            </a:pPr>
            <a:r>
              <a:rPr b="0" i="0" lang="en-US" sz="2200" u="none" cap="none" strike="noStrike">
                <a:solidFill>
                  <a:schemeClr val="dk1"/>
                </a:solidFill>
                <a:latin typeface="Arial"/>
                <a:ea typeface="Arial"/>
                <a:cs typeface="Arial"/>
                <a:sym typeface="Arial"/>
              </a:rPr>
              <a:t>Liabilities and Shareholders’ Equity</a:t>
            </a:r>
            <a:endParaRPr/>
          </a:p>
          <a:p>
            <a:pPr indent="0" lvl="0" marL="0" marR="0" rtl="0" algn="l">
              <a:spcBef>
                <a:spcPts val="1500"/>
              </a:spcBef>
              <a:spcAft>
                <a:spcPts val="0"/>
              </a:spcAft>
              <a:buClr>
                <a:srgbClr val="007FA3"/>
              </a:buClr>
              <a:buSzPts val="1900"/>
              <a:buFont typeface="Arial"/>
              <a:buNone/>
            </a:pPr>
            <a:r>
              <a:rPr b="1" i="0" lang="en-US" sz="1900" u="none" cap="none" strike="noStrike">
                <a:solidFill>
                  <a:schemeClr val="dk1"/>
                </a:solidFill>
                <a:latin typeface="Arial"/>
                <a:ea typeface="Arial"/>
                <a:cs typeface="Arial"/>
                <a:sym typeface="Arial"/>
              </a:rPr>
              <a:t>Table 8.2 </a:t>
            </a:r>
            <a:r>
              <a:rPr b="0" i="0" lang="en-US" sz="1900" u="none" cap="none" strike="noStrike">
                <a:solidFill>
                  <a:schemeClr val="dk1"/>
                </a:solidFill>
                <a:latin typeface="Arial"/>
                <a:ea typeface="Arial"/>
                <a:cs typeface="Arial"/>
                <a:sym typeface="Arial"/>
              </a:rPr>
              <a:t>(continued)</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0"/>
          <p:cNvSpPr txBox="1"/>
          <p:nvPr>
            <p:ph type="title"/>
          </p:nvPr>
        </p:nvSpPr>
        <p:spPr>
          <a:xfrm>
            <a:off x="457200" y="215372"/>
            <a:ext cx="73152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Statement of Cash </a:t>
            </a:r>
            <a:br>
              <a:rPr lang="en-US" sz="3600"/>
            </a:br>
            <a:r>
              <a:rPr lang="en-US" sz="3600"/>
              <a:t>Flows </a:t>
            </a:r>
            <a:r>
              <a:rPr b="0" lang="en-US" sz="2000"/>
              <a:t>(1 of 2)</a:t>
            </a:r>
            <a:endParaRPr b="0" sz="3600"/>
          </a:p>
        </p:txBody>
      </p:sp>
      <p:sp>
        <p:nvSpPr>
          <p:cNvPr id="241" name="Google Shape;241;p20"/>
          <p:cNvSpPr txBox="1"/>
          <p:nvPr>
            <p:ph idx="1" type="body"/>
          </p:nvPr>
        </p:nvSpPr>
        <p:spPr>
          <a:xfrm>
            <a:off x="457200" y="1600200"/>
            <a:ext cx="82296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US" sz="2000"/>
              <a:t>Table 8.3 </a:t>
            </a:r>
            <a:r>
              <a:rPr lang="en-US" sz="2000"/>
              <a:t>Consolidated Statement of Cash Flows for New Venture Fitness Drinks, Inc.</a:t>
            </a:r>
            <a:endParaRPr sz="2000"/>
          </a:p>
        </p:txBody>
      </p:sp>
      <p:graphicFrame>
        <p:nvGraphicFramePr>
          <p:cNvPr id="242" name="Google Shape;242;p20"/>
          <p:cNvGraphicFramePr/>
          <p:nvPr/>
        </p:nvGraphicFramePr>
        <p:xfrm>
          <a:off x="448056" y="2301240"/>
          <a:ext cx="3000000" cy="3000000"/>
        </p:xfrm>
        <a:graphic>
          <a:graphicData uri="http://schemas.openxmlformats.org/drawingml/2006/table">
            <a:tbl>
              <a:tblPr bandRow="1" firstRow="1">
                <a:noFill/>
                <a:tableStyleId>{033879C0-7D80-405A-93CE-FBF772F808C0}</a:tableStyleId>
              </a:tblPr>
              <a:tblGrid>
                <a:gridCol w="4047750"/>
                <a:gridCol w="2286000"/>
                <a:gridCol w="1895850"/>
              </a:tblGrid>
              <a:tr h="246975">
                <a:tc>
                  <a:txBody>
                    <a:bodyPr/>
                    <a:lstStyle/>
                    <a:p>
                      <a:pPr indent="0" lvl="0" marL="0" marR="0" rtl="0" algn="l">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400" u="none" strike="noStrike"/>
                        <a:t>December 31, 2018</a:t>
                      </a:r>
                      <a:endParaRPr b="1" sz="1400"/>
                    </a:p>
                  </a:txBody>
                  <a:tcPr marT="45725" marB="45725" marR="91450" marL="91450">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400" u="none" strike="noStrike"/>
                        <a:t>December 31, 2017</a:t>
                      </a:r>
                      <a:endParaRPr b="1" sz="1400"/>
                    </a:p>
                  </a:txBody>
                  <a:tcPr marT="45725" marB="45725" marR="91450" marL="91450">
                    <a:lnB cap="flat" cmpd="sng" w="12700">
                      <a:solidFill>
                        <a:schemeClr val="dk1"/>
                      </a:solidFill>
                      <a:prstDash val="solid"/>
                      <a:round/>
                      <a:headEnd len="sm" w="sm" type="none"/>
                      <a:tailEnd len="sm" w="sm" type="none"/>
                    </a:lnB>
                    <a:solidFill>
                      <a:schemeClr val="lt1"/>
                    </a:solidFill>
                  </a:tcPr>
                </a:tc>
              </a:tr>
              <a:tr h="290575">
                <a:tc>
                  <a:txBody>
                    <a:bodyPr/>
                    <a:lstStyle/>
                    <a:p>
                      <a:pPr indent="0" lvl="0" marL="0" marR="0" rtl="0" algn="l">
                        <a:spcBef>
                          <a:spcPts val="0"/>
                        </a:spcBef>
                        <a:spcAft>
                          <a:spcPts val="0"/>
                        </a:spcAft>
                        <a:buNone/>
                      </a:pPr>
                      <a:r>
                        <a:rPr lang="en-US" sz="1400" u="none" strike="noStrike"/>
                        <a:t>Cash flows from operating activities</a:t>
                      </a:r>
                      <a:endParaRPr sz="1400"/>
                    </a:p>
                  </a:txBody>
                  <a:tcPr marT="45725" marB="45725" marR="91450" marL="91450">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T cap="flat" cmpd="sng" w="12700">
                      <a:solidFill>
                        <a:schemeClr val="dk1"/>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T cap="flat" cmpd="sng" w="12700">
                      <a:solidFill>
                        <a:schemeClr val="dk1"/>
                      </a:solidFill>
                      <a:prstDash val="solid"/>
                      <a:round/>
                      <a:headEnd len="sm" w="sm" type="none"/>
                      <a:tailEnd len="sm" w="sm" type="none"/>
                    </a:lnT>
                    <a:solidFill>
                      <a:schemeClr val="lt1"/>
                    </a:solidFill>
                  </a:tcPr>
                </a:tc>
              </a:tr>
              <a:tr h="290575">
                <a:tc>
                  <a:txBody>
                    <a:bodyPr/>
                    <a:lstStyle/>
                    <a:p>
                      <a:pPr indent="0" lvl="0" marL="0" marR="0" rtl="0" algn="l">
                        <a:spcBef>
                          <a:spcPts val="0"/>
                        </a:spcBef>
                        <a:spcAft>
                          <a:spcPts val="0"/>
                        </a:spcAft>
                        <a:buNone/>
                      </a:pPr>
                      <a:r>
                        <a:rPr lang="en-US" sz="1400" u="none" strike="noStrike"/>
                        <a:t>Net income</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$131,000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$83,000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Additions (sources of cash)</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Depreciation</a:t>
                      </a:r>
                      <a:endParaRPr sz="1400"/>
                    </a:p>
                  </a:txBody>
                  <a:tcPr marT="45725" marB="45725" marR="91450" marL="91450">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lang="en-US" sz="1400" u="none" strike="noStrike"/>
                        <a:t>13,500</a:t>
                      </a:r>
                      <a:endParaRPr sz="1400"/>
                    </a:p>
                  </a:txBody>
                  <a:tcPr marT="45725" marB="45725" marR="91450" marL="91450">
                    <a:solidFill>
                      <a:schemeClr val="lt1"/>
                    </a:solidFill>
                  </a:tcPr>
                </a:tc>
                <a:tc>
                  <a:txBody>
                    <a:bodyPr/>
                    <a:lstStyle/>
                    <a:p>
                      <a:pPr indent="0" lvl="0" marL="0" marR="0" rtl="0" algn="r">
                        <a:lnSpc>
                          <a:spcPct val="100000"/>
                        </a:lnSpc>
                        <a:spcBef>
                          <a:spcPts val="0"/>
                        </a:spcBef>
                        <a:spcAft>
                          <a:spcPts val="0"/>
                        </a:spcAft>
                        <a:buClr>
                          <a:schemeClr val="dk1"/>
                        </a:buClr>
                        <a:buSzPts val="1400"/>
                        <a:buFont typeface="Arial"/>
                        <a:buNone/>
                      </a:pPr>
                      <a:r>
                        <a:rPr lang="en-US" sz="1400" u="none" strike="noStrike"/>
                        <a:t>5,900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Decreases in accounts receivable</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9,300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1,300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Increase in accrued expenses</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1,900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3,900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Decrease in inventory</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1,200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1,000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Subtractions (uses of cash)</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solidFill>
                      <a:schemeClr val="lt1"/>
                    </a:solidFill>
                  </a:tcPr>
                </a:tc>
              </a:tr>
              <a:tr h="290575">
                <a:tc>
                  <a:txBody>
                    <a:bodyPr/>
                    <a:lstStyle/>
                    <a:p>
                      <a:pPr indent="0" lvl="0" marL="0" marR="0" rtl="0" algn="l">
                        <a:lnSpc>
                          <a:spcPct val="100000"/>
                        </a:lnSpc>
                        <a:spcBef>
                          <a:spcPts val="0"/>
                        </a:spcBef>
                        <a:spcAft>
                          <a:spcPts val="0"/>
                        </a:spcAft>
                        <a:buClr>
                          <a:schemeClr val="dk1"/>
                        </a:buClr>
                        <a:buSzPts val="1400"/>
                        <a:buFont typeface="Arial"/>
                        <a:buNone/>
                      </a:pPr>
                      <a:r>
                        <a:rPr lang="en-US" sz="1400" u="none" strike="noStrike"/>
                        <a:t>Decrease in accounts payable</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(16,700)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(3,500)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Total adjustments</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9,200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8,600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Net cash provided by operating activities</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140,200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91,600</a:t>
                      </a:r>
                      <a:endParaRPr sz="1400"/>
                    </a:p>
                  </a:txBody>
                  <a:tcPr marT="45725" marB="45725" marR="91450" marL="91450">
                    <a:solidFill>
                      <a:schemeClr val="lt1"/>
                    </a:solidFill>
                  </a:tcPr>
                </a:tc>
              </a:tr>
              <a:tr h="290575">
                <a:tc>
                  <a:txBody>
                    <a:bodyPr/>
                    <a:lstStyle/>
                    <a:p>
                      <a:pPr indent="0" lvl="0" marL="0" marR="0" rtl="0" algn="l">
                        <a:spcBef>
                          <a:spcPts val="0"/>
                        </a:spcBef>
                        <a:spcAft>
                          <a:spcPts val="0"/>
                        </a:spcAft>
                        <a:buNone/>
                      </a:pPr>
                      <a:r>
                        <a:rPr lang="en-US" sz="1400" u="none" strike="noStrike"/>
                        <a:t>Cash flows from investing activities</a:t>
                      </a:r>
                      <a:endParaRPr/>
                    </a:p>
                  </a:txBody>
                  <a:tcPr marT="45725" marB="45725" marR="91450" marL="91450">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solidFill>
                      <a:schemeClr val="lt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txBox="1"/>
          <p:nvPr>
            <p:ph type="title"/>
          </p:nvPr>
        </p:nvSpPr>
        <p:spPr>
          <a:xfrm>
            <a:off x="457200" y="215372"/>
            <a:ext cx="76200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Statement of Cash </a:t>
            </a:r>
            <a:br>
              <a:rPr lang="en-US" sz="3600"/>
            </a:br>
            <a:r>
              <a:rPr lang="en-US" sz="3600"/>
              <a:t>Flows </a:t>
            </a:r>
            <a:r>
              <a:rPr b="0" lang="en-US" sz="2000"/>
              <a:t>(2 of 2)</a:t>
            </a:r>
            <a:endParaRPr b="0" sz="3600"/>
          </a:p>
        </p:txBody>
      </p:sp>
      <p:sp>
        <p:nvSpPr>
          <p:cNvPr id="248" name="Google Shape;248;p21"/>
          <p:cNvSpPr txBox="1"/>
          <p:nvPr>
            <p:ph idx="1" type="body"/>
          </p:nvPr>
        </p:nvSpPr>
        <p:spPr>
          <a:xfrm>
            <a:off x="457200" y="1600200"/>
            <a:ext cx="8229600" cy="410474"/>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US" sz="2000"/>
              <a:t>Table 8.3 </a:t>
            </a:r>
            <a:r>
              <a:rPr lang="en-US" sz="2000"/>
              <a:t>(continued)</a:t>
            </a:r>
            <a:endParaRPr/>
          </a:p>
        </p:txBody>
      </p:sp>
      <p:graphicFrame>
        <p:nvGraphicFramePr>
          <p:cNvPr id="249" name="Google Shape;249;p21"/>
          <p:cNvGraphicFramePr/>
          <p:nvPr/>
        </p:nvGraphicFramePr>
        <p:xfrm>
          <a:off x="445008" y="2086874"/>
          <a:ext cx="3000000" cy="3000000"/>
        </p:xfrm>
        <a:graphic>
          <a:graphicData uri="http://schemas.openxmlformats.org/drawingml/2006/table">
            <a:tbl>
              <a:tblPr bandRow="1" firstRow="1">
                <a:noFill/>
                <a:tableStyleId>{033879C0-7D80-405A-93CE-FBF772F808C0}</a:tableStyleId>
              </a:tblPr>
              <a:tblGrid>
                <a:gridCol w="4584200"/>
                <a:gridCol w="1828800"/>
                <a:gridCol w="1816600"/>
              </a:tblGrid>
              <a:tr h="239475">
                <a:tc>
                  <a:txBody>
                    <a:bodyPr/>
                    <a:lstStyle/>
                    <a:p>
                      <a:pPr indent="0" lvl="0" marL="0" marR="0" rtl="0" algn="l">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US" sz="1400" u="none" strike="noStrike"/>
                        <a:t>December 31, 2018</a:t>
                      </a:r>
                      <a:endParaRPr b="1" sz="1400"/>
                    </a:p>
                  </a:txBody>
                  <a:tcPr marT="45725" marB="45725" marR="91450" marL="91450">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US" sz="1400" u="none" strike="noStrike"/>
                        <a:t>December 31, 2017</a:t>
                      </a:r>
                      <a:endParaRPr b="1" sz="1400"/>
                    </a:p>
                  </a:txBody>
                  <a:tcPr marT="45725" marB="45725" marR="91450" marL="91450">
                    <a:lnB cap="flat" cmpd="sng" w="12700">
                      <a:solidFill>
                        <a:schemeClr val="dk1"/>
                      </a:solidFill>
                      <a:prstDash val="solid"/>
                      <a:round/>
                      <a:headEnd len="sm" w="sm" type="none"/>
                      <a:tailEnd len="sm" w="sm" type="none"/>
                    </a:lnB>
                    <a:solidFill>
                      <a:schemeClr val="lt1"/>
                    </a:solidFill>
                  </a:tcPr>
                </a:tc>
              </a:tr>
              <a:tr h="239475">
                <a:tc>
                  <a:txBody>
                    <a:bodyPr/>
                    <a:lstStyle/>
                    <a:p>
                      <a:pPr indent="0" lvl="0" marL="0" marR="0" rtl="0" algn="l">
                        <a:lnSpc>
                          <a:spcPct val="100000"/>
                        </a:lnSpc>
                        <a:spcBef>
                          <a:spcPts val="0"/>
                        </a:spcBef>
                        <a:spcAft>
                          <a:spcPts val="0"/>
                        </a:spcAft>
                        <a:buClr>
                          <a:schemeClr val="dk1"/>
                        </a:buClr>
                        <a:buSzPts val="1400"/>
                        <a:buFont typeface="Arial"/>
                        <a:buNone/>
                      </a:pPr>
                      <a:r>
                        <a:rPr lang="en-US" sz="1400" u="none" strike="noStrike"/>
                        <a:t>Purchase of building and equipment</a:t>
                      </a:r>
                      <a:endParaRPr sz="1400"/>
                    </a:p>
                  </a:txBody>
                  <a:tcPr marT="45725" marB="45725" marR="91450" marL="91450">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400" u="none" strike="noStrike"/>
                        <a:t>(250,500)</a:t>
                      </a:r>
                      <a:endParaRPr sz="1400"/>
                    </a:p>
                  </a:txBody>
                  <a:tcPr marT="45725" marB="45725" marR="91450" marL="91450">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400" u="none" strike="noStrike"/>
                        <a:t>(112,500)</a:t>
                      </a:r>
                      <a:endParaRPr sz="1400"/>
                    </a:p>
                  </a:txBody>
                  <a:tcPr marT="45725" marB="45725" marR="91450" marL="91450">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39475">
                <a:tc>
                  <a:txBody>
                    <a:bodyPr/>
                    <a:lstStyle/>
                    <a:p>
                      <a:pPr indent="0" lvl="0" marL="0" marR="0" rtl="0" algn="l">
                        <a:spcBef>
                          <a:spcPts val="0"/>
                        </a:spcBef>
                        <a:spcAft>
                          <a:spcPts val="0"/>
                        </a:spcAft>
                        <a:buNone/>
                      </a:pPr>
                      <a:r>
                        <a:rPr lang="en-US" sz="1400" u="none" strike="noStrike"/>
                        <a:t>Net cash flows provided by investing activities</a:t>
                      </a:r>
                      <a:endParaRPr sz="1400"/>
                    </a:p>
                  </a:txBody>
                  <a:tcPr marT="45725" marB="45725" marR="91450" marL="91450">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400" u="none" strike="noStrike"/>
                        <a:t>(250,500)</a:t>
                      </a:r>
                      <a:endParaRPr sz="1400"/>
                    </a:p>
                  </a:txBody>
                  <a:tcPr marT="45725" marB="45725" marR="91450" marL="91450">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400" u="none" strike="noStrike"/>
                        <a:t>(112,500)</a:t>
                      </a:r>
                      <a:endParaRPr sz="1400"/>
                    </a:p>
                  </a:txBody>
                  <a:tcPr marT="45725" marB="45725" marR="91450" marL="91450">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39475">
                <a:tc>
                  <a:txBody>
                    <a:bodyPr/>
                    <a:lstStyle/>
                    <a:p>
                      <a:pPr indent="0" lvl="0" marL="0" marR="0" rtl="0" algn="l">
                        <a:spcBef>
                          <a:spcPts val="0"/>
                        </a:spcBef>
                        <a:spcAft>
                          <a:spcPts val="0"/>
                        </a:spcAft>
                        <a:buNone/>
                      </a:pPr>
                      <a:r>
                        <a:rPr lang="en-US" sz="1400" u="none" strike="noStrike"/>
                        <a:t>Cash flows from financing activities</a:t>
                      </a:r>
                      <a:endParaRPr/>
                    </a:p>
                  </a:txBody>
                  <a:tcPr marT="45725" marB="45725" marR="91450" marL="91450">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39475">
                <a:tc>
                  <a:txBody>
                    <a:bodyPr/>
                    <a:lstStyle/>
                    <a:p>
                      <a:pPr indent="0" lvl="0" marL="0" marR="0" rtl="0" algn="l">
                        <a:lnSpc>
                          <a:spcPct val="100000"/>
                        </a:lnSpc>
                        <a:spcBef>
                          <a:spcPts val="0"/>
                        </a:spcBef>
                        <a:spcAft>
                          <a:spcPts val="0"/>
                        </a:spcAft>
                        <a:buClr>
                          <a:schemeClr val="dk1"/>
                        </a:buClr>
                        <a:buSzPts val="1400"/>
                        <a:buFont typeface="Arial"/>
                        <a:buNone/>
                      </a:pPr>
                      <a:r>
                        <a:rPr lang="en-US" sz="1400" u="none" strike="noStrike"/>
                        <a:t>Proceeds from increase in long-term debt</a:t>
                      </a:r>
                      <a:endParaRPr sz="1400"/>
                    </a:p>
                  </a:txBody>
                  <a:tcPr marT="45725" marB="45725" marR="91450" marL="91450">
                    <a:lnT cap="flat" cmpd="sng" w="9525">
                      <a:solidFill>
                        <a:srgbClr val="000000">
                          <a:alpha val="0"/>
                        </a:srgbClr>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400" u="none" strike="noStrike"/>
                        <a:t>119,500</a:t>
                      </a:r>
                      <a:endParaRPr sz="1400"/>
                    </a:p>
                  </a:txBody>
                  <a:tcPr marT="45725" marB="45725" marR="91450" marL="91450">
                    <a:lnT cap="flat" cmpd="sng" w="9525">
                      <a:solidFill>
                        <a:srgbClr val="000000">
                          <a:alpha val="0"/>
                        </a:srgbClr>
                      </a:solidFill>
                      <a:prstDash val="solid"/>
                      <a:round/>
                      <a:headEnd len="sm" w="sm" type="none"/>
                      <a:tailEnd len="sm" w="sm" type="none"/>
                    </a:lnT>
                    <a:solidFill>
                      <a:schemeClr val="lt1"/>
                    </a:solidFill>
                  </a:tcPr>
                </a:tc>
                <a:tc>
                  <a:txBody>
                    <a:bodyPr/>
                    <a:lstStyle/>
                    <a:p>
                      <a:pPr indent="0" lvl="0" marL="0" marR="0" rtl="0" algn="r">
                        <a:spcBef>
                          <a:spcPts val="0"/>
                        </a:spcBef>
                        <a:spcAft>
                          <a:spcPts val="0"/>
                        </a:spcAft>
                        <a:buNone/>
                      </a:pPr>
                      <a:r>
                        <a:rPr lang="en-US" sz="1400" u="none" strike="noStrike"/>
                        <a:t>19,000</a:t>
                      </a:r>
                      <a:endParaRPr sz="1400"/>
                    </a:p>
                  </a:txBody>
                  <a:tcPr marT="45725" marB="45725" marR="91450" marL="91450">
                    <a:lnT cap="flat" cmpd="sng" w="9525">
                      <a:solidFill>
                        <a:srgbClr val="000000">
                          <a:alpha val="0"/>
                        </a:srgbClr>
                      </a:solidFill>
                      <a:prstDash val="solid"/>
                      <a:round/>
                      <a:headEnd len="sm" w="sm" type="none"/>
                      <a:tailEnd len="sm" w="sm" type="none"/>
                    </a:lnT>
                    <a:solidFill>
                      <a:schemeClr val="lt1"/>
                    </a:solidFill>
                  </a:tcPr>
                </a:tc>
              </a:tr>
              <a:tr h="239475">
                <a:tc>
                  <a:txBody>
                    <a:bodyPr/>
                    <a:lstStyle/>
                    <a:p>
                      <a:pPr indent="0" lvl="0" marL="0" marR="0" rtl="0" algn="l">
                        <a:spcBef>
                          <a:spcPts val="0"/>
                        </a:spcBef>
                        <a:spcAft>
                          <a:spcPts val="0"/>
                        </a:spcAft>
                        <a:buNone/>
                      </a:pPr>
                      <a:r>
                        <a:rPr lang="en-US" sz="1400" u="none" strike="noStrike"/>
                        <a:t>Net cash flows provided by financing activities</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a:t>119,500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19,000</a:t>
                      </a:r>
                      <a:endParaRPr sz="1400"/>
                    </a:p>
                  </a:txBody>
                  <a:tcPr marT="45725" marB="45725" marR="91450" marL="91450">
                    <a:solidFill>
                      <a:schemeClr val="lt1"/>
                    </a:solidFill>
                  </a:tcPr>
                </a:tc>
              </a:tr>
              <a:tr h="239475">
                <a:tc>
                  <a:txBody>
                    <a:bodyPr/>
                    <a:lstStyle/>
                    <a:p>
                      <a:pPr indent="0" lvl="0" marL="0" marR="0" rtl="0" algn="l">
                        <a:spcBef>
                          <a:spcPts val="0"/>
                        </a:spcBef>
                        <a:spcAft>
                          <a:spcPts val="0"/>
                        </a:spcAft>
                        <a:buNone/>
                      </a:pPr>
                      <a:r>
                        <a:rPr lang="en-US" sz="1400" u="none" strike="noStrike"/>
                        <a:t>Increase in cash</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9,200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(1,900)</a:t>
                      </a:r>
                      <a:endParaRPr sz="1400"/>
                    </a:p>
                  </a:txBody>
                  <a:tcPr marT="45725" marB="45725" marR="91450" marL="91450">
                    <a:solidFill>
                      <a:schemeClr val="lt1"/>
                    </a:solidFill>
                  </a:tcPr>
                </a:tc>
              </a:tr>
              <a:tr h="239475">
                <a:tc>
                  <a:txBody>
                    <a:bodyPr/>
                    <a:lstStyle/>
                    <a:p>
                      <a:pPr indent="0" lvl="0" marL="0" marR="0" rtl="0" algn="l">
                        <a:spcBef>
                          <a:spcPts val="0"/>
                        </a:spcBef>
                        <a:spcAft>
                          <a:spcPts val="0"/>
                        </a:spcAft>
                        <a:buNone/>
                      </a:pPr>
                      <a:r>
                        <a:rPr lang="en-US" sz="1400" u="none" strike="noStrike"/>
                        <a:t>Cash and cash equivalents at the beginning of each year</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54,600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56,500</a:t>
                      </a:r>
                      <a:endParaRPr sz="1400"/>
                    </a:p>
                  </a:txBody>
                  <a:tcPr marT="45725" marB="45725" marR="91450" marL="91450">
                    <a:solidFill>
                      <a:schemeClr val="lt1"/>
                    </a:solidFill>
                  </a:tcPr>
                </a:tc>
              </a:tr>
              <a:tr h="239475">
                <a:tc>
                  <a:txBody>
                    <a:bodyPr/>
                    <a:lstStyle/>
                    <a:p>
                      <a:pPr indent="0" lvl="0" marL="0" marR="0" rtl="0" algn="l">
                        <a:spcBef>
                          <a:spcPts val="0"/>
                        </a:spcBef>
                        <a:spcAft>
                          <a:spcPts val="0"/>
                        </a:spcAft>
                        <a:buNone/>
                      </a:pPr>
                      <a:r>
                        <a:rPr lang="en-US" sz="1400" u="none" strike="noStrike"/>
                        <a:t>Cash and cash equivalents at the end of each year</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63,800</a:t>
                      </a:r>
                      <a:endParaRPr sz="1400"/>
                    </a:p>
                  </a:txBody>
                  <a:tcPr marT="45725" marB="45725" marR="91450" marL="91450">
                    <a:solidFill>
                      <a:schemeClr val="lt1"/>
                    </a:solidFill>
                  </a:tcPr>
                </a:tc>
                <a:tc>
                  <a:txBody>
                    <a:bodyPr/>
                    <a:lstStyle/>
                    <a:p>
                      <a:pPr indent="0" lvl="0" marL="0" marR="0" rtl="0" algn="r">
                        <a:spcBef>
                          <a:spcPts val="0"/>
                        </a:spcBef>
                        <a:spcAft>
                          <a:spcPts val="0"/>
                        </a:spcAft>
                        <a:buNone/>
                      </a:pPr>
                      <a:r>
                        <a:rPr lang="en-US" sz="1400" u="none" strike="noStrike"/>
                        <a:t>54,600</a:t>
                      </a:r>
                      <a:endParaRPr sz="1400"/>
                    </a:p>
                  </a:txBody>
                  <a:tcPr marT="45725" marB="45725" marR="91450" marL="91450">
                    <a:solidFill>
                      <a:schemeClr val="lt1"/>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Ratio Analysis </a:t>
            </a:r>
            <a:r>
              <a:rPr b="0" lang="en-US" sz="2000"/>
              <a:t>(1 of 2)</a:t>
            </a:r>
            <a:endParaRPr b="0" sz="2000"/>
          </a:p>
        </p:txBody>
      </p:sp>
      <p:sp>
        <p:nvSpPr>
          <p:cNvPr id="255" name="Google Shape;255;p22"/>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lang="en-US" sz="2400"/>
              <a:t>Ratio Analysis</a:t>
            </a:r>
            <a:endParaRPr/>
          </a:p>
          <a:p>
            <a:pPr indent="-285750" lvl="1" marL="740664" rtl="0" algn="l">
              <a:spcBef>
                <a:spcPts val="600"/>
              </a:spcBef>
              <a:spcAft>
                <a:spcPts val="0"/>
              </a:spcAft>
              <a:buSzPts val="2400"/>
              <a:buChar char="–"/>
            </a:pPr>
            <a:r>
              <a:rPr lang="en-US" sz="2400"/>
              <a:t>The most practical way to interpret or make sense of a firm’s historical financial statements is through ratio analysis, as shown in the next slide.</a:t>
            </a:r>
            <a:endParaRPr/>
          </a:p>
          <a:p>
            <a:pPr indent="-256032" lvl="0" marL="256032" rtl="0" algn="l">
              <a:spcBef>
                <a:spcPts val="1500"/>
              </a:spcBef>
              <a:spcAft>
                <a:spcPts val="0"/>
              </a:spcAft>
              <a:buSzPts val="2400"/>
              <a:buChar char="•"/>
            </a:pPr>
            <a:r>
              <a:rPr lang="en-US" sz="2400"/>
              <a:t>Comparing a Firm’s Financial Results to Industry Norms</a:t>
            </a:r>
            <a:endParaRPr/>
          </a:p>
          <a:p>
            <a:pPr indent="-285750" lvl="1" marL="740664" rtl="0" algn="l">
              <a:spcBef>
                <a:spcPts val="600"/>
              </a:spcBef>
              <a:spcAft>
                <a:spcPts val="0"/>
              </a:spcAft>
              <a:buSzPts val="2400"/>
              <a:buChar char="–"/>
            </a:pPr>
            <a:r>
              <a:rPr lang="en-US" sz="2400"/>
              <a:t>Comparing a firm’s financial results to industry norms helps a firm determine how it stacks up against its competitors and if there are any financial “red flags” requiring attention.</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3"/>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Ratio Analysis </a:t>
            </a:r>
            <a:r>
              <a:rPr b="0" lang="en-US" sz="2000"/>
              <a:t>(1 of 2)</a:t>
            </a:r>
            <a:endParaRPr b="0" sz="3600"/>
          </a:p>
        </p:txBody>
      </p:sp>
      <p:sp>
        <p:nvSpPr>
          <p:cNvPr id="261" name="Google Shape;261;p23"/>
          <p:cNvSpPr txBox="1"/>
          <p:nvPr>
            <p:ph idx="1" type="body"/>
          </p:nvPr>
        </p:nvSpPr>
        <p:spPr>
          <a:xfrm>
            <a:off x="457200" y="1600201"/>
            <a:ext cx="8229600" cy="32741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US" sz="2000"/>
              <a:t>Table 8.4 </a:t>
            </a:r>
            <a:r>
              <a:rPr lang="en-US" sz="2000"/>
              <a:t>Ratio Analysis for New Venture Fitness Drinks, Inc.</a:t>
            </a:r>
            <a:endParaRPr sz="2000"/>
          </a:p>
        </p:txBody>
      </p:sp>
      <p:graphicFrame>
        <p:nvGraphicFramePr>
          <p:cNvPr id="262" name="Google Shape;262;p23"/>
          <p:cNvGraphicFramePr/>
          <p:nvPr/>
        </p:nvGraphicFramePr>
        <p:xfrm>
          <a:off x="457200" y="2057401"/>
          <a:ext cx="3000000" cy="3000000"/>
        </p:xfrm>
        <a:graphic>
          <a:graphicData uri="http://schemas.openxmlformats.org/drawingml/2006/table">
            <a:tbl>
              <a:tblPr bandRow="1" firstRow="1">
                <a:noFill/>
                <a:tableStyleId>{033879C0-7D80-405A-93CE-FBF772F808C0}</a:tableStyleId>
              </a:tblPr>
              <a:tblGrid>
                <a:gridCol w="3398550"/>
                <a:gridCol w="2205975"/>
                <a:gridCol w="906625"/>
                <a:gridCol w="906625"/>
                <a:gridCol w="811825"/>
              </a:tblGrid>
              <a:tr h="278400">
                <a:tc>
                  <a:txBody>
                    <a:bodyPr/>
                    <a:lstStyle/>
                    <a:p>
                      <a:pPr indent="0" lvl="0" marL="0" marR="0" rtl="0" algn="l">
                        <a:spcBef>
                          <a:spcPts val="0"/>
                        </a:spcBef>
                        <a:spcAft>
                          <a:spcPts val="0"/>
                        </a:spcAft>
                        <a:buNone/>
                      </a:pPr>
                      <a:r>
                        <a:rPr b="1" lang="en-US" sz="1300" u="none" strike="noStrike"/>
                        <a:t>Ratio</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US" sz="1300" u="none" strike="noStrike"/>
                        <a:t>Formula</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300" u="none" strike="noStrike"/>
                        <a:t>2018</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300" u="none" strike="noStrike"/>
                        <a:t>2017</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300" u="none" strike="noStrike"/>
                        <a:t>2016</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84625">
                <a:tc>
                  <a:txBody>
                    <a:bodyPr/>
                    <a:lstStyle/>
                    <a:p>
                      <a:pPr indent="0" lvl="0" marL="0" marR="0" rtl="0" algn="l">
                        <a:lnSpc>
                          <a:spcPct val="100000"/>
                        </a:lnSpc>
                        <a:spcBef>
                          <a:spcPts val="0"/>
                        </a:spcBef>
                        <a:spcAft>
                          <a:spcPts val="0"/>
                        </a:spcAft>
                        <a:buClr>
                          <a:schemeClr val="dk1"/>
                        </a:buClr>
                        <a:buSzPts val="1300"/>
                        <a:buFont typeface="Arial"/>
                        <a:buNone/>
                      </a:pPr>
                      <a:r>
                        <a:rPr lang="en-US" sz="1300" u="none" strike="noStrike"/>
                        <a:t>Profitability ratios: associate the amount of income earned with the resources used to generate it</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63875">
                <a:tc>
                  <a:txBody>
                    <a:bodyPr/>
                    <a:lstStyle/>
                    <a:p>
                      <a:pPr indent="0" lvl="0" marL="0" marR="0" rtl="0" algn="l">
                        <a:spcBef>
                          <a:spcPts val="0"/>
                        </a:spcBef>
                        <a:spcAft>
                          <a:spcPts val="0"/>
                        </a:spcAft>
                        <a:buNone/>
                      </a:pPr>
                      <a:r>
                        <a:rPr lang="en-US" sz="1300" u="none" strike="noStrike"/>
                        <a:t>Return on assets</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ROA = net income/average total assets</a:t>
                      </a:r>
                      <a:r>
                        <a:rPr baseline="30000" lang="en-US" sz="1300"/>
                        <a:t>a</a:t>
                      </a:r>
                      <a:endParaRPr baseline="30000"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21.4%</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18.7%</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14.7%</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63875">
                <a:tc>
                  <a:txBody>
                    <a:bodyPr/>
                    <a:lstStyle/>
                    <a:p>
                      <a:pPr indent="0" lvl="0" marL="0" marR="0" rtl="0" algn="l">
                        <a:spcBef>
                          <a:spcPts val="0"/>
                        </a:spcBef>
                        <a:spcAft>
                          <a:spcPts val="0"/>
                        </a:spcAft>
                        <a:buNone/>
                      </a:pPr>
                      <a:r>
                        <a:rPr lang="en-US" sz="1300" u="none" strike="noStrike"/>
                        <a:t>Return on equity</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ROE = net income/average shareholders’ equity</a:t>
                      </a:r>
                      <a:r>
                        <a:rPr baseline="30000" lang="en-US" sz="1300" u="none" strike="noStrike"/>
                        <a:t>b</a:t>
                      </a:r>
                      <a:endParaRPr baseline="30000"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35.0%</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31.0%</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24.9%</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417600">
                <a:tc>
                  <a:txBody>
                    <a:bodyPr/>
                    <a:lstStyle/>
                    <a:p>
                      <a:pPr indent="0" lvl="0" marL="0" marR="0" rtl="0" algn="l">
                        <a:spcBef>
                          <a:spcPts val="0"/>
                        </a:spcBef>
                        <a:spcAft>
                          <a:spcPts val="0"/>
                        </a:spcAft>
                        <a:buNone/>
                      </a:pPr>
                      <a:r>
                        <a:rPr lang="en-US" sz="1300" u="none" strike="noStrike"/>
                        <a:t>Profit margin</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Profit margin = net income/net sales</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22.3%</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17.9%</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13.6%</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584625">
                <a:tc>
                  <a:txBody>
                    <a:bodyPr/>
                    <a:lstStyle/>
                    <a:p>
                      <a:pPr indent="0" lvl="0" marL="0" marR="0" rtl="0" algn="l">
                        <a:lnSpc>
                          <a:spcPct val="100000"/>
                        </a:lnSpc>
                        <a:spcBef>
                          <a:spcPts val="0"/>
                        </a:spcBef>
                        <a:spcAft>
                          <a:spcPts val="0"/>
                        </a:spcAft>
                        <a:buClr>
                          <a:schemeClr val="dk1"/>
                        </a:buClr>
                        <a:buSzPts val="1300"/>
                        <a:buFont typeface="Arial"/>
                        <a:buNone/>
                      </a:pPr>
                      <a:r>
                        <a:rPr lang="en-US" sz="1300" u="none" strike="noStrike"/>
                        <a:t>Liquidity ratios: measure the extent to which a company can quickly liquidate assets to cover short-term liabilities</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417600">
                <a:tc>
                  <a:txBody>
                    <a:bodyPr/>
                    <a:lstStyle/>
                    <a:p>
                      <a:pPr indent="0" lvl="0" marL="0" marR="0" rtl="0" algn="l">
                        <a:spcBef>
                          <a:spcPts val="0"/>
                        </a:spcBef>
                        <a:spcAft>
                          <a:spcPts val="0"/>
                        </a:spcAft>
                        <a:buNone/>
                      </a:pPr>
                      <a:r>
                        <a:rPr lang="en-US" sz="1300" u="none" strike="noStrike"/>
                        <a:t>Current</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Current assets/current liabilities</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3.06</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2.26</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2.35</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99425">
                <a:tc>
                  <a:txBody>
                    <a:bodyPr/>
                    <a:lstStyle/>
                    <a:p>
                      <a:pPr indent="0" lvl="0" marL="0" marR="0" rtl="0" algn="l">
                        <a:spcBef>
                          <a:spcPts val="0"/>
                        </a:spcBef>
                        <a:spcAft>
                          <a:spcPts val="0"/>
                        </a:spcAft>
                        <a:buNone/>
                      </a:pPr>
                      <a:r>
                        <a:rPr lang="en-US" sz="1300" u="none" strike="noStrike"/>
                        <a:t>Quick</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Quick assets/current liabilities</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2.58</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1.89</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1.96</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Historical Ratio Analysis </a:t>
            </a:r>
            <a:r>
              <a:rPr b="0" lang="en-US" sz="2000"/>
              <a:t>(2 of 2)</a:t>
            </a:r>
            <a:endParaRPr b="0" sz="3600"/>
          </a:p>
        </p:txBody>
      </p:sp>
      <p:sp>
        <p:nvSpPr>
          <p:cNvPr id="268" name="Google Shape;268;p24"/>
          <p:cNvSpPr txBox="1"/>
          <p:nvPr>
            <p:ph idx="1" type="body"/>
          </p:nvPr>
        </p:nvSpPr>
        <p:spPr>
          <a:xfrm>
            <a:off x="457200" y="1600201"/>
            <a:ext cx="8229600" cy="32741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US" sz="2000"/>
              <a:t>Table 8.4 </a:t>
            </a:r>
            <a:r>
              <a:rPr lang="en-US" sz="2000"/>
              <a:t>(continued)</a:t>
            </a:r>
            <a:endParaRPr sz="2000"/>
          </a:p>
        </p:txBody>
      </p:sp>
      <p:graphicFrame>
        <p:nvGraphicFramePr>
          <p:cNvPr id="269" name="Google Shape;269;p24"/>
          <p:cNvGraphicFramePr/>
          <p:nvPr/>
        </p:nvGraphicFramePr>
        <p:xfrm>
          <a:off x="457200" y="2057400"/>
          <a:ext cx="3000000" cy="3000000"/>
        </p:xfrm>
        <a:graphic>
          <a:graphicData uri="http://schemas.openxmlformats.org/drawingml/2006/table">
            <a:tbl>
              <a:tblPr bandRow="1" firstRow="1">
                <a:noFill/>
                <a:tableStyleId>{033879C0-7D80-405A-93CE-FBF772F808C0}</a:tableStyleId>
              </a:tblPr>
              <a:tblGrid>
                <a:gridCol w="3398550"/>
                <a:gridCol w="2205975"/>
                <a:gridCol w="906625"/>
                <a:gridCol w="906625"/>
                <a:gridCol w="811825"/>
              </a:tblGrid>
              <a:tr h="272575">
                <a:tc>
                  <a:txBody>
                    <a:bodyPr/>
                    <a:lstStyle/>
                    <a:p>
                      <a:pPr indent="0" lvl="0" marL="0" marR="0" rtl="0" algn="l">
                        <a:spcBef>
                          <a:spcPts val="0"/>
                        </a:spcBef>
                        <a:spcAft>
                          <a:spcPts val="0"/>
                        </a:spcAft>
                        <a:buNone/>
                      </a:pPr>
                      <a:r>
                        <a:rPr b="1" lang="en-US" sz="1300" u="none" strike="noStrike"/>
                        <a:t>Ratio</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1" lang="en-US" sz="1300" u="none" strike="noStrike"/>
                        <a:t>Formula</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300" u="none" strike="noStrike"/>
                        <a:t>2018</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300" u="none" strike="noStrike"/>
                        <a:t>2017</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b="1" lang="en-US" sz="1300" u="none" strike="noStrike"/>
                        <a:t>2016</a:t>
                      </a:r>
                      <a:endParaRPr b="1"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9550">
                <a:tc>
                  <a:txBody>
                    <a:bodyPr/>
                    <a:lstStyle/>
                    <a:p>
                      <a:pPr indent="0" lvl="0" marL="0" marR="0" rtl="0" algn="l">
                        <a:lnSpc>
                          <a:spcPct val="100000"/>
                        </a:lnSpc>
                        <a:spcBef>
                          <a:spcPts val="0"/>
                        </a:spcBef>
                        <a:spcAft>
                          <a:spcPts val="0"/>
                        </a:spcAft>
                        <a:buClr>
                          <a:schemeClr val="dk1"/>
                        </a:buClr>
                        <a:buSzPts val="1300"/>
                        <a:buFont typeface="Arial"/>
                        <a:buNone/>
                      </a:pPr>
                      <a:r>
                        <a:rPr lang="en-US" sz="1300" u="none" strike="noStrike"/>
                        <a:t>Overall financial stability ratio: measures the overall financial stability of a firm</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a:solidFill>
                            <a:schemeClr val="lt1"/>
                          </a:solidFill>
                        </a:rPr>
                        <a:t>Blank</a:t>
                      </a:r>
                      <a:endParaRPr sz="13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89550">
                <a:tc>
                  <a:txBody>
                    <a:bodyPr/>
                    <a:lstStyle/>
                    <a:p>
                      <a:pPr indent="0" lvl="0" marL="0" marR="0" rtl="0" algn="l">
                        <a:spcBef>
                          <a:spcPts val="0"/>
                        </a:spcBef>
                        <a:spcAft>
                          <a:spcPts val="0"/>
                        </a:spcAft>
                        <a:buNone/>
                      </a:pPr>
                      <a:r>
                        <a:rPr lang="en-US" sz="1300" u="none" strike="noStrike"/>
                        <a:t>Debt</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Total debt/total assets</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39.7%</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37.4%</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42.3%</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89550">
                <a:tc>
                  <a:txBody>
                    <a:bodyPr/>
                    <a:lstStyle/>
                    <a:p>
                      <a:pPr indent="0" lvl="0" marL="0" marR="0" rtl="0" algn="l">
                        <a:spcBef>
                          <a:spcPts val="0"/>
                        </a:spcBef>
                        <a:spcAft>
                          <a:spcPts val="0"/>
                        </a:spcAft>
                        <a:buNone/>
                      </a:pPr>
                      <a:r>
                        <a:rPr lang="en-US" sz="1300" u="none" strike="noStrike"/>
                        <a:t>Debt to equity</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300" u="none" strike="noStrike"/>
                        <a:t>Total liabilities/owners’ equity</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65.8%</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59.8%</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None/>
                      </a:pPr>
                      <a:r>
                        <a:rPr lang="en-US" sz="1300" u="none" strike="noStrike"/>
                        <a:t>73.2%</a:t>
                      </a:r>
                      <a:endParaRPr sz="13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70" name="Google Shape;270;p24"/>
          <p:cNvSpPr txBox="1"/>
          <p:nvPr>
            <p:ph idx="2" type="body"/>
          </p:nvPr>
        </p:nvSpPr>
        <p:spPr>
          <a:xfrm>
            <a:off x="457200" y="3741664"/>
            <a:ext cx="8229600" cy="44933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300"/>
              <a:buNone/>
            </a:pPr>
            <a:r>
              <a:rPr baseline="30000" lang="en-US" sz="1300"/>
              <a:t>a</a:t>
            </a:r>
            <a:r>
              <a:rPr lang="en-US" sz="1300"/>
              <a:t> Average total assets = beginning total assets + ending total assets ÷ 2.</a:t>
            </a:r>
            <a:endParaRPr/>
          </a:p>
          <a:p>
            <a:pPr indent="-92075" lvl="0" marL="92075" rtl="0" algn="l">
              <a:spcBef>
                <a:spcPts val="0"/>
              </a:spcBef>
              <a:spcAft>
                <a:spcPts val="0"/>
              </a:spcAft>
              <a:buClr>
                <a:schemeClr val="dk1"/>
              </a:buClr>
              <a:buSzPts val="1300"/>
              <a:buNone/>
            </a:pPr>
            <a:r>
              <a:rPr baseline="30000" lang="en-US" sz="1300"/>
              <a:t>b </a:t>
            </a:r>
            <a:r>
              <a:rPr lang="en-US" sz="1300"/>
              <a:t>Average shareholders’ equity = beginning shareholders’ equity + ending shareholders’ equity ÷ 2.</a:t>
            </a:r>
            <a:endParaRPr sz="13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Forecasts </a:t>
            </a:r>
            <a:r>
              <a:rPr b="0" lang="en-US" sz="2000"/>
              <a:t>(1 of 4)</a:t>
            </a:r>
            <a:endParaRPr b="0" sz="2000"/>
          </a:p>
        </p:txBody>
      </p:sp>
      <p:sp>
        <p:nvSpPr>
          <p:cNvPr id="276" name="Google Shape;276;p25"/>
          <p:cNvSpPr txBox="1"/>
          <p:nvPr>
            <p:ph idx="1" type="body"/>
          </p:nvPr>
        </p:nvSpPr>
        <p:spPr>
          <a:xfrm>
            <a:off x="457200" y="1600200"/>
            <a:ext cx="83820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lang="en-US" sz="2400"/>
              <a:t>Forecasts</a:t>
            </a:r>
            <a:endParaRPr/>
          </a:p>
          <a:p>
            <a:pPr indent="-285750" lvl="1" marL="740664" rtl="0" algn="l">
              <a:spcBef>
                <a:spcPts val="600"/>
              </a:spcBef>
              <a:spcAft>
                <a:spcPts val="0"/>
              </a:spcAft>
              <a:buSzPts val="2400"/>
              <a:buChar char="–"/>
            </a:pPr>
            <a:r>
              <a:rPr lang="en-US" sz="2400"/>
              <a:t>The analysis of a firm’s historical financial statements are followed by the preparation of forecasts.</a:t>
            </a:r>
            <a:endParaRPr/>
          </a:p>
          <a:p>
            <a:pPr indent="-285750" lvl="1" marL="740664" rtl="0" algn="l">
              <a:spcBef>
                <a:spcPts val="600"/>
              </a:spcBef>
              <a:spcAft>
                <a:spcPts val="0"/>
              </a:spcAft>
              <a:buSzPts val="2400"/>
              <a:buChar char="–"/>
            </a:pPr>
            <a:r>
              <a:rPr lang="en-US" sz="2400"/>
              <a:t>Forecasts are predictions of a firm’s future sales, expenses, income, and capital expenditures.</a:t>
            </a:r>
            <a:endParaRPr/>
          </a:p>
          <a:p>
            <a:pPr indent="-228600" lvl="2" marL="1143000" rtl="0" algn="l">
              <a:spcBef>
                <a:spcPts val="600"/>
              </a:spcBef>
              <a:spcAft>
                <a:spcPts val="0"/>
              </a:spcAft>
              <a:buSzPts val="2400"/>
              <a:buChar char="▪"/>
            </a:pPr>
            <a:r>
              <a:rPr lang="en-US" sz="2400"/>
              <a:t>A firm’s forecasts provide the basis for its pro forma financial statements.</a:t>
            </a:r>
            <a:endParaRPr/>
          </a:p>
          <a:p>
            <a:pPr indent="-228600" lvl="2" marL="1143000" rtl="0" algn="l">
              <a:spcBef>
                <a:spcPts val="600"/>
              </a:spcBef>
              <a:spcAft>
                <a:spcPts val="0"/>
              </a:spcAft>
              <a:buSzPts val="2400"/>
              <a:buChar char="▪"/>
            </a:pPr>
            <a:r>
              <a:rPr lang="en-US" sz="2400"/>
              <a:t>A well-developed set of pro forma financial statements helps a firm create accurate budgets, build financial plans, and manage its finances in a proactive rather than a reactive manner.</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Forecasts </a:t>
            </a:r>
            <a:r>
              <a:rPr b="0" lang="en-US" sz="2000"/>
              <a:t>(2 of 4)</a:t>
            </a:r>
            <a:endParaRPr b="0" sz="2000"/>
          </a:p>
        </p:txBody>
      </p:sp>
      <p:sp>
        <p:nvSpPr>
          <p:cNvPr id="282" name="Google Shape;282;p26"/>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t>Sales Forecast</a:t>
            </a:r>
            <a:endParaRPr/>
          </a:p>
          <a:p>
            <a:pPr indent="-285750" lvl="1" marL="740664" rtl="0" algn="l">
              <a:spcBef>
                <a:spcPts val="600"/>
              </a:spcBef>
              <a:spcAft>
                <a:spcPts val="0"/>
              </a:spcAft>
              <a:buSzPts val="2200"/>
              <a:buChar char="–"/>
            </a:pPr>
            <a:r>
              <a:rPr lang="en-US" sz="2200"/>
              <a:t>A sales forecast is a projection of a firm’s sales for a specified period (such as a year).</a:t>
            </a:r>
            <a:endParaRPr/>
          </a:p>
          <a:p>
            <a:pPr indent="-285750" lvl="1" marL="740664" rtl="0" algn="l">
              <a:spcBef>
                <a:spcPts val="600"/>
              </a:spcBef>
              <a:spcAft>
                <a:spcPts val="0"/>
              </a:spcAft>
              <a:buSzPts val="2200"/>
              <a:buChar char="–"/>
            </a:pPr>
            <a:r>
              <a:rPr lang="en-US" sz="2200"/>
              <a:t>It is the first forecast developed and is the basis for most of the other forecasts.</a:t>
            </a:r>
            <a:endParaRPr/>
          </a:p>
          <a:p>
            <a:pPr indent="-228600" lvl="2" marL="1143000" rtl="0" algn="l">
              <a:spcBef>
                <a:spcPts val="600"/>
              </a:spcBef>
              <a:spcAft>
                <a:spcPts val="0"/>
              </a:spcAft>
              <a:buSzPts val="2200"/>
              <a:buChar char="▪"/>
            </a:pPr>
            <a:r>
              <a:rPr lang="en-US" sz="2200"/>
              <a:t>A sales forecast for a new firm is based on a good-faith estimate of sales and on industry averages or the experiences of similar start-ups.</a:t>
            </a:r>
            <a:endParaRPr/>
          </a:p>
          <a:p>
            <a:pPr indent="-228600" lvl="2" marL="1143000" rtl="0" algn="l">
              <a:spcBef>
                <a:spcPts val="600"/>
              </a:spcBef>
              <a:spcAft>
                <a:spcPts val="0"/>
              </a:spcAft>
              <a:buSzPts val="2200"/>
              <a:buChar char="▪"/>
            </a:pPr>
            <a:r>
              <a:rPr lang="en-US" sz="2200"/>
              <a:t>A sales forecast for an existing firm is based on (1) its record of past sales, (2) its current production capacity and product demand, and (3) any factors that will affect its future production capacity and product demand.</a:t>
            </a:r>
            <a:endParaRPr sz="2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Forecasts </a:t>
            </a:r>
            <a:r>
              <a:rPr b="0" lang="en-US" sz="2000"/>
              <a:t>(3 of 4)</a:t>
            </a:r>
            <a:endParaRPr b="0" sz="2000"/>
          </a:p>
        </p:txBody>
      </p:sp>
      <p:sp>
        <p:nvSpPr>
          <p:cNvPr id="288" name="Google Shape;288;p27"/>
          <p:cNvSpPr txBox="1"/>
          <p:nvPr>
            <p:ph idx="1" type="body"/>
          </p:nvPr>
        </p:nvSpPr>
        <p:spPr>
          <a:xfrm>
            <a:off x="457200" y="1600201"/>
            <a:ext cx="8229600" cy="66854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200"/>
              <a:buNone/>
            </a:pPr>
            <a:r>
              <a:rPr b="1" lang="en-US" sz="2200"/>
              <a:t>Figure 8.3 </a:t>
            </a:r>
            <a:r>
              <a:rPr lang="en-US" sz="2200">
                <a:solidFill>
                  <a:schemeClr val="dk1"/>
                </a:solidFill>
              </a:rPr>
              <a:t>Historical and Forecasted Annual Sales for New Venture Fitness Drinks</a:t>
            </a:r>
            <a:endParaRPr sz="2200">
              <a:solidFill>
                <a:schemeClr val="dk1"/>
              </a:solidFill>
            </a:endParaRPr>
          </a:p>
        </p:txBody>
      </p:sp>
      <p:sp>
        <p:nvSpPr>
          <p:cNvPr id="289" name="Google Shape;289;p27"/>
          <p:cNvSpPr txBox="1"/>
          <p:nvPr/>
        </p:nvSpPr>
        <p:spPr>
          <a:xfrm>
            <a:off x="1981200" y="3276600"/>
            <a:ext cx="4953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Insert new Figure 8.3</a:t>
            </a:r>
            <a:endParaRPr/>
          </a:p>
        </p:txBody>
      </p:sp>
      <p:pic>
        <p:nvPicPr>
          <p:cNvPr descr="A graph of historical and forecasted annual sales for new venture fitness drinks. The x axis is sales and the y axis is years. Historic data point includes (2016, 368,900), (2017, 436,100), and (2018, 586,600). Forecast data points are (2019, 821,200) and (2020, 1,026,500). In 2016 and 2017 there is only one restaurant. In 2018 a new restaurant opens to lead to a total of 2. In 2019 and 2020 there are still 2 restaurants. A new restaurant is scheduled to open in 2024." id="290" name="Google Shape;290;p27"/>
          <p:cNvPicPr preferRelativeResize="0"/>
          <p:nvPr/>
        </p:nvPicPr>
        <p:blipFill rotWithShape="1">
          <a:blip r:embed="rId3">
            <a:alphaModFix/>
          </a:blip>
          <a:srcRect b="0" l="0" r="0" t="0"/>
          <a:stretch/>
        </p:blipFill>
        <p:spPr>
          <a:xfrm>
            <a:off x="1805991" y="2377190"/>
            <a:ext cx="5074818" cy="379558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Forecasts </a:t>
            </a:r>
            <a:r>
              <a:rPr b="0" lang="en-US" sz="2000"/>
              <a:t>(4 of 4)</a:t>
            </a:r>
            <a:endParaRPr b="0" sz="2000"/>
          </a:p>
        </p:txBody>
      </p:sp>
      <p:sp>
        <p:nvSpPr>
          <p:cNvPr id="296" name="Google Shape;296;p28"/>
          <p:cNvSpPr txBox="1"/>
          <p:nvPr>
            <p:ph idx="1" type="body"/>
          </p:nvPr>
        </p:nvSpPr>
        <p:spPr>
          <a:xfrm>
            <a:off x="457200" y="1600200"/>
            <a:ext cx="8229600" cy="4693722"/>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lang="en-US" sz="2200">
                <a:latin typeface="Arial"/>
                <a:ea typeface="Arial"/>
                <a:cs typeface="Arial"/>
                <a:sym typeface="Arial"/>
              </a:rPr>
              <a:t>Forecast of Costs of Sales and Other Items</a:t>
            </a:r>
            <a:endParaRPr/>
          </a:p>
          <a:p>
            <a:pPr indent="-285750" lvl="1" marL="740664" rtl="0" algn="l">
              <a:spcBef>
                <a:spcPts val="600"/>
              </a:spcBef>
              <a:spcAft>
                <a:spcPts val="0"/>
              </a:spcAft>
              <a:buSzPts val="2200"/>
              <a:buChar char="–"/>
            </a:pPr>
            <a:r>
              <a:rPr lang="en-US" sz="2200">
                <a:latin typeface="Arial"/>
                <a:ea typeface="Arial"/>
                <a:cs typeface="Arial"/>
                <a:sym typeface="Arial"/>
              </a:rPr>
              <a:t>Once a firm has completed its sales forecast, it must forecast its cost of sales (or cost of goods sold) and the other items on its income statement.</a:t>
            </a:r>
            <a:endParaRPr/>
          </a:p>
          <a:p>
            <a:pPr indent="-285750" lvl="1" marL="740664" rtl="0" algn="l">
              <a:spcBef>
                <a:spcPts val="600"/>
              </a:spcBef>
              <a:spcAft>
                <a:spcPts val="0"/>
              </a:spcAft>
              <a:buSzPts val="2200"/>
              <a:buChar char="–"/>
            </a:pPr>
            <a:r>
              <a:rPr lang="en-US" sz="2200">
                <a:latin typeface="Arial"/>
                <a:ea typeface="Arial"/>
                <a:cs typeface="Arial"/>
                <a:sym typeface="Arial"/>
              </a:rPr>
              <a:t>The most common way to do this is to use the percent-of-sales method, which is a method for expressing each expense item as a percentage of sales.</a:t>
            </a:r>
            <a:endParaRPr/>
          </a:p>
          <a:p>
            <a:pPr indent="-228600" lvl="2" marL="1143000" rtl="0" algn="l">
              <a:spcBef>
                <a:spcPts val="600"/>
              </a:spcBef>
              <a:spcAft>
                <a:spcPts val="0"/>
              </a:spcAft>
              <a:buSzPts val="2200"/>
              <a:buChar char="▪"/>
            </a:pPr>
            <a:r>
              <a:rPr lang="en-US" sz="2200">
                <a:latin typeface="Arial"/>
                <a:ea typeface="Arial"/>
                <a:cs typeface="Arial"/>
                <a:sym typeface="Arial"/>
              </a:rPr>
              <a:t>If a firm determines that it can use the percent-of-sales method and it follows the procedures described in the textbook, then the net result is that each expense item on its income statement will grow at the same rate as sales (with the exception of items that can be individually forecast, such as depreciation).</a:t>
            </a:r>
            <a:endParaRPr sz="220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9"/>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Pro Forma Financial Statements</a:t>
            </a:r>
            <a:endParaRPr sz="3600"/>
          </a:p>
        </p:txBody>
      </p:sp>
      <p:sp>
        <p:nvSpPr>
          <p:cNvPr id="302" name="Google Shape;302;p29"/>
          <p:cNvSpPr txBox="1"/>
          <p:nvPr>
            <p:ph idx="1" type="body"/>
          </p:nvPr>
        </p:nvSpPr>
        <p:spPr>
          <a:xfrm>
            <a:off x="457200" y="1600200"/>
            <a:ext cx="80772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lang="en-US" sz="2400"/>
              <a:t>Pro Forma Financial Statements</a:t>
            </a:r>
            <a:endParaRPr/>
          </a:p>
          <a:p>
            <a:pPr indent="-285750" lvl="1" marL="740664" rtl="0" algn="l">
              <a:spcBef>
                <a:spcPts val="600"/>
              </a:spcBef>
              <a:spcAft>
                <a:spcPts val="0"/>
              </a:spcAft>
              <a:buSzPts val="2400"/>
              <a:buChar char="–"/>
            </a:pPr>
            <a:r>
              <a:rPr lang="en-US" sz="2400"/>
              <a:t>A firm’s pro forma financial statements are similar to its historical financial statements except that they look forward rather than track the past.</a:t>
            </a:r>
            <a:endParaRPr/>
          </a:p>
          <a:p>
            <a:pPr indent="-285750" lvl="1" marL="740664" rtl="0" algn="l">
              <a:spcBef>
                <a:spcPts val="600"/>
              </a:spcBef>
              <a:spcAft>
                <a:spcPts val="0"/>
              </a:spcAft>
              <a:buSzPts val="2400"/>
              <a:buChar char="–"/>
            </a:pPr>
            <a:r>
              <a:rPr lang="en-US" sz="2400"/>
              <a:t>The preparation of pro forma financial statements helps a firm rethink its strategies and make adjustments if necessary.</a:t>
            </a:r>
            <a:endParaRPr/>
          </a:p>
          <a:p>
            <a:pPr indent="-285750" lvl="1" marL="740664" rtl="0" algn="l">
              <a:spcBef>
                <a:spcPts val="600"/>
              </a:spcBef>
              <a:spcAft>
                <a:spcPts val="0"/>
              </a:spcAft>
              <a:buSzPts val="2400"/>
              <a:buChar char="–"/>
            </a:pPr>
            <a:r>
              <a:rPr lang="en-US" sz="2400"/>
              <a:t>The preparation of pro forma financials is also necessary if a firm is seeking funding or financing.</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Types of Pro Forma Financial Statements</a:t>
            </a:r>
            <a:endParaRPr sz="3600"/>
          </a:p>
        </p:txBody>
      </p:sp>
      <p:graphicFrame>
        <p:nvGraphicFramePr>
          <p:cNvPr id="308" name="Google Shape;308;p30"/>
          <p:cNvGraphicFramePr/>
          <p:nvPr/>
        </p:nvGraphicFramePr>
        <p:xfrm>
          <a:off x="482838" y="1930400"/>
          <a:ext cx="3000000" cy="3000000"/>
        </p:xfrm>
        <a:graphic>
          <a:graphicData uri="http://schemas.openxmlformats.org/drawingml/2006/table">
            <a:tbl>
              <a:tblPr bandRow="1" firstRow="1">
                <a:noFill/>
                <a:tableStyleId>{50CA08C3-715C-4A61-9D14-A62D07780F15}</a:tableStyleId>
              </a:tblPr>
              <a:tblGrid>
                <a:gridCol w="2743200"/>
                <a:gridCol w="5486400"/>
              </a:tblGrid>
              <a:tr h="370850">
                <a:tc>
                  <a:txBody>
                    <a:bodyPr/>
                    <a:lstStyle/>
                    <a:p>
                      <a:pPr indent="0" lvl="0" marL="0" marR="0" rtl="0" algn="l">
                        <a:lnSpc>
                          <a:spcPct val="100000"/>
                        </a:lnSpc>
                        <a:spcBef>
                          <a:spcPts val="0"/>
                        </a:spcBef>
                        <a:spcAft>
                          <a:spcPts val="0"/>
                        </a:spcAft>
                        <a:buClr>
                          <a:schemeClr val="dk1"/>
                        </a:buClr>
                        <a:buSzPts val="2000"/>
                        <a:buFont typeface="Arial"/>
                        <a:buNone/>
                      </a:pPr>
                      <a:r>
                        <a:rPr b="1" lang="en-US" sz="2000"/>
                        <a:t>Financial Statement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1" lang="en-US" sz="2000"/>
                        <a:t>Purpose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2000"/>
                        <a:buFont typeface="Arial"/>
                        <a:buNone/>
                      </a:pPr>
                      <a:r>
                        <a:rPr b="0" lang="en-US" sz="2000"/>
                        <a:t>Pro Forma Income Statement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lang="en-US" sz="2000"/>
                        <a:t>Shows the projected financial results of the operations of a firm over a specific period.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2000"/>
                        <a:buFont typeface="Arial"/>
                        <a:buNone/>
                      </a:pPr>
                      <a:r>
                        <a:rPr b="0" lang="en-US" sz="2000"/>
                        <a:t>Pro Forma Balance Sheet</a:t>
                      </a:r>
                      <a:endParaRPr/>
                    </a:p>
                    <a:p>
                      <a:pPr indent="0" lvl="0" marL="0" marR="0" rtl="0" algn="l">
                        <a:spcBef>
                          <a:spcPts val="0"/>
                        </a:spcBef>
                        <a:spcAft>
                          <a:spcPts val="0"/>
                        </a:spcAft>
                        <a:buNone/>
                      </a:pPr>
                      <a:r>
                        <a:t/>
                      </a:r>
                      <a:endParaRPr b="0" sz="20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lang="en-US" sz="2000"/>
                        <a:t>Shows a projected snapshot of a company’s assets, liabilities, and owner’s equity at a specific point in time.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chemeClr val="dk1"/>
                        </a:buClr>
                        <a:buSzPts val="2000"/>
                        <a:buFont typeface="Arial"/>
                        <a:buNone/>
                      </a:pPr>
                      <a:r>
                        <a:rPr b="0" lang="en-US" sz="2000"/>
                        <a:t>Pro Forma Statement of Cash flows</a:t>
                      </a:r>
                      <a:endParaRPr b="0" sz="20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lang="en-US" sz="2000"/>
                        <a:t>Shows the projected flow of cash into and out of a company for a specific period.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1"/>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Pro Forma Income Statements</a:t>
            </a:r>
            <a:endParaRPr b="0" sz="2000"/>
          </a:p>
        </p:txBody>
      </p:sp>
      <p:sp>
        <p:nvSpPr>
          <p:cNvPr id="314" name="Google Shape;314;p31"/>
          <p:cNvSpPr txBox="1"/>
          <p:nvPr>
            <p:ph idx="1" type="body"/>
          </p:nvPr>
        </p:nvSpPr>
        <p:spPr>
          <a:xfrm>
            <a:off x="457200" y="137160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800"/>
              <a:buNone/>
            </a:pPr>
            <a:r>
              <a:rPr b="1" lang="en-US" sz="1800"/>
              <a:t>Table 8.6 </a:t>
            </a:r>
            <a:r>
              <a:rPr lang="en-US" sz="1800"/>
              <a:t>Pro Forma Income Statement for New Venture Fitness Drinks, Inc.</a:t>
            </a:r>
            <a:endParaRPr/>
          </a:p>
        </p:txBody>
      </p:sp>
      <p:graphicFrame>
        <p:nvGraphicFramePr>
          <p:cNvPr id="315" name="Google Shape;315;p31"/>
          <p:cNvGraphicFramePr/>
          <p:nvPr/>
        </p:nvGraphicFramePr>
        <p:xfrm>
          <a:off x="457200" y="1752600"/>
          <a:ext cx="3000000" cy="3000000"/>
        </p:xfrm>
        <a:graphic>
          <a:graphicData uri="http://schemas.openxmlformats.org/drawingml/2006/table">
            <a:tbl>
              <a:tblPr bandRow="1" firstRow="1">
                <a:noFill/>
                <a:tableStyleId>{50CA08C3-715C-4A61-9D14-A62D07780F15}</a:tableStyleId>
              </a:tblPr>
              <a:tblGrid>
                <a:gridCol w="2286000"/>
                <a:gridCol w="1828800"/>
                <a:gridCol w="2057400"/>
                <a:gridCol w="2057400"/>
              </a:tblGrid>
              <a:tr h="260600">
                <a:tc>
                  <a:txBody>
                    <a:bodyPr/>
                    <a:lstStyle/>
                    <a:p>
                      <a:pPr indent="0" lvl="0" marL="0" marR="0" rtl="0" algn="l">
                        <a:spcBef>
                          <a:spcPts val="0"/>
                        </a:spcBef>
                        <a:spcAft>
                          <a:spcPts val="0"/>
                        </a:spcAft>
                        <a:buNone/>
                      </a:pPr>
                      <a:r>
                        <a:rPr lang="en-US" sz="1200">
                          <a:solidFill>
                            <a:schemeClr val="lt1"/>
                          </a:solidFill>
                          <a:latin typeface="Arial"/>
                          <a:ea typeface="Arial"/>
                          <a:cs typeface="Arial"/>
                          <a:sym typeface="Arial"/>
                        </a:rPr>
                        <a:t>blank</a:t>
                      </a:r>
                      <a:endParaRPr sz="1200">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200" u="none" strike="noStrike">
                          <a:solidFill>
                            <a:schemeClr val="dk1"/>
                          </a:solidFill>
                          <a:latin typeface="Arial"/>
                          <a:ea typeface="Arial"/>
                          <a:cs typeface="Arial"/>
                          <a:sym typeface="Arial"/>
                        </a:rPr>
                        <a:t>2018 Actual</a:t>
                      </a:r>
                      <a:endParaRPr b="1"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200" u="none" strike="noStrike">
                          <a:solidFill>
                            <a:schemeClr val="dk1"/>
                          </a:solidFill>
                          <a:latin typeface="Arial"/>
                          <a:ea typeface="Arial"/>
                          <a:cs typeface="Arial"/>
                          <a:sym typeface="Arial"/>
                        </a:rPr>
                        <a:t>2017 Projected</a:t>
                      </a:r>
                      <a:endParaRPr b="1"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200" u="none" strike="noStrike">
                          <a:solidFill>
                            <a:schemeClr val="dk1"/>
                          </a:solidFill>
                          <a:latin typeface="Arial"/>
                          <a:ea typeface="Arial"/>
                          <a:cs typeface="Arial"/>
                          <a:sym typeface="Arial"/>
                        </a:rPr>
                        <a:t>2016 Projected</a:t>
                      </a:r>
                      <a:endParaRPr b="1"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sales</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$586,600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$821,200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$1,026,500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Cost of sales</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268,900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390,000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487,600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Gross profit</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317,700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431,200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538,900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i="0" lang="en-US" sz="1200" u="none" strike="noStrike">
                          <a:solidFill>
                            <a:schemeClr val="dk1"/>
                          </a:solidFill>
                          <a:latin typeface="Arial"/>
                          <a:ea typeface="Arial"/>
                          <a:cs typeface="Arial"/>
                          <a:sym typeface="Arial"/>
                        </a:rPr>
                        <a:t>Operating expenses</a:t>
                      </a:r>
                      <a:endParaRPr b="1"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43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Selling, general, and administrative expenses</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117,800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205,300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256,600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Depreciation</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13,500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18,500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22,500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Operating income</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186,400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207,400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259,800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i="0" lang="en-US" sz="1200" u="none" strike="noStrike">
                          <a:solidFill>
                            <a:schemeClr val="dk1"/>
                          </a:solidFill>
                          <a:latin typeface="Arial"/>
                          <a:ea typeface="Arial"/>
                          <a:cs typeface="Arial"/>
                          <a:sym typeface="Arial"/>
                        </a:rPr>
                        <a:t>Other income</a:t>
                      </a:r>
                      <a:endParaRPr b="1"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Interest income</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1,900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2,000</a:t>
                      </a:r>
                      <a:endParaRPr sz="1200">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Interest expense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(15,000)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(17,500)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(17,000)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Other income (expense), net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Income before income taxes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184,200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211,900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264,800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Income tax expense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53,200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63,600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79,400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income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131,000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148,300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185,400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0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Earnings per share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1.31</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1.48</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1.85</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Pro Forma Balance Sheets </a:t>
            </a:r>
            <a:r>
              <a:rPr b="0" lang="en-US" sz="2000"/>
              <a:t>(1 of 2)</a:t>
            </a:r>
            <a:endParaRPr b="0" sz="2000"/>
          </a:p>
        </p:txBody>
      </p:sp>
      <p:sp>
        <p:nvSpPr>
          <p:cNvPr id="321" name="Google Shape;321;p32"/>
          <p:cNvSpPr txBox="1"/>
          <p:nvPr>
            <p:ph idx="1" type="body"/>
          </p:nvPr>
        </p:nvSpPr>
        <p:spPr>
          <a:xfrm>
            <a:off x="457200" y="1524001"/>
            <a:ext cx="8382000" cy="838199"/>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None/>
            </a:pPr>
            <a:r>
              <a:rPr lang="en-US" sz="2200"/>
              <a:t>Assets</a:t>
            </a:r>
            <a:endParaRPr/>
          </a:p>
          <a:p>
            <a:pPr indent="-256032" lvl="0" marL="256032" rtl="0" algn="l">
              <a:spcBef>
                <a:spcPts val="1500"/>
              </a:spcBef>
              <a:spcAft>
                <a:spcPts val="0"/>
              </a:spcAft>
              <a:buSzPts val="2000"/>
              <a:buNone/>
            </a:pPr>
            <a:r>
              <a:rPr b="1" lang="en-US" sz="2000"/>
              <a:t>Table 8.7 </a:t>
            </a:r>
            <a:r>
              <a:rPr lang="en-US" sz="2000"/>
              <a:t>Pro Forma Balance Sheets for New Venture Fitness Drinks, Inc.</a:t>
            </a:r>
            <a:endParaRPr sz="2000"/>
          </a:p>
        </p:txBody>
      </p:sp>
      <p:graphicFrame>
        <p:nvGraphicFramePr>
          <p:cNvPr id="322" name="Google Shape;322;p32"/>
          <p:cNvGraphicFramePr/>
          <p:nvPr/>
        </p:nvGraphicFramePr>
        <p:xfrm>
          <a:off x="457200" y="2453478"/>
          <a:ext cx="3000000" cy="3000000"/>
        </p:xfrm>
        <a:graphic>
          <a:graphicData uri="http://schemas.openxmlformats.org/drawingml/2006/table">
            <a:tbl>
              <a:tblPr bandRow="1" firstRow="1">
                <a:noFill/>
                <a:tableStyleId>{50CA08C3-715C-4A61-9D14-A62D07780F15}</a:tableStyleId>
              </a:tblPr>
              <a:tblGrid>
                <a:gridCol w="2819400"/>
                <a:gridCol w="1905000"/>
                <a:gridCol w="2057400"/>
                <a:gridCol w="1447800"/>
              </a:tblGrid>
              <a:tr h="260025">
                <a:tc>
                  <a:txBody>
                    <a:bodyPr/>
                    <a:lstStyle/>
                    <a:p>
                      <a:pPr indent="0" lvl="0" marL="0" marR="0" rtl="0" algn="l">
                        <a:spcBef>
                          <a:spcPts val="0"/>
                        </a:spcBef>
                        <a:spcAft>
                          <a:spcPts val="0"/>
                        </a:spcAft>
                        <a:buNone/>
                      </a:pPr>
                      <a:r>
                        <a:rPr b="1" i="0" lang="en-US" sz="1200" u="none" strike="noStrike">
                          <a:solidFill>
                            <a:schemeClr val="dk1"/>
                          </a:solidFill>
                          <a:latin typeface="Arial"/>
                          <a:ea typeface="Arial"/>
                          <a:cs typeface="Arial"/>
                          <a:sym typeface="Arial"/>
                        </a:rPr>
                        <a:t>Assets</a:t>
                      </a:r>
                      <a:endParaRPr b="1"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200" u="none" strike="noStrike">
                          <a:solidFill>
                            <a:schemeClr val="dk1"/>
                          </a:solidFill>
                          <a:latin typeface="Arial"/>
                          <a:ea typeface="Arial"/>
                          <a:cs typeface="Arial"/>
                          <a:sym typeface="Arial"/>
                        </a:rPr>
                        <a:t>December 31, 2018</a:t>
                      </a:r>
                      <a:endParaRPr b="1"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200" u="none" strike="noStrike">
                          <a:solidFill>
                            <a:schemeClr val="dk1"/>
                          </a:solidFill>
                          <a:latin typeface="Arial"/>
                          <a:ea typeface="Arial"/>
                          <a:cs typeface="Arial"/>
                          <a:sym typeface="Arial"/>
                        </a:rPr>
                        <a:t>Projected 2019</a:t>
                      </a:r>
                      <a:endParaRPr b="1"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200" u="none" strike="noStrike">
                          <a:solidFill>
                            <a:schemeClr val="dk1"/>
                          </a:solidFill>
                          <a:latin typeface="Arial"/>
                          <a:ea typeface="Arial"/>
                          <a:cs typeface="Arial"/>
                          <a:sym typeface="Arial"/>
                        </a:rPr>
                        <a:t>Projected 2020</a:t>
                      </a:r>
                      <a:endParaRPr b="1"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02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Current assets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Cash and cash equivalents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$63,800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$53,400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$80,200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34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Accounts receivable, less allowance for doubtful accounts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39,600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57,500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71,900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Inventories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19,200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32,900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41,000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current assets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122,600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143,800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193,100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Property, plant, and equipment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Land</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260,000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260,000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360,000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Buildings and equipment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412,000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512,000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687,000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property, plant, and equipment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672,000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772,000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1,047,000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Less: accumulated depreciation</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65,000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83,500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106,000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property, plant, and equipment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607,000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688,500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941,000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assets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729,600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832,300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1,134,100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3"/>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Pro Forma Balance Sheets </a:t>
            </a:r>
            <a:r>
              <a:rPr b="0" lang="en-US" sz="2000"/>
              <a:t>(2 of 2)</a:t>
            </a:r>
            <a:endParaRPr b="0" sz="2000"/>
          </a:p>
        </p:txBody>
      </p:sp>
      <p:sp>
        <p:nvSpPr>
          <p:cNvPr id="328" name="Google Shape;328;p33"/>
          <p:cNvSpPr txBox="1"/>
          <p:nvPr>
            <p:ph idx="2" type="body"/>
          </p:nvPr>
        </p:nvSpPr>
        <p:spPr>
          <a:xfrm>
            <a:off x="457200" y="152400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US" sz="2000"/>
              <a:t>Table 8.7 </a:t>
            </a:r>
            <a:r>
              <a:rPr lang="en-US" sz="2000"/>
              <a:t>(continued)</a:t>
            </a:r>
            <a:endParaRPr/>
          </a:p>
        </p:txBody>
      </p:sp>
      <p:graphicFrame>
        <p:nvGraphicFramePr>
          <p:cNvPr id="329" name="Google Shape;329;p33"/>
          <p:cNvGraphicFramePr/>
          <p:nvPr/>
        </p:nvGraphicFramePr>
        <p:xfrm>
          <a:off x="457200" y="1905000"/>
          <a:ext cx="3000000" cy="3000000"/>
        </p:xfrm>
        <a:graphic>
          <a:graphicData uri="http://schemas.openxmlformats.org/drawingml/2006/table">
            <a:tbl>
              <a:tblPr bandRow="1" firstRow="1">
                <a:noFill/>
                <a:tableStyleId>{50CA08C3-715C-4A61-9D14-A62D07780F15}</a:tableStyleId>
              </a:tblPr>
              <a:tblGrid>
                <a:gridCol w="2819400"/>
                <a:gridCol w="1905000"/>
                <a:gridCol w="2057400"/>
                <a:gridCol w="1447800"/>
              </a:tblGrid>
              <a:tr h="260025">
                <a:tc>
                  <a:txBody>
                    <a:bodyPr/>
                    <a:lstStyle/>
                    <a:p>
                      <a:pPr indent="0" lvl="0" marL="0" marR="0" rtl="0" algn="l">
                        <a:spcBef>
                          <a:spcPts val="0"/>
                        </a:spcBef>
                        <a:spcAft>
                          <a:spcPts val="0"/>
                        </a:spcAft>
                        <a:buNone/>
                      </a:pPr>
                      <a:r>
                        <a:rPr b="1" i="0" lang="en-US" sz="1400" u="none" strike="noStrike">
                          <a:solidFill>
                            <a:schemeClr val="dk1"/>
                          </a:solidFill>
                          <a:latin typeface="Arial"/>
                          <a:ea typeface="Arial"/>
                          <a:cs typeface="Arial"/>
                          <a:sym typeface="Arial"/>
                        </a:rPr>
                        <a:t>Assets</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December 31, 2018</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Projected 2019</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Projected 2020</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02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Liabilities and shareholders’ equity</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Current liabilities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95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Accounts payable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30,200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57,500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71,900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Accrued expenses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9,900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12,000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current liabilities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40,100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69,500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85,900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Long-term liabilities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Long-term debt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249,500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174,500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274,500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long-term liabilities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249,500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174,500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274,500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liabilities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289,600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244,000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360,400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Shareholders’ equity</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88925">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Common stock (100,000 shares)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Retained earnings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430,000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578,300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763,700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shareholders’ equity</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440,000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588,300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773,700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16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liabilities and shareholders’ equity</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729,600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832,300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1,134,100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type="title"/>
          </p:nvPr>
        </p:nvSpPr>
        <p:spPr>
          <a:xfrm>
            <a:off x="457200" y="228600"/>
            <a:ext cx="76962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Pro Forma Statement of Cash </a:t>
            </a:r>
            <a:br>
              <a:rPr lang="en-US" sz="3600"/>
            </a:br>
            <a:r>
              <a:rPr lang="en-US" sz="3600"/>
              <a:t>Flows </a:t>
            </a:r>
            <a:r>
              <a:rPr b="0" lang="en-US" sz="2000"/>
              <a:t>(1 of 2)</a:t>
            </a:r>
            <a:endParaRPr b="0" sz="2000"/>
          </a:p>
        </p:txBody>
      </p:sp>
      <p:sp>
        <p:nvSpPr>
          <p:cNvPr id="336" name="Google Shape;336;p34"/>
          <p:cNvSpPr txBox="1"/>
          <p:nvPr>
            <p:ph idx="1" type="body"/>
          </p:nvPr>
        </p:nvSpPr>
        <p:spPr>
          <a:xfrm>
            <a:off x="457200" y="1447800"/>
            <a:ext cx="8229600" cy="761999"/>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000"/>
              <a:buNone/>
            </a:pPr>
            <a:r>
              <a:rPr lang="en-US" sz="2000">
                <a:solidFill>
                  <a:schemeClr val="dk1"/>
                </a:solidFill>
              </a:rPr>
              <a:t>Operating Activities</a:t>
            </a:r>
            <a:endParaRPr/>
          </a:p>
          <a:p>
            <a:pPr indent="-256032" lvl="0" marL="256032" rtl="0" algn="l">
              <a:spcBef>
                <a:spcPts val="1500"/>
              </a:spcBef>
              <a:spcAft>
                <a:spcPts val="0"/>
              </a:spcAft>
              <a:buSzPts val="1700"/>
              <a:buNone/>
            </a:pPr>
            <a:r>
              <a:rPr b="1" lang="en-US" sz="1700"/>
              <a:t>Table 8.8 </a:t>
            </a:r>
            <a:r>
              <a:rPr lang="en-US" sz="1700"/>
              <a:t>Pro Forma Statement of Cash Flows for New Venture Fitness Drinks, Inc.</a:t>
            </a:r>
            <a:endParaRPr sz="1700"/>
          </a:p>
        </p:txBody>
      </p:sp>
      <p:graphicFrame>
        <p:nvGraphicFramePr>
          <p:cNvPr id="337" name="Google Shape;337;p34"/>
          <p:cNvGraphicFramePr/>
          <p:nvPr/>
        </p:nvGraphicFramePr>
        <p:xfrm>
          <a:off x="493776" y="2362200"/>
          <a:ext cx="3000000" cy="3000000"/>
        </p:xfrm>
        <a:graphic>
          <a:graphicData uri="http://schemas.openxmlformats.org/drawingml/2006/table">
            <a:tbl>
              <a:tblPr bandRow="1" firstRow="1">
                <a:noFill/>
                <a:tableStyleId>{50CA08C3-715C-4A61-9D14-A62D07780F15}</a:tableStyleId>
              </a:tblPr>
              <a:tblGrid>
                <a:gridCol w="3011425"/>
                <a:gridCol w="1905000"/>
                <a:gridCol w="1524000"/>
                <a:gridCol w="1676400"/>
              </a:tblGrid>
              <a:tr h="304800">
                <a:tc>
                  <a:txBody>
                    <a:bodyPr/>
                    <a:lstStyle/>
                    <a:p>
                      <a:pPr indent="0" lvl="0" marL="0" marR="0" rtl="0" algn="l">
                        <a:spcBef>
                          <a:spcPts val="0"/>
                        </a:spcBef>
                        <a:spcAft>
                          <a:spcPts val="0"/>
                        </a:spcAft>
                        <a:buNone/>
                      </a:pPr>
                      <a:r>
                        <a:rPr lang="en-US" sz="1400">
                          <a:solidFill>
                            <a:schemeClr val="lt1"/>
                          </a:solidFill>
                        </a:rPr>
                        <a:t>blank</a:t>
                      </a:r>
                      <a:endParaRPr sz="1400">
                        <a:solidFill>
                          <a:schemeClr val="lt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December 31, 2018</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Projected 2019</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Projected 2020</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Cash flows from operating activities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income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$131,000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$148,300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$185,400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Changes in working capital</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Depreciation</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13,500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18,500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22,500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Increase (decrease) in accounts receivable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9,300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(17,900)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Increase (decrease) in accrued expenses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1,900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2,100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Increase (decrease) in inventory</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(13,700)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(8,100)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Increase (decrease) in accounts payable</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(16,700)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27,300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Total adjustments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9,200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16,300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16,400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cash provided by operating activities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140,200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164,600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201,800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5"/>
          <p:cNvSpPr txBox="1"/>
          <p:nvPr>
            <p:ph type="title"/>
          </p:nvPr>
        </p:nvSpPr>
        <p:spPr>
          <a:xfrm>
            <a:off x="457200" y="215372"/>
            <a:ext cx="76962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Pro Forma Statement of Cash </a:t>
            </a:r>
            <a:br>
              <a:rPr lang="en-US" sz="3600"/>
            </a:br>
            <a:r>
              <a:rPr lang="en-US" sz="3600"/>
              <a:t>Flows </a:t>
            </a:r>
            <a:r>
              <a:rPr b="0" lang="en-US" sz="2000"/>
              <a:t>(2 of 2)</a:t>
            </a:r>
            <a:endParaRPr b="0" sz="2000"/>
          </a:p>
        </p:txBody>
      </p:sp>
      <p:sp>
        <p:nvSpPr>
          <p:cNvPr id="343" name="Google Shape;343;p35"/>
          <p:cNvSpPr txBox="1"/>
          <p:nvPr>
            <p:ph idx="1" type="body"/>
          </p:nvPr>
        </p:nvSpPr>
        <p:spPr>
          <a:xfrm>
            <a:off x="457200" y="1447800"/>
            <a:ext cx="8229600" cy="761999"/>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000"/>
              <a:buNone/>
            </a:pPr>
            <a:r>
              <a:rPr lang="en-US" sz="2000">
                <a:solidFill>
                  <a:schemeClr val="dk1"/>
                </a:solidFill>
              </a:rPr>
              <a:t>Investing Activities and Financing Activities</a:t>
            </a:r>
            <a:endParaRPr/>
          </a:p>
          <a:p>
            <a:pPr indent="-256032" lvl="0" marL="256032" rtl="0" algn="l">
              <a:spcBef>
                <a:spcPts val="1500"/>
              </a:spcBef>
              <a:spcAft>
                <a:spcPts val="0"/>
              </a:spcAft>
              <a:buSzPts val="1700"/>
              <a:buNone/>
            </a:pPr>
            <a:r>
              <a:rPr b="1" lang="en-US" sz="1700"/>
              <a:t>Table 8.8 </a:t>
            </a:r>
            <a:r>
              <a:rPr lang="en-US" sz="1700"/>
              <a:t>(continued)</a:t>
            </a:r>
            <a:endParaRPr sz="1700"/>
          </a:p>
        </p:txBody>
      </p:sp>
      <p:graphicFrame>
        <p:nvGraphicFramePr>
          <p:cNvPr id="344" name="Google Shape;344;p35"/>
          <p:cNvGraphicFramePr/>
          <p:nvPr/>
        </p:nvGraphicFramePr>
        <p:xfrm>
          <a:off x="457200" y="2362200"/>
          <a:ext cx="3000000" cy="3000000"/>
        </p:xfrm>
        <a:graphic>
          <a:graphicData uri="http://schemas.openxmlformats.org/drawingml/2006/table">
            <a:tbl>
              <a:tblPr bandRow="1" firstRow="1">
                <a:noFill/>
                <a:tableStyleId>{50CA08C3-715C-4A61-9D14-A62D07780F15}</a:tableStyleId>
              </a:tblPr>
              <a:tblGrid>
                <a:gridCol w="3200400"/>
                <a:gridCol w="1828800"/>
                <a:gridCol w="1524000"/>
                <a:gridCol w="1563625"/>
              </a:tblGrid>
              <a:tr h="304800">
                <a:tc>
                  <a:txBody>
                    <a:bodyPr/>
                    <a:lstStyle/>
                    <a:p>
                      <a:pPr indent="0" lvl="0" marL="0" marR="0" rtl="0" algn="l">
                        <a:spcBef>
                          <a:spcPts val="0"/>
                        </a:spcBef>
                        <a:spcAft>
                          <a:spcPts val="0"/>
                        </a:spcAft>
                        <a:buNone/>
                      </a:pPr>
                      <a:r>
                        <a:rPr b="0" i="0" lang="en-US" sz="1400" u="none" cap="none" strike="noStrike">
                          <a:solidFill>
                            <a:srgbClr val="FFFFFF"/>
                          </a:solidFill>
                          <a:latin typeface="Arial"/>
                          <a:ea typeface="Arial"/>
                          <a:cs typeface="Arial"/>
                          <a:sym typeface="Arial"/>
                        </a:rPr>
                        <a:t>blank</a:t>
                      </a:r>
                      <a:endParaRPr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December 31, 2018</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Projected 2019</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400" u="none" strike="noStrike">
                          <a:solidFill>
                            <a:schemeClr val="dk1"/>
                          </a:solidFill>
                          <a:latin typeface="Arial"/>
                          <a:ea typeface="Arial"/>
                          <a:cs typeface="Arial"/>
                          <a:sym typeface="Arial"/>
                        </a:rPr>
                        <a:t>Projected 2020</a:t>
                      </a:r>
                      <a:endParaRPr b="1" sz="14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Cash flows from investing activities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Purchase of building and equipment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(250,500)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(275,000)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cash flows provided by investing activities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(250,500)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(275,000)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Cash flows from financing activities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Proceeds from increase in long-term debt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119,500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100,000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480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Principle reduction in long-term debt</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(75,000)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Net cash flows provided by financing activities</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blank</a:t>
                      </a:r>
                      <a:endParaRPr b="0" i="0" sz="1200" u="none" cap="none" strike="noStrike">
                        <a:solidFill>
                          <a:srgbClr val="FFFFFF"/>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692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Increase in cash</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9,200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(10,400)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26,800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Cash and cash equivalents at the beginning of the year</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54,600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63,800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53,400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i="0" lang="en-US" sz="1200" u="none" strike="noStrike">
                          <a:solidFill>
                            <a:schemeClr val="dk1"/>
                          </a:solidFill>
                          <a:latin typeface="Arial"/>
                          <a:ea typeface="Arial"/>
                          <a:cs typeface="Arial"/>
                          <a:sym typeface="Arial"/>
                        </a:rPr>
                        <a:t>Cash and cash equivalents at the end of the year</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63,800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53,400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0" i="0" lang="en-US" sz="1200" u="none" strike="noStrike">
                          <a:solidFill>
                            <a:schemeClr val="dk1"/>
                          </a:solidFill>
                          <a:latin typeface="Arial"/>
                          <a:ea typeface="Arial"/>
                          <a:cs typeface="Arial"/>
                          <a:sym typeface="Arial"/>
                        </a:rPr>
                        <a:t>80,200</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Ratio Analysis </a:t>
            </a:r>
            <a:r>
              <a:rPr b="0" lang="en-US" sz="2000"/>
              <a:t>(2 of 2)</a:t>
            </a:r>
            <a:endParaRPr b="0" sz="2000"/>
          </a:p>
        </p:txBody>
      </p:sp>
      <p:sp>
        <p:nvSpPr>
          <p:cNvPr id="350" name="Google Shape;350;p36"/>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lang="en-US" sz="2400"/>
              <a:t>Ratio Analysis</a:t>
            </a:r>
            <a:endParaRPr/>
          </a:p>
          <a:p>
            <a:pPr indent="-285750" lvl="1" marL="740664" rtl="0" algn="l">
              <a:spcBef>
                <a:spcPts val="600"/>
              </a:spcBef>
              <a:spcAft>
                <a:spcPts val="0"/>
              </a:spcAft>
              <a:buSzPts val="2400"/>
              <a:buChar char="–"/>
            </a:pPr>
            <a:r>
              <a:rPr lang="en-US" sz="2400"/>
              <a:t>The same financial ratios used to evaluate a firm’s historical financial statements should be used to evaluate the pro forma financial statements.</a:t>
            </a:r>
            <a:endParaRPr/>
          </a:p>
          <a:p>
            <a:pPr indent="-285750" lvl="1" marL="740664" rtl="0" algn="l">
              <a:spcBef>
                <a:spcPts val="600"/>
              </a:spcBef>
              <a:spcAft>
                <a:spcPts val="0"/>
              </a:spcAft>
              <a:buSzPts val="2400"/>
              <a:buChar char="–"/>
            </a:pPr>
            <a:r>
              <a:rPr lang="en-US" sz="2400"/>
              <a:t>This work is completed so the firm can get a sense of how its projected financial performance compares to its past performance and how its projected activities will affect its cash position and its overall financial soundness.</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600"/>
              <a:buFont typeface="Times New Roman"/>
              <a:buNone/>
            </a:pPr>
            <a:r>
              <a:rPr lang="en-US" sz="3600"/>
              <a:t>Ratio Analysis Based on Historical and Pro-Forma Financial Statements</a:t>
            </a:r>
            <a:endParaRPr sz="3600"/>
          </a:p>
        </p:txBody>
      </p:sp>
      <p:sp>
        <p:nvSpPr>
          <p:cNvPr id="357" name="Google Shape;357;p37"/>
          <p:cNvSpPr txBox="1"/>
          <p:nvPr>
            <p:ph idx="1" type="body"/>
          </p:nvPr>
        </p:nvSpPr>
        <p:spPr>
          <a:xfrm>
            <a:off x="457200" y="1600200"/>
            <a:ext cx="8458200" cy="685799"/>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US" sz="2000"/>
              <a:t>Table 8.9 </a:t>
            </a:r>
            <a:r>
              <a:rPr lang="en-US" sz="2000"/>
              <a:t>Ratio Analysis of Historical and Pro Forma Financial Statements for New Venture Fitness Drinks, Inc.</a:t>
            </a:r>
            <a:endParaRPr sz="2000"/>
          </a:p>
        </p:txBody>
      </p:sp>
      <p:graphicFrame>
        <p:nvGraphicFramePr>
          <p:cNvPr id="358" name="Google Shape;358;p37"/>
          <p:cNvGraphicFramePr/>
          <p:nvPr/>
        </p:nvGraphicFramePr>
        <p:xfrm>
          <a:off x="484632" y="2453640"/>
          <a:ext cx="3000000" cy="3000000"/>
        </p:xfrm>
        <a:graphic>
          <a:graphicData uri="http://schemas.openxmlformats.org/drawingml/2006/table">
            <a:tbl>
              <a:tblPr bandRow="1" firstRow="1">
                <a:noFill/>
                <a:tableStyleId>{50CA08C3-715C-4A61-9D14-A62D07780F15}</a:tableStyleId>
              </a:tblPr>
              <a:tblGrid>
                <a:gridCol w="2868175"/>
                <a:gridCol w="1066800"/>
                <a:gridCol w="1124900"/>
                <a:gridCol w="1056575"/>
                <a:gridCol w="1056575"/>
                <a:gridCol w="1056575"/>
              </a:tblGrid>
              <a:tr h="300675">
                <a:tc>
                  <a:txBody>
                    <a:bodyPr/>
                    <a:lstStyle/>
                    <a:p>
                      <a:pPr indent="0" lvl="0" marL="0" marR="0" rtl="0" algn="l">
                        <a:spcBef>
                          <a:spcPts val="0"/>
                        </a:spcBef>
                        <a:spcAft>
                          <a:spcPts val="0"/>
                        </a:spcAft>
                        <a:buNone/>
                      </a:pPr>
                      <a:r>
                        <a:rPr b="1" i="0" lang="en-US" sz="1400" u="none" strike="noStrike">
                          <a:solidFill>
                            <a:schemeClr val="dk1"/>
                          </a:solidFill>
                          <a:latin typeface="Arial"/>
                          <a:ea typeface="Arial"/>
                          <a:cs typeface="Arial"/>
                          <a:sym typeface="Arial"/>
                        </a:rPr>
                        <a:t>Ratio</a:t>
                      </a:r>
                      <a:endParaRPr b="1" sz="1400"/>
                    </a:p>
                  </a:txBody>
                  <a:tcPr marT="45725" marB="45725" marR="94050" marL="94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Historical</a:t>
                      </a:r>
                      <a:endParaRPr b="1" i="0" sz="1400" u="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2016</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Historical</a:t>
                      </a:r>
                      <a:endParaRPr b="1" i="0" sz="1400" u="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2017</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Historical</a:t>
                      </a:r>
                      <a:endParaRPr b="1" i="0" sz="1400" u="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2018</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Projected</a:t>
                      </a:r>
                      <a:endParaRPr b="1" i="0" sz="1400" u="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2019</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Projected</a:t>
                      </a:r>
                      <a:endParaRPr b="1" i="0" sz="1400" u="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1400" u="none" strike="noStrike">
                          <a:solidFill>
                            <a:schemeClr val="dk1"/>
                          </a:solidFill>
                          <a:latin typeface="Arial"/>
                          <a:ea typeface="Arial"/>
                          <a:cs typeface="Arial"/>
                          <a:sym typeface="Arial"/>
                        </a:rPr>
                        <a:t>2020</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1" i="0" lang="en-US" sz="1400" u="none" strike="noStrike">
                          <a:solidFill>
                            <a:schemeClr val="dk1"/>
                          </a:solidFill>
                          <a:latin typeface="Arial"/>
                          <a:ea typeface="Arial"/>
                          <a:cs typeface="Arial"/>
                          <a:sym typeface="Arial"/>
                        </a:rPr>
                        <a:t>Profitability ratios</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solidFill>
                          <a:schemeClr val="lt1"/>
                        </a:solidFill>
                      </a:endParaRPr>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Return on assets</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14.7%</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18.7%</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21.4%</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19.0%</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18.9%</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Return on equity</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24.9%</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31.0%</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35.0%</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28.9%</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27.2%</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Profit margin</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13.6%</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17.9%</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22.3%</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18.1%</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18.1%</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1" i="0" lang="en-US" sz="1400" u="none" strike="noStrike">
                          <a:solidFill>
                            <a:schemeClr val="dk1"/>
                          </a:solidFill>
                          <a:latin typeface="Arial"/>
                          <a:ea typeface="Arial"/>
                          <a:cs typeface="Arial"/>
                          <a:sym typeface="Arial"/>
                        </a:rPr>
                        <a:t>Liquidity ratios</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Current</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2.35</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2.26</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3.05</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2.07</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2.24</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Quick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1.96</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1.89</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2.58</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1.60</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  1.78</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1" i="0" lang="en-US" sz="1400" u="none" strike="noStrike">
                          <a:solidFill>
                            <a:schemeClr val="dk1"/>
                          </a:solidFill>
                          <a:latin typeface="Arial"/>
                          <a:ea typeface="Arial"/>
                          <a:cs typeface="Arial"/>
                          <a:sym typeface="Arial"/>
                        </a:rPr>
                        <a:t>Overall financial stability ratios</a:t>
                      </a:r>
                      <a:endParaRPr b="1"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1400">
                          <a:solidFill>
                            <a:schemeClr val="lt1"/>
                          </a:solidFill>
                        </a:rPr>
                        <a:t>Blank</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Debt</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42.3%</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37.4%</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39.7%</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29.3%</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31.8%</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00675">
                <a:tc>
                  <a:txBody>
                    <a:bodyPr/>
                    <a:lstStyle/>
                    <a:p>
                      <a:pPr indent="0" lvl="0" marL="0" marR="0" rtl="0" algn="l">
                        <a:spcBef>
                          <a:spcPts val="0"/>
                        </a:spcBef>
                        <a:spcAft>
                          <a:spcPts val="0"/>
                        </a:spcAft>
                        <a:buNone/>
                      </a:pPr>
                      <a:r>
                        <a:rPr b="0" i="0" lang="en-US" sz="1400" u="none" strike="noStrike">
                          <a:solidFill>
                            <a:schemeClr val="dk1"/>
                          </a:solidFill>
                          <a:latin typeface="Arial"/>
                          <a:ea typeface="Arial"/>
                          <a:cs typeface="Arial"/>
                          <a:sym typeface="Arial"/>
                        </a:rPr>
                        <a:t>Debt to equity</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73.2%</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59.8%</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65.8%</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41.5%</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i="0" lang="en-US" sz="1400" u="none" strike="noStrike">
                          <a:solidFill>
                            <a:schemeClr val="dk1"/>
                          </a:solidFill>
                          <a:latin typeface="Arial"/>
                          <a:ea typeface="Arial"/>
                          <a:cs typeface="Arial"/>
                          <a:sym typeface="Arial"/>
                        </a:rPr>
                        <a:t>46.6%</a:t>
                      </a:r>
                      <a:endParaRPr sz="1400"/>
                    </a:p>
                  </a:txBody>
                  <a:tcPr marT="45725" marB="45725" marR="94050" marL="94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Pearson 508">
      <a:dk1>
        <a:srgbClr val="000000"/>
      </a:dk1>
      <a:lt1>
        <a:srgbClr val="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2014-07-14T20:04:21Z</dcterms:created>
  <dc:creator>Barringer/Ireland</dc:creator>
</cp:coreProperties>
</file>