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5143500" cx="9144000"/>
  <p:notesSz cx="6858000" cy="9144000"/>
  <p:embeddedFontLst>
    <p:embeddedFont>
      <p:font typeface="Robot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oboto-regular.fnt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oboto-italic.fntdata"/><Relationship Id="rId14" Type="http://schemas.openxmlformats.org/officeDocument/2006/relationships/slide" Target="slides/slide9.xml"/><Relationship Id="rId36" Type="http://schemas.openxmlformats.org/officeDocument/2006/relationships/font" Target="fonts/Roboto-bold.fntdata"/><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font" Target="fonts/Robot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552bde2974456884_1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 name="Google Shape;58;g552bde2974456884_1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552bde297445688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552bde297445688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f1b268b35a08a4c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f1b268b35a08a4c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552bde2974456884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552bde2974456884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552bde2974456884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552bde2974456884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552bde2974456884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552bde2974456884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552bde2974456884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552bde2974456884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552bde2974456884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552bde2974456884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552bde2974456884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552bde2974456884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552bde2974456884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552bde2974456884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f1b268b35a08a4c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f1b268b35a08a4c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552bde2974456884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552bde2974456884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552bde2974456884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552bde2974456884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552bde2974456884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552bde2974456884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f1b268b35a08a4c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f1b268b35a08a4c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f1b268b35a08a4c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f1b268b35a08a4c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552bde2974456884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552bde2974456884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552bde2974456884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552bde2974456884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552bde2974456884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552bde2974456884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552bde2974456884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552bde2974456884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552bde2974456884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552bde2974456884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f1b268b35a08a4c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f1b268b35a08a4c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552bde2974456884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552bde2974456884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552bde2974456884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552bde2974456884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f1b268b35a08a4c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f1b268b35a08a4c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552bde2974456884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552bde2974456884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552bde2974456884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552bde2974456884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552bde2974456884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552bde2974456884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f1b268b35a08a4c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f1b268b35a08a4c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768096" y="438912"/>
            <a:ext cx="7290000" cy="1124700"/>
          </a:xfrm>
          <a:prstGeom prst="rect">
            <a:avLst/>
          </a:prstGeom>
          <a:noFill/>
          <a:ln>
            <a:noFill/>
          </a:ln>
        </p:spPr>
        <p:txBody>
          <a:bodyPr anchorCtr="0" anchor="ctr" bIns="34275" lIns="68575" spcFirstLastPara="1" rIns="68575" wrap="square" tIns="34275">
            <a:normAutofit/>
          </a:bodyPr>
          <a:lstStyle>
            <a:lvl1pPr lvl="0" algn="l">
              <a:lnSpc>
                <a:spcPct val="80000"/>
              </a:lnSpc>
              <a:spcBef>
                <a:spcPts val="0"/>
              </a:spcBef>
              <a:spcAft>
                <a:spcPts val="0"/>
              </a:spcAft>
              <a:buClr>
                <a:srgbClr val="0C0C0C"/>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2" name="Google Shape;52;p13"/>
          <p:cNvSpPr txBox="1"/>
          <p:nvPr>
            <p:ph idx="1" type="body"/>
          </p:nvPr>
        </p:nvSpPr>
        <p:spPr>
          <a:xfrm>
            <a:off x="768096" y="1714500"/>
            <a:ext cx="7290000" cy="3017400"/>
          </a:xfrm>
          <a:prstGeom prst="rect">
            <a:avLst/>
          </a:prstGeom>
          <a:noFill/>
          <a:ln>
            <a:noFill/>
          </a:ln>
        </p:spPr>
        <p:txBody>
          <a:bodyPr anchorCtr="0" anchor="t" bIns="34275" lIns="34275" spcFirstLastPara="1" rIns="34275" wrap="square" tIns="34275">
            <a:normAutofit/>
          </a:bodyPr>
          <a:lstStyle>
            <a:lvl1pPr indent="-317500" lvl="0" marL="457200" algn="l">
              <a:lnSpc>
                <a:spcPct val="90000"/>
              </a:lnSpc>
              <a:spcBef>
                <a:spcPts val="900"/>
              </a:spcBef>
              <a:spcAft>
                <a:spcPts val="0"/>
              </a:spcAft>
              <a:buSzPts val="1400"/>
              <a:buChar char=" "/>
              <a:defRPr/>
            </a:lvl1pPr>
            <a:lvl2pPr indent="-317500" lvl="1" marL="914400" algn="l">
              <a:lnSpc>
                <a:spcPct val="90000"/>
              </a:lnSpc>
              <a:spcBef>
                <a:spcPts val="200"/>
              </a:spcBef>
              <a:spcAft>
                <a:spcPts val="0"/>
              </a:spcAft>
              <a:buSzPts val="1400"/>
              <a:buChar char="?"/>
              <a:defRPr/>
            </a:lvl2pPr>
            <a:lvl3pPr indent="-317500" lvl="2" marL="1371600" algn="l">
              <a:lnSpc>
                <a:spcPct val="90000"/>
              </a:lnSpc>
              <a:spcBef>
                <a:spcPts val="300"/>
              </a:spcBef>
              <a:spcAft>
                <a:spcPts val="0"/>
              </a:spcAft>
              <a:buSzPts val="1400"/>
              <a:buChar char="?"/>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53" name="Google Shape;53;p13"/>
          <p:cNvSpPr txBox="1"/>
          <p:nvPr>
            <p:ph idx="10" type="dt"/>
          </p:nvPr>
        </p:nvSpPr>
        <p:spPr>
          <a:xfrm>
            <a:off x="768097" y="4853028"/>
            <a:ext cx="1615500" cy="2058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54" name="Google Shape;54;p13"/>
          <p:cNvSpPr txBox="1"/>
          <p:nvPr>
            <p:ph idx="11" type="ftr"/>
          </p:nvPr>
        </p:nvSpPr>
        <p:spPr>
          <a:xfrm>
            <a:off x="3632199" y="4853028"/>
            <a:ext cx="4426200" cy="205800"/>
          </a:xfrm>
          <a:prstGeom prst="rect">
            <a:avLst/>
          </a:prstGeom>
          <a:noFill/>
          <a:ln>
            <a:noFill/>
          </a:ln>
        </p:spPr>
        <p:txBody>
          <a:bodyPr anchorCtr="0" anchor="ctr" bIns="34275" lIns="68575" spcFirstLastPara="1" rIns="68575" wrap="square" tIns="34275">
            <a:noAutofit/>
          </a:bodyPr>
          <a:lstStyle>
            <a:lvl1pPr lvl="0" marR="0" algn="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55" name="Google Shape;55;p13"/>
          <p:cNvSpPr txBox="1"/>
          <p:nvPr>
            <p:ph idx="12" type="sldNum"/>
          </p:nvPr>
        </p:nvSpPr>
        <p:spPr>
          <a:xfrm>
            <a:off x="8128000" y="4853028"/>
            <a:ext cx="730500" cy="205800"/>
          </a:xfrm>
          <a:prstGeom prst="rect">
            <a:avLst/>
          </a:prstGeom>
          <a:noFill/>
          <a:ln>
            <a:noFill/>
          </a:ln>
        </p:spPr>
        <p:txBody>
          <a:bodyPr anchorCtr="0" anchor="ctr" bIns="34275" lIns="68575" spcFirstLastPara="1" rIns="68575" wrap="square" tIns="34275">
            <a:noAutofit/>
          </a:bodyPr>
          <a:lstStyle>
            <a:lvl1pPr indent="0" lvl="0" marL="0" marR="0" algn="l">
              <a:lnSpc>
                <a:spcPct val="100000"/>
              </a:lnSpc>
              <a:spcBef>
                <a:spcPts val="0"/>
              </a:spcBef>
              <a:spcAft>
                <a:spcPts val="0"/>
              </a:spcAft>
              <a:buClr>
                <a:srgbClr val="000000"/>
              </a:buClr>
              <a:buSzPts val="800"/>
              <a:buFont typeface="Arial"/>
              <a:buNone/>
              <a:defRPr b="0" i="0" sz="800" u="none" cap="none" strike="noStrike">
                <a:solidFill>
                  <a:srgbClr val="0C0C0C"/>
                </a:solidFill>
                <a:latin typeface="Twentieth Century"/>
                <a:ea typeface="Twentieth Century"/>
                <a:cs typeface="Twentieth Century"/>
                <a:sym typeface="Twentieth Century"/>
              </a:defRPr>
            </a:lvl1pPr>
            <a:lvl2pPr indent="0" lvl="1" marL="0" marR="0" algn="l">
              <a:lnSpc>
                <a:spcPct val="100000"/>
              </a:lnSpc>
              <a:spcBef>
                <a:spcPts val="0"/>
              </a:spcBef>
              <a:spcAft>
                <a:spcPts val="0"/>
              </a:spcAft>
              <a:buClr>
                <a:srgbClr val="000000"/>
              </a:buClr>
              <a:buSzPts val="800"/>
              <a:buFont typeface="Arial"/>
              <a:buNone/>
              <a:defRPr b="0" i="0" sz="800" u="none" cap="none" strike="noStrike">
                <a:solidFill>
                  <a:srgbClr val="0C0C0C"/>
                </a:solidFill>
                <a:latin typeface="Twentieth Century"/>
                <a:ea typeface="Twentieth Century"/>
                <a:cs typeface="Twentieth Century"/>
                <a:sym typeface="Twentieth Century"/>
              </a:defRPr>
            </a:lvl2pPr>
            <a:lvl3pPr indent="0" lvl="2" marL="0" marR="0" algn="l">
              <a:lnSpc>
                <a:spcPct val="100000"/>
              </a:lnSpc>
              <a:spcBef>
                <a:spcPts val="0"/>
              </a:spcBef>
              <a:spcAft>
                <a:spcPts val="0"/>
              </a:spcAft>
              <a:buClr>
                <a:srgbClr val="000000"/>
              </a:buClr>
              <a:buSzPts val="800"/>
              <a:buFont typeface="Arial"/>
              <a:buNone/>
              <a:defRPr b="0" i="0" sz="800" u="none" cap="none" strike="noStrike">
                <a:solidFill>
                  <a:srgbClr val="0C0C0C"/>
                </a:solidFill>
                <a:latin typeface="Twentieth Century"/>
                <a:ea typeface="Twentieth Century"/>
                <a:cs typeface="Twentieth Century"/>
                <a:sym typeface="Twentieth Century"/>
              </a:defRPr>
            </a:lvl3pPr>
            <a:lvl4pPr indent="0" lvl="3" marL="0" marR="0" algn="l">
              <a:lnSpc>
                <a:spcPct val="100000"/>
              </a:lnSpc>
              <a:spcBef>
                <a:spcPts val="0"/>
              </a:spcBef>
              <a:spcAft>
                <a:spcPts val="0"/>
              </a:spcAft>
              <a:buClr>
                <a:srgbClr val="000000"/>
              </a:buClr>
              <a:buSzPts val="800"/>
              <a:buFont typeface="Arial"/>
              <a:buNone/>
              <a:defRPr b="0" i="0" sz="800" u="none" cap="none" strike="noStrike">
                <a:solidFill>
                  <a:srgbClr val="0C0C0C"/>
                </a:solidFill>
                <a:latin typeface="Twentieth Century"/>
                <a:ea typeface="Twentieth Century"/>
                <a:cs typeface="Twentieth Century"/>
                <a:sym typeface="Twentieth Century"/>
              </a:defRPr>
            </a:lvl4pPr>
            <a:lvl5pPr indent="0" lvl="4" marL="0" marR="0" algn="l">
              <a:lnSpc>
                <a:spcPct val="100000"/>
              </a:lnSpc>
              <a:spcBef>
                <a:spcPts val="0"/>
              </a:spcBef>
              <a:spcAft>
                <a:spcPts val="0"/>
              </a:spcAft>
              <a:buClr>
                <a:srgbClr val="000000"/>
              </a:buClr>
              <a:buSzPts val="800"/>
              <a:buFont typeface="Arial"/>
              <a:buNone/>
              <a:defRPr b="0" i="0" sz="800" u="none" cap="none" strike="noStrike">
                <a:solidFill>
                  <a:srgbClr val="0C0C0C"/>
                </a:solidFill>
                <a:latin typeface="Twentieth Century"/>
                <a:ea typeface="Twentieth Century"/>
                <a:cs typeface="Twentieth Century"/>
                <a:sym typeface="Twentieth Century"/>
              </a:defRPr>
            </a:lvl5pPr>
            <a:lvl6pPr indent="0" lvl="5" marL="0" marR="0" algn="l">
              <a:lnSpc>
                <a:spcPct val="100000"/>
              </a:lnSpc>
              <a:spcBef>
                <a:spcPts val="0"/>
              </a:spcBef>
              <a:spcAft>
                <a:spcPts val="0"/>
              </a:spcAft>
              <a:buClr>
                <a:srgbClr val="000000"/>
              </a:buClr>
              <a:buSzPts val="800"/>
              <a:buFont typeface="Arial"/>
              <a:buNone/>
              <a:defRPr b="0" i="0" sz="800" u="none" cap="none" strike="noStrike">
                <a:solidFill>
                  <a:srgbClr val="0C0C0C"/>
                </a:solidFill>
                <a:latin typeface="Twentieth Century"/>
                <a:ea typeface="Twentieth Century"/>
                <a:cs typeface="Twentieth Century"/>
                <a:sym typeface="Twentieth Century"/>
              </a:defRPr>
            </a:lvl6pPr>
            <a:lvl7pPr indent="0" lvl="6" marL="0" marR="0" algn="l">
              <a:lnSpc>
                <a:spcPct val="100000"/>
              </a:lnSpc>
              <a:spcBef>
                <a:spcPts val="0"/>
              </a:spcBef>
              <a:spcAft>
                <a:spcPts val="0"/>
              </a:spcAft>
              <a:buClr>
                <a:srgbClr val="000000"/>
              </a:buClr>
              <a:buSzPts val="800"/>
              <a:buFont typeface="Arial"/>
              <a:buNone/>
              <a:defRPr b="0" i="0" sz="800" u="none" cap="none" strike="noStrike">
                <a:solidFill>
                  <a:srgbClr val="0C0C0C"/>
                </a:solidFill>
                <a:latin typeface="Twentieth Century"/>
                <a:ea typeface="Twentieth Century"/>
                <a:cs typeface="Twentieth Century"/>
                <a:sym typeface="Twentieth Century"/>
              </a:defRPr>
            </a:lvl7pPr>
            <a:lvl8pPr indent="0" lvl="7" marL="0" marR="0" algn="l">
              <a:lnSpc>
                <a:spcPct val="100000"/>
              </a:lnSpc>
              <a:spcBef>
                <a:spcPts val="0"/>
              </a:spcBef>
              <a:spcAft>
                <a:spcPts val="0"/>
              </a:spcAft>
              <a:buClr>
                <a:srgbClr val="000000"/>
              </a:buClr>
              <a:buSzPts val="800"/>
              <a:buFont typeface="Arial"/>
              <a:buNone/>
              <a:defRPr b="0" i="0" sz="800" u="none" cap="none" strike="noStrike">
                <a:solidFill>
                  <a:srgbClr val="0C0C0C"/>
                </a:solidFill>
                <a:latin typeface="Twentieth Century"/>
                <a:ea typeface="Twentieth Century"/>
                <a:cs typeface="Twentieth Century"/>
                <a:sym typeface="Twentieth Century"/>
              </a:defRPr>
            </a:lvl8pPr>
            <a:lvl9pPr indent="0" lvl="8" marL="0" marR="0" algn="l">
              <a:lnSpc>
                <a:spcPct val="100000"/>
              </a:lnSpc>
              <a:spcBef>
                <a:spcPts val="0"/>
              </a:spcBef>
              <a:spcAft>
                <a:spcPts val="0"/>
              </a:spcAft>
              <a:buClr>
                <a:srgbClr val="000000"/>
              </a:buClr>
              <a:buSzPts val="800"/>
              <a:buFont typeface="Arial"/>
              <a:buNone/>
              <a:defRPr b="0" i="0" sz="800" u="none" cap="none" strike="noStrike">
                <a:solidFill>
                  <a:srgbClr val="0C0C0C"/>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 Id="rId3"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 Id="rId3"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 Id="rId3"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 Id="rId3"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 Id="rId3"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Relationship Id="rId3"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768096" y="438912"/>
            <a:ext cx="7290000" cy="1124700"/>
          </a:xfrm>
          <a:prstGeom prst="rect">
            <a:avLst/>
          </a:prstGeom>
          <a:noFill/>
          <a:ln>
            <a:noFill/>
          </a:ln>
        </p:spPr>
        <p:txBody>
          <a:bodyPr anchorCtr="0" anchor="ctr" bIns="34275" lIns="68575" spcFirstLastPara="1" rIns="68575" wrap="square" tIns="34275">
            <a:normAutofit/>
          </a:bodyPr>
          <a:lstStyle/>
          <a:p>
            <a:pPr indent="0" lvl="0" marL="0" rtl="0" algn="ctr">
              <a:lnSpc>
                <a:spcPct val="80000"/>
              </a:lnSpc>
              <a:spcBef>
                <a:spcPts val="0"/>
              </a:spcBef>
              <a:spcAft>
                <a:spcPts val="0"/>
              </a:spcAft>
              <a:buClr>
                <a:schemeClr val="accent1"/>
              </a:buClr>
              <a:buSzPts val="2700"/>
              <a:buFont typeface="Twentieth Century"/>
              <a:buNone/>
            </a:pPr>
            <a:r>
              <a:rPr b="1" lang="en" sz="2700">
                <a:solidFill>
                  <a:schemeClr val="accent1"/>
                </a:solidFill>
              </a:rPr>
              <a:t>COURSE TITLE: ENTREPRENEURSHIP &amp; Technology Commercialization  </a:t>
            </a:r>
            <a:endParaRPr sz="2700">
              <a:solidFill>
                <a:schemeClr val="accent1"/>
              </a:solidFill>
            </a:endParaRPr>
          </a:p>
        </p:txBody>
      </p:sp>
      <p:sp>
        <p:nvSpPr>
          <p:cNvPr id="61" name="Google Shape;61;p14"/>
          <p:cNvSpPr txBox="1"/>
          <p:nvPr>
            <p:ph idx="1" type="body"/>
          </p:nvPr>
        </p:nvSpPr>
        <p:spPr>
          <a:xfrm>
            <a:off x="768096" y="1714500"/>
            <a:ext cx="7290000" cy="3017400"/>
          </a:xfrm>
          <a:prstGeom prst="rect">
            <a:avLst/>
          </a:prstGeom>
          <a:solidFill>
            <a:schemeClr val="lt1"/>
          </a:solidFill>
          <a:ln>
            <a:noFill/>
          </a:ln>
        </p:spPr>
        <p:txBody>
          <a:bodyPr anchorCtr="0" anchor="t" bIns="34275" lIns="34275" spcFirstLastPara="1" rIns="34275" wrap="square" tIns="34275">
            <a:normAutofit/>
          </a:bodyPr>
          <a:lstStyle/>
          <a:p>
            <a:pPr indent="0" lvl="0" marL="0" rtl="0" algn="ctr">
              <a:lnSpc>
                <a:spcPct val="90000"/>
              </a:lnSpc>
              <a:spcBef>
                <a:spcPts val="0"/>
              </a:spcBef>
              <a:spcAft>
                <a:spcPts val="0"/>
              </a:spcAft>
              <a:buSzPts val="1700"/>
              <a:buNone/>
            </a:pPr>
            <a:br>
              <a:rPr b="1" lang="en"/>
            </a:br>
            <a:r>
              <a:rPr b="1" lang="en"/>
              <a:t>Course Code: CS391</a:t>
            </a:r>
            <a:endParaRPr b="1"/>
          </a:p>
          <a:p>
            <a:pPr indent="0" lvl="0" marL="0" rtl="0" algn="ctr">
              <a:lnSpc>
                <a:spcPct val="90000"/>
              </a:lnSpc>
              <a:spcBef>
                <a:spcPts val="1100"/>
              </a:spcBef>
              <a:spcAft>
                <a:spcPts val="0"/>
              </a:spcAft>
              <a:buSzPts val="1700"/>
              <a:buNone/>
            </a:pPr>
            <a:br>
              <a:rPr b="1" lang="en"/>
            </a:br>
            <a:r>
              <a:rPr b="1" lang="en"/>
              <a:t>Course Instructor: Dr. Fahd S. Khan</a:t>
            </a:r>
            <a:br>
              <a:rPr b="1" lang="en"/>
            </a:br>
            <a:endParaRPr/>
          </a:p>
          <a:p>
            <a:pPr indent="0" lvl="0" marL="0" rtl="0" algn="ctr">
              <a:lnSpc>
                <a:spcPct val="90000"/>
              </a:lnSpc>
              <a:spcBef>
                <a:spcPts val="1100"/>
              </a:spcBef>
              <a:spcAft>
                <a:spcPts val="0"/>
              </a:spcAft>
              <a:buSzPts val="1700"/>
              <a:buNone/>
            </a:pPr>
            <a:r>
              <a:rPr b="1" lang="en"/>
              <a:t>Ghulam Ishaq Khan Institute Of Engineering Sciences and Technology</a:t>
            </a:r>
            <a:endParaRPr/>
          </a:p>
        </p:txBody>
      </p:sp>
      <p:pic>
        <p:nvPicPr>
          <p:cNvPr id="62" name="Google Shape;62;p14"/>
          <p:cNvPicPr preferRelativeResize="0"/>
          <p:nvPr/>
        </p:nvPicPr>
        <p:blipFill rotWithShape="1">
          <a:blip r:embed="rId3">
            <a:alphaModFix/>
          </a:blip>
          <a:srcRect b="0" l="0" r="0" t="0"/>
          <a:stretch/>
        </p:blipFill>
        <p:spPr>
          <a:xfrm>
            <a:off x="0" y="677"/>
            <a:ext cx="996554" cy="87647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
                                        </p:tgtEl>
                                        <p:attrNameLst>
                                          <p:attrName>style.visibility</p:attrName>
                                        </p:attrNameLst>
                                      </p:cBhvr>
                                      <p:to>
                                        <p:strVal val="visible"/>
                                      </p:to>
                                    </p:set>
                                    <p:animEffect filter="fade" transition="in">
                                      <p:cBhvr>
                                        <p:cTn dur="1000"/>
                                        <p:tgtEl>
                                          <p:spTgt spid="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
                                            <p:txEl>
                                              <p:pRg end="0" st="0"/>
                                            </p:txEl>
                                          </p:spTgt>
                                        </p:tgtEl>
                                        <p:attrNameLst>
                                          <p:attrName>style.visibility</p:attrName>
                                        </p:attrNameLst>
                                      </p:cBhvr>
                                      <p:to>
                                        <p:strVal val="visible"/>
                                      </p:to>
                                    </p:set>
                                    <p:animEffect filter="fade" transition="in">
                                      <p:cBhvr>
                                        <p:cTn dur="1000"/>
                                        <p:tgtEl>
                                          <p:spTgt spid="6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
                                            <p:txEl>
                                              <p:pRg end="1" st="1"/>
                                            </p:txEl>
                                          </p:spTgt>
                                        </p:tgtEl>
                                        <p:attrNameLst>
                                          <p:attrName>style.visibility</p:attrName>
                                        </p:attrNameLst>
                                      </p:cBhvr>
                                      <p:to>
                                        <p:strVal val="visible"/>
                                      </p:to>
                                    </p:set>
                                    <p:animEffect filter="fade" transition="in">
                                      <p:cBhvr>
                                        <p:cTn dur="1000"/>
                                        <p:tgtEl>
                                          <p:spTgt spid="6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
                                            <p:txEl>
                                              <p:pRg end="2" st="2"/>
                                            </p:txEl>
                                          </p:spTgt>
                                        </p:tgtEl>
                                        <p:attrNameLst>
                                          <p:attrName>style.visibility</p:attrName>
                                        </p:attrNameLst>
                                      </p:cBhvr>
                                      <p:to>
                                        <p:strVal val="visible"/>
                                      </p:to>
                                    </p:set>
                                    <p:animEffect filter="fade" transition="in">
                                      <p:cBhvr>
                                        <p:cTn dur="1000"/>
                                        <p:tgtEl>
                                          <p:spTgt spid="61">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pic>
        <p:nvPicPr>
          <p:cNvPr id="67" name="Google Shape;67;p15"/>
          <p:cNvPicPr preferRelativeResize="0"/>
          <p:nvPr/>
        </p:nvPicPr>
        <p:blipFill>
          <a:blip r:embed="rId3">
            <a:alphaModFix/>
          </a:blip>
          <a:stretch>
            <a:fillRect/>
          </a:stretch>
        </p:blipFill>
        <p:spPr>
          <a:xfrm>
            <a:off x="729025" y="129950"/>
            <a:ext cx="8257751" cy="54683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pic>
        <p:nvPicPr>
          <p:cNvPr id="73" name="Google Shape;73;p16" title="Screenshot 2025-10-15 16.48.15.png"/>
          <p:cNvPicPr preferRelativeResize="0"/>
          <p:nvPr/>
        </p:nvPicPr>
        <p:blipFill>
          <a:blip r:embed="rId3">
            <a:alphaModFix/>
          </a:blip>
          <a:stretch>
            <a:fillRect/>
          </a:stretch>
        </p:blipFill>
        <p:spPr>
          <a:xfrm>
            <a:off x="152400" y="152400"/>
            <a:ext cx="8482375" cy="48650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nvSpPr>
        <p:spPr>
          <a:xfrm>
            <a:off x="0" y="0"/>
            <a:ext cx="9144000" cy="992700"/>
          </a:xfrm>
          <a:prstGeom prst="rect">
            <a:avLst/>
          </a:prstGeom>
          <a:noFill/>
          <a:ln>
            <a:noFill/>
          </a:ln>
        </p:spPr>
        <p:txBody>
          <a:bodyPr anchorCtr="0" anchor="t" bIns="91425" lIns="91425" spcFirstLastPara="1" rIns="91425" wrap="square" tIns="91425">
            <a:spAutoFit/>
          </a:bodyPr>
          <a:lstStyle/>
          <a:p>
            <a:pPr indent="0" lvl="0" marL="0" rtl="0" algn="l">
              <a:lnSpc>
                <a:spcPct val="118750"/>
              </a:lnSpc>
              <a:spcBef>
                <a:spcPts val="2600"/>
              </a:spcBef>
              <a:spcAft>
                <a:spcPts val="900"/>
              </a:spcAft>
              <a:buNone/>
            </a:pPr>
            <a:r>
              <a:rPr b="1" lang="en" sz="2400">
                <a:solidFill>
                  <a:srgbClr val="1A202C"/>
                </a:solidFill>
                <a:highlight>
                  <a:srgbClr val="FFFFFF"/>
                </a:highlight>
              </a:rPr>
              <a:t>Is Lean Startup the right method for your business and what are the benefits?</a:t>
            </a:r>
            <a:endParaRPr b="1" sz="2400">
              <a:solidFill>
                <a:srgbClr val="1A202C"/>
              </a:solidFill>
              <a:highlight>
                <a:srgbClr val="FFFFFF"/>
              </a:highlight>
            </a:endParaRPr>
          </a:p>
        </p:txBody>
      </p:sp>
      <p:sp>
        <p:nvSpPr>
          <p:cNvPr id="79" name="Google Shape;79;p17"/>
          <p:cNvSpPr txBox="1"/>
          <p:nvPr/>
        </p:nvSpPr>
        <p:spPr>
          <a:xfrm>
            <a:off x="0" y="1119225"/>
            <a:ext cx="9144000" cy="3840300"/>
          </a:xfrm>
          <a:prstGeom prst="rect">
            <a:avLst/>
          </a:prstGeom>
          <a:noFill/>
          <a:ln>
            <a:noFill/>
          </a:ln>
        </p:spPr>
        <p:txBody>
          <a:bodyPr anchorCtr="0" anchor="t" bIns="91425" lIns="91425" spcFirstLastPara="1" rIns="91425" wrap="square" tIns="91425">
            <a:spAutoFit/>
          </a:bodyPr>
          <a:lstStyle/>
          <a:p>
            <a:pPr indent="-349250" lvl="0" marL="457200" rtl="0" algn="l">
              <a:lnSpc>
                <a:spcPct val="115000"/>
              </a:lnSpc>
              <a:spcBef>
                <a:spcPts val="0"/>
              </a:spcBef>
              <a:spcAft>
                <a:spcPts val="0"/>
              </a:spcAft>
              <a:buClr>
                <a:srgbClr val="2D3748"/>
              </a:buClr>
              <a:buSzPts val="1900"/>
              <a:buFont typeface="Roboto"/>
              <a:buChar char="●"/>
            </a:pPr>
            <a:r>
              <a:rPr b="1" lang="en" sz="1900">
                <a:solidFill>
                  <a:srgbClr val="2D3748"/>
                </a:solidFill>
                <a:highlight>
                  <a:srgbClr val="FFFFFF"/>
                </a:highlight>
                <a:latin typeface="Roboto"/>
                <a:ea typeface="Roboto"/>
                <a:cs typeface="Roboto"/>
                <a:sym typeface="Roboto"/>
              </a:rPr>
              <a:t>It saves time</a:t>
            </a:r>
            <a:r>
              <a:rPr lang="en" sz="1900">
                <a:solidFill>
                  <a:srgbClr val="2D3748"/>
                </a:solidFill>
                <a:highlight>
                  <a:srgbClr val="FFFFFF"/>
                </a:highlight>
                <a:latin typeface="Roboto"/>
                <a:ea typeface="Roboto"/>
                <a:cs typeface="Roboto"/>
                <a:sym typeface="Roboto"/>
              </a:rPr>
              <a:t>: Short development cycles mean a quicker product-market fit. The product and its functions are optimized for the market.</a:t>
            </a:r>
            <a:endParaRPr sz="1900">
              <a:solidFill>
                <a:srgbClr val="2D3748"/>
              </a:solidFill>
              <a:highlight>
                <a:srgbClr val="FFFFFF"/>
              </a:highlight>
              <a:latin typeface="Roboto"/>
              <a:ea typeface="Roboto"/>
              <a:cs typeface="Roboto"/>
              <a:sym typeface="Roboto"/>
            </a:endParaRPr>
          </a:p>
          <a:p>
            <a:pPr indent="-349250" lvl="0" marL="457200" rtl="0" algn="l">
              <a:lnSpc>
                <a:spcPct val="115000"/>
              </a:lnSpc>
              <a:spcBef>
                <a:spcPts val="0"/>
              </a:spcBef>
              <a:spcAft>
                <a:spcPts val="0"/>
              </a:spcAft>
              <a:buClr>
                <a:srgbClr val="2D3748"/>
              </a:buClr>
              <a:buSzPts val="1900"/>
              <a:buFont typeface="Roboto"/>
              <a:buChar char="●"/>
            </a:pPr>
            <a:r>
              <a:rPr b="1" lang="en" sz="1900">
                <a:solidFill>
                  <a:srgbClr val="2D3748"/>
                </a:solidFill>
                <a:highlight>
                  <a:srgbClr val="FFFFFF"/>
                </a:highlight>
                <a:latin typeface="Roboto"/>
                <a:ea typeface="Roboto"/>
                <a:cs typeface="Roboto"/>
                <a:sym typeface="Roboto"/>
              </a:rPr>
              <a:t>It minimizes waste</a:t>
            </a:r>
            <a:r>
              <a:rPr lang="en" sz="1900">
                <a:solidFill>
                  <a:srgbClr val="2D3748"/>
                </a:solidFill>
                <a:highlight>
                  <a:srgbClr val="FFFFFF"/>
                </a:highlight>
                <a:latin typeface="Roboto"/>
                <a:ea typeface="Roboto"/>
                <a:cs typeface="Roboto"/>
                <a:sym typeface="Roboto"/>
              </a:rPr>
              <a:t>: The Lean Startup method streamlines business activities and allocates financial resources efficiently.</a:t>
            </a:r>
            <a:endParaRPr sz="1900">
              <a:solidFill>
                <a:srgbClr val="2D3748"/>
              </a:solidFill>
              <a:highlight>
                <a:srgbClr val="FFFFFF"/>
              </a:highlight>
              <a:latin typeface="Roboto"/>
              <a:ea typeface="Roboto"/>
              <a:cs typeface="Roboto"/>
              <a:sym typeface="Roboto"/>
            </a:endParaRPr>
          </a:p>
          <a:p>
            <a:pPr indent="-349250" lvl="0" marL="457200" rtl="0" algn="l">
              <a:lnSpc>
                <a:spcPct val="115000"/>
              </a:lnSpc>
              <a:spcBef>
                <a:spcPts val="0"/>
              </a:spcBef>
              <a:spcAft>
                <a:spcPts val="0"/>
              </a:spcAft>
              <a:buClr>
                <a:srgbClr val="2D3748"/>
              </a:buClr>
              <a:buSzPts val="1900"/>
              <a:buFont typeface="Roboto"/>
              <a:buChar char="●"/>
            </a:pPr>
            <a:r>
              <a:rPr b="1" lang="en" sz="1900">
                <a:solidFill>
                  <a:srgbClr val="2D3748"/>
                </a:solidFill>
                <a:highlight>
                  <a:srgbClr val="FFFFFF"/>
                </a:highlight>
                <a:latin typeface="Roboto"/>
                <a:ea typeface="Roboto"/>
                <a:cs typeface="Roboto"/>
                <a:sym typeface="Roboto"/>
              </a:rPr>
              <a:t>It reduces risk</a:t>
            </a:r>
            <a:r>
              <a:rPr lang="en" sz="1900">
                <a:solidFill>
                  <a:srgbClr val="2D3748"/>
                </a:solidFill>
                <a:highlight>
                  <a:srgbClr val="FFFFFF"/>
                </a:highlight>
                <a:latin typeface="Roboto"/>
                <a:ea typeface="Roboto"/>
                <a:cs typeface="Roboto"/>
                <a:sym typeface="Roboto"/>
              </a:rPr>
              <a:t>: By introducing a minimum viable product (MVP) to customers for feedback, companies can avoid high failure rates and reduce risk.</a:t>
            </a:r>
            <a:endParaRPr sz="1900">
              <a:solidFill>
                <a:srgbClr val="2D3748"/>
              </a:solidFill>
              <a:highlight>
                <a:srgbClr val="FFFFFF"/>
              </a:highlight>
              <a:latin typeface="Roboto"/>
              <a:ea typeface="Roboto"/>
              <a:cs typeface="Roboto"/>
              <a:sym typeface="Roboto"/>
            </a:endParaRPr>
          </a:p>
          <a:p>
            <a:pPr indent="-349250" lvl="0" marL="457200" rtl="0" algn="l">
              <a:lnSpc>
                <a:spcPct val="115000"/>
              </a:lnSpc>
              <a:spcBef>
                <a:spcPts val="0"/>
              </a:spcBef>
              <a:spcAft>
                <a:spcPts val="0"/>
              </a:spcAft>
              <a:buClr>
                <a:srgbClr val="2D3748"/>
              </a:buClr>
              <a:buSzPts val="1900"/>
              <a:buFont typeface="Roboto"/>
              <a:buChar char="●"/>
            </a:pPr>
            <a:r>
              <a:rPr b="1" lang="en" sz="1900">
                <a:solidFill>
                  <a:srgbClr val="2D3748"/>
                </a:solidFill>
                <a:highlight>
                  <a:srgbClr val="FFFFFF"/>
                </a:highlight>
                <a:latin typeface="Roboto"/>
                <a:ea typeface="Roboto"/>
                <a:cs typeface="Roboto"/>
                <a:sym typeface="Roboto"/>
              </a:rPr>
              <a:t>It’s a systematic approach</a:t>
            </a:r>
            <a:r>
              <a:rPr lang="en" sz="1900">
                <a:solidFill>
                  <a:srgbClr val="2D3748"/>
                </a:solidFill>
                <a:highlight>
                  <a:srgbClr val="FFFFFF"/>
                </a:highlight>
                <a:latin typeface="Roboto"/>
                <a:ea typeface="Roboto"/>
                <a:cs typeface="Roboto"/>
                <a:sym typeface="Roboto"/>
              </a:rPr>
              <a:t>: Lean Startup’s clearly defined process involves learning through feedback and improving through metrics-driven testing.</a:t>
            </a:r>
            <a:endParaRPr sz="1900">
              <a:solidFill>
                <a:srgbClr val="2D3748"/>
              </a:solidFill>
              <a:highlight>
                <a:srgbClr val="FFFFFF"/>
              </a:highlight>
              <a:latin typeface="Roboto"/>
              <a:ea typeface="Roboto"/>
              <a:cs typeface="Roboto"/>
              <a:sym typeface="Roboto"/>
            </a:endParaRPr>
          </a:p>
          <a:p>
            <a:pPr indent="-349250" lvl="0" marL="457200" rtl="0" algn="l">
              <a:lnSpc>
                <a:spcPct val="115000"/>
              </a:lnSpc>
              <a:spcBef>
                <a:spcPts val="0"/>
              </a:spcBef>
              <a:spcAft>
                <a:spcPts val="0"/>
              </a:spcAft>
              <a:buClr>
                <a:srgbClr val="2D3748"/>
              </a:buClr>
              <a:buSzPts val="1900"/>
              <a:buFont typeface="Roboto"/>
              <a:buChar char="●"/>
            </a:pPr>
            <a:r>
              <a:rPr b="1" lang="en" sz="1900">
                <a:solidFill>
                  <a:srgbClr val="2D3748"/>
                </a:solidFill>
                <a:highlight>
                  <a:srgbClr val="FFFFFF"/>
                </a:highlight>
                <a:latin typeface="Roboto"/>
                <a:ea typeface="Roboto"/>
                <a:cs typeface="Roboto"/>
                <a:sym typeface="Roboto"/>
              </a:rPr>
              <a:t>It provides a sustainable business model</a:t>
            </a:r>
            <a:r>
              <a:rPr lang="en" sz="1900">
                <a:solidFill>
                  <a:srgbClr val="2D3748"/>
                </a:solidFill>
                <a:highlight>
                  <a:srgbClr val="FFFFFF"/>
                </a:highlight>
                <a:latin typeface="Roboto"/>
                <a:ea typeface="Roboto"/>
                <a:cs typeface="Roboto"/>
                <a:sym typeface="Roboto"/>
              </a:rPr>
              <a:t>: One of the goals of Lean Startup is to develop a business model that guarantees sustainable growth and long-term competitiveness.</a:t>
            </a:r>
            <a:endParaRPr sz="1900">
              <a:solidFill>
                <a:srgbClr val="2D3748"/>
              </a:solidFill>
              <a:highlight>
                <a:srgbClr val="FFFFFF"/>
              </a:highlight>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8"/>
          <p:cNvPicPr preferRelativeResize="0"/>
          <p:nvPr/>
        </p:nvPicPr>
        <p:blipFill>
          <a:blip r:embed="rId3">
            <a:alphaModFix/>
          </a:blip>
          <a:stretch>
            <a:fillRect/>
          </a:stretch>
        </p:blipFill>
        <p:spPr>
          <a:xfrm>
            <a:off x="938525" y="152400"/>
            <a:ext cx="7786074" cy="4838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9"/>
          <p:cNvPicPr preferRelativeResize="0"/>
          <p:nvPr/>
        </p:nvPicPr>
        <p:blipFill>
          <a:blip r:embed="rId3">
            <a:alphaModFix/>
          </a:blip>
          <a:stretch>
            <a:fillRect/>
          </a:stretch>
        </p:blipFill>
        <p:spPr>
          <a:xfrm>
            <a:off x="725923" y="266700"/>
            <a:ext cx="7841451" cy="46101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p20"/>
          <p:cNvPicPr preferRelativeResize="0"/>
          <p:nvPr/>
        </p:nvPicPr>
        <p:blipFill>
          <a:blip r:embed="rId3">
            <a:alphaModFix/>
          </a:blip>
          <a:stretch>
            <a:fillRect/>
          </a:stretch>
        </p:blipFill>
        <p:spPr>
          <a:xfrm>
            <a:off x="566650" y="268500"/>
            <a:ext cx="8010700" cy="4606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p21"/>
          <p:cNvPicPr preferRelativeResize="0"/>
          <p:nvPr/>
        </p:nvPicPr>
        <p:blipFill>
          <a:blip r:embed="rId3">
            <a:alphaModFix/>
          </a:blip>
          <a:stretch>
            <a:fillRect/>
          </a:stretch>
        </p:blipFill>
        <p:spPr>
          <a:xfrm>
            <a:off x="488038" y="152400"/>
            <a:ext cx="8167926" cy="4838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2"/>
          <p:cNvSpPr txBox="1"/>
          <p:nvPr/>
        </p:nvSpPr>
        <p:spPr>
          <a:xfrm>
            <a:off x="0" y="0"/>
            <a:ext cx="8230500" cy="554100"/>
          </a:xfrm>
          <a:prstGeom prst="rect">
            <a:avLst/>
          </a:prstGeom>
          <a:noFill/>
          <a:ln>
            <a:noFill/>
          </a:ln>
        </p:spPr>
        <p:txBody>
          <a:bodyPr anchorCtr="0" anchor="t" bIns="91425" lIns="91425" spcFirstLastPara="1" rIns="91425" wrap="square" tIns="91425">
            <a:spAutoFit/>
          </a:bodyPr>
          <a:lstStyle/>
          <a:p>
            <a:pPr indent="0" lvl="0" marL="0" rtl="0" algn="l">
              <a:lnSpc>
                <a:spcPct val="118750"/>
              </a:lnSpc>
              <a:spcBef>
                <a:spcPts val="2600"/>
              </a:spcBef>
              <a:spcAft>
                <a:spcPts val="900"/>
              </a:spcAft>
              <a:buNone/>
            </a:pPr>
            <a:r>
              <a:rPr b="1" lang="en" sz="2400">
                <a:solidFill>
                  <a:srgbClr val="1A202C"/>
                </a:solidFill>
                <a:highlight>
                  <a:srgbClr val="FFFFFF"/>
                </a:highlight>
              </a:rPr>
              <a:t>The Build-Measure-Learn feedback loop</a:t>
            </a:r>
            <a:endParaRPr b="1" sz="2400">
              <a:solidFill>
                <a:srgbClr val="1A202C"/>
              </a:solidFill>
              <a:highlight>
                <a:srgbClr val="FFFFFF"/>
              </a:highlight>
            </a:endParaRPr>
          </a:p>
        </p:txBody>
      </p:sp>
      <p:sp>
        <p:nvSpPr>
          <p:cNvPr id="105" name="Google Shape;105;p22"/>
          <p:cNvSpPr txBox="1"/>
          <p:nvPr/>
        </p:nvSpPr>
        <p:spPr>
          <a:xfrm>
            <a:off x="52500" y="733775"/>
            <a:ext cx="90390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u="sng">
                <a:solidFill>
                  <a:srgbClr val="2D3748"/>
                </a:solidFill>
                <a:highlight>
                  <a:srgbClr val="FFFFFF"/>
                </a:highlight>
                <a:latin typeface="Roboto"/>
                <a:ea typeface="Roboto"/>
                <a:cs typeface="Roboto"/>
                <a:sym typeface="Roboto"/>
              </a:rPr>
              <a:t>BUILD</a:t>
            </a:r>
            <a:endParaRPr b="1" sz="1600" u="sng">
              <a:solidFill>
                <a:srgbClr val="2D3748"/>
              </a:solidFill>
              <a:highlight>
                <a:srgbClr val="FFFFFF"/>
              </a:highlight>
              <a:latin typeface="Roboto"/>
              <a:ea typeface="Roboto"/>
              <a:cs typeface="Roboto"/>
              <a:sym typeface="Roboto"/>
            </a:endParaRPr>
          </a:p>
          <a:p>
            <a:pPr indent="0" lvl="0" marL="0" rtl="0" algn="l">
              <a:spcBef>
                <a:spcPts val="0"/>
              </a:spcBef>
              <a:spcAft>
                <a:spcPts val="0"/>
              </a:spcAft>
              <a:buNone/>
            </a:pPr>
            <a:r>
              <a:t/>
            </a:r>
            <a:endParaRPr b="1" sz="1600" u="sng">
              <a:solidFill>
                <a:srgbClr val="2D3748"/>
              </a:solidFill>
              <a:highlight>
                <a:srgbClr val="FFFFFF"/>
              </a:highlight>
              <a:latin typeface="Roboto"/>
              <a:ea typeface="Roboto"/>
              <a:cs typeface="Roboto"/>
              <a:sym typeface="Roboto"/>
            </a:endParaRPr>
          </a:p>
          <a:p>
            <a:pPr indent="0" lvl="0" marL="0" rtl="0" algn="l">
              <a:spcBef>
                <a:spcPts val="0"/>
              </a:spcBef>
              <a:spcAft>
                <a:spcPts val="0"/>
              </a:spcAft>
              <a:buNone/>
            </a:pPr>
            <a:r>
              <a:rPr lang="en" sz="1600">
                <a:solidFill>
                  <a:srgbClr val="2D3748"/>
                </a:solidFill>
                <a:highlight>
                  <a:srgbClr val="FFFFFF"/>
                </a:highlight>
                <a:latin typeface="Roboto"/>
                <a:ea typeface="Roboto"/>
                <a:cs typeface="Roboto"/>
                <a:sym typeface="Roboto"/>
              </a:rPr>
              <a:t>In the first phase of the cycle, </a:t>
            </a:r>
            <a:r>
              <a:rPr b="1" lang="en" sz="1600">
                <a:solidFill>
                  <a:srgbClr val="2D3748"/>
                </a:solidFill>
                <a:highlight>
                  <a:srgbClr val="FFFFFF"/>
                </a:highlight>
                <a:latin typeface="Roboto"/>
                <a:ea typeface="Roboto"/>
                <a:cs typeface="Roboto"/>
                <a:sym typeface="Roboto"/>
              </a:rPr>
              <a:t>everything revolves around the future product</a:t>
            </a:r>
            <a:r>
              <a:rPr lang="en" sz="1600">
                <a:solidFill>
                  <a:srgbClr val="2D3748"/>
                </a:solidFill>
                <a:highlight>
                  <a:srgbClr val="FFFFFF"/>
                </a:highlight>
                <a:latin typeface="Roboto"/>
                <a:ea typeface="Roboto"/>
                <a:cs typeface="Roboto"/>
                <a:sym typeface="Roboto"/>
              </a:rPr>
              <a:t>. It’ s not about producing a perfect product; the primary goal of this phase is to bring the product to market quickly and in doing so, minimize the process throughput time.</a:t>
            </a:r>
            <a:endParaRPr sz="1700"/>
          </a:p>
        </p:txBody>
      </p:sp>
      <p:sp>
        <p:nvSpPr>
          <p:cNvPr id="106" name="Google Shape;106;p22"/>
          <p:cNvSpPr txBox="1"/>
          <p:nvPr/>
        </p:nvSpPr>
        <p:spPr>
          <a:xfrm>
            <a:off x="0" y="2083150"/>
            <a:ext cx="9144000" cy="1520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500" u="sng">
                <a:solidFill>
                  <a:srgbClr val="2D3748"/>
                </a:solidFill>
                <a:highlight>
                  <a:srgbClr val="FFFFFF"/>
                </a:highlight>
                <a:latin typeface="Roboto"/>
                <a:ea typeface="Roboto"/>
                <a:cs typeface="Roboto"/>
                <a:sym typeface="Roboto"/>
              </a:rPr>
              <a:t>MEASURE</a:t>
            </a:r>
            <a:endParaRPr b="1" sz="1500" u="sng">
              <a:solidFill>
                <a:srgbClr val="2D3748"/>
              </a:solidFill>
              <a:highlight>
                <a:srgbClr val="FFFFFF"/>
              </a:highlight>
              <a:latin typeface="Roboto"/>
              <a:ea typeface="Roboto"/>
              <a:cs typeface="Roboto"/>
              <a:sym typeface="Roboto"/>
            </a:endParaRPr>
          </a:p>
          <a:p>
            <a:pPr indent="0" lvl="0" marL="0" rtl="0" algn="l">
              <a:lnSpc>
                <a:spcPct val="115000"/>
              </a:lnSpc>
              <a:spcBef>
                <a:spcPts val="2400"/>
              </a:spcBef>
              <a:spcAft>
                <a:spcPts val="2400"/>
              </a:spcAft>
              <a:buNone/>
            </a:pPr>
            <a:r>
              <a:rPr lang="en" sz="1500">
                <a:solidFill>
                  <a:srgbClr val="2D3748"/>
                </a:solidFill>
                <a:highlight>
                  <a:srgbClr val="FFFFFF"/>
                </a:highlight>
                <a:latin typeface="Roboto"/>
                <a:ea typeface="Roboto"/>
                <a:cs typeface="Roboto"/>
                <a:sym typeface="Roboto"/>
              </a:rPr>
              <a:t>This is when </a:t>
            </a:r>
            <a:r>
              <a:rPr b="1" lang="en" sz="1500">
                <a:solidFill>
                  <a:srgbClr val="2D3748"/>
                </a:solidFill>
                <a:highlight>
                  <a:srgbClr val="FFFFFF"/>
                </a:highlight>
                <a:latin typeface="Roboto"/>
                <a:ea typeface="Roboto"/>
                <a:cs typeface="Roboto"/>
                <a:sym typeface="Roboto"/>
              </a:rPr>
              <a:t>customer feedback and reactions are collected</a:t>
            </a:r>
            <a:r>
              <a:rPr lang="en" sz="1500">
                <a:solidFill>
                  <a:srgbClr val="2D3748"/>
                </a:solidFill>
                <a:highlight>
                  <a:srgbClr val="FFFFFF"/>
                </a:highlight>
                <a:latin typeface="Roboto"/>
                <a:ea typeface="Roboto"/>
                <a:cs typeface="Roboto"/>
                <a:sym typeface="Roboto"/>
              </a:rPr>
              <a:t>. This data can be used to analyze and evaluate the product idea and its practical implementation. To keep this phase of the loop short, </a:t>
            </a:r>
            <a:r>
              <a:rPr b="1" lang="en" sz="1500">
                <a:solidFill>
                  <a:srgbClr val="2D3748"/>
                </a:solidFill>
                <a:highlight>
                  <a:srgbClr val="FFFFFF"/>
                </a:highlight>
                <a:latin typeface="Roboto"/>
                <a:ea typeface="Roboto"/>
                <a:cs typeface="Roboto"/>
                <a:sym typeface="Roboto"/>
              </a:rPr>
              <a:t>parameters for the data should be defined</a:t>
            </a:r>
            <a:r>
              <a:rPr lang="en" sz="1500">
                <a:solidFill>
                  <a:srgbClr val="2D3748"/>
                </a:solidFill>
                <a:highlight>
                  <a:srgbClr val="FFFFFF"/>
                </a:highlight>
                <a:latin typeface="Roboto"/>
                <a:ea typeface="Roboto"/>
                <a:cs typeface="Roboto"/>
                <a:sym typeface="Roboto"/>
              </a:rPr>
              <a:t> and set prior to market launch. </a:t>
            </a:r>
            <a:endParaRPr sz="1500">
              <a:solidFill>
                <a:srgbClr val="2D3748"/>
              </a:solidFill>
              <a:highlight>
                <a:srgbClr val="FFFFFF"/>
              </a:highlight>
              <a:latin typeface="Roboto"/>
              <a:ea typeface="Roboto"/>
              <a:cs typeface="Roboto"/>
              <a:sym typeface="Roboto"/>
            </a:endParaRPr>
          </a:p>
        </p:txBody>
      </p:sp>
      <p:sp>
        <p:nvSpPr>
          <p:cNvPr id="107" name="Google Shape;107;p22"/>
          <p:cNvSpPr txBox="1"/>
          <p:nvPr/>
        </p:nvSpPr>
        <p:spPr>
          <a:xfrm>
            <a:off x="52500" y="3603250"/>
            <a:ext cx="9039000" cy="1588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600" u="sng">
                <a:solidFill>
                  <a:srgbClr val="2D3748"/>
                </a:solidFill>
                <a:highlight>
                  <a:srgbClr val="FFFFFF"/>
                </a:highlight>
                <a:latin typeface="Roboto"/>
                <a:ea typeface="Roboto"/>
                <a:cs typeface="Roboto"/>
                <a:sym typeface="Roboto"/>
              </a:rPr>
              <a:t>LEARN</a:t>
            </a:r>
            <a:endParaRPr b="1" sz="1600" u="sng">
              <a:solidFill>
                <a:srgbClr val="2D3748"/>
              </a:solidFill>
              <a:highlight>
                <a:srgbClr val="FFFFFF"/>
              </a:highlight>
              <a:latin typeface="Roboto"/>
              <a:ea typeface="Roboto"/>
              <a:cs typeface="Roboto"/>
              <a:sym typeface="Roboto"/>
            </a:endParaRPr>
          </a:p>
          <a:p>
            <a:pPr indent="0" lvl="0" marL="0" rtl="0" algn="l">
              <a:lnSpc>
                <a:spcPct val="115000"/>
              </a:lnSpc>
              <a:spcBef>
                <a:spcPts val="2400"/>
              </a:spcBef>
              <a:spcAft>
                <a:spcPts val="2400"/>
              </a:spcAft>
              <a:buNone/>
            </a:pPr>
            <a:r>
              <a:rPr lang="en" sz="1600">
                <a:solidFill>
                  <a:srgbClr val="2D3748"/>
                </a:solidFill>
                <a:highlight>
                  <a:srgbClr val="FFFFFF"/>
                </a:highlight>
                <a:latin typeface="Roboto"/>
                <a:ea typeface="Roboto"/>
                <a:cs typeface="Roboto"/>
                <a:sym typeface="Roboto"/>
              </a:rPr>
              <a:t>The Learn phase is about</a:t>
            </a:r>
            <a:r>
              <a:rPr b="1" lang="en" sz="1600">
                <a:solidFill>
                  <a:srgbClr val="2D3748"/>
                </a:solidFill>
                <a:highlight>
                  <a:srgbClr val="FFFFFF"/>
                </a:highlight>
                <a:latin typeface="Roboto"/>
                <a:ea typeface="Roboto"/>
                <a:cs typeface="Roboto"/>
                <a:sym typeface="Roboto"/>
              </a:rPr>
              <a:t> validated learning</a:t>
            </a:r>
            <a:r>
              <a:rPr lang="en" sz="1600">
                <a:solidFill>
                  <a:srgbClr val="2D3748"/>
                </a:solidFill>
                <a:highlight>
                  <a:srgbClr val="FFFFFF"/>
                </a:highlight>
                <a:latin typeface="Roboto"/>
                <a:ea typeface="Roboto"/>
                <a:cs typeface="Roboto"/>
                <a:sym typeface="Roboto"/>
              </a:rPr>
              <a:t>. Assumptions about the product are checked against the collected data. The blind assumptions made at the beginning of the process are replaced by hypotheses. Two options:.</a:t>
            </a:r>
            <a:r>
              <a:rPr b="1" lang="en" sz="1600">
                <a:solidFill>
                  <a:srgbClr val="2D3748"/>
                </a:solidFill>
                <a:highlight>
                  <a:srgbClr val="FFFFFF"/>
                </a:highlight>
                <a:latin typeface="Roboto"/>
                <a:ea typeface="Roboto"/>
                <a:cs typeface="Roboto"/>
                <a:sym typeface="Roboto"/>
              </a:rPr>
              <a:t>Continue development or start from scratch.</a:t>
            </a:r>
            <a:endParaRPr b="1" sz="1600">
              <a:solidFill>
                <a:srgbClr val="2D3748"/>
              </a:solidFill>
              <a:highlight>
                <a:srgbClr val="FFFFFF"/>
              </a:highlight>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p23"/>
          <p:cNvPicPr preferRelativeResize="0"/>
          <p:nvPr/>
        </p:nvPicPr>
        <p:blipFill rotWithShape="1">
          <a:blip r:embed="rId3">
            <a:alphaModFix/>
          </a:blip>
          <a:srcRect b="0" l="8558" r="0" t="0"/>
          <a:stretch/>
        </p:blipFill>
        <p:spPr>
          <a:xfrm>
            <a:off x="391700" y="152400"/>
            <a:ext cx="7838776" cy="48387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4"/>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pic>
        <p:nvPicPr>
          <p:cNvPr id="118" name="Google Shape;118;p24" title="Screenshot 2025-10-15 16.47.41.png"/>
          <p:cNvPicPr preferRelativeResize="0"/>
          <p:nvPr/>
        </p:nvPicPr>
        <p:blipFill>
          <a:blip r:embed="rId3">
            <a:alphaModFix/>
          </a:blip>
          <a:stretch>
            <a:fillRect/>
          </a:stretch>
        </p:blipFill>
        <p:spPr>
          <a:xfrm>
            <a:off x="311700" y="304800"/>
            <a:ext cx="8300601" cy="45308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p25"/>
          <p:cNvPicPr preferRelativeResize="0"/>
          <p:nvPr/>
        </p:nvPicPr>
        <p:blipFill>
          <a:blip r:embed="rId3">
            <a:alphaModFix/>
          </a:blip>
          <a:stretch>
            <a:fillRect/>
          </a:stretch>
        </p:blipFill>
        <p:spPr>
          <a:xfrm>
            <a:off x="409425" y="342900"/>
            <a:ext cx="8325149" cy="4457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id="128" name="Google Shape;128;p26"/>
          <p:cNvPicPr preferRelativeResize="0"/>
          <p:nvPr/>
        </p:nvPicPr>
        <p:blipFill>
          <a:blip r:embed="rId3">
            <a:alphaModFix/>
          </a:blip>
          <a:stretch>
            <a:fillRect/>
          </a:stretch>
        </p:blipFill>
        <p:spPr>
          <a:xfrm>
            <a:off x="646550" y="152400"/>
            <a:ext cx="8235299" cy="48387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7"/>
          <p:cNvSpPr txBox="1"/>
          <p:nvPr/>
        </p:nvSpPr>
        <p:spPr>
          <a:xfrm>
            <a:off x="0" y="0"/>
            <a:ext cx="8926800" cy="554100"/>
          </a:xfrm>
          <a:prstGeom prst="rect">
            <a:avLst/>
          </a:prstGeom>
          <a:noFill/>
          <a:ln>
            <a:noFill/>
          </a:ln>
        </p:spPr>
        <p:txBody>
          <a:bodyPr anchorCtr="0" anchor="t" bIns="91425" lIns="91425" spcFirstLastPara="1" rIns="91425" wrap="square" tIns="91425">
            <a:spAutoFit/>
          </a:bodyPr>
          <a:lstStyle/>
          <a:p>
            <a:pPr indent="0" lvl="0" marL="0" rtl="0" algn="l">
              <a:lnSpc>
                <a:spcPct val="118750"/>
              </a:lnSpc>
              <a:spcBef>
                <a:spcPts val="2600"/>
              </a:spcBef>
              <a:spcAft>
                <a:spcPts val="900"/>
              </a:spcAft>
              <a:buNone/>
            </a:pPr>
            <a:r>
              <a:rPr b="1" lang="en" sz="2400">
                <a:solidFill>
                  <a:srgbClr val="1A202C"/>
                </a:solidFill>
                <a:highlight>
                  <a:srgbClr val="FFFFFF"/>
                </a:highlight>
              </a:rPr>
              <a:t>Gaining knowledge with the minimum viable product (MVP)</a:t>
            </a:r>
            <a:endParaRPr b="1" sz="2400">
              <a:solidFill>
                <a:srgbClr val="1A202C"/>
              </a:solidFill>
              <a:highlight>
                <a:srgbClr val="FFFFFF"/>
              </a:highlight>
            </a:endParaRPr>
          </a:p>
        </p:txBody>
      </p:sp>
      <p:sp>
        <p:nvSpPr>
          <p:cNvPr id="134" name="Google Shape;134;p27"/>
          <p:cNvSpPr txBox="1"/>
          <p:nvPr/>
        </p:nvSpPr>
        <p:spPr>
          <a:xfrm>
            <a:off x="0" y="574200"/>
            <a:ext cx="9144000" cy="4242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rgbClr val="2D3748"/>
                </a:solidFill>
                <a:highlight>
                  <a:srgbClr val="FFFFFF"/>
                </a:highlight>
                <a:latin typeface="Roboto"/>
                <a:ea typeface="Roboto"/>
                <a:cs typeface="Roboto"/>
                <a:sym typeface="Roboto"/>
              </a:rPr>
              <a:t> This means that the product should contain </a:t>
            </a:r>
            <a:r>
              <a:rPr b="1" lang="en" sz="1800">
                <a:solidFill>
                  <a:srgbClr val="2D3748"/>
                </a:solidFill>
                <a:highlight>
                  <a:srgbClr val="FFFFFF"/>
                </a:highlight>
                <a:latin typeface="Roboto"/>
                <a:ea typeface="Roboto"/>
                <a:cs typeface="Roboto"/>
                <a:sym typeface="Roboto"/>
              </a:rPr>
              <a:t>only a few basic functions</a:t>
            </a:r>
            <a:r>
              <a:rPr lang="en" sz="1800">
                <a:solidFill>
                  <a:srgbClr val="2D3748"/>
                </a:solidFill>
                <a:highlight>
                  <a:srgbClr val="FFFFFF"/>
                </a:highlight>
                <a:latin typeface="Roboto"/>
                <a:ea typeface="Roboto"/>
                <a:cs typeface="Roboto"/>
                <a:sym typeface="Roboto"/>
              </a:rPr>
              <a:t>. Before developing an MVP, the company needs to identify the most important problems of the customer group. Then a solution-oriented product can be developed. The MVP can be characterized as follows:</a:t>
            </a:r>
            <a:endParaRPr sz="1800">
              <a:solidFill>
                <a:srgbClr val="2D3748"/>
              </a:solidFill>
              <a:highlight>
                <a:srgbClr val="FFFFFF"/>
              </a:highlight>
              <a:latin typeface="Roboto"/>
              <a:ea typeface="Roboto"/>
              <a:cs typeface="Roboto"/>
              <a:sym typeface="Roboto"/>
            </a:endParaRPr>
          </a:p>
          <a:p>
            <a:pPr indent="0" lvl="0" marL="0" rtl="0" algn="l">
              <a:lnSpc>
                <a:spcPct val="115000"/>
              </a:lnSpc>
              <a:spcBef>
                <a:spcPts val="2400"/>
              </a:spcBef>
              <a:spcAft>
                <a:spcPts val="0"/>
              </a:spcAft>
              <a:buNone/>
            </a:pPr>
            <a:r>
              <a:rPr b="1" lang="en" sz="1800">
                <a:solidFill>
                  <a:srgbClr val="2D3748"/>
                </a:solidFill>
                <a:highlight>
                  <a:srgbClr val="FFFFFF"/>
                </a:highlight>
                <a:latin typeface="Roboto"/>
                <a:ea typeface="Roboto"/>
                <a:cs typeface="Roboto"/>
                <a:sym typeface="Roboto"/>
              </a:rPr>
              <a:t>Minimum: </a:t>
            </a:r>
            <a:r>
              <a:rPr lang="en" sz="1800">
                <a:solidFill>
                  <a:srgbClr val="2D3748"/>
                </a:solidFill>
                <a:highlight>
                  <a:srgbClr val="FFFFFF"/>
                </a:highlight>
                <a:latin typeface="Roboto"/>
                <a:ea typeface="Roboto"/>
                <a:cs typeface="Roboto"/>
                <a:sym typeface="Roboto"/>
              </a:rPr>
              <a:t>The most stripped-down solution to the problem.</a:t>
            </a:r>
            <a:endParaRPr sz="1800">
              <a:solidFill>
                <a:srgbClr val="2D3748"/>
              </a:solidFill>
              <a:highlight>
                <a:srgbClr val="FFFFFF"/>
              </a:highlight>
              <a:latin typeface="Roboto"/>
              <a:ea typeface="Roboto"/>
              <a:cs typeface="Roboto"/>
              <a:sym typeface="Roboto"/>
            </a:endParaRPr>
          </a:p>
          <a:p>
            <a:pPr indent="0" lvl="0" marL="0" rtl="0" algn="l">
              <a:lnSpc>
                <a:spcPct val="115000"/>
              </a:lnSpc>
              <a:spcBef>
                <a:spcPts val="2400"/>
              </a:spcBef>
              <a:spcAft>
                <a:spcPts val="0"/>
              </a:spcAft>
              <a:buNone/>
            </a:pPr>
            <a:r>
              <a:rPr b="1" lang="en" sz="1800">
                <a:solidFill>
                  <a:srgbClr val="2D3748"/>
                </a:solidFill>
                <a:highlight>
                  <a:srgbClr val="FFFFFF"/>
                </a:highlight>
                <a:latin typeface="Roboto"/>
                <a:ea typeface="Roboto"/>
                <a:cs typeface="Roboto"/>
                <a:sym typeface="Roboto"/>
              </a:rPr>
              <a:t>Viable: </a:t>
            </a:r>
            <a:r>
              <a:rPr lang="en" sz="1800">
                <a:solidFill>
                  <a:srgbClr val="2D3748"/>
                </a:solidFill>
                <a:highlight>
                  <a:srgbClr val="FFFFFF"/>
                </a:highlight>
                <a:latin typeface="Roboto"/>
                <a:ea typeface="Roboto"/>
                <a:cs typeface="Roboto"/>
                <a:sym typeface="Roboto"/>
              </a:rPr>
              <a:t>The solution provides enough features to satisfy early adopters.</a:t>
            </a:r>
            <a:endParaRPr sz="1800">
              <a:solidFill>
                <a:srgbClr val="2D3748"/>
              </a:solidFill>
              <a:highlight>
                <a:srgbClr val="FFFFFF"/>
              </a:highlight>
              <a:latin typeface="Roboto"/>
              <a:ea typeface="Roboto"/>
              <a:cs typeface="Roboto"/>
              <a:sym typeface="Roboto"/>
            </a:endParaRPr>
          </a:p>
          <a:p>
            <a:pPr indent="0" lvl="0" marL="0" rtl="0" algn="l">
              <a:lnSpc>
                <a:spcPct val="115000"/>
              </a:lnSpc>
              <a:spcBef>
                <a:spcPts val="2400"/>
              </a:spcBef>
              <a:spcAft>
                <a:spcPts val="0"/>
              </a:spcAft>
              <a:buNone/>
            </a:pPr>
            <a:r>
              <a:rPr b="1" lang="en" sz="1800">
                <a:solidFill>
                  <a:srgbClr val="2D3748"/>
                </a:solidFill>
                <a:highlight>
                  <a:srgbClr val="FFFFFF"/>
                </a:highlight>
                <a:latin typeface="Roboto"/>
                <a:ea typeface="Roboto"/>
                <a:cs typeface="Roboto"/>
                <a:sym typeface="Roboto"/>
              </a:rPr>
              <a:t>Product: </a:t>
            </a:r>
            <a:r>
              <a:rPr lang="en" sz="1800">
                <a:solidFill>
                  <a:srgbClr val="2D3748"/>
                </a:solidFill>
                <a:highlight>
                  <a:srgbClr val="FFFFFF"/>
                </a:highlight>
                <a:latin typeface="Roboto"/>
                <a:ea typeface="Roboto"/>
                <a:cs typeface="Roboto"/>
                <a:sym typeface="Roboto"/>
              </a:rPr>
              <a:t>Something tangible that customers can touch and feel.</a:t>
            </a:r>
            <a:endParaRPr sz="1800">
              <a:solidFill>
                <a:srgbClr val="2D3748"/>
              </a:solidFill>
              <a:highlight>
                <a:srgbClr val="FFFFFF"/>
              </a:highlight>
              <a:latin typeface="Roboto"/>
              <a:ea typeface="Roboto"/>
              <a:cs typeface="Roboto"/>
              <a:sym typeface="Roboto"/>
            </a:endParaRPr>
          </a:p>
          <a:p>
            <a:pPr indent="0" lvl="0" marL="0" rtl="0" algn="l">
              <a:lnSpc>
                <a:spcPct val="115000"/>
              </a:lnSpc>
              <a:spcBef>
                <a:spcPts val="2400"/>
              </a:spcBef>
              <a:spcAft>
                <a:spcPts val="2400"/>
              </a:spcAft>
              <a:buNone/>
            </a:pPr>
            <a:r>
              <a:rPr lang="en" sz="1800">
                <a:solidFill>
                  <a:srgbClr val="2D3748"/>
                </a:solidFill>
                <a:highlight>
                  <a:srgbClr val="FFFFFF"/>
                </a:highlight>
                <a:latin typeface="Roboto"/>
                <a:ea typeface="Roboto"/>
                <a:cs typeface="Roboto"/>
                <a:sym typeface="Roboto"/>
              </a:rPr>
              <a:t>The core task of the MVP in Lean Startup is to generate maximum data to gain knowledge with minimal effort. </a:t>
            </a:r>
            <a:endParaRPr sz="1800">
              <a:solidFill>
                <a:srgbClr val="2D3748"/>
              </a:solidFill>
              <a:highlight>
                <a:srgbClr val="FFFFFF"/>
              </a:highlight>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8"/>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pic>
        <p:nvPicPr>
          <p:cNvPr id="140" name="Google Shape;140;p28" title="Screenshot 2025-10-15 16.55.39.png"/>
          <p:cNvPicPr preferRelativeResize="0"/>
          <p:nvPr/>
        </p:nvPicPr>
        <p:blipFill>
          <a:blip r:embed="rId3">
            <a:alphaModFix/>
          </a:blip>
          <a:stretch>
            <a:fillRect/>
          </a:stretch>
        </p:blipFill>
        <p:spPr>
          <a:xfrm>
            <a:off x="152400" y="152400"/>
            <a:ext cx="8325150" cy="46832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9"/>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pic>
        <p:nvPicPr>
          <p:cNvPr id="146" name="Google Shape;146;p29" title="Screenshot 2025-10-15 16.54.58.png"/>
          <p:cNvPicPr preferRelativeResize="0"/>
          <p:nvPr/>
        </p:nvPicPr>
        <p:blipFill>
          <a:blip r:embed="rId3">
            <a:alphaModFix/>
          </a:blip>
          <a:stretch>
            <a:fillRect/>
          </a:stretch>
        </p:blipFill>
        <p:spPr>
          <a:xfrm>
            <a:off x="152400" y="152400"/>
            <a:ext cx="8482374" cy="4792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id="151" name="Google Shape;151;p30"/>
          <p:cNvPicPr preferRelativeResize="0"/>
          <p:nvPr/>
        </p:nvPicPr>
        <p:blipFill rotWithShape="1">
          <a:blip r:embed="rId3">
            <a:alphaModFix/>
          </a:blip>
          <a:srcRect b="0" l="10265" r="0" t="0"/>
          <a:stretch/>
        </p:blipFill>
        <p:spPr>
          <a:xfrm>
            <a:off x="751050" y="264700"/>
            <a:ext cx="6805599" cy="44177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1"/>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pic>
        <p:nvPicPr>
          <p:cNvPr id="157" name="Google Shape;157;p31"/>
          <p:cNvPicPr preferRelativeResize="0"/>
          <p:nvPr/>
        </p:nvPicPr>
        <p:blipFill>
          <a:blip r:embed="rId3">
            <a:alphaModFix/>
          </a:blip>
          <a:stretch>
            <a:fillRect/>
          </a:stretch>
        </p:blipFill>
        <p:spPr>
          <a:xfrm>
            <a:off x="751075" y="230100"/>
            <a:ext cx="7749075" cy="46832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id="162" name="Google Shape;162;p32"/>
          <p:cNvPicPr preferRelativeResize="0"/>
          <p:nvPr/>
        </p:nvPicPr>
        <p:blipFill>
          <a:blip r:embed="rId3">
            <a:alphaModFix/>
          </a:blip>
          <a:stretch>
            <a:fillRect/>
          </a:stretch>
        </p:blipFill>
        <p:spPr>
          <a:xfrm>
            <a:off x="713925" y="152400"/>
            <a:ext cx="7920849" cy="48387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id="167" name="Google Shape;167;p33"/>
          <p:cNvPicPr preferRelativeResize="0"/>
          <p:nvPr/>
        </p:nvPicPr>
        <p:blipFill>
          <a:blip r:embed="rId3">
            <a:alphaModFix/>
          </a:blip>
          <a:stretch>
            <a:fillRect/>
          </a:stretch>
        </p:blipFill>
        <p:spPr>
          <a:xfrm>
            <a:off x="624075" y="242900"/>
            <a:ext cx="7831000" cy="46577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p34"/>
          <p:cNvPicPr preferRelativeResize="0"/>
          <p:nvPr/>
        </p:nvPicPr>
        <p:blipFill>
          <a:blip r:embed="rId3">
            <a:alphaModFix/>
          </a:blip>
          <a:stretch>
            <a:fillRect/>
          </a:stretch>
        </p:blipFill>
        <p:spPr>
          <a:xfrm>
            <a:off x="409425" y="152400"/>
            <a:ext cx="8325150" cy="48387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5"/>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pic>
        <p:nvPicPr>
          <p:cNvPr id="178" name="Google Shape;178;p35" title="Screenshot 2025-10-15 16.54.19.png"/>
          <p:cNvPicPr preferRelativeResize="0"/>
          <p:nvPr/>
        </p:nvPicPr>
        <p:blipFill>
          <a:blip r:embed="rId3">
            <a:alphaModFix/>
          </a:blip>
          <a:stretch>
            <a:fillRect/>
          </a:stretch>
        </p:blipFill>
        <p:spPr>
          <a:xfrm>
            <a:off x="152400" y="152400"/>
            <a:ext cx="8437451" cy="46832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p36" title="Screenshot 2025-10-15 16.52.46.png"/>
          <p:cNvPicPr preferRelativeResize="0"/>
          <p:nvPr/>
        </p:nvPicPr>
        <p:blipFill>
          <a:blip r:embed="rId3">
            <a:alphaModFix/>
          </a:blip>
          <a:stretch>
            <a:fillRect/>
          </a:stretch>
        </p:blipFill>
        <p:spPr>
          <a:xfrm>
            <a:off x="346775" y="0"/>
            <a:ext cx="8624900" cy="51435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p37"/>
          <p:cNvPicPr preferRelativeResize="0"/>
          <p:nvPr/>
        </p:nvPicPr>
        <p:blipFill>
          <a:blip r:embed="rId3">
            <a:alphaModFix/>
          </a:blip>
          <a:stretch>
            <a:fillRect/>
          </a:stretch>
        </p:blipFill>
        <p:spPr>
          <a:xfrm>
            <a:off x="466850" y="152400"/>
            <a:ext cx="8414976" cy="48387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8"/>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pic>
        <p:nvPicPr>
          <p:cNvPr id="194" name="Google Shape;194;p38" title="Screenshot 2025-10-15 16.56.42.png"/>
          <p:cNvPicPr preferRelativeResize="0"/>
          <p:nvPr/>
        </p:nvPicPr>
        <p:blipFill>
          <a:blip r:embed="rId3">
            <a:alphaModFix/>
          </a:blip>
          <a:stretch>
            <a:fillRect/>
          </a:stretch>
        </p:blipFill>
        <p:spPr>
          <a:xfrm>
            <a:off x="152400" y="152400"/>
            <a:ext cx="8145449" cy="46832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id="199" name="Google Shape;199;p39"/>
          <p:cNvPicPr preferRelativeResize="0"/>
          <p:nvPr/>
        </p:nvPicPr>
        <p:blipFill>
          <a:blip r:embed="rId3">
            <a:alphaModFix/>
          </a:blip>
          <a:stretch>
            <a:fillRect/>
          </a:stretch>
        </p:blipFill>
        <p:spPr>
          <a:xfrm>
            <a:off x="566650" y="152400"/>
            <a:ext cx="8010700" cy="48387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pic>
        <p:nvPicPr>
          <p:cNvPr id="204" name="Google Shape;204;p40"/>
          <p:cNvPicPr preferRelativeResize="0"/>
          <p:nvPr/>
        </p:nvPicPr>
        <p:blipFill>
          <a:blip r:embed="rId3">
            <a:alphaModFix/>
          </a:blip>
          <a:stretch>
            <a:fillRect/>
          </a:stretch>
        </p:blipFill>
        <p:spPr>
          <a:xfrm>
            <a:off x="532963" y="152400"/>
            <a:ext cx="8078075" cy="48387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id="209" name="Google Shape;209;p41"/>
          <p:cNvPicPr preferRelativeResize="0"/>
          <p:nvPr/>
        </p:nvPicPr>
        <p:blipFill>
          <a:blip r:embed="rId3">
            <a:alphaModFix/>
          </a:blip>
          <a:stretch>
            <a:fillRect/>
          </a:stretch>
        </p:blipFill>
        <p:spPr>
          <a:xfrm>
            <a:off x="510500" y="166688"/>
            <a:ext cx="8123001" cy="48101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42"/>
          <p:cNvSpPr txBox="1"/>
          <p:nvPr/>
        </p:nvSpPr>
        <p:spPr>
          <a:xfrm>
            <a:off x="142350" y="216750"/>
            <a:ext cx="8859300" cy="4740900"/>
          </a:xfrm>
          <a:prstGeom prst="rect">
            <a:avLst/>
          </a:prstGeom>
          <a:noFill/>
          <a:ln>
            <a:noFill/>
          </a:ln>
        </p:spPr>
        <p:txBody>
          <a:bodyPr anchorCtr="0" anchor="t" bIns="91425" lIns="91425" spcFirstLastPara="1" rIns="91425" wrap="square" tIns="91425">
            <a:spAutoFit/>
          </a:bodyPr>
          <a:lstStyle/>
          <a:p>
            <a:pPr indent="457200" lvl="0" marL="2743200" rtl="0" algn="l">
              <a:spcBef>
                <a:spcPts val="0"/>
              </a:spcBef>
              <a:spcAft>
                <a:spcPts val="0"/>
              </a:spcAft>
              <a:buNone/>
            </a:pPr>
            <a:r>
              <a:rPr b="1" lang="en" sz="1600">
                <a:solidFill>
                  <a:schemeClr val="dk1"/>
                </a:solidFill>
              </a:rPr>
              <a:t>CLASS ACTIVITY</a:t>
            </a:r>
            <a:endParaRPr b="1" sz="1600">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STEP 1:</a:t>
            </a:r>
            <a:endParaRPr b="1">
              <a:solidFill>
                <a:schemeClr val="dk1"/>
              </a:solidFill>
            </a:endParaRPr>
          </a:p>
          <a:p>
            <a:pPr indent="0" lvl="0" marL="0" rtl="0" algn="l">
              <a:spcBef>
                <a:spcPts val="0"/>
              </a:spcBef>
              <a:spcAft>
                <a:spcPts val="0"/>
              </a:spcAft>
              <a:buNone/>
            </a:pPr>
            <a:r>
              <a:rPr b="1" lang="en">
                <a:solidFill>
                  <a:schemeClr val="dk1"/>
                </a:solidFill>
              </a:rPr>
              <a:t>Each team must brainstorm a simple digital product idea (e.g., a student-focused app, a campus service platform). Teams then identify one core problem for their target customer and formulate a Value Hypothesis and a Growth Hypothesis.</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STEP 2:</a:t>
            </a:r>
            <a:endParaRPr b="1">
              <a:solidFill>
                <a:schemeClr val="dk1"/>
              </a:solidFill>
            </a:endParaRPr>
          </a:p>
          <a:p>
            <a:pPr indent="0" lvl="0" marL="0" rtl="0" algn="l">
              <a:spcBef>
                <a:spcPts val="0"/>
              </a:spcBef>
              <a:spcAft>
                <a:spcPts val="0"/>
              </a:spcAft>
              <a:buNone/>
            </a:pPr>
            <a:r>
              <a:rPr b="1" lang="en">
                <a:solidFill>
                  <a:schemeClr val="dk1"/>
                </a:solidFill>
              </a:rPr>
              <a:t>The team must define the Minimum Viable Product (MVP). What are the minimum set of features needed to test the core value hypothesis? Sketch the single most important screen or feature of this MVP.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STEP 3:</a:t>
            </a:r>
            <a:endParaRPr b="1">
              <a:solidFill>
                <a:schemeClr val="dk1"/>
              </a:solidFill>
            </a:endParaRPr>
          </a:p>
          <a:p>
            <a:pPr indent="0" lvl="0" marL="0" rtl="0" algn="l">
              <a:spcBef>
                <a:spcPts val="0"/>
              </a:spcBef>
              <a:spcAft>
                <a:spcPts val="0"/>
              </a:spcAft>
              <a:buNone/>
            </a:pPr>
            <a:r>
              <a:rPr b="1" lang="en">
                <a:solidFill>
                  <a:schemeClr val="dk1"/>
                </a:solidFill>
              </a:rPr>
              <a:t>Each team presents their MVP sketch and hypothesis to one other team (their earlyvangelists ) for 2 minutes. The receiving team gives 3 minutes of specific, actionable feedback. The presenting team must define one key metric (e.g., sign-up rate, feature usage) and explain </a:t>
            </a:r>
            <a:r>
              <a:rPr b="1" i="1" lang="en">
                <a:solidFill>
                  <a:schemeClr val="dk1"/>
                </a:solidFill>
              </a:rPr>
              <a:t>how</a:t>
            </a:r>
            <a:r>
              <a:rPr b="1" lang="en">
                <a:solidFill>
                  <a:schemeClr val="dk1"/>
                </a:solidFill>
              </a:rPr>
              <a:t> they'd measure it to validate their hypothesis (The AAA's of Metrics: Actionable, Accessible, Auditable).</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STEP 4</a:t>
            </a:r>
            <a:endParaRPr b="1">
              <a:solidFill>
                <a:schemeClr val="dk1"/>
              </a:solidFill>
            </a:endParaRPr>
          </a:p>
          <a:p>
            <a:pPr indent="0" lvl="0" marL="0" rtl="0" algn="l">
              <a:spcBef>
                <a:spcPts val="0"/>
              </a:spcBef>
              <a:spcAft>
                <a:spcPts val="0"/>
              </a:spcAft>
              <a:buNone/>
            </a:pPr>
            <a:r>
              <a:rPr b="1" lang="en">
                <a:solidFill>
                  <a:schemeClr val="dk1"/>
                </a:solidFill>
              </a:rPr>
              <a:t>They must write down a one-sentence justification for their decision and explain how they will implement the next cycle of the B-M-L loop. </a:t>
            </a:r>
            <a:endParaRPr b="1">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