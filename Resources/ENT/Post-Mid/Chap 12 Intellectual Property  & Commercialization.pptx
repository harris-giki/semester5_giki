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1" roundtripDataSignature="AMtx7miJxm1HUFKvzQrNnOnCFTKML3O6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d09321cb8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d09321cb8_0_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ad09321cb8_0_1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d09321cb8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d09321cb8_0_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ad09321cb8_0_2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d09321cb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d09321cb8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ad09321cb8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d09321cb8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d09321cb8_0_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ad09321cb8_0_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d09321cb8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d09321cb8_0_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3ad09321cb8_0_3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d09321cb8_0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d09321cb8_0_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ad09321cb8_0_4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d09321cb8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d09321cb8_0_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ad09321cb8_0_4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d09321cb8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d09321cb8_0_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ad09321cb8_0_6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d09321cb8_0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d09321cb8_0_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ad09321cb8_0_5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d09321cb8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ad09321cb8_0_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ad09321cb8_0_7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8"/>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9"/>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9"/>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4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0"/>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0"/>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41"/>
          <p:cNvSpPr/>
          <p:nvPr>
            <p:ph idx="2" type="pic"/>
          </p:nvPr>
        </p:nvSpPr>
        <p:spPr>
          <a:xfrm>
            <a:off x="1792288" y="612775"/>
            <a:ext cx="5486400" cy="4114800"/>
          </a:xfrm>
          <a:prstGeom prst="rect">
            <a:avLst/>
          </a:prstGeom>
          <a:noFill/>
          <a:ln>
            <a:noFill/>
          </a:ln>
        </p:spPr>
      </p:sp>
      <p:sp>
        <p:nvSpPr>
          <p:cNvPr id="42" name="Google Shape;42;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3" name="Google Shape;43;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1"/>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1"/>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9" name="Google Shape;49;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0" name="Google Shape;50;p4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2"/>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2"/>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4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3"/>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3"/>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4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4"/>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4"/>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4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5" name="Google Shape;65;p4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6" name="Google Shape;66;p4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7" name="Google Shape;67;p4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8" name="Google Shape;68;p4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5"/>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5"/>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4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4" name="Google Shape;74;p4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5" name="Google Shape;75;p4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6"/>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6"/>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81" name="Google Shape;81;p4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7"/>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7"/>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9pPr>
          </a:lstStyle>
          <a:p/>
        </p:txBody>
      </p:sp>
      <p:sp>
        <p:nvSpPr>
          <p:cNvPr id="13" name="Google Shape;13;p36"/>
          <p:cNvSpPr txBox="1"/>
          <p:nvPr>
            <p:ph idx="11" type="ftr"/>
          </p:nvPr>
        </p:nvSpPr>
        <p:spPr>
          <a:xfrm>
            <a:off x="457200" y="6324600"/>
            <a:ext cx="5867400" cy="39687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9pPr>
          </a:lstStyle>
          <a:p/>
        </p:txBody>
      </p:sp>
      <p:sp>
        <p:nvSpPr>
          <p:cNvPr id="14" name="Google Shape;14;p36"/>
          <p:cNvSpPr txBox="1"/>
          <p:nvPr>
            <p:ph idx="12" type="sldNum"/>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12-</a:t>
            </a: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1"/>
          <p:cNvCxnSpPr/>
          <p:nvPr/>
        </p:nvCxnSpPr>
        <p:spPr>
          <a:xfrm>
            <a:off x="0" y="29718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89" name="Google Shape;89;p1"/>
          <p:cNvSpPr txBox="1"/>
          <p:nvPr/>
        </p:nvSpPr>
        <p:spPr>
          <a:xfrm>
            <a:off x="5562600" y="1524000"/>
            <a:ext cx="2971800"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New Roman"/>
              <a:buNone/>
            </a:pPr>
            <a:r>
              <a:rPr b="0" i="0" lang="en-US" sz="4800" u="none" cap="none" strike="noStrike">
                <a:solidFill>
                  <a:schemeClr val="dk1"/>
                </a:solidFill>
                <a:latin typeface="Times New Roman"/>
                <a:ea typeface="Times New Roman"/>
                <a:cs typeface="Times New Roman"/>
                <a:sym typeface="Times New Roman"/>
              </a:rPr>
              <a:t>Chapter 12</a:t>
            </a:r>
            <a:endParaRPr/>
          </a:p>
        </p:txBody>
      </p:sp>
      <p:sp>
        <p:nvSpPr>
          <p:cNvPr id="90" name="Google Shape;90;p1"/>
          <p:cNvSpPr txBox="1"/>
          <p:nvPr/>
        </p:nvSpPr>
        <p:spPr>
          <a:xfrm>
            <a:off x="5105400" y="3276600"/>
            <a:ext cx="4038600" cy="2835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The Importance of Intellectual Property</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Bruce R. Barringer</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R. Duane Ireland</a:t>
            </a:r>
            <a:endParaRPr/>
          </a:p>
        </p:txBody>
      </p:sp>
      <p:sp>
        <p:nvSpPr>
          <p:cNvPr id="91" name="Google Shape;91;p1"/>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 </a:t>
            </a:r>
            <a:endParaRPr/>
          </a:p>
        </p:txBody>
      </p:sp>
      <p:sp>
        <p:nvSpPr>
          <p:cNvPr id="92" name="Google Shape;92;p1"/>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12-</a:t>
            </a: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93" name="Google Shape;93;p1"/>
          <p:cNvPicPr preferRelativeResize="0"/>
          <p:nvPr/>
        </p:nvPicPr>
        <p:blipFill rotWithShape="1">
          <a:blip r:embed="rId3">
            <a:alphaModFix/>
          </a:blip>
          <a:srcRect b="0" l="0" r="0" t="0"/>
          <a:stretch/>
        </p:blipFill>
        <p:spPr>
          <a:xfrm>
            <a:off x="838200" y="282575"/>
            <a:ext cx="3886200" cy="5829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Chapter Objectives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99" name="Google Shape;99;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609600" lvl="0" marL="609600" rtl="0" algn="l">
              <a:lnSpc>
                <a:spcPct val="90000"/>
              </a:lnSpc>
              <a:spcBef>
                <a:spcPts val="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Define the term “intellectual property” and describe its importance.</a:t>
            </a:r>
            <a:endParaRPr/>
          </a:p>
          <a:p>
            <a:pPr indent="-609600" lvl="0" marL="609600" rtl="0" algn="l">
              <a:lnSpc>
                <a:spcPct val="9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Explain what a patent is and describe different types of patents.</a:t>
            </a:r>
            <a:endParaRPr/>
          </a:p>
          <a:p>
            <a:pPr indent="-609600" lvl="0" marL="609600" rtl="0" algn="l">
              <a:lnSpc>
                <a:spcPct val="9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Describe a trademark and explain the process entrepreneurs use to obtain one.</a:t>
            </a:r>
            <a:endParaRPr/>
          </a:p>
          <a:p>
            <a:pPr indent="-609600" lvl="0" marL="609600" rtl="0" algn="l">
              <a:lnSpc>
                <a:spcPct val="9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Describe a copyright and identify what a copyright can protect.</a:t>
            </a:r>
            <a:endParaRPr/>
          </a:p>
          <a:p>
            <a:pPr indent="-609600" lvl="0" marL="609600" rtl="0" algn="l">
              <a:lnSpc>
                <a:spcPct val="9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Describe a trade secret and understand the common causes of trade secret disputes.</a:t>
            </a:r>
            <a:endParaRPr/>
          </a:p>
        </p:txBody>
      </p:sp>
      <p:cxnSp>
        <p:nvCxnSpPr>
          <p:cNvPr id="100" name="Google Shape;100;p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01" name="Google Shape;101;p2"/>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 </a:t>
            </a:r>
            <a:endParaRPr/>
          </a:p>
        </p:txBody>
      </p:sp>
      <p:sp>
        <p:nvSpPr>
          <p:cNvPr id="102" name="Google Shape;102;p2"/>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12-</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Chapter Objectives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sp>
        <p:nvSpPr>
          <p:cNvPr id="108" name="Google Shape;108;p3"/>
          <p:cNvSpPr txBox="1"/>
          <p:nvPr>
            <p:ph idx="1" type="body"/>
          </p:nvPr>
        </p:nvSpPr>
        <p:spPr>
          <a:xfrm>
            <a:off x="457200" y="1447800"/>
            <a:ext cx="8229600" cy="4525962"/>
          </a:xfrm>
          <a:prstGeom prst="rect">
            <a:avLst/>
          </a:prstGeom>
          <a:noFill/>
          <a:ln>
            <a:noFill/>
          </a:ln>
        </p:spPr>
        <p:txBody>
          <a:bodyPr anchorCtr="0" anchor="t" bIns="45700" lIns="91425" spcFirstLastPara="1" rIns="91425" wrap="square" tIns="45700">
            <a:noAutofit/>
          </a:bodyPr>
          <a:lstStyle/>
          <a:p>
            <a:pPr indent="-609600" lvl="0" marL="609600" rtl="0" algn="l">
              <a:lnSpc>
                <a:spcPct val="90000"/>
              </a:lnSpc>
              <a:spcBef>
                <a:spcPts val="0"/>
              </a:spcBef>
              <a:spcAft>
                <a:spcPts val="0"/>
              </a:spcAft>
              <a:buClr>
                <a:schemeClr val="dk1"/>
              </a:buClr>
              <a:buSzPts val="2800"/>
              <a:buFont typeface="Times New Roman"/>
              <a:buAutoNum type="arabicPeriod" startAt="6"/>
            </a:pPr>
            <a:r>
              <a:rPr b="0" i="0" lang="en-US" sz="2800" u="none">
                <a:solidFill>
                  <a:schemeClr val="dk1"/>
                </a:solidFill>
                <a:latin typeface="Times New Roman"/>
                <a:ea typeface="Times New Roman"/>
                <a:cs typeface="Times New Roman"/>
                <a:sym typeface="Times New Roman"/>
              </a:rPr>
              <a:t>Explain what an intellectual property audit is and identify the two primary reasons entrepreneurial firms should complete this type of audit.</a:t>
            </a:r>
            <a:endParaRPr/>
          </a:p>
        </p:txBody>
      </p:sp>
      <p:cxnSp>
        <p:nvCxnSpPr>
          <p:cNvPr id="109" name="Google Shape;109;p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10" name="Google Shape;110;p3"/>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 </a:t>
            </a:r>
            <a:endParaRPr/>
          </a:p>
        </p:txBody>
      </p:sp>
      <p:sp>
        <p:nvSpPr>
          <p:cNvPr id="111" name="Google Shape;111;p3"/>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12-</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Importance of Intellectual Property</a:t>
            </a:r>
            <a:endParaRPr/>
          </a:p>
        </p:txBody>
      </p:sp>
      <p:sp>
        <p:nvSpPr>
          <p:cNvPr id="117" name="Google Shape;117;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Intellectual Property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Is any product of human intellect that is intangible but has value in the marketplace.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is called “intellectual” property because it is the product of human imagination, creativity, and inventiveness.</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Importance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Traditionally, businesses have thought of their physical assets, such as land, buildings, and equipment as the most important.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Increasingly, however, a company’s intellectual assets are the most important.</a:t>
            </a:r>
            <a:endParaRPr/>
          </a:p>
        </p:txBody>
      </p:sp>
      <p:cxnSp>
        <p:nvCxnSpPr>
          <p:cNvPr id="118" name="Google Shape;118;p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19" name="Google Shape;119;p4"/>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 </a:t>
            </a:r>
            <a:endParaRPr/>
          </a:p>
        </p:txBody>
      </p:sp>
      <p:sp>
        <p:nvSpPr>
          <p:cNvPr id="120" name="Google Shape;120;p4"/>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12-</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d09321cb8_0_16"/>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Defining Innovation</a:t>
            </a:r>
            <a:endParaRPr/>
          </a:p>
        </p:txBody>
      </p:sp>
      <p:sp>
        <p:nvSpPr>
          <p:cNvPr id="127" name="Google Shape;127;g3ad09321cb8_0_16"/>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128" name="Google Shape;128;g3ad09321cb8_0_16"/>
          <p:cNvPicPr preferRelativeResize="0"/>
          <p:nvPr/>
        </p:nvPicPr>
        <p:blipFill>
          <a:blip r:embed="rId3">
            <a:alphaModFix/>
          </a:blip>
          <a:stretch>
            <a:fillRect/>
          </a:stretch>
        </p:blipFill>
        <p:spPr>
          <a:xfrm>
            <a:off x="457200" y="1417626"/>
            <a:ext cx="8079225" cy="4607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ad09321cb8_0_24"/>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Enabling Innovation</a:t>
            </a:r>
            <a:endParaRPr/>
          </a:p>
        </p:txBody>
      </p:sp>
      <p:sp>
        <p:nvSpPr>
          <p:cNvPr id="135" name="Google Shape;135;g3ad09321cb8_0_24"/>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136" name="Google Shape;136;g3ad09321cb8_0_24"/>
          <p:cNvPicPr preferRelativeResize="0"/>
          <p:nvPr/>
        </p:nvPicPr>
        <p:blipFill>
          <a:blip r:embed="rId3">
            <a:alphaModFix/>
          </a:blip>
          <a:stretch>
            <a:fillRect/>
          </a:stretch>
        </p:blipFill>
        <p:spPr>
          <a:xfrm>
            <a:off x="457200" y="1938350"/>
            <a:ext cx="8229875" cy="4278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d09321cb8_0_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Why commercialize your IP</a:t>
            </a:r>
            <a:endParaRPr/>
          </a:p>
        </p:txBody>
      </p:sp>
      <p:sp>
        <p:nvSpPr>
          <p:cNvPr id="143" name="Google Shape;143;g3ad09321cb8_0_0"/>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144" name="Google Shape;144;g3ad09321cb8_0_0"/>
          <p:cNvPicPr preferRelativeResize="0"/>
          <p:nvPr/>
        </p:nvPicPr>
        <p:blipFill>
          <a:blip r:embed="rId3">
            <a:alphaModFix/>
          </a:blip>
          <a:stretch>
            <a:fillRect/>
          </a:stretch>
        </p:blipFill>
        <p:spPr>
          <a:xfrm>
            <a:off x="714375" y="1580725"/>
            <a:ext cx="7972425" cy="4211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ad09321cb8_0_8"/>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Types of Licences</a:t>
            </a:r>
            <a:endParaRPr/>
          </a:p>
        </p:txBody>
      </p:sp>
      <p:sp>
        <p:nvSpPr>
          <p:cNvPr id="151" name="Google Shape;151;g3ad09321cb8_0_8"/>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152" name="Google Shape;152;g3ad09321cb8_0_8"/>
          <p:cNvPicPr preferRelativeResize="0"/>
          <p:nvPr/>
        </p:nvPicPr>
        <p:blipFill>
          <a:blip r:embed="rId3">
            <a:alphaModFix/>
          </a:blip>
          <a:stretch>
            <a:fillRect/>
          </a:stretch>
        </p:blipFill>
        <p:spPr>
          <a:xfrm>
            <a:off x="809625" y="1417620"/>
            <a:ext cx="7524750" cy="4647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ad09321cb8_0_32"/>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IP - a valuable asset</a:t>
            </a:r>
            <a:endParaRPr/>
          </a:p>
        </p:txBody>
      </p:sp>
      <p:sp>
        <p:nvSpPr>
          <p:cNvPr id="159" name="Google Shape;159;g3ad09321cb8_0_32"/>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160" name="Google Shape;160;g3ad09321cb8_0_32"/>
          <p:cNvPicPr preferRelativeResize="0"/>
          <p:nvPr/>
        </p:nvPicPr>
        <p:blipFill>
          <a:blip r:embed="rId3">
            <a:alphaModFix/>
          </a:blip>
          <a:stretch>
            <a:fillRect/>
          </a:stretch>
        </p:blipFill>
        <p:spPr>
          <a:xfrm>
            <a:off x="152400" y="1570021"/>
            <a:ext cx="8544304" cy="4811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5"/>
          <p:cNvSpPr txBox="1"/>
          <p:nvPr>
            <p:ph type="title"/>
          </p:nvPr>
        </p:nvSpPr>
        <p:spPr>
          <a:xfrm>
            <a:off x="457200" y="3810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Common Mistakes Firms Make in Regard to Protecting Their Intellectual Property</a:t>
            </a:r>
            <a:br>
              <a:rPr b="0" i="0" lang="en-US" sz="3600" u="none">
                <a:solidFill>
                  <a:schemeClr val="dk2"/>
                </a:solidFill>
                <a:latin typeface="Times New Roman"/>
                <a:ea typeface="Times New Roman"/>
                <a:cs typeface="Times New Roman"/>
                <a:sym typeface="Times New Roman"/>
              </a:rPr>
            </a:br>
            <a:endParaRPr/>
          </a:p>
        </p:txBody>
      </p:sp>
      <p:cxnSp>
        <p:nvCxnSpPr>
          <p:cNvPr id="166" name="Google Shape;166;p5"/>
          <p:cNvCxnSpPr/>
          <p:nvPr/>
        </p:nvCxnSpPr>
        <p:spPr>
          <a:xfrm>
            <a:off x="0" y="15240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67" name="Google Shape;167;p5"/>
          <p:cNvSpPr txBox="1"/>
          <p:nvPr/>
        </p:nvSpPr>
        <p:spPr>
          <a:xfrm>
            <a:off x="533400" y="1905000"/>
            <a:ext cx="3352800" cy="1905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Not properly identifying</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all of their</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intellectual property.</a:t>
            </a:r>
            <a:endParaRPr/>
          </a:p>
        </p:txBody>
      </p:sp>
      <p:sp>
        <p:nvSpPr>
          <p:cNvPr id="168" name="Google Shape;168;p5"/>
          <p:cNvSpPr txBox="1"/>
          <p:nvPr/>
        </p:nvSpPr>
        <p:spPr>
          <a:xfrm>
            <a:off x="533400" y="4191000"/>
            <a:ext cx="3352800" cy="1905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Not legally protecting the</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intellectual property</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that needs protecting.</a:t>
            </a:r>
            <a:endParaRPr/>
          </a:p>
        </p:txBody>
      </p:sp>
      <p:sp>
        <p:nvSpPr>
          <p:cNvPr id="169" name="Google Shape;169;p5"/>
          <p:cNvSpPr txBox="1"/>
          <p:nvPr/>
        </p:nvSpPr>
        <p:spPr>
          <a:xfrm>
            <a:off x="4648200" y="1905000"/>
            <a:ext cx="3352800" cy="1905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Not fully recognizing </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the value of their</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intellectual property.</a:t>
            </a:r>
            <a:endParaRPr/>
          </a:p>
        </p:txBody>
      </p:sp>
      <p:sp>
        <p:nvSpPr>
          <p:cNvPr id="170" name="Google Shape;170;p5"/>
          <p:cNvSpPr txBox="1"/>
          <p:nvPr/>
        </p:nvSpPr>
        <p:spPr>
          <a:xfrm>
            <a:off x="4648200" y="4191000"/>
            <a:ext cx="3352800" cy="1905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Not using their</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intellectual property as</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part of their overall</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plan for success.</a:t>
            </a:r>
            <a:endParaRPr/>
          </a:p>
        </p:txBody>
      </p:sp>
      <p:sp>
        <p:nvSpPr>
          <p:cNvPr id="171" name="Google Shape;171;p5"/>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 </a:t>
            </a:r>
            <a:endParaRPr/>
          </a:p>
        </p:txBody>
      </p:sp>
      <p:sp>
        <p:nvSpPr>
          <p:cNvPr id="172" name="Google Shape;172;p5"/>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12-</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Determining What Intellectual </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Property to Legally Protect</a:t>
            </a:r>
            <a:endParaRPr/>
          </a:p>
        </p:txBody>
      </p:sp>
      <p:cxnSp>
        <p:nvCxnSpPr>
          <p:cNvPr id="178" name="Google Shape;178;p6"/>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79" name="Google Shape;179;p6"/>
          <p:cNvSpPr txBox="1"/>
          <p:nvPr/>
        </p:nvSpPr>
        <p:spPr>
          <a:xfrm>
            <a:off x="609600" y="1752600"/>
            <a:ext cx="3429000" cy="4191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180" name="Google Shape;180;p6"/>
          <p:cNvSpPr txBox="1"/>
          <p:nvPr/>
        </p:nvSpPr>
        <p:spPr>
          <a:xfrm>
            <a:off x="4953000" y="1752600"/>
            <a:ext cx="3429000" cy="4191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181" name="Google Shape;181;p6"/>
          <p:cNvCxnSpPr/>
          <p:nvPr/>
        </p:nvCxnSpPr>
        <p:spPr>
          <a:xfrm>
            <a:off x="609600" y="2438400"/>
            <a:ext cx="34290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182" name="Google Shape;182;p6"/>
          <p:cNvCxnSpPr/>
          <p:nvPr/>
        </p:nvCxnSpPr>
        <p:spPr>
          <a:xfrm>
            <a:off x="4953000" y="2438400"/>
            <a:ext cx="3429000" cy="1587"/>
          </a:xfrm>
          <a:prstGeom prst="straightConnector1">
            <a:avLst/>
          </a:prstGeom>
          <a:noFill/>
          <a:ln cap="flat" cmpd="sng" w="9525">
            <a:solidFill>
              <a:schemeClr val="dk1"/>
            </a:solidFill>
            <a:prstDash val="solid"/>
            <a:miter lim="800000"/>
            <a:headEnd len="med" w="med" type="none"/>
            <a:tailEnd len="med" w="med" type="none"/>
          </a:ln>
        </p:spPr>
      </p:cxnSp>
      <p:sp>
        <p:nvSpPr>
          <p:cNvPr id="183" name="Google Shape;183;p6"/>
          <p:cNvSpPr txBox="1"/>
          <p:nvPr/>
        </p:nvSpPr>
        <p:spPr>
          <a:xfrm>
            <a:off x="685800" y="1828800"/>
            <a:ext cx="32766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Criteria 1</a:t>
            </a:r>
            <a:endParaRPr/>
          </a:p>
        </p:txBody>
      </p:sp>
      <p:sp>
        <p:nvSpPr>
          <p:cNvPr id="184" name="Google Shape;184;p6"/>
          <p:cNvSpPr txBox="1"/>
          <p:nvPr/>
        </p:nvSpPr>
        <p:spPr>
          <a:xfrm>
            <a:off x="5029200" y="1905000"/>
            <a:ext cx="32766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Criteria 2</a:t>
            </a:r>
            <a:endParaRPr/>
          </a:p>
        </p:txBody>
      </p:sp>
      <p:sp>
        <p:nvSpPr>
          <p:cNvPr id="185" name="Google Shape;185;p6"/>
          <p:cNvSpPr txBox="1"/>
          <p:nvPr/>
        </p:nvSpPr>
        <p:spPr>
          <a:xfrm>
            <a:off x="762000" y="2667000"/>
            <a:ext cx="3124200" cy="19383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Determine whether the intellectual property in question is directly related to the firm’s competitive advantage.</a:t>
            </a:r>
            <a:endParaRPr/>
          </a:p>
        </p:txBody>
      </p:sp>
      <p:sp>
        <p:nvSpPr>
          <p:cNvPr id="186" name="Google Shape;186;p6"/>
          <p:cNvSpPr txBox="1"/>
          <p:nvPr/>
        </p:nvSpPr>
        <p:spPr>
          <a:xfrm>
            <a:off x="5029200" y="2667000"/>
            <a:ext cx="3124200" cy="15700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Decide whether the intellectual property in question has value in the marketplace. </a:t>
            </a:r>
            <a:endParaRPr/>
          </a:p>
        </p:txBody>
      </p:sp>
      <p:sp>
        <p:nvSpPr>
          <p:cNvPr id="187" name="Google Shape;187;p6"/>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188" name="Google Shape;188;p6"/>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Four Key Forms of </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Intellectual Property</a:t>
            </a:r>
            <a:endParaRPr/>
          </a:p>
        </p:txBody>
      </p:sp>
      <p:cxnSp>
        <p:nvCxnSpPr>
          <p:cNvPr id="194" name="Google Shape;194;p7"/>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95" name="Google Shape;195;p7"/>
          <p:cNvSpPr txBox="1"/>
          <p:nvPr/>
        </p:nvSpPr>
        <p:spPr>
          <a:xfrm>
            <a:off x="838200" y="2133600"/>
            <a:ext cx="2971800" cy="9144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Patents</a:t>
            </a:r>
            <a:endParaRPr/>
          </a:p>
        </p:txBody>
      </p:sp>
      <p:sp>
        <p:nvSpPr>
          <p:cNvPr id="196" name="Google Shape;196;p7"/>
          <p:cNvSpPr txBox="1"/>
          <p:nvPr/>
        </p:nvSpPr>
        <p:spPr>
          <a:xfrm>
            <a:off x="838200" y="4114800"/>
            <a:ext cx="2971800" cy="9144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Copyrights</a:t>
            </a:r>
            <a:endParaRPr/>
          </a:p>
        </p:txBody>
      </p:sp>
      <p:sp>
        <p:nvSpPr>
          <p:cNvPr id="197" name="Google Shape;197;p7"/>
          <p:cNvSpPr txBox="1"/>
          <p:nvPr/>
        </p:nvSpPr>
        <p:spPr>
          <a:xfrm>
            <a:off x="5029200" y="2133600"/>
            <a:ext cx="2971800" cy="9144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Trademarks</a:t>
            </a:r>
            <a:endParaRPr/>
          </a:p>
        </p:txBody>
      </p:sp>
      <p:sp>
        <p:nvSpPr>
          <p:cNvPr id="198" name="Google Shape;198;p7"/>
          <p:cNvSpPr txBox="1"/>
          <p:nvPr/>
        </p:nvSpPr>
        <p:spPr>
          <a:xfrm>
            <a:off x="5029200" y="4114800"/>
            <a:ext cx="2971800" cy="9144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Trade Secrets</a:t>
            </a:r>
            <a:endParaRPr/>
          </a:p>
        </p:txBody>
      </p:sp>
      <p:sp>
        <p:nvSpPr>
          <p:cNvPr id="199" name="Google Shape;199;p7"/>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00" name="Google Shape;200;p7"/>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ad09321cb8_0_4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What is a Patent</a:t>
            </a:r>
            <a:endParaRPr/>
          </a:p>
        </p:txBody>
      </p:sp>
      <p:sp>
        <p:nvSpPr>
          <p:cNvPr id="207" name="Google Shape;207;g3ad09321cb8_0_40"/>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208" name="Google Shape;208;g3ad09321cb8_0_40"/>
          <p:cNvPicPr preferRelativeResize="0"/>
          <p:nvPr/>
        </p:nvPicPr>
        <p:blipFill>
          <a:blip r:embed="rId3">
            <a:alphaModFix/>
          </a:blip>
          <a:stretch>
            <a:fillRect/>
          </a:stretch>
        </p:blipFill>
        <p:spPr>
          <a:xfrm>
            <a:off x="304800" y="1417621"/>
            <a:ext cx="8534400" cy="48061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Patents</a:t>
            </a:r>
            <a:endParaRPr/>
          </a:p>
        </p:txBody>
      </p:sp>
      <p:sp>
        <p:nvSpPr>
          <p:cNvPr id="214" name="Google Shape;214;p8"/>
          <p:cNvSpPr txBox="1"/>
          <p:nvPr>
            <p:ph idx="1" type="body"/>
          </p:nvPr>
        </p:nvSpPr>
        <p:spPr>
          <a:xfrm>
            <a:off x="457200" y="15240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Patents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patent is a grant from the federal government conferring the rights to exclude others from making, selling, or using an invention for the term of the patent. (See the next slide for a full explanation.)</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Increasing Interest in Patents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There is increasing interest in patents.</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Since Patent #1 was granted in 1790, the U.S. Patent &amp; Trademark Office has granted over six million patents.</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patent office is strained.  It now takes an average of 29.1 months from the date of first filing to receive a U.S. patent.</a:t>
            </a:r>
            <a:endParaRPr/>
          </a:p>
        </p:txBody>
      </p:sp>
      <p:cxnSp>
        <p:nvCxnSpPr>
          <p:cNvPr id="215" name="Google Shape;215;p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16" name="Google Shape;216;p8"/>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17" name="Google Shape;217;p8"/>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type="title"/>
          </p:nvPr>
        </p:nvSpPr>
        <p:spPr>
          <a:xfrm>
            <a:off x="762000" y="152400"/>
            <a:ext cx="7467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Proper Understanding for What a Patent Means</a:t>
            </a:r>
            <a:endParaRPr/>
          </a:p>
        </p:txBody>
      </p:sp>
      <p:cxnSp>
        <p:nvCxnSpPr>
          <p:cNvPr id="223" name="Google Shape;223;p9"/>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24" name="Google Shape;224;p9"/>
          <p:cNvSpPr txBox="1"/>
          <p:nvPr/>
        </p:nvSpPr>
        <p:spPr>
          <a:xfrm>
            <a:off x="457200" y="1676400"/>
            <a:ext cx="8229600" cy="464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225" name="Google Shape;225;p9"/>
          <p:cNvSpPr txBox="1"/>
          <p:nvPr/>
        </p:nvSpPr>
        <p:spPr>
          <a:xfrm>
            <a:off x="533400" y="1752600"/>
            <a:ext cx="8077200" cy="464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 patent does not give its owner the right to make, use, or sell an invention; rather, the right granted is only to exclude others from doing so.</a:t>
            </a:r>
            <a:endParaRPr/>
          </a:p>
          <a:p>
            <a:pPr indent="0" lvl="0" marL="0" marR="0" rtl="0" algn="l">
              <a:lnSpc>
                <a:spcPct val="10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As a result, if an inventor obtains a patent for a new kind of computer chip, and the chip would infringe on a prior patent owned by Intel, the inventor has no right to make, use, or sell the chip.</a:t>
            </a:r>
            <a:endParaRPr/>
          </a:p>
          <a:p>
            <a:pPr indent="0" lvl="0" marL="0" marR="0" rtl="0" algn="l">
              <a:lnSpc>
                <a:spcPct val="10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To do so, the inventor would need to obtain permission from Intel.  Intel may refuse permission, or ask that a licensing fee be paid for the rights to infringe on its patent.</a:t>
            </a:r>
            <a:endParaRPr/>
          </a:p>
          <a:p>
            <a:pPr indent="0" lvl="0" marL="0" marR="0" rtl="0" algn="l">
              <a:lnSpc>
                <a:spcPct val="10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While this system may seem odd, it is really the only way the system could work.  Many inventions are improvements on existing inventions, and the system allows the improvements to be (patented) and sold, but only with the permission of the original inventors, who usually benefit by obtaining licensing income in exchange for their consent.</a:t>
            </a:r>
            <a:endParaRPr/>
          </a:p>
        </p:txBody>
      </p:sp>
      <p:sp>
        <p:nvSpPr>
          <p:cNvPr id="226" name="Google Shape;226;p9"/>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27" name="Google Shape;227;p9"/>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0"/>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Growth in Patent Applications in the United States</a:t>
            </a:r>
            <a:endParaRPr/>
          </a:p>
        </p:txBody>
      </p:sp>
      <p:cxnSp>
        <p:nvCxnSpPr>
          <p:cNvPr id="233" name="Google Shape;233;p10"/>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34" name="Google Shape;234;p10"/>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35" name="Google Shape;235;p10"/>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pic>
        <p:nvPicPr>
          <p:cNvPr id="236" name="Google Shape;236;p10"/>
          <p:cNvPicPr preferRelativeResize="0"/>
          <p:nvPr/>
        </p:nvPicPr>
        <p:blipFill rotWithShape="1">
          <a:blip r:embed="rId3">
            <a:alphaModFix/>
          </a:blip>
          <a:srcRect b="0" l="0" r="0" t="0"/>
          <a:stretch/>
        </p:blipFill>
        <p:spPr>
          <a:xfrm>
            <a:off x="103187" y="1905000"/>
            <a:ext cx="8937625" cy="3429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Three Basic Requirements for </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Obtaining a Patent</a:t>
            </a:r>
            <a:endParaRPr/>
          </a:p>
        </p:txBody>
      </p:sp>
      <p:cxnSp>
        <p:nvCxnSpPr>
          <p:cNvPr id="242" name="Google Shape;242;p11"/>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pic>
        <p:nvPicPr>
          <p:cNvPr id="243" name="Google Shape;243;p11"/>
          <p:cNvPicPr preferRelativeResize="0"/>
          <p:nvPr/>
        </p:nvPicPr>
        <p:blipFill rotWithShape="1">
          <a:blip r:embed="rId3">
            <a:alphaModFix/>
          </a:blip>
          <a:srcRect b="0" l="0" r="0" t="0"/>
          <a:stretch/>
        </p:blipFill>
        <p:spPr>
          <a:xfrm>
            <a:off x="198437" y="1889125"/>
            <a:ext cx="8716962" cy="2278062"/>
          </a:xfrm>
          <a:prstGeom prst="rect">
            <a:avLst/>
          </a:prstGeom>
          <a:noFill/>
          <a:ln>
            <a:noFill/>
          </a:ln>
        </p:spPr>
      </p:pic>
      <p:sp>
        <p:nvSpPr>
          <p:cNvPr id="244" name="Google Shape;244;p11"/>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45" name="Google Shape;245;p11"/>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Types of Patents</a:t>
            </a:r>
            <a:endParaRPr/>
          </a:p>
        </p:txBody>
      </p:sp>
      <p:cxnSp>
        <p:nvCxnSpPr>
          <p:cNvPr id="251" name="Google Shape;251;p1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52" name="Google Shape;252;p12"/>
          <p:cNvSpPr txBox="1"/>
          <p:nvPr/>
        </p:nvSpPr>
        <p:spPr>
          <a:xfrm>
            <a:off x="457200" y="1524000"/>
            <a:ext cx="8153400" cy="47244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253" name="Google Shape;253;p12"/>
          <p:cNvCxnSpPr/>
          <p:nvPr/>
        </p:nvCxnSpPr>
        <p:spPr>
          <a:xfrm rot="5400000">
            <a:off x="-608806" y="3885406"/>
            <a:ext cx="47244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254" name="Google Shape;254;p12"/>
          <p:cNvCxnSpPr/>
          <p:nvPr/>
        </p:nvCxnSpPr>
        <p:spPr>
          <a:xfrm rot="5400000">
            <a:off x="4420393" y="3885406"/>
            <a:ext cx="47244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255" name="Google Shape;255;p12"/>
          <p:cNvCxnSpPr/>
          <p:nvPr/>
        </p:nvCxnSpPr>
        <p:spPr>
          <a:xfrm>
            <a:off x="457200" y="2133600"/>
            <a:ext cx="81534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256" name="Google Shape;256;p12"/>
          <p:cNvCxnSpPr/>
          <p:nvPr/>
        </p:nvCxnSpPr>
        <p:spPr>
          <a:xfrm>
            <a:off x="457200" y="3429000"/>
            <a:ext cx="81534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257" name="Google Shape;257;p12"/>
          <p:cNvCxnSpPr/>
          <p:nvPr/>
        </p:nvCxnSpPr>
        <p:spPr>
          <a:xfrm>
            <a:off x="457200" y="4953000"/>
            <a:ext cx="8153400" cy="1587"/>
          </a:xfrm>
          <a:prstGeom prst="straightConnector1">
            <a:avLst/>
          </a:prstGeom>
          <a:noFill/>
          <a:ln cap="flat" cmpd="sng" w="9525">
            <a:solidFill>
              <a:schemeClr val="dk1"/>
            </a:solidFill>
            <a:prstDash val="solid"/>
            <a:miter lim="800000"/>
            <a:headEnd len="med" w="med" type="none"/>
            <a:tailEnd len="med" w="med" type="none"/>
          </a:ln>
        </p:spPr>
      </p:cxnSp>
      <p:sp>
        <p:nvSpPr>
          <p:cNvPr id="258" name="Google Shape;258;p12"/>
          <p:cNvSpPr txBox="1"/>
          <p:nvPr/>
        </p:nvSpPr>
        <p:spPr>
          <a:xfrm>
            <a:off x="533400" y="1600200"/>
            <a:ext cx="11430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Type</a:t>
            </a:r>
            <a:endParaRPr/>
          </a:p>
        </p:txBody>
      </p:sp>
      <p:sp>
        <p:nvSpPr>
          <p:cNvPr id="259" name="Google Shape;259;p12"/>
          <p:cNvSpPr txBox="1"/>
          <p:nvPr/>
        </p:nvSpPr>
        <p:spPr>
          <a:xfrm>
            <a:off x="1828800" y="1600200"/>
            <a:ext cx="48006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Type of Invention Covered</a:t>
            </a:r>
            <a:endParaRPr/>
          </a:p>
        </p:txBody>
      </p:sp>
      <p:sp>
        <p:nvSpPr>
          <p:cNvPr id="260" name="Google Shape;260;p12"/>
          <p:cNvSpPr txBox="1"/>
          <p:nvPr/>
        </p:nvSpPr>
        <p:spPr>
          <a:xfrm>
            <a:off x="7086600" y="1600200"/>
            <a:ext cx="11430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Duration</a:t>
            </a:r>
            <a:endParaRPr/>
          </a:p>
        </p:txBody>
      </p:sp>
      <p:sp>
        <p:nvSpPr>
          <p:cNvPr id="261" name="Google Shape;261;p12"/>
          <p:cNvSpPr txBox="1"/>
          <p:nvPr/>
        </p:nvSpPr>
        <p:spPr>
          <a:xfrm>
            <a:off x="533400" y="2438400"/>
            <a:ext cx="11430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Utility</a:t>
            </a:r>
            <a:endParaRPr/>
          </a:p>
        </p:txBody>
      </p:sp>
      <p:sp>
        <p:nvSpPr>
          <p:cNvPr id="262" name="Google Shape;262;p12"/>
          <p:cNvSpPr txBox="1"/>
          <p:nvPr/>
        </p:nvSpPr>
        <p:spPr>
          <a:xfrm>
            <a:off x="533400" y="3962400"/>
            <a:ext cx="11430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Design</a:t>
            </a:r>
            <a:endParaRPr/>
          </a:p>
        </p:txBody>
      </p:sp>
      <p:sp>
        <p:nvSpPr>
          <p:cNvPr id="263" name="Google Shape;263;p12"/>
          <p:cNvSpPr txBox="1"/>
          <p:nvPr/>
        </p:nvSpPr>
        <p:spPr>
          <a:xfrm>
            <a:off x="533400" y="5334000"/>
            <a:ext cx="11430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Plant</a:t>
            </a:r>
            <a:endParaRPr/>
          </a:p>
        </p:txBody>
      </p:sp>
      <p:sp>
        <p:nvSpPr>
          <p:cNvPr id="264" name="Google Shape;264;p12"/>
          <p:cNvSpPr txBox="1"/>
          <p:nvPr/>
        </p:nvSpPr>
        <p:spPr>
          <a:xfrm>
            <a:off x="6705600" y="2133600"/>
            <a:ext cx="1905000" cy="1323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20 years from the date of the original application.</a:t>
            </a:r>
            <a:endParaRPr/>
          </a:p>
        </p:txBody>
      </p:sp>
      <p:sp>
        <p:nvSpPr>
          <p:cNvPr id="265" name="Google Shape;265;p12"/>
          <p:cNvSpPr txBox="1"/>
          <p:nvPr/>
        </p:nvSpPr>
        <p:spPr>
          <a:xfrm>
            <a:off x="6705600" y="4953000"/>
            <a:ext cx="1905000" cy="1323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20 years from the date of the original application.</a:t>
            </a:r>
            <a:endParaRPr/>
          </a:p>
        </p:txBody>
      </p:sp>
      <p:sp>
        <p:nvSpPr>
          <p:cNvPr id="266" name="Google Shape;266;p12"/>
          <p:cNvSpPr txBox="1"/>
          <p:nvPr/>
        </p:nvSpPr>
        <p:spPr>
          <a:xfrm>
            <a:off x="6705600" y="3505200"/>
            <a:ext cx="1905000" cy="1323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14 years from the date of the original application.</a:t>
            </a:r>
            <a:endParaRPr/>
          </a:p>
        </p:txBody>
      </p:sp>
      <p:sp>
        <p:nvSpPr>
          <p:cNvPr id="267" name="Google Shape;267;p12"/>
          <p:cNvSpPr txBox="1"/>
          <p:nvPr/>
        </p:nvSpPr>
        <p:spPr>
          <a:xfrm>
            <a:off x="1905000" y="2209800"/>
            <a:ext cx="4724400"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New or useful process, machine, manufacturer, or composition of material or any new and useful improvement thereof.</a:t>
            </a:r>
            <a:endParaRPr/>
          </a:p>
        </p:txBody>
      </p:sp>
      <p:sp>
        <p:nvSpPr>
          <p:cNvPr id="268" name="Google Shape;268;p12"/>
          <p:cNvSpPr txBox="1"/>
          <p:nvPr/>
        </p:nvSpPr>
        <p:spPr>
          <a:xfrm>
            <a:off x="1905000" y="3733800"/>
            <a:ext cx="45720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Invention of new, original, and ornamental design for manufactured products.</a:t>
            </a:r>
            <a:endParaRPr/>
          </a:p>
        </p:txBody>
      </p:sp>
      <p:sp>
        <p:nvSpPr>
          <p:cNvPr id="269" name="Google Shape;269;p12"/>
          <p:cNvSpPr txBox="1"/>
          <p:nvPr/>
        </p:nvSpPr>
        <p:spPr>
          <a:xfrm>
            <a:off x="1905000" y="5105400"/>
            <a:ext cx="4724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Any new varieties of plants that can be reproduced asexually.</a:t>
            </a:r>
            <a:endParaRPr/>
          </a:p>
        </p:txBody>
      </p:sp>
      <p:sp>
        <p:nvSpPr>
          <p:cNvPr id="270" name="Google Shape;270;p12"/>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71" name="Google Shape;271;p12"/>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Business Method Patents </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(Special Utility Patent)</a:t>
            </a:r>
            <a:endParaRPr/>
          </a:p>
        </p:txBody>
      </p:sp>
      <p:sp>
        <p:nvSpPr>
          <p:cNvPr id="277" name="Google Shape;277;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Business Method Patent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business method patent is a patent that protects an invention that is or facilitates a method of doing business.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most notable business method patents that have been awarded:</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Amazon.com’s one-click ordering system.</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Priceline.com’s “name-your-price” business model.</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Netflix’s method for allowing customers to set up a rental list of movies to be mailed to them.</a:t>
            </a:r>
            <a:endParaRPr/>
          </a:p>
        </p:txBody>
      </p:sp>
      <p:cxnSp>
        <p:nvCxnSpPr>
          <p:cNvPr id="278" name="Google Shape;278;p13"/>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79" name="Google Shape;279;p13"/>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80" name="Google Shape;280;p13"/>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Process of Obtaining a Patent</a:t>
            </a:r>
            <a:endParaRPr/>
          </a:p>
        </p:txBody>
      </p:sp>
      <p:cxnSp>
        <p:nvCxnSpPr>
          <p:cNvPr id="286" name="Google Shape;286;p1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87" name="Google Shape;287;p14"/>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88" name="Google Shape;288;p14"/>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pic>
        <p:nvPicPr>
          <p:cNvPr id="289" name="Google Shape;289;p14"/>
          <p:cNvPicPr preferRelativeResize="0"/>
          <p:nvPr/>
        </p:nvPicPr>
        <p:blipFill rotWithShape="1">
          <a:blip r:embed="rId3">
            <a:alphaModFix/>
          </a:blip>
          <a:srcRect b="0" l="0" r="0" t="0"/>
          <a:stretch/>
        </p:blipFill>
        <p:spPr>
          <a:xfrm>
            <a:off x="98425" y="1676400"/>
            <a:ext cx="8947150" cy="380523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5"/>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Patent Infringement</a:t>
            </a:r>
            <a:endParaRPr/>
          </a:p>
        </p:txBody>
      </p:sp>
      <p:sp>
        <p:nvSpPr>
          <p:cNvPr id="295" name="Google Shape;295;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Patent Infringement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Takes place when one party engages in the unauthorized use of another party’s patent.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tough part (particularly from a small entrepreneurial firm’s point of view) is that patent infringement cases are costly to litigate.</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typical patent infringement case costs each side at least $500,000 to litigate.</a:t>
            </a:r>
            <a:endParaRPr/>
          </a:p>
        </p:txBody>
      </p:sp>
      <p:cxnSp>
        <p:nvCxnSpPr>
          <p:cNvPr id="296" name="Google Shape;296;p15"/>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97" name="Google Shape;297;p15"/>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298" name="Google Shape;298;p15"/>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ad09321cb8_0_48"/>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Inventorship</a:t>
            </a:r>
            <a:endParaRPr/>
          </a:p>
        </p:txBody>
      </p:sp>
      <p:sp>
        <p:nvSpPr>
          <p:cNvPr id="305" name="Google Shape;305;g3ad09321cb8_0_48"/>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306" name="Google Shape;306;g3ad09321cb8_0_48"/>
          <p:cNvPicPr preferRelativeResize="0"/>
          <p:nvPr/>
        </p:nvPicPr>
        <p:blipFill>
          <a:blip r:embed="rId3">
            <a:alphaModFix/>
          </a:blip>
          <a:stretch>
            <a:fillRect/>
          </a:stretch>
        </p:blipFill>
        <p:spPr>
          <a:xfrm>
            <a:off x="457200" y="1582434"/>
            <a:ext cx="8229600" cy="4634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ad09321cb8_0_64"/>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Inventorship</a:t>
            </a:r>
            <a:r>
              <a:rPr lang="en-US"/>
              <a:t> Disputes</a:t>
            </a:r>
            <a:endParaRPr/>
          </a:p>
        </p:txBody>
      </p:sp>
      <p:sp>
        <p:nvSpPr>
          <p:cNvPr id="313" name="Google Shape;313;g3ad09321cb8_0_64"/>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314" name="Google Shape;314;g3ad09321cb8_0_64"/>
          <p:cNvPicPr preferRelativeResize="0"/>
          <p:nvPr/>
        </p:nvPicPr>
        <p:blipFill>
          <a:blip r:embed="rId3">
            <a:alphaModFix/>
          </a:blip>
          <a:stretch>
            <a:fillRect/>
          </a:stretch>
        </p:blipFill>
        <p:spPr>
          <a:xfrm>
            <a:off x="457200" y="1582434"/>
            <a:ext cx="8229600" cy="4634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ad09321cb8_0_56"/>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How does one protect himself</a:t>
            </a:r>
            <a:endParaRPr/>
          </a:p>
        </p:txBody>
      </p:sp>
      <p:sp>
        <p:nvSpPr>
          <p:cNvPr id="321" name="Google Shape;321;g3ad09321cb8_0_56"/>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322" name="Google Shape;322;g3ad09321cb8_0_56"/>
          <p:cNvPicPr preferRelativeResize="0"/>
          <p:nvPr/>
        </p:nvPicPr>
        <p:blipFill>
          <a:blip r:embed="rId3">
            <a:alphaModFix/>
          </a:blip>
          <a:stretch>
            <a:fillRect/>
          </a:stretch>
        </p:blipFill>
        <p:spPr>
          <a:xfrm>
            <a:off x="152400" y="1570021"/>
            <a:ext cx="8544304" cy="4811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d09321cb8_0_72"/>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Commercialization Stages</a:t>
            </a:r>
            <a:endParaRPr/>
          </a:p>
        </p:txBody>
      </p:sp>
      <p:sp>
        <p:nvSpPr>
          <p:cNvPr id="329" name="Google Shape;329;g3ad09321cb8_0_72"/>
          <p:cNvSpPr txBox="1"/>
          <p:nvPr>
            <p:ph idx="12" type="sldNum"/>
          </p:nvPr>
        </p:nvSpPr>
        <p:spPr>
          <a:xfrm>
            <a:off x="6553200" y="638175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12-</a:t>
            </a:r>
            <a:fld id="{00000000-1234-1234-1234-123412341234}" type="slidenum">
              <a:rPr lang="en-US"/>
              <a:t>‹#›</a:t>
            </a:fld>
            <a:endParaRPr/>
          </a:p>
        </p:txBody>
      </p:sp>
      <p:pic>
        <p:nvPicPr>
          <p:cNvPr id="330" name="Google Shape;330;g3ad09321cb8_0_72"/>
          <p:cNvPicPr preferRelativeResize="0"/>
          <p:nvPr/>
        </p:nvPicPr>
        <p:blipFill>
          <a:blip r:embed="rId3">
            <a:alphaModFix/>
          </a:blip>
          <a:stretch>
            <a:fillRect/>
          </a:stretch>
        </p:blipFill>
        <p:spPr>
          <a:xfrm>
            <a:off x="622375" y="1581735"/>
            <a:ext cx="8064437" cy="46359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Trademarks</a:t>
            </a:r>
            <a:endParaRPr/>
          </a:p>
        </p:txBody>
      </p:sp>
      <p:sp>
        <p:nvSpPr>
          <p:cNvPr id="336" name="Google Shape;336;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Trademark</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trademark is any word, name, symbol, or device used to identify the source or origin of products or services and to distinguish those product or services from others.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Trademarks also provide consumers with useful information.</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For example, consumers know what to expect when they see a Macy’s store.</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Think how confusing it would be if any retail store could use the name Macy’s.</a:t>
            </a:r>
            <a:endParaRPr/>
          </a:p>
        </p:txBody>
      </p:sp>
      <p:cxnSp>
        <p:nvCxnSpPr>
          <p:cNvPr id="337" name="Google Shape;337;p16"/>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38" name="Google Shape;338;p16"/>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339" name="Google Shape;339;p16"/>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Four Types of Trademarks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cxnSp>
        <p:nvCxnSpPr>
          <p:cNvPr id="345" name="Google Shape;345;p17"/>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46" name="Google Shape;346;p17"/>
          <p:cNvSpPr txBox="1"/>
          <p:nvPr/>
        </p:nvSpPr>
        <p:spPr>
          <a:xfrm>
            <a:off x="762000" y="1676400"/>
            <a:ext cx="7620000" cy="4495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47" name="Google Shape;347;p17"/>
          <p:cNvCxnSpPr/>
          <p:nvPr/>
        </p:nvCxnSpPr>
        <p:spPr>
          <a:xfrm>
            <a:off x="762000" y="2209800"/>
            <a:ext cx="7620000" cy="0"/>
          </a:xfrm>
          <a:prstGeom prst="straightConnector1">
            <a:avLst/>
          </a:prstGeom>
          <a:noFill/>
          <a:ln cap="flat" cmpd="sng" w="9525">
            <a:solidFill>
              <a:schemeClr val="dk1"/>
            </a:solidFill>
            <a:prstDash val="solid"/>
            <a:miter lim="800000"/>
            <a:headEnd len="med" w="med" type="none"/>
            <a:tailEnd len="med" w="med" type="none"/>
          </a:ln>
        </p:spPr>
      </p:cxnSp>
      <p:cxnSp>
        <p:nvCxnSpPr>
          <p:cNvPr id="348" name="Google Shape;348;p17"/>
          <p:cNvCxnSpPr/>
          <p:nvPr/>
        </p:nvCxnSpPr>
        <p:spPr>
          <a:xfrm>
            <a:off x="762000" y="4038600"/>
            <a:ext cx="7620000" cy="0"/>
          </a:xfrm>
          <a:prstGeom prst="straightConnector1">
            <a:avLst/>
          </a:prstGeom>
          <a:noFill/>
          <a:ln cap="flat" cmpd="sng" w="9525">
            <a:solidFill>
              <a:schemeClr val="dk1"/>
            </a:solidFill>
            <a:prstDash val="solid"/>
            <a:miter lim="800000"/>
            <a:headEnd len="med" w="med" type="none"/>
            <a:tailEnd len="med" w="med" type="none"/>
          </a:ln>
        </p:spPr>
      </p:cxnSp>
      <p:sp>
        <p:nvSpPr>
          <p:cNvPr id="349" name="Google Shape;349;p17"/>
          <p:cNvSpPr txBox="1"/>
          <p:nvPr/>
        </p:nvSpPr>
        <p:spPr>
          <a:xfrm>
            <a:off x="609600" y="1752600"/>
            <a:ext cx="19812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Type</a:t>
            </a:r>
            <a:r>
              <a:rPr b="0" i="0" lang="en-US" sz="1800" u="none">
                <a:solidFill>
                  <a:schemeClr val="dk1"/>
                </a:solidFill>
                <a:latin typeface="Times New Roman"/>
                <a:ea typeface="Times New Roman"/>
                <a:cs typeface="Times New Roman"/>
                <a:sym typeface="Times New Roman"/>
              </a:rPr>
              <a:t> </a:t>
            </a:r>
            <a:endParaRPr/>
          </a:p>
        </p:txBody>
      </p:sp>
      <p:sp>
        <p:nvSpPr>
          <p:cNvPr id="350" name="Google Shape;350;p17"/>
          <p:cNvSpPr txBox="1"/>
          <p:nvPr/>
        </p:nvSpPr>
        <p:spPr>
          <a:xfrm>
            <a:off x="2819400" y="1752600"/>
            <a:ext cx="29718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Types of Marks Covered</a:t>
            </a:r>
            <a:endParaRPr/>
          </a:p>
        </p:txBody>
      </p:sp>
      <p:sp>
        <p:nvSpPr>
          <p:cNvPr id="351" name="Google Shape;351;p17"/>
          <p:cNvSpPr txBox="1"/>
          <p:nvPr/>
        </p:nvSpPr>
        <p:spPr>
          <a:xfrm>
            <a:off x="685800" y="2590800"/>
            <a:ext cx="18288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Trademark</a:t>
            </a:r>
            <a:endParaRPr/>
          </a:p>
        </p:txBody>
      </p:sp>
      <p:sp>
        <p:nvSpPr>
          <p:cNvPr id="352" name="Google Shape;352;p17"/>
          <p:cNvSpPr txBox="1"/>
          <p:nvPr/>
        </p:nvSpPr>
        <p:spPr>
          <a:xfrm>
            <a:off x="6324600" y="1752600"/>
            <a:ext cx="19050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Duration</a:t>
            </a:r>
            <a:endParaRPr/>
          </a:p>
        </p:txBody>
      </p:sp>
      <p:sp>
        <p:nvSpPr>
          <p:cNvPr id="353" name="Google Shape;353;p17"/>
          <p:cNvSpPr txBox="1"/>
          <p:nvPr/>
        </p:nvSpPr>
        <p:spPr>
          <a:xfrm>
            <a:off x="6324600" y="2362200"/>
            <a:ext cx="1981200" cy="1323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Renewable every 10 years, as long as  the mark remains in use.</a:t>
            </a:r>
            <a:endParaRPr/>
          </a:p>
        </p:txBody>
      </p:sp>
      <p:sp>
        <p:nvSpPr>
          <p:cNvPr id="354" name="Google Shape;354;p17"/>
          <p:cNvSpPr txBox="1"/>
          <p:nvPr/>
        </p:nvSpPr>
        <p:spPr>
          <a:xfrm>
            <a:off x="609600" y="4419600"/>
            <a:ext cx="18288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Service mark</a:t>
            </a:r>
            <a:endParaRPr/>
          </a:p>
        </p:txBody>
      </p:sp>
      <p:sp>
        <p:nvSpPr>
          <p:cNvPr id="355" name="Google Shape;355;p17"/>
          <p:cNvSpPr txBox="1"/>
          <p:nvPr/>
        </p:nvSpPr>
        <p:spPr>
          <a:xfrm>
            <a:off x="6248400" y="4191000"/>
            <a:ext cx="2057400" cy="1323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Renewable every 10 years, as long as  the mark remains in use.</a:t>
            </a:r>
            <a:endParaRPr/>
          </a:p>
        </p:txBody>
      </p:sp>
      <p:sp>
        <p:nvSpPr>
          <p:cNvPr id="356" name="Google Shape;356;p17"/>
          <p:cNvSpPr txBox="1"/>
          <p:nvPr/>
        </p:nvSpPr>
        <p:spPr>
          <a:xfrm>
            <a:off x="2514600" y="2209800"/>
            <a:ext cx="3657600" cy="1616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Any word, name, symbol, or device used to identify and distinguish one company’s goods from another. </a:t>
            </a:r>
            <a:endParaRPr/>
          </a:p>
          <a:p>
            <a:pPr indent="0" lvl="0" marL="0" marR="0" rtl="0" algn="l">
              <a:lnSpc>
                <a:spcPct val="100000"/>
              </a:lnSpc>
              <a:spcBef>
                <a:spcPts val="90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Examples: </a:t>
            </a:r>
            <a:r>
              <a:rPr b="0" i="1" lang="en-US" sz="1800" u="none">
                <a:solidFill>
                  <a:schemeClr val="dk1"/>
                </a:solidFill>
                <a:latin typeface="Times New Roman"/>
                <a:ea typeface="Times New Roman"/>
                <a:cs typeface="Times New Roman"/>
                <a:sym typeface="Times New Roman"/>
              </a:rPr>
              <a:t>Apple, d.light, GoPro, DripCatch, and Brain Sentry.</a:t>
            </a:r>
            <a:endParaRPr/>
          </a:p>
        </p:txBody>
      </p:sp>
      <p:sp>
        <p:nvSpPr>
          <p:cNvPr id="357" name="Google Shape;357;p17"/>
          <p:cNvSpPr txBox="1"/>
          <p:nvPr/>
        </p:nvSpPr>
        <p:spPr>
          <a:xfrm>
            <a:off x="2519362" y="4116387"/>
            <a:ext cx="3733800" cy="189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Similar to trademarks; are used to identify the services or intangible activities of a business, rather than a business’s physical products.</a:t>
            </a:r>
            <a:endParaRPr/>
          </a:p>
          <a:p>
            <a:pPr indent="0" lvl="0" marL="0" marR="0" rtl="0" algn="l">
              <a:lnSpc>
                <a:spcPct val="100000"/>
              </a:lnSpc>
              <a:spcBef>
                <a:spcPts val="90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Examples: </a:t>
            </a:r>
            <a:r>
              <a:rPr b="0" i="1" lang="en-US" sz="1800" u="none">
                <a:solidFill>
                  <a:schemeClr val="dk1"/>
                </a:solidFill>
                <a:latin typeface="Times New Roman"/>
                <a:ea typeface="Times New Roman"/>
                <a:cs typeface="Times New Roman"/>
                <a:sym typeface="Times New Roman"/>
              </a:rPr>
              <a:t>1-800-FLOWERS, Amazon.com, CoachUp, and Dropbox.</a:t>
            </a:r>
            <a:endParaRPr/>
          </a:p>
        </p:txBody>
      </p:sp>
      <p:cxnSp>
        <p:nvCxnSpPr>
          <p:cNvPr id="358" name="Google Shape;358;p17"/>
          <p:cNvCxnSpPr/>
          <p:nvPr/>
        </p:nvCxnSpPr>
        <p:spPr>
          <a:xfrm>
            <a:off x="2362200" y="1676400"/>
            <a:ext cx="0" cy="4495800"/>
          </a:xfrm>
          <a:prstGeom prst="straightConnector1">
            <a:avLst/>
          </a:prstGeom>
          <a:noFill/>
          <a:ln cap="flat" cmpd="sng" w="9525">
            <a:solidFill>
              <a:schemeClr val="dk1"/>
            </a:solidFill>
            <a:prstDash val="solid"/>
            <a:miter lim="800000"/>
            <a:headEnd len="med" w="med" type="none"/>
            <a:tailEnd len="med" w="med" type="none"/>
          </a:ln>
        </p:spPr>
      </p:cxnSp>
      <p:cxnSp>
        <p:nvCxnSpPr>
          <p:cNvPr id="359" name="Google Shape;359;p17"/>
          <p:cNvCxnSpPr/>
          <p:nvPr/>
        </p:nvCxnSpPr>
        <p:spPr>
          <a:xfrm>
            <a:off x="6248400" y="1676400"/>
            <a:ext cx="0" cy="4495800"/>
          </a:xfrm>
          <a:prstGeom prst="straightConnector1">
            <a:avLst/>
          </a:prstGeom>
          <a:noFill/>
          <a:ln cap="flat" cmpd="sng" w="9525">
            <a:solidFill>
              <a:schemeClr val="dk1"/>
            </a:solidFill>
            <a:prstDash val="solid"/>
            <a:miter lim="800000"/>
            <a:headEnd len="med" w="med" type="none"/>
            <a:tailEnd len="med" w="med" type="none"/>
          </a:ln>
        </p:spPr>
      </p:cxnSp>
      <p:sp>
        <p:nvSpPr>
          <p:cNvPr id="360" name="Google Shape;360;p17"/>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361" name="Google Shape;361;p17"/>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Four Types of Trademarks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367" name="Google Shape;367;p1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68" name="Google Shape;368;p18"/>
          <p:cNvSpPr txBox="1"/>
          <p:nvPr/>
        </p:nvSpPr>
        <p:spPr>
          <a:xfrm>
            <a:off x="762000" y="1752600"/>
            <a:ext cx="7620000" cy="4495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69" name="Google Shape;369;p18"/>
          <p:cNvCxnSpPr/>
          <p:nvPr/>
        </p:nvCxnSpPr>
        <p:spPr>
          <a:xfrm>
            <a:off x="762000" y="2209800"/>
            <a:ext cx="7620000" cy="0"/>
          </a:xfrm>
          <a:prstGeom prst="straightConnector1">
            <a:avLst/>
          </a:prstGeom>
          <a:noFill/>
          <a:ln cap="flat" cmpd="sng" w="9525">
            <a:solidFill>
              <a:schemeClr val="dk1"/>
            </a:solidFill>
            <a:prstDash val="solid"/>
            <a:miter lim="800000"/>
            <a:headEnd len="med" w="med" type="none"/>
            <a:tailEnd len="med" w="med" type="none"/>
          </a:ln>
        </p:spPr>
      </p:cxnSp>
      <p:cxnSp>
        <p:nvCxnSpPr>
          <p:cNvPr id="370" name="Google Shape;370;p18"/>
          <p:cNvCxnSpPr/>
          <p:nvPr/>
        </p:nvCxnSpPr>
        <p:spPr>
          <a:xfrm>
            <a:off x="762000" y="4038600"/>
            <a:ext cx="7620000" cy="0"/>
          </a:xfrm>
          <a:prstGeom prst="straightConnector1">
            <a:avLst/>
          </a:prstGeom>
          <a:noFill/>
          <a:ln cap="flat" cmpd="sng" w="9525">
            <a:solidFill>
              <a:schemeClr val="dk1"/>
            </a:solidFill>
            <a:prstDash val="solid"/>
            <a:miter lim="800000"/>
            <a:headEnd len="med" w="med" type="none"/>
            <a:tailEnd len="med" w="med" type="none"/>
          </a:ln>
        </p:spPr>
      </p:cxnSp>
      <p:sp>
        <p:nvSpPr>
          <p:cNvPr id="371" name="Google Shape;371;p18"/>
          <p:cNvSpPr txBox="1"/>
          <p:nvPr/>
        </p:nvSpPr>
        <p:spPr>
          <a:xfrm>
            <a:off x="609600" y="1752600"/>
            <a:ext cx="1981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Type</a:t>
            </a:r>
            <a:r>
              <a:rPr b="0" i="0" lang="en-US" sz="1800" u="none">
                <a:solidFill>
                  <a:schemeClr val="dk1"/>
                </a:solidFill>
                <a:latin typeface="Times New Roman"/>
                <a:ea typeface="Times New Roman"/>
                <a:cs typeface="Times New Roman"/>
                <a:sym typeface="Times New Roman"/>
              </a:rPr>
              <a:t> </a:t>
            </a:r>
            <a:endParaRPr/>
          </a:p>
        </p:txBody>
      </p:sp>
      <p:sp>
        <p:nvSpPr>
          <p:cNvPr id="372" name="Google Shape;372;p18"/>
          <p:cNvSpPr txBox="1"/>
          <p:nvPr/>
        </p:nvSpPr>
        <p:spPr>
          <a:xfrm>
            <a:off x="2819400" y="1752600"/>
            <a:ext cx="29718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Types of Marks Covered</a:t>
            </a:r>
            <a:endParaRPr/>
          </a:p>
        </p:txBody>
      </p:sp>
      <p:sp>
        <p:nvSpPr>
          <p:cNvPr id="373" name="Google Shape;373;p18"/>
          <p:cNvSpPr txBox="1"/>
          <p:nvPr/>
        </p:nvSpPr>
        <p:spPr>
          <a:xfrm>
            <a:off x="762000" y="2590800"/>
            <a:ext cx="16764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Collective mark</a:t>
            </a:r>
            <a:endParaRPr/>
          </a:p>
        </p:txBody>
      </p:sp>
      <p:sp>
        <p:nvSpPr>
          <p:cNvPr id="374" name="Google Shape;374;p18"/>
          <p:cNvSpPr txBox="1"/>
          <p:nvPr/>
        </p:nvSpPr>
        <p:spPr>
          <a:xfrm>
            <a:off x="6324600" y="1752600"/>
            <a:ext cx="19050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Duration</a:t>
            </a:r>
            <a:endParaRPr/>
          </a:p>
        </p:txBody>
      </p:sp>
      <p:sp>
        <p:nvSpPr>
          <p:cNvPr id="375" name="Google Shape;375;p18"/>
          <p:cNvSpPr txBox="1"/>
          <p:nvPr/>
        </p:nvSpPr>
        <p:spPr>
          <a:xfrm>
            <a:off x="6324600" y="2362200"/>
            <a:ext cx="1981200" cy="1311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Renewable every 10 years, as long as  the mark remains in use.</a:t>
            </a:r>
            <a:endParaRPr/>
          </a:p>
        </p:txBody>
      </p:sp>
      <p:sp>
        <p:nvSpPr>
          <p:cNvPr id="376" name="Google Shape;376;p18"/>
          <p:cNvSpPr txBox="1"/>
          <p:nvPr/>
        </p:nvSpPr>
        <p:spPr>
          <a:xfrm>
            <a:off x="609600" y="4419600"/>
            <a:ext cx="182880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Certification mark</a:t>
            </a:r>
            <a:endParaRPr/>
          </a:p>
        </p:txBody>
      </p:sp>
      <p:sp>
        <p:nvSpPr>
          <p:cNvPr id="377" name="Google Shape;377;p18"/>
          <p:cNvSpPr txBox="1"/>
          <p:nvPr/>
        </p:nvSpPr>
        <p:spPr>
          <a:xfrm>
            <a:off x="6248400" y="4191000"/>
            <a:ext cx="2057400" cy="1311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Renewable every 10 years, as long as  the mark remains in use.</a:t>
            </a:r>
            <a:endParaRPr/>
          </a:p>
        </p:txBody>
      </p:sp>
      <p:sp>
        <p:nvSpPr>
          <p:cNvPr id="378" name="Google Shape;378;p18"/>
          <p:cNvSpPr txBox="1"/>
          <p:nvPr/>
        </p:nvSpPr>
        <p:spPr>
          <a:xfrm>
            <a:off x="2514600" y="2209800"/>
            <a:ext cx="3657600" cy="1603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Trademarks or service marks used by the members of a cooperative, association, or other collective group.</a:t>
            </a:r>
            <a:endParaRPr/>
          </a:p>
          <a:p>
            <a:pPr indent="0" lvl="0" marL="0" marR="0" rtl="0" algn="l">
              <a:lnSpc>
                <a:spcPct val="100000"/>
              </a:lnSpc>
              <a:spcBef>
                <a:spcPts val="90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Examples: </a:t>
            </a:r>
            <a:r>
              <a:rPr b="0" i="1" lang="en-US" sz="1800" u="none">
                <a:solidFill>
                  <a:schemeClr val="dk1"/>
                </a:solidFill>
                <a:latin typeface="Times New Roman"/>
                <a:ea typeface="Times New Roman"/>
                <a:cs typeface="Times New Roman"/>
                <a:sym typeface="Times New Roman"/>
              </a:rPr>
              <a:t>Rotary International and International Franchise Association </a:t>
            </a:r>
            <a:endParaRPr/>
          </a:p>
        </p:txBody>
      </p:sp>
      <p:sp>
        <p:nvSpPr>
          <p:cNvPr id="379" name="Google Shape;379;p18"/>
          <p:cNvSpPr txBox="1"/>
          <p:nvPr/>
        </p:nvSpPr>
        <p:spPr>
          <a:xfrm>
            <a:off x="2590800" y="4114800"/>
            <a:ext cx="3581400" cy="1878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Marks, words, names, symbols, or devices used by a person other than the owner to certify a particular quality about a good or service.</a:t>
            </a:r>
            <a:endParaRPr/>
          </a:p>
          <a:p>
            <a:pPr indent="0" lvl="0" marL="0" marR="0" rtl="0" algn="l">
              <a:lnSpc>
                <a:spcPct val="100000"/>
              </a:lnSpc>
              <a:spcBef>
                <a:spcPts val="90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Examples: </a:t>
            </a:r>
            <a:r>
              <a:rPr b="0" i="1" lang="en-US" sz="1800" u="none">
                <a:solidFill>
                  <a:schemeClr val="dk1"/>
                </a:solidFill>
                <a:latin typeface="Times New Roman"/>
                <a:ea typeface="Times New Roman"/>
                <a:cs typeface="Times New Roman"/>
                <a:sym typeface="Times New Roman"/>
              </a:rPr>
              <a:t>100% Napa Valley and Underwriters Laboratories</a:t>
            </a:r>
            <a:endParaRPr/>
          </a:p>
        </p:txBody>
      </p:sp>
      <p:cxnSp>
        <p:nvCxnSpPr>
          <p:cNvPr id="380" name="Google Shape;380;p18"/>
          <p:cNvCxnSpPr/>
          <p:nvPr/>
        </p:nvCxnSpPr>
        <p:spPr>
          <a:xfrm>
            <a:off x="2362200" y="1676400"/>
            <a:ext cx="0" cy="4495800"/>
          </a:xfrm>
          <a:prstGeom prst="straightConnector1">
            <a:avLst/>
          </a:prstGeom>
          <a:noFill/>
          <a:ln cap="flat" cmpd="sng" w="9525">
            <a:solidFill>
              <a:schemeClr val="dk1"/>
            </a:solidFill>
            <a:prstDash val="solid"/>
            <a:miter lim="800000"/>
            <a:headEnd len="med" w="med" type="none"/>
            <a:tailEnd len="med" w="med" type="none"/>
          </a:ln>
        </p:spPr>
      </p:cxnSp>
      <p:cxnSp>
        <p:nvCxnSpPr>
          <p:cNvPr id="381" name="Google Shape;381;p18"/>
          <p:cNvCxnSpPr/>
          <p:nvPr/>
        </p:nvCxnSpPr>
        <p:spPr>
          <a:xfrm>
            <a:off x="6248400" y="1676400"/>
            <a:ext cx="0" cy="4495800"/>
          </a:xfrm>
          <a:prstGeom prst="straightConnector1">
            <a:avLst/>
          </a:prstGeom>
          <a:noFill/>
          <a:ln cap="flat" cmpd="sng" w="9525">
            <a:solidFill>
              <a:schemeClr val="dk1"/>
            </a:solidFill>
            <a:prstDash val="solid"/>
            <a:miter lim="800000"/>
            <a:headEnd len="med" w="med" type="none"/>
            <a:tailEnd len="med" w="med" type="none"/>
          </a:ln>
        </p:spPr>
      </p:cxnSp>
      <p:sp>
        <p:nvSpPr>
          <p:cNvPr id="382" name="Google Shape;382;p18"/>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383" name="Google Shape;383;p18"/>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9"/>
          <p:cNvSpPr txBox="1"/>
          <p:nvPr>
            <p:ph type="title"/>
          </p:nvPr>
        </p:nvSpPr>
        <p:spPr>
          <a:xfrm>
            <a:off x="457200" y="152400"/>
            <a:ext cx="8153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is Protected Under Trademark Law</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cxnSp>
        <p:nvCxnSpPr>
          <p:cNvPr id="389" name="Google Shape;389;p19"/>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90" name="Google Shape;390;p19"/>
          <p:cNvSpPr txBox="1"/>
          <p:nvPr/>
        </p:nvSpPr>
        <p:spPr>
          <a:xfrm>
            <a:off x="457200" y="1676400"/>
            <a:ext cx="8229600" cy="464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91" name="Google Shape;391;p19"/>
          <p:cNvCxnSpPr/>
          <p:nvPr/>
        </p:nvCxnSpPr>
        <p:spPr>
          <a:xfrm>
            <a:off x="457200" y="2362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392" name="Google Shape;392;p19"/>
          <p:cNvCxnSpPr/>
          <p:nvPr/>
        </p:nvCxnSpPr>
        <p:spPr>
          <a:xfrm rot="5400000">
            <a:off x="648493" y="3999706"/>
            <a:ext cx="4648200" cy="1587"/>
          </a:xfrm>
          <a:prstGeom prst="straightConnector1">
            <a:avLst/>
          </a:prstGeom>
          <a:noFill/>
          <a:ln cap="flat" cmpd="sng" w="9525">
            <a:solidFill>
              <a:schemeClr val="dk1"/>
            </a:solidFill>
            <a:prstDash val="solid"/>
            <a:miter lim="800000"/>
            <a:headEnd len="med" w="med" type="none"/>
            <a:tailEnd len="med" w="med" type="none"/>
          </a:ln>
        </p:spPr>
      </p:cxnSp>
      <p:sp>
        <p:nvSpPr>
          <p:cNvPr id="393" name="Google Shape;393;p19"/>
          <p:cNvSpPr txBox="1"/>
          <p:nvPr/>
        </p:nvSpPr>
        <p:spPr>
          <a:xfrm>
            <a:off x="838200" y="18288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Item</a:t>
            </a:r>
            <a:endParaRPr/>
          </a:p>
        </p:txBody>
      </p:sp>
      <p:sp>
        <p:nvSpPr>
          <p:cNvPr id="394" name="Google Shape;394;p19"/>
          <p:cNvSpPr txBox="1"/>
          <p:nvPr/>
        </p:nvSpPr>
        <p:spPr>
          <a:xfrm>
            <a:off x="2438400" y="1828800"/>
            <a:ext cx="60960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Example(s)</a:t>
            </a:r>
            <a:endParaRPr/>
          </a:p>
        </p:txBody>
      </p:sp>
      <p:cxnSp>
        <p:nvCxnSpPr>
          <p:cNvPr id="395" name="Google Shape;395;p19"/>
          <p:cNvCxnSpPr/>
          <p:nvPr/>
        </p:nvCxnSpPr>
        <p:spPr>
          <a:xfrm>
            <a:off x="457200" y="32004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396" name="Google Shape;396;p19"/>
          <p:cNvCxnSpPr/>
          <p:nvPr/>
        </p:nvCxnSpPr>
        <p:spPr>
          <a:xfrm>
            <a:off x="457200" y="4267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397" name="Google Shape;397;p19"/>
          <p:cNvCxnSpPr/>
          <p:nvPr/>
        </p:nvCxnSpPr>
        <p:spPr>
          <a:xfrm>
            <a:off x="457200" y="5257800"/>
            <a:ext cx="8229600" cy="1587"/>
          </a:xfrm>
          <a:prstGeom prst="straightConnector1">
            <a:avLst/>
          </a:prstGeom>
          <a:noFill/>
          <a:ln cap="flat" cmpd="sng" w="9525">
            <a:solidFill>
              <a:schemeClr val="dk1"/>
            </a:solidFill>
            <a:prstDash val="solid"/>
            <a:miter lim="800000"/>
            <a:headEnd len="med" w="med" type="none"/>
            <a:tailEnd len="med" w="med" type="none"/>
          </a:ln>
        </p:spPr>
      </p:cxnSp>
      <p:sp>
        <p:nvSpPr>
          <p:cNvPr id="398" name="Google Shape;398;p19"/>
          <p:cNvSpPr txBox="1"/>
          <p:nvPr/>
        </p:nvSpPr>
        <p:spPr>
          <a:xfrm>
            <a:off x="838200" y="25146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Words</a:t>
            </a:r>
            <a:endParaRPr/>
          </a:p>
        </p:txBody>
      </p:sp>
      <p:sp>
        <p:nvSpPr>
          <p:cNvPr id="399" name="Google Shape;399;p19"/>
          <p:cNvSpPr txBox="1"/>
          <p:nvPr/>
        </p:nvSpPr>
        <p:spPr>
          <a:xfrm>
            <a:off x="838200" y="3352800"/>
            <a:ext cx="16764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Numbers and letters </a:t>
            </a:r>
            <a:endParaRPr/>
          </a:p>
        </p:txBody>
      </p:sp>
      <p:sp>
        <p:nvSpPr>
          <p:cNvPr id="400" name="Google Shape;400;p19"/>
          <p:cNvSpPr txBox="1"/>
          <p:nvPr/>
        </p:nvSpPr>
        <p:spPr>
          <a:xfrm>
            <a:off x="914400" y="4343400"/>
            <a:ext cx="16764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Designs and logos </a:t>
            </a:r>
            <a:endParaRPr/>
          </a:p>
        </p:txBody>
      </p:sp>
      <p:sp>
        <p:nvSpPr>
          <p:cNvPr id="401" name="Google Shape;401;p19"/>
          <p:cNvSpPr txBox="1"/>
          <p:nvPr/>
        </p:nvSpPr>
        <p:spPr>
          <a:xfrm>
            <a:off x="914400" y="54864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Sounds </a:t>
            </a:r>
            <a:endParaRPr/>
          </a:p>
        </p:txBody>
      </p:sp>
      <p:sp>
        <p:nvSpPr>
          <p:cNvPr id="402" name="Google Shape;402;p19"/>
          <p:cNvSpPr txBox="1"/>
          <p:nvPr/>
        </p:nvSpPr>
        <p:spPr>
          <a:xfrm>
            <a:off x="3124200" y="25146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Birchbox, Warby Parker, DripCatch</a:t>
            </a:r>
            <a:endParaRPr/>
          </a:p>
        </p:txBody>
      </p:sp>
      <p:sp>
        <p:nvSpPr>
          <p:cNvPr id="403" name="Google Shape;403;p19"/>
          <p:cNvSpPr txBox="1"/>
          <p:nvPr/>
        </p:nvSpPr>
        <p:spPr>
          <a:xfrm>
            <a:off x="3124200" y="34290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3M, Boeing 787, AT&amp;T</a:t>
            </a:r>
            <a:endParaRPr/>
          </a:p>
        </p:txBody>
      </p:sp>
      <p:sp>
        <p:nvSpPr>
          <p:cNvPr id="404" name="Google Shape;404;p19"/>
          <p:cNvSpPr txBox="1"/>
          <p:nvPr/>
        </p:nvSpPr>
        <p:spPr>
          <a:xfrm>
            <a:off x="3124200" y="44958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Nike swoosh logo</a:t>
            </a:r>
            <a:endParaRPr/>
          </a:p>
        </p:txBody>
      </p:sp>
      <p:sp>
        <p:nvSpPr>
          <p:cNvPr id="405" name="Google Shape;405;p19"/>
          <p:cNvSpPr txBox="1"/>
          <p:nvPr/>
        </p:nvSpPr>
        <p:spPr>
          <a:xfrm>
            <a:off x="3124200" y="54864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MGM’s lion’s roar</a:t>
            </a:r>
            <a:endParaRPr/>
          </a:p>
        </p:txBody>
      </p:sp>
      <p:sp>
        <p:nvSpPr>
          <p:cNvPr id="406" name="Google Shape;406;p19"/>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07" name="Google Shape;407;p19"/>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0"/>
          <p:cNvSpPr txBox="1"/>
          <p:nvPr>
            <p:ph type="title"/>
          </p:nvPr>
        </p:nvSpPr>
        <p:spPr>
          <a:xfrm>
            <a:off x="457200" y="152400"/>
            <a:ext cx="8153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is Protected Under Trademark Law</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413" name="Google Shape;413;p20"/>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14" name="Google Shape;414;p20"/>
          <p:cNvSpPr txBox="1"/>
          <p:nvPr/>
        </p:nvSpPr>
        <p:spPr>
          <a:xfrm>
            <a:off x="457200" y="1676400"/>
            <a:ext cx="8229600" cy="464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415" name="Google Shape;415;p20"/>
          <p:cNvCxnSpPr/>
          <p:nvPr/>
        </p:nvCxnSpPr>
        <p:spPr>
          <a:xfrm>
            <a:off x="457200" y="2362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16" name="Google Shape;416;p20"/>
          <p:cNvCxnSpPr/>
          <p:nvPr/>
        </p:nvCxnSpPr>
        <p:spPr>
          <a:xfrm rot="5400000">
            <a:off x="648493" y="3999706"/>
            <a:ext cx="4648200" cy="1587"/>
          </a:xfrm>
          <a:prstGeom prst="straightConnector1">
            <a:avLst/>
          </a:prstGeom>
          <a:noFill/>
          <a:ln cap="flat" cmpd="sng" w="9525">
            <a:solidFill>
              <a:schemeClr val="dk1"/>
            </a:solidFill>
            <a:prstDash val="solid"/>
            <a:miter lim="800000"/>
            <a:headEnd len="med" w="med" type="none"/>
            <a:tailEnd len="med" w="med" type="none"/>
          </a:ln>
        </p:spPr>
      </p:cxnSp>
      <p:sp>
        <p:nvSpPr>
          <p:cNvPr id="417" name="Google Shape;417;p20"/>
          <p:cNvSpPr txBox="1"/>
          <p:nvPr/>
        </p:nvSpPr>
        <p:spPr>
          <a:xfrm>
            <a:off x="838200" y="18288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Item</a:t>
            </a:r>
            <a:endParaRPr/>
          </a:p>
        </p:txBody>
      </p:sp>
      <p:sp>
        <p:nvSpPr>
          <p:cNvPr id="418" name="Google Shape;418;p20"/>
          <p:cNvSpPr txBox="1"/>
          <p:nvPr/>
        </p:nvSpPr>
        <p:spPr>
          <a:xfrm>
            <a:off x="2438400" y="1828800"/>
            <a:ext cx="60960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Example</a:t>
            </a:r>
            <a:endParaRPr/>
          </a:p>
        </p:txBody>
      </p:sp>
      <p:cxnSp>
        <p:nvCxnSpPr>
          <p:cNvPr id="419" name="Google Shape;419;p20"/>
          <p:cNvCxnSpPr/>
          <p:nvPr/>
        </p:nvCxnSpPr>
        <p:spPr>
          <a:xfrm>
            <a:off x="457200" y="32004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20" name="Google Shape;420;p20"/>
          <p:cNvCxnSpPr/>
          <p:nvPr/>
        </p:nvCxnSpPr>
        <p:spPr>
          <a:xfrm>
            <a:off x="457200" y="4267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21" name="Google Shape;421;p20"/>
          <p:cNvCxnSpPr/>
          <p:nvPr/>
        </p:nvCxnSpPr>
        <p:spPr>
          <a:xfrm>
            <a:off x="457200" y="5257800"/>
            <a:ext cx="8229600" cy="1587"/>
          </a:xfrm>
          <a:prstGeom prst="straightConnector1">
            <a:avLst/>
          </a:prstGeom>
          <a:noFill/>
          <a:ln cap="flat" cmpd="sng" w="9525">
            <a:solidFill>
              <a:schemeClr val="dk1"/>
            </a:solidFill>
            <a:prstDash val="solid"/>
            <a:miter lim="800000"/>
            <a:headEnd len="med" w="med" type="none"/>
            <a:tailEnd len="med" w="med" type="none"/>
          </a:ln>
        </p:spPr>
      </p:cxnSp>
      <p:sp>
        <p:nvSpPr>
          <p:cNvPr id="422" name="Google Shape;422;p20"/>
          <p:cNvSpPr txBox="1"/>
          <p:nvPr/>
        </p:nvSpPr>
        <p:spPr>
          <a:xfrm>
            <a:off x="838200" y="25908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Fragrances</a:t>
            </a:r>
            <a:endParaRPr/>
          </a:p>
        </p:txBody>
      </p:sp>
      <p:sp>
        <p:nvSpPr>
          <p:cNvPr id="423" name="Google Shape;423;p20"/>
          <p:cNvSpPr txBox="1"/>
          <p:nvPr/>
        </p:nvSpPr>
        <p:spPr>
          <a:xfrm>
            <a:off x="838200" y="34290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Shapes </a:t>
            </a:r>
            <a:endParaRPr/>
          </a:p>
        </p:txBody>
      </p:sp>
      <p:sp>
        <p:nvSpPr>
          <p:cNvPr id="424" name="Google Shape;424;p20"/>
          <p:cNvSpPr txBox="1"/>
          <p:nvPr/>
        </p:nvSpPr>
        <p:spPr>
          <a:xfrm>
            <a:off x="838200" y="44196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Colors </a:t>
            </a:r>
            <a:endParaRPr/>
          </a:p>
        </p:txBody>
      </p:sp>
      <p:sp>
        <p:nvSpPr>
          <p:cNvPr id="425" name="Google Shape;425;p20"/>
          <p:cNvSpPr txBox="1"/>
          <p:nvPr/>
        </p:nvSpPr>
        <p:spPr>
          <a:xfrm>
            <a:off x="914400" y="5486400"/>
            <a:ext cx="16764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Trade dress </a:t>
            </a:r>
            <a:endParaRPr/>
          </a:p>
        </p:txBody>
      </p:sp>
      <p:sp>
        <p:nvSpPr>
          <p:cNvPr id="426" name="Google Shape;426;p20"/>
          <p:cNvSpPr txBox="1"/>
          <p:nvPr/>
        </p:nvSpPr>
        <p:spPr>
          <a:xfrm>
            <a:off x="3124200" y="25146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Stationery treated with a special fragrance</a:t>
            </a:r>
            <a:endParaRPr/>
          </a:p>
        </p:txBody>
      </p:sp>
      <p:sp>
        <p:nvSpPr>
          <p:cNvPr id="427" name="Google Shape;427;p20"/>
          <p:cNvSpPr txBox="1"/>
          <p:nvPr/>
        </p:nvSpPr>
        <p:spPr>
          <a:xfrm>
            <a:off x="3124200" y="35052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Unique shape of the Apple iPhone</a:t>
            </a:r>
            <a:endParaRPr/>
          </a:p>
        </p:txBody>
      </p:sp>
      <p:sp>
        <p:nvSpPr>
          <p:cNvPr id="428" name="Google Shape;428;p20"/>
          <p:cNvSpPr txBox="1"/>
          <p:nvPr/>
        </p:nvSpPr>
        <p:spPr>
          <a:xfrm>
            <a:off x="3124200" y="44958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Nexium—the “purple pill”</a:t>
            </a:r>
            <a:endParaRPr/>
          </a:p>
        </p:txBody>
      </p:sp>
      <p:sp>
        <p:nvSpPr>
          <p:cNvPr id="429" name="Google Shape;429;p20"/>
          <p:cNvSpPr txBox="1"/>
          <p:nvPr/>
        </p:nvSpPr>
        <p:spPr>
          <a:xfrm>
            <a:off x="3124200" y="5486400"/>
            <a:ext cx="533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layout and décor of a restaurant</a:t>
            </a:r>
            <a:endParaRPr/>
          </a:p>
        </p:txBody>
      </p:sp>
      <p:sp>
        <p:nvSpPr>
          <p:cNvPr id="430" name="Google Shape;430;p20"/>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31" name="Google Shape;431;p20"/>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1"/>
          <p:cNvSpPr txBox="1"/>
          <p:nvPr>
            <p:ph type="title"/>
          </p:nvPr>
        </p:nvSpPr>
        <p:spPr>
          <a:xfrm>
            <a:off x="457200" y="152400"/>
            <a:ext cx="8153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Exclusions From Trademark Protection</a:t>
            </a:r>
            <a:endParaRPr/>
          </a:p>
        </p:txBody>
      </p:sp>
      <p:cxnSp>
        <p:nvCxnSpPr>
          <p:cNvPr id="437" name="Google Shape;437;p21"/>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38" name="Google Shape;438;p21"/>
          <p:cNvSpPr txBox="1"/>
          <p:nvPr/>
        </p:nvSpPr>
        <p:spPr>
          <a:xfrm>
            <a:off x="457200" y="1676400"/>
            <a:ext cx="8229600" cy="464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439" name="Google Shape;439;p21"/>
          <p:cNvCxnSpPr/>
          <p:nvPr/>
        </p:nvCxnSpPr>
        <p:spPr>
          <a:xfrm>
            <a:off x="457200" y="2362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40" name="Google Shape;440;p21"/>
          <p:cNvCxnSpPr/>
          <p:nvPr/>
        </p:nvCxnSpPr>
        <p:spPr>
          <a:xfrm rot="5400000">
            <a:off x="953293" y="3999706"/>
            <a:ext cx="4648200" cy="1587"/>
          </a:xfrm>
          <a:prstGeom prst="straightConnector1">
            <a:avLst/>
          </a:prstGeom>
          <a:noFill/>
          <a:ln cap="flat" cmpd="sng" w="9525">
            <a:solidFill>
              <a:schemeClr val="dk1"/>
            </a:solidFill>
            <a:prstDash val="solid"/>
            <a:miter lim="800000"/>
            <a:headEnd len="med" w="med" type="none"/>
            <a:tailEnd len="med" w="med" type="none"/>
          </a:ln>
        </p:spPr>
      </p:cxnSp>
      <p:sp>
        <p:nvSpPr>
          <p:cNvPr id="441" name="Google Shape;441;p21"/>
          <p:cNvSpPr txBox="1"/>
          <p:nvPr/>
        </p:nvSpPr>
        <p:spPr>
          <a:xfrm>
            <a:off x="838200" y="1828800"/>
            <a:ext cx="1676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Item</a:t>
            </a:r>
            <a:endParaRPr/>
          </a:p>
        </p:txBody>
      </p:sp>
      <p:sp>
        <p:nvSpPr>
          <p:cNvPr id="442" name="Google Shape;442;p21"/>
          <p:cNvSpPr txBox="1"/>
          <p:nvPr/>
        </p:nvSpPr>
        <p:spPr>
          <a:xfrm>
            <a:off x="2514600" y="1828800"/>
            <a:ext cx="60960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Example</a:t>
            </a:r>
            <a:endParaRPr/>
          </a:p>
        </p:txBody>
      </p:sp>
      <p:cxnSp>
        <p:nvCxnSpPr>
          <p:cNvPr id="443" name="Google Shape;443;p21"/>
          <p:cNvCxnSpPr/>
          <p:nvPr/>
        </p:nvCxnSpPr>
        <p:spPr>
          <a:xfrm>
            <a:off x="457200" y="32004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44" name="Google Shape;444;p21"/>
          <p:cNvCxnSpPr/>
          <p:nvPr/>
        </p:nvCxnSpPr>
        <p:spPr>
          <a:xfrm>
            <a:off x="457200" y="4267200"/>
            <a:ext cx="8229600" cy="1587"/>
          </a:xfrm>
          <a:prstGeom prst="straightConnector1">
            <a:avLst/>
          </a:prstGeom>
          <a:noFill/>
          <a:ln cap="flat" cmpd="sng" w="9525">
            <a:solidFill>
              <a:schemeClr val="dk1"/>
            </a:solidFill>
            <a:prstDash val="solid"/>
            <a:miter lim="800000"/>
            <a:headEnd len="med" w="med" type="none"/>
            <a:tailEnd len="med" w="med" type="none"/>
          </a:ln>
        </p:spPr>
      </p:cxnSp>
      <p:cxnSp>
        <p:nvCxnSpPr>
          <p:cNvPr id="445" name="Google Shape;445;p21"/>
          <p:cNvCxnSpPr/>
          <p:nvPr/>
        </p:nvCxnSpPr>
        <p:spPr>
          <a:xfrm>
            <a:off x="457200" y="5257800"/>
            <a:ext cx="8229600" cy="1587"/>
          </a:xfrm>
          <a:prstGeom prst="straightConnector1">
            <a:avLst/>
          </a:prstGeom>
          <a:noFill/>
          <a:ln cap="flat" cmpd="sng" w="9525">
            <a:solidFill>
              <a:schemeClr val="dk1"/>
            </a:solidFill>
            <a:prstDash val="solid"/>
            <a:miter lim="800000"/>
            <a:headEnd len="med" w="med" type="none"/>
            <a:tailEnd len="med" w="med" type="none"/>
          </a:ln>
        </p:spPr>
      </p:cxnSp>
      <p:sp>
        <p:nvSpPr>
          <p:cNvPr id="446" name="Google Shape;446;p21"/>
          <p:cNvSpPr txBox="1"/>
          <p:nvPr/>
        </p:nvSpPr>
        <p:spPr>
          <a:xfrm>
            <a:off x="685800" y="2362200"/>
            <a:ext cx="24384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Immoral or scandalous matter </a:t>
            </a:r>
            <a:endParaRPr/>
          </a:p>
        </p:txBody>
      </p:sp>
      <p:sp>
        <p:nvSpPr>
          <p:cNvPr id="447" name="Google Shape;447;p21"/>
          <p:cNvSpPr txBox="1"/>
          <p:nvPr/>
        </p:nvSpPr>
        <p:spPr>
          <a:xfrm>
            <a:off x="685800" y="3505200"/>
            <a:ext cx="22860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Deceptive matter </a:t>
            </a:r>
            <a:endParaRPr/>
          </a:p>
        </p:txBody>
      </p:sp>
      <p:sp>
        <p:nvSpPr>
          <p:cNvPr id="448" name="Google Shape;448;p21"/>
          <p:cNvSpPr txBox="1"/>
          <p:nvPr/>
        </p:nvSpPr>
        <p:spPr>
          <a:xfrm>
            <a:off x="609600" y="4495800"/>
            <a:ext cx="2514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Descriptive marks </a:t>
            </a:r>
            <a:endParaRPr/>
          </a:p>
        </p:txBody>
      </p:sp>
      <p:sp>
        <p:nvSpPr>
          <p:cNvPr id="449" name="Google Shape;449;p21"/>
          <p:cNvSpPr txBox="1"/>
          <p:nvPr/>
        </p:nvSpPr>
        <p:spPr>
          <a:xfrm>
            <a:off x="914400" y="5486400"/>
            <a:ext cx="1676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Surnames </a:t>
            </a:r>
            <a:endParaRPr/>
          </a:p>
        </p:txBody>
      </p:sp>
      <p:sp>
        <p:nvSpPr>
          <p:cNvPr id="450" name="Google Shape;450;p21"/>
          <p:cNvSpPr txBox="1"/>
          <p:nvPr/>
        </p:nvSpPr>
        <p:spPr>
          <a:xfrm>
            <a:off x="3352800" y="2514600"/>
            <a:ext cx="4648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Profane words</a:t>
            </a:r>
            <a:endParaRPr/>
          </a:p>
        </p:txBody>
      </p:sp>
      <p:sp>
        <p:nvSpPr>
          <p:cNvPr id="451" name="Google Shape;451;p21"/>
          <p:cNvSpPr txBox="1"/>
          <p:nvPr/>
        </p:nvSpPr>
        <p:spPr>
          <a:xfrm>
            <a:off x="3276600" y="3276600"/>
            <a:ext cx="51816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Labeling oranges “Fresh Florida Oranges” that aren’t grown in Florida</a:t>
            </a:r>
            <a:endParaRPr/>
          </a:p>
        </p:txBody>
      </p:sp>
      <p:sp>
        <p:nvSpPr>
          <p:cNvPr id="452" name="Google Shape;452;p21"/>
          <p:cNvSpPr txBox="1"/>
          <p:nvPr/>
        </p:nvSpPr>
        <p:spPr>
          <a:xfrm>
            <a:off x="3200400" y="4267200"/>
            <a:ext cx="55626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Phrases like “golf ball” and “fried chicken” are descriptive and can’t be trademarked</a:t>
            </a:r>
            <a:endParaRPr/>
          </a:p>
        </p:txBody>
      </p:sp>
      <p:sp>
        <p:nvSpPr>
          <p:cNvPr id="453" name="Google Shape;453;p21"/>
          <p:cNvSpPr txBox="1"/>
          <p:nvPr/>
        </p:nvSpPr>
        <p:spPr>
          <a:xfrm>
            <a:off x="3276600" y="5334000"/>
            <a:ext cx="51054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Common surnames like “Anderson” or “Smith” can’t be trademarked</a:t>
            </a:r>
            <a:endParaRPr/>
          </a:p>
        </p:txBody>
      </p:sp>
      <p:sp>
        <p:nvSpPr>
          <p:cNvPr id="454" name="Google Shape;454;p21"/>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55" name="Google Shape;455;p21"/>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Process of Obtaining a Trademark</a:t>
            </a:r>
            <a:endParaRPr/>
          </a:p>
        </p:txBody>
      </p:sp>
      <p:cxnSp>
        <p:nvCxnSpPr>
          <p:cNvPr id="461" name="Google Shape;461;p2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pic>
        <p:nvPicPr>
          <p:cNvPr id="462" name="Google Shape;462;p22"/>
          <p:cNvPicPr preferRelativeResize="0"/>
          <p:nvPr/>
        </p:nvPicPr>
        <p:blipFill rotWithShape="1">
          <a:blip r:embed="rId3">
            <a:alphaModFix/>
          </a:blip>
          <a:srcRect b="0" l="0" r="0" t="0"/>
          <a:stretch/>
        </p:blipFill>
        <p:spPr>
          <a:xfrm>
            <a:off x="152400" y="2057400"/>
            <a:ext cx="8699500" cy="1644650"/>
          </a:xfrm>
          <a:prstGeom prst="rect">
            <a:avLst/>
          </a:prstGeom>
          <a:noFill/>
          <a:ln>
            <a:noFill/>
          </a:ln>
        </p:spPr>
      </p:pic>
      <p:sp>
        <p:nvSpPr>
          <p:cNvPr id="463" name="Google Shape;463;p22"/>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64" name="Google Shape;464;p22"/>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Copyrights</a:t>
            </a:r>
            <a:endParaRPr/>
          </a:p>
        </p:txBody>
      </p:sp>
      <p:sp>
        <p:nvSpPr>
          <p:cNvPr id="470" name="Google Shape;470;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Copyrights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copyright is a form of intellectual property protection that grants to the owner of a work of authorship the legal right to determine how the work is used and to obtain the economic benefits from the work.</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work does not have to have artistic merit to be eligible for copyright protection.</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As a result, things such as operating manuals and sales brochures are eligible for copyright protection.</a:t>
            </a:r>
            <a:endParaRPr/>
          </a:p>
        </p:txBody>
      </p:sp>
      <p:cxnSp>
        <p:nvCxnSpPr>
          <p:cNvPr id="471" name="Google Shape;471;p2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72" name="Google Shape;472;p23"/>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73" name="Google Shape;473;p23"/>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is Protected By a Copyright?</a:t>
            </a:r>
            <a:endParaRPr/>
          </a:p>
        </p:txBody>
      </p:sp>
      <p:cxnSp>
        <p:nvCxnSpPr>
          <p:cNvPr id="479" name="Google Shape;479;p2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80" name="Google Shape;480;p24"/>
          <p:cNvSpPr txBox="1"/>
          <p:nvPr/>
        </p:nvSpPr>
        <p:spPr>
          <a:xfrm>
            <a:off x="457200" y="15240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Literary works</a:t>
            </a:r>
            <a:endParaRPr/>
          </a:p>
        </p:txBody>
      </p:sp>
      <p:sp>
        <p:nvSpPr>
          <p:cNvPr id="481" name="Google Shape;481;p24"/>
          <p:cNvSpPr txBox="1"/>
          <p:nvPr/>
        </p:nvSpPr>
        <p:spPr>
          <a:xfrm>
            <a:off x="4953000" y="15240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Musical compositions</a:t>
            </a:r>
            <a:endParaRPr/>
          </a:p>
        </p:txBody>
      </p:sp>
      <p:sp>
        <p:nvSpPr>
          <p:cNvPr id="482" name="Google Shape;482;p24"/>
          <p:cNvSpPr txBox="1"/>
          <p:nvPr/>
        </p:nvSpPr>
        <p:spPr>
          <a:xfrm>
            <a:off x="457200" y="31242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Computer software</a:t>
            </a:r>
            <a:endParaRPr/>
          </a:p>
        </p:txBody>
      </p:sp>
      <p:sp>
        <p:nvSpPr>
          <p:cNvPr id="483" name="Google Shape;483;p24"/>
          <p:cNvSpPr txBox="1"/>
          <p:nvPr/>
        </p:nvSpPr>
        <p:spPr>
          <a:xfrm>
            <a:off x="4953000" y="31242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Dramatic works</a:t>
            </a:r>
            <a:endParaRPr/>
          </a:p>
        </p:txBody>
      </p:sp>
      <p:sp>
        <p:nvSpPr>
          <p:cNvPr id="484" name="Google Shape;484;p24"/>
          <p:cNvSpPr txBox="1"/>
          <p:nvPr/>
        </p:nvSpPr>
        <p:spPr>
          <a:xfrm>
            <a:off x="457200" y="47244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Pantomimes and</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choreographic works</a:t>
            </a:r>
            <a:endParaRPr/>
          </a:p>
        </p:txBody>
      </p:sp>
      <p:sp>
        <p:nvSpPr>
          <p:cNvPr id="485" name="Google Shape;485;p24"/>
          <p:cNvSpPr txBox="1"/>
          <p:nvPr/>
        </p:nvSpPr>
        <p:spPr>
          <a:xfrm>
            <a:off x="4953000" y="47244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Pictorial, graphic, and</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sculptural works</a:t>
            </a:r>
            <a:endParaRPr/>
          </a:p>
        </p:txBody>
      </p:sp>
      <p:sp>
        <p:nvSpPr>
          <p:cNvPr id="486" name="Google Shape;486;p24"/>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87" name="Google Shape;487;p24"/>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5"/>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Exclusions From Copyright Protection</a:t>
            </a:r>
            <a:endParaRPr/>
          </a:p>
        </p:txBody>
      </p:sp>
      <p:sp>
        <p:nvSpPr>
          <p:cNvPr id="493" name="Google Shape;493;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Idea-Expression Dichotomy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main exclusion is that copyright laws cannot protect ideas.</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For example, an entrepreneur may have the idea to open a soccer-themed restaurant. The idea itself is not eligible for copyright protection.  However, if the entrepreneur writes down specifically what his or her soccer-themed restaurant will look like and how it will operate, that description is copyrightable.</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legal principle describing this concept is called the idea-expression dichotomy.  </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An idea is not copyrightable, but the specific expression of an idea is.</a:t>
            </a:r>
            <a:endParaRPr/>
          </a:p>
        </p:txBody>
      </p:sp>
      <p:cxnSp>
        <p:nvCxnSpPr>
          <p:cNvPr id="494" name="Google Shape;494;p25"/>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95" name="Google Shape;495;p25"/>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496" name="Google Shape;496;p25"/>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Obtaining a Copyright</a:t>
            </a:r>
            <a:endParaRPr/>
          </a:p>
        </p:txBody>
      </p:sp>
      <p:sp>
        <p:nvSpPr>
          <p:cNvPr id="502" name="Google Shape;502;p26"/>
          <p:cNvSpPr txBox="1"/>
          <p:nvPr>
            <p:ph idx="1" type="body"/>
          </p:nvPr>
        </p:nvSpPr>
        <p:spPr>
          <a:xfrm>
            <a:off x="457200" y="15240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How to Obtain a Copyright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Copyright law protects any work of authorship the moment it assumes a tangible form.  </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Technically, it is not necessary to provide a copyright notice or register work with the U.S. Copyright Office.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following steps can be taken, however, to enhance copyright protection.</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Copyright protection can be enhanced by attaching the copyright notice, or “copyright bug”           to something.</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Further protection can be obtained by registering the work with the U.S. Copyright Office.</a:t>
            </a:r>
            <a:endParaRPr/>
          </a:p>
        </p:txBody>
      </p:sp>
      <p:cxnSp>
        <p:nvCxnSpPr>
          <p:cNvPr id="503" name="Google Shape;503;p26"/>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pic>
        <p:nvPicPr>
          <p:cNvPr descr="2001120413421001-copyright" id="504" name="Google Shape;504;p26"/>
          <p:cNvPicPr preferRelativeResize="0"/>
          <p:nvPr/>
        </p:nvPicPr>
        <p:blipFill rotWithShape="1">
          <a:blip r:embed="rId3">
            <a:alphaModFix/>
          </a:blip>
          <a:srcRect b="0" l="0" r="0" t="0"/>
          <a:stretch/>
        </p:blipFill>
        <p:spPr>
          <a:xfrm>
            <a:off x="4495800" y="4800600"/>
            <a:ext cx="298450" cy="304800"/>
          </a:xfrm>
          <a:prstGeom prst="rect">
            <a:avLst/>
          </a:prstGeom>
          <a:noFill/>
          <a:ln>
            <a:noFill/>
          </a:ln>
        </p:spPr>
      </p:pic>
      <p:sp>
        <p:nvSpPr>
          <p:cNvPr id="505" name="Google Shape;505;p26"/>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06" name="Google Shape;506;p26"/>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Copyright Infringement</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512" name="Google Shape;512;p27"/>
          <p:cNvSpPr txBox="1"/>
          <p:nvPr>
            <p:ph idx="1" type="body"/>
          </p:nvPr>
        </p:nvSpPr>
        <p:spPr>
          <a:xfrm>
            <a:off x="457200" y="15240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Copyright Infringement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Copyright infringement occurs when one work derives from another or is an exact copy or shows substantial similarity to the original work.</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To prove infringement, a copyright owner is required to show that the alleged infringer had prior access to the copyrighted work and that the work is substantially similar to the owner’s.</a:t>
            </a:r>
            <a:endParaRPr/>
          </a:p>
        </p:txBody>
      </p:sp>
      <p:cxnSp>
        <p:nvCxnSpPr>
          <p:cNvPr id="513" name="Google Shape;513;p27"/>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14" name="Google Shape;514;p27"/>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15" name="Google Shape;515;p27"/>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Copyright Infringement</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521" name="Google Shape;521;p2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22" name="Google Shape;522;p28"/>
          <p:cNvSpPr txBox="1"/>
          <p:nvPr/>
        </p:nvSpPr>
        <p:spPr>
          <a:xfrm>
            <a:off x="4953000" y="1981200"/>
            <a:ext cx="4038600" cy="3375025"/>
          </a:xfrm>
          <a:prstGeom prst="rect">
            <a:avLst/>
          </a:prstGeom>
          <a:noFill/>
          <a:ln>
            <a:noFill/>
          </a:ln>
        </p:spPr>
        <p:txBody>
          <a:bodyPr anchorCtr="0" anchor="t" bIns="45700" lIns="91425" spcFirstLastPara="1" rIns="91425" wrap="square" tIns="45700">
            <a:spAutoFit/>
          </a:bodyPr>
          <a:lstStyle/>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illegal downloading of</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music is an example of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copyright infringement.</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Copyright infringement costs</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the owners of copyrighted</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material an estimated $25</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billion per year in the U.S.</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alone.  </a:t>
            </a:r>
            <a:endParaRPr/>
          </a:p>
        </p:txBody>
      </p:sp>
      <p:sp>
        <p:nvSpPr>
          <p:cNvPr id="523" name="Google Shape;523;p28"/>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24" name="Google Shape;524;p28"/>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pic>
        <p:nvPicPr>
          <p:cNvPr id="525" name="Google Shape;525;p28"/>
          <p:cNvPicPr preferRelativeResize="0"/>
          <p:nvPr/>
        </p:nvPicPr>
        <p:blipFill rotWithShape="1">
          <a:blip r:embed="rId3">
            <a:alphaModFix/>
          </a:blip>
          <a:srcRect b="0" l="0" r="0" t="0"/>
          <a:stretch/>
        </p:blipFill>
        <p:spPr>
          <a:xfrm>
            <a:off x="457200" y="2165350"/>
            <a:ext cx="4310062" cy="28892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Trade Secrets</a:t>
            </a:r>
            <a:endParaRPr/>
          </a:p>
        </p:txBody>
      </p:sp>
      <p:sp>
        <p:nvSpPr>
          <p:cNvPr id="531" name="Google Shape;531;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Trade Secrets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trade secret is any formula, pattern, physical device, idea, process, or other information that provides the owner of the information with a competitive advantage in the marketplace.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Trade secrets include marketing plans, product formulas, financial forecasts, employee rosters, logs of sales calls, and similar types of proprietary information.</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Federal Economic Espionage Act, passed in 1996, criminalizes the theft of trade secrets.</a:t>
            </a:r>
            <a:endParaRPr/>
          </a:p>
        </p:txBody>
      </p:sp>
      <p:cxnSp>
        <p:nvCxnSpPr>
          <p:cNvPr id="532" name="Google Shape;532;p29"/>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33" name="Google Shape;533;p29"/>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34" name="Google Shape;534;p29"/>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0"/>
          <p:cNvSpPr txBox="1"/>
          <p:nvPr>
            <p:ph type="title"/>
          </p:nvPr>
        </p:nvSpPr>
        <p:spPr>
          <a:xfrm>
            <a:off x="228600" y="1524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Qualifies for Trade Secret Protection?</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540" name="Google Shape;540;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Trade Secret Protection</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Not all information qualifies for trade secret protection.</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general, information that is known to the public or that competitors can discover through legal means doesn’t qualify for trade secret protection.</a:t>
            </a:r>
            <a:endParaRPr/>
          </a:p>
          <a:p>
            <a:pPr indent="-285750" lvl="1" marL="742950" rtl="0" algn="l">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Companies protect trade secrets through physical measures and written documents.</a:t>
            </a:r>
            <a:endParaRPr/>
          </a:p>
        </p:txBody>
      </p:sp>
      <p:cxnSp>
        <p:nvCxnSpPr>
          <p:cNvPr id="541" name="Google Shape;541;p30"/>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42" name="Google Shape;542;p30"/>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43" name="Google Shape;543;p30"/>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1"/>
          <p:cNvSpPr txBox="1"/>
          <p:nvPr>
            <p:ph type="title"/>
          </p:nvPr>
        </p:nvSpPr>
        <p:spPr>
          <a:xfrm>
            <a:off x="228600" y="1524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Qualifies for Trade Secret Protection?</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549" name="Google Shape;549;p31"/>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50" name="Google Shape;550;p31"/>
          <p:cNvSpPr txBox="1"/>
          <p:nvPr/>
        </p:nvSpPr>
        <p:spPr>
          <a:xfrm>
            <a:off x="838200" y="1371600"/>
            <a:ext cx="72390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strongest case for trade secret protection is information that is characterized by the following. </a:t>
            </a:r>
            <a:endParaRPr/>
          </a:p>
        </p:txBody>
      </p:sp>
      <p:sp>
        <p:nvSpPr>
          <p:cNvPr id="551" name="Google Shape;551;p31"/>
          <p:cNvSpPr txBox="1"/>
          <p:nvPr/>
        </p:nvSpPr>
        <p:spPr>
          <a:xfrm>
            <a:off x="381000" y="2362200"/>
            <a:ext cx="83820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552" name="Google Shape;552;p31"/>
          <p:cNvSpPr txBox="1"/>
          <p:nvPr/>
        </p:nvSpPr>
        <p:spPr>
          <a:xfrm>
            <a:off x="381000" y="2438400"/>
            <a:ext cx="8153400" cy="2965450"/>
          </a:xfrm>
          <a:prstGeom prst="rect">
            <a:avLst/>
          </a:prstGeom>
          <a:noFill/>
          <a:ln>
            <a:noFill/>
          </a:ln>
        </p:spPr>
        <p:txBody>
          <a:bodyPr anchorCtr="0" anchor="t" bIns="45700" lIns="91425" spcFirstLastPara="1" rIns="91425" wrap="square" tIns="45700">
            <a:spAutoFit/>
          </a:bodyPr>
          <a:lstStyle/>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Is not known outside the company.</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Is known only inside the company on a “need-to-know” basis.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Is safeguarded by stringent efforts to keep the information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confidential.</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Is valuable and provides the company a competitive advantage.</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Was developed at great cost, time, and effort.</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Cannot be easily duplicated, reverse engineered, or discovered.</a:t>
            </a:r>
            <a:endParaRPr/>
          </a:p>
        </p:txBody>
      </p:sp>
      <p:sp>
        <p:nvSpPr>
          <p:cNvPr id="553" name="Google Shape;553;p31"/>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54" name="Google Shape;554;p31"/>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Physical Measures for Protecting </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Trade Secrets</a:t>
            </a:r>
            <a:endParaRPr/>
          </a:p>
        </p:txBody>
      </p:sp>
      <p:cxnSp>
        <p:nvCxnSpPr>
          <p:cNvPr id="560" name="Google Shape;560;p3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61" name="Google Shape;561;p32"/>
          <p:cNvSpPr txBox="1"/>
          <p:nvPr/>
        </p:nvSpPr>
        <p:spPr>
          <a:xfrm>
            <a:off x="457200" y="15240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Restricting access</a:t>
            </a:r>
            <a:endParaRPr/>
          </a:p>
        </p:txBody>
      </p:sp>
      <p:sp>
        <p:nvSpPr>
          <p:cNvPr id="562" name="Google Shape;562;p32"/>
          <p:cNvSpPr txBox="1"/>
          <p:nvPr/>
        </p:nvSpPr>
        <p:spPr>
          <a:xfrm>
            <a:off x="4953000" y="15240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Labeling documents</a:t>
            </a:r>
            <a:endParaRPr/>
          </a:p>
        </p:txBody>
      </p:sp>
      <p:sp>
        <p:nvSpPr>
          <p:cNvPr id="563" name="Google Shape;563;p32"/>
          <p:cNvSpPr txBox="1"/>
          <p:nvPr/>
        </p:nvSpPr>
        <p:spPr>
          <a:xfrm>
            <a:off x="457200" y="31242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Password protecting </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confidential computer</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files</a:t>
            </a:r>
            <a:endParaRPr/>
          </a:p>
        </p:txBody>
      </p:sp>
      <p:sp>
        <p:nvSpPr>
          <p:cNvPr id="564" name="Google Shape;564;p32"/>
          <p:cNvSpPr txBox="1"/>
          <p:nvPr/>
        </p:nvSpPr>
        <p:spPr>
          <a:xfrm>
            <a:off x="4953000" y="31242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Maintaining logbooks</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for visitors</a:t>
            </a:r>
            <a:endParaRPr/>
          </a:p>
        </p:txBody>
      </p:sp>
      <p:sp>
        <p:nvSpPr>
          <p:cNvPr id="565" name="Google Shape;565;p32"/>
          <p:cNvSpPr txBox="1"/>
          <p:nvPr/>
        </p:nvSpPr>
        <p:spPr>
          <a:xfrm>
            <a:off x="457200" y="47244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Maintaining logbooks for</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access to sensitive </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material</a:t>
            </a:r>
            <a:endParaRPr/>
          </a:p>
        </p:txBody>
      </p:sp>
      <p:sp>
        <p:nvSpPr>
          <p:cNvPr id="566" name="Google Shape;566;p32"/>
          <p:cNvSpPr txBox="1"/>
          <p:nvPr/>
        </p:nvSpPr>
        <p:spPr>
          <a:xfrm>
            <a:off x="4953000" y="4724400"/>
            <a:ext cx="3429000" cy="1371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Maintaining adequate </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overall security</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measures</a:t>
            </a:r>
            <a:endParaRPr/>
          </a:p>
        </p:txBody>
      </p:sp>
      <p:sp>
        <p:nvSpPr>
          <p:cNvPr id="567" name="Google Shape;567;p32"/>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68" name="Google Shape;568;p32"/>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Conducting an Intellectual Property Audit</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574" name="Google Shape;574;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Intellectual Property Audit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first step a firm should take to protect its intellectual property is to complete an intellectual property audit.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An intellectual property audit is conducted to determine the intellectual property a firm owns.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There are two reasons for conducting an intellectual property audit:</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First, it is prudent for a company to periodically determine whether its intellectual property is being properly protected.</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Second, it is important for a firm to remain prepared to justify its valuation in the event of a merger or acquisition. </a:t>
            </a:r>
            <a:endParaRPr/>
          </a:p>
        </p:txBody>
      </p:sp>
      <p:cxnSp>
        <p:nvCxnSpPr>
          <p:cNvPr id="575" name="Google Shape;575;p33"/>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76" name="Google Shape;576;p33"/>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77" name="Google Shape;577;p33"/>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Conducting an Intellectual Property Audit</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sp>
        <p:nvSpPr>
          <p:cNvPr id="583" name="Google Shape;583;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Process of Conducting an Intellectual Property Audit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first step is to develop an inventory of a firm’s existing intellectual property.  The inventory should include the firm’s present registrations of patents, trademarks, and copyrights.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second step is to identify works in progress to ensure that they are being documented and protected in a systematic, orderly manner.</a:t>
            </a:r>
            <a:endParaRPr/>
          </a:p>
        </p:txBody>
      </p:sp>
      <p:cxnSp>
        <p:nvCxnSpPr>
          <p:cNvPr id="584" name="Google Shape;584;p34"/>
          <p:cNvCxnSpPr/>
          <p:nvPr/>
        </p:nvCxnSpPr>
        <p:spPr>
          <a:xfrm>
            <a:off x="0" y="13716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85" name="Google Shape;585;p34"/>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86" name="Google Shape;586;p34"/>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descr="cid:3287383400_2177562" id="591" name="Google Shape;591;p35"/>
          <p:cNvPicPr preferRelativeResize="0"/>
          <p:nvPr>
            <p:ph type="ctrTitle"/>
          </p:nvPr>
        </p:nvPicPr>
        <p:blipFill rotWithShape="1">
          <a:blip r:embed="rId3">
            <a:alphaModFix/>
          </a:blip>
          <a:srcRect b="0" l="0" r="0" t="0"/>
          <a:stretch/>
        </p:blipFill>
        <p:spPr>
          <a:xfrm>
            <a:off x="838200" y="838200"/>
            <a:ext cx="7685087" cy="2401887"/>
          </a:xfrm>
          <a:prstGeom prst="rect">
            <a:avLst/>
          </a:prstGeom>
          <a:noFill/>
          <a:ln cap="flat" cmpd="sng" w="9525">
            <a:solidFill>
              <a:schemeClr val="lt1"/>
            </a:solidFill>
            <a:prstDash val="solid"/>
            <a:miter lim="524288"/>
            <a:headEnd len="sm" w="sm" type="none"/>
            <a:tailEnd len="sm" w="sm" type="none"/>
          </a:ln>
        </p:spPr>
      </p:pic>
      <p:sp>
        <p:nvSpPr>
          <p:cNvPr id="592" name="Google Shape;592;p35"/>
          <p:cNvSpPr txBox="1"/>
          <p:nvPr/>
        </p:nvSpPr>
        <p:spPr>
          <a:xfrm>
            <a:off x="457200" y="6324600"/>
            <a:ext cx="5867400" cy="396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 </a:t>
            </a:r>
            <a:endParaRPr/>
          </a:p>
        </p:txBody>
      </p:sp>
      <p:sp>
        <p:nvSpPr>
          <p:cNvPr id="593" name="Google Shape;593;p35"/>
          <p:cNvSpPr txBox="1"/>
          <p:nvPr/>
        </p:nvSpPr>
        <p:spPr>
          <a:xfrm>
            <a:off x="6553200" y="638175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12-</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2004-11-30T17:28:57Z</dcterms:created>
  <dc:creator>bbarringer</dc:creator>
</cp:coreProperties>
</file>

<file path=docProps/custom.xml><?xml version="1.0" encoding="utf-8"?>
<Properties xmlns="http://schemas.openxmlformats.org/officeDocument/2006/custom-properties" xmlns:vt="http://schemas.openxmlformats.org/officeDocument/2006/docPropsVTypes"/>
</file>