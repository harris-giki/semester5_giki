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1" roundtripDataSignature="AMtx7mhRJ1JC4TgfUNOd1kLXMlZTLRy8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87d000831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87d0008310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g387d0008310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87d0008310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87d0008310_0_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g387d0008310_0_1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4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8" name="Google Shape;18;p4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5"/>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5"/>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4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6"/>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6"/>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4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7"/>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7"/>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4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4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4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8"/>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8"/>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4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49"/>
          <p:cNvSpPr/>
          <p:nvPr>
            <p:ph idx="2" type="pic"/>
          </p:nvPr>
        </p:nvSpPr>
        <p:spPr>
          <a:xfrm>
            <a:off x="1792288" y="612775"/>
            <a:ext cx="5486400" cy="4114800"/>
          </a:xfrm>
          <a:prstGeom prst="rect">
            <a:avLst/>
          </a:prstGeom>
          <a:noFill/>
          <a:ln>
            <a:noFill/>
          </a:ln>
        </p:spPr>
      </p:sp>
      <p:sp>
        <p:nvSpPr>
          <p:cNvPr id="42" name="Google Shape;42;p4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3" name="Google Shape;43;p4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9"/>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9"/>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9" name="Google Shape;49;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0" name="Google Shape;50;p5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0"/>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0"/>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5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1"/>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1"/>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5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2"/>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2"/>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5" name="Google Shape;65;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6" name="Google Shape;66;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7" name="Google Shape;67;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8" name="Google Shape;68;p5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3"/>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3"/>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5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5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4" name="Google Shape;74;p5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5" name="Google Shape;75;p5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4"/>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4"/>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5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5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81" name="Google Shape;81;p5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5"/>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5"/>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4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4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9pPr>
          </a:lstStyle>
          <a:p/>
        </p:txBody>
      </p:sp>
      <p:sp>
        <p:nvSpPr>
          <p:cNvPr id="13" name="Google Shape;13;p44"/>
          <p:cNvSpPr txBox="1"/>
          <p:nvPr>
            <p:ph idx="11" type="ftr"/>
          </p:nvPr>
        </p:nvSpPr>
        <p:spPr>
          <a:xfrm>
            <a:off x="457200" y="6245225"/>
            <a:ext cx="59436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chemeClr val="dk1"/>
                </a:solidFill>
                <a:latin typeface="Times New Roman"/>
                <a:ea typeface="Times New Roman"/>
                <a:cs typeface="Times New Roman"/>
                <a:sym typeface="Times New Roman"/>
              </a:defRPr>
            </a:lvl9pPr>
          </a:lstStyle>
          <a:p/>
        </p:txBody>
      </p:sp>
      <p:sp>
        <p:nvSpPr>
          <p:cNvPr id="14" name="Google Shape;14;p44"/>
          <p:cNvSpPr txBox="1"/>
          <p:nvPr>
            <p:ph idx="12" type="sldNum"/>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5-</a:t>
            </a: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cxnSp>
        <p:nvCxnSpPr>
          <p:cNvPr id="88" name="Google Shape;88;p1"/>
          <p:cNvCxnSpPr/>
          <p:nvPr/>
        </p:nvCxnSpPr>
        <p:spPr>
          <a:xfrm>
            <a:off x="0" y="29718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89" name="Google Shape;89;p1"/>
          <p:cNvSpPr txBox="1"/>
          <p:nvPr/>
        </p:nvSpPr>
        <p:spPr>
          <a:xfrm>
            <a:off x="5562600" y="1524000"/>
            <a:ext cx="26670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Times New Roman"/>
              <a:buNone/>
            </a:pPr>
            <a:r>
              <a:rPr b="0" i="0" lang="en-US" sz="4800" u="none" cap="none" strike="noStrike">
                <a:solidFill>
                  <a:schemeClr val="dk1"/>
                </a:solidFill>
                <a:latin typeface="Times New Roman"/>
                <a:ea typeface="Times New Roman"/>
                <a:cs typeface="Times New Roman"/>
                <a:sym typeface="Times New Roman"/>
              </a:rPr>
              <a:t>Chapter 5</a:t>
            </a:r>
            <a:endParaRPr/>
          </a:p>
        </p:txBody>
      </p:sp>
      <p:sp>
        <p:nvSpPr>
          <p:cNvPr id="90" name="Google Shape;90;p1"/>
          <p:cNvSpPr txBox="1"/>
          <p:nvPr/>
        </p:nvSpPr>
        <p:spPr>
          <a:xfrm>
            <a:off x="4876800" y="3276600"/>
            <a:ext cx="4267200" cy="23082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Industry and Competitor Analysis</a:t>
            </a:r>
            <a:endParaRPr/>
          </a:p>
          <a:p>
            <a:pPr indent="0" lvl="0" marL="0" marR="0" rtl="0" algn="ctr">
              <a:lnSpc>
                <a:spcPct val="100000"/>
              </a:lnSpc>
              <a:spcBef>
                <a:spcPts val="12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Bruce R. Barringer</a:t>
            </a:r>
            <a:endParaRPr/>
          </a:p>
          <a:p>
            <a:pPr indent="0" lvl="0" marL="0" marR="0" rtl="0" algn="ctr">
              <a:lnSpc>
                <a:spcPct val="100000"/>
              </a:lnSpc>
              <a:spcBef>
                <a:spcPts val="12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R. Duane Ireland</a:t>
            </a:r>
            <a:endParaRPr/>
          </a:p>
        </p:txBody>
      </p:sp>
      <p:sp>
        <p:nvSpPr>
          <p:cNvPr id="91" name="Google Shape;91;p1"/>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Copyright ©2016 Pearson Education, Inc.</a:t>
            </a:r>
            <a:endParaRPr/>
          </a:p>
        </p:txBody>
      </p:sp>
      <p:sp>
        <p:nvSpPr>
          <p:cNvPr id="92" name="Google Shape;92;p1"/>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a:t>
            </a: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93" name="Google Shape;93;p1"/>
          <p:cNvPicPr preferRelativeResize="0"/>
          <p:nvPr/>
        </p:nvPicPr>
        <p:blipFill rotWithShape="1">
          <a:blip r:embed="rId3">
            <a:alphaModFix/>
          </a:blip>
          <a:srcRect b="0" l="0" r="0" t="0"/>
          <a:stretch/>
        </p:blipFill>
        <p:spPr>
          <a:xfrm>
            <a:off x="914400" y="749300"/>
            <a:ext cx="3714750" cy="4953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Chapter Objectives</a:t>
            </a:r>
            <a:endParaRPr/>
          </a:p>
        </p:txBody>
      </p:sp>
      <p:sp>
        <p:nvSpPr>
          <p:cNvPr id="99" name="Google Shape;99;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609600" lvl="0" marL="609600" rtl="0" algn="l">
              <a:lnSpc>
                <a:spcPct val="100000"/>
              </a:lnSpc>
              <a:spcBef>
                <a:spcPts val="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Explain the purpose of an industry analysis.</a:t>
            </a:r>
            <a:endParaRPr/>
          </a:p>
          <a:p>
            <a:pPr indent="-609600" lvl="0" marL="609600" rtl="0" algn="l">
              <a:lnSpc>
                <a:spcPct val="100000"/>
              </a:lnSpc>
              <a:spcBef>
                <a:spcPts val="56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Identify and discuss the five competitive forces that determine industry profitability.</a:t>
            </a:r>
            <a:endParaRPr/>
          </a:p>
          <a:p>
            <a:pPr indent="-609600" lvl="0" marL="609600" rtl="0" algn="l">
              <a:lnSpc>
                <a:spcPct val="100000"/>
              </a:lnSpc>
              <a:spcBef>
                <a:spcPts val="56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Explain the value that entrepreneurial firms create by successfully using the five forces model.</a:t>
            </a:r>
            <a:endParaRPr/>
          </a:p>
          <a:p>
            <a:pPr indent="-609600" lvl="0" marL="609600" rtl="0" algn="l">
              <a:lnSpc>
                <a:spcPct val="100000"/>
              </a:lnSpc>
              <a:spcBef>
                <a:spcPts val="56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Identify the five primary industry types and the opportunities they offer.</a:t>
            </a:r>
            <a:endParaRPr/>
          </a:p>
          <a:p>
            <a:pPr indent="-609600" lvl="0" marL="609600" rtl="0" algn="l">
              <a:lnSpc>
                <a:spcPct val="100000"/>
              </a:lnSpc>
              <a:spcBef>
                <a:spcPts val="560"/>
              </a:spcBef>
              <a:spcAft>
                <a:spcPts val="0"/>
              </a:spcAft>
              <a:buClr>
                <a:schemeClr val="dk1"/>
              </a:buClr>
              <a:buSzPts val="2800"/>
              <a:buFont typeface="Times New Roman"/>
              <a:buAutoNum type="arabicPeriod"/>
            </a:pPr>
            <a:r>
              <a:rPr b="0" i="0" lang="en-US" sz="2800" u="none">
                <a:solidFill>
                  <a:schemeClr val="dk1"/>
                </a:solidFill>
                <a:latin typeface="Times New Roman"/>
                <a:ea typeface="Times New Roman"/>
                <a:cs typeface="Times New Roman"/>
                <a:sym typeface="Times New Roman"/>
              </a:rPr>
              <a:t>Explain the purpose of a competitor analysis and a competitive analysis grid.</a:t>
            </a:r>
            <a:endParaRPr/>
          </a:p>
        </p:txBody>
      </p:sp>
      <p:cxnSp>
        <p:nvCxnSpPr>
          <p:cNvPr id="100" name="Google Shape;100;p2"/>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01" name="Google Shape;101;p2"/>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Copyright ©2016 Pearson Education, Inc.</a:t>
            </a:r>
            <a:endParaRPr/>
          </a:p>
        </p:txBody>
      </p:sp>
      <p:sp>
        <p:nvSpPr>
          <p:cNvPr id="102" name="Google Shape;102;p2"/>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a:t>
            </a:r>
            <a:fld id="{00000000-1234-1234-1234-123412341234}" type="slidenum">
              <a:rPr b="0" i="0" lang="en-US" sz="1400" u="none" cap="none" strike="noStrike">
                <a:solidFill>
                  <a:schemeClr val="dk1"/>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What is Industry Analysis?</a:t>
            </a:r>
            <a:endParaRPr/>
          </a:p>
        </p:txBody>
      </p:sp>
      <p:sp>
        <p:nvSpPr>
          <p:cNvPr id="108" name="Google Shape;108;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Industry</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An industry is a group of firms producing a similar product or service, such as music, Pilates and yoga studios, and solar panel manufacturing.</a:t>
            </a:r>
            <a:endParaRPr/>
          </a:p>
          <a:p>
            <a:pPr indent="-342900" lvl="0" marL="34290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Industry Analysis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Is business research that focuses on the potential of an industry.</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p:txBody>
      </p:sp>
      <p:cxnSp>
        <p:nvCxnSpPr>
          <p:cNvPr id="109" name="Google Shape;109;p3"/>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10" name="Google Shape;110;p3"/>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Copyright ©2016 Pearson Education, Inc.</a:t>
            </a:r>
            <a:endParaRPr/>
          </a:p>
        </p:txBody>
      </p:sp>
      <p:sp>
        <p:nvSpPr>
          <p:cNvPr id="111" name="Google Shape;111;p3"/>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a:t>
            </a:r>
            <a:fld id="{00000000-1234-1234-1234-123412341234}" type="slidenum">
              <a:rPr b="0" i="0" lang="en-US" sz="1400" u="none" cap="none" strike="noStrike">
                <a:solidFill>
                  <a:schemeClr val="dk1"/>
                </a:solidFill>
                <a:latin typeface="Arial"/>
                <a:ea typeface="Arial"/>
                <a:cs typeface="Arial"/>
                <a:sym typeface="Arial"/>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Why is Industry Analysis Important?</a:t>
            </a:r>
            <a:endParaRPr/>
          </a:p>
        </p:txBody>
      </p:sp>
      <p:cxnSp>
        <p:nvCxnSpPr>
          <p:cNvPr id="117" name="Google Shape;117;p4"/>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18" name="Google Shape;118;p4"/>
          <p:cNvSpPr txBox="1"/>
          <p:nvPr/>
        </p:nvSpPr>
        <p:spPr>
          <a:xfrm>
            <a:off x="228600" y="3103562"/>
            <a:ext cx="3962400"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Industry Analysis</a:t>
            </a:r>
            <a:endParaRPr/>
          </a:p>
        </p:txBody>
      </p:sp>
      <p:sp>
        <p:nvSpPr>
          <p:cNvPr id="119" name="Google Shape;119;p4"/>
          <p:cNvSpPr txBox="1"/>
          <p:nvPr/>
        </p:nvSpPr>
        <p:spPr>
          <a:xfrm>
            <a:off x="3962400" y="1546225"/>
            <a:ext cx="4800600" cy="464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120" name="Google Shape;120;p4"/>
          <p:cNvSpPr txBox="1"/>
          <p:nvPr/>
        </p:nvSpPr>
        <p:spPr>
          <a:xfrm>
            <a:off x="4038600" y="1546225"/>
            <a:ext cx="46482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Importance</a:t>
            </a:r>
            <a:endParaRPr/>
          </a:p>
        </p:txBody>
      </p:sp>
      <p:sp>
        <p:nvSpPr>
          <p:cNvPr id="121" name="Google Shape;121;p4"/>
          <p:cNvSpPr txBox="1"/>
          <p:nvPr/>
        </p:nvSpPr>
        <p:spPr>
          <a:xfrm>
            <a:off x="4038600" y="2003425"/>
            <a:ext cx="4724400" cy="4165600"/>
          </a:xfrm>
          <a:prstGeom prst="rect">
            <a:avLst/>
          </a:prstGeom>
          <a:noFill/>
          <a:ln>
            <a:noFill/>
          </a:ln>
        </p:spPr>
        <p:txBody>
          <a:bodyPr anchorCtr="0" anchor="t" bIns="45700" lIns="91425" spcFirstLastPara="1" rIns="91425" wrap="square" tIns="45700">
            <a:spAutoFit/>
          </a:bodyPr>
          <a:lstStyle/>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Once it is determined that a new</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venture is feasible in regard to the</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industry and market in which it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will compete, a more in-depth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analysis is needed to learn the ins</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and outs of the industry.</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The analysis helps a firm determine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if the target market it identified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during feasibility analysis is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favorable for a new firm.</a:t>
            </a:r>
            <a:endParaRPr/>
          </a:p>
        </p:txBody>
      </p:sp>
      <p:sp>
        <p:nvSpPr>
          <p:cNvPr id="122" name="Google Shape;122;p4"/>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123" name="Google Shape;123;p4"/>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Three Key Questions</a:t>
            </a:r>
            <a:endParaRPr/>
          </a:p>
        </p:txBody>
      </p:sp>
      <p:cxnSp>
        <p:nvCxnSpPr>
          <p:cNvPr id="129" name="Google Shape;129;p5"/>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30" name="Google Shape;130;p5"/>
          <p:cNvSpPr txBox="1"/>
          <p:nvPr/>
        </p:nvSpPr>
        <p:spPr>
          <a:xfrm>
            <a:off x="685800" y="1447800"/>
            <a:ext cx="76200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When studying an industry, an entrepreneur must answer three questions before pursuing the idea of starting a firm.</a:t>
            </a:r>
            <a:endParaRPr/>
          </a:p>
        </p:txBody>
      </p:sp>
      <p:sp>
        <p:nvSpPr>
          <p:cNvPr id="131" name="Google Shape;131;p5"/>
          <p:cNvSpPr txBox="1"/>
          <p:nvPr/>
        </p:nvSpPr>
        <p:spPr>
          <a:xfrm>
            <a:off x="228600" y="2743200"/>
            <a:ext cx="2438400" cy="2743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Is the industry</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accessible—in other</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words, is it a realistic</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place for a new </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venture to enter?</a:t>
            </a:r>
            <a:endParaRPr/>
          </a:p>
        </p:txBody>
      </p:sp>
      <p:sp>
        <p:nvSpPr>
          <p:cNvPr id="132" name="Google Shape;132;p5"/>
          <p:cNvSpPr txBox="1"/>
          <p:nvPr/>
        </p:nvSpPr>
        <p:spPr>
          <a:xfrm>
            <a:off x="6324600" y="2743200"/>
            <a:ext cx="2438400" cy="2743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Are there positions in </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the industry that avoid</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some of the negative</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attributes of the </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industry as a whole?</a:t>
            </a:r>
            <a:endParaRPr/>
          </a:p>
        </p:txBody>
      </p:sp>
      <p:sp>
        <p:nvSpPr>
          <p:cNvPr id="133" name="Google Shape;133;p5"/>
          <p:cNvSpPr txBox="1"/>
          <p:nvPr/>
        </p:nvSpPr>
        <p:spPr>
          <a:xfrm>
            <a:off x="3276600" y="2743200"/>
            <a:ext cx="2438400" cy="2743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Does the industry</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contain markets that</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are ripe for innovation</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or are underserved?</a:t>
            </a:r>
            <a:endParaRPr/>
          </a:p>
        </p:txBody>
      </p:sp>
      <p:cxnSp>
        <p:nvCxnSpPr>
          <p:cNvPr id="134" name="Google Shape;134;p5"/>
          <p:cNvCxnSpPr/>
          <p:nvPr/>
        </p:nvCxnSpPr>
        <p:spPr>
          <a:xfrm>
            <a:off x="228600" y="3200400"/>
            <a:ext cx="2438400" cy="0"/>
          </a:xfrm>
          <a:prstGeom prst="straightConnector1">
            <a:avLst/>
          </a:prstGeom>
          <a:noFill/>
          <a:ln cap="flat" cmpd="sng" w="9525">
            <a:solidFill>
              <a:schemeClr val="dk1"/>
            </a:solidFill>
            <a:prstDash val="solid"/>
            <a:miter lim="800000"/>
            <a:headEnd len="med" w="med" type="none"/>
            <a:tailEnd len="med" w="med" type="none"/>
          </a:ln>
        </p:spPr>
      </p:cxnSp>
      <p:cxnSp>
        <p:nvCxnSpPr>
          <p:cNvPr id="135" name="Google Shape;135;p5"/>
          <p:cNvCxnSpPr/>
          <p:nvPr/>
        </p:nvCxnSpPr>
        <p:spPr>
          <a:xfrm>
            <a:off x="3276600" y="3200400"/>
            <a:ext cx="2438400" cy="0"/>
          </a:xfrm>
          <a:prstGeom prst="straightConnector1">
            <a:avLst/>
          </a:prstGeom>
          <a:noFill/>
          <a:ln cap="flat" cmpd="sng" w="9525">
            <a:solidFill>
              <a:schemeClr val="dk1"/>
            </a:solidFill>
            <a:prstDash val="solid"/>
            <a:miter lim="800000"/>
            <a:headEnd len="med" w="med" type="none"/>
            <a:tailEnd len="med" w="med" type="none"/>
          </a:ln>
        </p:spPr>
      </p:cxnSp>
      <p:cxnSp>
        <p:nvCxnSpPr>
          <p:cNvPr id="136" name="Google Shape;136;p5"/>
          <p:cNvCxnSpPr/>
          <p:nvPr/>
        </p:nvCxnSpPr>
        <p:spPr>
          <a:xfrm>
            <a:off x="6324600" y="3200400"/>
            <a:ext cx="2438400" cy="0"/>
          </a:xfrm>
          <a:prstGeom prst="straightConnector1">
            <a:avLst/>
          </a:prstGeom>
          <a:noFill/>
          <a:ln cap="flat" cmpd="sng" w="9525">
            <a:solidFill>
              <a:schemeClr val="dk1"/>
            </a:solidFill>
            <a:prstDash val="solid"/>
            <a:miter lim="800000"/>
            <a:headEnd len="med" w="med" type="none"/>
            <a:tailEnd len="med" w="med" type="none"/>
          </a:ln>
        </p:spPr>
      </p:cxnSp>
      <p:sp>
        <p:nvSpPr>
          <p:cNvPr id="137" name="Google Shape;137;p5"/>
          <p:cNvSpPr txBox="1"/>
          <p:nvPr/>
        </p:nvSpPr>
        <p:spPr>
          <a:xfrm>
            <a:off x="304800" y="2743200"/>
            <a:ext cx="23622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Question 1</a:t>
            </a:r>
            <a:endParaRPr/>
          </a:p>
        </p:txBody>
      </p:sp>
      <p:sp>
        <p:nvSpPr>
          <p:cNvPr id="138" name="Google Shape;138;p5"/>
          <p:cNvSpPr txBox="1"/>
          <p:nvPr/>
        </p:nvSpPr>
        <p:spPr>
          <a:xfrm>
            <a:off x="6324600" y="2743200"/>
            <a:ext cx="23622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Question 3</a:t>
            </a:r>
            <a:endParaRPr/>
          </a:p>
        </p:txBody>
      </p:sp>
      <p:sp>
        <p:nvSpPr>
          <p:cNvPr id="139" name="Google Shape;139;p5"/>
          <p:cNvSpPr txBox="1"/>
          <p:nvPr/>
        </p:nvSpPr>
        <p:spPr>
          <a:xfrm>
            <a:off x="3276600" y="2743200"/>
            <a:ext cx="23622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Question 2</a:t>
            </a:r>
            <a:endParaRPr/>
          </a:p>
        </p:txBody>
      </p:sp>
      <p:sp>
        <p:nvSpPr>
          <p:cNvPr id="140" name="Google Shape;140;p5"/>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141" name="Google Shape;141;p5"/>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Industry and Firm-Level Factors</a:t>
            </a:r>
            <a:br>
              <a:rPr b="0" i="0" lang="en-US" sz="3600" u="none">
                <a:solidFill>
                  <a:schemeClr val="dk2"/>
                </a:solidFill>
                <a:latin typeface="Times New Roman"/>
                <a:ea typeface="Times New Roman"/>
                <a:cs typeface="Times New Roman"/>
                <a:sym typeface="Times New Roman"/>
              </a:rPr>
            </a:br>
            <a:r>
              <a:rPr b="0" i="0" lang="en-US" sz="3600" u="none">
                <a:solidFill>
                  <a:schemeClr val="dk2"/>
                </a:solidFill>
                <a:latin typeface="Times New Roman"/>
                <a:ea typeface="Times New Roman"/>
                <a:cs typeface="Times New Roman"/>
                <a:sym typeface="Times New Roman"/>
              </a:rPr>
              <a:t>Affect Performance</a:t>
            </a:r>
            <a:endParaRPr/>
          </a:p>
        </p:txBody>
      </p:sp>
      <p:sp>
        <p:nvSpPr>
          <p:cNvPr id="147" name="Google Shape;147;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Firm-Level Factors</a:t>
            </a:r>
            <a:endParaRPr/>
          </a:p>
          <a:p>
            <a:pPr indent="-285750" lvl="1" marL="74295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Include a firm’s assets, products, culture, teamwork among its employees, reputation, and other resources.</a:t>
            </a:r>
            <a:endParaRPr/>
          </a:p>
          <a:p>
            <a:pPr indent="-342900" lvl="0" marL="3429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Industry-Level Factors</a:t>
            </a:r>
            <a:endParaRPr/>
          </a:p>
          <a:p>
            <a:pPr indent="-285750" lvl="1" marL="74295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Include threat of new entrants, rivalry among existing firms, bargaining power of buyers, and related factors.</a:t>
            </a:r>
            <a:endParaRPr/>
          </a:p>
          <a:p>
            <a:pPr indent="-342900" lvl="0" marL="3429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Conclusion</a:t>
            </a:r>
            <a:endParaRPr/>
          </a:p>
          <a:p>
            <a:pPr indent="-285750" lvl="1" marL="74295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In various studies, researchers have found that from 8% to 30% of the variation in firm profitability is directly attributable to the industry in which a firm competes.</a:t>
            </a:r>
            <a:endParaRPr/>
          </a:p>
          <a:p>
            <a:pPr indent="-285750" lvl="1" marL="74295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Therefore, the overall attractiveness of an industry should be part of the equation when an entrepreneur decides whether to pursue a particular opportunity.</a:t>
            </a:r>
            <a:endParaRPr/>
          </a:p>
        </p:txBody>
      </p:sp>
      <p:cxnSp>
        <p:nvCxnSpPr>
          <p:cNvPr id="148" name="Google Shape;148;p6"/>
          <p:cNvCxnSpPr/>
          <p:nvPr/>
        </p:nvCxnSpPr>
        <p:spPr>
          <a:xfrm>
            <a:off x="0" y="12954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49" name="Google Shape;149;p6"/>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150" name="Google Shape;150;p6"/>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Techniques Available to Assess Industry</a:t>
            </a:r>
            <a:br>
              <a:rPr b="0" i="0" lang="en-US" sz="3600" u="none">
                <a:solidFill>
                  <a:schemeClr val="dk2"/>
                </a:solidFill>
                <a:latin typeface="Times New Roman"/>
                <a:ea typeface="Times New Roman"/>
                <a:cs typeface="Times New Roman"/>
                <a:sym typeface="Times New Roman"/>
              </a:rPr>
            </a:br>
            <a:r>
              <a:rPr b="0" i="0" lang="en-US" sz="3600" u="none">
                <a:solidFill>
                  <a:schemeClr val="dk2"/>
                </a:solidFill>
                <a:latin typeface="Times New Roman"/>
                <a:ea typeface="Times New Roman"/>
                <a:cs typeface="Times New Roman"/>
                <a:sym typeface="Times New Roman"/>
              </a:rPr>
              <a:t>Attractiveness</a:t>
            </a:r>
            <a:endParaRPr/>
          </a:p>
        </p:txBody>
      </p:sp>
      <p:cxnSp>
        <p:nvCxnSpPr>
          <p:cNvPr id="156" name="Google Shape;156;p7"/>
          <p:cNvCxnSpPr/>
          <p:nvPr/>
        </p:nvCxnSpPr>
        <p:spPr>
          <a:xfrm>
            <a:off x="0" y="12954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57" name="Google Shape;157;p7"/>
          <p:cNvSpPr txBox="1"/>
          <p:nvPr/>
        </p:nvSpPr>
        <p:spPr>
          <a:xfrm>
            <a:off x="838200" y="2819400"/>
            <a:ext cx="3276600" cy="1143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Study Environmental</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and Business Trends</a:t>
            </a:r>
            <a:endParaRPr/>
          </a:p>
        </p:txBody>
      </p:sp>
      <p:sp>
        <p:nvSpPr>
          <p:cNvPr id="158" name="Google Shape;158;p7"/>
          <p:cNvSpPr txBox="1"/>
          <p:nvPr/>
        </p:nvSpPr>
        <p:spPr>
          <a:xfrm>
            <a:off x="4800600" y="2819400"/>
            <a:ext cx="3276600" cy="1143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Five Competitive</a:t>
            </a:r>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Forces Model</a:t>
            </a:r>
            <a:endParaRPr/>
          </a:p>
        </p:txBody>
      </p:sp>
      <p:sp>
        <p:nvSpPr>
          <p:cNvPr id="159" name="Google Shape;159;p7"/>
          <p:cNvSpPr txBox="1"/>
          <p:nvPr/>
        </p:nvSpPr>
        <p:spPr>
          <a:xfrm>
            <a:off x="1752600" y="1752600"/>
            <a:ext cx="5257800"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Assessing Industry Attractiveness</a:t>
            </a:r>
            <a:endParaRPr/>
          </a:p>
        </p:txBody>
      </p:sp>
      <p:sp>
        <p:nvSpPr>
          <p:cNvPr id="160" name="Google Shape;160;p7"/>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161" name="Google Shape;161;p7"/>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type="title"/>
          </p:nvPr>
        </p:nvSpPr>
        <p:spPr>
          <a:xfrm>
            <a:off x="228600" y="228600"/>
            <a:ext cx="8610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Studying Industry Trends</a:t>
            </a:r>
            <a:endParaRPr/>
          </a:p>
        </p:txBody>
      </p:sp>
      <p:sp>
        <p:nvSpPr>
          <p:cNvPr id="167" name="Google Shape;167;p8"/>
          <p:cNvSpPr txBox="1"/>
          <p:nvPr>
            <p:ph idx="1" type="body"/>
          </p:nvPr>
        </p:nvSpPr>
        <p:spPr>
          <a:xfrm>
            <a:off x="457200" y="16764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Environmental Trends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Include economic trends, social trends, technological advances, and political and regulatory changes.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example, industries that sell products to seniors are benefiting by the aging of the population.  </a:t>
            </a:r>
            <a:endParaRPr/>
          </a:p>
          <a:p>
            <a:pPr indent="-342900" lvl="0" marL="34290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Business Trends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Other trends that impact an industry. </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example, are profit margins in the industry increasing or falling? Is innovation accelerating or waning? Are input costs going up or down?</a:t>
            </a:r>
            <a:endParaRPr/>
          </a:p>
        </p:txBody>
      </p:sp>
      <p:cxnSp>
        <p:nvCxnSpPr>
          <p:cNvPr id="168" name="Google Shape;168;p8"/>
          <p:cNvCxnSpPr/>
          <p:nvPr/>
        </p:nvCxnSpPr>
        <p:spPr>
          <a:xfrm>
            <a:off x="0" y="14478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69" name="Google Shape;169;p8"/>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170" name="Google Shape;170;p8"/>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304800" y="304800"/>
            <a:ext cx="8610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Five Competitive Forces Model</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3</a:t>
            </a:r>
            <a:endParaRPr/>
          </a:p>
        </p:txBody>
      </p:sp>
      <p:sp>
        <p:nvSpPr>
          <p:cNvPr id="176" name="Google Shape;176;p9"/>
          <p:cNvSpPr txBox="1"/>
          <p:nvPr>
            <p:ph idx="1" type="body"/>
          </p:nvPr>
        </p:nvSpPr>
        <p:spPr>
          <a:xfrm>
            <a:off x="457200" y="16764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Explanation of the Five Forces Model</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five competitive forces model is a framework for understanding the structure of an industry.</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model is composed of the forces that determine industry profitability.</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They help determine the average rate of return for the firms in an industry.  </a:t>
            </a:r>
            <a:endParaRPr/>
          </a:p>
        </p:txBody>
      </p:sp>
      <p:cxnSp>
        <p:nvCxnSpPr>
          <p:cNvPr id="177" name="Google Shape;177;p9"/>
          <p:cNvCxnSpPr/>
          <p:nvPr/>
        </p:nvCxnSpPr>
        <p:spPr>
          <a:xfrm>
            <a:off x="0" y="14478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78" name="Google Shape;178;p9"/>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179" name="Google Shape;179;p9"/>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0"/>
          <p:cNvSpPr txBox="1"/>
          <p:nvPr>
            <p:ph type="title"/>
          </p:nvPr>
        </p:nvSpPr>
        <p:spPr>
          <a:xfrm>
            <a:off x="228600" y="381000"/>
            <a:ext cx="8610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Five Competitive Forces Model</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3</a:t>
            </a:r>
            <a:endParaRPr/>
          </a:p>
        </p:txBody>
      </p:sp>
      <p:sp>
        <p:nvSpPr>
          <p:cNvPr id="185" name="Google Shape;185;p10"/>
          <p:cNvSpPr txBox="1"/>
          <p:nvPr>
            <p:ph idx="1" type="body"/>
          </p:nvPr>
        </p:nvSpPr>
        <p:spPr>
          <a:xfrm>
            <a:off x="457200" y="16764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Explanation of the Five Forces Model (continued)</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Each of the five forces impacts the average rate of return for the firms in an industry by applying pressure on industry profitability.</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Well managed firms try to position their firms in a way that avoids or diminishes these forces—in an attempt to beat the average rate of return of the industry.</a:t>
            </a:r>
            <a:endParaRPr/>
          </a:p>
        </p:txBody>
      </p:sp>
      <p:cxnSp>
        <p:nvCxnSpPr>
          <p:cNvPr id="186" name="Google Shape;186;p10"/>
          <p:cNvCxnSpPr/>
          <p:nvPr/>
        </p:nvCxnSpPr>
        <p:spPr>
          <a:xfrm>
            <a:off x="0" y="1600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87" name="Google Shape;187;p10"/>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188" name="Google Shape;188;p10"/>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txBox="1"/>
          <p:nvPr>
            <p:ph type="title"/>
          </p:nvPr>
        </p:nvSpPr>
        <p:spPr>
          <a:xfrm>
            <a:off x="304800" y="381000"/>
            <a:ext cx="8610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Five Competitive Forces Model</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3 of 3</a:t>
            </a:r>
            <a:endParaRPr/>
          </a:p>
        </p:txBody>
      </p:sp>
      <p:cxnSp>
        <p:nvCxnSpPr>
          <p:cNvPr id="194" name="Google Shape;194;p11"/>
          <p:cNvCxnSpPr/>
          <p:nvPr/>
        </p:nvCxnSpPr>
        <p:spPr>
          <a:xfrm>
            <a:off x="0" y="1600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195" name="Google Shape;195;p11"/>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196" name="Google Shape;196;p11"/>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pic>
        <p:nvPicPr>
          <p:cNvPr id="197" name="Google Shape;197;p11"/>
          <p:cNvPicPr preferRelativeResize="0"/>
          <p:nvPr/>
        </p:nvPicPr>
        <p:blipFill rotWithShape="1">
          <a:blip r:embed="rId3">
            <a:alphaModFix/>
          </a:blip>
          <a:srcRect b="0" l="0" r="0" t="0"/>
          <a:stretch/>
        </p:blipFill>
        <p:spPr>
          <a:xfrm>
            <a:off x="623887" y="1981200"/>
            <a:ext cx="7972425" cy="294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Substitutes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3</a:t>
            </a:r>
            <a:endParaRPr/>
          </a:p>
        </p:txBody>
      </p:sp>
      <p:sp>
        <p:nvSpPr>
          <p:cNvPr id="203" name="Google Shape;203;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Threat of Substitutes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price that consumers are willing to pay for a product depends in part on the availability of substitute products.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example, there are few, if any, substitutes for prescription medicines, which is one of the reasons the pharmaceutical industry is so profitable.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contrast, when close substitutes for a product exist, industry profitability is suppressed, because consumers will opt out if the price gets too high. </a:t>
            </a:r>
            <a:endParaRPr/>
          </a:p>
        </p:txBody>
      </p:sp>
      <p:cxnSp>
        <p:nvCxnSpPr>
          <p:cNvPr id="204" name="Google Shape;204;p12"/>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05" name="Google Shape;205;p12"/>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206" name="Google Shape;206;p12"/>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3"/>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Substitutes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3</a:t>
            </a:r>
            <a:endParaRPr/>
          </a:p>
        </p:txBody>
      </p:sp>
      <p:sp>
        <p:nvSpPr>
          <p:cNvPr id="212" name="Google Shape;212;p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Threat of Substitutes (continued)</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extent to which substitutes suppress the profitability of an industry depends on the propensity for buyers to substitute between alternatives.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This is why firms in an industry often offer their customers amenities to reduce the likelihood that they will switch to a substitute product, even in light of a price increase. </a:t>
            </a:r>
            <a:endParaRPr/>
          </a:p>
        </p:txBody>
      </p:sp>
      <p:cxnSp>
        <p:nvCxnSpPr>
          <p:cNvPr id="213" name="Google Shape;213;p13"/>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14" name="Google Shape;214;p13"/>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215" name="Google Shape;215;p13"/>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Substitutes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3 of 3</a:t>
            </a:r>
            <a:endParaRPr/>
          </a:p>
        </p:txBody>
      </p:sp>
      <p:cxnSp>
        <p:nvCxnSpPr>
          <p:cNvPr id="221" name="Google Shape;221;p14"/>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22" name="Google Shape;222;p14"/>
          <p:cNvSpPr txBox="1"/>
          <p:nvPr/>
        </p:nvSpPr>
        <p:spPr>
          <a:xfrm>
            <a:off x="4876800" y="1524000"/>
            <a:ext cx="4114800" cy="4606925"/>
          </a:xfrm>
          <a:prstGeom prst="rect">
            <a:avLst/>
          </a:prstGeom>
          <a:noFill/>
          <a:ln>
            <a:noFill/>
          </a:ln>
        </p:spPr>
        <p:txBody>
          <a:bodyPr anchorCtr="0" anchor="t" bIns="45700" lIns="91425" spcFirstLastPara="1" rIns="91425" wrap="square" tIns="45700">
            <a:spAutoFit/>
          </a:bodyPr>
          <a:lstStyle/>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This independently owned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coffee shop doesn’t just sell</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coffee.</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It also offers its patrons a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convenient and pleasant place</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to meet, socialize, and study.</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It provides these amenities to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decrease the likelihood that its</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customers will “substitute”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coffee at this shop for less</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expensive alternatives.</a:t>
            </a:r>
            <a:endParaRPr/>
          </a:p>
        </p:txBody>
      </p:sp>
      <p:sp>
        <p:nvSpPr>
          <p:cNvPr id="223" name="Google Shape;223;p14"/>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224" name="Google Shape;224;p14"/>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pic>
        <p:nvPicPr>
          <p:cNvPr id="225" name="Google Shape;225;p14"/>
          <p:cNvPicPr preferRelativeResize="0"/>
          <p:nvPr/>
        </p:nvPicPr>
        <p:blipFill rotWithShape="1">
          <a:blip r:embed="rId3">
            <a:alphaModFix/>
          </a:blip>
          <a:srcRect b="0" l="0" r="0" t="0"/>
          <a:stretch/>
        </p:blipFill>
        <p:spPr>
          <a:xfrm>
            <a:off x="228600" y="2133600"/>
            <a:ext cx="4540250" cy="304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5"/>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New Entrants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6</a:t>
            </a:r>
            <a:endParaRPr/>
          </a:p>
        </p:txBody>
      </p:sp>
      <p:sp>
        <p:nvSpPr>
          <p:cNvPr id="231" name="Google Shape;231;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Threat of New Entrants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If the firms in an industry are highly profitable, the industry becomes a magnet to new entrants.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Unless something is done to stop this, the competition in the industry will increase, and average industry profitability will decline.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Firms in an industry try to keep the number of new entrants low by erecting barriers to entry.</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barrier to entry is a condition that creates a disincentive for a new firm to enter an industry.  </a:t>
            </a:r>
            <a:endParaRPr/>
          </a:p>
        </p:txBody>
      </p:sp>
      <p:cxnSp>
        <p:nvCxnSpPr>
          <p:cNvPr id="232" name="Google Shape;232;p15"/>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33" name="Google Shape;233;p15"/>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234" name="Google Shape;234;p15"/>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6"/>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New Entrants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6</a:t>
            </a:r>
            <a:endParaRPr/>
          </a:p>
        </p:txBody>
      </p:sp>
      <p:cxnSp>
        <p:nvCxnSpPr>
          <p:cNvPr id="240" name="Google Shape;240;p16"/>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41" name="Google Shape;241;p16"/>
          <p:cNvSpPr txBox="1"/>
          <p:nvPr/>
        </p:nvSpPr>
        <p:spPr>
          <a:xfrm>
            <a:off x="533400" y="1981200"/>
            <a:ext cx="8153400" cy="4267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242" name="Google Shape;242;p16"/>
          <p:cNvCxnSpPr/>
          <p:nvPr/>
        </p:nvCxnSpPr>
        <p:spPr>
          <a:xfrm>
            <a:off x="533400" y="2514600"/>
            <a:ext cx="8153400" cy="0"/>
          </a:xfrm>
          <a:prstGeom prst="straightConnector1">
            <a:avLst/>
          </a:prstGeom>
          <a:noFill/>
          <a:ln cap="flat" cmpd="sng" w="9525">
            <a:solidFill>
              <a:schemeClr val="dk1"/>
            </a:solidFill>
            <a:prstDash val="solid"/>
            <a:miter lim="800000"/>
            <a:headEnd len="med" w="med" type="none"/>
            <a:tailEnd len="med" w="med" type="none"/>
          </a:ln>
        </p:spPr>
      </p:cxnSp>
      <p:cxnSp>
        <p:nvCxnSpPr>
          <p:cNvPr id="243" name="Google Shape;243;p16"/>
          <p:cNvCxnSpPr/>
          <p:nvPr/>
        </p:nvCxnSpPr>
        <p:spPr>
          <a:xfrm>
            <a:off x="533400" y="3657600"/>
            <a:ext cx="8153400" cy="0"/>
          </a:xfrm>
          <a:prstGeom prst="straightConnector1">
            <a:avLst/>
          </a:prstGeom>
          <a:noFill/>
          <a:ln cap="flat" cmpd="sng" w="9525">
            <a:solidFill>
              <a:schemeClr val="dk1"/>
            </a:solidFill>
            <a:prstDash val="solid"/>
            <a:miter lim="800000"/>
            <a:headEnd len="med" w="med" type="none"/>
            <a:tailEnd len="med" w="med" type="none"/>
          </a:ln>
        </p:spPr>
      </p:cxnSp>
      <p:cxnSp>
        <p:nvCxnSpPr>
          <p:cNvPr id="244" name="Google Shape;244;p16"/>
          <p:cNvCxnSpPr/>
          <p:nvPr/>
        </p:nvCxnSpPr>
        <p:spPr>
          <a:xfrm>
            <a:off x="533400" y="4800600"/>
            <a:ext cx="8153400" cy="0"/>
          </a:xfrm>
          <a:prstGeom prst="straightConnector1">
            <a:avLst/>
          </a:prstGeom>
          <a:noFill/>
          <a:ln cap="flat" cmpd="sng" w="9525">
            <a:solidFill>
              <a:schemeClr val="dk1"/>
            </a:solidFill>
            <a:prstDash val="solid"/>
            <a:miter lim="800000"/>
            <a:headEnd len="med" w="med" type="none"/>
            <a:tailEnd len="med" w="med" type="none"/>
          </a:ln>
        </p:spPr>
      </p:cxnSp>
      <p:sp>
        <p:nvSpPr>
          <p:cNvPr id="245" name="Google Shape;245;p16"/>
          <p:cNvSpPr txBox="1"/>
          <p:nvPr/>
        </p:nvSpPr>
        <p:spPr>
          <a:xfrm>
            <a:off x="533400" y="2057400"/>
            <a:ext cx="2667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Barrier to Entry</a:t>
            </a:r>
            <a:endParaRPr/>
          </a:p>
        </p:txBody>
      </p:sp>
      <p:cxnSp>
        <p:nvCxnSpPr>
          <p:cNvPr id="246" name="Google Shape;246;p16"/>
          <p:cNvCxnSpPr/>
          <p:nvPr/>
        </p:nvCxnSpPr>
        <p:spPr>
          <a:xfrm>
            <a:off x="3048000" y="1981200"/>
            <a:ext cx="0" cy="4267200"/>
          </a:xfrm>
          <a:prstGeom prst="straightConnector1">
            <a:avLst/>
          </a:prstGeom>
          <a:noFill/>
          <a:ln cap="flat" cmpd="sng" w="9525">
            <a:solidFill>
              <a:schemeClr val="dk1"/>
            </a:solidFill>
            <a:prstDash val="solid"/>
            <a:miter lim="800000"/>
            <a:headEnd len="med" w="med" type="none"/>
            <a:tailEnd len="med" w="med" type="none"/>
          </a:ln>
        </p:spPr>
      </p:cxnSp>
      <p:sp>
        <p:nvSpPr>
          <p:cNvPr id="247" name="Google Shape;247;p16"/>
          <p:cNvSpPr txBox="1"/>
          <p:nvPr/>
        </p:nvSpPr>
        <p:spPr>
          <a:xfrm>
            <a:off x="3352800" y="2057400"/>
            <a:ext cx="48768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Explanation</a:t>
            </a:r>
            <a:endParaRPr/>
          </a:p>
        </p:txBody>
      </p:sp>
      <p:sp>
        <p:nvSpPr>
          <p:cNvPr id="248" name="Google Shape;248;p16"/>
          <p:cNvSpPr txBox="1"/>
          <p:nvPr/>
        </p:nvSpPr>
        <p:spPr>
          <a:xfrm>
            <a:off x="381000" y="2819400"/>
            <a:ext cx="2667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Economies of Scale</a:t>
            </a:r>
            <a:endParaRPr/>
          </a:p>
        </p:txBody>
      </p:sp>
      <p:sp>
        <p:nvSpPr>
          <p:cNvPr id="249" name="Google Shape;249;p16"/>
          <p:cNvSpPr txBox="1"/>
          <p:nvPr/>
        </p:nvSpPr>
        <p:spPr>
          <a:xfrm>
            <a:off x="609600" y="3886200"/>
            <a:ext cx="23622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Product differentiation</a:t>
            </a:r>
            <a:endParaRPr/>
          </a:p>
        </p:txBody>
      </p:sp>
      <p:sp>
        <p:nvSpPr>
          <p:cNvPr id="250" name="Google Shape;250;p16"/>
          <p:cNvSpPr txBox="1"/>
          <p:nvPr/>
        </p:nvSpPr>
        <p:spPr>
          <a:xfrm>
            <a:off x="762000" y="5105400"/>
            <a:ext cx="20574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Capital requirements</a:t>
            </a:r>
            <a:endParaRPr/>
          </a:p>
        </p:txBody>
      </p:sp>
      <p:sp>
        <p:nvSpPr>
          <p:cNvPr id="251" name="Google Shape;251;p16"/>
          <p:cNvSpPr txBox="1"/>
          <p:nvPr/>
        </p:nvSpPr>
        <p:spPr>
          <a:xfrm>
            <a:off x="1981200" y="1371600"/>
            <a:ext cx="48768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Barriers to Entry</a:t>
            </a:r>
            <a:endParaRPr/>
          </a:p>
        </p:txBody>
      </p:sp>
      <p:sp>
        <p:nvSpPr>
          <p:cNvPr id="252" name="Google Shape;252;p16"/>
          <p:cNvSpPr txBox="1"/>
          <p:nvPr/>
        </p:nvSpPr>
        <p:spPr>
          <a:xfrm>
            <a:off x="3124200" y="2667000"/>
            <a:ext cx="54864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Industries that are characterized by large economies of scale are difficult for new firms to enter, unless they are willing to accept a cost disadvantage.</a:t>
            </a:r>
            <a:endParaRPr/>
          </a:p>
        </p:txBody>
      </p:sp>
      <p:sp>
        <p:nvSpPr>
          <p:cNvPr id="253" name="Google Shape;253;p16"/>
          <p:cNvSpPr txBox="1"/>
          <p:nvPr/>
        </p:nvSpPr>
        <p:spPr>
          <a:xfrm>
            <a:off x="3048000" y="3733800"/>
            <a:ext cx="5562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Industries such as the soft drink industry that are characterized by firms with strong brands are difficult to break into without spending heavily on advertising.</a:t>
            </a:r>
            <a:endParaRPr/>
          </a:p>
        </p:txBody>
      </p:sp>
      <p:sp>
        <p:nvSpPr>
          <p:cNvPr id="254" name="Google Shape;254;p16"/>
          <p:cNvSpPr txBox="1"/>
          <p:nvPr/>
        </p:nvSpPr>
        <p:spPr>
          <a:xfrm>
            <a:off x="3124200" y="5105400"/>
            <a:ext cx="54864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The need to invest large amounts of money to gain entrance to an industry is another barrier to entry.  </a:t>
            </a:r>
            <a:endParaRPr/>
          </a:p>
        </p:txBody>
      </p:sp>
      <p:sp>
        <p:nvSpPr>
          <p:cNvPr id="255" name="Google Shape;255;p16"/>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256" name="Google Shape;256;p16"/>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New Entrants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3 of 6</a:t>
            </a:r>
            <a:endParaRPr/>
          </a:p>
        </p:txBody>
      </p:sp>
      <p:cxnSp>
        <p:nvCxnSpPr>
          <p:cNvPr id="262" name="Google Shape;262;p17"/>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63" name="Google Shape;263;p17"/>
          <p:cNvSpPr txBox="1"/>
          <p:nvPr/>
        </p:nvSpPr>
        <p:spPr>
          <a:xfrm>
            <a:off x="533400" y="1981200"/>
            <a:ext cx="8153400" cy="4267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264" name="Google Shape;264;p17"/>
          <p:cNvCxnSpPr/>
          <p:nvPr/>
        </p:nvCxnSpPr>
        <p:spPr>
          <a:xfrm>
            <a:off x="533400" y="2514600"/>
            <a:ext cx="8153400" cy="0"/>
          </a:xfrm>
          <a:prstGeom prst="straightConnector1">
            <a:avLst/>
          </a:prstGeom>
          <a:noFill/>
          <a:ln cap="flat" cmpd="sng" w="9525">
            <a:solidFill>
              <a:schemeClr val="dk1"/>
            </a:solidFill>
            <a:prstDash val="solid"/>
            <a:miter lim="800000"/>
            <a:headEnd len="med" w="med" type="none"/>
            <a:tailEnd len="med" w="med" type="none"/>
          </a:ln>
        </p:spPr>
      </p:cxnSp>
      <p:cxnSp>
        <p:nvCxnSpPr>
          <p:cNvPr id="265" name="Google Shape;265;p17"/>
          <p:cNvCxnSpPr/>
          <p:nvPr/>
        </p:nvCxnSpPr>
        <p:spPr>
          <a:xfrm>
            <a:off x="533400" y="3657600"/>
            <a:ext cx="8153400" cy="0"/>
          </a:xfrm>
          <a:prstGeom prst="straightConnector1">
            <a:avLst/>
          </a:prstGeom>
          <a:noFill/>
          <a:ln cap="flat" cmpd="sng" w="9525">
            <a:solidFill>
              <a:schemeClr val="dk1"/>
            </a:solidFill>
            <a:prstDash val="solid"/>
            <a:miter lim="800000"/>
            <a:headEnd len="med" w="med" type="none"/>
            <a:tailEnd len="med" w="med" type="none"/>
          </a:ln>
        </p:spPr>
      </p:cxnSp>
      <p:cxnSp>
        <p:nvCxnSpPr>
          <p:cNvPr id="266" name="Google Shape;266;p17"/>
          <p:cNvCxnSpPr/>
          <p:nvPr/>
        </p:nvCxnSpPr>
        <p:spPr>
          <a:xfrm>
            <a:off x="533400" y="4800600"/>
            <a:ext cx="8153400" cy="0"/>
          </a:xfrm>
          <a:prstGeom prst="straightConnector1">
            <a:avLst/>
          </a:prstGeom>
          <a:noFill/>
          <a:ln cap="flat" cmpd="sng" w="9525">
            <a:solidFill>
              <a:schemeClr val="dk1"/>
            </a:solidFill>
            <a:prstDash val="solid"/>
            <a:miter lim="800000"/>
            <a:headEnd len="med" w="med" type="none"/>
            <a:tailEnd len="med" w="med" type="none"/>
          </a:ln>
        </p:spPr>
      </p:cxnSp>
      <p:sp>
        <p:nvSpPr>
          <p:cNvPr id="267" name="Google Shape;267;p17"/>
          <p:cNvSpPr txBox="1"/>
          <p:nvPr/>
        </p:nvSpPr>
        <p:spPr>
          <a:xfrm>
            <a:off x="533400" y="2057400"/>
            <a:ext cx="2667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Barrier to Entry</a:t>
            </a:r>
            <a:endParaRPr/>
          </a:p>
        </p:txBody>
      </p:sp>
      <p:cxnSp>
        <p:nvCxnSpPr>
          <p:cNvPr id="268" name="Google Shape;268;p17"/>
          <p:cNvCxnSpPr/>
          <p:nvPr/>
        </p:nvCxnSpPr>
        <p:spPr>
          <a:xfrm>
            <a:off x="3048000" y="1981200"/>
            <a:ext cx="0" cy="4267200"/>
          </a:xfrm>
          <a:prstGeom prst="straightConnector1">
            <a:avLst/>
          </a:prstGeom>
          <a:noFill/>
          <a:ln cap="flat" cmpd="sng" w="9525">
            <a:solidFill>
              <a:schemeClr val="dk1"/>
            </a:solidFill>
            <a:prstDash val="solid"/>
            <a:miter lim="800000"/>
            <a:headEnd len="med" w="med" type="none"/>
            <a:tailEnd len="med" w="med" type="none"/>
          </a:ln>
        </p:spPr>
      </p:cxnSp>
      <p:sp>
        <p:nvSpPr>
          <p:cNvPr id="269" name="Google Shape;269;p17"/>
          <p:cNvSpPr txBox="1"/>
          <p:nvPr/>
        </p:nvSpPr>
        <p:spPr>
          <a:xfrm>
            <a:off x="3352800" y="2057400"/>
            <a:ext cx="48768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Explanation</a:t>
            </a:r>
            <a:endParaRPr/>
          </a:p>
        </p:txBody>
      </p:sp>
      <p:sp>
        <p:nvSpPr>
          <p:cNvPr id="270" name="Google Shape;270;p17"/>
          <p:cNvSpPr txBox="1"/>
          <p:nvPr/>
        </p:nvSpPr>
        <p:spPr>
          <a:xfrm>
            <a:off x="381000" y="2819400"/>
            <a:ext cx="26670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Cost advantages independent of size</a:t>
            </a:r>
            <a:endParaRPr/>
          </a:p>
        </p:txBody>
      </p:sp>
      <p:sp>
        <p:nvSpPr>
          <p:cNvPr id="271" name="Google Shape;271;p17"/>
          <p:cNvSpPr txBox="1"/>
          <p:nvPr/>
        </p:nvSpPr>
        <p:spPr>
          <a:xfrm>
            <a:off x="609600" y="3962400"/>
            <a:ext cx="23622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Access to distribution channels</a:t>
            </a:r>
            <a:endParaRPr/>
          </a:p>
        </p:txBody>
      </p:sp>
      <p:sp>
        <p:nvSpPr>
          <p:cNvPr id="272" name="Google Shape;272;p17"/>
          <p:cNvSpPr txBox="1"/>
          <p:nvPr/>
        </p:nvSpPr>
        <p:spPr>
          <a:xfrm>
            <a:off x="685800" y="5029200"/>
            <a:ext cx="20574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Government and legal barriers</a:t>
            </a:r>
            <a:endParaRPr/>
          </a:p>
        </p:txBody>
      </p:sp>
      <p:sp>
        <p:nvSpPr>
          <p:cNvPr id="273" name="Google Shape;273;p17"/>
          <p:cNvSpPr txBox="1"/>
          <p:nvPr/>
        </p:nvSpPr>
        <p:spPr>
          <a:xfrm>
            <a:off x="1981200" y="1371600"/>
            <a:ext cx="48768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Barriers to Entry (continued)</a:t>
            </a:r>
            <a:endParaRPr/>
          </a:p>
        </p:txBody>
      </p:sp>
      <p:sp>
        <p:nvSpPr>
          <p:cNvPr id="274" name="Google Shape;274;p17"/>
          <p:cNvSpPr txBox="1"/>
          <p:nvPr/>
        </p:nvSpPr>
        <p:spPr>
          <a:xfrm>
            <a:off x="3124200" y="2438400"/>
            <a:ext cx="5486400"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Existing firms may have cost advantages not related to size.  For example, the existing firms in an industry may have purchased land when it was less expensive than it is today.</a:t>
            </a:r>
            <a:endParaRPr/>
          </a:p>
        </p:txBody>
      </p:sp>
      <p:sp>
        <p:nvSpPr>
          <p:cNvPr id="275" name="Google Shape;275;p17"/>
          <p:cNvSpPr txBox="1"/>
          <p:nvPr/>
        </p:nvSpPr>
        <p:spPr>
          <a:xfrm>
            <a:off x="3048000" y="3733800"/>
            <a:ext cx="56388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Distribution channels are often hard to crack.  This is particularly true in crowded markets, such as the convenience store market. </a:t>
            </a:r>
            <a:endParaRPr/>
          </a:p>
        </p:txBody>
      </p:sp>
      <p:sp>
        <p:nvSpPr>
          <p:cNvPr id="276" name="Google Shape;276;p17"/>
          <p:cNvSpPr txBox="1"/>
          <p:nvPr/>
        </p:nvSpPr>
        <p:spPr>
          <a:xfrm>
            <a:off x="3124200" y="5029200"/>
            <a:ext cx="54864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Some industries, such as banking and broadcasting, require the granting of a license by a public authority to compete.</a:t>
            </a:r>
            <a:endParaRPr/>
          </a:p>
        </p:txBody>
      </p:sp>
      <p:sp>
        <p:nvSpPr>
          <p:cNvPr id="277" name="Google Shape;277;p17"/>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278" name="Google Shape;278;p17"/>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8"/>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New Entrants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4 of 6</a:t>
            </a:r>
            <a:endParaRPr/>
          </a:p>
        </p:txBody>
      </p:sp>
      <p:sp>
        <p:nvSpPr>
          <p:cNvPr id="284" name="Google Shape;284;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Nontraditional Barriers to Entry</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 is difficult for start-ups to execute barriers to entry that are expensive, such as economies of scale, because money is usually tight.</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Start-ups have to rely on nontraditional barriers to entry to discourage new entrants, such as assembling a world-class management team that would be difficult for another company to replicate.</a:t>
            </a:r>
            <a:endParaRPr/>
          </a:p>
        </p:txBody>
      </p:sp>
      <p:cxnSp>
        <p:nvCxnSpPr>
          <p:cNvPr id="285" name="Google Shape;285;p18"/>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86" name="Google Shape;286;p18"/>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287" name="Google Shape;287;p18"/>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9"/>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New Entrants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5 of 6</a:t>
            </a:r>
            <a:endParaRPr/>
          </a:p>
        </p:txBody>
      </p:sp>
      <p:cxnSp>
        <p:nvCxnSpPr>
          <p:cNvPr id="293" name="Google Shape;293;p19"/>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294" name="Google Shape;294;p19"/>
          <p:cNvSpPr txBox="1"/>
          <p:nvPr/>
        </p:nvSpPr>
        <p:spPr>
          <a:xfrm>
            <a:off x="533400" y="1981200"/>
            <a:ext cx="8153400" cy="4267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295" name="Google Shape;295;p19"/>
          <p:cNvCxnSpPr/>
          <p:nvPr/>
        </p:nvCxnSpPr>
        <p:spPr>
          <a:xfrm>
            <a:off x="533400" y="2514600"/>
            <a:ext cx="8153400" cy="0"/>
          </a:xfrm>
          <a:prstGeom prst="straightConnector1">
            <a:avLst/>
          </a:prstGeom>
          <a:noFill/>
          <a:ln cap="flat" cmpd="sng" w="9525">
            <a:solidFill>
              <a:schemeClr val="dk1"/>
            </a:solidFill>
            <a:prstDash val="solid"/>
            <a:miter lim="800000"/>
            <a:headEnd len="med" w="med" type="none"/>
            <a:tailEnd len="med" w="med" type="none"/>
          </a:ln>
        </p:spPr>
      </p:cxnSp>
      <p:cxnSp>
        <p:nvCxnSpPr>
          <p:cNvPr id="296" name="Google Shape;296;p19"/>
          <p:cNvCxnSpPr/>
          <p:nvPr/>
        </p:nvCxnSpPr>
        <p:spPr>
          <a:xfrm>
            <a:off x="533400" y="3657600"/>
            <a:ext cx="8153400" cy="0"/>
          </a:xfrm>
          <a:prstGeom prst="straightConnector1">
            <a:avLst/>
          </a:prstGeom>
          <a:noFill/>
          <a:ln cap="flat" cmpd="sng" w="9525">
            <a:solidFill>
              <a:schemeClr val="dk1"/>
            </a:solidFill>
            <a:prstDash val="solid"/>
            <a:miter lim="800000"/>
            <a:headEnd len="med" w="med" type="none"/>
            <a:tailEnd len="med" w="med" type="none"/>
          </a:ln>
        </p:spPr>
      </p:cxnSp>
      <p:cxnSp>
        <p:nvCxnSpPr>
          <p:cNvPr id="297" name="Google Shape;297;p19"/>
          <p:cNvCxnSpPr/>
          <p:nvPr/>
        </p:nvCxnSpPr>
        <p:spPr>
          <a:xfrm>
            <a:off x="533400" y="4800600"/>
            <a:ext cx="8153400" cy="0"/>
          </a:xfrm>
          <a:prstGeom prst="straightConnector1">
            <a:avLst/>
          </a:prstGeom>
          <a:noFill/>
          <a:ln cap="flat" cmpd="sng" w="9525">
            <a:solidFill>
              <a:schemeClr val="dk1"/>
            </a:solidFill>
            <a:prstDash val="solid"/>
            <a:miter lim="800000"/>
            <a:headEnd len="med" w="med" type="none"/>
            <a:tailEnd len="med" w="med" type="none"/>
          </a:ln>
        </p:spPr>
      </p:cxnSp>
      <p:sp>
        <p:nvSpPr>
          <p:cNvPr id="298" name="Google Shape;298;p19"/>
          <p:cNvSpPr txBox="1"/>
          <p:nvPr/>
        </p:nvSpPr>
        <p:spPr>
          <a:xfrm>
            <a:off x="533400" y="2057400"/>
            <a:ext cx="2667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Barrier to Entry</a:t>
            </a:r>
            <a:endParaRPr/>
          </a:p>
        </p:txBody>
      </p:sp>
      <p:cxnSp>
        <p:nvCxnSpPr>
          <p:cNvPr id="299" name="Google Shape;299;p19"/>
          <p:cNvCxnSpPr/>
          <p:nvPr/>
        </p:nvCxnSpPr>
        <p:spPr>
          <a:xfrm>
            <a:off x="3048000" y="1981200"/>
            <a:ext cx="0" cy="4267200"/>
          </a:xfrm>
          <a:prstGeom prst="straightConnector1">
            <a:avLst/>
          </a:prstGeom>
          <a:noFill/>
          <a:ln cap="flat" cmpd="sng" w="9525">
            <a:solidFill>
              <a:schemeClr val="dk1"/>
            </a:solidFill>
            <a:prstDash val="solid"/>
            <a:miter lim="800000"/>
            <a:headEnd len="med" w="med" type="none"/>
            <a:tailEnd len="med" w="med" type="none"/>
          </a:ln>
        </p:spPr>
      </p:cxnSp>
      <p:sp>
        <p:nvSpPr>
          <p:cNvPr id="300" name="Google Shape;300;p19"/>
          <p:cNvSpPr txBox="1"/>
          <p:nvPr/>
        </p:nvSpPr>
        <p:spPr>
          <a:xfrm>
            <a:off x="3352800" y="2057400"/>
            <a:ext cx="48768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Explanation</a:t>
            </a:r>
            <a:endParaRPr/>
          </a:p>
        </p:txBody>
      </p:sp>
      <p:sp>
        <p:nvSpPr>
          <p:cNvPr id="301" name="Google Shape;301;p19"/>
          <p:cNvSpPr txBox="1"/>
          <p:nvPr/>
        </p:nvSpPr>
        <p:spPr>
          <a:xfrm>
            <a:off x="1981200" y="1371600"/>
            <a:ext cx="48768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Nontraditional Barriers to Entry</a:t>
            </a:r>
            <a:endParaRPr/>
          </a:p>
        </p:txBody>
      </p:sp>
      <p:sp>
        <p:nvSpPr>
          <p:cNvPr id="302" name="Google Shape;302;p19"/>
          <p:cNvSpPr txBox="1"/>
          <p:nvPr/>
        </p:nvSpPr>
        <p:spPr>
          <a:xfrm>
            <a:off x="609600" y="2743200"/>
            <a:ext cx="23622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Strength of management team</a:t>
            </a:r>
            <a:endParaRPr/>
          </a:p>
        </p:txBody>
      </p:sp>
      <p:sp>
        <p:nvSpPr>
          <p:cNvPr id="303" name="Google Shape;303;p19"/>
          <p:cNvSpPr txBox="1"/>
          <p:nvPr/>
        </p:nvSpPr>
        <p:spPr>
          <a:xfrm>
            <a:off x="3124200" y="2590800"/>
            <a:ext cx="54864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If a start-up puts together a world-class management team, it may give potential rivals pause in taking on the start-up in its chosen industry.</a:t>
            </a:r>
            <a:endParaRPr/>
          </a:p>
        </p:txBody>
      </p:sp>
      <p:sp>
        <p:nvSpPr>
          <p:cNvPr id="304" name="Google Shape;304;p19"/>
          <p:cNvSpPr txBox="1"/>
          <p:nvPr/>
        </p:nvSpPr>
        <p:spPr>
          <a:xfrm>
            <a:off x="609600" y="3886200"/>
            <a:ext cx="23622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First-mover advantage</a:t>
            </a:r>
            <a:endParaRPr/>
          </a:p>
        </p:txBody>
      </p:sp>
      <p:sp>
        <p:nvSpPr>
          <p:cNvPr id="305" name="Google Shape;305;p19"/>
          <p:cNvSpPr txBox="1"/>
          <p:nvPr/>
        </p:nvSpPr>
        <p:spPr>
          <a:xfrm>
            <a:off x="3124200" y="3733800"/>
            <a:ext cx="54864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If a start-up pioneers an industry or a new concept within an industry, the name recognition the start-up establishes may create a barrier to entry.</a:t>
            </a:r>
            <a:endParaRPr/>
          </a:p>
        </p:txBody>
      </p:sp>
      <p:sp>
        <p:nvSpPr>
          <p:cNvPr id="306" name="Google Shape;306;p19"/>
          <p:cNvSpPr txBox="1"/>
          <p:nvPr/>
        </p:nvSpPr>
        <p:spPr>
          <a:xfrm>
            <a:off x="609600" y="4953000"/>
            <a:ext cx="23622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Passion of the management team and employees</a:t>
            </a:r>
            <a:endParaRPr/>
          </a:p>
        </p:txBody>
      </p:sp>
      <p:sp>
        <p:nvSpPr>
          <p:cNvPr id="307" name="Google Shape;307;p19"/>
          <p:cNvSpPr txBox="1"/>
          <p:nvPr/>
        </p:nvSpPr>
        <p:spPr>
          <a:xfrm>
            <a:off x="3048000" y="4800600"/>
            <a:ext cx="5562600"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If the employees of a start-up are motivated by the unique culture of a start-up, and anticipate a large financial reward, this is a combination that cannot be replicated by larger firms. </a:t>
            </a:r>
            <a:endParaRPr/>
          </a:p>
        </p:txBody>
      </p:sp>
      <p:sp>
        <p:nvSpPr>
          <p:cNvPr id="308" name="Google Shape;308;p19"/>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309" name="Google Shape;309;p19"/>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0"/>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Threat of New Entrants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6 of 6</a:t>
            </a:r>
            <a:endParaRPr/>
          </a:p>
        </p:txBody>
      </p:sp>
      <p:cxnSp>
        <p:nvCxnSpPr>
          <p:cNvPr id="315" name="Google Shape;315;p20"/>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16" name="Google Shape;316;p20"/>
          <p:cNvSpPr txBox="1"/>
          <p:nvPr/>
        </p:nvSpPr>
        <p:spPr>
          <a:xfrm>
            <a:off x="533400" y="1981200"/>
            <a:ext cx="8153400" cy="4191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317" name="Google Shape;317;p20"/>
          <p:cNvCxnSpPr/>
          <p:nvPr/>
        </p:nvCxnSpPr>
        <p:spPr>
          <a:xfrm>
            <a:off x="533400" y="2514600"/>
            <a:ext cx="8153400" cy="0"/>
          </a:xfrm>
          <a:prstGeom prst="straightConnector1">
            <a:avLst/>
          </a:prstGeom>
          <a:noFill/>
          <a:ln cap="flat" cmpd="sng" w="9525">
            <a:solidFill>
              <a:schemeClr val="dk1"/>
            </a:solidFill>
            <a:prstDash val="solid"/>
            <a:miter lim="800000"/>
            <a:headEnd len="med" w="med" type="none"/>
            <a:tailEnd len="med" w="med" type="none"/>
          </a:ln>
        </p:spPr>
      </p:cxnSp>
      <p:cxnSp>
        <p:nvCxnSpPr>
          <p:cNvPr id="318" name="Google Shape;318;p20"/>
          <p:cNvCxnSpPr/>
          <p:nvPr/>
        </p:nvCxnSpPr>
        <p:spPr>
          <a:xfrm>
            <a:off x="533400" y="3657600"/>
            <a:ext cx="8153400" cy="0"/>
          </a:xfrm>
          <a:prstGeom prst="straightConnector1">
            <a:avLst/>
          </a:prstGeom>
          <a:noFill/>
          <a:ln cap="flat" cmpd="sng" w="9525">
            <a:solidFill>
              <a:schemeClr val="dk1"/>
            </a:solidFill>
            <a:prstDash val="solid"/>
            <a:miter lim="800000"/>
            <a:headEnd len="med" w="med" type="none"/>
            <a:tailEnd len="med" w="med" type="none"/>
          </a:ln>
        </p:spPr>
      </p:cxnSp>
      <p:cxnSp>
        <p:nvCxnSpPr>
          <p:cNvPr id="319" name="Google Shape;319;p20"/>
          <p:cNvCxnSpPr/>
          <p:nvPr/>
        </p:nvCxnSpPr>
        <p:spPr>
          <a:xfrm>
            <a:off x="533400" y="4800600"/>
            <a:ext cx="8153400" cy="0"/>
          </a:xfrm>
          <a:prstGeom prst="straightConnector1">
            <a:avLst/>
          </a:prstGeom>
          <a:noFill/>
          <a:ln cap="flat" cmpd="sng" w="9525">
            <a:solidFill>
              <a:schemeClr val="dk1"/>
            </a:solidFill>
            <a:prstDash val="solid"/>
            <a:miter lim="800000"/>
            <a:headEnd len="med" w="med" type="none"/>
            <a:tailEnd len="med" w="med" type="none"/>
          </a:ln>
        </p:spPr>
      </p:cxnSp>
      <p:sp>
        <p:nvSpPr>
          <p:cNvPr id="320" name="Google Shape;320;p20"/>
          <p:cNvSpPr txBox="1"/>
          <p:nvPr/>
        </p:nvSpPr>
        <p:spPr>
          <a:xfrm>
            <a:off x="533400" y="2057400"/>
            <a:ext cx="2667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Barrier to Entry</a:t>
            </a:r>
            <a:endParaRPr/>
          </a:p>
        </p:txBody>
      </p:sp>
      <p:sp>
        <p:nvSpPr>
          <p:cNvPr id="321" name="Google Shape;321;p20"/>
          <p:cNvSpPr txBox="1"/>
          <p:nvPr/>
        </p:nvSpPr>
        <p:spPr>
          <a:xfrm>
            <a:off x="3352800" y="2057400"/>
            <a:ext cx="48768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Explanation</a:t>
            </a:r>
            <a:endParaRPr/>
          </a:p>
        </p:txBody>
      </p:sp>
      <p:sp>
        <p:nvSpPr>
          <p:cNvPr id="322" name="Google Shape;322;p20"/>
          <p:cNvSpPr txBox="1"/>
          <p:nvPr/>
        </p:nvSpPr>
        <p:spPr>
          <a:xfrm>
            <a:off x="1524000" y="1371600"/>
            <a:ext cx="60198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Nontraditional Barriers to Entry (continued)</a:t>
            </a:r>
            <a:endParaRPr/>
          </a:p>
        </p:txBody>
      </p:sp>
      <p:sp>
        <p:nvSpPr>
          <p:cNvPr id="323" name="Google Shape;323;p20"/>
          <p:cNvSpPr txBox="1"/>
          <p:nvPr/>
        </p:nvSpPr>
        <p:spPr>
          <a:xfrm>
            <a:off x="609600" y="2743200"/>
            <a:ext cx="22860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Unique business model</a:t>
            </a:r>
            <a:endParaRPr/>
          </a:p>
        </p:txBody>
      </p:sp>
      <p:sp>
        <p:nvSpPr>
          <p:cNvPr id="324" name="Google Shape;324;p20"/>
          <p:cNvSpPr txBox="1"/>
          <p:nvPr/>
        </p:nvSpPr>
        <p:spPr>
          <a:xfrm>
            <a:off x="609600" y="4953000"/>
            <a:ext cx="23622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Inventing a new approach to an industry</a:t>
            </a:r>
            <a:endParaRPr/>
          </a:p>
        </p:txBody>
      </p:sp>
      <p:sp>
        <p:nvSpPr>
          <p:cNvPr id="325" name="Google Shape;325;p20"/>
          <p:cNvSpPr txBox="1"/>
          <p:nvPr/>
        </p:nvSpPr>
        <p:spPr>
          <a:xfrm>
            <a:off x="3124200" y="2514600"/>
            <a:ext cx="5486400"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If a start-up is able to construct a unique business model and establish a network of relationships that makes the business model work, this set of advantages creates a barrier to entry.</a:t>
            </a:r>
            <a:endParaRPr/>
          </a:p>
        </p:txBody>
      </p:sp>
      <p:sp>
        <p:nvSpPr>
          <p:cNvPr id="326" name="Google Shape;326;p20"/>
          <p:cNvSpPr txBox="1"/>
          <p:nvPr/>
        </p:nvSpPr>
        <p:spPr>
          <a:xfrm>
            <a:off x="3124200" y="4876800"/>
            <a:ext cx="54102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If a start-up invents a new approach to an industry and executes it in an exemplary fashion, these factors create a barrier to entry for potential imitators.</a:t>
            </a:r>
            <a:endParaRPr/>
          </a:p>
        </p:txBody>
      </p:sp>
      <p:cxnSp>
        <p:nvCxnSpPr>
          <p:cNvPr id="327" name="Google Shape;327;p20"/>
          <p:cNvCxnSpPr/>
          <p:nvPr/>
        </p:nvCxnSpPr>
        <p:spPr>
          <a:xfrm>
            <a:off x="3048000" y="1981200"/>
            <a:ext cx="0" cy="4191000"/>
          </a:xfrm>
          <a:prstGeom prst="straightConnector1">
            <a:avLst/>
          </a:prstGeom>
          <a:noFill/>
          <a:ln cap="flat" cmpd="sng" w="9525">
            <a:solidFill>
              <a:schemeClr val="dk1"/>
            </a:solidFill>
            <a:prstDash val="solid"/>
            <a:miter lim="800000"/>
            <a:headEnd len="med" w="med" type="none"/>
            <a:tailEnd len="med" w="med" type="none"/>
          </a:ln>
        </p:spPr>
      </p:cxnSp>
      <p:sp>
        <p:nvSpPr>
          <p:cNvPr id="328" name="Google Shape;328;p20"/>
          <p:cNvSpPr txBox="1"/>
          <p:nvPr/>
        </p:nvSpPr>
        <p:spPr>
          <a:xfrm>
            <a:off x="609600" y="4038600"/>
            <a:ext cx="22860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Internet domain name</a:t>
            </a:r>
            <a:endParaRPr/>
          </a:p>
        </p:txBody>
      </p:sp>
      <p:sp>
        <p:nvSpPr>
          <p:cNvPr id="329" name="Google Shape;329;p20"/>
          <p:cNvSpPr txBox="1"/>
          <p:nvPr/>
        </p:nvSpPr>
        <p:spPr>
          <a:xfrm>
            <a:off x="3124200" y="3810000"/>
            <a:ext cx="5410200" cy="12922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Some Internet domain names are so “spot-on” that they give a start-up a meaningful leg up in terms of e-commerce opportunities.  </a:t>
            </a:r>
            <a:endParaRPr/>
          </a:p>
          <a:p>
            <a:pPr indent="0" lvl="0" marL="0" marR="0" rtl="0" algn="l">
              <a:lnSpc>
                <a:spcPct val="100000"/>
              </a:lnSpc>
              <a:spcBef>
                <a:spcPts val="0"/>
              </a:spcBef>
              <a:spcAft>
                <a:spcPts val="0"/>
              </a:spcAft>
              <a:buNone/>
            </a:pPr>
            <a:r>
              <a:t/>
            </a:r>
            <a:endParaRPr b="1" i="0" sz="1800" u="none">
              <a:solidFill>
                <a:schemeClr val="dk1"/>
              </a:solidFill>
              <a:latin typeface="Times New Roman"/>
              <a:ea typeface="Times New Roman"/>
              <a:cs typeface="Times New Roman"/>
              <a:sym typeface="Times New Roman"/>
            </a:endParaRPr>
          </a:p>
        </p:txBody>
      </p:sp>
      <p:sp>
        <p:nvSpPr>
          <p:cNvPr id="330" name="Google Shape;330;p20"/>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331" name="Google Shape;331;p20"/>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1"/>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Rivalry Among Existing Firms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3</a:t>
            </a:r>
            <a:endParaRPr/>
          </a:p>
        </p:txBody>
      </p:sp>
      <p:sp>
        <p:nvSpPr>
          <p:cNvPr id="337" name="Google Shape;337;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Rivalry Among Existing Firms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most industries, the major determinant of industry profitability is the level of competition among existing firms.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Some industries are fiercely competitive, to the point where prices are pushed below the level of costs, and industry-wide losses occur.</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other industries, competition is much less intense and price competition is subdued.</a:t>
            </a:r>
            <a:endParaRPr/>
          </a:p>
        </p:txBody>
      </p:sp>
      <p:cxnSp>
        <p:nvCxnSpPr>
          <p:cNvPr id="338" name="Google Shape;338;p21"/>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39" name="Google Shape;339;p21"/>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340" name="Google Shape;340;p21"/>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Rivalry Among Existing Firms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3</a:t>
            </a:r>
            <a:endParaRPr/>
          </a:p>
        </p:txBody>
      </p:sp>
      <p:cxnSp>
        <p:nvCxnSpPr>
          <p:cNvPr id="346" name="Google Shape;346;p22"/>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47" name="Google Shape;347;p22"/>
          <p:cNvSpPr txBox="1"/>
          <p:nvPr/>
        </p:nvSpPr>
        <p:spPr>
          <a:xfrm>
            <a:off x="1676400" y="1295400"/>
            <a:ext cx="5715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348" name="Google Shape;348;p22"/>
          <p:cNvSpPr txBox="1"/>
          <p:nvPr/>
        </p:nvSpPr>
        <p:spPr>
          <a:xfrm>
            <a:off x="609600" y="1371600"/>
            <a:ext cx="77724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Factors that determine the intensity of the rivalry among existing firms in an industry</a:t>
            </a:r>
            <a:endParaRPr/>
          </a:p>
        </p:txBody>
      </p:sp>
      <p:sp>
        <p:nvSpPr>
          <p:cNvPr id="349" name="Google Shape;349;p22"/>
          <p:cNvSpPr txBox="1"/>
          <p:nvPr/>
        </p:nvSpPr>
        <p:spPr>
          <a:xfrm>
            <a:off x="762000" y="2362200"/>
            <a:ext cx="7391400" cy="3733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350" name="Google Shape;350;p22"/>
          <p:cNvCxnSpPr/>
          <p:nvPr/>
        </p:nvCxnSpPr>
        <p:spPr>
          <a:xfrm>
            <a:off x="762000" y="4114800"/>
            <a:ext cx="7391400" cy="0"/>
          </a:xfrm>
          <a:prstGeom prst="straightConnector1">
            <a:avLst/>
          </a:prstGeom>
          <a:noFill/>
          <a:ln cap="flat" cmpd="sng" w="9525">
            <a:solidFill>
              <a:schemeClr val="dk1"/>
            </a:solidFill>
            <a:prstDash val="solid"/>
            <a:miter lim="800000"/>
            <a:headEnd len="med" w="med" type="none"/>
            <a:tailEnd len="med" w="med" type="none"/>
          </a:ln>
        </p:spPr>
      </p:cxnSp>
      <p:cxnSp>
        <p:nvCxnSpPr>
          <p:cNvPr id="351" name="Google Shape;351;p22"/>
          <p:cNvCxnSpPr/>
          <p:nvPr/>
        </p:nvCxnSpPr>
        <p:spPr>
          <a:xfrm>
            <a:off x="2819400" y="2362200"/>
            <a:ext cx="0" cy="3733800"/>
          </a:xfrm>
          <a:prstGeom prst="straightConnector1">
            <a:avLst/>
          </a:prstGeom>
          <a:noFill/>
          <a:ln cap="flat" cmpd="sng" w="9525">
            <a:solidFill>
              <a:schemeClr val="dk1"/>
            </a:solidFill>
            <a:prstDash val="solid"/>
            <a:miter lim="800000"/>
            <a:headEnd len="med" w="med" type="none"/>
            <a:tailEnd len="med" w="med" type="none"/>
          </a:ln>
        </p:spPr>
      </p:cxnSp>
      <p:sp>
        <p:nvSpPr>
          <p:cNvPr id="352" name="Google Shape;352;p22"/>
          <p:cNvSpPr txBox="1"/>
          <p:nvPr/>
        </p:nvSpPr>
        <p:spPr>
          <a:xfrm>
            <a:off x="762000" y="2819400"/>
            <a:ext cx="2133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Number and balance of competitors</a:t>
            </a:r>
            <a:endParaRPr/>
          </a:p>
        </p:txBody>
      </p:sp>
      <p:sp>
        <p:nvSpPr>
          <p:cNvPr id="353" name="Google Shape;353;p22"/>
          <p:cNvSpPr txBox="1"/>
          <p:nvPr/>
        </p:nvSpPr>
        <p:spPr>
          <a:xfrm>
            <a:off x="838200" y="4419600"/>
            <a:ext cx="19050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Degree of difference between products</a:t>
            </a:r>
            <a:endParaRPr/>
          </a:p>
        </p:txBody>
      </p:sp>
      <p:sp>
        <p:nvSpPr>
          <p:cNvPr id="354" name="Google Shape;354;p22"/>
          <p:cNvSpPr txBox="1"/>
          <p:nvPr/>
        </p:nvSpPr>
        <p:spPr>
          <a:xfrm>
            <a:off x="2895600" y="2819400"/>
            <a:ext cx="51054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The more competitors there are, the more likely it is that one or more will try to gain customers by cutting its price. </a:t>
            </a:r>
            <a:endParaRPr/>
          </a:p>
        </p:txBody>
      </p:sp>
      <p:sp>
        <p:nvSpPr>
          <p:cNvPr id="355" name="Google Shape;355;p22"/>
          <p:cNvSpPr txBox="1"/>
          <p:nvPr/>
        </p:nvSpPr>
        <p:spPr>
          <a:xfrm>
            <a:off x="3124200" y="4495800"/>
            <a:ext cx="48006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The degree to which products differ from one product to another affects industry rivalry.  </a:t>
            </a:r>
            <a:endParaRPr/>
          </a:p>
        </p:txBody>
      </p:sp>
      <p:sp>
        <p:nvSpPr>
          <p:cNvPr id="356" name="Google Shape;356;p22"/>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357" name="Google Shape;357;p22"/>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3"/>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Rivalry Among Existing Firms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3 of 3</a:t>
            </a:r>
            <a:endParaRPr/>
          </a:p>
        </p:txBody>
      </p:sp>
      <p:cxnSp>
        <p:nvCxnSpPr>
          <p:cNvPr id="363" name="Google Shape;363;p23"/>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64" name="Google Shape;364;p23"/>
          <p:cNvSpPr txBox="1"/>
          <p:nvPr/>
        </p:nvSpPr>
        <p:spPr>
          <a:xfrm>
            <a:off x="1676400" y="1295400"/>
            <a:ext cx="5715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365" name="Google Shape;365;p23"/>
          <p:cNvSpPr txBox="1"/>
          <p:nvPr/>
        </p:nvSpPr>
        <p:spPr>
          <a:xfrm>
            <a:off x="228600" y="1371600"/>
            <a:ext cx="84582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Factors that determine the intensity of the rivalry among existing firms in an industry (continued)</a:t>
            </a:r>
            <a:endParaRPr/>
          </a:p>
        </p:txBody>
      </p:sp>
      <p:sp>
        <p:nvSpPr>
          <p:cNvPr id="366" name="Google Shape;366;p23"/>
          <p:cNvSpPr txBox="1"/>
          <p:nvPr/>
        </p:nvSpPr>
        <p:spPr>
          <a:xfrm>
            <a:off x="762000" y="2438400"/>
            <a:ext cx="7391400" cy="3733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367" name="Google Shape;367;p23"/>
          <p:cNvCxnSpPr/>
          <p:nvPr/>
        </p:nvCxnSpPr>
        <p:spPr>
          <a:xfrm>
            <a:off x="762000" y="4191000"/>
            <a:ext cx="7391400" cy="0"/>
          </a:xfrm>
          <a:prstGeom prst="straightConnector1">
            <a:avLst/>
          </a:prstGeom>
          <a:noFill/>
          <a:ln cap="flat" cmpd="sng" w="9525">
            <a:solidFill>
              <a:schemeClr val="dk1"/>
            </a:solidFill>
            <a:prstDash val="solid"/>
            <a:miter lim="800000"/>
            <a:headEnd len="med" w="med" type="none"/>
            <a:tailEnd len="med" w="med" type="none"/>
          </a:ln>
        </p:spPr>
      </p:cxnSp>
      <p:cxnSp>
        <p:nvCxnSpPr>
          <p:cNvPr id="368" name="Google Shape;368;p23"/>
          <p:cNvCxnSpPr/>
          <p:nvPr/>
        </p:nvCxnSpPr>
        <p:spPr>
          <a:xfrm>
            <a:off x="2819400" y="2438400"/>
            <a:ext cx="0" cy="3733800"/>
          </a:xfrm>
          <a:prstGeom prst="straightConnector1">
            <a:avLst/>
          </a:prstGeom>
          <a:noFill/>
          <a:ln cap="flat" cmpd="sng" w="9525">
            <a:solidFill>
              <a:schemeClr val="dk1"/>
            </a:solidFill>
            <a:prstDash val="solid"/>
            <a:miter lim="800000"/>
            <a:headEnd len="med" w="med" type="none"/>
            <a:tailEnd len="med" w="med" type="none"/>
          </a:ln>
        </p:spPr>
      </p:cxnSp>
      <p:sp>
        <p:nvSpPr>
          <p:cNvPr id="369" name="Google Shape;369;p23"/>
          <p:cNvSpPr txBox="1"/>
          <p:nvPr/>
        </p:nvSpPr>
        <p:spPr>
          <a:xfrm>
            <a:off x="762000" y="2971800"/>
            <a:ext cx="21336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Growth rate of an industry</a:t>
            </a:r>
            <a:endParaRPr/>
          </a:p>
        </p:txBody>
      </p:sp>
      <p:sp>
        <p:nvSpPr>
          <p:cNvPr id="370" name="Google Shape;370;p23"/>
          <p:cNvSpPr txBox="1"/>
          <p:nvPr/>
        </p:nvSpPr>
        <p:spPr>
          <a:xfrm>
            <a:off x="838200" y="4648200"/>
            <a:ext cx="19050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Level of fixed costs</a:t>
            </a:r>
            <a:endParaRPr/>
          </a:p>
        </p:txBody>
      </p:sp>
      <p:sp>
        <p:nvSpPr>
          <p:cNvPr id="371" name="Google Shape;371;p23"/>
          <p:cNvSpPr txBox="1"/>
          <p:nvPr/>
        </p:nvSpPr>
        <p:spPr>
          <a:xfrm>
            <a:off x="2971800" y="2819400"/>
            <a:ext cx="48768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The competition among firms in a slow-growth industry is stronger than among those in fast-growth industries.  </a:t>
            </a:r>
            <a:endParaRPr/>
          </a:p>
        </p:txBody>
      </p:sp>
      <p:sp>
        <p:nvSpPr>
          <p:cNvPr id="372" name="Google Shape;372;p23"/>
          <p:cNvSpPr txBox="1"/>
          <p:nvPr/>
        </p:nvSpPr>
        <p:spPr>
          <a:xfrm>
            <a:off x="2895600" y="4495800"/>
            <a:ext cx="5181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Firms that have high fixed costs must sell a higher volume of their product to reach the break-even point than firms with low fixed costs.  </a:t>
            </a:r>
            <a:endParaRPr/>
          </a:p>
        </p:txBody>
      </p:sp>
      <p:sp>
        <p:nvSpPr>
          <p:cNvPr id="373" name="Google Shape;373;p23"/>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374" name="Google Shape;374;p23"/>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Bargaining Power of Suppliers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3</a:t>
            </a:r>
            <a:endParaRPr/>
          </a:p>
        </p:txBody>
      </p:sp>
      <p:sp>
        <p:nvSpPr>
          <p:cNvPr id="380" name="Google Shape;380;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Bargaining Power of Suppliers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Suppliers can suppress the profitability of the industries to which they sell by raising prices or reducing the quality of the components they provide.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If a supplier reduces the quality of the components it supplies, the quality of the finished product will suffer, and the manufacturer will eventually have to lower its price.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If the suppliers are powerful relative to the firms in the industry to which they sell, industry profitability can suffer.</a:t>
            </a:r>
            <a:endParaRPr/>
          </a:p>
        </p:txBody>
      </p:sp>
      <p:cxnSp>
        <p:nvCxnSpPr>
          <p:cNvPr id="381" name="Google Shape;381;p24"/>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82" name="Google Shape;382;p24"/>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383" name="Google Shape;383;p24"/>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5"/>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Bargaining Power of Suppliers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3</a:t>
            </a:r>
            <a:endParaRPr/>
          </a:p>
        </p:txBody>
      </p:sp>
      <p:cxnSp>
        <p:nvCxnSpPr>
          <p:cNvPr id="389" name="Google Shape;389;p25"/>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390" name="Google Shape;390;p25"/>
          <p:cNvSpPr txBox="1"/>
          <p:nvPr/>
        </p:nvSpPr>
        <p:spPr>
          <a:xfrm>
            <a:off x="1676400" y="1295400"/>
            <a:ext cx="5715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391" name="Google Shape;391;p25"/>
          <p:cNvSpPr txBox="1"/>
          <p:nvPr/>
        </p:nvSpPr>
        <p:spPr>
          <a:xfrm>
            <a:off x="762000" y="1371600"/>
            <a:ext cx="75438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Factors that have an impact on the ability of suppliers to exert pressure on buyers</a:t>
            </a:r>
            <a:endParaRPr/>
          </a:p>
        </p:txBody>
      </p:sp>
      <p:sp>
        <p:nvSpPr>
          <p:cNvPr id="392" name="Google Shape;392;p25"/>
          <p:cNvSpPr txBox="1"/>
          <p:nvPr/>
        </p:nvSpPr>
        <p:spPr>
          <a:xfrm>
            <a:off x="762000" y="2362200"/>
            <a:ext cx="7391400" cy="3733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393" name="Google Shape;393;p25"/>
          <p:cNvCxnSpPr/>
          <p:nvPr/>
        </p:nvCxnSpPr>
        <p:spPr>
          <a:xfrm>
            <a:off x="762000" y="4114800"/>
            <a:ext cx="7391400" cy="0"/>
          </a:xfrm>
          <a:prstGeom prst="straightConnector1">
            <a:avLst/>
          </a:prstGeom>
          <a:noFill/>
          <a:ln cap="flat" cmpd="sng" w="9525">
            <a:solidFill>
              <a:schemeClr val="dk1"/>
            </a:solidFill>
            <a:prstDash val="solid"/>
            <a:miter lim="800000"/>
            <a:headEnd len="med" w="med" type="none"/>
            <a:tailEnd len="med" w="med" type="none"/>
          </a:ln>
        </p:spPr>
      </p:cxnSp>
      <p:cxnSp>
        <p:nvCxnSpPr>
          <p:cNvPr id="394" name="Google Shape;394;p25"/>
          <p:cNvCxnSpPr/>
          <p:nvPr/>
        </p:nvCxnSpPr>
        <p:spPr>
          <a:xfrm>
            <a:off x="2819400" y="2362200"/>
            <a:ext cx="0" cy="3733800"/>
          </a:xfrm>
          <a:prstGeom prst="straightConnector1">
            <a:avLst/>
          </a:prstGeom>
          <a:noFill/>
          <a:ln cap="flat" cmpd="sng" w="9525">
            <a:solidFill>
              <a:schemeClr val="dk1"/>
            </a:solidFill>
            <a:prstDash val="solid"/>
            <a:miter lim="800000"/>
            <a:headEnd len="med" w="med" type="none"/>
            <a:tailEnd len="med" w="med" type="none"/>
          </a:ln>
        </p:spPr>
      </p:cxnSp>
      <p:sp>
        <p:nvSpPr>
          <p:cNvPr id="395" name="Google Shape;395;p25"/>
          <p:cNvSpPr txBox="1"/>
          <p:nvPr/>
        </p:nvSpPr>
        <p:spPr>
          <a:xfrm>
            <a:off x="838200" y="2895600"/>
            <a:ext cx="19050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Supplier concentration</a:t>
            </a:r>
            <a:endParaRPr/>
          </a:p>
        </p:txBody>
      </p:sp>
      <p:sp>
        <p:nvSpPr>
          <p:cNvPr id="396" name="Google Shape;396;p25"/>
          <p:cNvSpPr txBox="1"/>
          <p:nvPr/>
        </p:nvSpPr>
        <p:spPr>
          <a:xfrm>
            <a:off x="838200" y="4800600"/>
            <a:ext cx="1905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Switching costs</a:t>
            </a:r>
            <a:endParaRPr/>
          </a:p>
        </p:txBody>
      </p:sp>
      <p:sp>
        <p:nvSpPr>
          <p:cNvPr id="397" name="Google Shape;397;p25"/>
          <p:cNvSpPr txBox="1"/>
          <p:nvPr/>
        </p:nvSpPr>
        <p:spPr>
          <a:xfrm>
            <a:off x="2895600" y="4419600"/>
            <a:ext cx="5181600"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Switching costs are the fixed costs that buyers encounter when switching or changing from one supplier to another. If switching costs are high, a buyer will be less likely to switch suppliers.</a:t>
            </a:r>
            <a:endParaRPr/>
          </a:p>
        </p:txBody>
      </p:sp>
      <p:sp>
        <p:nvSpPr>
          <p:cNvPr id="398" name="Google Shape;398;p25"/>
          <p:cNvSpPr txBox="1"/>
          <p:nvPr/>
        </p:nvSpPr>
        <p:spPr>
          <a:xfrm>
            <a:off x="2895600" y="2819400"/>
            <a:ext cx="5181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When there are only a few suppliers that supply a critical product to a large number of buyers, the supplier has an advantage.</a:t>
            </a:r>
            <a:endParaRPr/>
          </a:p>
        </p:txBody>
      </p:sp>
      <p:sp>
        <p:nvSpPr>
          <p:cNvPr id="399" name="Google Shape;399;p25"/>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400" name="Google Shape;400;p25"/>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6"/>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Bargaining Power of Suppliers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3 of 3</a:t>
            </a:r>
            <a:endParaRPr/>
          </a:p>
        </p:txBody>
      </p:sp>
      <p:cxnSp>
        <p:nvCxnSpPr>
          <p:cNvPr id="406" name="Google Shape;406;p26"/>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07" name="Google Shape;407;p26"/>
          <p:cNvSpPr txBox="1"/>
          <p:nvPr/>
        </p:nvSpPr>
        <p:spPr>
          <a:xfrm>
            <a:off x="1676400" y="1295400"/>
            <a:ext cx="5715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408" name="Google Shape;408;p26"/>
          <p:cNvSpPr txBox="1"/>
          <p:nvPr/>
        </p:nvSpPr>
        <p:spPr>
          <a:xfrm>
            <a:off x="609600" y="1371600"/>
            <a:ext cx="78486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Factors that have an impact on the ability of suppliers to exert pressure on buyers (continued)</a:t>
            </a:r>
            <a:endParaRPr/>
          </a:p>
        </p:txBody>
      </p:sp>
      <p:sp>
        <p:nvSpPr>
          <p:cNvPr id="409" name="Google Shape;409;p26"/>
          <p:cNvSpPr txBox="1"/>
          <p:nvPr/>
        </p:nvSpPr>
        <p:spPr>
          <a:xfrm>
            <a:off x="838200" y="2362200"/>
            <a:ext cx="7391400" cy="3733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410" name="Google Shape;410;p26"/>
          <p:cNvCxnSpPr/>
          <p:nvPr/>
        </p:nvCxnSpPr>
        <p:spPr>
          <a:xfrm>
            <a:off x="838200" y="4114800"/>
            <a:ext cx="7391400" cy="0"/>
          </a:xfrm>
          <a:prstGeom prst="straightConnector1">
            <a:avLst/>
          </a:prstGeom>
          <a:noFill/>
          <a:ln cap="flat" cmpd="sng" w="9525">
            <a:solidFill>
              <a:schemeClr val="dk1"/>
            </a:solidFill>
            <a:prstDash val="solid"/>
            <a:miter lim="800000"/>
            <a:headEnd len="med" w="med" type="none"/>
            <a:tailEnd len="med" w="med" type="none"/>
          </a:ln>
        </p:spPr>
      </p:cxnSp>
      <p:cxnSp>
        <p:nvCxnSpPr>
          <p:cNvPr id="411" name="Google Shape;411;p26"/>
          <p:cNvCxnSpPr/>
          <p:nvPr/>
        </p:nvCxnSpPr>
        <p:spPr>
          <a:xfrm>
            <a:off x="2895600" y="2362200"/>
            <a:ext cx="0" cy="3733800"/>
          </a:xfrm>
          <a:prstGeom prst="straightConnector1">
            <a:avLst/>
          </a:prstGeom>
          <a:noFill/>
          <a:ln cap="flat" cmpd="sng" w="9525">
            <a:solidFill>
              <a:schemeClr val="dk1"/>
            </a:solidFill>
            <a:prstDash val="solid"/>
            <a:miter lim="800000"/>
            <a:headEnd len="med" w="med" type="none"/>
            <a:tailEnd len="med" w="med" type="none"/>
          </a:ln>
        </p:spPr>
      </p:cxnSp>
      <p:sp>
        <p:nvSpPr>
          <p:cNvPr id="412" name="Google Shape;412;p26"/>
          <p:cNvSpPr txBox="1"/>
          <p:nvPr/>
        </p:nvSpPr>
        <p:spPr>
          <a:xfrm>
            <a:off x="914400" y="2895600"/>
            <a:ext cx="19050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Attractiveness of substitutes</a:t>
            </a:r>
            <a:endParaRPr/>
          </a:p>
        </p:txBody>
      </p:sp>
      <p:sp>
        <p:nvSpPr>
          <p:cNvPr id="413" name="Google Shape;413;p26"/>
          <p:cNvSpPr txBox="1"/>
          <p:nvPr/>
        </p:nvSpPr>
        <p:spPr>
          <a:xfrm>
            <a:off x="914400" y="4495800"/>
            <a:ext cx="19050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Threat of forward integration</a:t>
            </a:r>
            <a:endParaRPr/>
          </a:p>
        </p:txBody>
      </p:sp>
      <p:sp>
        <p:nvSpPr>
          <p:cNvPr id="414" name="Google Shape;414;p26"/>
          <p:cNvSpPr txBox="1"/>
          <p:nvPr/>
        </p:nvSpPr>
        <p:spPr>
          <a:xfrm>
            <a:off x="2971800" y="4572000"/>
            <a:ext cx="5181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The power of a supplier is enhanced if there is a credible possibility that the supplier might enter the buyer’s industry.</a:t>
            </a:r>
            <a:endParaRPr/>
          </a:p>
        </p:txBody>
      </p:sp>
      <p:sp>
        <p:nvSpPr>
          <p:cNvPr id="415" name="Google Shape;415;p26"/>
          <p:cNvSpPr txBox="1"/>
          <p:nvPr/>
        </p:nvSpPr>
        <p:spPr>
          <a:xfrm>
            <a:off x="2895600" y="2819400"/>
            <a:ext cx="5181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Supplier power is enhanced if there are no attractive substitutes for the product or services the supplier offers. </a:t>
            </a:r>
            <a:endParaRPr/>
          </a:p>
        </p:txBody>
      </p:sp>
      <p:sp>
        <p:nvSpPr>
          <p:cNvPr id="416" name="Google Shape;416;p26"/>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417" name="Google Shape;417;p26"/>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7"/>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Bargaining Power of Buyers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3</a:t>
            </a:r>
            <a:endParaRPr/>
          </a:p>
        </p:txBody>
      </p:sp>
      <p:sp>
        <p:nvSpPr>
          <p:cNvPr id="423" name="Google Shape;423;p2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Bargaining Power of Buyers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Buyers can suppress the profitability of the industries from which they purchase by demanding price concessions or increases in quality.</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example, the automobile industry is dominated by a handful of large companies that buy products from thousands of suppliers in different industries.  This allows the automakers to suppress the profitability of the industries from which they buy by demanding price reductions.</a:t>
            </a:r>
            <a:endParaRPr/>
          </a:p>
        </p:txBody>
      </p:sp>
      <p:cxnSp>
        <p:nvCxnSpPr>
          <p:cNvPr id="424" name="Google Shape;424;p27"/>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25" name="Google Shape;425;p27"/>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426" name="Google Shape;426;p27"/>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8"/>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Bargaining Power of Buyers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3</a:t>
            </a:r>
            <a:endParaRPr/>
          </a:p>
        </p:txBody>
      </p:sp>
      <p:cxnSp>
        <p:nvCxnSpPr>
          <p:cNvPr id="432" name="Google Shape;432;p28"/>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33" name="Google Shape;433;p28"/>
          <p:cNvSpPr txBox="1"/>
          <p:nvPr/>
        </p:nvSpPr>
        <p:spPr>
          <a:xfrm>
            <a:off x="1676400" y="1295400"/>
            <a:ext cx="5715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434" name="Google Shape;434;p28"/>
          <p:cNvSpPr txBox="1"/>
          <p:nvPr/>
        </p:nvSpPr>
        <p:spPr>
          <a:xfrm>
            <a:off x="533400" y="1371600"/>
            <a:ext cx="80772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Factors that have an impact on the ability of buyers to exert pressure on suppliers</a:t>
            </a:r>
            <a:endParaRPr/>
          </a:p>
        </p:txBody>
      </p:sp>
      <p:sp>
        <p:nvSpPr>
          <p:cNvPr id="435" name="Google Shape;435;p28"/>
          <p:cNvSpPr txBox="1"/>
          <p:nvPr/>
        </p:nvSpPr>
        <p:spPr>
          <a:xfrm>
            <a:off x="762000" y="2286000"/>
            <a:ext cx="7391400" cy="3733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436" name="Google Shape;436;p28"/>
          <p:cNvCxnSpPr/>
          <p:nvPr/>
        </p:nvCxnSpPr>
        <p:spPr>
          <a:xfrm>
            <a:off x="762000" y="4038600"/>
            <a:ext cx="7391400" cy="0"/>
          </a:xfrm>
          <a:prstGeom prst="straightConnector1">
            <a:avLst/>
          </a:prstGeom>
          <a:noFill/>
          <a:ln cap="flat" cmpd="sng" w="9525">
            <a:solidFill>
              <a:schemeClr val="dk1"/>
            </a:solidFill>
            <a:prstDash val="solid"/>
            <a:miter lim="800000"/>
            <a:headEnd len="med" w="med" type="none"/>
            <a:tailEnd len="med" w="med" type="none"/>
          </a:ln>
        </p:spPr>
      </p:cxnSp>
      <p:cxnSp>
        <p:nvCxnSpPr>
          <p:cNvPr id="437" name="Google Shape;437;p28"/>
          <p:cNvCxnSpPr/>
          <p:nvPr/>
        </p:nvCxnSpPr>
        <p:spPr>
          <a:xfrm>
            <a:off x="2819400" y="2286000"/>
            <a:ext cx="0" cy="3733800"/>
          </a:xfrm>
          <a:prstGeom prst="straightConnector1">
            <a:avLst/>
          </a:prstGeom>
          <a:noFill/>
          <a:ln cap="flat" cmpd="sng" w="9525">
            <a:solidFill>
              <a:schemeClr val="dk1"/>
            </a:solidFill>
            <a:prstDash val="solid"/>
            <a:miter lim="800000"/>
            <a:headEnd len="med" w="med" type="none"/>
            <a:tailEnd len="med" w="med" type="none"/>
          </a:ln>
        </p:spPr>
      </p:cxnSp>
      <p:sp>
        <p:nvSpPr>
          <p:cNvPr id="438" name="Google Shape;438;p28"/>
          <p:cNvSpPr txBox="1"/>
          <p:nvPr/>
        </p:nvSpPr>
        <p:spPr>
          <a:xfrm>
            <a:off x="838200" y="2819400"/>
            <a:ext cx="19050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Buyer group concentration</a:t>
            </a:r>
            <a:endParaRPr/>
          </a:p>
        </p:txBody>
      </p:sp>
      <p:sp>
        <p:nvSpPr>
          <p:cNvPr id="439" name="Google Shape;439;p28"/>
          <p:cNvSpPr txBox="1"/>
          <p:nvPr/>
        </p:nvSpPr>
        <p:spPr>
          <a:xfrm>
            <a:off x="838200" y="4648200"/>
            <a:ext cx="19050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Buyer’s costs</a:t>
            </a:r>
            <a:endParaRPr/>
          </a:p>
        </p:txBody>
      </p:sp>
      <p:sp>
        <p:nvSpPr>
          <p:cNvPr id="440" name="Google Shape;440;p28"/>
          <p:cNvSpPr txBox="1"/>
          <p:nvPr/>
        </p:nvSpPr>
        <p:spPr>
          <a:xfrm>
            <a:off x="2895600" y="4419600"/>
            <a:ext cx="5181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The greater the importance of an item is to a buyer, the more sensitive the buyer will be to the price it pays.  </a:t>
            </a:r>
            <a:endParaRPr/>
          </a:p>
        </p:txBody>
      </p:sp>
      <p:sp>
        <p:nvSpPr>
          <p:cNvPr id="441" name="Google Shape;441;p28"/>
          <p:cNvSpPr txBox="1"/>
          <p:nvPr/>
        </p:nvSpPr>
        <p:spPr>
          <a:xfrm>
            <a:off x="2895600" y="2514600"/>
            <a:ext cx="5181600" cy="1477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If there are only a few large buyers, and they buy from a large number of suppliers, they can pressure the suppliers to lower costs and thus affect the profitability of the industries from which they buy.</a:t>
            </a:r>
            <a:endParaRPr/>
          </a:p>
        </p:txBody>
      </p:sp>
      <p:sp>
        <p:nvSpPr>
          <p:cNvPr id="442" name="Google Shape;442;p28"/>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443" name="Google Shape;443;p28"/>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9"/>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Bargaining Power of Buyers</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3 of 3</a:t>
            </a:r>
            <a:endParaRPr/>
          </a:p>
        </p:txBody>
      </p:sp>
      <p:cxnSp>
        <p:nvCxnSpPr>
          <p:cNvPr id="449" name="Google Shape;449;p29"/>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50" name="Google Shape;450;p29"/>
          <p:cNvSpPr txBox="1"/>
          <p:nvPr/>
        </p:nvSpPr>
        <p:spPr>
          <a:xfrm>
            <a:off x="1676400" y="1295400"/>
            <a:ext cx="5715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451" name="Google Shape;451;p29"/>
          <p:cNvSpPr txBox="1"/>
          <p:nvPr/>
        </p:nvSpPr>
        <p:spPr>
          <a:xfrm>
            <a:off x="533400" y="1371600"/>
            <a:ext cx="83058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Factors that have an impact on the ability of buyers to exert pressure on suppliers (continued)</a:t>
            </a:r>
            <a:endParaRPr/>
          </a:p>
        </p:txBody>
      </p:sp>
      <p:sp>
        <p:nvSpPr>
          <p:cNvPr id="452" name="Google Shape;452;p29"/>
          <p:cNvSpPr txBox="1"/>
          <p:nvPr/>
        </p:nvSpPr>
        <p:spPr>
          <a:xfrm>
            <a:off x="762000" y="2362200"/>
            <a:ext cx="7391400" cy="3733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cxnSp>
        <p:nvCxnSpPr>
          <p:cNvPr id="453" name="Google Shape;453;p29"/>
          <p:cNvCxnSpPr/>
          <p:nvPr/>
        </p:nvCxnSpPr>
        <p:spPr>
          <a:xfrm>
            <a:off x="762000" y="4114800"/>
            <a:ext cx="7391400" cy="0"/>
          </a:xfrm>
          <a:prstGeom prst="straightConnector1">
            <a:avLst/>
          </a:prstGeom>
          <a:noFill/>
          <a:ln cap="flat" cmpd="sng" w="9525">
            <a:solidFill>
              <a:schemeClr val="dk1"/>
            </a:solidFill>
            <a:prstDash val="solid"/>
            <a:miter lim="800000"/>
            <a:headEnd len="med" w="med" type="none"/>
            <a:tailEnd len="med" w="med" type="none"/>
          </a:ln>
        </p:spPr>
      </p:cxnSp>
      <p:cxnSp>
        <p:nvCxnSpPr>
          <p:cNvPr id="454" name="Google Shape;454;p29"/>
          <p:cNvCxnSpPr/>
          <p:nvPr/>
        </p:nvCxnSpPr>
        <p:spPr>
          <a:xfrm>
            <a:off x="2819400" y="2362200"/>
            <a:ext cx="0" cy="3733800"/>
          </a:xfrm>
          <a:prstGeom prst="straightConnector1">
            <a:avLst/>
          </a:prstGeom>
          <a:noFill/>
          <a:ln cap="flat" cmpd="sng" w="9525">
            <a:solidFill>
              <a:schemeClr val="dk1"/>
            </a:solidFill>
            <a:prstDash val="solid"/>
            <a:miter lim="800000"/>
            <a:headEnd len="med" w="med" type="none"/>
            <a:tailEnd len="med" w="med" type="none"/>
          </a:ln>
        </p:spPr>
      </p:cxnSp>
      <p:sp>
        <p:nvSpPr>
          <p:cNvPr id="455" name="Google Shape;455;p29"/>
          <p:cNvSpPr txBox="1"/>
          <p:nvPr/>
        </p:nvSpPr>
        <p:spPr>
          <a:xfrm>
            <a:off x="838200" y="2667000"/>
            <a:ext cx="1905000"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Degree of standardization of supplier’s products </a:t>
            </a:r>
            <a:endParaRPr/>
          </a:p>
        </p:txBody>
      </p:sp>
      <p:sp>
        <p:nvSpPr>
          <p:cNvPr id="456" name="Google Shape;456;p29"/>
          <p:cNvSpPr txBox="1"/>
          <p:nvPr/>
        </p:nvSpPr>
        <p:spPr>
          <a:xfrm>
            <a:off x="838200" y="4495800"/>
            <a:ext cx="19050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Threat of backward integration</a:t>
            </a:r>
            <a:endParaRPr/>
          </a:p>
        </p:txBody>
      </p:sp>
      <p:sp>
        <p:nvSpPr>
          <p:cNvPr id="457" name="Google Shape;457;p29"/>
          <p:cNvSpPr txBox="1"/>
          <p:nvPr/>
        </p:nvSpPr>
        <p:spPr>
          <a:xfrm>
            <a:off x="2895600" y="4572000"/>
            <a:ext cx="5181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The power of buyers is enhanced if there is a credible threat that the buyer might enter the supplier’s industry.</a:t>
            </a:r>
            <a:endParaRPr/>
          </a:p>
        </p:txBody>
      </p:sp>
      <p:sp>
        <p:nvSpPr>
          <p:cNvPr id="458" name="Google Shape;458;p29"/>
          <p:cNvSpPr txBox="1"/>
          <p:nvPr/>
        </p:nvSpPr>
        <p:spPr>
          <a:xfrm>
            <a:off x="3124200" y="2743200"/>
            <a:ext cx="4800600"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The degree to which a supplier’s product differs from its competitors affects the buyer’s bargaining power.  </a:t>
            </a:r>
            <a:endParaRPr/>
          </a:p>
        </p:txBody>
      </p:sp>
      <p:sp>
        <p:nvSpPr>
          <p:cNvPr id="459" name="Google Shape;459;p29"/>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460" name="Google Shape;460;p29"/>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87d0008310_0_0"/>
          <p:cNvSpPr txBox="1"/>
          <p:nvPr>
            <p:ph type="title"/>
          </p:nvPr>
        </p:nvSpPr>
        <p:spPr>
          <a:xfrm>
            <a:off x="457200" y="274631"/>
            <a:ext cx="7597500" cy="610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sz="3000"/>
              <a:t>Class Activity</a:t>
            </a:r>
            <a:endParaRPr sz="3000"/>
          </a:p>
        </p:txBody>
      </p:sp>
      <p:sp>
        <p:nvSpPr>
          <p:cNvPr id="467" name="Google Shape;467;g387d0008310_0_0"/>
          <p:cNvSpPr txBox="1"/>
          <p:nvPr>
            <p:ph idx="1" type="body"/>
          </p:nvPr>
        </p:nvSpPr>
        <p:spPr>
          <a:xfrm>
            <a:off x="457200" y="102365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sz="1800"/>
              <a:t>You've noticed a significant problem or inefficiency in a common everyday industry. Your mission is to analyze this industry using Five Forces model to determine its profitability:</a:t>
            </a:r>
            <a:endParaRPr sz="1800"/>
          </a:p>
          <a:p>
            <a:pPr indent="0" lvl="0" marL="0" rtl="0" algn="l">
              <a:spcBef>
                <a:spcPts val="360"/>
              </a:spcBef>
              <a:spcAft>
                <a:spcPts val="0"/>
              </a:spcAft>
              <a:buClr>
                <a:schemeClr val="dk1"/>
              </a:buClr>
              <a:buSzPts val="1100"/>
              <a:buFont typeface="Arial"/>
              <a:buNone/>
            </a:pPr>
            <a:r>
              <a:rPr b="1" lang="en-US" sz="1800"/>
              <a:t>The Coffee Shop Industry</a:t>
            </a:r>
            <a:endParaRPr sz="1800"/>
          </a:p>
          <a:p>
            <a:pPr indent="0" lvl="0" marL="0" rtl="0" algn="l">
              <a:spcBef>
                <a:spcPts val="360"/>
              </a:spcBef>
              <a:spcAft>
                <a:spcPts val="0"/>
              </a:spcAft>
              <a:buClr>
                <a:schemeClr val="dk1"/>
              </a:buClr>
              <a:buSzPts val="1100"/>
              <a:buFont typeface="Arial"/>
              <a:buNone/>
            </a:pPr>
            <a:r>
              <a:rPr b="1" lang="en-US" sz="1800"/>
              <a:t>The Used-Textbook Marke:</a:t>
            </a:r>
            <a:r>
              <a:rPr lang="en-US" sz="1800"/>
              <a:t> </a:t>
            </a:r>
            <a:endParaRPr sz="1800"/>
          </a:p>
          <a:p>
            <a:pPr indent="0" lvl="0" marL="0" rtl="0" algn="l">
              <a:spcBef>
                <a:spcPts val="360"/>
              </a:spcBef>
              <a:spcAft>
                <a:spcPts val="0"/>
              </a:spcAft>
              <a:buClr>
                <a:schemeClr val="dk1"/>
              </a:buClr>
              <a:buSzPts val="1100"/>
              <a:buFont typeface="Arial"/>
              <a:buNone/>
            </a:pPr>
            <a:r>
              <a:rPr b="1" lang="en-US" sz="1800"/>
              <a:t>The E-Commerce Clothing Industry</a:t>
            </a:r>
            <a:endParaRPr b="1" sz="1800"/>
          </a:p>
          <a:p>
            <a:pPr indent="0" lvl="0" marL="0" rtl="0" algn="l">
              <a:lnSpc>
                <a:spcPct val="115000"/>
              </a:lnSpc>
              <a:spcBef>
                <a:spcPts val="1200"/>
              </a:spcBef>
              <a:spcAft>
                <a:spcPts val="0"/>
              </a:spcAft>
              <a:buClr>
                <a:schemeClr val="dk1"/>
              </a:buClr>
              <a:buSzPts val="1100"/>
              <a:buFont typeface="Arial"/>
              <a:buNone/>
            </a:pPr>
            <a:r>
              <a:rPr lang="en-US" sz="1800"/>
              <a:t>Based on your chosen industry, answer the following questions:</a:t>
            </a:r>
            <a:endParaRPr sz="1800"/>
          </a:p>
          <a:p>
            <a:pPr indent="-342900" lvl="0" marL="457200" rtl="0" algn="l">
              <a:lnSpc>
                <a:spcPct val="115000"/>
              </a:lnSpc>
              <a:spcBef>
                <a:spcPts val="1200"/>
              </a:spcBef>
              <a:spcAft>
                <a:spcPts val="0"/>
              </a:spcAft>
              <a:buSzPts val="1800"/>
              <a:buAutoNum type="arabicPeriod"/>
            </a:pPr>
            <a:r>
              <a:rPr b="1" lang="en-US" sz="1800"/>
              <a:t>Threat of New Entrants:</a:t>
            </a:r>
            <a:r>
              <a:rPr lang="en-US" sz="1800"/>
              <a:t> What are the </a:t>
            </a:r>
            <a:r>
              <a:rPr b="1" lang="en-US" sz="1800"/>
              <a:t>barriers to entry</a:t>
            </a:r>
            <a:r>
              <a:rPr lang="en-US" sz="1800"/>
              <a:t> in this industry? How high is this threat for a new business?</a:t>
            </a:r>
            <a:endParaRPr sz="1800"/>
          </a:p>
          <a:p>
            <a:pPr indent="-342900" lvl="0" marL="457200" rtl="0" algn="l">
              <a:lnSpc>
                <a:spcPct val="115000"/>
              </a:lnSpc>
              <a:spcBef>
                <a:spcPts val="0"/>
              </a:spcBef>
              <a:spcAft>
                <a:spcPts val="0"/>
              </a:spcAft>
              <a:buSzPts val="1800"/>
              <a:buAutoNum type="arabicPeriod"/>
            </a:pPr>
            <a:r>
              <a:rPr b="1" lang="en-US" sz="1800"/>
              <a:t>Bargaining Power of Suppliers:</a:t>
            </a:r>
            <a:r>
              <a:rPr lang="en-US" sz="1800"/>
              <a:t> Who are the </a:t>
            </a:r>
            <a:r>
              <a:rPr b="1" lang="en-US" sz="1800"/>
              <a:t>key suppliers</a:t>
            </a:r>
            <a:r>
              <a:rPr lang="en-US" sz="1800"/>
              <a:t> in this industry, and how much power do they have? (e.g., coffee bean producers, food wholesalers, clothing manufacturers).</a:t>
            </a:r>
            <a:endParaRPr sz="1800"/>
          </a:p>
          <a:p>
            <a:pPr indent="-342900" lvl="0" marL="457200" rtl="0" algn="l">
              <a:lnSpc>
                <a:spcPct val="115000"/>
              </a:lnSpc>
              <a:spcBef>
                <a:spcPts val="0"/>
              </a:spcBef>
              <a:spcAft>
                <a:spcPts val="0"/>
              </a:spcAft>
              <a:buSzPts val="1800"/>
              <a:buAutoNum type="arabicPeriod"/>
            </a:pPr>
            <a:r>
              <a:rPr b="1" lang="en-US" sz="1800"/>
              <a:t>Bargaining Power of Buyers:</a:t>
            </a:r>
            <a:r>
              <a:rPr lang="en-US" sz="1800"/>
              <a:t> Who are the </a:t>
            </a:r>
            <a:r>
              <a:rPr b="1" lang="en-US" sz="1800"/>
              <a:t>buyers</a:t>
            </a:r>
            <a:r>
              <a:rPr lang="en-US" sz="1800"/>
              <a:t> and how much leverage do they have? (e.g., daily coffee drinkers, busy students, fashion-conscious consumers).</a:t>
            </a:r>
            <a:endParaRPr sz="1800"/>
          </a:p>
          <a:p>
            <a:pPr indent="-342900" lvl="0" marL="457200" rtl="0" algn="l">
              <a:lnSpc>
                <a:spcPct val="115000"/>
              </a:lnSpc>
              <a:spcBef>
                <a:spcPts val="0"/>
              </a:spcBef>
              <a:spcAft>
                <a:spcPts val="0"/>
              </a:spcAft>
              <a:buSzPts val="1800"/>
              <a:buAutoNum type="arabicPeriod"/>
            </a:pPr>
            <a:r>
              <a:rPr b="1" lang="en-US" sz="1800"/>
              <a:t>Threat of Substitutes:</a:t>
            </a:r>
            <a:r>
              <a:rPr lang="en-US" sz="1800"/>
              <a:t> What are the most significant </a:t>
            </a:r>
            <a:r>
              <a:rPr b="1" lang="en-US" sz="1800"/>
              <a:t>substitute products or services</a:t>
            </a:r>
            <a:r>
              <a:rPr lang="en-US" sz="1800"/>
              <a:t> that could pull customers away? </a:t>
            </a:r>
            <a:endParaRPr sz="1800"/>
          </a:p>
          <a:p>
            <a:pPr indent="0" lvl="0" marL="0" rtl="0" algn="l">
              <a:spcBef>
                <a:spcPts val="1200"/>
              </a:spcBef>
              <a:spcAft>
                <a:spcPts val="0"/>
              </a:spcAft>
              <a:buNone/>
            </a:pPr>
            <a:r>
              <a:t/>
            </a:r>
            <a:endParaRPr sz="1800"/>
          </a:p>
        </p:txBody>
      </p:sp>
      <p:sp>
        <p:nvSpPr>
          <p:cNvPr id="468" name="Google Shape;468;g387d0008310_0_0"/>
          <p:cNvSpPr txBox="1"/>
          <p:nvPr>
            <p:ph idx="12" type="sldNum"/>
          </p:nvPr>
        </p:nvSpPr>
        <p:spPr>
          <a:xfrm>
            <a:off x="6553200" y="624840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5-</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387d0008310_0_1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475" name="Google Shape;475;g387d0008310_0_1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600"/>
              <a:t>Now, each group will select a </a:t>
            </a:r>
            <a:r>
              <a:rPr b="1" lang="en-US" sz="1600"/>
              <a:t>single, direct competitor</a:t>
            </a:r>
            <a:r>
              <a:rPr lang="en-US" sz="1600"/>
              <a:t> from the industry they just analyzed. Your task is to perform a detailed </a:t>
            </a:r>
            <a:r>
              <a:rPr b="1" lang="en-US" sz="1600"/>
              <a:t>competitor analysis</a:t>
            </a:r>
            <a:r>
              <a:rPr lang="en-US" sz="1600"/>
              <a:t> on this rival and create a </a:t>
            </a:r>
            <a:r>
              <a:rPr b="1" lang="en-US" sz="1600"/>
              <a:t>Competitive Analysis Grid</a:t>
            </a:r>
            <a:r>
              <a:rPr lang="en-US" sz="1600"/>
              <a:t>.</a:t>
            </a:r>
            <a:endParaRPr sz="1600"/>
          </a:p>
          <a:p>
            <a:pPr indent="0" lvl="0" marL="0" rtl="0" algn="l">
              <a:lnSpc>
                <a:spcPct val="115000"/>
              </a:lnSpc>
              <a:spcBef>
                <a:spcPts val="1200"/>
              </a:spcBef>
              <a:spcAft>
                <a:spcPts val="0"/>
              </a:spcAft>
              <a:buClr>
                <a:schemeClr val="dk1"/>
              </a:buClr>
              <a:buSzPts val="1100"/>
              <a:buFont typeface="Arial"/>
              <a:buNone/>
            </a:pPr>
            <a:r>
              <a:rPr lang="en-US" sz="1600"/>
              <a:t>For example:</a:t>
            </a:r>
            <a:endParaRPr sz="1600"/>
          </a:p>
          <a:p>
            <a:pPr indent="-330200" lvl="0" marL="457200" rtl="0" algn="l">
              <a:lnSpc>
                <a:spcPct val="115000"/>
              </a:lnSpc>
              <a:spcBef>
                <a:spcPts val="1200"/>
              </a:spcBef>
              <a:spcAft>
                <a:spcPts val="0"/>
              </a:spcAft>
              <a:buSzPts val="1600"/>
              <a:buChar char="●"/>
            </a:pPr>
            <a:r>
              <a:rPr b="1" lang="en-US" sz="1600"/>
              <a:t>For the Coffee Shop Industry:</a:t>
            </a:r>
            <a:r>
              <a:rPr lang="en-US" sz="1600"/>
              <a:t> Analyze Starbucks.</a:t>
            </a:r>
            <a:endParaRPr sz="1600"/>
          </a:p>
          <a:p>
            <a:pPr indent="-330200" lvl="0" marL="457200" rtl="0" algn="l">
              <a:lnSpc>
                <a:spcPct val="115000"/>
              </a:lnSpc>
              <a:spcBef>
                <a:spcPts val="0"/>
              </a:spcBef>
              <a:spcAft>
                <a:spcPts val="0"/>
              </a:spcAft>
              <a:buSzPts val="1600"/>
              <a:buChar char="●"/>
            </a:pPr>
            <a:r>
              <a:rPr b="1" lang="en-US" sz="1600"/>
              <a:t>For the Textbook Market:</a:t>
            </a:r>
            <a:r>
              <a:rPr lang="en-US" sz="1600"/>
              <a:t> Analyze Amazon.</a:t>
            </a:r>
            <a:endParaRPr sz="1600"/>
          </a:p>
          <a:p>
            <a:pPr indent="-330200" lvl="0" marL="457200" rtl="0" algn="l">
              <a:lnSpc>
                <a:spcPct val="115000"/>
              </a:lnSpc>
              <a:spcBef>
                <a:spcPts val="0"/>
              </a:spcBef>
              <a:spcAft>
                <a:spcPts val="0"/>
              </a:spcAft>
              <a:buSzPts val="1600"/>
              <a:buChar char="●"/>
            </a:pPr>
            <a:r>
              <a:rPr b="1" lang="en-US" sz="1600"/>
              <a:t>For the Clothing Resale Industry:</a:t>
            </a:r>
            <a:r>
              <a:rPr lang="en-US" sz="1600"/>
              <a:t> Analyze Diners.</a:t>
            </a:r>
            <a:endParaRPr sz="1600"/>
          </a:p>
          <a:p>
            <a:pPr indent="0" lvl="0" marL="0" rtl="0" algn="l">
              <a:spcBef>
                <a:spcPts val="1200"/>
              </a:spcBef>
              <a:spcAft>
                <a:spcPts val="0"/>
              </a:spcAft>
              <a:buNone/>
            </a:pPr>
            <a:r>
              <a:t/>
            </a:r>
            <a:endParaRPr sz="3700"/>
          </a:p>
        </p:txBody>
      </p:sp>
      <p:sp>
        <p:nvSpPr>
          <p:cNvPr id="476" name="Google Shape;476;g387d0008310_0_10"/>
          <p:cNvSpPr txBox="1"/>
          <p:nvPr>
            <p:ph idx="12" type="sldNum"/>
          </p:nvPr>
        </p:nvSpPr>
        <p:spPr>
          <a:xfrm>
            <a:off x="6553200" y="6248400"/>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5-</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0"/>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First Application of the Five Forces Model</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sp>
        <p:nvSpPr>
          <p:cNvPr id="482" name="Google Shape;482;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First Application of the Model</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five forces model can be used to assess the attractiveness of an industry by determining the level of threat to industry profitability for each of the forces.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If a firm fills out the form shown on the next slide and several of the threats to industry profitability are high, the firm may want to reconsider entering the industry or think carefully about the position it would occupy.</a:t>
            </a:r>
            <a:endParaRPr/>
          </a:p>
        </p:txBody>
      </p:sp>
      <p:cxnSp>
        <p:nvCxnSpPr>
          <p:cNvPr id="483" name="Google Shape;483;p30"/>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84" name="Google Shape;484;p30"/>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485" name="Google Shape;485;p30"/>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31"/>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First Application of the Five Forces Model</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cxnSp>
        <p:nvCxnSpPr>
          <p:cNvPr id="491" name="Google Shape;491;p31"/>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492" name="Google Shape;492;p31"/>
          <p:cNvSpPr txBox="1"/>
          <p:nvPr/>
        </p:nvSpPr>
        <p:spPr>
          <a:xfrm>
            <a:off x="0" y="1447800"/>
            <a:ext cx="9144000" cy="38735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Assessing Industry Attractiveness Using the Five Forces Model</a:t>
            </a:r>
            <a:endParaRPr/>
          </a:p>
        </p:txBody>
      </p:sp>
      <p:sp>
        <p:nvSpPr>
          <p:cNvPr id="493" name="Google Shape;493;p31"/>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494" name="Google Shape;494;p31"/>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pic>
        <p:nvPicPr>
          <p:cNvPr id="495" name="Google Shape;495;p31"/>
          <p:cNvPicPr preferRelativeResize="0"/>
          <p:nvPr/>
        </p:nvPicPr>
        <p:blipFill rotWithShape="1">
          <a:blip r:embed="rId3">
            <a:alphaModFix/>
          </a:blip>
          <a:srcRect b="0" l="0" r="0" t="0"/>
          <a:stretch/>
        </p:blipFill>
        <p:spPr>
          <a:xfrm>
            <a:off x="1066800" y="2033587"/>
            <a:ext cx="6880225" cy="406876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2"/>
          <p:cNvSpPr txBox="1"/>
          <p:nvPr>
            <p:ph type="title"/>
          </p:nvPr>
        </p:nvSpPr>
        <p:spPr>
          <a:xfrm>
            <a:off x="228600" y="152400"/>
            <a:ext cx="8686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Second Application of the Five Forces Model</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sp>
        <p:nvSpPr>
          <p:cNvPr id="501" name="Google Shape;501;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Second Application of the Model</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second way a new firm can apply the five forces model to help determine whether it should enter an industry is by using the model to answer several key questions.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questions are shown in the figure on the next slide, and help a firm project the potential success of a new venture in a particular industry.</a:t>
            </a:r>
            <a:endParaRPr/>
          </a:p>
        </p:txBody>
      </p:sp>
      <p:cxnSp>
        <p:nvCxnSpPr>
          <p:cNvPr id="502" name="Google Shape;502;p32"/>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03" name="Google Shape;503;p32"/>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04" name="Google Shape;504;p32"/>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3"/>
          <p:cNvSpPr txBox="1"/>
          <p:nvPr>
            <p:ph type="title"/>
          </p:nvPr>
        </p:nvSpPr>
        <p:spPr>
          <a:xfrm>
            <a:off x="228600" y="152400"/>
            <a:ext cx="8686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Second Application of the Five Forces Model</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cxnSp>
        <p:nvCxnSpPr>
          <p:cNvPr id="510" name="Google Shape;510;p33"/>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11" name="Google Shape;511;p33"/>
          <p:cNvSpPr txBox="1"/>
          <p:nvPr/>
        </p:nvSpPr>
        <p:spPr>
          <a:xfrm>
            <a:off x="533400" y="1371600"/>
            <a:ext cx="800100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Using the Five Forces Model to Pose Questions to Determine the Potential Success of a New Venture in an Industry </a:t>
            </a:r>
            <a:endParaRPr/>
          </a:p>
        </p:txBody>
      </p:sp>
      <p:sp>
        <p:nvSpPr>
          <p:cNvPr id="512" name="Google Shape;512;p33"/>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13" name="Google Shape;513;p33"/>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pic>
        <p:nvPicPr>
          <p:cNvPr id="514" name="Google Shape;514;p33"/>
          <p:cNvPicPr preferRelativeResize="0"/>
          <p:nvPr/>
        </p:nvPicPr>
        <p:blipFill rotWithShape="1">
          <a:blip r:embed="rId3">
            <a:alphaModFix/>
          </a:blip>
          <a:srcRect b="0" l="0" r="0" t="0"/>
          <a:stretch/>
        </p:blipFill>
        <p:spPr>
          <a:xfrm>
            <a:off x="315912" y="2109787"/>
            <a:ext cx="8599487" cy="413543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8" name="Shape 518"/>
        <p:cNvGrpSpPr/>
        <p:nvPr/>
      </p:nvGrpSpPr>
      <p:grpSpPr>
        <a:xfrm>
          <a:off x="0" y="0"/>
          <a:ext cx="0" cy="0"/>
          <a:chOff x="0" y="0"/>
          <a:chExt cx="0" cy="0"/>
        </a:xfrm>
      </p:grpSpPr>
      <p:sp>
        <p:nvSpPr>
          <p:cNvPr id="519" name="Google Shape;519;p34"/>
          <p:cNvSpPr txBox="1"/>
          <p:nvPr>
            <p:ph idx="1" type="body"/>
          </p:nvPr>
        </p:nvSpPr>
        <p:spPr>
          <a:xfrm>
            <a:off x="457200" y="16764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Emerging Industries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Industries in which standard operating procedures have yet to be developed.</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Opportunity: First-mover advantage.</a:t>
            </a:r>
            <a:endParaRPr/>
          </a:p>
          <a:p>
            <a:pPr indent="-342900" lvl="0" marL="34290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Fragmented Industries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Industries that are characterized by a large number of firms of approximately equal size.</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Opportunity: Consolidation.</a:t>
            </a:r>
            <a:endParaRPr/>
          </a:p>
        </p:txBody>
      </p:sp>
      <p:cxnSp>
        <p:nvCxnSpPr>
          <p:cNvPr id="520" name="Google Shape;520;p34"/>
          <p:cNvCxnSpPr/>
          <p:nvPr/>
        </p:nvCxnSpPr>
        <p:spPr>
          <a:xfrm>
            <a:off x="0" y="1600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21" name="Google Shape;521;p3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Industry Types and the Opportunities They Offer</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3</a:t>
            </a:r>
            <a:endParaRPr/>
          </a:p>
        </p:txBody>
      </p:sp>
      <p:sp>
        <p:nvSpPr>
          <p:cNvPr id="522" name="Google Shape;522;p34"/>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23" name="Google Shape;523;p34"/>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7" name="Shape 527"/>
        <p:cNvGrpSpPr/>
        <p:nvPr/>
      </p:nvGrpSpPr>
      <p:grpSpPr>
        <a:xfrm>
          <a:off x="0" y="0"/>
          <a:ext cx="0" cy="0"/>
          <a:chOff x="0" y="0"/>
          <a:chExt cx="0" cy="0"/>
        </a:xfrm>
      </p:grpSpPr>
      <p:sp>
        <p:nvSpPr>
          <p:cNvPr id="528" name="Google Shape;528;p35"/>
          <p:cNvSpPr txBox="1"/>
          <p:nvPr>
            <p:ph idx="1" type="body"/>
          </p:nvPr>
        </p:nvSpPr>
        <p:spPr>
          <a:xfrm>
            <a:off x="457200" y="16764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Mature Industries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Industries that are experiencing slow or no increase in demand.</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Opportunities: Process innovation and after-sale service innovation.</a:t>
            </a:r>
            <a:endParaRPr/>
          </a:p>
          <a:p>
            <a:pPr indent="-342900" lvl="0" marL="34290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Declining Industries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Industries that are experiencing a reduction in demand.</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Opportunities: Leadership, establishing a niche market, and pursuing a cost reduction strategy.</a:t>
            </a:r>
            <a:endParaRPr/>
          </a:p>
        </p:txBody>
      </p:sp>
      <p:cxnSp>
        <p:nvCxnSpPr>
          <p:cNvPr id="529" name="Google Shape;529;p35"/>
          <p:cNvCxnSpPr/>
          <p:nvPr/>
        </p:nvCxnSpPr>
        <p:spPr>
          <a:xfrm>
            <a:off x="0" y="1600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30" name="Google Shape;530;p3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Industry Types and the Opportunities They Offer</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3</a:t>
            </a:r>
            <a:endParaRPr/>
          </a:p>
        </p:txBody>
      </p:sp>
      <p:sp>
        <p:nvSpPr>
          <p:cNvPr id="531" name="Google Shape;531;p35"/>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32" name="Google Shape;532;p35"/>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6" name="Shape 536"/>
        <p:cNvGrpSpPr/>
        <p:nvPr/>
      </p:nvGrpSpPr>
      <p:grpSpPr>
        <a:xfrm>
          <a:off x="0" y="0"/>
          <a:ext cx="0" cy="0"/>
          <a:chOff x="0" y="0"/>
          <a:chExt cx="0" cy="0"/>
        </a:xfrm>
      </p:grpSpPr>
      <p:sp>
        <p:nvSpPr>
          <p:cNvPr id="537" name="Google Shape;537;p36"/>
          <p:cNvSpPr txBox="1"/>
          <p:nvPr>
            <p:ph idx="1" type="body"/>
          </p:nvPr>
        </p:nvSpPr>
        <p:spPr>
          <a:xfrm>
            <a:off x="457200" y="16764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Global Industries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Industries that are experiencing significant international sales.</a:t>
            </a:r>
            <a:endParaRPr/>
          </a:p>
          <a:p>
            <a:pPr indent="-228600" lvl="2" marL="11430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Opportunities: Multidomestic and global strategies.</a:t>
            </a:r>
            <a:endParaRPr/>
          </a:p>
        </p:txBody>
      </p:sp>
      <p:cxnSp>
        <p:nvCxnSpPr>
          <p:cNvPr id="538" name="Google Shape;538;p36"/>
          <p:cNvCxnSpPr/>
          <p:nvPr/>
        </p:nvCxnSpPr>
        <p:spPr>
          <a:xfrm>
            <a:off x="0" y="1600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39" name="Google Shape;539;p36"/>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Industry Types and the Opportunities They Offer</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3 of 3</a:t>
            </a:r>
            <a:endParaRPr/>
          </a:p>
        </p:txBody>
      </p:sp>
      <p:sp>
        <p:nvSpPr>
          <p:cNvPr id="540" name="Google Shape;540;p36"/>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41" name="Google Shape;541;p36"/>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7"/>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Competitor Analysis</a:t>
            </a:r>
            <a:endParaRPr/>
          </a:p>
        </p:txBody>
      </p:sp>
      <p:sp>
        <p:nvSpPr>
          <p:cNvPr id="547" name="Google Shape;547;p37"/>
          <p:cNvSpPr txBox="1"/>
          <p:nvPr>
            <p:ph idx="1" type="body"/>
          </p:nvPr>
        </p:nvSpPr>
        <p:spPr>
          <a:xfrm>
            <a:off x="457200" y="15240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What is a Competitor Analysis?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competitor analysis is a detailed analysis of a firm’s competition.  </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 helps a firm understand the positions of its major competitors and the opportunities that are available.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competitive analysis grid is a tool for organizing the information a firm collects about its competitors.</a:t>
            </a:r>
            <a:endParaRPr/>
          </a:p>
        </p:txBody>
      </p:sp>
      <p:cxnSp>
        <p:nvCxnSpPr>
          <p:cNvPr id="548" name="Google Shape;548;p37"/>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49" name="Google Shape;549;p37"/>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50" name="Google Shape;550;p37"/>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8"/>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Identifying Competitors</a:t>
            </a:r>
            <a:endParaRPr/>
          </a:p>
        </p:txBody>
      </p:sp>
      <p:cxnSp>
        <p:nvCxnSpPr>
          <p:cNvPr id="556" name="Google Shape;556;p38"/>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57" name="Google Shape;557;p38"/>
          <p:cNvSpPr txBox="1"/>
          <p:nvPr/>
        </p:nvSpPr>
        <p:spPr>
          <a:xfrm>
            <a:off x="1143000" y="1676400"/>
            <a:ext cx="6477000" cy="419100"/>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Types of Competitors New Ventures Face</a:t>
            </a:r>
            <a:endParaRPr/>
          </a:p>
        </p:txBody>
      </p:sp>
      <p:sp>
        <p:nvSpPr>
          <p:cNvPr id="558" name="Google Shape;558;p38"/>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59" name="Google Shape;559;p38"/>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pic>
        <p:nvPicPr>
          <p:cNvPr id="560" name="Google Shape;560;p38"/>
          <p:cNvPicPr preferRelativeResize="0"/>
          <p:nvPr/>
        </p:nvPicPr>
        <p:blipFill rotWithShape="1">
          <a:blip r:embed="rId3">
            <a:alphaModFix/>
          </a:blip>
          <a:srcRect b="0" l="0" r="0" t="0"/>
          <a:stretch/>
        </p:blipFill>
        <p:spPr>
          <a:xfrm>
            <a:off x="358775" y="2293937"/>
            <a:ext cx="8328025" cy="2209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9"/>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Sources of Competitive Intelligence</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1 of 2</a:t>
            </a:r>
            <a:endParaRPr/>
          </a:p>
        </p:txBody>
      </p:sp>
      <p:sp>
        <p:nvSpPr>
          <p:cNvPr id="566" name="Google Shape;566;p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Collecting Competitive Intelligence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To complete a competitive analysis grid, a firm must first understand the strategies and behaviors of its competitors.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information that is gathered by a firm to learn about its competitors is referred to as competitive intelligence.</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new venture should take care that it collects competitive intelligence in a professional and ethical manner.</a:t>
            </a:r>
            <a:endParaRPr/>
          </a:p>
        </p:txBody>
      </p:sp>
      <p:cxnSp>
        <p:nvCxnSpPr>
          <p:cNvPr id="567" name="Google Shape;567;p39"/>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68" name="Google Shape;568;p39"/>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69" name="Google Shape;569;p39"/>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0"/>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Sources of Competitive Intelligence</a:t>
            </a:r>
            <a:br>
              <a:rPr b="0" i="0" lang="en-US" sz="3600" u="none">
                <a:solidFill>
                  <a:schemeClr val="dk2"/>
                </a:solidFill>
                <a:latin typeface="Times New Roman"/>
                <a:ea typeface="Times New Roman"/>
                <a:cs typeface="Times New Roman"/>
                <a:sym typeface="Times New Roman"/>
              </a:rPr>
            </a:br>
            <a:r>
              <a:rPr b="0" i="0" lang="en-US" sz="2000" u="none">
                <a:solidFill>
                  <a:schemeClr val="dk2"/>
                </a:solidFill>
                <a:latin typeface="Times New Roman"/>
                <a:ea typeface="Times New Roman"/>
                <a:cs typeface="Times New Roman"/>
                <a:sym typeface="Times New Roman"/>
              </a:rPr>
              <a:t>2 of 2</a:t>
            </a:r>
            <a:endParaRPr/>
          </a:p>
        </p:txBody>
      </p:sp>
      <p:cxnSp>
        <p:nvCxnSpPr>
          <p:cNvPr id="575" name="Google Shape;575;p40"/>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76" name="Google Shape;576;p40"/>
          <p:cNvSpPr txBox="1"/>
          <p:nvPr/>
        </p:nvSpPr>
        <p:spPr>
          <a:xfrm>
            <a:off x="457200" y="1447800"/>
            <a:ext cx="8001000"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Ethical ways to obtain information about competitors</a:t>
            </a:r>
            <a:endParaRPr/>
          </a:p>
        </p:txBody>
      </p:sp>
      <p:sp>
        <p:nvSpPr>
          <p:cNvPr id="577" name="Google Shape;577;p40"/>
          <p:cNvSpPr txBox="1"/>
          <p:nvPr/>
        </p:nvSpPr>
        <p:spPr>
          <a:xfrm>
            <a:off x="457200" y="2209800"/>
            <a:ext cx="8229600" cy="3886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4000" u="none">
              <a:solidFill>
                <a:schemeClr val="dk1"/>
              </a:solidFill>
              <a:latin typeface="Times New Roman"/>
              <a:ea typeface="Times New Roman"/>
              <a:cs typeface="Times New Roman"/>
              <a:sym typeface="Times New Roman"/>
            </a:endParaRPr>
          </a:p>
        </p:txBody>
      </p:sp>
      <p:sp>
        <p:nvSpPr>
          <p:cNvPr id="578" name="Google Shape;578;p40"/>
          <p:cNvSpPr txBox="1"/>
          <p:nvPr/>
        </p:nvSpPr>
        <p:spPr>
          <a:xfrm>
            <a:off x="533400" y="2286000"/>
            <a:ext cx="8229600" cy="2965450"/>
          </a:xfrm>
          <a:prstGeom prst="rect">
            <a:avLst/>
          </a:prstGeom>
          <a:noFill/>
          <a:ln>
            <a:noFill/>
          </a:ln>
        </p:spPr>
        <p:txBody>
          <a:bodyPr anchorCtr="0" anchor="t" bIns="45700" lIns="91425" spcFirstLastPara="1" rIns="91425" wrap="square" tIns="45700">
            <a:spAutoFit/>
          </a:bodyPr>
          <a:lstStyle/>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Attend conferences and trade shows.</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Purchase competitors’ products.</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Study competitors’ Web sites and social media sites.</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Set up Google e-mail alerts.</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Read industry-related books, magazines, and Web sites.</a:t>
            </a:r>
            <a:endParaRPr/>
          </a:p>
          <a:p>
            <a:pPr indent="-152400" lvl="0" marL="0" marR="0" rtl="0" algn="l">
              <a:lnSpc>
                <a:spcPct val="133333"/>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Talk to customers about what motivated them to buy your </a:t>
            </a:r>
            <a:endParaRPr/>
          </a:p>
          <a:p>
            <a:pPr indent="0" lvl="0" marL="0" marR="0" rtl="0" algn="l">
              <a:lnSpc>
                <a:spcPct val="133333"/>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product as opposed to your competitor’s product.</a:t>
            </a:r>
            <a:endParaRPr/>
          </a:p>
        </p:txBody>
      </p:sp>
      <p:sp>
        <p:nvSpPr>
          <p:cNvPr id="579" name="Google Shape;579;p40"/>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80" name="Google Shape;580;p40"/>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1"/>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Completing a Competitive Analysis Grid</a:t>
            </a:r>
            <a:endParaRPr/>
          </a:p>
        </p:txBody>
      </p:sp>
      <p:sp>
        <p:nvSpPr>
          <p:cNvPr id="586" name="Google Shape;586;p4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Competitive Analysis Grid</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tool for organizing the information a firm collects about its competitors.</a:t>
            </a:r>
            <a:endParaRPr/>
          </a:p>
          <a:p>
            <a:pPr indent="-285750" lvl="1" marL="74295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competitive analysis grid can help a firm see how it stacks up against its competitors, provide ideas for markets to pursue, and identify its primary sources of competitive advantage. </a:t>
            </a:r>
            <a:endParaRPr/>
          </a:p>
        </p:txBody>
      </p:sp>
      <p:cxnSp>
        <p:nvCxnSpPr>
          <p:cNvPr id="587" name="Google Shape;587;p41"/>
          <p:cNvCxnSpPr/>
          <p:nvPr/>
        </p:nvCxnSpPr>
        <p:spPr>
          <a:xfrm>
            <a:off x="0" y="12192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88" name="Google Shape;588;p41"/>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89" name="Google Shape;589;p41"/>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2"/>
          <p:cNvSpPr txBox="1"/>
          <p:nvPr>
            <p:ph type="title"/>
          </p:nvPr>
        </p:nvSpPr>
        <p:spPr>
          <a:xfrm>
            <a:off x="152400" y="0"/>
            <a:ext cx="8763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Competitive Analysis Grid for Element Bars</a:t>
            </a:r>
            <a:endParaRPr/>
          </a:p>
        </p:txBody>
      </p:sp>
      <p:cxnSp>
        <p:nvCxnSpPr>
          <p:cNvPr id="595" name="Google Shape;595;p42"/>
          <p:cNvCxnSpPr/>
          <p:nvPr/>
        </p:nvCxnSpPr>
        <p:spPr>
          <a:xfrm>
            <a:off x="0" y="1143000"/>
            <a:ext cx="9144000" cy="0"/>
          </a:xfrm>
          <a:prstGeom prst="straightConnector1">
            <a:avLst/>
          </a:prstGeom>
          <a:noFill/>
          <a:ln cap="flat" cmpd="sng" w="38100">
            <a:solidFill>
              <a:srgbClr val="993300"/>
            </a:solidFill>
            <a:prstDash val="solid"/>
            <a:miter lim="800000"/>
            <a:headEnd len="med" w="med" type="none"/>
            <a:tailEnd len="med" w="med" type="none"/>
          </a:ln>
        </p:spPr>
      </p:cxnSp>
      <p:sp>
        <p:nvSpPr>
          <p:cNvPr id="596" name="Google Shape;596;p42"/>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597" name="Google Shape;597;p42"/>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pic>
        <p:nvPicPr>
          <p:cNvPr id="598" name="Google Shape;598;p42"/>
          <p:cNvPicPr preferRelativeResize="0"/>
          <p:nvPr/>
        </p:nvPicPr>
        <p:blipFill rotWithShape="1">
          <a:blip r:embed="rId3">
            <a:alphaModFix/>
          </a:blip>
          <a:srcRect b="0" l="0" r="0" t="0"/>
          <a:stretch/>
        </p:blipFill>
        <p:spPr>
          <a:xfrm>
            <a:off x="152400" y="1524000"/>
            <a:ext cx="8802687" cy="3886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descr="cid:3287383400_2177562" id="603" name="Google Shape;603;p43"/>
          <p:cNvPicPr preferRelativeResize="0"/>
          <p:nvPr>
            <p:ph type="ctrTitle"/>
          </p:nvPr>
        </p:nvPicPr>
        <p:blipFill rotWithShape="1">
          <a:blip r:embed="rId3">
            <a:alphaModFix/>
          </a:blip>
          <a:srcRect b="0" l="0" r="0" t="0"/>
          <a:stretch/>
        </p:blipFill>
        <p:spPr>
          <a:xfrm>
            <a:off x="838200" y="838200"/>
            <a:ext cx="7685087" cy="2401887"/>
          </a:xfrm>
          <a:prstGeom prst="rect">
            <a:avLst/>
          </a:prstGeom>
          <a:noFill/>
          <a:ln cap="flat" cmpd="sng" w="9525">
            <a:solidFill>
              <a:schemeClr val="lt1"/>
            </a:solidFill>
            <a:prstDash val="solid"/>
            <a:miter lim="524288"/>
            <a:headEnd len="sm" w="sm" type="none"/>
            <a:tailEnd len="sm" w="sm" type="none"/>
          </a:ln>
        </p:spPr>
      </p:pic>
      <p:sp>
        <p:nvSpPr>
          <p:cNvPr id="604" name="Google Shape;604;p43"/>
          <p:cNvSpPr txBox="1"/>
          <p:nvPr/>
        </p:nvSpPr>
        <p:spPr>
          <a:xfrm>
            <a:off x="457200" y="6245225"/>
            <a:ext cx="5943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Copyright ©2016 Pearson Education, Inc.</a:t>
            </a:r>
            <a:endParaRPr/>
          </a:p>
        </p:txBody>
      </p:sp>
      <p:sp>
        <p:nvSpPr>
          <p:cNvPr id="605" name="Google Shape;605;p43"/>
          <p:cNvSpPr txBox="1"/>
          <p:nvPr/>
        </p:nvSpPr>
        <p:spPr>
          <a:xfrm>
            <a:off x="6553200" y="6248400"/>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5-</a:t>
            </a: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2004-11-30T17:28:57Z</dcterms:created>
  <dc:creator>bbarringer</dc:creator>
</cp:coreProperties>
</file>