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ppt/presentation.xml" ContentType="application/vnd.openxmlformats-officedocument.presentationml.presentation.main+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custom-properties" Target="docProps/custom.xml"/><Relationship Id="rId2" Type="http://schemas.openxmlformats.org/officeDocument/2006/relationships/officeDocument" Target="ppt/presentation.xml"/><Relationship Id="rId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247">
          <p15:clr>
            <a:srgbClr val="A4A3A4"/>
          </p15:clr>
        </p15:guide>
        <p15:guide id="2" pos="7605">
          <p15:clr>
            <a:srgbClr val="A4A3A4"/>
          </p15:clr>
        </p15:guide>
      </p15:sldGuideLst>
    </p:ext>
    <p:ext uri="GoogleSlidesCustomDataVersion2">
      <go:slidesCustomData xmlns:go="http://customooxmlschemas.google.com/" r:id="rId50" roundtripDataSignature="AMtx7mgAL2vYVSZ0DgGEAm0n/D5ZraOBJ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247" orient="horz"/>
        <p:guide pos="7605"/>
      </p:guideLst>
    </p:cSldViewPr>
  </p:slideViewPr>
</p:viewPr>
</file>

<file path=ppt/_rels/presentation.xml.rels><?xml version="1.0" encoding="UTF-8" standalone="yes"?>
<Relationships xmlns="http://schemas.openxmlformats.org/package/2006/relationships"><Relationship Id="rId39" Type="http://schemas.openxmlformats.org/officeDocument/2006/relationships/slide" Target="slides/slide34.xml"/><Relationship Id="rId26" Type="http://schemas.openxmlformats.org/officeDocument/2006/relationships/slide" Target="slides/slide21.xml"/><Relationship Id="rId13" Type="http://schemas.openxmlformats.org/officeDocument/2006/relationships/slide" Target="slides/slide8.xml"/><Relationship Id="rId18" Type="http://schemas.openxmlformats.org/officeDocument/2006/relationships/slide" Target="slides/slide13.xml"/><Relationship Id="rId42" Type="http://schemas.openxmlformats.org/officeDocument/2006/relationships/slide" Target="slides/slide37.xml"/><Relationship Id="rId47" Type="http://schemas.openxmlformats.org/officeDocument/2006/relationships/slide" Target="slides/slide42.xml"/><Relationship Id="rId34" Type="http://schemas.openxmlformats.org/officeDocument/2006/relationships/slide" Target="slides/slide29.xml"/><Relationship Id="rId21" Type="http://schemas.openxmlformats.org/officeDocument/2006/relationships/slide" Target="slides/slide16.xml"/><Relationship Id="rId50" Type="http://customschemas.google.com/relationships/presentationmetadata" Target="metadata"/><Relationship Id="rId7" Type="http://schemas.openxmlformats.org/officeDocument/2006/relationships/slide" Target="slides/slide2.xml"/><Relationship Id="rId2" Type="http://schemas.openxmlformats.org/officeDocument/2006/relationships/viewProps" Target="viewProps.xml"/><Relationship Id="rId29" Type="http://schemas.openxmlformats.org/officeDocument/2006/relationships/slide" Target="slides/slide24.xml"/><Relationship Id="rId16" Type="http://schemas.openxmlformats.org/officeDocument/2006/relationships/slide" Target="slides/slide11.xml"/><Relationship Id="rId40" Type="http://schemas.openxmlformats.org/officeDocument/2006/relationships/slide" Target="slides/slide35.xml"/><Relationship Id="rId45" Type="http://schemas.openxmlformats.org/officeDocument/2006/relationships/slide" Target="slides/slide40.xml"/><Relationship Id="rId32" Type="http://schemas.openxmlformats.org/officeDocument/2006/relationships/slide" Target="slides/slide27.xml"/><Relationship Id="rId37" Type="http://schemas.openxmlformats.org/officeDocument/2006/relationships/slide" Target="slides/slide32.xml"/><Relationship Id="rId24" Type="http://schemas.openxmlformats.org/officeDocument/2006/relationships/slide" Target="slides/slide19.xml"/><Relationship Id="rId11" Type="http://schemas.openxmlformats.org/officeDocument/2006/relationships/slide" Target="slides/slide6.xml"/><Relationship Id="rId53" Type="http://schemas.openxmlformats.org/officeDocument/2006/relationships/customXml" Target="../customXml/item3.xml"/><Relationship Id="rId5" Type="http://schemas.openxmlformats.org/officeDocument/2006/relationships/notesMaster" Target="notesMasters/notesMaster1.xml"/><Relationship Id="rId44" Type="http://schemas.openxmlformats.org/officeDocument/2006/relationships/slide" Target="slides/slide39.xml"/><Relationship Id="rId31" Type="http://schemas.openxmlformats.org/officeDocument/2006/relationships/slide" Target="slides/slide26.xml"/><Relationship Id="rId10" Type="http://schemas.openxmlformats.org/officeDocument/2006/relationships/slide" Target="slides/slide5.xml"/><Relationship Id="rId19" Type="http://schemas.openxmlformats.org/officeDocument/2006/relationships/slide" Target="slides/slide14.xml"/><Relationship Id="rId52" Type="http://schemas.openxmlformats.org/officeDocument/2006/relationships/customXml" Target="../customXml/item2.xml"/><Relationship Id="rId43" Type="http://schemas.openxmlformats.org/officeDocument/2006/relationships/slide" Target="slides/slide38.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30" Type="http://schemas.openxmlformats.org/officeDocument/2006/relationships/slide" Target="slides/slide25.xml"/><Relationship Id="rId35" Type="http://schemas.openxmlformats.org/officeDocument/2006/relationships/slide" Target="slides/slide30.xml"/><Relationship Id="rId22" Type="http://schemas.openxmlformats.org/officeDocument/2006/relationships/slide" Target="slides/slide17.xml"/><Relationship Id="rId27" Type="http://schemas.openxmlformats.org/officeDocument/2006/relationships/slide" Target="slides/slide22.xml"/><Relationship Id="rId14" Type="http://schemas.openxmlformats.org/officeDocument/2006/relationships/slide" Target="slides/slide9.xml"/><Relationship Id="rId8" Type="http://schemas.openxmlformats.org/officeDocument/2006/relationships/slide" Target="slides/slide3.xml"/><Relationship Id="rId51" Type="http://schemas.openxmlformats.org/officeDocument/2006/relationships/customXml" Target="../customXml/item1.xml"/><Relationship Id="rId3" Type="http://schemas.openxmlformats.org/officeDocument/2006/relationships/presProps" Target="presProps.xml"/><Relationship Id="rId46" Type="http://schemas.openxmlformats.org/officeDocument/2006/relationships/slide" Target="slides/slide41.xml"/><Relationship Id="rId33" Type="http://schemas.openxmlformats.org/officeDocument/2006/relationships/slide" Target="slides/slide28.xml"/><Relationship Id="rId38" Type="http://schemas.openxmlformats.org/officeDocument/2006/relationships/slide" Target="slides/slide33.xml"/><Relationship Id="rId25" Type="http://schemas.openxmlformats.org/officeDocument/2006/relationships/slide" Target="slides/slide20.xml"/><Relationship Id="rId12" Type="http://schemas.openxmlformats.org/officeDocument/2006/relationships/slide" Target="slides/slide7.xml"/><Relationship Id="rId17" Type="http://schemas.openxmlformats.org/officeDocument/2006/relationships/slide" Target="slides/slide12.xml"/><Relationship Id="rId41" Type="http://schemas.openxmlformats.org/officeDocument/2006/relationships/slide" Target="slides/slide36.xml"/><Relationship Id="rId20" Type="http://schemas.openxmlformats.org/officeDocument/2006/relationships/slide" Target="slides/slide15.xml"/><Relationship Id="rId1" Type="http://schemas.openxmlformats.org/officeDocument/2006/relationships/theme" Target="theme/theme1.xml"/><Relationship Id="rId6" Type="http://schemas.openxmlformats.org/officeDocument/2006/relationships/slide" Target="slides/slide1.xml"/><Relationship Id="rId49" Type="http://schemas.openxmlformats.org/officeDocument/2006/relationships/slide" Target="slides/slide44.xml"/><Relationship Id="rId36" Type="http://schemas.openxmlformats.org/officeDocument/2006/relationships/slide" Target="slides/slide31.xml"/><Relationship Id="rId23" Type="http://schemas.openxmlformats.org/officeDocument/2006/relationships/slide" Target="slides/slide18.xml"/><Relationship Id="rId28" Type="http://schemas.openxmlformats.org/officeDocument/2006/relationships/slide" Target="slides/slide23.xml"/><Relationship Id="rId15"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7c852a931b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7c852a931b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7c852a931b_0_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7c852a931b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7c852a931b_0_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7c852a931b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7c852a931b_0_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7c852a931b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7c852a931b_0_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7c852a931b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7c852a931b_0_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7c852a931b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7c852a931b_0_1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7c852a931b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7c852a931b_0_1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7c852a931b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7c852a931b_0_1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7c852a931b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7c852a931b_0_1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7c852a931b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7c852a931b_0_1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7c852a931b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7c852a931b_0_1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7c852a931b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7c852a931b_0_1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7c852a931b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7c852a931b_0_1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7c852a931b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7c852a931b_0_1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7c852a931b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7c852a931b_0_1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7c852a931b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7c852a931b_0_1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7c852a931b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7c852a931b_0_1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7c852a931b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7c852a931b_0_1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7c852a931b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7c852a931b_0_1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7c852a931b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7c852a931b_0_2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7c852a931b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7c852a931b_0_2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7c852a931b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g37c852a931b_0_11"/>
          <p:cNvSpPr txBox="1"/>
          <p:nvPr>
            <p:ph type="ctrTitle"/>
          </p:nvPr>
        </p:nvSpPr>
        <p:spPr>
          <a:xfrm>
            <a:off x="415611" y="992767"/>
            <a:ext cx="11360700" cy="27369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p:txBody>
      </p:sp>
      <p:sp>
        <p:nvSpPr>
          <p:cNvPr id="11" name="Google Shape;11;g37c852a931b_0_11"/>
          <p:cNvSpPr txBox="1"/>
          <p:nvPr>
            <p:ph idx="1" type="subTitle"/>
          </p:nvPr>
        </p:nvSpPr>
        <p:spPr>
          <a:xfrm>
            <a:off x="415600" y="3778833"/>
            <a:ext cx="11360700" cy="10569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2" name="Google Shape;12;g37c852a931b_0_11"/>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g37c852a931b_0_15"/>
          <p:cNvSpPr txBox="1"/>
          <p:nvPr>
            <p:ph type="title"/>
          </p:nvPr>
        </p:nvSpPr>
        <p:spPr>
          <a:xfrm>
            <a:off x="415600" y="2867800"/>
            <a:ext cx="11360700" cy="1122300"/>
          </a:xfrm>
          <a:prstGeom prst="rect">
            <a:avLst/>
          </a:prstGeom>
        </p:spPr>
        <p:txBody>
          <a:bodyPr anchorCtr="0" anchor="ctr" bIns="121900" lIns="121900" spcFirstLastPara="1" rIns="121900" wrap="square" tIns="12190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g37c852a931b_0_1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g37c852a931b_0_18"/>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8" name="Google Shape;18;g37c852a931b_0_18"/>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19" name="Google Shape;19;g37c852a931b_0_1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g37c852a931b_0_22"/>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2" name="Google Shape;22;g37c852a931b_0_22"/>
          <p:cNvSpPr txBox="1"/>
          <p:nvPr>
            <p:ph idx="1" type="body"/>
          </p:nvPr>
        </p:nvSpPr>
        <p:spPr>
          <a:xfrm>
            <a:off x="4156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3" name="Google Shape;23;g37c852a931b_0_22"/>
          <p:cNvSpPr txBox="1"/>
          <p:nvPr>
            <p:ph idx="2" type="body"/>
          </p:nvPr>
        </p:nvSpPr>
        <p:spPr>
          <a:xfrm>
            <a:off x="64432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4" name="Google Shape;24;g37c852a931b_0_2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g37c852a931b_0_27"/>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7" name="Google Shape;27;g37c852a931b_0_2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g37c852a931b_0_30"/>
          <p:cNvSpPr txBox="1"/>
          <p:nvPr>
            <p:ph type="title"/>
          </p:nvPr>
        </p:nvSpPr>
        <p:spPr>
          <a:xfrm>
            <a:off x="415600" y="740800"/>
            <a:ext cx="3744000" cy="1007700"/>
          </a:xfrm>
          <a:prstGeom prst="rect">
            <a:avLst/>
          </a:prstGeom>
        </p:spPr>
        <p:txBody>
          <a:bodyPr anchorCtr="0" anchor="b"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30" name="Google Shape;30;g37c852a931b_0_30"/>
          <p:cNvSpPr txBox="1"/>
          <p:nvPr>
            <p:ph idx="1" type="body"/>
          </p:nvPr>
        </p:nvSpPr>
        <p:spPr>
          <a:xfrm>
            <a:off x="415600" y="1852800"/>
            <a:ext cx="3744000" cy="42393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1" name="Google Shape;31;g37c852a931b_0_30"/>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g37c852a931b_0_34"/>
          <p:cNvSpPr txBox="1"/>
          <p:nvPr>
            <p:ph type="title"/>
          </p:nvPr>
        </p:nvSpPr>
        <p:spPr>
          <a:xfrm>
            <a:off x="653667" y="600200"/>
            <a:ext cx="8490300" cy="5454300"/>
          </a:xfrm>
          <a:prstGeom prst="rect">
            <a:avLst/>
          </a:prstGeom>
        </p:spPr>
        <p:txBody>
          <a:bodyPr anchorCtr="0" anchor="ctr" bIns="121900" lIns="121900" spcFirstLastPara="1" rIns="121900" wrap="square" tIns="12190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
        <p:nvSpPr>
          <p:cNvPr id="34" name="Google Shape;34;g37c852a931b_0_3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g37c852a931b_0_37"/>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 name="Google Shape;37;g37c852a931b_0_37"/>
          <p:cNvSpPr txBox="1"/>
          <p:nvPr>
            <p:ph type="title"/>
          </p:nvPr>
        </p:nvSpPr>
        <p:spPr>
          <a:xfrm>
            <a:off x="354000" y="1644233"/>
            <a:ext cx="5393700" cy="19764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38" name="Google Shape;38;g37c852a931b_0_37"/>
          <p:cNvSpPr txBox="1"/>
          <p:nvPr>
            <p:ph idx="1" type="subTitle"/>
          </p:nvPr>
        </p:nvSpPr>
        <p:spPr>
          <a:xfrm>
            <a:off x="354000" y="3737433"/>
            <a:ext cx="5393700" cy="16467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9" name="Google Shape;39;g37c852a931b_0_37"/>
          <p:cNvSpPr txBox="1"/>
          <p:nvPr>
            <p:ph idx="2" type="body"/>
          </p:nvPr>
        </p:nvSpPr>
        <p:spPr>
          <a:xfrm>
            <a:off x="6586000" y="965433"/>
            <a:ext cx="5115900" cy="4926900"/>
          </a:xfrm>
          <a:prstGeom prst="rect">
            <a:avLst/>
          </a:prstGeom>
        </p:spPr>
        <p:txBody>
          <a:bodyPr anchorCtr="0" anchor="ctr"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40" name="Google Shape;40;g37c852a931b_0_3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g37c852a931b_0_43"/>
          <p:cNvSpPr txBox="1"/>
          <p:nvPr>
            <p:ph idx="1" type="body"/>
          </p:nvPr>
        </p:nvSpPr>
        <p:spPr>
          <a:xfrm>
            <a:off x="415600" y="5640767"/>
            <a:ext cx="7998300" cy="8067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2400"/>
              <a:buNone/>
              <a:defRPr/>
            </a:lvl1pPr>
          </a:lstStyle>
          <a:p/>
        </p:txBody>
      </p:sp>
      <p:sp>
        <p:nvSpPr>
          <p:cNvPr id="43" name="Google Shape;43;g37c852a931b_0_43"/>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g37c852a931b_0_46"/>
          <p:cNvSpPr txBox="1"/>
          <p:nvPr>
            <p:ph hasCustomPrompt="1" type="title"/>
          </p:nvPr>
        </p:nvSpPr>
        <p:spPr>
          <a:xfrm>
            <a:off x="415600" y="1474833"/>
            <a:ext cx="11360700" cy="26181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g37c852a931b_0_46"/>
          <p:cNvSpPr txBox="1"/>
          <p:nvPr>
            <p:ph idx="1" type="body"/>
          </p:nvPr>
        </p:nvSpPr>
        <p:spPr>
          <a:xfrm>
            <a:off x="415600" y="4202967"/>
            <a:ext cx="11360700" cy="1734300"/>
          </a:xfrm>
          <a:prstGeom prst="rect">
            <a:avLst/>
          </a:prstGeom>
        </p:spPr>
        <p:txBody>
          <a:bodyPr anchorCtr="0" anchor="t" bIns="121900" lIns="121900" spcFirstLastPara="1" rIns="121900" wrap="square" tIns="121900">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47" name="Google Shape;47;g37c852a931b_0_46"/>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g37c852a931b_0_50"/>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g37c852a931b_0_52"/>
          <p:cNvSpPr txBox="1"/>
          <p:nvPr>
            <p:ph type="title"/>
          </p:nvPr>
        </p:nvSpPr>
        <p:spPr>
          <a:xfrm>
            <a:off x="1024128" y="585216"/>
            <a:ext cx="9720000" cy="1499700"/>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52" name="Google Shape;52;g37c852a931b_0_52"/>
          <p:cNvSpPr txBox="1"/>
          <p:nvPr>
            <p:ph idx="1" type="body"/>
          </p:nvPr>
        </p:nvSpPr>
        <p:spPr>
          <a:xfrm>
            <a:off x="1024128" y="2286000"/>
            <a:ext cx="9720000" cy="402330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3" name="Google Shape;53;g37c852a931b_0_52"/>
          <p:cNvSpPr txBox="1"/>
          <p:nvPr>
            <p:ph idx="10" type="dt"/>
          </p:nvPr>
        </p:nvSpPr>
        <p:spPr>
          <a:xfrm>
            <a:off x="1024129" y="6470704"/>
            <a:ext cx="2154000" cy="274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g37c852a931b_0_52"/>
          <p:cNvSpPr txBox="1"/>
          <p:nvPr>
            <p:ph idx="11" type="ftr"/>
          </p:nvPr>
        </p:nvSpPr>
        <p:spPr>
          <a:xfrm>
            <a:off x="4842932" y="6470704"/>
            <a:ext cx="5901600" cy="2742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g37c852a931b_0_52"/>
          <p:cNvSpPr txBox="1"/>
          <p:nvPr>
            <p:ph idx="12" type="sldNum"/>
          </p:nvPr>
        </p:nvSpPr>
        <p:spPr>
          <a:xfrm>
            <a:off x="10837333" y="6470704"/>
            <a:ext cx="973800" cy="274200"/>
          </a:xfrm>
          <a:prstGeom prst="rect">
            <a:avLst/>
          </a:prstGeom>
          <a:noFill/>
          <a:ln>
            <a:noFill/>
          </a:ln>
        </p:spPr>
        <p:txBody>
          <a:bodyPr anchorCtr="0" anchor="ctr" bIns="45700" lIns="91425" spcFirstLastPara="1" rIns="91425" wrap="square" tIns="45700">
            <a:normAutofit lnSpcReduction="10000"/>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g37c852a931b_0_7"/>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p:txBody>
      </p:sp>
      <p:sp>
        <p:nvSpPr>
          <p:cNvPr id="7" name="Google Shape;7;g37c852a931b_0_7"/>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nSpc>
                <a:spcPct val="115000"/>
              </a:lnSpc>
              <a:spcBef>
                <a:spcPts val="0"/>
              </a:spcBef>
              <a:spcAft>
                <a:spcPts val="0"/>
              </a:spcAft>
              <a:buClr>
                <a:schemeClr val="dk2"/>
              </a:buClr>
              <a:buSzPts val="2400"/>
              <a:buChar char="●"/>
              <a:defRPr sz="2400">
                <a:solidFill>
                  <a:schemeClr val="dk2"/>
                </a:solidFill>
              </a:defRPr>
            </a:lvl1pPr>
            <a:lvl2pPr indent="-349250" lvl="1" marL="914400">
              <a:lnSpc>
                <a:spcPct val="115000"/>
              </a:lnSpc>
              <a:spcBef>
                <a:spcPts val="0"/>
              </a:spcBef>
              <a:spcAft>
                <a:spcPts val="0"/>
              </a:spcAft>
              <a:buClr>
                <a:schemeClr val="dk2"/>
              </a:buClr>
              <a:buSzPts val="1900"/>
              <a:buChar char="○"/>
              <a:defRPr sz="1900">
                <a:solidFill>
                  <a:schemeClr val="dk2"/>
                </a:solidFill>
              </a:defRPr>
            </a:lvl2pPr>
            <a:lvl3pPr indent="-349250" lvl="2" marL="1371600">
              <a:lnSpc>
                <a:spcPct val="115000"/>
              </a:lnSpc>
              <a:spcBef>
                <a:spcPts val="0"/>
              </a:spcBef>
              <a:spcAft>
                <a:spcPts val="0"/>
              </a:spcAft>
              <a:buClr>
                <a:schemeClr val="dk2"/>
              </a:buClr>
              <a:buSzPts val="1900"/>
              <a:buChar char="■"/>
              <a:defRPr sz="1900">
                <a:solidFill>
                  <a:schemeClr val="dk2"/>
                </a:solidFill>
              </a:defRPr>
            </a:lvl3pPr>
            <a:lvl4pPr indent="-349250" lvl="3" marL="1828800">
              <a:lnSpc>
                <a:spcPct val="115000"/>
              </a:lnSpc>
              <a:spcBef>
                <a:spcPts val="0"/>
              </a:spcBef>
              <a:spcAft>
                <a:spcPts val="0"/>
              </a:spcAft>
              <a:buClr>
                <a:schemeClr val="dk2"/>
              </a:buClr>
              <a:buSzPts val="1900"/>
              <a:buChar char="●"/>
              <a:defRPr sz="1900">
                <a:solidFill>
                  <a:schemeClr val="dk2"/>
                </a:solidFill>
              </a:defRPr>
            </a:lvl4pPr>
            <a:lvl5pPr indent="-349250" lvl="4" marL="2286000">
              <a:lnSpc>
                <a:spcPct val="115000"/>
              </a:lnSpc>
              <a:spcBef>
                <a:spcPts val="0"/>
              </a:spcBef>
              <a:spcAft>
                <a:spcPts val="0"/>
              </a:spcAft>
              <a:buClr>
                <a:schemeClr val="dk2"/>
              </a:buClr>
              <a:buSzPts val="1900"/>
              <a:buChar char="○"/>
              <a:defRPr sz="1900">
                <a:solidFill>
                  <a:schemeClr val="dk2"/>
                </a:solidFill>
              </a:defRPr>
            </a:lvl5pPr>
            <a:lvl6pPr indent="-349250" lvl="5" marL="2743200">
              <a:lnSpc>
                <a:spcPct val="115000"/>
              </a:lnSpc>
              <a:spcBef>
                <a:spcPts val="0"/>
              </a:spcBef>
              <a:spcAft>
                <a:spcPts val="0"/>
              </a:spcAft>
              <a:buClr>
                <a:schemeClr val="dk2"/>
              </a:buClr>
              <a:buSzPts val="1900"/>
              <a:buChar char="■"/>
              <a:defRPr sz="1900">
                <a:solidFill>
                  <a:schemeClr val="dk2"/>
                </a:solidFill>
              </a:defRPr>
            </a:lvl6pPr>
            <a:lvl7pPr indent="-349250" lvl="6" marL="3200400">
              <a:lnSpc>
                <a:spcPct val="115000"/>
              </a:lnSpc>
              <a:spcBef>
                <a:spcPts val="0"/>
              </a:spcBef>
              <a:spcAft>
                <a:spcPts val="0"/>
              </a:spcAft>
              <a:buClr>
                <a:schemeClr val="dk2"/>
              </a:buClr>
              <a:buSzPts val="1900"/>
              <a:buChar char="●"/>
              <a:defRPr sz="1900">
                <a:solidFill>
                  <a:schemeClr val="dk2"/>
                </a:solidFill>
              </a:defRPr>
            </a:lvl7pPr>
            <a:lvl8pPr indent="-349250" lvl="7" marL="3657600">
              <a:lnSpc>
                <a:spcPct val="115000"/>
              </a:lnSpc>
              <a:spcBef>
                <a:spcPts val="0"/>
              </a:spcBef>
              <a:spcAft>
                <a:spcPts val="0"/>
              </a:spcAft>
              <a:buClr>
                <a:schemeClr val="dk2"/>
              </a:buClr>
              <a:buSzPts val="1900"/>
              <a:buChar char="○"/>
              <a:defRPr sz="1900">
                <a:solidFill>
                  <a:schemeClr val="dk2"/>
                </a:solidFill>
              </a:defRPr>
            </a:lvl8pPr>
            <a:lvl9pPr indent="-349250" lvl="8" marL="4114800">
              <a:lnSpc>
                <a:spcPct val="115000"/>
              </a:lnSpc>
              <a:spcBef>
                <a:spcPts val="0"/>
              </a:spcBef>
              <a:spcAft>
                <a:spcPts val="0"/>
              </a:spcAft>
              <a:buClr>
                <a:schemeClr val="dk2"/>
              </a:buClr>
              <a:buSzPts val="1900"/>
              <a:buChar char="■"/>
              <a:defRPr sz="1900">
                <a:solidFill>
                  <a:schemeClr val="dk2"/>
                </a:solidFill>
              </a:defRPr>
            </a:lvl9pPr>
          </a:lstStyle>
          <a:p/>
        </p:txBody>
      </p:sp>
      <p:sp>
        <p:nvSpPr>
          <p:cNvPr id="8" name="Google Shape;8;g37c852a931b_0_7"/>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9.png"/><Relationship Id="rId4" Type="http://schemas.openxmlformats.org/officeDocument/2006/relationships/image" Target="../media/image1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 Id="rId3"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ctr">
              <a:lnSpc>
                <a:spcPct val="80000"/>
              </a:lnSpc>
              <a:spcBef>
                <a:spcPts val="0"/>
              </a:spcBef>
              <a:spcAft>
                <a:spcPts val="0"/>
              </a:spcAft>
              <a:buClr>
                <a:schemeClr val="accent1"/>
              </a:buClr>
              <a:buSzPts val="3600"/>
              <a:buFont typeface="Twentieth Century"/>
              <a:buNone/>
            </a:pPr>
            <a:r>
              <a:rPr b="1" lang="en-US" sz="3600">
                <a:solidFill>
                  <a:schemeClr val="accent1"/>
                </a:solidFill>
              </a:rPr>
              <a:t>COURSE TITLE: ENTREPRENEURSHIP AND Technology Commercialization  </a:t>
            </a:r>
            <a:endParaRPr sz="3600">
              <a:solidFill>
                <a:schemeClr val="accent1"/>
              </a:solidFill>
            </a:endParaRPr>
          </a:p>
        </p:txBody>
      </p:sp>
      <p:sp>
        <p:nvSpPr>
          <p:cNvPr id="61" name="Google Shape;61;p1"/>
          <p:cNvSpPr txBox="1"/>
          <p:nvPr>
            <p:ph idx="1" type="body"/>
          </p:nvPr>
        </p:nvSpPr>
        <p:spPr>
          <a:xfrm>
            <a:off x="1024128" y="2286000"/>
            <a:ext cx="9720073" cy="4023360"/>
          </a:xfrm>
          <a:prstGeom prst="rect">
            <a:avLst/>
          </a:prstGeom>
          <a:solidFill>
            <a:schemeClr val="lt1"/>
          </a:solidFill>
          <a:ln>
            <a:noFill/>
          </a:ln>
        </p:spPr>
        <p:txBody>
          <a:bodyPr anchorCtr="0" anchor="t" bIns="45700" lIns="45700" spcFirstLastPara="1" rIns="45700" wrap="square" tIns="45700">
            <a:normAutofit/>
          </a:bodyPr>
          <a:lstStyle/>
          <a:p>
            <a:pPr indent="0" lvl="0" marL="0" rtl="0" algn="ctr">
              <a:lnSpc>
                <a:spcPct val="90000"/>
              </a:lnSpc>
              <a:spcBef>
                <a:spcPts val="0"/>
              </a:spcBef>
              <a:spcAft>
                <a:spcPts val="0"/>
              </a:spcAft>
              <a:buSzPts val="2200"/>
              <a:buNone/>
            </a:pPr>
            <a:br>
              <a:rPr b="1" lang="en-US"/>
            </a:br>
            <a:r>
              <a:rPr b="1" lang="en-US"/>
              <a:t>Course Code: ES391</a:t>
            </a:r>
            <a:endParaRPr b="1"/>
          </a:p>
          <a:p>
            <a:pPr indent="0" lvl="0" marL="0" rtl="0" algn="ctr">
              <a:lnSpc>
                <a:spcPct val="90000"/>
              </a:lnSpc>
              <a:spcBef>
                <a:spcPts val="1400"/>
              </a:spcBef>
              <a:spcAft>
                <a:spcPts val="0"/>
              </a:spcAft>
              <a:buSzPts val="2200"/>
              <a:buNone/>
            </a:pPr>
            <a:br>
              <a:rPr b="1" lang="en-US"/>
            </a:br>
            <a:r>
              <a:rPr b="1" lang="en-US"/>
              <a:t>Course Instructor: Dr. Fahd S. Khan</a:t>
            </a:r>
            <a:br>
              <a:rPr b="1" lang="en-US"/>
            </a:br>
            <a:endParaRPr/>
          </a:p>
          <a:p>
            <a:pPr indent="0" lvl="0" marL="0" rtl="0" algn="ctr">
              <a:lnSpc>
                <a:spcPct val="90000"/>
              </a:lnSpc>
              <a:spcBef>
                <a:spcPts val="1400"/>
              </a:spcBef>
              <a:spcAft>
                <a:spcPts val="0"/>
              </a:spcAft>
              <a:buSzPts val="2200"/>
              <a:buNone/>
            </a:pPr>
            <a:r>
              <a:rPr b="1" lang="en-US"/>
              <a:t>Ghulam Ishaq Khan Institute Of Engineering Sciences and Technology</a:t>
            </a:r>
            <a:endParaRPr/>
          </a:p>
        </p:txBody>
      </p:sp>
      <p:pic>
        <p:nvPicPr>
          <p:cNvPr id="62" name="Google Shape;62;p1"/>
          <p:cNvPicPr preferRelativeResize="0"/>
          <p:nvPr/>
        </p:nvPicPr>
        <p:blipFill rotWithShape="1">
          <a:blip r:embed="rId3">
            <a:alphaModFix/>
          </a:blip>
          <a:srcRect b="0" l="0" r="0" t="0"/>
          <a:stretch/>
        </p:blipFill>
        <p:spPr>
          <a:xfrm>
            <a:off x="0" y="902"/>
            <a:ext cx="1328738" cy="116862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
                                        </p:tgtEl>
                                        <p:attrNameLst>
                                          <p:attrName>style.visibility</p:attrName>
                                        </p:attrNameLst>
                                      </p:cBhvr>
                                      <p:to>
                                        <p:strVal val="visible"/>
                                      </p:to>
                                    </p:set>
                                    <p:animEffect filter="fade" transition="in">
                                      <p:cBhvr>
                                        <p:cTn dur="1000"/>
                                        <p:tgtEl>
                                          <p:spTgt spid="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
                                            <p:txEl>
                                              <p:pRg end="0" st="0"/>
                                            </p:txEl>
                                          </p:spTgt>
                                        </p:tgtEl>
                                        <p:attrNameLst>
                                          <p:attrName>style.visibility</p:attrName>
                                        </p:attrNameLst>
                                      </p:cBhvr>
                                      <p:to>
                                        <p:strVal val="visible"/>
                                      </p:to>
                                    </p:set>
                                    <p:animEffect filter="fade" transition="in">
                                      <p:cBhvr>
                                        <p:cTn dur="1000"/>
                                        <p:tgtEl>
                                          <p:spTgt spid="6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
                                            <p:txEl>
                                              <p:pRg end="1" st="1"/>
                                            </p:txEl>
                                          </p:spTgt>
                                        </p:tgtEl>
                                        <p:attrNameLst>
                                          <p:attrName>style.visibility</p:attrName>
                                        </p:attrNameLst>
                                      </p:cBhvr>
                                      <p:to>
                                        <p:strVal val="visible"/>
                                      </p:to>
                                    </p:set>
                                    <p:animEffect filter="fade" transition="in">
                                      <p:cBhvr>
                                        <p:cTn dur="1000"/>
                                        <p:tgtEl>
                                          <p:spTgt spid="6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
                                            <p:txEl>
                                              <p:pRg end="2" st="2"/>
                                            </p:txEl>
                                          </p:spTgt>
                                        </p:tgtEl>
                                        <p:attrNameLst>
                                          <p:attrName>style.visibility</p:attrName>
                                        </p:attrNameLst>
                                      </p:cBhvr>
                                      <p:to>
                                        <p:strVal val="visible"/>
                                      </p:to>
                                    </p:set>
                                    <p:animEffect filter="fade" transition="in">
                                      <p:cBhvr>
                                        <p:cTn dur="1000"/>
                                        <p:tgtEl>
                                          <p:spTgt spid="61">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66" name="Shape 66"/>
        <p:cNvGrpSpPr/>
        <p:nvPr/>
      </p:nvGrpSpPr>
      <p:grpSpPr>
        <a:xfrm>
          <a:off x="0" y="0"/>
          <a:ext cx="0" cy="0"/>
          <a:chOff x="0" y="0"/>
          <a:chExt cx="0" cy="0"/>
        </a:xfrm>
      </p:grpSpPr>
      <p:sp>
        <p:nvSpPr>
          <p:cNvPr id="67" name="Google Shape;67;p2"/>
          <p:cNvSpPr txBox="1"/>
          <p:nvPr>
            <p:ph type="ctrTitle"/>
          </p:nvPr>
        </p:nvSpPr>
        <p:spPr>
          <a:xfrm>
            <a:off x="1428465" y="276202"/>
            <a:ext cx="9144000" cy="1443416"/>
          </a:xfrm>
          <a:prstGeom prst="rect">
            <a:avLst/>
          </a:prstGeom>
          <a:noFill/>
          <a:ln>
            <a:noFill/>
          </a:ln>
        </p:spPr>
        <p:txBody>
          <a:bodyPr anchorCtr="0" anchor="ctr" bIns="45700" lIns="91425" spcFirstLastPara="1" rIns="91425" wrap="square" tIns="45700">
            <a:normAutofit/>
          </a:bodyPr>
          <a:lstStyle/>
          <a:p>
            <a:pPr indent="0" lvl="0" marL="0" rtl="0" algn="ctr">
              <a:lnSpc>
                <a:spcPct val="80000"/>
              </a:lnSpc>
              <a:spcBef>
                <a:spcPts val="0"/>
              </a:spcBef>
              <a:spcAft>
                <a:spcPts val="0"/>
              </a:spcAft>
              <a:buClr>
                <a:schemeClr val="dk1"/>
              </a:buClr>
              <a:buSzPts val="3600"/>
              <a:buFont typeface="Calibri"/>
              <a:buNone/>
            </a:pPr>
            <a:br>
              <a:rPr b="1" lang="en-US" sz="3600">
                <a:solidFill>
                  <a:schemeClr val="dk1"/>
                </a:solidFill>
                <a:latin typeface="Calibri"/>
                <a:ea typeface="Calibri"/>
                <a:cs typeface="Calibri"/>
                <a:sym typeface="Calibri"/>
              </a:rPr>
            </a:br>
            <a:r>
              <a:rPr b="1" lang="en-US" sz="3600">
                <a:solidFill>
                  <a:schemeClr val="accent1"/>
                </a:solidFill>
                <a:latin typeface="Calibri"/>
                <a:ea typeface="Calibri"/>
                <a:cs typeface="Calibri"/>
                <a:sym typeface="Calibri"/>
              </a:rPr>
              <a:t>INTRODUCTION TO ENTREPRENEURSHIP </a:t>
            </a:r>
            <a:endParaRPr sz="3600">
              <a:solidFill>
                <a:schemeClr val="accent1"/>
              </a:solidFill>
              <a:latin typeface="Calibri"/>
              <a:ea typeface="Calibri"/>
              <a:cs typeface="Calibri"/>
              <a:sym typeface="Calibri"/>
            </a:endParaRPr>
          </a:p>
        </p:txBody>
      </p:sp>
      <p:sp>
        <p:nvSpPr>
          <p:cNvPr id="68" name="Google Shape;68;p2"/>
          <p:cNvSpPr txBox="1"/>
          <p:nvPr>
            <p:ph idx="1" type="subTitle"/>
          </p:nvPr>
        </p:nvSpPr>
        <p:spPr>
          <a:xfrm>
            <a:off x="832650" y="1928798"/>
            <a:ext cx="9835500" cy="4652400"/>
          </a:xfrm>
          <a:prstGeom prst="rect">
            <a:avLst/>
          </a:prstGeom>
          <a:noFill/>
          <a:ln cap="flat" cmpd="sng" w="9525">
            <a:solidFill>
              <a:srgbClr val="FF0000"/>
            </a:solidFill>
            <a:prstDash val="solid"/>
            <a:round/>
            <a:headEnd len="sm" w="sm" type="none"/>
            <a:tailEnd len="sm" w="sm" type="none"/>
          </a:ln>
        </p:spPr>
        <p:txBody>
          <a:bodyPr anchorCtr="0" anchor="ctr" bIns="45700" lIns="91425" spcFirstLastPara="1" rIns="91425" wrap="square" tIns="45700">
            <a:normAutofit lnSpcReduction="20000"/>
          </a:bodyPr>
          <a:lstStyle/>
          <a:p>
            <a:pPr indent="0" lvl="0" marL="0" rtl="0" algn="l">
              <a:lnSpc>
                <a:spcPct val="100000"/>
              </a:lnSpc>
              <a:spcBef>
                <a:spcPts val="0"/>
              </a:spcBef>
              <a:spcAft>
                <a:spcPts val="0"/>
              </a:spcAft>
              <a:buSzPts val="2800"/>
              <a:buNone/>
            </a:pPr>
            <a:r>
              <a:rPr b="1" lang="en-US" sz="2800">
                <a:solidFill>
                  <a:srgbClr val="7030A0"/>
                </a:solidFill>
              </a:rPr>
              <a:t>The word entrepreneur derives from the French words entre, meaning “between,” and prendre, meaning “to take.” </a:t>
            </a:r>
            <a:endParaRPr b="1" sz="2800">
              <a:solidFill>
                <a:srgbClr val="7030A0"/>
              </a:solidFill>
            </a:endParaRPr>
          </a:p>
          <a:p>
            <a:pPr indent="0" lvl="0" marL="0" rtl="0" algn="l">
              <a:lnSpc>
                <a:spcPct val="100000"/>
              </a:lnSpc>
              <a:spcBef>
                <a:spcPts val="0"/>
              </a:spcBef>
              <a:spcAft>
                <a:spcPts val="0"/>
              </a:spcAft>
              <a:buSzPts val="2800"/>
              <a:buNone/>
            </a:pPr>
            <a:r>
              <a:rPr b="1" lang="en-US" sz="2800">
                <a:solidFill>
                  <a:srgbClr val="7030A0"/>
                </a:solidFill>
              </a:rPr>
              <a:t>The word was originally used to describe people who “take on the risk” between buyers and sellers or who “undertake” a task such as starting a new venture.</a:t>
            </a:r>
            <a:endParaRPr b="1" sz="2800">
              <a:solidFill>
                <a:srgbClr val="7030A0"/>
              </a:solidFill>
            </a:endParaRPr>
          </a:p>
          <a:p>
            <a:pPr indent="0" lvl="0" marL="0" rtl="0" algn="l">
              <a:lnSpc>
                <a:spcPct val="100000"/>
              </a:lnSpc>
              <a:spcBef>
                <a:spcPts val="0"/>
              </a:spcBef>
              <a:spcAft>
                <a:spcPts val="0"/>
              </a:spcAft>
              <a:buSzPts val="2800"/>
              <a:buNone/>
            </a:pPr>
            <a:r>
              <a:t/>
            </a:r>
            <a:endParaRPr b="1" sz="2800">
              <a:solidFill>
                <a:srgbClr val="7030A0"/>
              </a:solidFill>
            </a:endParaRPr>
          </a:p>
          <a:p>
            <a:pPr indent="0" lvl="0" marL="0" rtl="0" algn="l">
              <a:lnSpc>
                <a:spcPct val="100000"/>
              </a:lnSpc>
              <a:spcBef>
                <a:spcPts val="0"/>
              </a:spcBef>
              <a:spcAft>
                <a:spcPts val="0"/>
              </a:spcAft>
              <a:buSzPts val="2800"/>
              <a:buNone/>
            </a:pPr>
            <a:r>
              <a:rPr b="1" lang="en-US" sz="2800">
                <a:solidFill>
                  <a:srgbClr val="7030A0"/>
                </a:solidFill>
              </a:rPr>
              <a:t>Entrepreneurship </a:t>
            </a:r>
            <a:endParaRPr b="1" sz="2800">
              <a:solidFill>
                <a:srgbClr val="7030A0"/>
              </a:solidFill>
            </a:endParaRPr>
          </a:p>
          <a:p>
            <a:pPr indent="0" lvl="0" marL="0" rtl="0" algn="l">
              <a:lnSpc>
                <a:spcPct val="100000"/>
              </a:lnSpc>
              <a:spcBef>
                <a:spcPts val="0"/>
              </a:spcBef>
              <a:spcAft>
                <a:spcPts val="0"/>
              </a:spcAft>
              <a:buSzPts val="2800"/>
              <a:buNone/>
            </a:pPr>
            <a:r>
              <a:rPr b="1" lang="en-US" sz="2800">
                <a:solidFill>
                  <a:srgbClr val="7030A0"/>
                </a:solidFill>
              </a:rPr>
              <a:t>Defined as the process by which individuals pursue opportunities without regard to resources they currently control for the purpose of exploiting future goods and services.</a:t>
            </a:r>
            <a:endParaRPr b="1" sz="2800">
              <a:solidFill>
                <a:srgbClr val="7030A0"/>
              </a:solidFill>
            </a:endParaRPr>
          </a:p>
          <a:p>
            <a:pPr indent="0" lvl="0" marL="0" rtl="0" algn="l">
              <a:lnSpc>
                <a:spcPct val="100000"/>
              </a:lnSpc>
              <a:spcBef>
                <a:spcPts val="200"/>
              </a:spcBef>
              <a:spcAft>
                <a:spcPts val="0"/>
              </a:spcAft>
              <a:buSzPts val="2400"/>
              <a:buNone/>
            </a:pPr>
            <a:r>
              <a:t/>
            </a:r>
            <a:endParaRPr b="0" i="0" sz="2400" u="none" strike="noStrike"/>
          </a:p>
        </p:txBody>
      </p:sp>
      <p:pic>
        <p:nvPicPr>
          <p:cNvPr id="69" name="Google Shape;69;p2"/>
          <p:cNvPicPr preferRelativeResize="0"/>
          <p:nvPr/>
        </p:nvPicPr>
        <p:blipFill rotWithShape="1">
          <a:blip r:embed="rId3">
            <a:alphaModFix/>
          </a:blip>
          <a:srcRect b="0" l="0" r="0" t="0"/>
          <a:stretch/>
        </p:blipFill>
        <p:spPr>
          <a:xfrm>
            <a:off x="23527" y="0"/>
            <a:ext cx="1404938" cy="1155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g37c852a931b_0_2"/>
          <p:cNvSpPr txBox="1"/>
          <p:nvPr>
            <p:ph idx="1" type="body"/>
          </p:nvPr>
        </p:nvSpPr>
        <p:spPr>
          <a:xfrm>
            <a:off x="415600" y="330048"/>
            <a:ext cx="11341200" cy="5761800"/>
          </a:xfrm>
          <a:prstGeom prst="rect">
            <a:avLst/>
          </a:prstGeom>
        </p:spPr>
        <p:txBody>
          <a:bodyPr anchorCtr="0" anchor="t" bIns="121900" lIns="121900" spcFirstLastPara="1" rIns="121900" wrap="square" tIns="121900">
            <a:normAutofit/>
          </a:bodyPr>
          <a:lstStyle/>
          <a:p>
            <a:pPr indent="0" lvl="0" marL="0" rtl="0" algn="l">
              <a:spcBef>
                <a:spcPts val="0"/>
              </a:spcBef>
              <a:spcAft>
                <a:spcPts val="0"/>
              </a:spcAft>
              <a:buNone/>
            </a:pPr>
            <a:r>
              <a:rPr lang="en-US"/>
              <a:t>Typically, established firms with an entrepreneurial emphasis are proactive, innovative, and risk-taking. For example, Google is widely recognized as a firm in which entrepreneurial behaviors are clearly evident.</a:t>
            </a:r>
            <a:endParaRPr/>
          </a:p>
          <a:p>
            <a:pPr indent="0" lvl="0" marL="0" rtl="0" algn="l">
              <a:spcBef>
                <a:spcPts val="1600"/>
              </a:spcBef>
              <a:spcAft>
                <a:spcPts val="0"/>
              </a:spcAft>
              <a:buNone/>
            </a:pPr>
            <a:r>
              <a:rPr lang="en-US"/>
              <a:t>Google search engine, Gmail, Google Maps, Google Earth, or Google Home. Google is currently working on a bevy of far-reaching innovations, such as a virtual reality platform for Android and self-driving cars.</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lang="en-US"/>
              <a:t>Established firms with an orientation toward acting entrepreneurially practice corporate entrepreneurship. All firms fall along a conceptual continuum that ranges from highly conservative to highly entrepreneurial. The position of a firm on this continuum is referred to as its entrepreneurial intensity.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g37c852a931b_0_61"/>
          <p:cNvSpPr txBox="1"/>
          <p:nvPr/>
        </p:nvSpPr>
        <p:spPr>
          <a:xfrm>
            <a:off x="126450" y="1062075"/>
            <a:ext cx="11939100" cy="492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200"/>
              <a:t>Be Your Own Boss </a:t>
            </a:r>
            <a:endParaRPr sz="2200"/>
          </a:p>
          <a:p>
            <a:pPr indent="0" lvl="0" marL="0" rtl="0" algn="l">
              <a:spcBef>
                <a:spcPts val="0"/>
              </a:spcBef>
              <a:spcAft>
                <a:spcPts val="0"/>
              </a:spcAft>
              <a:buNone/>
            </a:pPr>
            <a:r>
              <a:rPr lang="en-US" sz="2200"/>
              <a:t>The first of these reasons—being one’s own boss—is given most commonly. This doesn’t mean, however, that entrepreneurs are difficult to work with or that they have trouble accepting authority.</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rPr lang="en-US" sz="2200"/>
              <a:t>Pursue Own Ideas </a:t>
            </a:r>
            <a:endParaRPr sz="2200"/>
          </a:p>
          <a:p>
            <a:pPr indent="0" lvl="0" marL="0" rtl="0" algn="l">
              <a:spcBef>
                <a:spcPts val="0"/>
              </a:spcBef>
              <a:spcAft>
                <a:spcPts val="0"/>
              </a:spcAft>
              <a:buNone/>
            </a:pPr>
            <a:r>
              <a:rPr lang="en-US" sz="2200"/>
              <a:t>The second reason people start their own firms is to pursue their own ideas. Some people are naturally alert, and when they recognize ideas for new products or services, they have a desire to see those ideas realized.</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rPr lang="en-US" sz="2200"/>
              <a:t>Pursue Financial Rewards </a:t>
            </a:r>
            <a:endParaRPr sz="2200"/>
          </a:p>
          <a:p>
            <a:pPr indent="0" lvl="0" marL="0" rtl="0" algn="l">
              <a:spcBef>
                <a:spcPts val="0"/>
              </a:spcBef>
              <a:spcAft>
                <a:spcPts val="0"/>
              </a:spcAft>
              <a:buNone/>
            </a:pPr>
            <a:r>
              <a:rPr lang="en-US" sz="2200"/>
              <a:t>People start their own firms to pursue financial rewards. This motivation, however, is typically secondary to the first two and often fails to live up to its hype. The average entrepreneur does not make more money than someone with a similar amount of responsibility in a traditional job.</a:t>
            </a:r>
            <a:endParaRPr sz="2200"/>
          </a:p>
        </p:txBody>
      </p:sp>
      <p:sp>
        <p:nvSpPr>
          <p:cNvPr id="80" name="Google Shape;80;g37c852a931b_0_61"/>
          <p:cNvSpPr txBox="1"/>
          <p:nvPr/>
        </p:nvSpPr>
        <p:spPr>
          <a:xfrm>
            <a:off x="498844" y="330045"/>
            <a:ext cx="11608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2"/>
                </a:solidFill>
              </a:rPr>
              <a:t>Why become an Entrepreneur ?</a:t>
            </a:r>
            <a:endParaRPr sz="24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g37c852a931b_0_71"/>
          <p:cNvSpPr txBox="1"/>
          <p:nvPr>
            <p:ph type="title"/>
          </p:nvPr>
        </p:nvSpPr>
        <p:spPr>
          <a:xfrm>
            <a:off x="415600" y="593367"/>
            <a:ext cx="11360700" cy="7635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US"/>
              <a:t>Characteristics of an Entrepreneur</a:t>
            </a:r>
            <a:endParaRPr/>
          </a:p>
        </p:txBody>
      </p:sp>
      <p:pic>
        <p:nvPicPr>
          <p:cNvPr id="86" name="Google Shape;86;g37c852a931b_0_71"/>
          <p:cNvPicPr preferRelativeResize="0"/>
          <p:nvPr/>
        </p:nvPicPr>
        <p:blipFill rotWithShape="1">
          <a:blip r:embed="rId3">
            <a:alphaModFix/>
          </a:blip>
          <a:srcRect b="24390" l="49388" r="11535" t="25610"/>
          <a:stretch/>
        </p:blipFill>
        <p:spPr>
          <a:xfrm>
            <a:off x="1743000" y="1444500"/>
            <a:ext cx="7521413" cy="541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g37c852a931b_0_77"/>
          <p:cNvSpPr txBox="1"/>
          <p:nvPr>
            <p:ph type="title"/>
          </p:nvPr>
        </p:nvSpPr>
        <p:spPr>
          <a:xfrm>
            <a:off x="415600" y="229242"/>
            <a:ext cx="11360700" cy="7635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US"/>
              <a:t>Passion for business</a:t>
            </a:r>
            <a:endParaRPr/>
          </a:p>
        </p:txBody>
      </p:sp>
      <p:pic>
        <p:nvPicPr>
          <p:cNvPr id="92" name="Google Shape;92;g37c852a931b_0_77"/>
          <p:cNvPicPr preferRelativeResize="0"/>
          <p:nvPr/>
        </p:nvPicPr>
        <p:blipFill rotWithShape="1">
          <a:blip r:embed="rId3">
            <a:alphaModFix/>
          </a:blip>
          <a:srcRect b="21080" l="33644" r="4600" t="28111"/>
          <a:stretch/>
        </p:blipFill>
        <p:spPr>
          <a:xfrm>
            <a:off x="415599" y="1356873"/>
            <a:ext cx="11360702" cy="525732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g37c852a931b_0_84"/>
          <p:cNvSpPr txBox="1"/>
          <p:nvPr>
            <p:ph type="title"/>
          </p:nvPr>
        </p:nvSpPr>
        <p:spPr>
          <a:xfrm>
            <a:off x="415600" y="593367"/>
            <a:ext cx="11360700" cy="7635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US"/>
              <a:t>Myths about Entreprenuership </a:t>
            </a:r>
            <a:endParaRPr/>
          </a:p>
        </p:txBody>
      </p:sp>
      <p:sp>
        <p:nvSpPr>
          <p:cNvPr id="98" name="Google Shape;98;g37c852a931b_0_84"/>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p>
            <a:pPr indent="0" lvl="0" marL="0" rtl="0" algn="l">
              <a:spcBef>
                <a:spcPts val="0"/>
              </a:spcBef>
              <a:spcAft>
                <a:spcPts val="0"/>
              </a:spcAft>
              <a:buNone/>
            </a:pPr>
            <a:r>
              <a:rPr lang="en-US"/>
              <a:t>Entrepreneurs Are Born, Not Made </a:t>
            </a:r>
            <a:endParaRPr/>
          </a:p>
          <a:p>
            <a:pPr indent="0" lvl="0" marL="0" rtl="0" algn="l">
              <a:spcBef>
                <a:spcPts val="1600"/>
              </a:spcBef>
              <a:spcAft>
                <a:spcPts val="0"/>
              </a:spcAft>
              <a:buNone/>
            </a:pPr>
            <a:r>
              <a:rPr lang="en-US"/>
              <a:t>Entrepreneurs Are Gamblers</a:t>
            </a:r>
            <a:endParaRPr/>
          </a:p>
          <a:p>
            <a:pPr indent="0" lvl="0" marL="0" rtl="0" algn="l">
              <a:spcBef>
                <a:spcPts val="1600"/>
              </a:spcBef>
              <a:spcAft>
                <a:spcPts val="0"/>
              </a:spcAft>
              <a:buNone/>
            </a:pPr>
            <a:r>
              <a:rPr lang="en-US"/>
              <a:t>Entrepreneurs Are Motivated Primarily by Money</a:t>
            </a:r>
            <a:endParaRPr/>
          </a:p>
          <a:p>
            <a:pPr indent="0" lvl="0" marL="0" rtl="0" algn="l">
              <a:spcBef>
                <a:spcPts val="1600"/>
              </a:spcBef>
              <a:spcAft>
                <a:spcPts val="0"/>
              </a:spcAft>
              <a:buNone/>
            </a:pPr>
            <a:r>
              <a:rPr lang="en-US"/>
              <a:t>Entrepreneurs Should Be Young and Energetic</a:t>
            </a:r>
            <a:endParaRPr/>
          </a:p>
          <a:p>
            <a:pPr indent="0" lvl="0" marL="0" rtl="0" algn="l">
              <a:spcBef>
                <a:spcPts val="1600"/>
              </a:spcBef>
              <a:spcAft>
                <a:spcPts val="1600"/>
              </a:spcAft>
              <a:buNone/>
            </a:pPr>
            <a:r>
              <a:rPr lang="en-US"/>
              <a:t>Entrepreneurs Love the Spotlight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pic>
        <p:nvPicPr>
          <p:cNvPr id="103" name="Google Shape;103;g37c852a931b_0_94"/>
          <p:cNvPicPr preferRelativeResize="0"/>
          <p:nvPr/>
        </p:nvPicPr>
        <p:blipFill rotWithShape="1">
          <a:blip r:embed="rId3">
            <a:alphaModFix/>
          </a:blip>
          <a:srcRect b="17643" l="41525" r="23570" t="32809"/>
          <a:stretch/>
        </p:blipFill>
        <p:spPr>
          <a:xfrm>
            <a:off x="2319525" y="419675"/>
            <a:ext cx="7222176" cy="5767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37c852a931b_0_105"/>
          <p:cNvSpPr txBox="1"/>
          <p:nvPr>
            <p:ph type="title"/>
          </p:nvPr>
        </p:nvSpPr>
        <p:spPr>
          <a:xfrm>
            <a:off x="415600" y="593367"/>
            <a:ext cx="11360700" cy="7635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US"/>
              <a:t>Types of Startup firms</a:t>
            </a:r>
            <a:endParaRPr/>
          </a:p>
        </p:txBody>
      </p:sp>
      <p:pic>
        <p:nvPicPr>
          <p:cNvPr id="109" name="Google Shape;109;g37c852a931b_0_105"/>
          <p:cNvPicPr preferRelativeResize="0"/>
          <p:nvPr/>
        </p:nvPicPr>
        <p:blipFill rotWithShape="1">
          <a:blip r:embed="rId3">
            <a:alphaModFix/>
          </a:blip>
          <a:srcRect b="37432" l="35281" r="20372" t="32200"/>
          <a:stretch/>
        </p:blipFill>
        <p:spPr>
          <a:xfrm>
            <a:off x="274301" y="1634900"/>
            <a:ext cx="11502000" cy="4430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id="114" name="Google Shape;114;g37c852a931b_0_111"/>
          <p:cNvPicPr preferRelativeResize="0"/>
          <p:nvPr/>
        </p:nvPicPr>
        <p:blipFill rotWithShape="1">
          <a:blip r:embed="rId3">
            <a:alphaModFix/>
          </a:blip>
          <a:srcRect b="38706" l="45692" r="8724" t="33734"/>
          <a:stretch/>
        </p:blipFill>
        <p:spPr>
          <a:xfrm>
            <a:off x="951625" y="1608300"/>
            <a:ext cx="9803875" cy="39107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37c852a931b_0_117"/>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p>
            <a:pPr indent="0" lvl="0" marL="0" rtl="0" algn="l">
              <a:lnSpc>
                <a:spcPct val="115000"/>
              </a:lnSpc>
              <a:spcBef>
                <a:spcPts val="0"/>
              </a:spcBef>
              <a:spcAft>
                <a:spcPts val="1600"/>
              </a:spcAft>
              <a:buClr>
                <a:schemeClr val="dk1"/>
              </a:buClr>
              <a:buSzPts val="1100"/>
              <a:buFont typeface="Arial"/>
              <a:buNone/>
            </a:pPr>
            <a:r>
              <a:rPr lang="en-US" sz="2400">
                <a:solidFill>
                  <a:schemeClr val="dk2"/>
                </a:solidFill>
              </a:rPr>
              <a:t>Differences Between Opportunities and Ideas </a:t>
            </a:r>
            <a:endParaRPr/>
          </a:p>
        </p:txBody>
      </p:sp>
      <p:sp>
        <p:nvSpPr>
          <p:cNvPr id="120" name="Google Shape;120;g37c852a931b_0_117"/>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p>
            <a:pPr indent="0" lvl="0" marL="0" rtl="0" algn="l">
              <a:spcBef>
                <a:spcPts val="0"/>
              </a:spcBef>
              <a:spcAft>
                <a:spcPts val="0"/>
              </a:spcAft>
              <a:buNone/>
            </a:pPr>
            <a:r>
              <a:rPr lang="en-US"/>
              <a:t>An opportunity is a favorable set of circumstances that creates a need for a new product, service, or business. Most entrepreneurial ventures are started in one of two ways. Some ventures are externally stimulated. In this instance, an entrepreneur decides to launch a firm, searches for and recognizes an opportunity, and then starts a business, as Jeff Bezos did when he created Amazon.com. </a:t>
            </a:r>
            <a:endParaRPr/>
          </a:p>
          <a:p>
            <a:pPr indent="0" lvl="0" marL="0" rtl="0" algn="l">
              <a:spcBef>
                <a:spcPts val="1600"/>
              </a:spcBef>
              <a:spcAft>
                <a:spcPts val="1600"/>
              </a:spcAft>
              <a:buNone/>
            </a:pPr>
            <a:r>
              <a:rPr lang="en-US"/>
              <a:t>Other firms, such as Wiivv, are internally stimulated. In this instance, an entrepreneur recognizes a problem or an opportunity gap and creates a business to address the problem or fill the identified gap.</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g37c852a931b_0_128"/>
          <p:cNvPicPr preferRelativeResize="0"/>
          <p:nvPr/>
        </p:nvPicPr>
        <p:blipFill rotWithShape="1">
          <a:blip r:embed="rId3">
            <a:alphaModFix/>
          </a:blip>
          <a:srcRect b="19960" l="41786" r="24872" t="36513"/>
          <a:stretch/>
        </p:blipFill>
        <p:spPr>
          <a:xfrm>
            <a:off x="2130964" y="1001400"/>
            <a:ext cx="7350038" cy="5397700"/>
          </a:xfrm>
          <a:prstGeom prst="rect">
            <a:avLst/>
          </a:prstGeom>
          <a:noFill/>
          <a:ln>
            <a:noFill/>
          </a:ln>
        </p:spPr>
      </p:pic>
      <p:sp>
        <p:nvSpPr>
          <p:cNvPr id="126" name="Google Shape;126;g37c852a931b_0_128"/>
          <p:cNvSpPr txBox="1"/>
          <p:nvPr/>
        </p:nvSpPr>
        <p:spPr>
          <a:xfrm>
            <a:off x="394475" y="424850"/>
            <a:ext cx="5384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t>Essential Qualities of an Opportunity</a:t>
            </a:r>
            <a:endParaRPr sz="2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7c852a931b_0_123"/>
          <p:cNvSpPr txBox="1"/>
          <p:nvPr>
            <p:ph type="title"/>
          </p:nvPr>
        </p:nvSpPr>
        <p:spPr>
          <a:xfrm>
            <a:off x="415600" y="593367"/>
            <a:ext cx="11360700" cy="7635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US"/>
              <a:t>Idea…</a:t>
            </a:r>
            <a:endParaRPr/>
          </a:p>
        </p:txBody>
      </p:sp>
      <p:sp>
        <p:nvSpPr>
          <p:cNvPr id="132" name="Google Shape;132;g37c852a931b_0_123"/>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p>
            <a:pPr indent="0" lvl="0" marL="0" rtl="0" algn="l">
              <a:spcBef>
                <a:spcPts val="0"/>
              </a:spcBef>
              <a:spcAft>
                <a:spcPts val="1600"/>
              </a:spcAft>
              <a:buNone/>
            </a:pPr>
            <a:r>
              <a:rPr lang="en-US"/>
              <a:t>An idea is a thought, an impression, or a notion. An idea may or may not meet the criteria of an opportunity. This is a critical point because many entrepreneurial ventures fail not because the entrepreneurs that launched them didn’t work hard, but rather because there was no real opportunity to begin with</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37c852a931b_0_137"/>
          <p:cNvSpPr txBox="1"/>
          <p:nvPr>
            <p:ph type="title"/>
          </p:nvPr>
        </p:nvSpPr>
        <p:spPr>
          <a:xfrm>
            <a:off x="415600" y="593367"/>
            <a:ext cx="11360700" cy="7635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US"/>
              <a:t>Three ways to identify an Opportunity</a:t>
            </a:r>
            <a:endParaRPr/>
          </a:p>
        </p:txBody>
      </p:sp>
      <p:pic>
        <p:nvPicPr>
          <p:cNvPr id="138" name="Google Shape;138;g37c852a931b_0_137"/>
          <p:cNvPicPr preferRelativeResize="0"/>
          <p:nvPr/>
        </p:nvPicPr>
        <p:blipFill rotWithShape="1">
          <a:blip r:embed="rId3">
            <a:alphaModFix/>
          </a:blip>
          <a:srcRect b="46513" l="47397" r="9297" t="36672"/>
          <a:stretch/>
        </p:blipFill>
        <p:spPr>
          <a:xfrm>
            <a:off x="256100" y="2272150"/>
            <a:ext cx="11816851" cy="28220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g37c852a931b_0_143"/>
          <p:cNvPicPr preferRelativeResize="0"/>
          <p:nvPr/>
        </p:nvPicPr>
        <p:blipFill rotWithShape="1">
          <a:blip r:embed="rId3">
            <a:alphaModFix/>
          </a:blip>
          <a:srcRect b="17179" l="35791" r="21230" t="26326"/>
          <a:stretch/>
        </p:blipFill>
        <p:spPr>
          <a:xfrm>
            <a:off x="1500250" y="238137"/>
            <a:ext cx="8630990" cy="63817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g37c852a931b_0_149"/>
          <p:cNvPicPr preferRelativeResize="0"/>
          <p:nvPr/>
        </p:nvPicPr>
        <p:blipFill rotWithShape="1">
          <a:blip r:embed="rId3">
            <a:alphaModFix/>
          </a:blip>
          <a:srcRect b="8382" l="37876" r="25396" t="24012"/>
          <a:stretch/>
        </p:blipFill>
        <p:spPr>
          <a:xfrm>
            <a:off x="1348500" y="182500"/>
            <a:ext cx="9224923" cy="64930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g37c852a931b_0_154"/>
          <p:cNvPicPr preferRelativeResize="0"/>
          <p:nvPr/>
        </p:nvPicPr>
        <p:blipFill rotWithShape="1">
          <a:blip r:embed="rId3">
            <a:alphaModFix/>
          </a:blip>
          <a:srcRect b="13472" l="38919" r="9769" t="27253"/>
          <a:stretch/>
        </p:blipFill>
        <p:spPr>
          <a:xfrm>
            <a:off x="1024450" y="133787"/>
            <a:ext cx="10143091" cy="65904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id="158" name="Google Shape;158;g37c852a931b_0_159"/>
          <p:cNvPicPr preferRelativeResize="0"/>
          <p:nvPr/>
        </p:nvPicPr>
        <p:blipFill rotWithShape="1">
          <a:blip r:embed="rId3">
            <a:alphaModFix/>
          </a:blip>
          <a:srcRect b="28293" l="36832" r="11335" t="30031"/>
          <a:stretch/>
        </p:blipFill>
        <p:spPr>
          <a:xfrm>
            <a:off x="382325" y="469551"/>
            <a:ext cx="11809675" cy="551395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7c852a931b_0_164"/>
          <p:cNvSpPr txBox="1"/>
          <p:nvPr>
            <p:ph type="title"/>
          </p:nvPr>
        </p:nvSpPr>
        <p:spPr>
          <a:xfrm>
            <a:off x="415600" y="593367"/>
            <a:ext cx="11360700" cy="7635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US"/>
              <a:t>Personal Characteristics of the Entrepreneur</a:t>
            </a:r>
            <a:endParaRPr/>
          </a:p>
        </p:txBody>
      </p:sp>
      <p:sp>
        <p:nvSpPr>
          <p:cNvPr id="164" name="Google Shape;164;g37c852a931b_0_164"/>
          <p:cNvSpPr txBox="1"/>
          <p:nvPr>
            <p:ph idx="1" type="body"/>
          </p:nvPr>
        </p:nvSpPr>
        <p:spPr>
          <a:xfrm>
            <a:off x="415600" y="1536624"/>
            <a:ext cx="11360700" cy="5205600"/>
          </a:xfrm>
          <a:prstGeom prst="rect">
            <a:avLst/>
          </a:prstGeom>
        </p:spPr>
        <p:txBody>
          <a:bodyPr anchorCtr="0" anchor="t" bIns="121900" lIns="121900" spcFirstLastPara="1" rIns="121900" wrap="square" tIns="121900">
            <a:normAutofit/>
          </a:bodyPr>
          <a:lstStyle/>
          <a:p>
            <a:pPr indent="0" lvl="0" marL="0" rtl="0" algn="l">
              <a:spcBef>
                <a:spcPts val="0"/>
              </a:spcBef>
              <a:spcAft>
                <a:spcPts val="0"/>
              </a:spcAft>
              <a:buNone/>
            </a:pPr>
            <a:r>
              <a:rPr lang="en-US" sz="1800">
                <a:solidFill>
                  <a:schemeClr val="dk1"/>
                </a:solidFill>
              </a:rPr>
              <a:t>Researchers have identified several characteristics that tend to make some people better at recognizing opportunities than others. The term opportunity recognition refers to the process of perceiving the possibility of a profitable new business or a new product or service.</a:t>
            </a:r>
            <a:endParaRPr sz="1800">
              <a:solidFill>
                <a:schemeClr val="dk1"/>
              </a:solidFill>
            </a:endParaRPr>
          </a:p>
          <a:p>
            <a:pPr indent="0" lvl="0" marL="0" rtl="0" algn="l">
              <a:spcBef>
                <a:spcPts val="1600"/>
              </a:spcBef>
              <a:spcAft>
                <a:spcPts val="0"/>
              </a:spcAft>
              <a:buNone/>
            </a:pPr>
            <a:r>
              <a:t/>
            </a:r>
            <a:endParaRPr sz="1800">
              <a:solidFill>
                <a:schemeClr val="dk1"/>
              </a:solidFill>
            </a:endParaRPr>
          </a:p>
          <a:p>
            <a:pPr indent="-342900" lvl="0" marL="457200" rtl="0" algn="l">
              <a:spcBef>
                <a:spcPts val="1600"/>
              </a:spcBef>
              <a:spcAft>
                <a:spcPts val="0"/>
              </a:spcAft>
              <a:buClr>
                <a:schemeClr val="dk1"/>
              </a:buClr>
              <a:buSzPts val="1800"/>
              <a:buChar char="●"/>
            </a:pPr>
            <a:r>
              <a:rPr lang="en-US" sz="1800">
                <a:solidFill>
                  <a:schemeClr val="dk1"/>
                </a:solidFill>
              </a:rPr>
              <a:t>Prior Industry Experience</a:t>
            </a:r>
            <a:endParaRPr sz="1800">
              <a:solidFill>
                <a:schemeClr val="dk1"/>
              </a:solidFill>
            </a:endParaRPr>
          </a:p>
          <a:p>
            <a:pPr indent="-342900" lvl="0" marL="457200" rtl="0" algn="l">
              <a:spcBef>
                <a:spcPts val="0"/>
              </a:spcBef>
              <a:spcAft>
                <a:spcPts val="0"/>
              </a:spcAft>
              <a:buClr>
                <a:schemeClr val="dk1"/>
              </a:buClr>
              <a:buSzPts val="1800"/>
              <a:buChar char="●"/>
            </a:pPr>
            <a:r>
              <a:rPr lang="en-US" sz="1800">
                <a:solidFill>
                  <a:schemeClr val="dk1"/>
                </a:solidFill>
              </a:rPr>
              <a:t>Cognitive Factors</a:t>
            </a:r>
            <a:endParaRPr sz="1800">
              <a:solidFill>
                <a:schemeClr val="dk1"/>
              </a:solidFill>
            </a:endParaRPr>
          </a:p>
          <a:p>
            <a:pPr indent="-342900" lvl="0" marL="457200" rtl="0" algn="l">
              <a:spcBef>
                <a:spcPts val="0"/>
              </a:spcBef>
              <a:spcAft>
                <a:spcPts val="0"/>
              </a:spcAft>
              <a:buClr>
                <a:schemeClr val="dk1"/>
              </a:buClr>
              <a:buSzPts val="1800"/>
              <a:buChar char="●"/>
            </a:pPr>
            <a:r>
              <a:rPr lang="en-US" sz="1800">
                <a:solidFill>
                  <a:schemeClr val="dk1"/>
                </a:solidFill>
              </a:rPr>
              <a:t>Social Networks</a:t>
            </a:r>
            <a:endParaRPr sz="1800">
              <a:solidFill>
                <a:schemeClr val="dk1"/>
              </a:solidFill>
            </a:endParaRPr>
          </a:p>
          <a:p>
            <a:pPr indent="-342900" lvl="0" marL="457200" rtl="0" algn="l">
              <a:spcBef>
                <a:spcPts val="0"/>
              </a:spcBef>
              <a:spcAft>
                <a:spcPts val="0"/>
              </a:spcAft>
              <a:buClr>
                <a:schemeClr val="dk1"/>
              </a:buClr>
              <a:buSzPts val="1800"/>
              <a:buChar char="●"/>
            </a:pPr>
            <a:r>
              <a:rPr lang="en-US" sz="1800">
                <a:solidFill>
                  <a:schemeClr val="dk1"/>
                </a:solidFill>
              </a:rPr>
              <a:t>Creativity</a:t>
            </a:r>
            <a:endParaRPr sz="1800">
              <a:solidFill>
                <a:schemeClr val="dk1"/>
              </a:solidFill>
            </a:endParaRPr>
          </a:p>
          <a:p>
            <a:pPr indent="-342900" lvl="0" marL="457200" rtl="0" algn="l">
              <a:spcBef>
                <a:spcPts val="0"/>
              </a:spcBef>
              <a:spcAft>
                <a:spcPts val="0"/>
              </a:spcAft>
              <a:buClr>
                <a:schemeClr val="dk1"/>
              </a:buClr>
              <a:buSzPts val="1800"/>
              <a:buChar char="●"/>
            </a:pPr>
            <a:r>
              <a:rPr lang="en-US" sz="1800">
                <a:solidFill>
                  <a:schemeClr val="dk1"/>
                </a:solidFill>
              </a:rPr>
              <a:t>Preparation</a:t>
            </a:r>
            <a:endParaRPr sz="1800">
              <a:solidFill>
                <a:schemeClr val="dk1"/>
              </a:solidFill>
            </a:endParaRPr>
          </a:p>
          <a:p>
            <a:pPr indent="-342900" lvl="0" marL="457200" rtl="0" algn="l">
              <a:spcBef>
                <a:spcPts val="0"/>
              </a:spcBef>
              <a:spcAft>
                <a:spcPts val="0"/>
              </a:spcAft>
              <a:buClr>
                <a:schemeClr val="dk1"/>
              </a:buClr>
              <a:buSzPts val="1800"/>
              <a:buChar char="●"/>
            </a:pPr>
            <a:r>
              <a:rPr lang="en-US" sz="1800">
                <a:solidFill>
                  <a:schemeClr val="dk1"/>
                </a:solidFill>
              </a:rPr>
              <a:t>Incubation</a:t>
            </a:r>
            <a:endParaRPr sz="1800">
              <a:solidFill>
                <a:schemeClr val="dk1"/>
              </a:solidFill>
            </a:endParaRPr>
          </a:p>
          <a:p>
            <a:pPr indent="-342900" lvl="0" marL="457200" rtl="0" algn="l">
              <a:spcBef>
                <a:spcPts val="0"/>
              </a:spcBef>
              <a:spcAft>
                <a:spcPts val="0"/>
              </a:spcAft>
              <a:buClr>
                <a:schemeClr val="dk1"/>
              </a:buClr>
              <a:buSzPts val="1800"/>
              <a:buChar char="●"/>
            </a:pPr>
            <a:r>
              <a:rPr lang="en-US" sz="1800">
                <a:solidFill>
                  <a:schemeClr val="dk1"/>
                </a:solidFill>
              </a:rPr>
              <a:t> Insight</a:t>
            </a:r>
            <a:endParaRPr sz="1800">
              <a:solidFill>
                <a:schemeClr val="dk1"/>
              </a:solidFill>
            </a:endParaRPr>
          </a:p>
          <a:p>
            <a:pPr indent="-342900" lvl="0" marL="457200" rtl="0" algn="l">
              <a:spcBef>
                <a:spcPts val="0"/>
              </a:spcBef>
              <a:spcAft>
                <a:spcPts val="0"/>
              </a:spcAft>
              <a:buClr>
                <a:schemeClr val="dk1"/>
              </a:buClr>
              <a:buSzPts val="1800"/>
              <a:buChar char="●"/>
            </a:pPr>
            <a:r>
              <a:rPr lang="en-US" sz="1800">
                <a:solidFill>
                  <a:schemeClr val="dk1"/>
                </a:solidFill>
              </a:rPr>
              <a:t>Evaluation</a:t>
            </a:r>
            <a:endParaRPr sz="1800">
              <a:solidFill>
                <a:schemeClr val="dk1"/>
              </a:solidFill>
            </a:endParaRPr>
          </a:p>
          <a:p>
            <a:pPr indent="-342900" lvl="0" marL="457200" rtl="0" algn="l">
              <a:spcBef>
                <a:spcPts val="0"/>
              </a:spcBef>
              <a:spcAft>
                <a:spcPts val="0"/>
              </a:spcAft>
              <a:buClr>
                <a:schemeClr val="dk1"/>
              </a:buClr>
              <a:buSzPts val="1800"/>
              <a:buChar char="●"/>
            </a:pPr>
            <a:r>
              <a:rPr lang="en-US" sz="1800">
                <a:solidFill>
                  <a:schemeClr val="dk1"/>
                </a:solidFill>
              </a:rPr>
              <a:t>Elaboration.</a:t>
            </a:r>
            <a:endParaRPr sz="1800">
              <a:solidFill>
                <a:schemeClr val="dk1"/>
              </a:solidFill>
            </a:endParaRPr>
          </a:p>
        </p:txBody>
      </p:sp>
      <p:pic>
        <p:nvPicPr>
          <p:cNvPr id="165" name="Google Shape;165;g37c852a931b_0_164"/>
          <p:cNvPicPr preferRelativeResize="0"/>
          <p:nvPr/>
        </p:nvPicPr>
        <p:blipFill rotWithShape="1">
          <a:blip r:embed="rId3">
            <a:alphaModFix/>
          </a:blip>
          <a:srcRect b="31912" l="49637" r="14273" t="49502"/>
          <a:stretch/>
        </p:blipFill>
        <p:spPr>
          <a:xfrm>
            <a:off x="4233375" y="3182475"/>
            <a:ext cx="7542926" cy="30345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37c852a931b_0_190"/>
          <p:cNvSpPr txBox="1"/>
          <p:nvPr>
            <p:ph type="title"/>
          </p:nvPr>
        </p:nvSpPr>
        <p:spPr>
          <a:xfrm>
            <a:off x="415600" y="593367"/>
            <a:ext cx="11360700" cy="7635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US"/>
              <a:t>Opportunity Recognition Process</a:t>
            </a:r>
            <a:endParaRPr/>
          </a:p>
        </p:txBody>
      </p:sp>
      <p:pic>
        <p:nvPicPr>
          <p:cNvPr id="171" name="Google Shape;171;g37c852a931b_0_190"/>
          <p:cNvPicPr preferRelativeResize="0"/>
          <p:nvPr/>
        </p:nvPicPr>
        <p:blipFill rotWithShape="1">
          <a:blip r:embed="rId3">
            <a:alphaModFix/>
          </a:blip>
          <a:srcRect b="23062" l="41676" r="22980" t="33577"/>
          <a:stretch/>
        </p:blipFill>
        <p:spPr>
          <a:xfrm>
            <a:off x="1271625" y="1786900"/>
            <a:ext cx="10272850" cy="45552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7c852a931b_0_182"/>
          <p:cNvSpPr txBox="1"/>
          <p:nvPr>
            <p:ph type="title"/>
          </p:nvPr>
        </p:nvSpPr>
        <p:spPr>
          <a:xfrm>
            <a:off x="203200" y="387892"/>
            <a:ext cx="11360700" cy="7635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US"/>
              <a:t>Techniques for Generating Ideas</a:t>
            </a:r>
            <a:endParaRPr/>
          </a:p>
        </p:txBody>
      </p:sp>
      <p:sp>
        <p:nvSpPr>
          <p:cNvPr id="177" name="Google Shape;177;g37c852a931b_0_182"/>
          <p:cNvSpPr txBox="1"/>
          <p:nvPr>
            <p:ph idx="1" type="body"/>
          </p:nvPr>
        </p:nvSpPr>
        <p:spPr>
          <a:xfrm>
            <a:off x="415600" y="1151408"/>
            <a:ext cx="11360700" cy="4555200"/>
          </a:xfrm>
          <a:prstGeom prst="rect">
            <a:avLst/>
          </a:prstGeom>
        </p:spPr>
        <p:txBody>
          <a:bodyPr anchorCtr="0" anchor="t" bIns="121900" lIns="121900" spcFirstLastPara="1" rIns="121900" wrap="square" tIns="121900">
            <a:normAutofit/>
          </a:bodyPr>
          <a:lstStyle/>
          <a:p>
            <a:pPr indent="0" lvl="0" marL="0" rtl="0" algn="l">
              <a:spcBef>
                <a:spcPts val="0"/>
              </a:spcBef>
              <a:spcAft>
                <a:spcPts val="0"/>
              </a:spcAft>
              <a:buNone/>
            </a:pPr>
            <a:r>
              <a:rPr lang="en-US">
                <a:solidFill>
                  <a:schemeClr val="dk1"/>
                </a:solidFill>
              </a:rPr>
              <a:t>Brainstorming</a:t>
            </a:r>
            <a:endParaRPr>
              <a:solidFill>
                <a:schemeClr val="dk1"/>
              </a:solidFill>
            </a:endParaRPr>
          </a:p>
          <a:p>
            <a:pPr indent="0" lvl="0" marL="0" rtl="0" algn="l">
              <a:spcBef>
                <a:spcPts val="1600"/>
              </a:spcBef>
              <a:spcAft>
                <a:spcPts val="1600"/>
              </a:spcAft>
              <a:buNone/>
            </a:pPr>
            <a:r>
              <a:t/>
            </a:r>
            <a:endParaRPr sz="3700">
              <a:solidFill>
                <a:schemeClr val="dk1"/>
              </a:solidFill>
            </a:endParaRPr>
          </a:p>
        </p:txBody>
      </p:sp>
      <p:pic>
        <p:nvPicPr>
          <p:cNvPr id="178" name="Google Shape;178;g37c852a931b_0_182"/>
          <p:cNvPicPr preferRelativeResize="0"/>
          <p:nvPr/>
        </p:nvPicPr>
        <p:blipFill rotWithShape="1">
          <a:blip r:embed="rId3">
            <a:alphaModFix/>
          </a:blip>
          <a:srcRect b="17754" l="48145" r="12279" t="46405"/>
          <a:stretch/>
        </p:blipFill>
        <p:spPr>
          <a:xfrm>
            <a:off x="2581725" y="1786625"/>
            <a:ext cx="9194573" cy="46840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7c852a931b_0_197"/>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p>
            <a:pPr indent="0" lvl="0" marL="0" rtl="0" algn="l">
              <a:spcBef>
                <a:spcPts val="0"/>
              </a:spcBef>
              <a:spcAft>
                <a:spcPts val="0"/>
              </a:spcAft>
              <a:buNone/>
            </a:pPr>
            <a:r>
              <a:rPr b="1" lang="en-US"/>
              <a:t>Focus Groups </a:t>
            </a:r>
            <a:endParaRPr b="1"/>
          </a:p>
          <a:p>
            <a:pPr indent="0" lvl="0" marL="0" rtl="0" algn="l">
              <a:spcBef>
                <a:spcPts val="1600"/>
              </a:spcBef>
              <a:spcAft>
                <a:spcPts val="0"/>
              </a:spcAft>
              <a:buNone/>
            </a:pPr>
            <a:r>
              <a:rPr lang="en-US"/>
              <a:t>A focus group is a gathering of 5 to 10 people who are selected because of their relationship to the issue being discussed.</a:t>
            </a:r>
            <a:endParaRPr/>
          </a:p>
          <a:p>
            <a:pPr indent="0" lvl="0" marL="0" rtl="0" algn="l">
              <a:spcBef>
                <a:spcPts val="1600"/>
              </a:spcBef>
              <a:spcAft>
                <a:spcPts val="0"/>
              </a:spcAft>
              <a:buNone/>
            </a:pPr>
            <a:r>
              <a:rPr b="1" lang="en-US"/>
              <a:t>Library and Internet Research </a:t>
            </a:r>
            <a:endParaRPr b="1"/>
          </a:p>
          <a:p>
            <a:pPr indent="0" lvl="0" marL="0" rtl="0" algn="l">
              <a:spcBef>
                <a:spcPts val="1600"/>
              </a:spcBef>
              <a:spcAft>
                <a:spcPts val="1600"/>
              </a:spcAft>
              <a:buNone/>
            </a:pPr>
            <a:r>
              <a:rPr lang="en-US"/>
              <a:t>A third approach to generating new business ideas is to conduct library and Internet research.</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g37c852a931b_0_204"/>
          <p:cNvPicPr preferRelativeResize="0"/>
          <p:nvPr/>
        </p:nvPicPr>
        <p:blipFill rotWithShape="1">
          <a:blip r:embed="rId3">
            <a:alphaModFix/>
          </a:blip>
          <a:srcRect b="10699" l="36835" r="11070" t="41016"/>
          <a:stretch/>
        </p:blipFill>
        <p:spPr>
          <a:xfrm>
            <a:off x="559550" y="530825"/>
            <a:ext cx="10499400" cy="54737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id="193" name="Google Shape;193;g37c852a931b_0_210"/>
          <p:cNvPicPr preferRelativeResize="0"/>
          <p:nvPr/>
        </p:nvPicPr>
        <p:blipFill rotWithShape="1">
          <a:blip r:embed="rId3">
            <a:alphaModFix/>
          </a:blip>
          <a:srcRect b="32460" l="39439" r="9506" t="31883"/>
          <a:stretch/>
        </p:blipFill>
        <p:spPr>
          <a:xfrm>
            <a:off x="959400" y="470350"/>
            <a:ext cx="10273200" cy="561385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97" name="Shape 197"/>
        <p:cNvGrpSpPr/>
        <p:nvPr/>
      </p:nvGrpSpPr>
      <p:grpSpPr>
        <a:xfrm>
          <a:off x="0" y="0"/>
          <a:ext cx="0" cy="0"/>
          <a:chOff x="0" y="0"/>
          <a:chExt cx="0" cy="0"/>
        </a:xfrm>
      </p:grpSpPr>
      <p:sp>
        <p:nvSpPr>
          <p:cNvPr id="198" name="Google Shape;198;p3"/>
          <p:cNvSpPr txBox="1"/>
          <p:nvPr>
            <p:ph type="ctrTitle"/>
          </p:nvPr>
        </p:nvSpPr>
        <p:spPr>
          <a:xfrm>
            <a:off x="1428465" y="276202"/>
            <a:ext cx="9144000" cy="1443416"/>
          </a:xfrm>
          <a:prstGeom prst="rect">
            <a:avLst/>
          </a:prstGeom>
          <a:noFill/>
          <a:ln>
            <a:noFill/>
          </a:ln>
        </p:spPr>
        <p:txBody>
          <a:bodyPr anchorCtr="0" anchor="ctr" bIns="45700" lIns="91425" spcFirstLastPara="1" rIns="91425" wrap="square" tIns="45700">
            <a:normAutofit/>
          </a:bodyPr>
          <a:lstStyle/>
          <a:p>
            <a:pPr indent="0" lvl="0" marL="0" rtl="0" algn="ctr">
              <a:lnSpc>
                <a:spcPct val="80000"/>
              </a:lnSpc>
              <a:spcBef>
                <a:spcPts val="0"/>
              </a:spcBef>
              <a:spcAft>
                <a:spcPts val="0"/>
              </a:spcAft>
              <a:buClr>
                <a:schemeClr val="dk1"/>
              </a:buClr>
              <a:buSzPts val="3600"/>
              <a:buFont typeface="Calibri"/>
              <a:buNone/>
            </a:pPr>
            <a:br>
              <a:rPr b="1" lang="en-US" sz="3600">
                <a:solidFill>
                  <a:schemeClr val="dk1"/>
                </a:solidFill>
                <a:latin typeface="Calibri"/>
                <a:ea typeface="Calibri"/>
                <a:cs typeface="Calibri"/>
                <a:sym typeface="Calibri"/>
              </a:rPr>
            </a:br>
            <a:br>
              <a:rPr b="1" lang="en-US" sz="3600">
                <a:solidFill>
                  <a:srgbClr val="7030A0"/>
                </a:solidFill>
                <a:latin typeface="Calibri"/>
                <a:ea typeface="Calibri"/>
                <a:cs typeface="Calibri"/>
                <a:sym typeface="Calibri"/>
              </a:rPr>
            </a:br>
            <a:r>
              <a:rPr b="1" lang="en-US" sz="3600">
                <a:solidFill>
                  <a:schemeClr val="accent1"/>
                </a:solidFill>
                <a:latin typeface="Calibri"/>
                <a:ea typeface="Calibri"/>
                <a:cs typeface="Calibri"/>
                <a:sym typeface="Calibri"/>
              </a:rPr>
              <a:t>INTRODUCTION TO ENTREPRENEURSHIP</a:t>
            </a:r>
            <a:endParaRPr sz="3600">
              <a:solidFill>
                <a:schemeClr val="accent1"/>
              </a:solidFill>
              <a:latin typeface="Calibri"/>
              <a:ea typeface="Calibri"/>
              <a:cs typeface="Calibri"/>
              <a:sym typeface="Calibri"/>
            </a:endParaRPr>
          </a:p>
        </p:txBody>
      </p:sp>
      <p:sp>
        <p:nvSpPr>
          <p:cNvPr id="199" name="Google Shape;199;p3"/>
          <p:cNvSpPr txBox="1"/>
          <p:nvPr>
            <p:ph idx="1" type="subTitle"/>
          </p:nvPr>
        </p:nvSpPr>
        <p:spPr>
          <a:xfrm>
            <a:off x="1696871" y="2133528"/>
            <a:ext cx="9144000" cy="3914775"/>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2800"/>
              <a:buNone/>
            </a:pPr>
            <a:r>
              <a:rPr b="1" lang="en-US" sz="2800">
                <a:solidFill>
                  <a:srgbClr val="00B050"/>
                </a:solidFill>
                <a:latin typeface="Twentieth Century"/>
                <a:ea typeface="Twentieth Century"/>
                <a:cs typeface="Twentieth Century"/>
                <a:sym typeface="Twentieth Century"/>
              </a:rPr>
              <a:t>Marriage </a:t>
            </a:r>
            <a:endParaRPr/>
          </a:p>
          <a:p>
            <a:pPr indent="0" lvl="0" marL="0" rtl="0" algn="l">
              <a:lnSpc>
                <a:spcPct val="100000"/>
              </a:lnSpc>
              <a:spcBef>
                <a:spcPts val="200"/>
              </a:spcBef>
              <a:spcAft>
                <a:spcPts val="0"/>
              </a:spcAft>
              <a:buSzPts val="2800"/>
              <a:buNone/>
            </a:pPr>
            <a:r>
              <a:t/>
            </a:r>
            <a:endParaRPr b="1" sz="2800">
              <a:solidFill>
                <a:srgbClr val="7030A0"/>
              </a:solidFill>
              <a:latin typeface="Twentieth Century"/>
              <a:ea typeface="Twentieth Century"/>
              <a:cs typeface="Twentieth Century"/>
              <a:sym typeface="Twentieth Century"/>
            </a:endParaRPr>
          </a:p>
          <a:p>
            <a:pPr indent="-342900" lvl="0" marL="342900" rtl="0" algn="l">
              <a:lnSpc>
                <a:spcPct val="100000"/>
              </a:lnSpc>
              <a:spcBef>
                <a:spcPts val="200"/>
              </a:spcBef>
              <a:spcAft>
                <a:spcPts val="0"/>
              </a:spcAft>
              <a:buSzPts val="2400"/>
              <a:buFont typeface="Noto Sans Symbols"/>
              <a:buChar char="▪"/>
            </a:pPr>
            <a:r>
              <a:rPr b="1" lang="en-US" sz="2400">
                <a:solidFill>
                  <a:schemeClr val="dk1"/>
                </a:solidFill>
                <a:latin typeface="Twentieth Century"/>
                <a:ea typeface="Twentieth Century"/>
                <a:cs typeface="Twentieth Century"/>
                <a:sym typeface="Twentieth Century"/>
              </a:rPr>
              <a:t>Capital</a:t>
            </a:r>
            <a:endParaRPr/>
          </a:p>
          <a:p>
            <a:pPr indent="-342900" lvl="0" marL="342900" rtl="0" algn="l">
              <a:lnSpc>
                <a:spcPct val="100000"/>
              </a:lnSpc>
              <a:spcBef>
                <a:spcPts val="200"/>
              </a:spcBef>
              <a:spcAft>
                <a:spcPts val="0"/>
              </a:spcAft>
              <a:buSzPts val="2400"/>
              <a:buFont typeface="Noto Sans Symbols"/>
              <a:buChar char="▪"/>
            </a:pPr>
            <a:r>
              <a:rPr b="1" lang="en-US" sz="2400">
                <a:solidFill>
                  <a:schemeClr val="dk1"/>
                </a:solidFill>
                <a:latin typeface="Twentieth Century"/>
                <a:ea typeface="Twentieth Century"/>
                <a:cs typeface="Twentieth Century"/>
                <a:sym typeface="Twentieth Century"/>
              </a:rPr>
              <a:t>Cheap labor </a:t>
            </a:r>
            <a:endParaRPr/>
          </a:p>
          <a:p>
            <a:pPr indent="-342900" lvl="0" marL="342900" rtl="0" algn="l">
              <a:lnSpc>
                <a:spcPct val="100000"/>
              </a:lnSpc>
              <a:spcBef>
                <a:spcPts val="200"/>
              </a:spcBef>
              <a:spcAft>
                <a:spcPts val="0"/>
              </a:spcAft>
              <a:buSzPts val="2400"/>
              <a:buFont typeface="Noto Sans Symbols"/>
              <a:buChar char="▪"/>
            </a:pPr>
            <a:r>
              <a:rPr b="1" lang="en-US" sz="2400">
                <a:solidFill>
                  <a:schemeClr val="dk1"/>
                </a:solidFill>
                <a:latin typeface="Twentieth Century"/>
                <a:ea typeface="Twentieth Century"/>
                <a:cs typeface="Twentieth Century"/>
                <a:sym typeface="Twentieth Century"/>
              </a:rPr>
              <a:t>Emotional Support</a:t>
            </a:r>
            <a:endParaRPr/>
          </a:p>
          <a:p>
            <a:pPr indent="-342900" lvl="0" marL="342900" rtl="0" algn="l">
              <a:lnSpc>
                <a:spcPct val="100000"/>
              </a:lnSpc>
              <a:spcBef>
                <a:spcPts val="200"/>
              </a:spcBef>
              <a:spcAft>
                <a:spcPts val="0"/>
              </a:spcAft>
              <a:buSzPts val="2400"/>
              <a:buFont typeface="Noto Sans Symbols"/>
              <a:buChar char="▪"/>
            </a:pPr>
            <a:r>
              <a:rPr b="1" lang="en-US" sz="2400">
                <a:solidFill>
                  <a:schemeClr val="dk1"/>
                </a:solidFill>
                <a:latin typeface="Twentieth Century"/>
                <a:ea typeface="Twentieth Century"/>
                <a:cs typeface="Twentieth Century"/>
                <a:sym typeface="Twentieth Century"/>
              </a:rPr>
              <a:t>Taxation Benefits</a:t>
            </a:r>
            <a:endParaRPr/>
          </a:p>
          <a:p>
            <a:pPr indent="0" lvl="0" marL="0" rtl="0" algn="l">
              <a:lnSpc>
                <a:spcPct val="100000"/>
              </a:lnSpc>
              <a:spcBef>
                <a:spcPts val="200"/>
              </a:spcBef>
              <a:spcAft>
                <a:spcPts val="0"/>
              </a:spcAft>
              <a:buSzPts val="2400"/>
              <a:buNone/>
            </a:pPr>
            <a:r>
              <a:t/>
            </a:r>
            <a:endParaRPr b="1" sz="2400">
              <a:solidFill>
                <a:srgbClr val="7030A0"/>
              </a:solidFill>
              <a:latin typeface="Twentieth Century"/>
              <a:ea typeface="Twentieth Century"/>
              <a:cs typeface="Twentieth Century"/>
              <a:sym typeface="Twentieth Century"/>
            </a:endParaRPr>
          </a:p>
          <a:p>
            <a:pPr indent="0" lvl="0" marL="0" rtl="0" algn="r">
              <a:lnSpc>
                <a:spcPct val="100000"/>
              </a:lnSpc>
              <a:spcBef>
                <a:spcPts val="200"/>
              </a:spcBef>
              <a:spcAft>
                <a:spcPts val="0"/>
              </a:spcAft>
              <a:buClr>
                <a:srgbClr val="0C0C0C"/>
              </a:buClr>
              <a:buSzPts val="2400"/>
              <a:buNone/>
            </a:pPr>
            <a:r>
              <a:t/>
            </a:r>
            <a:endParaRPr sz="2400"/>
          </a:p>
        </p:txBody>
      </p:sp>
      <p:pic>
        <p:nvPicPr>
          <p:cNvPr id="200" name="Google Shape;200;p3"/>
          <p:cNvPicPr preferRelativeResize="0"/>
          <p:nvPr/>
        </p:nvPicPr>
        <p:blipFill rotWithShape="1">
          <a:blip r:embed="rId3">
            <a:alphaModFix/>
          </a:blip>
          <a:srcRect b="0" l="0" r="0" t="0"/>
          <a:stretch/>
        </p:blipFill>
        <p:spPr>
          <a:xfrm>
            <a:off x="23527" y="0"/>
            <a:ext cx="1404938" cy="11557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04" name="Shape 204"/>
        <p:cNvGrpSpPr/>
        <p:nvPr/>
      </p:nvGrpSpPr>
      <p:grpSpPr>
        <a:xfrm>
          <a:off x="0" y="0"/>
          <a:ext cx="0" cy="0"/>
          <a:chOff x="0" y="0"/>
          <a:chExt cx="0" cy="0"/>
        </a:xfrm>
      </p:grpSpPr>
      <p:sp>
        <p:nvSpPr>
          <p:cNvPr id="205" name="Google Shape;205;p4"/>
          <p:cNvSpPr txBox="1"/>
          <p:nvPr>
            <p:ph type="ctrTitle"/>
          </p:nvPr>
        </p:nvSpPr>
        <p:spPr>
          <a:xfrm>
            <a:off x="1428465" y="276202"/>
            <a:ext cx="9144000" cy="1443416"/>
          </a:xfrm>
          <a:prstGeom prst="rect">
            <a:avLst/>
          </a:prstGeom>
          <a:noFill/>
          <a:ln>
            <a:noFill/>
          </a:ln>
        </p:spPr>
        <p:txBody>
          <a:bodyPr anchorCtr="0" anchor="ctr" bIns="45700" lIns="91425" spcFirstLastPara="1" rIns="91425" wrap="square" tIns="45700">
            <a:normAutofit/>
          </a:bodyPr>
          <a:lstStyle/>
          <a:p>
            <a:pPr indent="0" lvl="0" marL="0" rtl="0" algn="ctr">
              <a:lnSpc>
                <a:spcPct val="80000"/>
              </a:lnSpc>
              <a:spcBef>
                <a:spcPts val="0"/>
              </a:spcBef>
              <a:spcAft>
                <a:spcPts val="0"/>
              </a:spcAft>
              <a:buClr>
                <a:schemeClr val="dk1"/>
              </a:buClr>
              <a:buSzPts val="3600"/>
              <a:buFont typeface="Calibri"/>
              <a:buNone/>
            </a:pPr>
            <a:br>
              <a:rPr b="1" lang="en-US" sz="3600">
                <a:solidFill>
                  <a:schemeClr val="dk1"/>
                </a:solidFill>
                <a:latin typeface="Calibri"/>
                <a:ea typeface="Calibri"/>
                <a:cs typeface="Calibri"/>
                <a:sym typeface="Calibri"/>
              </a:rPr>
            </a:br>
            <a:br>
              <a:rPr b="1" lang="en-US" sz="3600">
                <a:solidFill>
                  <a:srgbClr val="7030A0"/>
                </a:solidFill>
                <a:latin typeface="Calibri"/>
                <a:ea typeface="Calibri"/>
                <a:cs typeface="Calibri"/>
                <a:sym typeface="Calibri"/>
              </a:rPr>
            </a:br>
            <a:r>
              <a:rPr b="1" lang="en-US" sz="3600">
                <a:solidFill>
                  <a:schemeClr val="accent1"/>
                </a:solidFill>
                <a:latin typeface="Calibri"/>
                <a:ea typeface="Calibri"/>
                <a:cs typeface="Calibri"/>
                <a:sym typeface="Calibri"/>
              </a:rPr>
              <a:t>INTRODUCTION TO ENTREPRENEURSHIP </a:t>
            </a:r>
            <a:endParaRPr sz="3600">
              <a:solidFill>
                <a:schemeClr val="accent1"/>
              </a:solidFill>
              <a:latin typeface="Calibri"/>
              <a:ea typeface="Calibri"/>
              <a:cs typeface="Calibri"/>
              <a:sym typeface="Calibri"/>
            </a:endParaRPr>
          </a:p>
        </p:txBody>
      </p:sp>
      <p:sp>
        <p:nvSpPr>
          <p:cNvPr id="206" name="Google Shape;206;p4"/>
          <p:cNvSpPr txBox="1"/>
          <p:nvPr>
            <p:ph idx="1" type="subTitle"/>
          </p:nvPr>
        </p:nvSpPr>
        <p:spPr>
          <a:xfrm>
            <a:off x="1696871" y="2133528"/>
            <a:ext cx="9144000" cy="3914775"/>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2800"/>
              <a:buNone/>
            </a:pPr>
            <a:r>
              <a:rPr b="1" lang="en-US" sz="2800">
                <a:solidFill>
                  <a:srgbClr val="00B050"/>
                </a:solidFill>
                <a:latin typeface="Twentieth Century"/>
                <a:ea typeface="Twentieth Century"/>
                <a:cs typeface="Twentieth Century"/>
                <a:sym typeface="Twentieth Century"/>
              </a:rPr>
              <a:t>Health and Disability </a:t>
            </a:r>
            <a:endParaRPr/>
          </a:p>
          <a:p>
            <a:pPr indent="0" lvl="0" marL="0" rtl="0" algn="l">
              <a:lnSpc>
                <a:spcPct val="100000"/>
              </a:lnSpc>
              <a:spcBef>
                <a:spcPts val="200"/>
              </a:spcBef>
              <a:spcAft>
                <a:spcPts val="0"/>
              </a:spcAft>
              <a:buSzPts val="2800"/>
              <a:buNone/>
            </a:pPr>
            <a:r>
              <a:t/>
            </a:r>
            <a:endParaRPr b="1" sz="2800">
              <a:solidFill>
                <a:srgbClr val="7030A0"/>
              </a:solidFill>
              <a:latin typeface="Twentieth Century"/>
              <a:ea typeface="Twentieth Century"/>
              <a:cs typeface="Twentieth Century"/>
              <a:sym typeface="Twentieth Century"/>
            </a:endParaRPr>
          </a:p>
          <a:p>
            <a:pPr indent="-342900" lvl="0" marL="342900" rtl="0" algn="l">
              <a:lnSpc>
                <a:spcPct val="100000"/>
              </a:lnSpc>
              <a:spcBef>
                <a:spcPts val="200"/>
              </a:spcBef>
              <a:spcAft>
                <a:spcPts val="0"/>
              </a:spcAft>
              <a:buSzPts val="2400"/>
              <a:buFont typeface="Noto Sans Symbols"/>
              <a:buChar char="▪"/>
            </a:pPr>
            <a:r>
              <a:rPr b="1" lang="en-US" sz="2400">
                <a:solidFill>
                  <a:schemeClr val="dk1"/>
                </a:solidFill>
                <a:latin typeface="Twentieth Century"/>
                <a:ea typeface="Twentieth Century"/>
                <a:cs typeface="Twentieth Century"/>
                <a:sym typeface="Twentieth Century"/>
              </a:rPr>
              <a:t>Discrimination </a:t>
            </a:r>
            <a:endParaRPr/>
          </a:p>
          <a:p>
            <a:pPr indent="-342900" lvl="0" marL="342900" rtl="0" algn="l">
              <a:lnSpc>
                <a:spcPct val="100000"/>
              </a:lnSpc>
              <a:spcBef>
                <a:spcPts val="200"/>
              </a:spcBef>
              <a:spcAft>
                <a:spcPts val="0"/>
              </a:spcAft>
              <a:buSzPts val="2400"/>
              <a:buFont typeface="Noto Sans Symbols"/>
              <a:buChar char="▪"/>
            </a:pPr>
            <a:r>
              <a:rPr b="1" lang="en-US" sz="2400">
                <a:solidFill>
                  <a:schemeClr val="dk1"/>
                </a:solidFill>
                <a:latin typeface="Twentieth Century"/>
                <a:ea typeface="Twentieth Century"/>
                <a:cs typeface="Twentieth Century"/>
                <a:sym typeface="Twentieth Century"/>
              </a:rPr>
              <a:t>Restriction of time, activity and place</a:t>
            </a:r>
            <a:endParaRPr/>
          </a:p>
          <a:p>
            <a:pPr indent="0" lvl="0" marL="0" rtl="0" algn="l">
              <a:lnSpc>
                <a:spcPct val="100000"/>
              </a:lnSpc>
              <a:spcBef>
                <a:spcPts val="200"/>
              </a:spcBef>
              <a:spcAft>
                <a:spcPts val="0"/>
              </a:spcAft>
              <a:buSzPts val="2400"/>
              <a:buNone/>
            </a:pPr>
            <a:r>
              <a:t/>
            </a:r>
            <a:endParaRPr b="1" sz="2400">
              <a:solidFill>
                <a:srgbClr val="7030A0"/>
              </a:solidFill>
              <a:latin typeface="Twentieth Century"/>
              <a:ea typeface="Twentieth Century"/>
              <a:cs typeface="Twentieth Century"/>
              <a:sym typeface="Twentieth Century"/>
            </a:endParaRPr>
          </a:p>
          <a:p>
            <a:pPr indent="0" lvl="0" marL="0" rtl="0" algn="r">
              <a:lnSpc>
                <a:spcPct val="100000"/>
              </a:lnSpc>
              <a:spcBef>
                <a:spcPts val="200"/>
              </a:spcBef>
              <a:spcAft>
                <a:spcPts val="0"/>
              </a:spcAft>
              <a:buClr>
                <a:srgbClr val="0C0C0C"/>
              </a:buClr>
              <a:buSzPts val="2400"/>
              <a:buNone/>
            </a:pPr>
            <a:r>
              <a:t/>
            </a:r>
            <a:endParaRPr sz="2400"/>
          </a:p>
        </p:txBody>
      </p:sp>
      <p:pic>
        <p:nvPicPr>
          <p:cNvPr id="207" name="Google Shape;207;p4"/>
          <p:cNvPicPr preferRelativeResize="0"/>
          <p:nvPr/>
        </p:nvPicPr>
        <p:blipFill rotWithShape="1">
          <a:blip r:embed="rId3">
            <a:alphaModFix/>
          </a:blip>
          <a:srcRect b="0" l="0" r="0" t="0"/>
          <a:stretch/>
        </p:blipFill>
        <p:spPr>
          <a:xfrm>
            <a:off x="23527" y="0"/>
            <a:ext cx="1404938" cy="11557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11" name="Shape 211"/>
        <p:cNvGrpSpPr/>
        <p:nvPr/>
      </p:nvGrpSpPr>
      <p:grpSpPr>
        <a:xfrm>
          <a:off x="0" y="0"/>
          <a:ext cx="0" cy="0"/>
          <a:chOff x="0" y="0"/>
          <a:chExt cx="0" cy="0"/>
        </a:xfrm>
      </p:grpSpPr>
      <p:sp>
        <p:nvSpPr>
          <p:cNvPr id="212" name="Google Shape;212;p5"/>
          <p:cNvSpPr txBox="1"/>
          <p:nvPr>
            <p:ph type="ctrTitle"/>
          </p:nvPr>
        </p:nvSpPr>
        <p:spPr>
          <a:xfrm>
            <a:off x="1428465" y="276202"/>
            <a:ext cx="9144000" cy="1443416"/>
          </a:xfrm>
          <a:prstGeom prst="rect">
            <a:avLst/>
          </a:prstGeom>
          <a:noFill/>
          <a:ln>
            <a:noFill/>
          </a:ln>
        </p:spPr>
        <p:txBody>
          <a:bodyPr anchorCtr="0" anchor="ctr" bIns="45700" lIns="91425" spcFirstLastPara="1" rIns="91425" wrap="square" tIns="45700">
            <a:normAutofit/>
          </a:bodyPr>
          <a:lstStyle/>
          <a:p>
            <a:pPr indent="0" lvl="0" marL="0" rtl="0" algn="ctr">
              <a:lnSpc>
                <a:spcPct val="80000"/>
              </a:lnSpc>
              <a:spcBef>
                <a:spcPts val="0"/>
              </a:spcBef>
              <a:spcAft>
                <a:spcPts val="0"/>
              </a:spcAft>
              <a:buClr>
                <a:schemeClr val="dk1"/>
              </a:buClr>
              <a:buSzPts val="3600"/>
              <a:buFont typeface="Calibri"/>
              <a:buNone/>
            </a:pPr>
            <a:br>
              <a:rPr b="1" lang="en-US" sz="3600">
                <a:solidFill>
                  <a:schemeClr val="dk1"/>
                </a:solidFill>
                <a:latin typeface="Calibri"/>
                <a:ea typeface="Calibri"/>
                <a:cs typeface="Calibri"/>
                <a:sym typeface="Calibri"/>
              </a:rPr>
            </a:br>
            <a:br>
              <a:rPr b="1" lang="en-US" sz="3600">
                <a:solidFill>
                  <a:srgbClr val="7030A0"/>
                </a:solidFill>
                <a:latin typeface="Calibri"/>
                <a:ea typeface="Calibri"/>
                <a:cs typeface="Calibri"/>
                <a:sym typeface="Calibri"/>
              </a:rPr>
            </a:br>
            <a:r>
              <a:rPr b="1" lang="en-US" sz="3600">
                <a:solidFill>
                  <a:schemeClr val="accent1"/>
                </a:solidFill>
                <a:latin typeface="Calibri"/>
                <a:ea typeface="Calibri"/>
                <a:cs typeface="Calibri"/>
                <a:sym typeface="Calibri"/>
              </a:rPr>
              <a:t>INTRODUCTION TO ENTREPRENEURSHIP </a:t>
            </a:r>
            <a:endParaRPr sz="3600">
              <a:solidFill>
                <a:schemeClr val="accent1"/>
              </a:solidFill>
              <a:latin typeface="Calibri"/>
              <a:ea typeface="Calibri"/>
              <a:cs typeface="Calibri"/>
              <a:sym typeface="Calibri"/>
            </a:endParaRPr>
          </a:p>
        </p:txBody>
      </p:sp>
      <p:sp>
        <p:nvSpPr>
          <p:cNvPr id="213" name="Google Shape;213;p5"/>
          <p:cNvSpPr txBox="1"/>
          <p:nvPr>
            <p:ph idx="1" type="subTitle"/>
          </p:nvPr>
        </p:nvSpPr>
        <p:spPr>
          <a:xfrm>
            <a:off x="1696871" y="2133528"/>
            <a:ext cx="9144000" cy="3914775"/>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2800"/>
              <a:buNone/>
            </a:pPr>
            <a:r>
              <a:rPr b="1" lang="en-US" sz="2800">
                <a:solidFill>
                  <a:srgbClr val="00B050"/>
                </a:solidFill>
                <a:latin typeface="Twentieth Century"/>
                <a:ea typeface="Twentieth Century"/>
                <a:cs typeface="Twentieth Century"/>
                <a:sym typeface="Twentieth Century"/>
              </a:rPr>
              <a:t>Age , Education and Experience </a:t>
            </a:r>
            <a:endParaRPr/>
          </a:p>
          <a:p>
            <a:pPr indent="0" lvl="0" marL="0" rtl="0" algn="l">
              <a:lnSpc>
                <a:spcPct val="100000"/>
              </a:lnSpc>
              <a:spcBef>
                <a:spcPts val="200"/>
              </a:spcBef>
              <a:spcAft>
                <a:spcPts val="0"/>
              </a:spcAft>
              <a:buSzPts val="2800"/>
              <a:buNone/>
            </a:pPr>
            <a:r>
              <a:t/>
            </a:r>
            <a:endParaRPr b="1" sz="2800">
              <a:solidFill>
                <a:srgbClr val="7030A0"/>
              </a:solidFill>
              <a:latin typeface="Twentieth Century"/>
              <a:ea typeface="Twentieth Century"/>
              <a:cs typeface="Twentieth Century"/>
              <a:sym typeface="Twentieth Century"/>
            </a:endParaRPr>
          </a:p>
          <a:p>
            <a:pPr indent="-342900" lvl="0" marL="342900" rtl="0" algn="l">
              <a:lnSpc>
                <a:spcPct val="100000"/>
              </a:lnSpc>
              <a:spcBef>
                <a:spcPts val="200"/>
              </a:spcBef>
              <a:spcAft>
                <a:spcPts val="0"/>
              </a:spcAft>
              <a:buSzPts val="2400"/>
              <a:buFont typeface="Noto Sans Symbols"/>
              <a:buChar char="▪"/>
            </a:pPr>
            <a:r>
              <a:rPr b="1" lang="en-US" sz="2400">
                <a:solidFill>
                  <a:schemeClr val="dk1"/>
                </a:solidFill>
                <a:latin typeface="Twentieth Century"/>
                <a:ea typeface="Twentieth Century"/>
                <a:cs typeface="Twentieth Century"/>
                <a:sym typeface="Twentieth Century"/>
              </a:rPr>
              <a:t>Experience</a:t>
            </a:r>
            <a:endParaRPr b="1" sz="2400">
              <a:solidFill>
                <a:schemeClr val="dk1"/>
              </a:solidFill>
              <a:latin typeface="Twentieth Century"/>
              <a:ea typeface="Twentieth Century"/>
              <a:cs typeface="Twentieth Century"/>
              <a:sym typeface="Twentieth Century"/>
            </a:endParaRPr>
          </a:p>
          <a:p>
            <a:pPr indent="-342900" lvl="0" marL="342900" rtl="0" algn="l">
              <a:lnSpc>
                <a:spcPct val="100000"/>
              </a:lnSpc>
              <a:spcBef>
                <a:spcPts val="200"/>
              </a:spcBef>
              <a:spcAft>
                <a:spcPts val="0"/>
              </a:spcAft>
              <a:buSzPts val="2400"/>
              <a:buFont typeface="Noto Sans Symbols"/>
              <a:buChar char="▪"/>
            </a:pPr>
            <a:r>
              <a:rPr b="1" lang="en-US" sz="2400">
                <a:solidFill>
                  <a:schemeClr val="dk1"/>
                </a:solidFill>
                <a:latin typeface="Twentieth Century"/>
                <a:ea typeface="Twentieth Century"/>
                <a:cs typeface="Twentieth Century"/>
                <a:sym typeface="Twentieth Century"/>
              </a:rPr>
              <a:t>Network</a:t>
            </a:r>
            <a:endParaRPr b="1" sz="2400">
              <a:solidFill>
                <a:schemeClr val="dk1"/>
              </a:solidFill>
              <a:latin typeface="Twentieth Century"/>
              <a:ea typeface="Twentieth Century"/>
              <a:cs typeface="Twentieth Century"/>
              <a:sym typeface="Twentieth Century"/>
            </a:endParaRPr>
          </a:p>
          <a:p>
            <a:pPr indent="0" lvl="0" marL="0" rtl="0" algn="l">
              <a:lnSpc>
                <a:spcPct val="100000"/>
              </a:lnSpc>
              <a:spcBef>
                <a:spcPts val="200"/>
              </a:spcBef>
              <a:spcAft>
                <a:spcPts val="0"/>
              </a:spcAft>
              <a:buSzPts val="2400"/>
              <a:buNone/>
            </a:pPr>
            <a:r>
              <a:t/>
            </a:r>
            <a:endParaRPr b="1" sz="2400">
              <a:solidFill>
                <a:srgbClr val="7030A0"/>
              </a:solidFill>
              <a:latin typeface="Twentieth Century"/>
              <a:ea typeface="Twentieth Century"/>
              <a:cs typeface="Twentieth Century"/>
              <a:sym typeface="Twentieth Century"/>
            </a:endParaRPr>
          </a:p>
          <a:p>
            <a:pPr indent="0" lvl="0" marL="0" rtl="0" algn="r">
              <a:lnSpc>
                <a:spcPct val="100000"/>
              </a:lnSpc>
              <a:spcBef>
                <a:spcPts val="200"/>
              </a:spcBef>
              <a:spcAft>
                <a:spcPts val="0"/>
              </a:spcAft>
              <a:buClr>
                <a:srgbClr val="0C0C0C"/>
              </a:buClr>
              <a:buSzPts val="2400"/>
              <a:buNone/>
            </a:pPr>
            <a:r>
              <a:t/>
            </a:r>
            <a:endParaRPr sz="2400"/>
          </a:p>
        </p:txBody>
      </p:sp>
      <p:pic>
        <p:nvPicPr>
          <p:cNvPr id="214" name="Google Shape;214;p5"/>
          <p:cNvPicPr preferRelativeResize="0"/>
          <p:nvPr/>
        </p:nvPicPr>
        <p:blipFill rotWithShape="1">
          <a:blip r:embed="rId3">
            <a:alphaModFix/>
          </a:blip>
          <a:srcRect b="0" l="0" r="0" t="0"/>
          <a:stretch/>
        </p:blipFill>
        <p:spPr>
          <a:xfrm>
            <a:off x="23527" y="0"/>
            <a:ext cx="1404938" cy="11557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18" name="Shape 218"/>
        <p:cNvGrpSpPr/>
        <p:nvPr/>
      </p:nvGrpSpPr>
      <p:grpSpPr>
        <a:xfrm>
          <a:off x="0" y="0"/>
          <a:ext cx="0" cy="0"/>
          <a:chOff x="0" y="0"/>
          <a:chExt cx="0" cy="0"/>
        </a:xfrm>
      </p:grpSpPr>
      <p:sp>
        <p:nvSpPr>
          <p:cNvPr id="219" name="Google Shape;219;p6"/>
          <p:cNvSpPr txBox="1"/>
          <p:nvPr>
            <p:ph type="ctrTitle"/>
          </p:nvPr>
        </p:nvSpPr>
        <p:spPr>
          <a:xfrm>
            <a:off x="1428465" y="276202"/>
            <a:ext cx="9144000" cy="1443416"/>
          </a:xfrm>
          <a:prstGeom prst="rect">
            <a:avLst/>
          </a:prstGeom>
          <a:noFill/>
          <a:ln>
            <a:noFill/>
          </a:ln>
        </p:spPr>
        <p:txBody>
          <a:bodyPr anchorCtr="0" anchor="ctr" bIns="45700" lIns="91425" spcFirstLastPara="1" rIns="91425" wrap="square" tIns="45700">
            <a:normAutofit/>
          </a:bodyPr>
          <a:lstStyle/>
          <a:p>
            <a:pPr indent="0" lvl="0" marL="0" rtl="0" algn="ctr">
              <a:lnSpc>
                <a:spcPct val="80000"/>
              </a:lnSpc>
              <a:spcBef>
                <a:spcPts val="0"/>
              </a:spcBef>
              <a:spcAft>
                <a:spcPts val="0"/>
              </a:spcAft>
              <a:buClr>
                <a:schemeClr val="dk1"/>
              </a:buClr>
              <a:buSzPts val="3600"/>
              <a:buFont typeface="Calibri"/>
              <a:buNone/>
            </a:pPr>
            <a:br>
              <a:rPr b="1" lang="en-US" sz="3600">
                <a:solidFill>
                  <a:schemeClr val="dk1"/>
                </a:solidFill>
                <a:latin typeface="Calibri"/>
                <a:ea typeface="Calibri"/>
                <a:cs typeface="Calibri"/>
                <a:sym typeface="Calibri"/>
              </a:rPr>
            </a:br>
            <a:br>
              <a:rPr b="1" lang="en-US" sz="3600">
                <a:solidFill>
                  <a:srgbClr val="7030A0"/>
                </a:solidFill>
                <a:latin typeface="Calibri"/>
                <a:ea typeface="Calibri"/>
                <a:cs typeface="Calibri"/>
                <a:sym typeface="Calibri"/>
              </a:rPr>
            </a:br>
            <a:r>
              <a:rPr b="1" lang="en-US" sz="3600">
                <a:solidFill>
                  <a:schemeClr val="accent1"/>
                </a:solidFill>
                <a:latin typeface="Calibri"/>
                <a:ea typeface="Calibri"/>
                <a:cs typeface="Calibri"/>
                <a:sym typeface="Calibri"/>
              </a:rPr>
              <a:t>INTRODUCTION TO ENTREPRENEURSHIP  </a:t>
            </a:r>
            <a:endParaRPr sz="3600">
              <a:solidFill>
                <a:schemeClr val="accent1"/>
              </a:solidFill>
              <a:latin typeface="Calibri"/>
              <a:ea typeface="Calibri"/>
              <a:cs typeface="Calibri"/>
              <a:sym typeface="Calibri"/>
            </a:endParaRPr>
          </a:p>
        </p:txBody>
      </p:sp>
      <p:sp>
        <p:nvSpPr>
          <p:cNvPr id="220" name="Google Shape;220;p6"/>
          <p:cNvSpPr txBox="1"/>
          <p:nvPr>
            <p:ph idx="1" type="subTitle"/>
          </p:nvPr>
        </p:nvSpPr>
        <p:spPr>
          <a:xfrm>
            <a:off x="1696871" y="2133528"/>
            <a:ext cx="9144000" cy="3914775"/>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2800"/>
              <a:buNone/>
            </a:pPr>
            <a:r>
              <a:rPr b="1" lang="en-US" sz="2800">
                <a:solidFill>
                  <a:srgbClr val="00B050"/>
                </a:solidFill>
                <a:latin typeface="Twentieth Century"/>
                <a:ea typeface="Twentieth Century"/>
                <a:cs typeface="Twentieth Century"/>
                <a:sym typeface="Twentieth Century"/>
              </a:rPr>
              <a:t>Family </a:t>
            </a:r>
            <a:endParaRPr/>
          </a:p>
          <a:p>
            <a:pPr indent="0" lvl="0" marL="0" rtl="0" algn="l">
              <a:lnSpc>
                <a:spcPct val="100000"/>
              </a:lnSpc>
              <a:spcBef>
                <a:spcPts val="200"/>
              </a:spcBef>
              <a:spcAft>
                <a:spcPts val="0"/>
              </a:spcAft>
              <a:buSzPts val="2800"/>
              <a:buNone/>
            </a:pPr>
            <a:r>
              <a:t/>
            </a:r>
            <a:endParaRPr b="1" sz="2800">
              <a:solidFill>
                <a:srgbClr val="7030A0"/>
              </a:solidFill>
              <a:latin typeface="Twentieth Century"/>
              <a:ea typeface="Twentieth Century"/>
              <a:cs typeface="Twentieth Century"/>
              <a:sym typeface="Twentieth Century"/>
            </a:endParaRPr>
          </a:p>
          <a:p>
            <a:pPr indent="-342900" lvl="0" marL="342900" rtl="0" algn="l">
              <a:lnSpc>
                <a:spcPct val="100000"/>
              </a:lnSpc>
              <a:spcBef>
                <a:spcPts val="200"/>
              </a:spcBef>
              <a:spcAft>
                <a:spcPts val="0"/>
              </a:spcAft>
              <a:buSzPts val="2400"/>
              <a:buFont typeface="Noto Sans Symbols"/>
              <a:buChar char="▪"/>
            </a:pPr>
            <a:r>
              <a:rPr b="1" lang="en-US" sz="2400">
                <a:solidFill>
                  <a:schemeClr val="dk1"/>
                </a:solidFill>
                <a:latin typeface="Twentieth Century"/>
                <a:ea typeface="Twentieth Century"/>
                <a:cs typeface="Twentieth Century"/>
                <a:sym typeface="Twentieth Century"/>
              </a:rPr>
              <a:t>Role Models</a:t>
            </a:r>
            <a:endParaRPr/>
          </a:p>
          <a:p>
            <a:pPr indent="-342900" lvl="0" marL="342900" rtl="0" algn="l">
              <a:lnSpc>
                <a:spcPct val="100000"/>
              </a:lnSpc>
              <a:spcBef>
                <a:spcPts val="200"/>
              </a:spcBef>
              <a:spcAft>
                <a:spcPts val="0"/>
              </a:spcAft>
              <a:buSzPts val="2400"/>
              <a:buFont typeface="Noto Sans Symbols"/>
              <a:buChar char="▪"/>
            </a:pPr>
            <a:r>
              <a:rPr b="1" lang="en-US" sz="2400">
                <a:solidFill>
                  <a:schemeClr val="dk1"/>
                </a:solidFill>
                <a:latin typeface="Twentieth Century"/>
                <a:ea typeface="Twentieth Century"/>
                <a:cs typeface="Twentieth Century"/>
                <a:sym typeface="Twentieth Century"/>
              </a:rPr>
              <a:t>Experience</a:t>
            </a:r>
            <a:endParaRPr/>
          </a:p>
          <a:p>
            <a:pPr indent="0" lvl="0" marL="0" rtl="0" algn="l">
              <a:lnSpc>
                <a:spcPct val="100000"/>
              </a:lnSpc>
              <a:spcBef>
                <a:spcPts val="200"/>
              </a:spcBef>
              <a:spcAft>
                <a:spcPts val="0"/>
              </a:spcAft>
              <a:buSzPts val="2400"/>
              <a:buNone/>
            </a:pPr>
            <a:r>
              <a:t/>
            </a:r>
            <a:endParaRPr b="1" sz="2400">
              <a:solidFill>
                <a:srgbClr val="7030A0"/>
              </a:solidFill>
              <a:latin typeface="Twentieth Century"/>
              <a:ea typeface="Twentieth Century"/>
              <a:cs typeface="Twentieth Century"/>
              <a:sym typeface="Twentieth Century"/>
            </a:endParaRPr>
          </a:p>
          <a:p>
            <a:pPr indent="0" lvl="0" marL="0" rtl="0" algn="r">
              <a:lnSpc>
                <a:spcPct val="100000"/>
              </a:lnSpc>
              <a:spcBef>
                <a:spcPts val="200"/>
              </a:spcBef>
              <a:spcAft>
                <a:spcPts val="0"/>
              </a:spcAft>
              <a:buClr>
                <a:srgbClr val="0C0C0C"/>
              </a:buClr>
              <a:buSzPts val="2400"/>
              <a:buNone/>
            </a:pPr>
            <a:r>
              <a:t/>
            </a:r>
            <a:endParaRPr sz="2400"/>
          </a:p>
        </p:txBody>
      </p:sp>
      <p:pic>
        <p:nvPicPr>
          <p:cNvPr id="221" name="Google Shape;221;p6"/>
          <p:cNvPicPr preferRelativeResize="0"/>
          <p:nvPr/>
        </p:nvPicPr>
        <p:blipFill rotWithShape="1">
          <a:blip r:embed="rId3">
            <a:alphaModFix/>
          </a:blip>
          <a:srcRect b="0" l="0" r="0" t="0"/>
          <a:stretch/>
        </p:blipFill>
        <p:spPr>
          <a:xfrm>
            <a:off x="23527" y="0"/>
            <a:ext cx="1404938" cy="11557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25" name="Shape 225"/>
        <p:cNvGrpSpPr/>
        <p:nvPr/>
      </p:nvGrpSpPr>
      <p:grpSpPr>
        <a:xfrm>
          <a:off x="0" y="0"/>
          <a:ext cx="0" cy="0"/>
          <a:chOff x="0" y="0"/>
          <a:chExt cx="0" cy="0"/>
        </a:xfrm>
      </p:grpSpPr>
      <p:sp>
        <p:nvSpPr>
          <p:cNvPr id="226" name="Google Shape;226;p7"/>
          <p:cNvSpPr txBox="1"/>
          <p:nvPr>
            <p:ph type="ctrTitle"/>
          </p:nvPr>
        </p:nvSpPr>
        <p:spPr>
          <a:xfrm>
            <a:off x="1428465" y="276202"/>
            <a:ext cx="9144000" cy="1443416"/>
          </a:xfrm>
          <a:prstGeom prst="rect">
            <a:avLst/>
          </a:prstGeom>
          <a:noFill/>
          <a:ln>
            <a:noFill/>
          </a:ln>
        </p:spPr>
        <p:txBody>
          <a:bodyPr anchorCtr="0" anchor="ctr" bIns="45700" lIns="91425" spcFirstLastPara="1" rIns="91425" wrap="square" tIns="45700">
            <a:normAutofit/>
          </a:bodyPr>
          <a:lstStyle/>
          <a:p>
            <a:pPr indent="0" lvl="0" marL="0" rtl="0" algn="ctr">
              <a:lnSpc>
                <a:spcPct val="80000"/>
              </a:lnSpc>
              <a:spcBef>
                <a:spcPts val="0"/>
              </a:spcBef>
              <a:spcAft>
                <a:spcPts val="0"/>
              </a:spcAft>
              <a:buClr>
                <a:schemeClr val="dk1"/>
              </a:buClr>
              <a:buSzPts val="3600"/>
              <a:buFont typeface="Calibri"/>
              <a:buNone/>
            </a:pPr>
            <a:br>
              <a:rPr b="1" lang="en-US" sz="3600">
                <a:solidFill>
                  <a:schemeClr val="dk1"/>
                </a:solidFill>
                <a:latin typeface="Calibri"/>
                <a:ea typeface="Calibri"/>
                <a:cs typeface="Calibri"/>
                <a:sym typeface="Calibri"/>
              </a:rPr>
            </a:br>
            <a:br>
              <a:rPr b="1" lang="en-US" sz="3600">
                <a:solidFill>
                  <a:srgbClr val="7030A0"/>
                </a:solidFill>
                <a:latin typeface="Calibri"/>
                <a:ea typeface="Calibri"/>
                <a:cs typeface="Calibri"/>
                <a:sym typeface="Calibri"/>
              </a:rPr>
            </a:br>
            <a:r>
              <a:rPr b="1" lang="en-US" sz="3600">
                <a:solidFill>
                  <a:schemeClr val="accent1"/>
                </a:solidFill>
                <a:latin typeface="Calibri"/>
                <a:ea typeface="Calibri"/>
                <a:cs typeface="Calibri"/>
                <a:sym typeface="Calibri"/>
              </a:rPr>
              <a:t>INTRODUCTION TO ENTREPRENEURSHIP </a:t>
            </a:r>
            <a:endParaRPr sz="3600">
              <a:solidFill>
                <a:schemeClr val="accent1"/>
              </a:solidFill>
              <a:latin typeface="Calibri"/>
              <a:ea typeface="Calibri"/>
              <a:cs typeface="Calibri"/>
              <a:sym typeface="Calibri"/>
            </a:endParaRPr>
          </a:p>
        </p:txBody>
      </p:sp>
      <p:sp>
        <p:nvSpPr>
          <p:cNvPr id="227" name="Google Shape;227;p7"/>
          <p:cNvSpPr txBox="1"/>
          <p:nvPr>
            <p:ph idx="1" type="subTitle"/>
          </p:nvPr>
        </p:nvSpPr>
        <p:spPr>
          <a:xfrm>
            <a:off x="1696871" y="2133528"/>
            <a:ext cx="9144000" cy="3914775"/>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2800"/>
              <a:buNone/>
            </a:pPr>
            <a:r>
              <a:rPr b="1" lang="en-US" sz="2800">
                <a:solidFill>
                  <a:srgbClr val="00B050"/>
                </a:solidFill>
                <a:latin typeface="Twentieth Century"/>
                <a:ea typeface="Twentieth Century"/>
                <a:cs typeface="Twentieth Century"/>
                <a:sym typeface="Twentieth Century"/>
              </a:rPr>
              <a:t>Unemployment </a:t>
            </a:r>
            <a:r>
              <a:rPr b="1" lang="en-US" sz="2800">
                <a:solidFill>
                  <a:srgbClr val="7030A0"/>
                </a:solidFill>
                <a:latin typeface="Twentieth Century"/>
                <a:ea typeface="Twentieth Century"/>
                <a:cs typeface="Twentieth Century"/>
                <a:sym typeface="Twentieth Century"/>
              </a:rPr>
              <a:t> </a:t>
            </a:r>
            <a:endParaRPr/>
          </a:p>
          <a:p>
            <a:pPr indent="0" lvl="0" marL="0" rtl="0" algn="l">
              <a:lnSpc>
                <a:spcPct val="100000"/>
              </a:lnSpc>
              <a:spcBef>
                <a:spcPts val="200"/>
              </a:spcBef>
              <a:spcAft>
                <a:spcPts val="0"/>
              </a:spcAft>
              <a:buSzPts val="2800"/>
              <a:buNone/>
            </a:pPr>
            <a:r>
              <a:t/>
            </a:r>
            <a:endParaRPr b="1" sz="2800">
              <a:solidFill>
                <a:srgbClr val="7030A0"/>
              </a:solidFill>
              <a:latin typeface="Twentieth Century"/>
              <a:ea typeface="Twentieth Century"/>
              <a:cs typeface="Twentieth Century"/>
              <a:sym typeface="Twentieth Century"/>
            </a:endParaRPr>
          </a:p>
          <a:p>
            <a:pPr indent="-342900" lvl="0" marL="342900" rtl="0" algn="l">
              <a:lnSpc>
                <a:spcPct val="100000"/>
              </a:lnSpc>
              <a:spcBef>
                <a:spcPts val="200"/>
              </a:spcBef>
              <a:spcAft>
                <a:spcPts val="0"/>
              </a:spcAft>
              <a:buSzPts val="2400"/>
              <a:buFont typeface="Noto Sans Symbols"/>
              <a:buChar char="▪"/>
            </a:pPr>
            <a:r>
              <a:rPr b="1" lang="en-US" sz="2400">
                <a:solidFill>
                  <a:schemeClr val="dk1"/>
                </a:solidFill>
                <a:latin typeface="Twentieth Century"/>
                <a:ea typeface="Twentieth Century"/>
                <a:cs typeface="Twentieth Century"/>
                <a:sym typeface="Twentieth Century"/>
              </a:rPr>
              <a:t>Structural Unemployment </a:t>
            </a:r>
            <a:endParaRPr/>
          </a:p>
          <a:p>
            <a:pPr indent="0" lvl="0" marL="0" rtl="0" algn="l">
              <a:lnSpc>
                <a:spcPct val="100000"/>
              </a:lnSpc>
              <a:spcBef>
                <a:spcPts val="200"/>
              </a:spcBef>
              <a:spcAft>
                <a:spcPts val="0"/>
              </a:spcAft>
              <a:buSzPts val="2400"/>
              <a:buNone/>
            </a:pPr>
            <a:r>
              <a:t/>
            </a:r>
            <a:endParaRPr b="1" sz="2400">
              <a:solidFill>
                <a:srgbClr val="7030A0"/>
              </a:solidFill>
              <a:latin typeface="Twentieth Century"/>
              <a:ea typeface="Twentieth Century"/>
              <a:cs typeface="Twentieth Century"/>
              <a:sym typeface="Twentieth Century"/>
            </a:endParaRPr>
          </a:p>
          <a:p>
            <a:pPr indent="0" lvl="0" marL="0" rtl="0" algn="r">
              <a:lnSpc>
                <a:spcPct val="100000"/>
              </a:lnSpc>
              <a:spcBef>
                <a:spcPts val="200"/>
              </a:spcBef>
              <a:spcAft>
                <a:spcPts val="0"/>
              </a:spcAft>
              <a:buClr>
                <a:srgbClr val="0C0C0C"/>
              </a:buClr>
              <a:buSzPts val="2400"/>
              <a:buNone/>
            </a:pPr>
            <a:r>
              <a:t/>
            </a:r>
            <a:endParaRPr sz="2400"/>
          </a:p>
        </p:txBody>
      </p:sp>
      <p:pic>
        <p:nvPicPr>
          <p:cNvPr id="228" name="Google Shape;228;p7"/>
          <p:cNvPicPr preferRelativeResize="0"/>
          <p:nvPr/>
        </p:nvPicPr>
        <p:blipFill rotWithShape="1">
          <a:blip r:embed="rId3">
            <a:alphaModFix/>
          </a:blip>
          <a:srcRect b="0" l="0" r="0" t="0"/>
          <a:stretch/>
        </p:blipFill>
        <p:spPr>
          <a:xfrm>
            <a:off x="23527" y="0"/>
            <a:ext cx="1404938" cy="11557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32" name="Shape 232"/>
        <p:cNvGrpSpPr/>
        <p:nvPr/>
      </p:nvGrpSpPr>
      <p:grpSpPr>
        <a:xfrm>
          <a:off x="0" y="0"/>
          <a:ext cx="0" cy="0"/>
          <a:chOff x="0" y="0"/>
          <a:chExt cx="0" cy="0"/>
        </a:xfrm>
      </p:grpSpPr>
      <p:sp>
        <p:nvSpPr>
          <p:cNvPr id="233" name="Google Shape;233;p8"/>
          <p:cNvSpPr txBox="1"/>
          <p:nvPr>
            <p:ph type="ctrTitle"/>
          </p:nvPr>
        </p:nvSpPr>
        <p:spPr>
          <a:xfrm>
            <a:off x="1428465" y="276202"/>
            <a:ext cx="9144000" cy="1443416"/>
          </a:xfrm>
          <a:prstGeom prst="rect">
            <a:avLst/>
          </a:prstGeom>
          <a:noFill/>
          <a:ln>
            <a:noFill/>
          </a:ln>
        </p:spPr>
        <p:txBody>
          <a:bodyPr anchorCtr="0" anchor="ctr" bIns="45700" lIns="91425" spcFirstLastPara="1" rIns="91425" wrap="square" tIns="45700">
            <a:normAutofit/>
          </a:bodyPr>
          <a:lstStyle/>
          <a:p>
            <a:pPr indent="0" lvl="0" marL="0" rtl="0" algn="ctr">
              <a:lnSpc>
                <a:spcPct val="80000"/>
              </a:lnSpc>
              <a:spcBef>
                <a:spcPts val="0"/>
              </a:spcBef>
              <a:spcAft>
                <a:spcPts val="0"/>
              </a:spcAft>
              <a:buClr>
                <a:schemeClr val="dk1"/>
              </a:buClr>
              <a:buSzPts val="3600"/>
              <a:buFont typeface="Calibri"/>
              <a:buNone/>
            </a:pPr>
            <a:br>
              <a:rPr b="1" lang="en-US" sz="3600">
                <a:solidFill>
                  <a:schemeClr val="dk1"/>
                </a:solidFill>
                <a:latin typeface="Calibri"/>
                <a:ea typeface="Calibri"/>
                <a:cs typeface="Calibri"/>
                <a:sym typeface="Calibri"/>
              </a:rPr>
            </a:br>
            <a:br>
              <a:rPr b="1" lang="en-US" sz="3600">
                <a:solidFill>
                  <a:srgbClr val="7030A0"/>
                </a:solidFill>
                <a:latin typeface="Calibri"/>
                <a:ea typeface="Calibri"/>
                <a:cs typeface="Calibri"/>
                <a:sym typeface="Calibri"/>
              </a:rPr>
            </a:br>
            <a:r>
              <a:rPr b="1" lang="en-US" sz="3600">
                <a:solidFill>
                  <a:schemeClr val="accent1"/>
                </a:solidFill>
                <a:latin typeface="Calibri"/>
                <a:ea typeface="Calibri"/>
                <a:cs typeface="Calibri"/>
                <a:sym typeface="Calibri"/>
              </a:rPr>
              <a:t>INTRODUCTION TO ENTREPRENEURSHIP </a:t>
            </a:r>
            <a:endParaRPr sz="3600">
              <a:solidFill>
                <a:schemeClr val="accent1"/>
              </a:solidFill>
              <a:latin typeface="Calibri"/>
              <a:ea typeface="Calibri"/>
              <a:cs typeface="Calibri"/>
              <a:sym typeface="Calibri"/>
            </a:endParaRPr>
          </a:p>
        </p:txBody>
      </p:sp>
      <p:sp>
        <p:nvSpPr>
          <p:cNvPr id="234" name="Google Shape;234;p8"/>
          <p:cNvSpPr txBox="1"/>
          <p:nvPr>
            <p:ph idx="1" type="subTitle"/>
          </p:nvPr>
        </p:nvSpPr>
        <p:spPr>
          <a:xfrm>
            <a:off x="1696871" y="2133528"/>
            <a:ext cx="9144000" cy="3914775"/>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2800"/>
              <a:buNone/>
            </a:pPr>
            <a:r>
              <a:rPr b="1" lang="en-US" sz="2800">
                <a:solidFill>
                  <a:srgbClr val="00B050"/>
                </a:solidFill>
                <a:latin typeface="Twentieth Century"/>
                <a:ea typeface="Twentieth Century"/>
                <a:cs typeface="Twentieth Century"/>
                <a:sym typeface="Twentieth Century"/>
              </a:rPr>
              <a:t>Regionality</a:t>
            </a:r>
            <a:endParaRPr b="1" sz="2800">
              <a:solidFill>
                <a:srgbClr val="7030A0"/>
              </a:solidFill>
              <a:latin typeface="Twentieth Century"/>
              <a:ea typeface="Twentieth Century"/>
              <a:cs typeface="Twentieth Century"/>
              <a:sym typeface="Twentieth Century"/>
            </a:endParaRPr>
          </a:p>
          <a:p>
            <a:pPr indent="0" lvl="0" marL="0" rtl="0" algn="l">
              <a:lnSpc>
                <a:spcPct val="100000"/>
              </a:lnSpc>
              <a:spcBef>
                <a:spcPts val="200"/>
              </a:spcBef>
              <a:spcAft>
                <a:spcPts val="0"/>
              </a:spcAft>
              <a:buSzPts val="2800"/>
              <a:buNone/>
            </a:pPr>
            <a:r>
              <a:t/>
            </a:r>
            <a:endParaRPr b="1" sz="2800">
              <a:solidFill>
                <a:srgbClr val="7030A0"/>
              </a:solidFill>
              <a:latin typeface="Twentieth Century"/>
              <a:ea typeface="Twentieth Century"/>
              <a:cs typeface="Twentieth Century"/>
              <a:sym typeface="Twentieth Century"/>
            </a:endParaRPr>
          </a:p>
          <a:p>
            <a:pPr indent="-342900" lvl="0" marL="342900" rtl="0" algn="l">
              <a:lnSpc>
                <a:spcPct val="100000"/>
              </a:lnSpc>
              <a:spcBef>
                <a:spcPts val="200"/>
              </a:spcBef>
              <a:spcAft>
                <a:spcPts val="0"/>
              </a:spcAft>
              <a:buSzPts val="2400"/>
              <a:buFont typeface="Noto Sans Symbols"/>
              <a:buChar char="▪"/>
            </a:pPr>
            <a:r>
              <a:rPr b="1" lang="en-US" sz="2400">
                <a:solidFill>
                  <a:schemeClr val="dk1"/>
                </a:solidFill>
                <a:latin typeface="Twentieth Century"/>
                <a:ea typeface="Twentieth Century"/>
                <a:cs typeface="Twentieth Century"/>
                <a:sym typeface="Twentieth Century"/>
              </a:rPr>
              <a:t>Structural Unemployment </a:t>
            </a:r>
            <a:endParaRPr/>
          </a:p>
          <a:p>
            <a:pPr indent="0" lvl="0" marL="0" rtl="0" algn="l">
              <a:lnSpc>
                <a:spcPct val="100000"/>
              </a:lnSpc>
              <a:spcBef>
                <a:spcPts val="200"/>
              </a:spcBef>
              <a:spcAft>
                <a:spcPts val="0"/>
              </a:spcAft>
              <a:buSzPts val="2400"/>
              <a:buNone/>
            </a:pPr>
            <a:r>
              <a:t/>
            </a:r>
            <a:endParaRPr b="1" sz="2400">
              <a:solidFill>
                <a:srgbClr val="7030A0"/>
              </a:solidFill>
              <a:latin typeface="Twentieth Century"/>
              <a:ea typeface="Twentieth Century"/>
              <a:cs typeface="Twentieth Century"/>
              <a:sym typeface="Twentieth Century"/>
            </a:endParaRPr>
          </a:p>
          <a:p>
            <a:pPr indent="0" lvl="0" marL="0" rtl="0" algn="r">
              <a:lnSpc>
                <a:spcPct val="100000"/>
              </a:lnSpc>
              <a:spcBef>
                <a:spcPts val="200"/>
              </a:spcBef>
              <a:spcAft>
                <a:spcPts val="0"/>
              </a:spcAft>
              <a:buClr>
                <a:srgbClr val="0C0C0C"/>
              </a:buClr>
              <a:buSzPts val="2400"/>
              <a:buNone/>
            </a:pPr>
            <a:r>
              <a:t/>
            </a:r>
            <a:endParaRPr sz="2400"/>
          </a:p>
        </p:txBody>
      </p:sp>
      <p:pic>
        <p:nvPicPr>
          <p:cNvPr id="235" name="Google Shape;235;p8"/>
          <p:cNvPicPr preferRelativeResize="0"/>
          <p:nvPr/>
        </p:nvPicPr>
        <p:blipFill rotWithShape="1">
          <a:blip r:embed="rId3">
            <a:alphaModFix/>
          </a:blip>
          <a:srcRect b="0" l="0" r="0" t="0"/>
          <a:stretch/>
        </p:blipFill>
        <p:spPr>
          <a:xfrm>
            <a:off x="23527" y="0"/>
            <a:ext cx="1404938" cy="11557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39" name="Shape 239"/>
        <p:cNvGrpSpPr/>
        <p:nvPr/>
      </p:nvGrpSpPr>
      <p:grpSpPr>
        <a:xfrm>
          <a:off x="0" y="0"/>
          <a:ext cx="0" cy="0"/>
          <a:chOff x="0" y="0"/>
          <a:chExt cx="0" cy="0"/>
        </a:xfrm>
      </p:grpSpPr>
      <p:sp>
        <p:nvSpPr>
          <p:cNvPr id="240" name="Google Shape;240;p9"/>
          <p:cNvSpPr txBox="1"/>
          <p:nvPr>
            <p:ph type="ctrTitle"/>
          </p:nvPr>
        </p:nvSpPr>
        <p:spPr>
          <a:xfrm>
            <a:off x="1428465" y="276202"/>
            <a:ext cx="9144000" cy="1443416"/>
          </a:xfrm>
          <a:prstGeom prst="rect">
            <a:avLst/>
          </a:prstGeom>
          <a:noFill/>
          <a:ln>
            <a:noFill/>
          </a:ln>
        </p:spPr>
        <p:txBody>
          <a:bodyPr anchorCtr="0" anchor="ctr" bIns="45700" lIns="91425" spcFirstLastPara="1" rIns="91425" wrap="square" tIns="45700">
            <a:normAutofit/>
          </a:bodyPr>
          <a:lstStyle/>
          <a:p>
            <a:pPr indent="0" lvl="0" marL="0" rtl="0" algn="ctr">
              <a:lnSpc>
                <a:spcPct val="80000"/>
              </a:lnSpc>
              <a:spcBef>
                <a:spcPts val="0"/>
              </a:spcBef>
              <a:spcAft>
                <a:spcPts val="0"/>
              </a:spcAft>
              <a:buClr>
                <a:schemeClr val="dk1"/>
              </a:buClr>
              <a:buSzPts val="3600"/>
              <a:buFont typeface="Calibri"/>
              <a:buNone/>
            </a:pPr>
            <a:br>
              <a:rPr b="1" lang="en-US" sz="3600">
                <a:solidFill>
                  <a:schemeClr val="dk1"/>
                </a:solidFill>
                <a:latin typeface="Calibri"/>
                <a:ea typeface="Calibri"/>
                <a:cs typeface="Calibri"/>
                <a:sym typeface="Calibri"/>
              </a:rPr>
            </a:br>
            <a:br>
              <a:rPr b="1" lang="en-US" sz="3600">
                <a:solidFill>
                  <a:srgbClr val="7030A0"/>
                </a:solidFill>
                <a:latin typeface="Calibri"/>
                <a:ea typeface="Calibri"/>
                <a:cs typeface="Calibri"/>
                <a:sym typeface="Calibri"/>
              </a:rPr>
            </a:br>
            <a:r>
              <a:rPr b="1" lang="en-US" sz="3600">
                <a:solidFill>
                  <a:schemeClr val="accent1"/>
                </a:solidFill>
                <a:latin typeface="Calibri"/>
                <a:ea typeface="Calibri"/>
                <a:cs typeface="Calibri"/>
                <a:sym typeface="Calibri"/>
              </a:rPr>
              <a:t>INTRODUCTION TO ENTREPRENEURSHIP  </a:t>
            </a:r>
            <a:endParaRPr sz="3600">
              <a:solidFill>
                <a:schemeClr val="accent1"/>
              </a:solidFill>
              <a:latin typeface="Calibri"/>
              <a:ea typeface="Calibri"/>
              <a:cs typeface="Calibri"/>
              <a:sym typeface="Calibri"/>
            </a:endParaRPr>
          </a:p>
        </p:txBody>
      </p:sp>
      <p:sp>
        <p:nvSpPr>
          <p:cNvPr id="241" name="Google Shape;241;p9"/>
          <p:cNvSpPr txBox="1"/>
          <p:nvPr>
            <p:ph idx="1" type="subTitle"/>
          </p:nvPr>
        </p:nvSpPr>
        <p:spPr>
          <a:xfrm>
            <a:off x="1696871" y="2133528"/>
            <a:ext cx="9144000" cy="3914775"/>
          </a:xfrm>
          <a:prstGeom prst="rect">
            <a:avLst/>
          </a:prstGeom>
          <a:noFill/>
          <a:ln>
            <a:noFill/>
          </a:ln>
        </p:spPr>
        <p:txBody>
          <a:bodyPr anchorCtr="0" anchor="ctr" bIns="45700" lIns="91425" spcFirstLastPara="1" rIns="91425" wrap="square" tIns="45700">
            <a:normAutofit lnSpcReduction="10000"/>
          </a:bodyPr>
          <a:lstStyle/>
          <a:p>
            <a:pPr indent="0" lvl="0" marL="0" rtl="0" algn="l">
              <a:lnSpc>
                <a:spcPct val="100000"/>
              </a:lnSpc>
              <a:spcBef>
                <a:spcPts val="0"/>
              </a:spcBef>
              <a:spcAft>
                <a:spcPts val="0"/>
              </a:spcAft>
              <a:buSzPts val="2800"/>
              <a:buNone/>
            </a:pPr>
            <a:r>
              <a:rPr b="1" lang="en-US" sz="2800">
                <a:solidFill>
                  <a:srgbClr val="00B050"/>
                </a:solidFill>
                <a:latin typeface="Twentieth Century"/>
                <a:ea typeface="Twentieth Century"/>
                <a:cs typeface="Twentieth Century"/>
                <a:sym typeface="Twentieth Century"/>
              </a:rPr>
              <a:t>Immigrants and Ethnic Minority   </a:t>
            </a:r>
            <a:endParaRPr/>
          </a:p>
          <a:p>
            <a:pPr indent="0" lvl="0" marL="0" rtl="0" algn="l">
              <a:lnSpc>
                <a:spcPct val="100000"/>
              </a:lnSpc>
              <a:spcBef>
                <a:spcPts val="200"/>
              </a:spcBef>
              <a:spcAft>
                <a:spcPts val="0"/>
              </a:spcAft>
              <a:buSzPts val="2800"/>
              <a:buNone/>
            </a:pPr>
            <a:r>
              <a:t/>
            </a:r>
            <a:endParaRPr b="1" sz="2800">
              <a:solidFill>
                <a:srgbClr val="7030A0"/>
              </a:solidFill>
              <a:latin typeface="Twentieth Century"/>
              <a:ea typeface="Twentieth Century"/>
              <a:cs typeface="Twentieth Century"/>
              <a:sym typeface="Twentieth Century"/>
            </a:endParaRPr>
          </a:p>
          <a:p>
            <a:pPr indent="-342900" lvl="0" marL="342900" rtl="0" algn="l">
              <a:lnSpc>
                <a:spcPct val="100000"/>
              </a:lnSpc>
              <a:spcBef>
                <a:spcPts val="200"/>
              </a:spcBef>
              <a:spcAft>
                <a:spcPts val="0"/>
              </a:spcAft>
              <a:buSzPts val="2400"/>
              <a:buFont typeface="Arial"/>
              <a:buChar char="•"/>
            </a:pPr>
            <a:r>
              <a:rPr lang="en-US" sz="2400"/>
              <a:t>Employer discrimination.</a:t>
            </a:r>
            <a:endParaRPr/>
          </a:p>
          <a:p>
            <a:pPr indent="-342900" lvl="0" marL="342900" rtl="0" algn="l">
              <a:lnSpc>
                <a:spcPct val="100000"/>
              </a:lnSpc>
              <a:spcBef>
                <a:spcPts val="200"/>
              </a:spcBef>
              <a:spcAft>
                <a:spcPts val="0"/>
              </a:spcAft>
              <a:buSzPts val="2400"/>
              <a:buFont typeface="Arial"/>
              <a:buChar char="•"/>
            </a:pPr>
            <a:r>
              <a:rPr lang="en-US" sz="2400"/>
              <a:t>Access to capital discrimination.</a:t>
            </a:r>
            <a:endParaRPr/>
          </a:p>
          <a:p>
            <a:pPr indent="-342900" lvl="0" marL="342900" rtl="0" algn="l">
              <a:lnSpc>
                <a:spcPct val="100000"/>
              </a:lnSpc>
              <a:spcBef>
                <a:spcPts val="200"/>
              </a:spcBef>
              <a:spcAft>
                <a:spcPts val="0"/>
              </a:spcAft>
              <a:buSzPts val="2400"/>
              <a:buFont typeface="Arial"/>
              <a:buChar char="•"/>
            </a:pPr>
            <a:r>
              <a:rPr lang="en-US" sz="2400"/>
              <a:t>Consumer discrimination.</a:t>
            </a:r>
            <a:endParaRPr/>
          </a:p>
          <a:p>
            <a:pPr indent="-342900" lvl="0" marL="342900" rtl="0" algn="l">
              <a:lnSpc>
                <a:spcPct val="100000"/>
              </a:lnSpc>
              <a:spcBef>
                <a:spcPts val="200"/>
              </a:spcBef>
              <a:spcAft>
                <a:spcPts val="0"/>
              </a:spcAft>
              <a:buSzPts val="2400"/>
              <a:buFont typeface="Arial"/>
              <a:buChar char="•"/>
            </a:pPr>
            <a:r>
              <a:rPr lang="en-US" sz="2400"/>
              <a:t>Ethnic enclaves and geographical clusters where the specific ethnic minority is denser than elsewhere.</a:t>
            </a:r>
            <a:endParaRPr/>
          </a:p>
          <a:p>
            <a:pPr indent="-342900" lvl="0" marL="342900" rtl="0" algn="l">
              <a:lnSpc>
                <a:spcPct val="100000"/>
              </a:lnSpc>
              <a:spcBef>
                <a:spcPts val="200"/>
              </a:spcBef>
              <a:spcAft>
                <a:spcPts val="0"/>
              </a:spcAft>
              <a:buSzPts val="2400"/>
              <a:buFont typeface="Arial"/>
              <a:buChar char="•"/>
            </a:pPr>
            <a:r>
              <a:rPr lang="en-US" sz="2400"/>
              <a:t>The entrepreneurial propensity of the culture of each ethnic group.</a:t>
            </a:r>
            <a:endParaRPr b="1" sz="2400">
              <a:solidFill>
                <a:srgbClr val="7030A0"/>
              </a:solidFill>
              <a:latin typeface="Twentieth Century"/>
              <a:ea typeface="Twentieth Century"/>
              <a:cs typeface="Twentieth Century"/>
              <a:sym typeface="Twentieth Century"/>
            </a:endParaRPr>
          </a:p>
          <a:p>
            <a:pPr indent="0" lvl="0" marL="0" rtl="0" algn="r">
              <a:lnSpc>
                <a:spcPct val="100000"/>
              </a:lnSpc>
              <a:spcBef>
                <a:spcPts val="200"/>
              </a:spcBef>
              <a:spcAft>
                <a:spcPts val="0"/>
              </a:spcAft>
              <a:buClr>
                <a:srgbClr val="0C0C0C"/>
              </a:buClr>
              <a:buSzPts val="2400"/>
              <a:buNone/>
            </a:pPr>
            <a:r>
              <a:t/>
            </a:r>
            <a:endParaRPr sz="2400"/>
          </a:p>
        </p:txBody>
      </p:sp>
      <p:pic>
        <p:nvPicPr>
          <p:cNvPr id="242" name="Google Shape;242;p9"/>
          <p:cNvPicPr preferRelativeResize="0"/>
          <p:nvPr/>
        </p:nvPicPr>
        <p:blipFill rotWithShape="1">
          <a:blip r:embed="rId3">
            <a:alphaModFix/>
          </a:blip>
          <a:srcRect b="0" l="0" r="0" t="0"/>
          <a:stretch/>
        </p:blipFill>
        <p:spPr>
          <a:xfrm>
            <a:off x="23527" y="0"/>
            <a:ext cx="1404938" cy="11557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46" name="Shape 246"/>
        <p:cNvGrpSpPr/>
        <p:nvPr/>
      </p:nvGrpSpPr>
      <p:grpSpPr>
        <a:xfrm>
          <a:off x="0" y="0"/>
          <a:ext cx="0" cy="0"/>
          <a:chOff x="0" y="0"/>
          <a:chExt cx="0" cy="0"/>
        </a:xfrm>
      </p:grpSpPr>
      <p:sp>
        <p:nvSpPr>
          <p:cNvPr id="247" name="Google Shape;247;p10"/>
          <p:cNvSpPr txBox="1"/>
          <p:nvPr>
            <p:ph type="ctrTitle"/>
          </p:nvPr>
        </p:nvSpPr>
        <p:spPr>
          <a:xfrm>
            <a:off x="1428465" y="276202"/>
            <a:ext cx="9144000" cy="1443416"/>
          </a:xfrm>
          <a:prstGeom prst="rect">
            <a:avLst/>
          </a:prstGeom>
          <a:noFill/>
          <a:ln>
            <a:noFill/>
          </a:ln>
        </p:spPr>
        <p:txBody>
          <a:bodyPr anchorCtr="0" anchor="ctr" bIns="45700" lIns="91425" spcFirstLastPara="1" rIns="91425" wrap="square" tIns="45700">
            <a:normAutofit/>
          </a:bodyPr>
          <a:lstStyle/>
          <a:p>
            <a:pPr indent="0" lvl="0" marL="0" rtl="0" algn="ctr">
              <a:lnSpc>
                <a:spcPct val="80000"/>
              </a:lnSpc>
              <a:spcBef>
                <a:spcPts val="0"/>
              </a:spcBef>
              <a:spcAft>
                <a:spcPts val="0"/>
              </a:spcAft>
              <a:buClr>
                <a:schemeClr val="dk1"/>
              </a:buClr>
              <a:buSzPts val="3600"/>
              <a:buFont typeface="Calibri"/>
              <a:buNone/>
            </a:pPr>
            <a:br>
              <a:rPr b="1" lang="en-US" sz="3600">
                <a:solidFill>
                  <a:schemeClr val="dk1"/>
                </a:solidFill>
                <a:latin typeface="Calibri"/>
                <a:ea typeface="Calibri"/>
                <a:cs typeface="Calibri"/>
                <a:sym typeface="Calibri"/>
              </a:rPr>
            </a:br>
            <a:br>
              <a:rPr b="1" lang="en-US" sz="3600">
                <a:solidFill>
                  <a:srgbClr val="7030A0"/>
                </a:solidFill>
                <a:latin typeface="Calibri"/>
                <a:ea typeface="Calibri"/>
                <a:cs typeface="Calibri"/>
                <a:sym typeface="Calibri"/>
              </a:rPr>
            </a:br>
            <a:r>
              <a:rPr b="1" lang="en-US" sz="3600">
                <a:solidFill>
                  <a:schemeClr val="accent1"/>
                </a:solidFill>
                <a:latin typeface="Calibri"/>
                <a:ea typeface="Calibri"/>
                <a:cs typeface="Calibri"/>
                <a:sym typeface="Calibri"/>
              </a:rPr>
              <a:t>INTRODUCTION TO ENTREPRENEURSHIP  </a:t>
            </a:r>
            <a:endParaRPr sz="3600">
              <a:solidFill>
                <a:schemeClr val="accent1"/>
              </a:solidFill>
              <a:latin typeface="Calibri"/>
              <a:ea typeface="Calibri"/>
              <a:cs typeface="Calibri"/>
              <a:sym typeface="Calibri"/>
            </a:endParaRPr>
          </a:p>
        </p:txBody>
      </p:sp>
      <p:sp>
        <p:nvSpPr>
          <p:cNvPr id="248" name="Google Shape;248;p10"/>
          <p:cNvSpPr txBox="1"/>
          <p:nvPr>
            <p:ph idx="1" type="subTitle"/>
          </p:nvPr>
        </p:nvSpPr>
        <p:spPr>
          <a:xfrm>
            <a:off x="1696871" y="2133528"/>
            <a:ext cx="9144000" cy="3914775"/>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2800"/>
              <a:buNone/>
            </a:pPr>
            <a:r>
              <a:rPr b="1" lang="en-US" sz="2800">
                <a:solidFill>
                  <a:srgbClr val="00B050"/>
                </a:solidFill>
                <a:latin typeface="Twentieth Century"/>
                <a:ea typeface="Twentieth Century"/>
                <a:cs typeface="Twentieth Century"/>
                <a:sym typeface="Twentieth Century"/>
              </a:rPr>
              <a:t>Female Entrepreneurs </a:t>
            </a:r>
            <a:endParaRPr b="1" sz="2800">
              <a:solidFill>
                <a:srgbClr val="00B050"/>
              </a:solidFill>
              <a:latin typeface="Twentieth Century"/>
              <a:ea typeface="Twentieth Century"/>
              <a:cs typeface="Twentieth Century"/>
              <a:sym typeface="Twentieth Century"/>
            </a:endParaRPr>
          </a:p>
          <a:p>
            <a:pPr indent="0" lvl="0" marL="0" rtl="0" algn="l">
              <a:lnSpc>
                <a:spcPct val="100000"/>
              </a:lnSpc>
              <a:spcBef>
                <a:spcPts val="200"/>
              </a:spcBef>
              <a:spcAft>
                <a:spcPts val="0"/>
              </a:spcAft>
              <a:buSzPts val="2800"/>
              <a:buNone/>
            </a:pPr>
            <a:r>
              <a:t/>
            </a:r>
            <a:endParaRPr b="1" sz="2800">
              <a:solidFill>
                <a:srgbClr val="7030A0"/>
              </a:solidFill>
              <a:latin typeface="Twentieth Century"/>
              <a:ea typeface="Twentieth Century"/>
              <a:cs typeface="Twentieth Century"/>
              <a:sym typeface="Twentieth Century"/>
            </a:endParaRPr>
          </a:p>
          <a:p>
            <a:pPr indent="-342900" lvl="0" marL="342900" rtl="0" algn="l">
              <a:lnSpc>
                <a:spcPct val="100000"/>
              </a:lnSpc>
              <a:spcBef>
                <a:spcPts val="200"/>
              </a:spcBef>
              <a:spcAft>
                <a:spcPts val="0"/>
              </a:spcAft>
              <a:buSzPts val="2400"/>
              <a:buFont typeface="Arial"/>
              <a:buChar char="•"/>
            </a:pPr>
            <a:r>
              <a:rPr lang="en-US" sz="2400"/>
              <a:t>Discrimination.</a:t>
            </a:r>
            <a:endParaRPr/>
          </a:p>
          <a:p>
            <a:pPr indent="-342900" lvl="0" marL="342900" rtl="0" algn="l">
              <a:lnSpc>
                <a:spcPct val="100000"/>
              </a:lnSpc>
              <a:spcBef>
                <a:spcPts val="200"/>
              </a:spcBef>
              <a:spcAft>
                <a:spcPts val="0"/>
              </a:spcAft>
              <a:buSzPts val="2400"/>
              <a:buFont typeface="Arial"/>
              <a:buChar char="•"/>
            </a:pPr>
            <a:r>
              <a:rPr lang="en-US" sz="2400"/>
              <a:t>Time flexibility (child care, household etc).</a:t>
            </a:r>
            <a:endParaRPr/>
          </a:p>
          <a:p>
            <a:pPr indent="-342900" lvl="0" marL="342900" rtl="0" algn="l">
              <a:lnSpc>
                <a:spcPct val="100000"/>
              </a:lnSpc>
              <a:spcBef>
                <a:spcPts val="200"/>
              </a:spcBef>
              <a:spcAft>
                <a:spcPts val="0"/>
              </a:spcAft>
              <a:buSzPts val="2400"/>
              <a:buFont typeface="Arial"/>
              <a:buChar char="•"/>
            </a:pPr>
            <a:r>
              <a:rPr lang="en-US" sz="2400"/>
              <a:t>Household contribution of the partner.</a:t>
            </a:r>
            <a:endParaRPr/>
          </a:p>
          <a:p>
            <a:pPr indent="-342900" lvl="0" marL="342900" rtl="0" algn="l">
              <a:lnSpc>
                <a:spcPct val="100000"/>
              </a:lnSpc>
              <a:spcBef>
                <a:spcPts val="200"/>
              </a:spcBef>
              <a:spcAft>
                <a:spcPts val="0"/>
              </a:spcAft>
              <a:buSzPts val="2400"/>
              <a:buFont typeface="Arial"/>
              <a:buChar char="•"/>
            </a:pPr>
            <a:r>
              <a:rPr lang="en-US" sz="2400"/>
              <a:t>Education potential and education barriers.</a:t>
            </a:r>
            <a:endParaRPr/>
          </a:p>
          <a:p>
            <a:pPr indent="-342900" lvl="0" marL="342900" rtl="0" algn="l">
              <a:lnSpc>
                <a:spcPct val="100000"/>
              </a:lnSpc>
              <a:spcBef>
                <a:spcPts val="200"/>
              </a:spcBef>
              <a:spcAft>
                <a:spcPts val="0"/>
              </a:spcAft>
              <a:buSzPts val="2400"/>
              <a:buFont typeface="Arial"/>
              <a:buChar char="•"/>
            </a:pPr>
            <a:r>
              <a:rPr lang="en-US" sz="2400"/>
              <a:t>Relative earnings and demand for female workers in the market.</a:t>
            </a:r>
            <a:endParaRPr/>
          </a:p>
          <a:p>
            <a:pPr indent="-342900" lvl="0" marL="342900" rtl="0" algn="l">
              <a:lnSpc>
                <a:spcPct val="100000"/>
              </a:lnSpc>
              <a:spcBef>
                <a:spcPts val="200"/>
              </a:spcBef>
              <a:spcAft>
                <a:spcPts val="0"/>
              </a:spcAft>
              <a:buSzPts val="2400"/>
              <a:buFont typeface="Arial"/>
              <a:buChar char="•"/>
            </a:pPr>
            <a:r>
              <a:rPr lang="en-US" sz="2400"/>
              <a:t>Less self employment income than their male counterparts</a:t>
            </a:r>
            <a:endParaRPr sz="2400"/>
          </a:p>
        </p:txBody>
      </p:sp>
      <p:pic>
        <p:nvPicPr>
          <p:cNvPr id="249" name="Google Shape;249;p10"/>
          <p:cNvPicPr preferRelativeResize="0"/>
          <p:nvPr/>
        </p:nvPicPr>
        <p:blipFill rotWithShape="1">
          <a:blip r:embed="rId3">
            <a:alphaModFix/>
          </a:blip>
          <a:srcRect b="0" l="0" r="0" t="0"/>
          <a:stretch/>
        </p:blipFill>
        <p:spPr>
          <a:xfrm>
            <a:off x="23527" y="0"/>
            <a:ext cx="1404938" cy="1155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xEl>
                                              <p:pRg end="0" st="0"/>
                                            </p:txEl>
                                          </p:spTgt>
                                        </p:tgtEl>
                                        <p:attrNameLst>
                                          <p:attrName>style.visibility</p:attrName>
                                        </p:attrNameLst>
                                      </p:cBhvr>
                                      <p:to>
                                        <p:strVal val="visible"/>
                                      </p:to>
                                    </p:set>
                                    <p:animEffect filter="fade" transition="in">
                                      <p:cBhvr>
                                        <p:cTn dur="1000"/>
                                        <p:tgtEl>
                                          <p:spTgt spid="24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xEl>
                                              <p:pRg end="1" st="1"/>
                                            </p:txEl>
                                          </p:spTgt>
                                        </p:tgtEl>
                                        <p:attrNameLst>
                                          <p:attrName>style.visibility</p:attrName>
                                        </p:attrNameLst>
                                      </p:cBhvr>
                                      <p:to>
                                        <p:strVal val="visible"/>
                                      </p:to>
                                    </p:set>
                                    <p:animEffect filter="fade" transition="in">
                                      <p:cBhvr>
                                        <p:cTn dur="1000"/>
                                        <p:tgtEl>
                                          <p:spTgt spid="24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xEl>
                                              <p:pRg end="2" st="2"/>
                                            </p:txEl>
                                          </p:spTgt>
                                        </p:tgtEl>
                                        <p:attrNameLst>
                                          <p:attrName>style.visibility</p:attrName>
                                        </p:attrNameLst>
                                      </p:cBhvr>
                                      <p:to>
                                        <p:strVal val="visible"/>
                                      </p:to>
                                    </p:set>
                                    <p:animEffect filter="fade" transition="in">
                                      <p:cBhvr>
                                        <p:cTn dur="1000"/>
                                        <p:tgtEl>
                                          <p:spTgt spid="24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xEl>
                                              <p:pRg end="3" st="3"/>
                                            </p:txEl>
                                          </p:spTgt>
                                        </p:tgtEl>
                                        <p:attrNameLst>
                                          <p:attrName>style.visibility</p:attrName>
                                        </p:attrNameLst>
                                      </p:cBhvr>
                                      <p:to>
                                        <p:strVal val="visible"/>
                                      </p:to>
                                    </p:set>
                                    <p:animEffect filter="fade" transition="in">
                                      <p:cBhvr>
                                        <p:cTn dur="1000"/>
                                        <p:tgtEl>
                                          <p:spTgt spid="24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xEl>
                                              <p:pRg end="4" st="4"/>
                                            </p:txEl>
                                          </p:spTgt>
                                        </p:tgtEl>
                                        <p:attrNameLst>
                                          <p:attrName>style.visibility</p:attrName>
                                        </p:attrNameLst>
                                      </p:cBhvr>
                                      <p:to>
                                        <p:strVal val="visible"/>
                                      </p:to>
                                    </p:set>
                                    <p:animEffect filter="fade" transition="in">
                                      <p:cBhvr>
                                        <p:cTn dur="1000"/>
                                        <p:tgtEl>
                                          <p:spTgt spid="24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xEl>
                                              <p:pRg end="5" st="5"/>
                                            </p:txEl>
                                          </p:spTgt>
                                        </p:tgtEl>
                                        <p:attrNameLst>
                                          <p:attrName>style.visibility</p:attrName>
                                        </p:attrNameLst>
                                      </p:cBhvr>
                                      <p:to>
                                        <p:strVal val="visible"/>
                                      </p:to>
                                    </p:set>
                                    <p:animEffect filter="fade" transition="in">
                                      <p:cBhvr>
                                        <p:cTn dur="1000"/>
                                        <p:tgtEl>
                                          <p:spTgt spid="24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xEl>
                                              <p:pRg end="6" st="6"/>
                                            </p:txEl>
                                          </p:spTgt>
                                        </p:tgtEl>
                                        <p:attrNameLst>
                                          <p:attrName>style.visibility</p:attrName>
                                        </p:attrNameLst>
                                      </p:cBhvr>
                                      <p:to>
                                        <p:strVal val="visible"/>
                                      </p:to>
                                    </p:set>
                                    <p:animEffect filter="fade" transition="in">
                                      <p:cBhvr>
                                        <p:cTn dur="1000"/>
                                        <p:tgtEl>
                                          <p:spTgt spid="24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xEl>
                                              <p:pRg end="7" st="7"/>
                                            </p:txEl>
                                          </p:spTgt>
                                        </p:tgtEl>
                                        <p:attrNameLst>
                                          <p:attrName>style.visibility</p:attrName>
                                        </p:attrNameLst>
                                      </p:cBhvr>
                                      <p:to>
                                        <p:strVal val="visible"/>
                                      </p:to>
                                    </p:set>
                                    <p:animEffect filter="fade" transition="in">
                                      <p:cBhvr>
                                        <p:cTn dur="1000"/>
                                        <p:tgtEl>
                                          <p:spTgt spid="248">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53" name="Shape 253"/>
        <p:cNvGrpSpPr/>
        <p:nvPr/>
      </p:nvGrpSpPr>
      <p:grpSpPr>
        <a:xfrm>
          <a:off x="0" y="0"/>
          <a:ext cx="0" cy="0"/>
          <a:chOff x="0" y="0"/>
          <a:chExt cx="0" cy="0"/>
        </a:xfrm>
      </p:grpSpPr>
      <p:sp>
        <p:nvSpPr>
          <p:cNvPr id="254" name="Google Shape;254;p11"/>
          <p:cNvSpPr txBox="1"/>
          <p:nvPr>
            <p:ph type="ctrTitle"/>
          </p:nvPr>
        </p:nvSpPr>
        <p:spPr>
          <a:xfrm>
            <a:off x="1428465" y="276202"/>
            <a:ext cx="9144000" cy="1443416"/>
          </a:xfrm>
          <a:prstGeom prst="rect">
            <a:avLst/>
          </a:prstGeom>
          <a:noFill/>
          <a:ln>
            <a:noFill/>
          </a:ln>
        </p:spPr>
        <p:txBody>
          <a:bodyPr anchorCtr="0" anchor="ctr" bIns="45700" lIns="91425" spcFirstLastPara="1" rIns="91425" wrap="square" tIns="45700">
            <a:normAutofit/>
          </a:bodyPr>
          <a:lstStyle/>
          <a:p>
            <a:pPr indent="0" lvl="0" marL="0" rtl="0" algn="ctr">
              <a:lnSpc>
                <a:spcPct val="80000"/>
              </a:lnSpc>
              <a:spcBef>
                <a:spcPts val="0"/>
              </a:spcBef>
              <a:spcAft>
                <a:spcPts val="0"/>
              </a:spcAft>
              <a:buClr>
                <a:schemeClr val="dk1"/>
              </a:buClr>
              <a:buSzPts val="3600"/>
              <a:buFont typeface="Calibri"/>
              <a:buNone/>
            </a:pPr>
            <a:br>
              <a:rPr b="1" lang="en-US" sz="3600">
                <a:solidFill>
                  <a:schemeClr val="dk1"/>
                </a:solidFill>
                <a:latin typeface="Calibri"/>
                <a:ea typeface="Calibri"/>
                <a:cs typeface="Calibri"/>
                <a:sym typeface="Calibri"/>
              </a:rPr>
            </a:br>
            <a:br>
              <a:rPr b="1" lang="en-US" sz="3600">
                <a:solidFill>
                  <a:srgbClr val="7030A0"/>
                </a:solidFill>
                <a:latin typeface="Calibri"/>
                <a:ea typeface="Calibri"/>
                <a:cs typeface="Calibri"/>
                <a:sym typeface="Calibri"/>
              </a:rPr>
            </a:br>
            <a:r>
              <a:rPr b="1" lang="en-US" sz="3600">
                <a:solidFill>
                  <a:schemeClr val="accent1"/>
                </a:solidFill>
                <a:latin typeface="Calibri"/>
                <a:ea typeface="Calibri"/>
                <a:cs typeface="Calibri"/>
                <a:sym typeface="Calibri"/>
              </a:rPr>
              <a:t>INTRODUCTION TO ENTREPRENEURSHIP  </a:t>
            </a:r>
            <a:endParaRPr sz="3600">
              <a:solidFill>
                <a:schemeClr val="accent1"/>
              </a:solidFill>
              <a:latin typeface="Calibri"/>
              <a:ea typeface="Calibri"/>
              <a:cs typeface="Calibri"/>
              <a:sym typeface="Calibri"/>
            </a:endParaRPr>
          </a:p>
        </p:txBody>
      </p:sp>
      <p:sp>
        <p:nvSpPr>
          <p:cNvPr id="255" name="Google Shape;255;p11"/>
          <p:cNvSpPr txBox="1"/>
          <p:nvPr>
            <p:ph idx="1" type="subTitle"/>
          </p:nvPr>
        </p:nvSpPr>
        <p:spPr>
          <a:xfrm>
            <a:off x="1696871" y="2133528"/>
            <a:ext cx="9144000" cy="3914775"/>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2800"/>
              <a:buNone/>
            </a:pPr>
            <a:r>
              <a:rPr b="1" lang="en-US" sz="2800">
                <a:solidFill>
                  <a:srgbClr val="00B050"/>
                </a:solidFill>
                <a:latin typeface="Twentieth Century"/>
                <a:ea typeface="Twentieth Century"/>
                <a:cs typeface="Twentieth Century"/>
                <a:sym typeface="Twentieth Century"/>
              </a:rPr>
              <a:t>Causal thinking VS Effectual thinking</a:t>
            </a:r>
            <a:endParaRPr b="1" sz="2800">
              <a:solidFill>
                <a:srgbClr val="00B050"/>
              </a:solidFill>
              <a:latin typeface="Twentieth Century"/>
              <a:ea typeface="Twentieth Century"/>
              <a:cs typeface="Twentieth Century"/>
              <a:sym typeface="Twentieth Century"/>
            </a:endParaRPr>
          </a:p>
          <a:p>
            <a:pPr indent="0" lvl="0" marL="0" rtl="0" algn="l">
              <a:lnSpc>
                <a:spcPct val="100000"/>
              </a:lnSpc>
              <a:spcBef>
                <a:spcPts val="200"/>
              </a:spcBef>
              <a:spcAft>
                <a:spcPts val="0"/>
              </a:spcAft>
              <a:buSzPts val="2800"/>
              <a:buNone/>
            </a:pPr>
            <a:r>
              <a:t/>
            </a:r>
            <a:endParaRPr b="1" sz="2800">
              <a:solidFill>
                <a:srgbClr val="7030A0"/>
              </a:solidFill>
              <a:latin typeface="Twentieth Century"/>
              <a:ea typeface="Twentieth Century"/>
              <a:cs typeface="Twentieth Century"/>
              <a:sym typeface="Twentieth Century"/>
            </a:endParaRPr>
          </a:p>
          <a:p>
            <a:pPr indent="0" lvl="0" marL="0" rtl="0" algn="l">
              <a:lnSpc>
                <a:spcPct val="100000"/>
              </a:lnSpc>
              <a:spcBef>
                <a:spcPts val="200"/>
              </a:spcBef>
              <a:spcAft>
                <a:spcPts val="0"/>
              </a:spcAft>
              <a:buSzPts val="2400"/>
              <a:buNone/>
            </a:pPr>
            <a:r>
              <a:t/>
            </a:r>
            <a:endParaRPr b="1" sz="2400">
              <a:solidFill>
                <a:srgbClr val="7030A0"/>
              </a:solidFill>
              <a:latin typeface="Twentieth Century"/>
              <a:ea typeface="Twentieth Century"/>
              <a:cs typeface="Twentieth Century"/>
              <a:sym typeface="Twentieth Century"/>
            </a:endParaRPr>
          </a:p>
          <a:p>
            <a:pPr indent="0" lvl="0" marL="0" rtl="0" algn="r">
              <a:lnSpc>
                <a:spcPct val="100000"/>
              </a:lnSpc>
              <a:spcBef>
                <a:spcPts val="200"/>
              </a:spcBef>
              <a:spcAft>
                <a:spcPts val="0"/>
              </a:spcAft>
              <a:buClr>
                <a:srgbClr val="0C0C0C"/>
              </a:buClr>
              <a:buSzPts val="2400"/>
              <a:buNone/>
            </a:pPr>
            <a:r>
              <a:t/>
            </a:r>
            <a:endParaRPr sz="2400"/>
          </a:p>
        </p:txBody>
      </p:sp>
      <p:pic>
        <p:nvPicPr>
          <p:cNvPr id="256" name="Google Shape;256;p11"/>
          <p:cNvPicPr preferRelativeResize="0"/>
          <p:nvPr/>
        </p:nvPicPr>
        <p:blipFill rotWithShape="1">
          <a:blip r:embed="rId3">
            <a:alphaModFix/>
          </a:blip>
          <a:srcRect b="0" l="0" r="0" t="0"/>
          <a:stretch/>
        </p:blipFill>
        <p:spPr>
          <a:xfrm>
            <a:off x="23527" y="0"/>
            <a:ext cx="1404938" cy="1155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xEl>
                                              <p:pRg end="0" st="0"/>
                                            </p:txEl>
                                          </p:spTgt>
                                        </p:tgtEl>
                                        <p:attrNameLst>
                                          <p:attrName>style.visibility</p:attrName>
                                        </p:attrNameLst>
                                      </p:cBhvr>
                                      <p:to>
                                        <p:strVal val="visible"/>
                                      </p:to>
                                    </p:set>
                                    <p:animEffect filter="fade" transition="in">
                                      <p:cBhvr>
                                        <p:cTn dur="1000"/>
                                        <p:tgtEl>
                                          <p:spTgt spid="25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xEl>
                                              <p:pRg end="1" st="1"/>
                                            </p:txEl>
                                          </p:spTgt>
                                        </p:tgtEl>
                                        <p:attrNameLst>
                                          <p:attrName>style.visibility</p:attrName>
                                        </p:attrNameLst>
                                      </p:cBhvr>
                                      <p:to>
                                        <p:strVal val="visible"/>
                                      </p:to>
                                    </p:set>
                                    <p:animEffect filter="fade" transition="in">
                                      <p:cBhvr>
                                        <p:cTn dur="1000"/>
                                        <p:tgtEl>
                                          <p:spTgt spid="25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xEl>
                                              <p:pRg end="2" st="2"/>
                                            </p:txEl>
                                          </p:spTgt>
                                        </p:tgtEl>
                                        <p:attrNameLst>
                                          <p:attrName>style.visibility</p:attrName>
                                        </p:attrNameLst>
                                      </p:cBhvr>
                                      <p:to>
                                        <p:strVal val="visible"/>
                                      </p:to>
                                    </p:set>
                                    <p:animEffect filter="fade" transition="in">
                                      <p:cBhvr>
                                        <p:cTn dur="1000"/>
                                        <p:tgtEl>
                                          <p:spTgt spid="25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xEl>
                                              <p:pRg end="3" st="3"/>
                                            </p:txEl>
                                          </p:spTgt>
                                        </p:tgtEl>
                                        <p:attrNameLst>
                                          <p:attrName>style.visibility</p:attrName>
                                        </p:attrNameLst>
                                      </p:cBhvr>
                                      <p:to>
                                        <p:strVal val="visible"/>
                                      </p:to>
                                    </p:set>
                                    <p:animEffect filter="fade" transition="in">
                                      <p:cBhvr>
                                        <p:cTn dur="1000"/>
                                        <p:tgtEl>
                                          <p:spTgt spid="255">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60" name="Shape 260"/>
        <p:cNvGrpSpPr/>
        <p:nvPr/>
      </p:nvGrpSpPr>
      <p:grpSpPr>
        <a:xfrm>
          <a:off x="0" y="0"/>
          <a:ext cx="0" cy="0"/>
          <a:chOff x="0" y="0"/>
          <a:chExt cx="0" cy="0"/>
        </a:xfrm>
      </p:grpSpPr>
      <p:sp>
        <p:nvSpPr>
          <p:cNvPr id="261" name="Google Shape;261;p12"/>
          <p:cNvSpPr txBox="1"/>
          <p:nvPr>
            <p:ph type="ctrTitle"/>
          </p:nvPr>
        </p:nvSpPr>
        <p:spPr>
          <a:xfrm>
            <a:off x="1428465" y="276202"/>
            <a:ext cx="9144000" cy="1443416"/>
          </a:xfrm>
          <a:prstGeom prst="rect">
            <a:avLst/>
          </a:prstGeom>
          <a:noFill/>
          <a:ln>
            <a:noFill/>
          </a:ln>
        </p:spPr>
        <p:txBody>
          <a:bodyPr anchorCtr="0" anchor="ctr" bIns="45700" lIns="91425" spcFirstLastPara="1" rIns="91425" wrap="square" tIns="45700">
            <a:normAutofit/>
          </a:bodyPr>
          <a:lstStyle/>
          <a:p>
            <a:pPr indent="0" lvl="0" marL="0" rtl="0" algn="ctr">
              <a:lnSpc>
                <a:spcPct val="80000"/>
              </a:lnSpc>
              <a:spcBef>
                <a:spcPts val="0"/>
              </a:spcBef>
              <a:spcAft>
                <a:spcPts val="0"/>
              </a:spcAft>
              <a:buClr>
                <a:schemeClr val="dk1"/>
              </a:buClr>
              <a:buSzPts val="3600"/>
              <a:buFont typeface="Calibri"/>
              <a:buNone/>
            </a:pPr>
            <a:br>
              <a:rPr b="1" lang="en-US" sz="3600">
                <a:solidFill>
                  <a:schemeClr val="dk1"/>
                </a:solidFill>
                <a:latin typeface="Calibri"/>
                <a:ea typeface="Calibri"/>
                <a:cs typeface="Calibri"/>
                <a:sym typeface="Calibri"/>
              </a:rPr>
            </a:br>
            <a:br>
              <a:rPr b="1" lang="en-US" sz="3600">
                <a:solidFill>
                  <a:srgbClr val="7030A0"/>
                </a:solidFill>
                <a:latin typeface="Calibri"/>
                <a:ea typeface="Calibri"/>
                <a:cs typeface="Calibri"/>
                <a:sym typeface="Calibri"/>
              </a:rPr>
            </a:br>
            <a:r>
              <a:rPr b="1" lang="en-US" sz="3600">
                <a:solidFill>
                  <a:schemeClr val="accent1"/>
                </a:solidFill>
                <a:latin typeface="Calibri"/>
                <a:ea typeface="Calibri"/>
                <a:cs typeface="Calibri"/>
                <a:sym typeface="Calibri"/>
              </a:rPr>
              <a:t>INTRODUCTION TO ENTREPRENEURSHIP  </a:t>
            </a:r>
            <a:endParaRPr sz="3600">
              <a:solidFill>
                <a:schemeClr val="accent1"/>
              </a:solidFill>
              <a:latin typeface="Calibri"/>
              <a:ea typeface="Calibri"/>
              <a:cs typeface="Calibri"/>
              <a:sym typeface="Calibri"/>
            </a:endParaRPr>
          </a:p>
        </p:txBody>
      </p:sp>
      <p:sp>
        <p:nvSpPr>
          <p:cNvPr id="262" name="Google Shape;262;p12"/>
          <p:cNvSpPr txBox="1"/>
          <p:nvPr>
            <p:ph idx="1" type="subTitle"/>
          </p:nvPr>
        </p:nvSpPr>
        <p:spPr>
          <a:xfrm>
            <a:off x="1696871" y="2133528"/>
            <a:ext cx="9144000" cy="3914775"/>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2800"/>
              <a:buNone/>
            </a:pPr>
            <a:r>
              <a:rPr b="1" lang="en-US" sz="2800">
                <a:solidFill>
                  <a:srgbClr val="00B050"/>
                </a:solidFill>
                <a:latin typeface="Twentieth Century"/>
                <a:ea typeface="Twentieth Century"/>
                <a:cs typeface="Twentieth Century"/>
                <a:sym typeface="Twentieth Century"/>
              </a:rPr>
              <a:t>Causal thinking </a:t>
            </a:r>
            <a:endParaRPr/>
          </a:p>
          <a:p>
            <a:pPr indent="0" lvl="0" marL="0" rtl="0" algn="l">
              <a:lnSpc>
                <a:spcPct val="100000"/>
              </a:lnSpc>
              <a:spcBef>
                <a:spcPts val="200"/>
              </a:spcBef>
              <a:spcAft>
                <a:spcPts val="0"/>
              </a:spcAft>
              <a:buSzPts val="2800"/>
              <a:buNone/>
            </a:pPr>
            <a:r>
              <a:t/>
            </a:r>
            <a:endParaRPr b="1" sz="2800">
              <a:solidFill>
                <a:srgbClr val="00B050"/>
              </a:solidFill>
              <a:latin typeface="Twentieth Century"/>
              <a:ea typeface="Twentieth Century"/>
              <a:cs typeface="Twentieth Century"/>
              <a:sym typeface="Twentieth Century"/>
            </a:endParaRPr>
          </a:p>
          <a:p>
            <a:pPr indent="0" lvl="0" marL="0" rtl="0" algn="l">
              <a:lnSpc>
                <a:spcPct val="100000"/>
              </a:lnSpc>
              <a:spcBef>
                <a:spcPts val="200"/>
              </a:spcBef>
              <a:spcAft>
                <a:spcPts val="0"/>
              </a:spcAft>
              <a:buSzPts val="2800"/>
              <a:buNone/>
            </a:pPr>
            <a:r>
              <a:rPr b="1" lang="en-US" sz="2800">
                <a:solidFill>
                  <a:srgbClr val="00B050"/>
                </a:solidFill>
                <a:latin typeface="Twentieth Century"/>
                <a:ea typeface="Twentieth Century"/>
                <a:cs typeface="Twentieth Century"/>
                <a:sym typeface="Twentieth Century"/>
              </a:rPr>
              <a:t>Causation Process</a:t>
            </a:r>
            <a:endParaRPr/>
          </a:p>
          <a:p>
            <a:pPr indent="-457200" lvl="0" marL="457200" rtl="0" algn="l">
              <a:lnSpc>
                <a:spcPct val="100000"/>
              </a:lnSpc>
              <a:spcBef>
                <a:spcPts val="200"/>
              </a:spcBef>
              <a:spcAft>
                <a:spcPts val="0"/>
              </a:spcAft>
              <a:buSzPts val="2800"/>
              <a:buFont typeface="Noto Sans Symbols"/>
              <a:buChar char="▪"/>
            </a:pPr>
            <a:r>
              <a:rPr b="1" lang="en-US" sz="2800">
                <a:solidFill>
                  <a:schemeClr val="dk1"/>
                </a:solidFill>
                <a:latin typeface="Twentieth Century"/>
                <a:ea typeface="Twentieth Century"/>
                <a:cs typeface="Twentieth Century"/>
                <a:sym typeface="Twentieth Century"/>
              </a:rPr>
              <a:t>Start with a desired outcome.</a:t>
            </a:r>
            <a:endParaRPr/>
          </a:p>
          <a:p>
            <a:pPr indent="-457200" lvl="0" marL="457200" rtl="0" algn="l">
              <a:lnSpc>
                <a:spcPct val="100000"/>
              </a:lnSpc>
              <a:spcBef>
                <a:spcPts val="200"/>
              </a:spcBef>
              <a:spcAft>
                <a:spcPts val="0"/>
              </a:spcAft>
              <a:buSzPts val="2800"/>
              <a:buFont typeface="Noto Sans Symbols"/>
              <a:buChar char="▪"/>
            </a:pPr>
            <a:r>
              <a:rPr b="1" lang="en-US" sz="2800">
                <a:solidFill>
                  <a:schemeClr val="dk1"/>
                </a:solidFill>
                <a:latin typeface="Twentieth Century"/>
                <a:ea typeface="Twentieth Century"/>
                <a:cs typeface="Twentieth Century"/>
                <a:sym typeface="Twentieth Century"/>
              </a:rPr>
              <a:t>Focuses on the means to generate that outcome. </a:t>
            </a:r>
            <a:endParaRPr b="1" sz="2800">
              <a:solidFill>
                <a:schemeClr val="dk1"/>
              </a:solidFill>
              <a:latin typeface="Twentieth Century"/>
              <a:ea typeface="Twentieth Century"/>
              <a:cs typeface="Twentieth Century"/>
              <a:sym typeface="Twentieth Century"/>
            </a:endParaRPr>
          </a:p>
          <a:p>
            <a:pPr indent="0" lvl="0" marL="0" rtl="0" algn="l">
              <a:lnSpc>
                <a:spcPct val="100000"/>
              </a:lnSpc>
              <a:spcBef>
                <a:spcPts val="200"/>
              </a:spcBef>
              <a:spcAft>
                <a:spcPts val="0"/>
              </a:spcAft>
              <a:buSzPts val="2800"/>
              <a:buNone/>
            </a:pPr>
            <a:r>
              <a:t/>
            </a:r>
            <a:endParaRPr b="1" sz="2800">
              <a:solidFill>
                <a:srgbClr val="7030A0"/>
              </a:solidFill>
              <a:latin typeface="Twentieth Century"/>
              <a:ea typeface="Twentieth Century"/>
              <a:cs typeface="Twentieth Century"/>
              <a:sym typeface="Twentieth Century"/>
            </a:endParaRPr>
          </a:p>
          <a:p>
            <a:pPr indent="0" lvl="0" marL="0" rtl="0" algn="l">
              <a:lnSpc>
                <a:spcPct val="100000"/>
              </a:lnSpc>
              <a:spcBef>
                <a:spcPts val="200"/>
              </a:spcBef>
              <a:spcAft>
                <a:spcPts val="0"/>
              </a:spcAft>
              <a:buSzPts val="2400"/>
              <a:buNone/>
            </a:pPr>
            <a:r>
              <a:t/>
            </a:r>
            <a:endParaRPr b="1" sz="2400">
              <a:solidFill>
                <a:srgbClr val="7030A0"/>
              </a:solidFill>
              <a:latin typeface="Twentieth Century"/>
              <a:ea typeface="Twentieth Century"/>
              <a:cs typeface="Twentieth Century"/>
              <a:sym typeface="Twentieth Century"/>
            </a:endParaRPr>
          </a:p>
          <a:p>
            <a:pPr indent="0" lvl="0" marL="0" rtl="0" algn="r">
              <a:lnSpc>
                <a:spcPct val="100000"/>
              </a:lnSpc>
              <a:spcBef>
                <a:spcPts val="200"/>
              </a:spcBef>
              <a:spcAft>
                <a:spcPts val="0"/>
              </a:spcAft>
              <a:buClr>
                <a:srgbClr val="0C0C0C"/>
              </a:buClr>
              <a:buSzPts val="2400"/>
              <a:buNone/>
            </a:pPr>
            <a:r>
              <a:t/>
            </a:r>
            <a:endParaRPr sz="2400"/>
          </a:p>
        </p:txBody>
      </p:sp>
      <p:pic>
        <p:nvPicPr>
          <p:cNvPr id="263" name="Google Shape;263;p12"/>
          <p:cNvPicPr preferRelativeResize="0"/>
          <p:nvPr/>
        </p:nvPicPr>
        <p:blipFill rotWithShape="1">
          <a:blip r:embed="rId3">
            <a:alphaModFix/>
          </a:blip>
          <a:srcRect b="0" l="0" r="0" t="0"/>
          <a:stretch/>
        </p:blipFill>
        <p:spPr>
          <a:xfrm>
            <a:off x="23527" y="0"/>
            <a:ext cx="1404938" cy="1155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xEl>
                                              <p:pRg end="0" st="0"/>
                                            </p:txEl>
                                          </p:spTgt>
                                        </p:tgtEl>
                                        <p:attrNameLst>
                                          <p:attrName>style.visibility</p:attrName>
                                        </p:attrNameLst>
                                      </p:cBhvr>
                                      <p:to>
                                        <p:strVal val="visible"/>
                                      </p:to>
                                    </p:set>
                                    <p:animEffect filter="fade" transition="in">
                                      <p:cBhvr>
                                        <p:cTn dur="1000"/>
                                        <p:tgtEl>
                                          <p:spTgt spid="26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xEl>
                                              <p:pRg end="1" st="1"/>
                                            </p:txEl>
                                          </p:spTgt>
                                        </p:tgtEl>
                                        <p:attrNameLst>
                                          <p:attrName>style.visibility</p:attrName>
                                        </p:attrNameLst>
                                      </p:cBhvr>
                                      <p:to>
                                        <p:strVal val="visible"/>
                                      </p:to>
                                    </p:set>
                                    <p:animEffect filter="fade" transition="in">
                                      <p:cBhvr>
                                        <p:cTn dur="1000"/>
                                        <p:tgtEl>
                                          <p:spTgt spid="26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xEl>
                                              <p:pRg end="2" st="2"/>
                                            </p:txEl>
                                          </p:spTgt>
                                        </p:tgtEl>
                                        <p:attrNameLst>
                                          <p:attrName>style.visibility</p:attrName>
                                        </p:attrNameLst>
                                      </p:cBhvr>
                                      <p:to>
                                        <p:strVal val="visible"/>
                                      </p:to>
                                    </p:set>
                                    <p:animEffect filter="fade" transition="in">
                                      <p:cBhvr>
                                        <p:cTn dur="1000"/>
                                        <p:tgtEl>
                                          <p:spTgt spid="26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xEl>
                                              <p:pRg end="3" st="3"/>
                                            </p:txEl>
                                          </p:spTgt>
                                        </p:tgtEl>
                                        <p:attrNameLst>
                                          <p:attrName>style.visibility</p:attrName>
                                        </p:attrNameLst>
                                      </p:cBhvr>
                                      <p:to>
                                        <p:strVal val="visible"/>
                                      </p:to>
                                    </p:set>
                                    <p:animEffect filter="fade" transition="in">
                                      <p:cBhvr>
                                        <p:cTn dur="1000"/>
                                        <p:tgtEl>
                                          <p:spTgt spid="26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xEl>
                                              <p:pRg end="4" st="4"/>
                                            </p:txEl>
                                          </p:spTgt>
                                        </p:tgtEl>
                                        <p:attrNameLst>
                                          <p:attrName>style.visibility</p:attrName>
                                        </p:attrNameLst>
                                      </p:cBhvr>
                                      <p:to>
                                        <p:strVal val="visible"/>
                                      </p:to>
                                    </p:set>
                                    <p:animEffect filter="fade" transition="in">
                                      <p:cBhvr>
                                        <p:cTn dur="1000"/>
                                        <p:tgtEl>
                                          <p:spTgt spid="26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xEl>
                                              <p:pRg end="5" st="5"/>
                                            </p:txEl>
                                          </p:spTgt>
                                        </p:tgtEl>
                                        <p:attrNameLst>
                                          <p:attrName>style.visibility</p:attrName>
                                        </p:attrNameLst>
                                      </p:cBhvr>
                                      <p:to>
                                        <p:strVal val="visible"/>
                                      </p:to>
                                    </p:set>
                                    <p:animEffect filter="fade" transition="in">
                                      <p:cBhvr>
                                        <p:cTn dur="1000"/>
                                        <p:tgtEl>
                                          <p:spTgt spid="26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xEl>
                                              <p:pRg end="6" st="6"/>
                                            </p:txEl>
                                          </p:spTgt>
                                        </p:tgtEl>
                                        <p:attrNameLst>
                                          <p:attrName>style.visibility</p:attrName>
                                        </p:attrNameLst>
                                      </p:cBhvr>
                                      <p:to>
                                        <p:strVal val="visible"/>
                                      </p:to>
                                    </p:set>
                                    <p:animEffect filter="fade" transition="in">
                                      <p:cBhvr>
                                        <p:cTn dur="1000"/>
                                        <p:tgtEl>
                                          <p:spTgt spid="26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xEl>
                                              <p:pRg end="7" st="7"/>
                                            </p:txEl>
                                          </p:spTgt>
                                        </p:tgtEl>
                                        <p:attrNameLst>
                                          <p:attrName>style.visibility</p:attrName>
                                        </p:attrNameLst>
                                      </p:cBhvr>
                                      <p:to>
                                        <p:strVal val="visible"/>
                                      </p:to>
                                    </p:set>
                                    <p:animEffect filter="fade" transition="in">
                                      <p:cBhvr>
                                        <p:cTn dur="1000"/>
                                        <p:tgtEl>
                                          <p:spTgt spid="262">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67" name="Shape 267"/>
        <p:cNvGrpSpPr/>
        <p:nvPr/>
      </p:nvGrpSpPr>
      <p:grpSpPr>
        <a:xfrm>
          <a:off x="0" y="0"/>
          <a:ext cx="0" cy="0"/>
          <a:chOff x="0" y="0"/>
          <a:chExt cx="0" cy="0"/>
        </a:xfrm>
      </p:grpSpPr>
      <p:sp>
        <p:nvSpPr>
          <p:cNvPr id="268" name="Google Shape;268;p13"/>
          <p:cNvSpPr txBox="1"/>
          <p:nvPr>
            <p:ph type="ctrTitle"/>
          </p:nvPr>
        </p:nvSpPr>
        <p:spPr>
          <a:xfrm>
            <a:off x="1428465" y="276202"/>
            <a:ext cx="9144000" cy="1443416"/>
          </a:xfrm>
          <a:prstGeom prst="rect">
            <a:avLst/>
          </a:prstGeom>
          <a:noFill/>
          <a:ln>
            <a:noFill/>
          </a:ln>
        </p:spPr>
        <p:txBody>
          <a:bodyPr anchorCtr="0" anchor="ctr" bIns="45700" lIns="91425" spcFirstLastPara="1" rIns="91425" wrap="square" tIns="45700">
            <a:normAutofit/>
          </a:bodyPr>
          <a:lstStyle/>
          <a:p>
            <a:pPr indent="0" lvl="0" marL="0" rtl="0" algn="ctr">
              <a:lnSpc>
                <a:spcPct val="80000"/>
              </a:lnSpc>
              <a:spcBef>
                <a:spcPts val="0"/>
              </a:spcBef>
              <a:spcAft>
                <a:spcPts val="0"/>
              </a:spcAft>
              <a:buClr>
                <a:schemeClr val="dk1"/>
              </a:buClr>
              <a:buSzPts val="3600"/>
              <a:buFont typeface="Calibri"/>
              <a:buNone/>
            </a:pPr>
            <a:br>
              <a:rPr b="1" lang="en-US" sz="3600">
                <a:solidFill>
                  <a:schemeClr val="dk1"/>
                </a:solidFill>
                <a:latin typeface="Calibri"/>
                <a:ea typeface="Calibri"/>
                <a:cs typeface="Calibri"/>
                <a:sym typeface="Calibri"/>
              </a:rPr>
            </a:br>
            <a:br>
              <a:rPr b="1" lang="en-US" sz="3600">
                <a:solidFill>
                  <a:srgbClr val="7030A0"/>
                </a:solidFill>
                <a:latin typeface="Calibri"/>
                <a:ea typeface="Calibri"/>
                <a:cs typeface="Calibri"/>
                <a:sym typeface="Calibri"/>
              </a:rPr>
            </a:br>
            <a:r>
              <a:rPr b="1" lang="en-US" sz="3600">
                <a:solidFill>
                  <a:schemeClr val="accent1"/>
                </a:solidFill>
                <a:latin typeface="Calibri"/>
                <a:ea typeface="Calibri"/>
                <a:cs typeface="Calibri"/>
                <a:sym typeface="Calibri"/>
              </a:rPr>
              <a:t>INTRODUCTION TO ENTREPRENEURSHIP  </a:t>
            </a:r>
            <a:endParaRPr sz="3600">
              <a:solidFill>
                <a:schemeClr val="accent1"/>
              </a:solidFill>
              <a:latin typeface="Calibri"/>
              <a:ea typeface="Calibri"/>
              <a:cs typeface="Calibri"/>
              <a:sym typeface="Calibri"/>
            </a:endParaRPr>
          </a:p>
        </p:txBody>
      </p:sp>
      <p:sp>
        <p:nvSpPr>
          <p:cNvPr id="269" name="Google Shape;269;p13"/>
          <p:cNvSpPr txBox="1"/>
          <p:nvPr>
            <p:ph idx="1" type="subTitle"/>
          </p:nvPr>
        </p:nvSpPr>
        <p:spPr>
          <a:xfrm>
            <a:off x="1696871" y="2133528"/>
            <a:ext cx="9144000" cy="3914775"/>
          </a:xfrm>
          <a:prstGeom prst="rect">
            <a:avLst/>
          </a:prstGeom>
          <a:noFill/>
          <a:ln>
            <a:noFill/>
          </a:ln>
        </p:spPr>
        <p:txBody>
          <a:bodyPr anchorCtr="0" anchor="ctr" bIns="45700" lIns="91425" spcFirstLastPara="1" rIns="91425" wrap="square" tIns="45700">
            <a:normAutofit fontScale="92500" lnSpcReduction="20000"/>
          </a:bodyPr>
          <a:lstStyle/>
          <a:p>
            <a:pPr indent="0" lvl="0" marL="0" rtl="0" algn="l">
              <a:lnSpc>
                <a:spcPct val="100000"/>
              </a:lnSpc>
              <a:spcBef>
                <a:spcPts val="0"/>
              </a:spcBef>
              <a:spcAft>
                <a:spcPts val="0"/>
              </a:spcAft>
              <a:buSzPct val="100000"/>
              <a:buNone/>
            </a:pPr>
            <a:r>
              <a:rPr b="1" lang="en-US" sz="2800">
                <a:solidFill>
                  <a:srgbClr val="00B050"/>
                </a:solidFill>
                <a:latin typeface="Twentieth Century"/>
                <a:ea typeface="Twentieth Century"/>
                <a:cs typeface="Twentieth Century"/>
                <a:sym typeface="Twentieth Century"/>
              </a:rPr>
              <a:t>Effectuation thinking </a:t>
            </a:r>
            <a:endParaRPr/>
          </a:p>
          <a:p>
            <a:pPr indent="0" lvl="0" marL="0" rtl="0" algn="l">
              <a:lnSpc>
                <a:spcPct val="100000"/>
              </a:lnSpc>
              <a:spcBef>
                <a:spcPts val="200"/>
              </a:spcBef>
              <a:spcAft>
                <a:spcPts val="0"/>
              </a:spcAft>
              <a:buSzPct val="100000"/>
              <a:buNone/>
            </a:pPr>
            <a:r>
              <a:rPr b="1" lang="en-US" sz="2800">
                <a:solidFill>
                  <a:srgbClr val="00B050"/>
                </a:solidFill>
                <a:latin typeface="Twentieth Century"/>
                <a:ea typeface="Twentieth Century"/>
                <a:cs typeface="Twentieth Century"/>
                <a:sym typeface="Twentieth Century"/>
              </a:rPr>
              <a:t>Effectuation Process</a:t>
            </a:r>
            <a:endParaRPr/>
          </a:p>
          <a:p>
            <a:pPr indent="-443865" lvl="0" marL="457200" rtl="0" algn="l">
              <a:lnSpc>
                <a:spcPct val="100000"/>
              </a:lnSpc>
              <a:spcBef>
                <a:spcPts val="200"/>
              </a:spcBef>
              <a:spcAft>
                <a:spcPts val="0"/>
              </a:spcAft>
              <a:buSzPct val="100000"/>
              <a:buFont typeface="Noto Sans Symbols"/>
              <a:buChar char="▪"/>
            </a:pPr>
            <a:r>
              <a:rPr b="1" lang="en-US" sz="2800">
                <a:solidFill>
                  <a:schemeClr val="dk1"/>
                </a:solidFill>
                <a:latin typeface="Twentieth Century"/>
                <a:ea typeface="Twentieth Century"/>
                <a:cs typeface="Twentieth Century"/>
                <a:sym typeface="Twentieth Century"/>
              </a:rPr>
              <a:t>Start with the means that we currently have.</a:t>
            </a:r>
            <a:endParaRPr/>
          </a:p>
          <a:p>
            <a:pPr indent="-443865" lvl="0" marL="457200" rtl="0" algn="l">
              <a:lnSpc>
                <a:spcPct val="100000"/>
              </a:lnSpc>
              <a:spcBef>
                <a:spcPts val="200"/>
              </a:spcBef>
              <a:spcAft>
                <a:spcPts val="0"/>
              </a:spcAft>
              <a:buSzPct val="100000"/>
              <a:buFont typeface="Noto Sans Symbols"/>
              <a:buChar char="❖"/>
            </a:pPr>
            <a:r>
              <a:rPr b="1" lang="en-US" sz="2800">
                <a:solidFill>
                  <a:schemeClr val="dk1"/>
                </a:solidFill>
                <a:latin typeface="Twentieth Century"/>
                <a:ea typeface="Twentieth Century"/>
                <a:cs typeface="Twentieth Century"/>
                <a:sym typeface="Twentieth Century"/>
              </a:rPr>
              <a:t>Who we are?</a:t>
            </a:r>
            <a:endParaRPr/>
          </a:p>
          <a:p>
            <a:pPr indent="-443865" lvl="0" marL="457200" rtl="0" algn="l">
              <a:lnSpc>
                <a:spcPct val="100000"/>
              </a:lnSpc>
              <a:spcBef>
                <a:spcPts val="200"/>
              </a:spcBef>
              <a:spcAft>
                <a:spcPts val="0"/>
              </a:spcAft>
              <a:buSzPct val="100000"/>
              <a:buFont typeface="Noto Sans Symbols"/>
              <a:buChar char="❖"/>
            </a:pPr>
            <a:r>
              <a:rPr b="1" lang="en-US" sz="2800">
                <a:solidFill>
                  <a:schemeClr val="dk1"/>
                </a:solidFill>
                <a:latin typeface="Twentieth Century"/>
                <a:ea typeface="Twentieth Century"/>
                <a:cs typeface="Twentieth Century"/>
                <a:sym typeface="Twentieth Century"/>
              </a:rPr>
              <a:t>What we know?</a:t>
            </a:r>
            <a:endParaRPr/>
          </a:p>
          <a:p>
            <a:pPr indent="-443865" lvl="0" marL="457200" rtl="0" algn="l">
              <a:lnSpc>
                <a:spcPct val="100000"/>
              </a:lnSpc>
              <a:spcBef>
                <a:spcPts val="200"/>
              </a:spcBef>
              <a:spcAft>
                <a:spcPts val="0"/>
              </a:spcAft>
              <a:buSzPct val="100000"/>
              <a:buFont typeface="Noto Sans Symbols"/>
              <a:buChar char="❖"/>
            </a:pPr>
            <a:r>
              <a:rPr b="1" lang="en-US" sz="2800">
                <a:solidFill>
                  <a:schemeClr val="dk1"/>
                </a:solidFill>
                <a:latin typeface="Twentieth Century"/>
                <a:ea typeface="Twentieth Century"/>
                <a:cs typeface="Twentieth Century"/>
                <a:sym typeface="Twentieth Century"/>
              </a:rPr>
              <a:t>Whom we know?</a:t>
            </a:r>
            <a:endParaRPr/>
          </a:p>
          <a:p>
            <a:pPr indent="0" lvl="0" marL="0" rtl="0" algn="l">
              <a:lnSpc>
                <a:spcPct val="100000"/>
              </a:lnSpc>
              <a:spcBef>
                <a:spcPts val="200"/>
              </a:spcBef>
              <a:spcAft>
                <a:spcPts val="0"/>
              </a:spcAft>
              <a:buSzPct val="100000"/>
              <a:buNone/>
            </a:pPr>
            <a:r>
              <a:t/>
            </a:r>
            <a:endParaRPr b="1" sz="2800">
              <a:solidFill>
                <a:schemeClr val="dk1"/>
              </a:solidFill>
              <a:latin typeface="Twentieth Century"/>
              <a:ea typeface="Twentieth Century"/>
              <a:cs typeface="Twentieth Century"/>
              <a:sym typeface="Twentieth Century"/>
            </a:endParaRPr>
          </a:p>
          <a:p>
            <a:pPr indent="0" lvl="0" marL="0" rtl="0" algn="l">
              <a:lnSpc>
                <a:spcPct val="100000"/>
              </a:lnSpc>
              <a:spcBef>
                <a:spcPts val="200"/>
              </a:spcBef>
              <a:spcAft>
                <a:spcPts val="0"/>
              </a:spcAft>
              <a:buSzPct val="100000"/>
              <a:buNone/>
            </a:pPr>
            <a:r>
              <a:rPr b="1" lang="en-US" sz="2800">
                <a:solidFill>
                  <a:schemeClr val="dk1"/>
                </a:solidFill>
                <a:latin typeface="Twentieth Century"/>
                <a:ea typeface="Twentieth Century"/>
                <a:cs typeface="Twentieth Century"/>
                <a:sym typeface="Twentieth Century"/>
              </a:rPr>
              <a:t>Focuses on the means to generate that outcome.</a:t>
            </a:r>
            <a:endParaRPr b="1" sz="2800">
              <a:solidFill>
                <a:schemeClr val="dk1"/>
              </a:solidFill>
              <a:latin typeface="Twentieth Century"/>
              <a:ea typeface="Twentieth Century"/>
              <a:cs typeface="Twentieth Century"/>
              <a:sym typeface="Twentieth Century"/>
            </a:endParaRPr>
          </a:p>
          <a:p>
            <a:pPr indent="0" lvl="0" marL="0" rtl="0" algn="l">
              <a:lnSpc>
                <a:spcPct val="100000"/>
              </a:lnSpc>
              <a:spcBef>
                <a:spcPts val="200"/>
              </a:spcBef>
              <a:spcAft>
                <a:spcPts val="0"/>
              </a:spcAft>
              <a:buSzPct val="100000"/>
              <a:buNone/>
            </a:pPr>
            <a:r>
              <a:t/>
            </a:r>
            <a:endParaRPr b="1" sz="2800">
              <a:solidFill>
                <a:srgbClr val="7030A0"/>
              </a:solidFill>
              <a:latin typeface="Twentieth Century"/>
              <a:ea typeface="Twentieth Century"/>
              <a:cs typeface="Twentieth Century"/>
              <a:sym typeface="Twentieth Century"/>
            </a:endParaRPr>
          </a:p>
          <a:p>
            <a:pPr indent="0" lvl="0" marL="0" rtl="0" algn="l">
              <a:lnSpc>
                <a:spcPct val="100000"/>
              </a:lnSpc>
              <a:spcBef>
                <a:spcPts val="200"/>
              </a:spcBef>
              <a:spcAft>
                <a:spcPts val="0"/>
              </a:spcAft>
              <a:buSzPct val="100000"/>
              <a:buNone/>
            </a:pPr>
            <a:r>
              <a:t/>
            </a:r>
            <a:endParaRPr b="1" sz="2400">
              <a:solidFill>
                <a:srgbClr val="7030A0"/>
              </a:solidFill>
              <a:latin typeface="Twentieth Century"/>
              <a:ea typeface="Twentieth Century"/>
              <a:cs typeface="Twentieth Century"/>
              <a:sym typeface="Twentieth Century"/>
            </a:endParaRPr>
          </a:p>
          <a:p>
            <a:pPr indent="0" lvl="0" marL="0" rtl="0" algn="r">
              <a:lnSpc>
                <a:spcPct val="100000"/>
              </a:lnSpc>
              <a:spcBef>
                <a:spcPts val="200"/>
              </a:spcBef>
              <a:spcAft>
                <a:spcPts val="0"/>
              </a:spcAft>
              <a:buClr>
                <a:srgbClr val="0C0C0C"/>
              </a:buClr>
              <a:buSzPct val="100000"/>
              <a:buNone/>
            </a:pPr>
            <a:r>
              <a:t/>
            </a:r>
            <a:endParaRPr sz="2400"/>
          </a:p>
        </p:txBody>
      </p:sp>
      <p:pic>
        <p:nvPicPr>
          <p:cNvPr id="270" name="Google Shape;270;p13"/>
          <p:cNvPicPr preferRelativeResize="0"/>
          <p:nvPr/>
        </p:nvPicPr>
        <p:blipFill rotWithShape="1">
          <a:blip r:embed="rId3">
            <a:alphaModFix/>
          </a:blip>
          <a:srcRect b="0" l="0" r="0" t="0"/>
          <a:stretch/>
        </p:blipFill>
        <p:spPr>
          <a:xfrm>
            <a:off x="23527" y="0"/>
            <a:ext cx="1404938" cy="1155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0" st="0"/>
                                            </p:txEl>
                                          </p:spTgt>
                                        </p:tgtEl>
                                        <p:attrNameLst>
                                          <p:attrName>style.visibility</p:attrName>
                                        </p:attrNameLst>
                                      </p:cBhvr>
                                      <p:to>
                                        <p:strVal val="visible"/>
                                      </p:to>
                                    </p:set>
                                    <p:animEffect filter="fade" transition="in">
                                      <p:cBhvr>
                                        <p:cTn dur="1000"/>
                                        <p:tgtEl>
                                          <p:spTgt spid="26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1" st="1"/>
                                            </p:txEl>
                                          </p:spTgt>
                                        </p:tgtEl>
                                        <p:attrNameLst>
                                          <p:attrName>style.visibility</p:attrName>
                                        </p:attrNameLst>
                                      </p:cBhvr>
                                      <p:to>
                                        <p:strVal val="visible"/>
                                      </p:to>
                                    </p:set>
                                    <p:animEffect filter="fade" transition="in">
                                      <p:cBhvr>
                                        <p:cTn dur="1000"/>
                                        <p:tgtEl>
                                          <p:spTgt spid="26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2" st="2"/>
                                            </p:txEl>
                                          </p:spTgt>
                                        </p:tgtEl>
                                        <p:attrNameLst>
                                          <p:attrName>style.visibility</p:attrName>
                                        </p:attrNameLst>
                                      </p:cBhvr>
                                      <p:to>
                                        <p:strVal val="visible"/>
                                      </p:to>
                                    </p:set>
                                    <p:animEffect filter="fade" transition="in">
                                      <p:cBhvr>
                                        <p:cTn dur="1000"/>
                                        <p:tgtEl>
                                          <p:spTgt spid="26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3" st="3"/>
                                            </p:txEl>
                                          </p:spTgt>
                                        </p:tgtEl>
                                        <p:attrNameLst>
                                          <p:attrName>style.visibility</p:attrName>
                                        </p:attrNameLst>
                                      </p:cBhvr>
                                      <p:to>
                                        <p:strVal val="visible"/>
                                      </p:to>
                                    </p:set>
                                    <p:animEffect filter="fade" transition="in">
                                      <p:cBhvr>
                                        <p:cTn dur="1000"/>
                                        <p:tgtEl>
                                          <p:spTgt spid="26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4" st="4"/>
                                            </p:txEl>
                                          </p:spTgt>
                                        </p:tgtEl>
                                        <p:attrNameLst>
                                          <p:attrName>style.visibility</p:attrName>
                                        </p:attrNameLst>
                                      </p:cBhvr>
                                      <p:to>
                                        <p:strVal val="visible"/>
                                      </p:to>
                                    </p:set>
                                    <p:animEffect filter="fade" transition="in">
                                      <p:cBhvr>
                                        <p:cTn dur="1000"/>
                                        <p:tgtEl>
                                          <p:spTgt spid="26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5" st="5"/>
                                            </p:txEl>
                                          </p:spTgt>
                                        </p:tgtEl>
                                        <p:attrNameLst>
                                          <p:attrName>style.visibility</p:attrName>
                                        </p:attrNameLst>
                                      </p:cBhvr>
                                      <p:to>
                                        <p:strVal val="visible"/>
                                      </p:to>
                                    </p:set>
                                    <p:animEffect filter="fade" transition="in">
                                      <p:cBhvr>
                                        <p:cTn dur="1000"/>
                                        <p:tgtEl>
                                          <p:spTgt spid="26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6" st="6"/>
                                            </p:txEl>
                                          </p:spTgt>
                                        </p:tgtEl>
                                        <p:attrNameLst>
                                          <p:attrName>style.visibility</p:attrName>
                                        </p:attrNameLst>
                                      </p:cBhvr>
                                      <p:to>
                                        <p:strVal val="visible"/>
                                      </p:to>
                                    </p:set>
                                    <p:animEffect filter="fade" transition="in">
                                      <p:cBhvr>
                                        <p:cTn dur="1000"/>
                                        <p:tgtEl>
                                          <p:spTgt spid="26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7" st="7"/>
                                            </p:txEl>
                                          </p:spTgt>
                                        </p:tgtEl>
                                        <p:attrNameLst>
                                          <p:attrName>style.visibility</p:attrName>
                                        </p:attrNameLst>
                                      </p:cBhvr>
                                      <p:to>
                                        <p:strVal val="visible"/>
                                      </p:to>
                                    </p:set>
                                    <p:animEffect filter="fade" transition="in">
                                      <p:cBhvr>
                                        <p:cTn dur="1000"/>
                                        <p:tgtEl>
                                          <p:spTgt spid="26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8" st="8"/>
                                            </p:txEl>
                                          </p:spTgt>
                                        </p:tgtEl>
                                        <p:attrNameLst>
                                          <p:attrName>style.visibility</p:attrName>
                                        </p:attrNameLst>
                                      </p:cBhvr>
                                      <p:to>
                                        <p:strVal val="visible"/>
                                      </p:to>
                                    </p:set>
                                    <p:animEffect filter="fade" transition="in">
                                      <p:cBhvr>
                                        <p:cTn dur="1000"/>
                                        <p:tgtEl>
                                          <p:spTgt spid="26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9" st="9"/>
                                            </p:txEl>
                                          </p:spTgt>
                                        </p:tgtEl>
                                        <p:attrNameLst>
                                          <p:attrName>style.visibility</p:attrName>
                                        </p:attrNameLst>
                                      </p:cBhvr>
                                      <p:to>
                                        <p:strVal val="visible"/>
                                      </p:to>
                                    </p:set>
                                    <p:animEffect filter="fade" transition="in">
                                      <p:cBhvr>
                                        <p:cTn dur="1000"/>
                                        <p:tgtEl>
                                          <p:spTgt spid="26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10" st="10"/>
                                            </p:txEl>
                                          </p:spTgt>
                                        </p:tgtEl>
                                        <p:attrNameLst>
                                          <p:attrName>style.visibility</p:attrName>
                                        </p:attrNameLst>
                                      </p:cBhvr>
                                      <p:to>
                                        <p:strVal val="visible"/>
                                      </p:to>
                                    </p:set>
                                    <p:animEffect filter="fade" transition="in">
                                      <p:cBhvr>
                                        <p:cTn dur="1000"/>
                                        <p:tgtEl>
                                          <p:spTgt spid="269">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74" name="Shape 274"/>
        <p:cNvGrpSpPr/>
        <p:nvPr/>
      </p:nvGrpSpPr>
      <p:grpSpPr>
        <a:xfrm>
          <a:off x="0" y="0"/>
          <a:ext cx="0" cy="0"/>
          <a:chOff x="0" y="0"/>
          <a:chExt cx="0" cy="0"/>
        </a:xfrm>
      </p:grpSpPr>
      <p:sp>
        <p:nvSpPr>
          <p:cNvPr id="275" name="Google Shape;275;p14"/>
          <p:cNvSpPr txBox="1"/>
          <p:nvPr>
            <p:ph type="ctrTitle"/>
          </p:nvPr>
        </p:nvSpPr>
        <p:spPr>
          <a:xfrm>
            <a:off x="1428465" y="276202"/>
            <a:ext cx="9144000" cy="1443416"/>
          </a:xfrm>
          <a:prstGeom prst="rect">
            <a:avLst/>
          </a:prstGeom>
          <a:noFill/>
          <a:ln>
            <a:noFill/>
          </a:ln>
        </p:spPr>
        <p:txBody>
          <a:bodyPr anchorCtr="0" anchor="ctr" bIns="45700" lIns="91425" spcFirstLastPara="1" rIns="91425" wrap="square" tIns="45700">
            <a:normAutofit/>
          </a:bodyPr>
          <a:lstStyle/>
          <a:p>
            <a:pPr indent="0" lvl="0" marL="0" rtl="0" algn="ctr">
              <a:lnSpc>
                <a:spcPct val="80000"/>
              </a:lnSpc>
              <a:spcBef>
                <a:spcPts val="0"/>
              </a:spcBef>
              <a:spcAft>
                <a:spcPts val="0"/>
              </a:spcAft>
              <a:buClr>
                <a:schemeClr val="dk1"/>
              </a:buClr>
              <a:buSzPts val="3600"/>
              <a:buFont typeface="Calibri"/>
              <a:buNone/>
            </a:pPr>
            <a:br>
              <a:rPr b="1" lang="en-US" sz="3600">
                <a:solidFill>
                  <a:schemeClr val="dk1"/>
                </a:solidFill>
                <a:latin typeface="Calibri"/>
                <a:ea typeface="Calibri"/>
                <a:cs typeface="Calibri"/>
                <a:sym typeface="Calibri"/>
              </a:rPr>
            </a:br>
            <a:br>
              <a:rPr b="1" lang="en-US" sz="3600">
                <a:solidFill>
                  <a:srgbClr val="7030A0"/>
                </a:solidFill>
                <a:latin typeface="Calibri"/>
                <a:ea typeface="Calibri"/>
                <a:cs typeface="Calibri"/>
                <a:sym typeface="Calibri"/>
              </a:rPr>
            </a:br>
            <a:r>
              <a:rPr b="1" lang="en-US" sz="3600">
                <a:solidFill>
                  <a:schemeClr val="accent1"/>
                </a:solidFill>
                <a:latin typeface="Calibri"/>
                <a:ea typeface="Calibri"/>
                <a:cs typeface="Calibri"/>
                <a:sym typeface="Calibri"/>
              </a:rPr>
              <a:t>INTRODUCTION TO ENTREPRENEURSHIP  </a:t>
            </a:r>
            <a:endParaRPr sz="3600">
              <a:solidFill>
                <a:schemeClr val="accent1"/>
              </a:solidFill>
              <a:latin typeface="Calibri"/>
              <a:ea typeface="Calibri"/>
              <a:cs typeface="Calibri"/>
              <a:sym typeface="Calibri"/>
            </a:endParaRPr>
          </a:p>
        </p:txBody>
      </p:sp>
      <p:sp>
        <p:nvSpPr>
          <p:cNvPr id="276" name="Google Shape;276;p14"/>
          <p:cNvSpPr txBox="1"/>
          <p:nvPr>
            <p:ph idx="1" type="subTitle"/>
          </p:nvPr>
        </p:nvSpPr>
        <p:spPr>
          <a:xfrm>
            <a:off x="1696871" y="2133528"/>
            <a:ext cx="9144000" cy="3914775"/>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2800"/>
              <a:buNone/>
            </a:pPr>
            <a:r>
              <a:t/>
            </a:r>
            <a:endParaRPr b="1" sz="2800">
              <a:solidFill>
                <a:srgbClr val="00B050"/>
              </a:solidFill>
              <a:latin typeface="Twentieth Century"/>
              <a:ea typeface="Twentieth Century"/>
              <a:cs typeface="Twentieth Century"/>
              <a:sym typeface="Twentieth Century"/>
            </a:endParaRPr>
          </a:p>
          <a:p>
            <a:pPr indent="0" lvl="0" marL="0" rtl="0" algn="l">
              <a:lnSpc>
                <a:spcPct val="100000"/>
              </a:lnSpc>
              <a:spcBef>
                <a:spcPts val="200"/>
              </a:spcBef>
              <a:spcAft>
                <a:spcPts val="0"/>
              </a:spcAft>
              <a:buSzPts val="2800"/>
              <a:buNone/>
            </a:pPr>
            <a:r>
              <a:rPr b="1" lang="en-US" sz="2800">
                <a:solidFill>
                  <a:srgbClr val="00B050"/>
                </a:solidFill>
                <a:latin typeface="Twentieth Century"/>
                <a:ea typeface="Twentieth Century"/>
                <a:cs typeface="Twentieth Century"/>
                <a:sym typeface="Twentieth Century"/>
              </a:rPr>
              <a:t>Professor Saras Sarasvathy</a:t>
            </a:r>
            <a:endParaRPr b="1" sz="2800">
              <a:solidFill>
                <a:srgbClr val="00B050"/>
              </a:solidFill>
              <a:latin typeface="Twentieth Century"/>
              <a:ea typeface="Twentieth Century"/>
              <a:cs typeface="Twentieth Century"/>
              <a:sym typeface="Twentieth Century"/>
            </a:endParaRPr>
          </a:p>
          <a:p>
            <a:pPr indent="-457200" lvl="0" marL="457200" rtl="0" algn="l">
              <a:lnSpc>
                <a:spcPct val="100000"/>
              </a:lnSpc>
              <a:spcBef>
                <a:spcPts val="200"/>
              </a:spcBef>
              <a:spcAft>
                <a:spcPts val="0"/>
              </a:spcAft>
              <a:buSzPts val="2800"/>
              <a:buFont typeface="Noto Sans Symbols"/>
              <a:buChar char="▪"/>
            </a:pPr>
            <a:r>
              <a:rPr lang="en-US" sz="2800"/>
              <a:t>Bird-in-hand </a:t>
            </a:r>
            <a:r>
              <a:rPr b="1" lang="en-US" sz="2800"/>
              <a:t>principle</a:t>
            </a:r>
            <a:endParaRPr/>
          </a:p>
          <a:p>
            <a:pPr indent="0" lvl="0" marL="0" rtl="0" algn="l">
              <a:lnSpc>
                <a:spcPct val="100000"/>
              </a:lnSpc>
              <a:spcBef>
                <a:spcPts val="200"/>
              </a:spcBef>
              <a:spcAft>
                <a:spcPts val="0"/>
              </a:spcAft>
              <a:buSzPts val="2400"/>
              <a:buNone/>
            </a:pPr>
            <a:r>
              <a:rPr lang="en-US" sz="2400"/>
              <a:t>You have to create solutions with the resources available here and now.</a:t>
            </a:r>
            <a:endParaRPr b="1" sz="2400">
              <a:solidFill>
                <a:srgbClr val="7030A0"/>
              </a:solidFill>
              <a:latin typeface="Twentieth Century"/>
              <a:ea typeface="Twentieth Century"/>
              <a:cs typeface="Twentieth Century"/>
              <a:sym typeface="Twentieth Century"/>
            </a:endParaRPr>
          </a:p>
          <a:p>
            <a:pPr indent="0" lvl="0" marL="0" rtl="0" algn="r">
              <a:lnSpc>
                <a:spcPct val="100000"/>
              </a:lnSpc>
              <a:spcBef>
                <a:spcPts val="200"/>
              </a:spcBef>
              <a:spcAft>
                <a:spcPts val="0"/>
              </a:spcAft>
              <a:buClr>
                <a:srgbClr val="0C0C0C"/>
              </a:buClr>
              <a:buSzPts val="2400"/>
              <a:buNone/>
            </a:pPr>
            <a:r>
              <a:t/>
            </a:r>
            <a:endParaRPr sz="2400"/>
          </a:p>
        </p:txBody>
      </p:sp>
      <p:pic>
        <p:nvPicPr>
          <p:cNvPr id="277" name="Google Shape;277;p14"/>
          <p:cNvPicPr preferRelativeResize="0"/>
          <p:nvPr/>
        </p:nvPicPr>
        <p:blipFill rotWithShape="1">
          <a:blip r:embed="rId3">
            <a:alphaModFix/>
          </a:blip>
          <a:srcRect b="0" l="0" r="0" t="0"/>
          <a:stretch/>
        </p:blipFill>
        <p:spPr>
          <a:xfrm>
            <a:off x="23527" y="0"/>
            <a:ext cx="1404938" cy="11557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81" name="Shape 281"/>
        <p:cNvGrpSpPr/>
        <p:nvPr/>
      </p:nvGrpSpPr>
      <p:grpSpPr>
        <a:xfrm>
          <a:off x="0" y="0"/>
          <a:ext cx="0" cy="0"/>
          <a:chOff x="0" y="0"/>
          <a:chExt cx="0" cy="0"/>
        </a:xfrm>
      </p:grpSpPr>
      <p:sp>
        <p:nvSpPr>
          <p:cNvPr id="282" name="Google Shape;282;p15"/>
          <p:cNvSpPr txBox="1"/>
          <p:nvPr>
            <p:ph type="ctrTitle"/>
          </p:nvPr>
        </p:nvSpPr>
        <p:spPr>
          <a:xfrm>
            <a:off x="1428465" y="276202"/>
            <a:ext cx="9144000" cy="1443416"/>
          </a:xfrm>
          <a:prstGeom prst="rect">
            <a:avLst/>
          </a:prstGeom>
          <a:noFill/>
          <a:ln>
            <a:noFill/>
          </a:ln>
        </p:spPr>
        <p:txBody>
          <a:bodyPr anchorCtr="0" anchor="ctr" bIns="45700" lIns="91425" spcFirstLastPara="1" rIns="91425" wrap="square" tIns="45700">
            <a:normAutofit/>
          </a:bodyPr>
          <a:lstStyle/>
          <a:p>
            <a:pPr indent="0" lvl="0" marL="0" rtl="0" algn="ctr">
              <a:lnSpc>
                <a:spcPct val="80000"/>
              </a:lnSpc>
              <a:spcBef>
                <a:spcPts val="0"/>
              </a:spcBef>
              <a:spcAft>
                <a:spcPts val="0"/>
              </a:spcAft>
              <a:buClr>
                <a:schemeClr val="dk1"/>
              </a:buClr>
              <a:buSzPts val="3600"/>
              <a:buFont typeface="Calibri"/>
              <a:buNone/>
            </a:pPr>
            <a:br>
              <a:rPr b="1" lang="en-US" sz="3600">
                <a:solidFill>
                  <a:schemeClr val="dk1"/>
                </a:solidFill>
                <a:latin typeface="Calibri"/>
                <a:ea typeface="Calibri"/>
                <a:cs typeface="Calibri"/>
                <a:sym typeface="Calibri"/>
              </a:rPr>
            </a:br>
            <a:br>
              <a:rPr b="1" lang="en-US" sz="3600">
                <a:solidFill>
                  <a:srgbClr val="7030A0"/>
                </a:solidFill>
                <a:latin typeface="Calibri"/>
                <a:ea typeface="Calibri"/>
                <a:cs typeface="Calibri"/>
                <a:sym typeface="Calibri"/>
              </a:rPr>
            </a:br>
            <a:r>
              <a:rPr b="1" lang="en-US" sz="3600">
                <a:solidFill>
                  <a:schemeClr val="accent1"/>
                </a:solidFill>
                <a:latin typeface="Calibri"/>
                <a:ea typeface="Calibri"/>
                <a:cs typeface="Calibri"/>
                <a:sym typeface="Calibri"/>
              </a:rPr>
              <a:t>INTRODUCTION TO ENTREPRENEURSHIP  </a:t>
            </a:r>
            <a:endParaRPr sz="3600">
              <a:solidFill>
                <a:schemeClr val="accent1"/>
              </a:solidFill>
              <a:latin typeface="Calibri"/>
              <a:ea typeface="Calibri"/>
              <a:cs typeface="Calibri"/>
              <a:sym typeface="Calibri"/>
            </a:endParaRPr>
          </a:p>
        </p:txBody>
      </p:sp>
      <p:sp>
        <p:nvSpPr>
          <p:cNvPr id="283" name="Google Shape;283;p15"/>
          <p:cNvSpPr txBox="1"/>
          <p:nvPr>
            <p:ph idx="1" type="subTitle"/>
          </p:nvPr>
        </p:nvSpPr>
        <p:spPr>
          <a:xfrm>
            <a:off x="1696871" y="2133528"/>
            <a:ext cx="9144000" cy="3914775"/>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2800"/>
              <a:buNone/>
            </a:pPr>
            <a:r>
              <a:t/>
            </a:r>
            <a:endParaRPr b="1" sz="2800">
              <a:solidFill>
                <a:srgbClr val="00B050"/>
              </a:solidFill>
              <a:latin typeface="Twentieth Century"/>
              <a:ea typeface="Twentieth Century"/>
              <a:cs typeface="Twentieth Century"/>
              <a:sym typeface="Twentieth Century"/>
            </a:endParaRPr>
          </a:p>
          <a:p>
            <a:pPr indent="0" lvl="0" marL="0" rtl="0" algn="l">
              <a:lnSpc>
                <a:spcPct val="100000"/>
              </a:lnSpc>
              <a:spcBef>
                <a:spcPts val="200"/>
              </a:spcBef>
              <a:spcAft>
                <a:spcPts val="0"/>
              </a:spcAft>
              <a:buSzPts val="2800"/>
              <a:buNone/>
            </a:pPr>
            <a:r>
              <a:rPr b="1" lang="en-US" sz="2800">
                <a:solidFill>
                  <a:srgbClr val="00B050"/>
                </a:solidFill>
                <a:latin typeface="Twentieth Century"/>
                <a:ea typeface="Twentieth Century"/>
                <a:cs typeface="Twentieth Century"/>
                <a:sym typeface="Twentieth Century"/>
              </a:rPr>
              <a:t>Professor Saras Sarasvathy</a:t>
            </a:r>
            <a:endParaRPr b="1" sz="2800">
              <a:solidFill>
                <a:srgbClr val="00B050"/>
              </a:solidFill>
              <a:latin typeface="Twentieth Century"/>
              <a:ea typeface="Twentieth Century"/>
              <a:cs typeface="Twentieth Century"/>
              <a:sym typeface="Twentieth Century"/>
            </a:endParaRPr>
          </a:p>
          <a:p>
            <a:pPr indent="-457200" lvl="0" marL="457200" rtl="0" algn="l">
              <a:lnSpc>
                <a:spcPct val="100000"/>
              </a:lnSpc>
              <a:spcBef>
                <a:spcPts val="200"/>
              </a:spcBef>
              <a:spcAft>
                <a:spcPts val="0"/>
              </a:spcAft>
              <a:buSzPts val="2800"/>
              <a:buFont typeface="Noto Sans Symbols"/>
              <a:buChar char="▪"/>
            </a:pPr>
            <a:r>
              <a:rPr lang="en-US" sz="2800"/>
              <a:t>Affordable-loss </a:t>
            </a:r>
            <a:r>
              <a:rPr b="1" lang="en-US" sz="2800"/>
              <a:t>principle</a:t>
            </a:r>
            <a:endParaRPr/>
          </a:p>
          <a:p>
            <a:pPr indent="0" lvl="0" marL="0" rtl="0" algn="l">
              <a:lnSpc>
                <a:spcPct val="100000"/>
              </a:lnSpc>
              <a:spcBef>
                <a:spcPts val="200"/>
              </a:spcBef>
              <a:spcAft>
                <a:spcPts val="0"/>
              </a:spcAft>
              <a:buSzPts val="2800"/>
              <a:buNone/>
            </a:pPr>
            <a:r>
              <a:rPr lang="en-US" sz="2800"/>
              <a:t> You should only invest as much as you are willing to lose.</a:t>
            </a:r>
            <a:endParaRPr b="1" sz="2800"/>
          </a:p>
          <a:p>
            <a:pPr indent="0" lvl="0" marL="0" rtl="0" algn="l">
              <a:lnSpc>
                <a:spcPct val="100000"/>
              </a:lnSpc>
              <a:spcBef>
                <a:spcPts val="200"/>
              </a:spcBef>
              <a:spcAft>
                <a:spcPts val="0"/>
              </a:spcAft>
              <a:buSzPts val="2400"/>
              <a:buNone/>
            </a:pPr>
            <a:r>
              <a:t/>
            </a:r>
            <a:endParaRPr b="1" sz="2400">
              <a:solidFill>
                <a:srgbClr val="7030A0"/>
              </a:solidFill>
              <a:latin typeface="Twentieth Century"/>
              <a:ea typeface="Twentieth Century"/>
              <a:cs typeface="Twentieth Century"/>
              <a:sym typeface="Twentieth Century"/>
            </a:endParaRPr>
          </a:p>
          <a:p>
            <a:pPr indent="0" lvl="0" marL="0" rtl="0" algn="r">
              <a:lnSpc>
                <a:spcPct val="100000"/>
              </a:lnSpc>
              <a:spcBef>
                <a:spcPts val="200"/>
              </a:spcBef>
              <a:spcAft>
                <a:spcPts val="0"/>
              </a:spcAft>
              <a:buClr>
                <a:srgbClr val="0C0C0C"/>
              </a:buClr>
              <a:buSzPts val="2400"/>
              <a:buNone/>
            </a:pPr>
            <a:r>
              <a:t/>
            </a:r>
            <a:endParaRPr sz="2400"/>
          </a:p>
        </p:txBody>
      </p:sp>
      <p:pic>
        <p:nvPicPr>
          <p:cNvPr id="284" name="Google Shape;284;p15"/>
          <p:cNvPicPr preferRelativeResize="0"/>
          <p:nvPr/>
        </p:nvPicPr>
        <p:blipFill rotWithShape="1">
          <a:blip r:embed="rId3">
            <a:alphaModFix/>
          </a:blip>
          <a:srcRect b="0" l="0" r="0" t="0"/>
          <a:stretch/>
        </p:blipFill>
        <p:spPr>
          <a:xfrm>
            <a:off x="23527" y="0"/>
            <a:ext cx="1404938" cy="11557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88" name="Shape 288"/>
        <p:cNvGrpSpPr/>
        <p:nvPr/>
      </p:nvGrpSpPr>
      <p:grpSpPr>
        <a:xfrm>
          <a:off x="0" y="0"/>
          <a:ext cx="0" cy="0"/>
          <a:chOff x="0" y="0"/>
          <a:chExt cx="0" cy="0"/>
        </a:xfrm>
      </p:grpSpPr>
      <p:sp>
        <p:nvSpPr>
          <p:cNvPr id="289" name="Google Shape;289;p16"/>
          <p:cNvSpPr txBox="1"/>
          <p:nvPr>
            <p:ph type="ctrTitle"/>
          </p:nvPr>
        </p:nvSpPr>
        <p:spPr>
          <a:xfrm>
            <a:off x="1428465" y="276202"/>
            <a:ext cx="9144000" cy="1443416"/>
          </a:xfrm>
          <a:prstGeom prst="rect">
            <a:avLst/>
          </a:prstGeom>
          <a:noFill/>
          <a:ln>
            <a:noFill/>
          </a:ln>
        </p:spPr>
        <p:txBody>
          <a:bodyPr anchorCtr="0" anchor="ctr" bIns="45700" lIns="91425" spcFirstLastPara="1" rIns="91425" wrap="square" tIns="45700">
            <a:normAutofit/>
          </a:bodyPr>
          <a:lstStyle/>
          <a:p>
            <a:pPr indent="0" lvl="0" marL="0" rtl="0" algn="ctr">
              <a:lnSpc>
                <a:spcPct val="80000"/>
              </a:lnSpc>
              <a:spcBef>
                <a:spcPts val="0"/>
              </a:spcBef>
              <a:spcAft>
                <a:spcPts val="0"/>
              </a:spcAft>
              <a:buClr>
                <a:schemeClr val="dk1"/>
              </a:buClr>
              <a:buSzPts val="3600"/>
              <a:buFont typeface="Calibri"/>
              <a:buNone/>
            </a:pPr>
            <a:br>
              <a:rPr b="1" lang="en-US" sz="3600">
                <a:solidFill>
                  <a:schemeClr val="dk1"/>
                </a:solidFill>
                <a:latin typeface="Calibri"/>
                <a:ea typeface="Calibri"/>
                <a:cs typeface="Calibri"/>
                <a:sym typeface="Calibri"/>
              </a:rPr>
            </a:br>
            <a:br>
              <a:rPr b="1" lang="en-US" sz="3600">
                <a:solidFill>
                  <a:srgbClr val="7030A0"/>
                </a:solidFill>
                <a:latin typeface="Calibri"/>
                <a:ea typeface="Calibri"/>
                <a:cs typeface="Calibri"/>
                <a:sym typeface="Calibri"/>
              </a:rPr>
            </a:br>
            <a:r>
              <a:rPr b="1" lang="en-US" sz="3600">
                <a:solidFill>
                  <a:schemeClr val="accent1"/>
                </a:solidFill>
                <a:latin typeface="Calibri"/>
                <a:ea typeface="Calibri"/>
                <a:cs typeface="Calibri"/>
                <a:sym typeface="Calibri"/>
              </a:rPr>
              <a:t>INTRODUCTION TO ENTREPRENEURSHIP  </a:t>
            </a:r>
            <a:endParaRPr sz="3600">
              <a:solidFill>
                <a:schemeClr val="accent1"/>
              </a:solidFill>
              <a:latin typeface="Calibri"/>
              <a:ea typeface="Calibri"/>
              <a:cs typeface="Calibri"/>
              <a:sym typeface="Calibri"/>
            </a:endParaRPr>
          </a:p>
        </p:txBody>
      </p:sp>
      <p:sp>
        <p:nvSpPr>
          <p:cNvPr id="290" name="Google Shape;290;p16"/>
          <p:cNvSpPr txBox="1"/>
          <p:nvPr>
            <p:ph idx="1" type="subTitle"/>
          </p:nvPr>
        </p:nvSpPr>
        <p:spPr>
          <a:xfrm>
            <a:off x="1696871" y="2133528"/>
            <a:ext cx="9144000" cy="3914775"/>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2800"/>
              <a:buNone/>
            </a:pPr>
            <a:r>
              <a:t/>
            </a:r>
            <a:endParaRPr b="1" sz="2800">
              <a:solidFill>
                <a:srgbClr val="00B050"/>
              </a:solidFill>
              <a:latin typeface="Twentieth Century"/>
              <a:ea typeface="Twentieth Century"/>
              <a:cs typeface="Twentieth Century"/>
              <a:sym typeface="Twentieth Century"/>
            </a:endParaRPr>
          </a:p>
          <a:p>
            <a:pPr indent="0" lvl="0" marL="0" rtl="0" algn="l">
              <a:lnSpc>
                <a:spcPct val="100000"/>
              </a:lnSpc>
              <a:spcBef>
                <a:spcPts val="200"/>
              </a:spcBef>
              <a:spcAft>
                <a:spcPts val="0"/>
              </a:spcAft>
              <a:buSzPts val="2800"/>
              <a:buNone/>
            </a:pPr>
            <a:r>
              <a:rPr b="1" lang="en-US" sz="2800">
                <a:solidFill>
                  <a:srgbClr val="00B050"/>
                </a:solidFill>
                <a:latin typeface="Twentieth Century"/>
                <a:ea typeface="Twentieth Century"/>
                <a:cs typeface="Twentieth Century"/>
                <a:sym typeface="Twentieth Century"/>
              </a:rPr>
              <a:t>Professor Saras Sarasvathy</a:t>
            </a:r>
            <a:endParaRPr b="1" sz="2800">
              <a:solidFill>
                <a:srgbClr val="00B050"/>
              </a:solidFill>
              <a:latin typeface="Twentieth Century"/>
              <a:ea typeface="Twentieth Century"/>
              <a:cs typeface="Twentieth Century"/>
              <a:sym typeface="Twentieth Century"/>
            </a:endParaRPr>
          </a:p>
          <a:p>
            <a:pPr indent="-457200" lvl="0" marL="457200" rtl="0" algn="l">
              <a:lnSpc>
                <a:spcPct val="100000"/>
              </a:lnSpc>
              <a:spcBef>
                <a:spcPts val="200"/>
              </a:spcBef>
              <a:spcAft>
                <a:spcPts val="0"/>
              </a:spcAft>
              <a:buSzPts val="2800"/>
              <a:buFont typeface="Noto Sans Symbols"/>
              <a:buChar char="▪"/>
            </a:pPr>
            <a:r>
              <a:rPr lang="en-US" sz="2800"/>
              <a:t>Lemonade </a:t>
            </a:r>
            <a:r>
              <a:rPr b="1" lang="en-US" sz="2800"/>
              <a:t>principle</a:t>
            </a:r>
            <a:endParaRPr/>
          </a:p>
          <a:p>
            <a:pPr indent="0" lvl="0" marL="0" rtl="0" algn="l">
              <a:lnSpc>
                <a:spcPct val="100000"/>
              </a:lnSpc>
              <a:spcBef>
                <a:spcPts val="200"/>
              </a:spcBef>
              <a:spcAft>
                <a:spcPts val="0"/>
              </a:spcAft>
              <a:buSzPts val="2400"/>
              <a:buNone/>
            </a:pPr>
            <a:r>
              <a:rPr lang="en-US" sz="2400"/>
              <a:t>Mistakes and surprises are inevitable and can be used to look for new opportunities.</a:t>
            </a:r>
            <a:endParaRPr b="1" sz="2400">
              <a:solidFill>
                <a:srgbClr val="7030A0"/>
              </a:solidFill>
              <a:latin typeface="Twentieth Century"/>
              <a:ea typeface="Twentieth Century"/>
              <a:cs typeface="Twentieth Century"/>
              <a:sym typeface="Twentieth Century"/>
            </a:endParaRPr>
          </a:p>
          <a:p>
            <a:pPr indent="0" lvl="0" marL="0" rtl="0" algn="r">
              <a:lnSpc>
                <a:spcPct val="100000"/>
              </a:lnSpc>
              <a:spcBef>
                <a:spcPts val="200"/>
              </a:spcBef>
              <a:spcAft>
                <a:spcPts val="0"/>
              </a:spcAft>
              <a:buClr>
                <a:srgbClr val="0C0C0C"/>
              </a:buClr>
              <a:buSzPts val="2400"/>
              <a:buNone/>
            </a:pPr>
            <a:r>
              <a:t/>
            </a:r>
            <a:endParaRPr sz="2400"/>
          </a:p>
        </p:txBody>
      </p:sp>
      <p:pic>
        <p:nvPicPr>
          <p:cNvPr id="291" name="Google Shape;291;p16"/>
          <p:cNvPicPr preferRelativeResize="0"/>
          <p:nvPr/>
        </p:nvPicPr>
        <p:blipFill rotWithShape="1">
          <a:blip r:embed="rId3">
            <a:alphaModFix/>
          </a:blip>
          <a:srcRect b="0" l="0" r="0" t="0"/>
          <a:stretch/>
        </p:blipFill>
        <p:spPr>
          <a:xfrm>
            <a:off x="23527" y="0"/>
            <a:ext cx="1404938" cy="11557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95" name="Shape 295"/>
        <p:cNvGrpSpPr/>
        <p:nvPr/>
      </p:nvGrpSpPr>
      <p:grpSpPr>
        <a:xfrm>
          <a:off x="0" y="0"/>
          <a:ext cx="0" cy="0"/>
          <a:chOff x="0" y="0"/>
          <a:chExt cx="0" cy="0"/>
        </a:xfrm>
      </p:grpSpPr>
      <p:sp>
        <p:nvSpPr>
          <p:cNvPr id="296" name="Google Shape;296;p17"/>
          <p:cNvSpPr txBox="1"/>
          <p:nvPr>
            <p:ph type="ctrTitle"/>
          </p:nvPr>
        </p:nvSpPr>
        <p:spPr>
          <a:xfrm>
            <a:off x="1428465" y="276202"/>
            <a:ext cx="9144000" cy="1443416"/>
          </a:xfrm>
          <a:prstGeom prst="rect">
            <a:avLst/>
          </a:prstGeom>
          <a:noFill/>
          <a:ln>
            <a:noFill/>
          </a:ln>
        </p:spPr>
        <p:txBody>
          <a:bodyPr anchorCtr="0" anchor="ctr" bIns="45700" lIns="91425" spcFirstLastPara="1" rIns="91425" wrap="square" tIns="45700">
            <a:normAutofit/>
          </a:bodyPr>
          <a:lstStyle/>
          <a:p>
            <a:pPr indent="0" lvl="0" marL="0" rtl="0" algn="ctr">
              <a:lnSpc>
                <a:spcPct val="80000"/>
              </a:lnSpc>
              <a:spcBef>
                <a:spcPts val="0"/>
              </a:spcBef>
              <a:spcAft>
                <a:spcPts val="0"/>
              </a:spcAft>
              <a:buClr>
                <a:schemeClr val="dk1"/>
              </a:buClr>
              <a:buSzPts val="3600"/>
              <a:buFont typeface="Calibri"/>
              <a:buNone/>
            </a:pPr>
            <a:br>
              <a:rPr b="1" lang="en-US" sz="3600">
                <a:solidFill>
                  <a:schemeClr val="dk1"/>
                </a:solidFill>
                <a:latin typeface="Calibri"/>
                <a:ea typeface="Calibri"/>
                <a:cs typeface="Calibri"/>
                <a:sym typeface="Calibri"/>
              </a:rPr>
            </a:br>
            <a:br>
              <a:rPr b="1" lang="en-US" sz="3600">
                <a:solidFill>
                  <a:srgbClr val="7030A0"/>
                </a:solidFill>
                <a:latin typeface="Calibri"/>
                <a:ea typeface="Calibri"/>
                <a:cs typeface="Calibri"/>
                <a:sym typeface="Calibri"/>
              </a:rPr>
            </a:br>
            <a:r>
              <a:rPr b="1" lang="en-US" sz="3600">
                <a:solidFill>
                  <a:schemeClr val="accent1"/>
                </a:solidFill>
                <a:latin typeface="Calibri"/>
                <a:ea typeface="Calibri"/>
                <a:cs typeface="Calibri"/>
                <a:sym typeface="Calibri"/>
              </a:rPr>
              <a:t>INTRODUCTION TO ENTREPRENEURSHIP  </a:t>
            </a:r>
            <a:endParaRPr sz="3600">
              <a:solidFill>
                <a:schemeClr val="accent1"/>
              </a:solidFill>
              <a:latin typeface="Calibri"/>
              <a:ea typeface="Calibri"/>
              <a:cs typeface="Calibri"/>
              <a:sym typeface="Calibri"/>
            </a:endParaRPr>
          </a:p>
        </p:txBody>
      </p:sp>
      <p:sp>
        <p:nvSpPr>
          <p:cNvPr id="297" name="Google Shape;297;p17"/>
          <p:cNvSpPr txBox="1"/>
          <p:nvPr>
            <p:ph idx="1" type="subTitle"/>
          </p:nvPr>
        </p:nvSpPr>
        <p:spPr>
          <a:xfrm>
            <a:off x="1696871" y="2133528"/>
            <a:ext cx="9144000" cy="3914775"/>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2800"/>
              <a:buNone/>
            </a:pPr>
            <a:r>
              <a:t/>
            </a:r>
            <a:endParaRPr b="1" sz="2800">
              <a:solidFill>
                <a:srgbClr val="00B050"/>
              </a:solidFill>
              <a:latin typeface="Twentieth Century"/>
              <a:ea typeface="Twentieth Century"/>
              <a:cs typeface="Twentieth Century"/>
              <a:sym typeface="Twentieth Century"/>
            </a:endParaRPr>
          </a:p>
          <a:p>
            <a:pPr indent="0" lvl="0" marL="0" rtl="0" algn="l">
              <a:lnSpc>
                <a:spcPct val="100000"/>
              </a:lnSpc>
              <a:spcBef>
                <a:spcPts val="200"/>
              </a:spcBef>
              <a:spcAft>
                <a:spcPts val="0"/>
              </a:spcAft>
              <a:buSzPts val="2800"/>
              <a:buNone/>
            </a:pPr>
            <a:r>
              <a:rPr b="1" lang="en-US" sz="2800">
                <a:solidFill>
                  <a:srgbClr val="00B050"/>
                </a:solidFill>
                <a:latin typeface="Twentieth Century"/>
                <a:ea typeface="Twentieth Century"/>
                <a:cs typeface="Twentieth Century"/>
                <a:sym typeface="Twentieth Century"/>
              </a:rPr>
              <a:t>Professor Saras Sarasvathy</a:t>
            </a:r>
            <a:endParaRPr b="1" sz="2800">
              <a:solidFill>
                <a:srgbClr val="00B050"/>
              </a:solidFill>
              <a:latin typeface="Twentieth Century"/>
              <a:ea typeface="Twentieth Century"/>
              <a:cs typeface="Twentieth Century"/>
              <a:sym typeface="Twentieth Century"/>
            </a:endParaRPr>
          </a:p>
          <a:p>
            <a:pPr indent="-457200" lvl="0" marL="457200" rtl="0" algn="l">
              <a:lnSpc>
                <a:spcPct val="100000"/>
              </a:lnSpc>
              <a:spcBef>
                <a:spcPts val="200"/>
              </a:spcBef>
              <a:spcAft>
                <a:spcPts val="0"/>
              </a:spcAft>
              <a:buSzPts val="2800"/>
              <a:buFont typeface="Noto Sans Symbols"/>
              <a:buChar char="▪"/>
            </a:pPr>
            <a:r>
              <a:rPr lang="en-US" sz="2800"/>
              <a:t>Patchwork-quilt </a:t>
            </a:r>
            <a:r>
              <a:rPr b="1" lang="en-US" sz="2800"/>
              <a:t>principle</a:t>
            </a:r>
            <a:endParaRPr/>
          </a:p>
          <a:p>
            <a:pPr indent="0" lvl="0" marL="0" rtl="0" algn="l">
              <a:lnSpc>
                <a:spcPct val="100000"/>
              </a:lnSpc>
              <a:spcBef>
                <a:spcPts val="200"/>
              </a:spcBef>
              <a:spcAft>
                <a:spcPts val="0"/>
              </a:spcAft>
              <a:buSzPts val="2400"/>
              <a:buNone/>
            </a:pPr>
            <a:r>
              <a:rPr lang="en-US" sz="2400"/>
              <a:t>Entering into new partnerships can bring the project new funds and new directions.</a:t>
            </a:r>
            <a:endParaRPr b="1" sz="2400">
              <a:solidFill>
                <a:srgbClr val="7030A0"/>
              </a:solidFill>
              <a:latin typeface="Twentieth Century"/>
              <a:ea typeface="Twentieth Century"/>
              <a:cs typeface="Twentieth Century"/>
              <a:sym typeface="Twentieth Century"/>
            </a:endParaRPr>
          </a:p>
          <a:p>
            <a:pPr indent="0" lvl="0" marL="0" rtl="0" algn="r">
              <a:lnSpc>
                <a:spcPct val="100000"/>
              </a:lnSpc>
              <a:spcBef>
                <a:spcPts val="200"/>
              </a:spcBef>
              <a:spcAft>
                <a:spcPts val="0"/>
              </a:spcAft>
              <a:buClr>
                <a:srgbClr val="0C0C0C"/>
              </a:buClr>
              <a:buSzPts val="2400"/>
              <a:buNone/>
            </a:pPr>
            <a:r>
              <a:t/>
            </a:r>
            <a:endParaRPr sz="2400"/>
          </a:p>
        </p:txBody>
      </p:sp>
      <p:pic>
        <p:nvPicPr>
          <p:cNvPr id="298" name="Google Shape;298;p17"/>
          <p:cNvPicPr preferRelativeResize="0"/>
          <p:nvPr/>
        </p:nvPicPr>
        <p:blipFill rotWithShape="1">
          <a:blip r:embed="rId3">
            <a:alphaModFix/>
          </a:blip>
          <a:srcRect b="0" l="0" r="0" t="0"/>
          <a:stretch/>
        </p:blipFill>
        <p:spPr>
          <a:xfrm>
            <a:off x="23527" y="0"/>
            <a:ext cx="1404938" cy="11557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302" name="Shape 302"/>
        <p:cNvGrpSpPr/>
        <p:nvPr/>
      </p:nvGrpSpPr>
      <p:grpSpPr>
        <a:xfrm>
          <a:off x="0" y="0"/>
          <a:ext cx="0" cy="0"/>
          <a:chOff x="0" y="0"/>
          <a:chExt cx="0" cy="0"/>
        </a:xfrm>
      </p:grpSpPr>
      <p:sp>
        <p:nvSpPr>
          <p:cNvPr id="303" name="Google Shape;303;p18"/>
          <p:cNvSpPr txBox="1"/>
          <p:nvPr>
            <p:ph type="ctrTitle"/>
          </p:nvPr>
        </p:nvSpPr>
        <p:spPr>
          <a:xfrm>
            <a:off x="1428465" y="276202"/>
            <a:ext cx="9144000" cy="1443416"/>
          </a:xfrm>
          <a:prstGeom prst="rect">
            <a:avLst/>
          </a:prstGeom>
          <a:noFill/>
          <a:ln>
            <a:noFill/>
          </a:ln>
        </p:spPr>
        <p:txBody>
          <a:bodyPr anchorCtr="0" anchor="ctr" bIns="45700" lIns="91425" spcFirstLastPara="1" rIns="91425" wrap="square" tIns="45700">
            <a:normAutofit/>
          </a:bodyPr>
          <a:lstStyle/>
          <a:p>
            <a:pPr indent="0" lvl="0" marL="0" rtl="0" algn="ctr">
              <a:lnSpc>
                <a:spcPct val="80000"/>
              </a:lnSpc>
              <a:spcBef>
                <a:spcPts val="0"/>
              </a:spcBef>
              <a:spcAft>
                <a:spcPts val="0"/>
              </a:spcAft>
              <a:buClr>
                <a:schemeClr val="dk1"/>
              </a:buClr>
              <a:buSzPts val="3600"/>
              <a:buFont typeface="Calibri"/>
              <a:buNone/>
            </a:pPr>
            <a:br>
              <a:rPr b="1" lang="en-US" sz="3600">
                <a:solidFill>
                  <a:schemeClr val="dk1"/>
                </a:solidFill>
                <a:latin typeface="Calibri"/>
                <a:ea typeface="Calibri"/>
                <a:cs typeface="Calibri"/>
                <a:sym typeface="Calibri"/>
              </a:rPr>
            </a:br>
            <a:br>
              <a:rPr b="1" lang="en-US" sz="3600">
                <a:solidFill>
                  <a:srgbClr val="7030A0"/>
                </a:solidFill>
                <a:latin typeface="Calibri"/>
                <a:ea typeface="Calibri"/>
                <a:cs typeface="Calibri"/>
                <a:sym typeface="Calibri"/>
              </a:rPr>
            </a:br>
            <a:r>
              <a:rPr b="1" lang="en-US" sz="3600">
                <a:solidFill>
                  <a:schemeClr val="accent1"/>
                </a:solidFill>
                <a:latin typeface="Calibri"/>
                <a:ea typeface="Calibri"/>
                <a:cs typeface="Calibri"/>
                <a:sym typeface="Calibri"/>
              </a:rPr>
              <a:t>INTRODUCTION TO ENTREPRENEURSHIP  </a:t>
            </a:r>
            <a:endParaRPr sz="3600">
              <a:solidFill>
                <a:schemeClr val="accent1"/>
              </a:solidFill>
              <a:latin typeface="Calibri"/>
              <a:ea typeface="Calibri"/>
              <a:cs typeface="Calibri"/>
              <a:sym typeface="Calibri"/>
            </a:endParaRPr>
          </a:p>
        </p:txBody>
      </p:sp>
      <p:sp>
        <p:nvSpPr>
          <p:cNvPr id="304" name="Google Shape;304;p18"/>
          <p:cNvSpPr txBox="1"/>
          <p:nvPr>
            <p:ph idx="1" type="subTitle"/>
          </p:nvPr>
        </p:nvSpPr>
        <p:spPr>
          <a:xfrm>
            <a:off x="1696871" y="2133528"/>
            <a:ext cx="9144000" cy="3914775"/>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2800"/>
              <a:buNone/>
            </a:pPr>
            <a:r>
              <a:t/>
            </a:r>
            <a:endParaRPr b="1" sz="2800">
              <a:solidFill>
                <a:srgbClr val="00B050"/>
              </a:solidFill>
              <a:latin typeface="Twentieth Century"/>
              <a:ea typeface="Twentieth Century"/>
              <a:cs typeface="Twentieth Century"/>
              <a:sym typeface="Twentieth Century"/>
            </a:endParaRPr>
          </a:p>
          <a:p>
            <a:pPr indent="0" lvl="0" marL="0" rtl="0" algn="l">
              <a:lnSpc>
                <a:spcPct val="100000"/>
              </a:lnSpc>
              <a:spcBef>
                <a:spcPts val="200"/>
              </a:spcBef>
              <a:spcAft>
                <a:spcPts val="0"/>
              </a:spcAft>
              <a:buSzPts val="2800"/>
              <a:buNone/>
            </a:pPr>
            <a:r>
              <a:rPr b="1" lang="en-US" sz="2800">
                <a:solidFill>
                  <a:srgbClr val="00B050"/>
                </a:solidFill>
                <a:latin typeface="Twentieth Century"/>
                <a:ea typeface="Twentieth Century"/>
                <a:cs typeface="Twentieth Century"/>
                <a:sym typeface="Twentieth Century"/>
              </a:rPr>
              <a:t>Professor Saras Sarasvathy</a:t>
            </a:r>
            <a:endParaRPr b="1" sz="2800">
              <a:solidFill>
                <a:srgbClr val="00B050"/>
              </a:solidFill>
              <a:latin typeface="Twentieth Century"/>
              <a:ea typeface="Twentieth Century"/>
              <a:cs typeface="Twentieth Century"/>
              <a:sym typeface="Twentieth Century"/>
            </a:endParaRPr>
          </a:p>
          <a:p>
            <a:pPr indent="-457200" lvl="0" marL="457200" rtl="0" algn="l">
              <a:lnSpc>
                <a:spcPct val="100000"/>
              </a:lnSpc>
              <a:spcBef>
                <a:spcPts val="200"/>
              </a:spcBef>
              <a:spcAft>
                <a:spcPts val="0"/>
              </a:spcAft>
              <a:buSzPts val="2800"/>
              <a:buFont typeface="Noto Sans Symbols"/>
              <a:buChar char="▪"/>
            </a:pPr>
            <a:r>
              <a:rPr lang="en-US" sz="2800"/>
              <a:t>Pilot-in-the-plane </a:t>
            </a:r>
            <a:r>
              <a:rPr b="1" lang="en-US" sz="2800"/>
              <a:t>principle</a:t>
            </a:r>
            <a:endParaRPr b="1" sz="2800">
              <a:solidFill>
                <a:srgbClr val="7030A0"/>
              </a:solidFill>
              <a:latin typeface="Twentieth Century"/>
              <a:ea typeface="Twentieth Century"/>
              <a:cs typeface="Twentieth Century"/>
              <a:sym typeface="Twentieth Century"/>
            </a:endParaRPr>
          </a:p>
          <a:p>
            <a:pPr indent="0" lvl="0" marL="0" rtl="0" algn="l">
              <a:lnSpc>
                <a:spcPct val="100000"/>
              </a:lnSpc>
              <a:spcBef>
                <a:spcPts val="200"/>
              </a:spcBef>
              <a:spcAft>
                <a:spcPts val="0"/>
              </a:spcAft>
              <a:buSzPts val="2400"/>
              <a:buNone/>
            </a:pPr>
            <a:r>
              <a:rPr lang="en-US" sz="2400"/>
              <a:t>An effectual worldview is rooted in the belief that the future is neither found nor predicted, but rather made.</a:t>
            </a:r>
            <a:endParaRPr b="1" sz="2400">
              <a:solidFill>
                <a:srgbClr val="7030A0"/>
              </a:solidFill>
              <a:latin typeface="Twentieth Century"/>
              <a:ea typeface="Twentieth Century"/>
              <a:cs typeface="Twentieth Century"/>
              <a:sym typeface="Twentieth Century"/>
            </a:endParaRPr>
          </a:p>
          <a:p>
            <a:pPr indent="0" lvl="0" marL="0" rtl="0" algn="r">
              <a:lnSpc>
                <a:spcPct val="100000"/>
              </a:lnSpc>
              <a:spcBef>
                <a:spcPts val="200"/>
              </a:spcBef>
              <a:spcAft>
                <a:spcPts val="0"/>
              </a:spcAft>
              <a:buClr>
                <a:srgbClr val="0C0C0C"/>
              </a:buClr>
              <a:buSzPts val="2400"/>
              <a:buNone/>
            </a:pPr>
            <a:r>
              <a:t/>
            </a:r>
            <a:endParaRPr sz="2400"/>
          </a:p>
        </p:txBody>
      </p:sp>
      <p:pic>
        <p:nvPicPr>
          <p:cNvPr id="305" name="Google Shape;305;p18"/>
          <p:cNvPicPr preferRelativeResize="0"/>
          <p:nvPr/>
        </p:nvPicPr>
        <p:blipFill rotWithShape="1">
          <a:blip r:embed="rId3">
            <a:alphaModFix/>
          </a:blip>
          <a:srcRect b="0" l="0" r="0" t="0"/>
          <a:stretch/>
        </p:blipFill>
        <p:spPr>
          <a:xfrm>
            <a:off x="23527" y="0"/>
            <a:ext cx="1404938" cy="11557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309" name="Shape 309"/>
        <p:cNvGrpSpPr/>
        <p:nvPr/>
      </p:nvGrpSpPr>
      <p:grpSpPr>
        <a:xfrm>
          <a:off x="0" y="0"/>
          <a:ext cx="0" cy="0"/>
          <a:chOff x="0" y="0"/>
          <a:chExt cx="0" cy="0"/>
        </a:xfrm>
      </p:grpSpPr>
      <p:sp>
        <p:nvSpPr>
          <p:cNvPr id="310" name="Google Shape;310;p19"/>
          <p:cNvSpPr txBox="1"/>
          <p:nvPr>
            <p:ph type="ctrTitle"/>
          </p:nvPr>
        </p:nvSpPr>
        <p:spPr>
          <a:xfrm>
            <a:off x="1428465" y="276202"/>
            <a:ext cx="9144000" cy="1443416"/>
          </a:xfrm>
          <a:prstGeom prst="rect">
            <a:avLst/>
          </a:prstGeom>
          <a:noFill/>
          <a:ln>
            <a:noFill/>
          </a:ln>
        </p:spPr>
        <p:txBody>
          <a:bodyPr anchorCtr="0" anchor="ctr" bIns="45700" lIns="91425" spcFirstLastPara="1" rIns="91425" wrap="square" tIns="45700">
            <a:normAutofit/>
          </a:bodyPr>
          <a:lstStyle/>
          <a:p>
            <a:pPr indent="0" lvl="0" marL="0" rtl="0" algn="ctr">
              <a:lnSpc>
                <a:spcPct val="80000"/>
              </a:lnSpc>
              <a:spcBef>
                <a:spcPts val="0"/>
              </a:spcBef>
              <a:spcAft>
                <a:spcPts val="0"/>
              </a:spcAft>
              <a:buClr>
                <a:schemeClr val="dk1"/>
              </a:buClr>
              <a:buSzPts val="3600"/>
              <a:buFont typeface="Calibri"/>
              <a:buNone/>
            </a:pPr>
            <a:br>
              <a:rPr b="1" lang="en-US" sz="3600">
                <a:solidFill>
                  <a:schemeClr val="dk1"/>
                </a:solidFill>
                <a:latin typeface="Calibri"/>
                <a:ea typeface="Calibri"/>
                <a:cs typeface="Calibri"/>
                <a:sym typeface="Calibri"/>
              </a:rPr>
            </a:br>
            <a:br>
              <a:rPr b="1" lang="en-US" sz="3600">
                <a:solidFill>
                  <a:srgbClr val="7030A0"/>
                </a:solidFill>
                <a:latin typeface="Calibri"/>
                <a:ea typeface="Calibri"/>
                <a:cs typeface="Calibri"/>
                <a:sym typeface="Calibri"/>
              </a:rPr>
            </a:br>
            <a:r>
              <a:rPr b="1" lang="en-US" sz="3600">
                <a:solidFill>
                  <a:schemeClr val="accent1"/>
                </a:solidFill>
                <a:latin typeface="Calibri"/>
                <a:ea typeface="Calibri"/>
                <a:cs typeface="Calibri"/>
                <a:sym typeface="Calibri"/>
              </a:rPr>
              <a:t>INTRODUCTION TO ENTREPRENEURSHIP  </a:t>
            </a:r>
            <a:endParaRPr sz="3600">
              <a:solidFill>
                <a:schemeClr val="accent1"/>
              </a:solidFill>
              <a:latin typeface="Calibri"/>
              <a:ea typeface="Calibri"/>
              <a:cs typeface="Calibri"/>
              <a:sym typeface="Calibri"/>
            </a:endParaRPr>
          </a:p>
        </p:txBody>
      </p:sp>
      <p:sp>
        <p:nvSpPr>
          <p:cNvPr id="311" name="Google Shape;311;p19"/>
          <p:cNvSpPr txBox="1"/>
          <p:nvPr>
            <p:ph idx="1" type="subTitle"/>
          </p:nvPr>
        </p:nvSpPr>
        <p:spPr>
          <a:xfrm>
            <a:off x="1696871" y="2133528"/>
            <a:ext cx="9144000" cy="3914775"/>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2800"/>
              <a:buNone/>
            </a:pPr>
            <a:r>
              <a:rPr b="1" lang="en-US" sz="2800">
                <a:solidFill>
                  <a:srgbClr val="00B050"/>
                </a:solidFill>
                <a:latin typeface="Twentieth Century"/>
                <a:ea typeface="Twentieth Century"/>
                <a:cs typeface="Twentieth Century"/>
                <a:sym typeface="Twentieth Century"/>
              </a:rPr>
              <a:t>Theory of Planned Behavior </a:t>
            </a:r>
            <a:r>
              <a:rPr b="1" lang="en-US" sz="2000">
                <a:solidFill>
                  <a:schemeClr val="dk1"/>
                </a:solidFill>
                <a:latin typeface="Twentieth Century"/>
                <a:ea typeface="Twentieth Century"/>
                <a:cs typeface="Twentieth Century"/>
                <a:sym typeface="Twentieth Century"/>
              </a:rPr>
              <a:t>( Izek Ajzen 1991)  </a:t>
            </a:r>
            <a:endParaRPr/>
          </a:p>
          <a:p>
            <a:pPr indent="0" lvl="0" marL="0" rtl="0" algn="l">
              <a:lnSpc>
                <a:spcPct val="100000"/>
              </a:lnSpc>
              <a:spcBef>
                <a:spcPts val="200"/>
              </a:spcBef>
              <a:spcAft>
                <a:spcPts val="0"/>
              </a:spcAft>
              <a:buSzPts val="2800"/>
              <a:buNone/>
            </a:pPr>
            <a:r>
              <a:t/>
            </a:r>
            <a:endParaRPr b="1" sz="2800">
              <a:solidFill>
                <a:srgbClr val="7030A0"/>
              </a:solidFill>
              <a:latin typeface="Twentieth Century"/>
              <a:ea typeface="Twentieth Century"/>
              <a:cs typeface="Twentieth Century"/>
              <a:sym typeface="Twentieth Century"/>
            </a:endParaRPr>
          </a:p>
          <a:p>
            <a:pPr indent="0" lvl="0" marL="0" rtl="0" algn="l">
              <a:lnSpc>
                <a:spcPct val="100000"/>
              </a:lnSpc>
              <a:spcBef>
                <a:spcPts val="200"/>
              </a:spcBef>
              <a:spcAft>
                <a:spcPts val="0"/>
              </a:spcAft>
              <a:buSzPts val="2400"/>
              <a:buNone/>
            </a:pPr>
            <a:r>
              <a:t/>
            </a:r>
            <a:endParaRPr b="1" sz="2400">
              <a:solidFill>
                <a:srgbClr val="7030A0"/>
              </a:solidFill>
              <a:latin typeface="Twentieth Century"/>
              <a:ea typeface="Twentieth Century"/>
              <a:cs typeface="Twentieth Century"/>
              <a:sym typeface="Twentieth Century"/>
            </a:endParaRPr>
          </a:p>
          <a:p>
            <a:pPr indent="0" lvl="0" marL="0" rtl="0" algn="r">
              <a:lnSpc>
                <a:spcPct val="100000"/>
              </a:lnSpc>
              <a:spcBef>
                <a:spcPts val="200"/>
              </a:spcBef>
              <a:spcAft>
                <a:spcPts val="0"/>
              </a:spcAft>
              <a:buClr>
                <a:srgbClr val="0C0C0C"/>
              </a:buClr>
              <a:buSzPts val="2400"/>
              <a:buNone/>
            </a:pPr>
            <a:r>
              <a:t/>
            </a:r>
            <a:endParaRPr sz="2400"/>
          </a:p>
        </p:txBody>
      </p:sp>
      <p:pic>
        <p:nvPicPr>
          <p:cNvPr id="312" name="Google Shape;312;p19"/>
          <p:cNvPicPr preferRelativeResize="0"/>
          <p:nvPr/>
        </p:nvPicPr>
        <p:blipFill rotWithShape="1">
          <a:blip r:embed="rId3">
            <a:alphaModFix/>
          </a:blip>
          <a:srcRect b="0" l="0" r="0" t="0"/>
          <a:stretch/>
        </p:blipFill>
        <p:spPr>
          <a:xfrm>
            <a:off x="23527" y="0"/>
            <a:ext cx="1404938" cy="1155700"/>
          </a:xfrm>
          <a:prstGeom prst="rect">
            <a:avLst/>
          </a:prstGeom>
          <a:noFill/>
          <a:ln>
            <a:noFill/>
          </a:ln>
        </p:spPr>
      </p:pic>
      <p:pic>
        <p:nvPicPr>
          <p:cNvPr id="313" name="Google Shape;313;p19"/>
          <p:cNvPicPr preferRelativeResize="0"/>
          <p:nvPr/>
        </p:nvPicPr>
        <p:blipFill rotWithShape="1">
          <a:blip r:embed="rId4">
            <a:alphaModFix/>
          </a:blip>
          <a:srcRect b="0" l="0" r="0" t="0"/>
          <a:stretch/>
        </p:blipFill>
        <p:spPr>
          <a:xfrm>
            <a:off x="3125338" y="3871050"/>
            <a:ext cx="7055892" cy="285729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317" name="Shape 317"/>
        <p:cNvGrpSpPr/>
        <p:nvPr/>
      </p:nvGrpSpPr>
      <p:grpSpPr>
        <a:xfrm>
          <a:off x="0" y="0"/>
          <a:ext cx="0" cy="0"/>
          <a:chOff x="0" y="0"/>
          <a:chExt cx="0" cy="0"/>
        </a:xfrm>
      </p:grpSpPr>
      <p:sp>
        <p:nvSpPr>
          <p:cNvPr id="318" name="Google Shape;318;p20"/>
          <p:cNvSpPr txBox="1"/>
          <p:nvPr>
            <p:ph type="ctrTitle"/>
          </p:nvPr>
        </p:nvSpPr>
        <p:spPr>
          <a:xfrm>
            <a:off x="1428465" y="276202"/>
            <a:ext cx="9144000" cy="1443416"/>
          </a:xfrm>
          <a:prstGeom prst="rect">
            <a:avLst/>
          </a:prstGeom>
          <a:noFill/>
          <a:ln>
            <a:noFill/>
          </a:ln>
        </p:spPr>
        <p:txBody>
          <a:bodyPr anchorCtr="0" anchor="ctr" bIns="45700" lIns="91425" spcFirstLastPara="1" rIns="91425" wrap="square" tIns="45700">
            <a:normAutofit/>
          </a:bodyPr>
          <a:lstStyle/>
          <a:p>
            <a:pPr indent="0" lvl="0" marL="0" rtl="0" algn="ctr">
              <a:lnSpc>
                <a:spcPct val="80000"/>
              </a:lnSpc>
              <a:spcBef>
                <a:spcPts val="0"/>
              </a:spcBef>
              <a:spcAft>
                <a:spcPts val="0"/>
              </a:spcAft>
              <a:buClr>
                <a:schemeClr val="dk1"/>
              </a:buClr>
              <a:buSzPts val="3600"/>
              <a:buFont typeface="Calibri"/>
              <a:buNone/>
            </a:pPr>
            <a:br>
              <a:rPr b="1" lang="en-US" sz="3600">
                <a:solidFill>
                  <a:schemeClr val="dk1"/>
                </a:solidFill>
                <a:latin typeface="Calibri"/>
                <a:ea typeface="Calibri"/>
                <a:cs typeface="Calibri"/>
                <a:sym typeface="Calibri"/>
              </a:rPr>
            </a:br>
            <a:br>
              <a:rPr b="1" lang="en-US" sz="3600">
                <a:solidFill>
                  <a:srgbClr val="7030A0"/>
                </a:solidFill>
                <a:latin typeface="Calibri"/>
                <a:ea typeface="Calibri"/>
                <a:cs typeface="Calibri"/>
                <a:sym typeface="Calibri"/>
              </a:rPr>
            </a:br>
            <a:r>
              <a:rPr b="1" lang="en-US" sz="3600">
                <a:solidFill>
                  <a:schemeClr val="accent1"/>
                </a:solidFill>
                <a:latin typeface="Calibri"/>
                <a:ea typeface="Calibri"/>
                <a:cs typeface="Calibri"/>
                <a:sym typeface="Calibri"/>
              </a:rPr>
              <a:t>INTRODUCTION TO ENTREPRENEURSHIP  </a:t>
            </a:r>
            <a:endParaRPr sz="3600">
              <a:solidFill>
                <a:schemeClr val="accent1"/>
              </a:solidFill>
              <a:latin typeface="Calibri"/>
              <a:ea typeface="Calibri"/>
              <a:cs typeface="Calibri"/>
              <a:sym typeface="Calibri"/>
            </a:endParaRPr>
          </a:p>
        </p:txBody>
      </p:sp>
      <p:sp>
        <p:nvSpPr>
          <p:cNvPr id="319" name="Google Shape;319;p20"/>
          <p:cNvSpPr txBox="1"/>
          <p:nvPr>
            <p:ph idx="1" type="subTitle"/>
          </p:nvPr>
        </p:nvSpPr>
        <p:spPr>
          <a:xfrm>
            <a:off x="1696871" y="2133528"/>
            <a:ext cx="9144000" cy="3914775"/>
          </a:xfrm>
          <a:prstGeom prst="rect">
            <a:avLst/>
          </a:prstGeom>
          <a:noFill/>
          <a:ln>
            <a:noFill/>
          </a:ln>
        </p:spPr>
        <p:txBody>
          <a:bodyPr anchorCtr="0" anchor="ctr" bIns="45700" lIns="91425" spcFirstLastPara="1" rIns="91425" wrap="square" tIns="45700">
            <a:normAutofit lnSpcReduction="20000"/>
          </a:bodyPr>
          <a:lstStyle/>
          <a:p>
            <a:pPr indent="0" lvl="0" marL="0" rtl="0" algn="l">
              <a:lnSpc>
                <a:spcPct val="100000"/>
              </a:lnSpc>
              <a:spcBef>
                <a:spcPts val="0"/>
              </a:spcBef>
              <a:spcAft>
                <a:spcPts val="0"/>
              </a:spcAft>
              <a:buSzPts val="2800"/>
              <a:buNone/>
            </a:pPr>
            <a:r>
              <a:rPr b="1" lang="en-US" sz="2800">
                <a:solidFill>
                  <a:srgbClr val="7030A0"/>
                </a:solidFill>
              </a:rPr>
              <a:t>Why Become an Entrepreneur? </a:t>
            </a:r>
            <a:endParaRPr/>
          </a:p>
          <a:p>
            <a:pPr indent="-457200" lvl="0" marL="457200" rtl="0" algn="l">
              <a:lnSpc>
                <a:spcPct val="100000"/>
              </a:lnSpc>
              <a:spcBef>
                <a:spcPts val="200"/>
              </a:spcBef>
              <a:spcAft>
                <a:spcPts val="0"/>
              </a:spcAft>
              <a:buSzPts val="2800"/>
              <a:buFont typeface="Noto Sans Symbols"/>
              <a:buChar char="▪"/>
            </a:pPr>
            <a:r>
              <a:rPr b="1" lang="en-US" sz="2800">
                <a:solidFill>
                  <a:srgbClr val="00B050"/>
                </a:solidFill>
              </a:rPr>
              <a:t>Controlling Your Destiny</a:t>
            </a:r>
            <a:endParaRPr/>
          </a:p>
          <a:p>
            <a:pPr indent="-457200" lvl="0" marL="457200" rtl="0" algn="l">
              <a:lnSpc>
                <a:spcPct val="100000"/>
              </a:lnSpc>
              <a:spcBef>
                <a:spcPts val="200"/>
              </a:spcBef>
              <a:spcAft>
                <a:spcPts val="0"/>
              </a:spcAft>
              <a:buSzPts val="2800"/>
              <a:buFont typeface="Noto Sans Symbols"/>
              <a:buChar char="▪"/>
            </a:pPr>
            <a:r>
              <a:rPr b="1" lang="en-US" sz="2800">
                <a:solidFill>
                  <a:srgbClr val="00B050"/>
                </a:solidFill>
              </a:rPr>
              <a:t>Independence from Supervision</a:t>
            </a:r>
            <a:endParaRPr/>
          </a:p>
          <a:p>
            <a:pPr indent="-457200" lvl="0" marL="457200" rtl="0" algn="l">
              <a:lnSpc>
                <a:spcPct val="100000"/>
              </a:lnSpc>
              <a:spcBef>
                <a:spcPts val="200"/>
              </a:spcBef>
              <a:spcAft>
                <a:spcPts val="0"/>
              </a:spcAft>
              <a:buSzPts val="2800"/>
              <a:buFont typeface="Noto Sans Symbols"/>
              <a:buChar char="▪"/>
            </a:pPr>
            <a:r>
              <a:rPr b="1" lang="en-US" sz="2800">
                <a:solidFill>
                  <a:srgbClr val="00B050"/>
                </a:solidFill>
              </a:rPr>
              <a:t>Achieving Great Profits</a:t>
            </a:r>
            <a:endParaRPr/>
          </a:p>
          <a:p>
            <a:pPr indent="-457200" lvl="0" marL="457200" rtl="0" algn="l">
              <a:lnSpc>
                <a:spcPct val="100000"/>
              </a:lnSpc>
              <a:spcBef>
                <a:spcPts val="200"/>
              </a:spcBef>
              <a:spcAft>
                <a:spcPts val="0"/>
              </a:spcAft>
              <a:buSzPts val="2800"/>
              <a:buFont typeface="Noto Sans Symbols"/>
              <a:buChar char="▪"/>
            </a:pPr>
            <a:r>
              <a:rPr b="1" lang="en-US" sz="2800">
                <a:solidFill>
                  <a:srgbClr val="00B050"/>
                </a:solidFill>
              </a:rPr>
              <a:t>Tax revenues </a:t>
            </a:r>
            <a:endParaRPr/>
          </a:p>
          <a:p>
            <a:pPr indent="-457200" lvl="0" marL="457200" rtl="0" algn="l">
              <a:lnSpc>
                <a:spcPct val="100000"/>
              </a:lnSpc>
              <a:spcBef>
                <a:spcPts val="200"/>
              </a:spcBef>
              <a:spcAft>
                <a:spcPts val="0"/>
              </a:spcAft>
              <a:buSzPts val="2800"/>
              <a:buFont typeface="Noto Sans Symbols"/>
              <a:buChar char="▪"/>
            </a:pPr>
            <a:r>
              <a:rPr b="1" lang="en-US" sz="2800">
                <a:solidFill>
                  <a:srgbClr val="00B050"/>
                </a:solidFill>
              </a:rPr>
              <a:t>Employment </a:t>
            </a:r>
            <a:endParaRPr/>
          </a:p>
          <a:p>
            <a:pPr indent="-457200" lvl="0" marL="457200" rtl="0" algn="l">
              <a:lnSpc>
                <a:spcPct val="100000"/>
              </a:lnSpc>
              <a:spcBef>
                <a:spcPts val="200"/>
              </a:spcBef>
              <a:spcAft>
                <a:spcPts val="0"/>
              </a:spcAft>
              <a:buSzPts val="2800"/>
              <a:buFont typeface="Noto Sans Symbols"/>
              <a:buChar char="▪"/>
            </a:pPr>
            <a:r>
              <a:rPr b="1" lang="en-US" sz="2800">
                <a:solidFill>
                  <a:srgbClr val="00B050"/>
                </a:solidFill>
              </a:rPr>
              <a:t>New Products and Services </a:t>
            </a:r>
            <a:r>
              <a:rPr b="1" lang="en-US" sz="3200">
                <a:solidFill>
                  <a:srgbClr val="00B050"/>
                </a:solidFill>
              </a:rPr>
              <a:t> </a:t>
            </a:r>
            <a:endParaRPr b="1" sz="2800">
              <a:solidFill>
                <a:srgbClr val="00B050"/>
              </a:solidFill>
            </a:endParaRPr>
          </a:p>
          <a:p>
            <a:pPr indent="0" lvl="0" marL="0" rtl="0" algn="l">
              <a:lnSpc>
                <a:spcPct val="100000"/>
              </a:lnSpc>
              <a:spcBef>
                <a:spcPts val="200"/>
              </a:spcBef>
              <a:spcAft>
                <a:spcPts val="0"/>
              </a:spcAft>
              <a:buSzPts val="2800"/>
              <a:buNone/>
            </a:pPr>
            <a:r>
              <a:t/>
            </a:r>
            <a:endParaRPr b="1" sz="2800">
              <a:solidFill>
                <a:srgbClr val="7030A0"/>
              </a:solidFill>
              <a:latin typeface="Twentieth Century"/>
              <a:ea typeface="Twentieth Century"/>
              <a:cs typeface="Twentieth Century"/>
              <a:sym typeface="Twentieth Century"/>
            </a:endParaRPr>
          </a:p>
          <a:p>
            <a:pPr indent="0" lvl="0" marL="0" rtl="0" algn="l">
              <a:lnSpc>
                <a:spcPct val="100000"/>
              </a:lnSpc>
              <a:spcBef>
                <a:spcPts val="200"/>
              </a:spcBef>
              <a:spcAft>
                <a:spcPts val="0"/>
              </a:spcAft>
              <a:buSzPts val="2400"/>
              <a:buNone/>
            </a:pPr>
            <a:r>
              <a:t/>
            </a:r>
            <a:endParaRPr b="1" sz="2400">
              <a:solidFill>
                <a:srgbClr val="7030A0"/>
              </a:solidFill>
              <a:latin typeface="Twentieth Century"/>
              <a:ea typeface="Twentieth Century"/>
              <a:cs typeface="Twentieth Century"/>
              <a:sym typeface="Twentieth Century"/>
            </a:endParaRPr>
          </a:p>
          <a:p>
            <a:pPr indent="0" lvl="0" marL="0" rtl="0" algn="r">
              <a:lnSpc>
                <a:spcPct val="100000"/>
              </a:lnSpc>
              <a:spcBef>
                <a:spcPts val="200"/>
              </a:spcBef>
              <a:spcAft>
                <a:spcPts val="0"/>
              </a:spcAft>
              <a:buClr>
                <a:srgbClr val="0C0C0C"/>
              </a:buClr>
              <a:buSzPts val="2400"/>
              <a:buNone/>
            </a:pPr>
            <a:r>
              <a:t/>
            </a:r>
            <a:endParaRPr sz="2400"/>
          </a:p>
        </p:txBody>
      </p:sp>
      <p:pic>
        <p:nvPicPr>
          <p:cNvPr id="320" name="Google Shape;320;p20"/>
          <p:cNvPicPr preferRelativeResize="0"/>
          <p:nvPr/>
        </p:nvPicPr>
        <p:blipFill rotWithShape="1">
          <a:blip r:embed="rId3">
            <a:alphaModFix/>
          </a:blip>
          <a:srcRect b="0" l="0" r="0" t="0"/>
          <a:stretch/>
        </p:blipFill>
        <p:spPr>
          <a:xfrm>
            <a:off x="23527" y="0"/>
            <a:ext cx="1404938" cy="1155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xEl>
                                              <p:pRg end="0" st="0"/>
                                            </p:txEl>
                                          </p:spTgt>
                                        </p:tgtEl>
                                        <p:attrNameLst>
                                          <p:attrName>style.visibility</p:attrName>
                                        </p:attrNameLst>
                                      </p:cBhvr>
                                      <p:to>
                                        <p:strVal val="visible"/>
                                      </p:to>
                                    </p:set>
                                    <p:animEffect filter="fade" transition="in">
                                      <p:cBhvr>
                                        <p:cTn dur="1000"/>
                                        <p:tgtEl>
                                          <p:spTgt spid="3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xEl>
                                              <p:pRg end="1" st="1"/>
                                            </p:txEl>
                                          </p:spTgt>
                                        </p:tgtEl>
                                        <p:attrNameLst>
                                          <p:attrName>style.visibility</p:attrName>
                                        </p:attrNameLst>
                                      </p:cBhvr>
                                      <p:to>
                                        <p:strVal val="visible"/>
                                      </p:to>
                                    </p:set>
                                    <p:animEffect filter="fade" transition="in">
                                      <p:cBhvr>
                                        <p:cTn dur="1000"/>
                                        <p:tgtEl>
                                          <p:spTgt spid="3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xEl>
                                              <p:pRg end="2" st="2"/>
                                            </p:txEl>
                                          </p:spTgt>
                                        </p:tgtEl>
                                        <p:attrNameLst>
                                          <p:attrName>style.visibility</p:attrName>
                                        </p:attrNameLst>
                                      </p:cBhvr>
                                      <p:to>
                                        <p:strVal val="visible"/>
                                      </p:to>
                                    </p:set>
                                    <p:animEffect filter="fade" transition="in">
                                      <p:cBhvr>
                                        <p:cTn dur="1000"/>
                                        <p:tgtEl>
                                          <p:spTgt spid="31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xEl>
                                              <p:pRg end="3" st="3"/>
                                            </p:txEl>
                                          </p:spTgt>
                                        </p:tgtEl>
                                        <p:attrNameLst>
                                          <p:attrName>style.visibility</p:attrName>
                                        </p:attrNameLst>
                                      </p:cBhvr>
                                      <p:to>
                                        <p:strVal val="visible"/>
                                      </p:to>
                                    </p:set>
                                    <p:animEffect filter="fade" transition="in">
                                      <p:cBhvr>
                                        <p:cTn dur="1000"/>
                                        <p:tgtEl>
                                          <p:spTgt spid="31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xEl>
                                              <p:pRg end="4" st="4"/>
                                            </p:txEl>
                                          </p:spTgt>
                                        </p:tgtEl>
                                        <p:attrNameLst>
                                          <p:attrName>style.visibility</p:attrName>
                                        </p:attrNameLst>
                                      </p:cBhvr>
                                      <p:to>
                                        <p:strVal val="visible"/>
                                      </p:to>
                                    </p:set>
                                    <p:animEffect filter="fade" transition="in">
                                      <p:cBhvr>
                                        <p:cTn dur="1000"/>
                                        <p:tgtEl>
                                          <p:spTgt spid="31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xEl>
                                              <p:pRg end="5" st="5"/>
                                            </p:txEl>
                                          </p:spTgt>
                                        </p:tgtEl>
                                        <p:attrNameLst>
                                          <p:attrName>style.visibility</p:attrName>
                                        </p:attrNameLst>
                                      </p:cBhvr>
                                      <p:to>
                                        <p:strVal val="visible"/>
                                      </p:to>
                                    </p:set>
                                    <p:animEffect filter="fade" transition="in">
                                      <p:cBhvr>
                                        <p:cTn dur="1000"/>
                                        <p:tgtEl>
                                          <p:spTgt spid="31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xEl>
                                              <p:pRg end="6" st="6"/>
                                            </p:txEl>
                                          </p:spTgt>
                                        </p:tgtEl>
                                        <p:attrNameLst>
                                          <p:attrName>style.visibility</p:attrName>
                                        </p:attrNameLst>
                                      </p:cBhvr>
                                      <p:to>
                                        <p:strVal val="visible"/>
                                      </p:to>
                                    </p:set>
                                    <p:animEffect filter="fade" transition="in">
                                      <p:cBhvr>
                                        <p:cTn dur="1000"/>
                                        <p:tgtEl>
                                          <p:spTgt spid="31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xEl>
                                              <p:pRg end="7" st="7"/>
                                            </p:txEl>
                                          </p:spTgt>
                                        </p:tgtEl>
                                        <p:attrNameLst>
                                          <p:attrName>style.visibility</p:attrName>
                                        </p:attrNameLst>
                                      </p:cBhvr>
                                      <p:to>
                                        <p:strVal val="visible"/>
                                      </p:to>
                                    </p:set>
                                    <p:animEffect filter="fade" transition="in">
                                      <p:cBhvr>
                                        <p:cTn dur="1000"/>
                                        <p:tgtEl>
                                          <p:spTgt spid="31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xEl>
                                              <p:pRg end="8" st="8"/>
                                            </p:txEl>
                                          </p:spTgt>
                                        </p:tgtEl>
                                        <p:attrNameLst>
                                          <p:attrName>style.visibility</p:attrName>
                                        </p:attrNameLst>
                                      </p:cBhvr>
                                      <p:to>
                                        <p:strVal val="visible"/>
                                      </p:to>
                                    </p:set>
                                    <p:animEffect filter="fade" transition="in">
                                      <p:cBhvr>
                                        <p:cTn dur="1000"/>
                                        <p:tgtEl>
                                          <p:spTgt spid="31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xEl>
                                              <p:pRg end="9" st="9"/>
                                            </p:txEl>
                                          </p:spTgt>
                                        </p:tgtEl>
                                        <p:attrNameLst>
                                          <p:attrName>style.visibility</p:attrName>
                                        </p:attrNameLst>
                                      </p:cBhvr>
                                      <p:to>
                                        <p:strVal val="visible"/>
                                      </p:to>
                                    </p:set>
                                    <p:animEffect filter="fade" transition="in">
                                      <p:cBhvr>
                                        <p:cTn dur="1000"/>
                                        <p:tgtEl>
                                          <p:spTgt spid="319">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324" name="Shape 324"/>
        <p:cNvGrpSpPr/>
        <p:nvPr/>
      </p:nvGrpSpPr>
      <p:grpSpPr>
        <a:xfrm>
          <a:off x="0" y="0"/>
          <a:ext cx="0" cy="0"/>
          <a:chOff x="0" y="0"/>
          <a:chExt cx="0" cy="0"/>
        </a:xfrm>
      </p:grpSpPr>
      <p:sp>
        <p:nvSpPr>
          <p:cNvPr id="325" name="Google Shape;325;p21"/>
          <p:cNvSpPr txBox="1"/>
          <p:nvPr>
            <p:ph type="ctrTitle"/>
          </p:nvPr>
        </p:nvSpPr>
        <p:spPr>
          <a:xfrm>
            <a:off x="1428465" y="276202"/>
            <a:ext cx="9144000" cy="1443416"/>
          </a:xfrm>
          <a:prstGeom prst="rect">
            <a:avLst/>
          </a:prstGeom>
          <a:noFill/>
          <a:ln>
            <a:noFill/>
          </a:ln>
        </p:spPr>
        <p:txBody>
          <a:bodyPr anchorCtr="0" anchor="ctr" bIns="45700" lIns="91425" spcFirstLastPara="1" rIns="91425" wrap="square" tIns="45700">
            <a:normAutofit/>
          </a:bodyPr>
          <a:lstStyle/>
          <a:p>
            <a:pPr indent="0" lvl="0" marL="0" rtl="0" algn="ctr">
              <a:lnSpc>
                <a:spcPct val="80000"/>
              </a:lnSpc>
              <a:spcBef>
                <a:spcPts val="0"/>
              </a:spcBef>
              <a:spcAft>
                <a:spcPts val="0"/>
              </a:spcAft>
              <a:buClr>
                <a:schemeClr val="dk1"/>
              </a:buClr>
              <a:buSzPts val="3600"/>
              <a:buFont typeface="Calibri"/>
              <a:buNone/>
            </a:pPr>
            <a:br>
              <a:rPr b="1" lang="en-US" sz="3600">
                <a:solidFill>
                  <a:schemeClr val="dk1"/>
                </a:solidFill>
                <a:latin typeface="Calibri"/>
                <a:ea typeface="Calibri"/>
                <a:cs typeface="Calibri"/>
                <a:sym typeface="Calibri"/>
              </a:rPr>
            </a:br>
            <a:br>
              <a:rPr b="1" lang="en-US" sz="3600">
                <a:solidFill>
                  <a:srgbClr val="7030A0"/>
                </a:solidFill>
                <a:latin typeface="Calibri"/>
                <a:ea typeface="Calibri"/>
                <a:cs typeface="Calibri"/>
                <a:sym typeface="Calibri"/>
              </a:rPr>
            </a:br>
            <a:r>
              <a:rPr b="1" lang="en-US" sz="3600">
                <a:solidFill>
                  <a:schemeClr val="accent1"/>
                </a:solidFill>
                <a:latin typeface="Calibri"/>
                <a:ea typeface="Calibri"/>
                <a:cs typeface="Calibri"/>
                <a:sym typeface="Calibri"/>
              </a:rPr>
              <a:t>INTRODUCTION TO ENTREPRENEURSHIP  </a:t>
            </a:r>
            <a:endParaRPr sz="3600">
              <a:solidFill>
                <a:schemeClr val="accent1"/>
              </a:solidFill>
              <a:latin typeface="Calibri"/>
              <a:ea typeface="Calibri"/>
              <a:cs typeface="Calibri"/>
              <a:sym typeface="Calibri"/>
            </a:endParaRPr>
          </a:p>
        </p:txBody>
      </p:sp>
      <p:sp>
        <p:nvSpPr>
          <p:cNvPr id="326" name="Google Shape;326;p21"/>
          <p:cNvSpPr txBox="1"/>
          <p:nvPr>
            <p:ph idx="1" type="subTitle"/>
          </p:nvPr>
        </p:nvSpPr>
        <p:spPr>
          <a:xfrm>
            <a:off x="1696871" y="2133528"/>
            <a:ext cx="9144000" cy="3914775"/>
          </a:xfrm>
          <a:prstGeom prst="rect">
            <a:avLst/>
          </a:prstGeom>
          <a:noFill/>
          <a:ln>
            <a:noFill/>
          </a:ln>
        </p:spPr>
        <p:txBody>
          <a:bodyPr anchorCtr="0" anchor="ctr" bIns="45700" lIns="91425" spcFirstLastPara="1" rIns="91425" wrap="square" tIns="45700">
            <a:normAutofit fontScale="92500" lnSpcReduction="20000"/>
          </a:bodyPr>
          <a:lstStyle/>
          <a:p>
            <a:pPr indent="0" lvl="0" marL="0" rtl="0" algn="l">
              <a:lnSpc>
                <a:spcPct val="100000"/>
              </a:lnSpc>
              <a:spcBef>
                <a:spcPts val="0"/>
              </a:spcBef>
              <a:spcAft>
                <a:spcPts val="0"/>
              </a:spcAft>
              <a:buSzPct val="100000"/>
              <a:buNone/>
            </a:pPr>
            <a:r>
              <a:rPr b="1" lang="en-US" sz="2800">
                <a:solidFill>
                  <a:srgbClr val="7030A0"/>
                </a:solidFill>
                <a:latin typeface="Twentieth Century"/>
                <a:ea typeface="Twentieth Century"/>
                <a:cs typeface="Twentieth Century"/>
                <a:sym typeface="Twentieth Century"/>
              </a:rPr>
              <a:t>Macro Economic Factors</a:t>
            </a:r>
            <a:endParaRPr/>
          </a:p>
          <a:p>
            <a:pPr indent="-331470" lvl="0" marL="342900" rtl="0" algn="l">
              <a:lnSpc>
                <a:spcPct val="100000"/>
              </a:lnSpc>
              <a:spcBef>
                <a:spcPts val="200"/>
              </a:spcBef>
              <a:spcAft>
                <a:spcPts val="0"/>
              </a:spcAft>
              <a:buSzPct val="100000"/>
              <a:buFont typeface="Noto Sans Symbols"/>
              <a:buChar char="▪"/>
            </a:pPr>
            <a:r>
              <a:rPr b="1" lang="en-US" sz="2400">
                <a:solidFill>
                  <a:srgbClr val="00B050"/>
                </a:solidFill>
                <a:latin typeface="Twentieth Century"/>
                <a:ea typeface="Twentieth Century"/>
                <a:cs typeface="Twentieth Century"/>
                <a:sym typeface="Twentieth Century"/>
              </a:rPr>
              <a:t>Economic development </a:t>
            </a:r>
            <a:r>
              <a:rPr b="1" lang="en-US" sz="2000">
                <a:solidFill>
                  <a:schemeClr val="dk1"/>
                </a:solidFill>
                <a:latin typeface="Twentieth Century"/>
                <a:ea typeface="Twentieth Century"/>
                <a:cs typeface="Twentieth Century"/>
                <a:sym typeface="Twentieth Century"/>
              </a:rPr>
              <a:t>( Growth of Capital Stock , Technological Progress, Endogenous increase of personal wealth)</a:t>
            </a:r>
            <a:endParaRPr/>
          </a:p>
          <a:p>
            <a:pPr indent="0" lvl="0" marL="0" rtl="0" algn="l">
              <a:lnSpc>
                <a:spcPct val="100000"/>
              </a:lnSpc>
              <a:spcBef>
                <a:spcPts val="200"/>
              </a:spcBef>
              <a:spcAft>
                <a:spcPts val="0"/>
              </a:spcAft>
              <a:buSzPct val="100000"/>
              <a:buNone/>
            </a:pPr>
            <a:r>
              <a:t/>
            </a:r>
            <a:endParaRPr b="1" sz="2000">
              <a:solidFill>
                <a:schemeClr val="dk1"/>
              </a:solidFill>
              <a:latin typeface="Twentieth Century"/>
              <a:ea typeface="Twentieth Century"/>
              <a:cs typeface="Twentieth Century"/>
              <a:sym typeface="Twentieth Century"/>
            </a:endParaRPr>
          </a:p>
          <a:p>
            <a:pPr indent="-331470" lvl="0" marL="342900" rtl="0" algn="l">
              <a:lnSpc>
                <a:spcPct val="100000"/>
              </a:lnSpc>
              <a:spcBef>
                <a:spcPts val="200"/>
              </a:spcBef>
              <a:spcAft>
                <a:spcPts val="0"/>
              </a:spcAft>
              <a:buSzPct val="100000"/>
              <a:buFont typeface="Noto Sans Symbols"/>
              <a:buChar char="▪"/>
            </a:pPr>
            <a:r>
              <a:rPr b="1" lang="en-US" sz="2400">
                <a:solidFill>
                  <a:srgbClr val="00B050"/>
                </a:solidFill>
              </a:rPr>
              <a:t>Industrial Structure </a:t>
            </a:r>
            <a:r>
              <a:rPr b="1" lang="en-US" sz="2000">
                <a:solidFill>
                  <a:schemeClr val="dk1"/>
                </a:solidFill>
                <a:latin typeface="Twentieth Century"/>
                <a:ea typeface="Twentieth Century"/>
                <a:cs typeface="Twentieth Century"/>
                <a:sym typeface="Twentieth Century"/>
              </a:rPr>
              <a:t>( Education, Skills)</a:t>
            </a:r>
            <a:endParaRPr/>
          </a:p>
          <a:p>
            <a:pPr indent="0" lvl="0" marL="0" rtl="0" algn="l">
              <a:lnSpc>
                <a:spcPct val="100000"/>
              </a:lnSpc>
              <a:spcBef>
                <a:spcPts val="200"/>
              </a:spcBef>
              <a:spcAft>
                <a:spcPts val="0"/>
              </a:spcAft>
              <a:buSzPct val="100000"/>
              <a:buNone/>
            </a:pPr>
            <a:r>
              <a:t/>
            </a:r>
            <a:endParaRPr b="1" sz="2000">
              <a:solidFill>
                <a:schemeClr val="dk1"/>
              </a:solidFill>
              <a:latin typeface="Twentieth Century"/>
              <a:ea typeface="Twentieth Century"/>
              <a:cs typeface="Twentieth Century"/>
              <a:sym typeface="Twentieth Century"/>
            </a:endParaRPr>
          </a:p>
          <a:p>
            <a:pPr indent="-215900" lvl="0" marL="342900" rtl="0" algn="l">
              <a:lnSpc>
                <a:spcPct val="100000"/>
              </a:lnSpc>
              <a:spcBef>
                <a:spcPts val="200"/>
              </a:spcBef>
              <a:spcAft>
                <a:spcPts val="0"/>
              </a:spcAft>
              <a:buSzPct val="100000"/>
              <a:buFont typeface="Noto Sans Symbols"/>
              <a:buNone/>
            </a:pPr>
            <a:r>
              <a:t/>
            </a:r>
            <a:endParaRPr b="1" sz="2000">
              <a:solidFill>
                <a:srgbClr val="00B050"/>
              </a:solidFill>
            </a:endParaRPr>
          </a:p>
          <a:p>
            <a:pPr indent="-331470" lvl="0" marL="342900" rtl="0" algn="l">
              <a:lnSpc>
                <a:spcPct val="100000"/>
              </a:lnSpc>
              <a:spcBef>
                <a:spcPts val="200"/>
              </a:spcBef>
              <a:spcAft>
                <a:spcPts val="0"/>
              </a:spcAft>
              <a:buSzPct val="100000"/>
              <a:buFont typeface="Noto Sans Symbols"/>
              <a:buChar char="▪"/>
            </a:pPr>
            <a:r>
              <a:rPr b="1" lang="en-US" sz="2400">
                <a:solidFill>
                  <a:srgbClr val="00B050"/>
                </a:solidFill>
                <a:latin typeface="Twentieth Century"/>
                <a:ea typeface="Twentieth Century"/>
                <a:cs typeface="Twentieth Century"/>
                <a:sym typeface="Twentieth Century"/>
              </a:rPr>
              <a:t>Government Policy </a:t>
            </a:r>
            <a:r>
              <a:rPr b="1" lang="en-US" sz="2000">
                <a:solidFill>
                  <a:schemeClr val="dk1"/>
                </a:solidFill>
                <a:latin typeface="Twentieth Century"/>
                <a:ea typeface="Twentieth Century"/>
                <a:cs typeface="Twentieth Century"/>
                <a:sym typeface="Twentieth Century"/>
              </a:rPr>
              <a:t>( Minimum wages , Employees Protection Laws, Interest rate, Retirement Policies)</a:t>
            </a:r>
            <a:endParaRPr b="1" sz="2400">
              <a:solidFill>
                <a:srgbClr val="00B050"/>
              </a:solidFill>
              <a:latin typeface="Twentieth Century"/>
              <a:ea typeface="Twentieth Century"/>
              <a:cs typeface="Twentieth Century"/>
              <a:sym typeface="Twentieth Century"/>
            </a:endParaRPr>
          </a:p>
          <a:p>
            <a:pPr indent="0" lvl="0" marL="0" rtl="0" algn="l">
              <a:lnSpc>
                <a:spcPct val="100000"/>
              </a:lnSpc>
              <a:spcBef>
                <a:spcPts val="200"/>
              </a:spcBef>
              <a:spcAft>
                <a:spcPts val="0"/>
              </a:spcAft>
              <a:buSzPct val="100000"/>
              <a:buNone/>
            </a:pPr>
            <a:r>
              <a:rPr b="1" lang="en-US" sz="2400">
                <a:solidFill>
                  <a:srgbClr val="00B050"/>
                </a:solidFill>
                <a:latin typeface="Twentieth Century"/>
                <a:ea typeface="Twentieth Century"/>
                <a:cs typeface="Twentieth Century"/>
                <a:sym typeface="Twentieth Century"/>
              </a:rPr>
              <a:t> </a:t>
            </a:r>
            <a:endParaRPr b="1" sz="2400">
              <a:solidFill>
                <a:schemeClr val="dk1"/>
              </a:solidFill>
              <a:latin typeface="Twentieth Century"/>
              <a:ea typeface="Twentieth Century"/>
              <a:cs typeface="Twentieth Century"/>
              <a:sym typeface="Twentieth Century"/>
            </a:endParaRPr>
          </a:p>
          <a:p>
            <a:pPr indent="0" lvl="0" marL="0" rtl="0" algn="l">
              <a:lnSpc>
                <a:spcPct val="100000"/>
              </a:lnSpc>
              <a:spcBef>
                <a:spcPts val="200"/>
              </a:spcBef>
              <a:spcAft>
                <a:spcPts val="0"/>
              </a:spcAft>
              <a:buSzPct val="100000"/>
              <a:buNone/>
            </a:pPr>
            <a:r>
              <a:t/>
            </a:r>
            <a:endParaRPr b="1" sz="2800">
              <a:solidFill>
                <a:srgbClr val="7030A0"/>
              </a:solidFill>
              <a:latin typeface="Twentieth Century"/>
              <a:ea typeface="Twentieth Century"/>
              <a:cs typeface="Twentieth Century"/>
              <a:sym typeface="Twentieth Century"/>
            </a:endParaRPr>
          </a:p>
          <a:p>
            <a:pPr indent="0" lvl="0" marL="0" rtl="0" algn="l">
              <a:lnSpc>
                <a:spcPct val="100000"/>
              </a:lnSpc>
              <a:spcBef>
                <a:spcPts val="200"/>
              </a:spcBef>
              <a:spcAft>
                <a:spcPts val="0"/>
              </a:spcAft>
              <a:buSzPct val="100000"/>
              <a:buNone/>
            </a:pPr>
            <a:r>
              <a:t/>
            </a:r>
            <a:endParaRPr b="1" sz="2400">
              <a:solidFill>
                <a:srgbClr val="7030A0"/>
              </a:solidFill>
              <a:latin typeface="Twentieth Century"/>
              <a:ea typeface="Twentieth Century"/>
              <a:cs typeface="Twentieth Century"/>
              <a:sym typeface="Twentieth Century"/>
            </a:endParaRPr>
          </a:p>
          <a:p>
            <a:pPr indent="0" lvl="0" marL="0" rtl="0" algn="r">
              <a:lnSpc>
                <a:spcPct val="100000"/>
              </a:lnSpc>
              <a:spcBef>
                <a:spcPts val="200"/>
              </a:spcBef>
              <a:spcAft>
                <a:spcPts val="0"/>
              </a:spcAft>
              <a:buClr>
                <a:srgbClr val="0C0C0C"/>
              </a:buClr>
              <a:buSzPct val="100000"/>
              <a:buNone/>
            </a:pPr>
            <a:r>
              <a:t/>
            </a:r>
            <a:endParaRPr sz="2400"/>
          </a:p>
        </p:txBody>
      </p:sp>
      <p:pic>
        <p:nvPicPr>
          <p:cNvPr id="327" name="Google Shape;327;p21"/>
          <p:cNvPicPr preferRelativeResize="0"/>
          <p:nvPr/>
        </p:nvPicPr>
        <p:blipFill rotWithShape="1">
          <a:blip r:embed="rId3">
            <a:alphaModFix/>
          </a:blip>
          <a:srcRect b="0" l="0" r="0" t="0"/>
          <a:stretch/>
        </p:blipFill>
        <p:spPr>
          <a:xfrm>
            <a:off x="23527" y="0"/>
            <a:ext cx="1404938" cy="11557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1" name="Shape 331"/>
        <p:cNvGrpSpPr/>
        <p:nvPr/>
      </p:nvGrpSpPr>
      <p:grpSpPr>
        <a:xfrm>
          <a:off x="0" y="0"/>
          <a:ext cx="0" cy="0"/>
          <a:chOff x="0" y="0"/>
          <a:chExt cx="0" cy="0"/>
        </a:xfrm>
      </p:grpSpPr>
      <p:sp>
        <p:nvSpPr>
          <p:cNvPr id="332" name="Google Shape;332;p22"/>
          <p:cNvSpPr txBox="1"/>
          <p:nvPr>
            <p:ph idx="1" type="body"/>
          </p:nvPr>
        </p:nvSpPr>
        <p:spPr>
          <a:xfrm>
            <a:off x="838200" y="798286"/>
            <a:ext cx="10515600" cy="5378677"/>
          </a:xfrm>
          <a:prstGeom prst="rect">
            <a:avLst/>
          </a:prstGeom>
          <a:noFill/>
          <a:ln>
            <a:noFill/>
          </a:ln>
        </p:spPr>
        <p:txBody>
          <a:bodyPr anchorCtr="0" anchor="t" bIns="45700" lIns="45700" spcFirstLastPara="1" rIns="45700" wrap="square" tIns="45700">
            <a:normAutofit/>
          </a:bodyPr>
          <a:lstStyle/>
          <a:p>
            <a:pPr indent="0" lvl="0" marL="0" rtl="0" algn="ctr">
              <a:lnSpc>
                <a:spcPct val="90000"/>
              </a:lnSpc>
              <a:spcBef>
                <a:spcPts val="0"/>
              </a:spcBef>
              <a:spcAft>
                <a:spcPts val="0"/>
              </a:spcAft>
              <a:buSzPts val="6600"/>
              <a:buNone/>
            </a:pPr>
            <a:r>
              <a:t/>
            </a:r>
            <a:endParaRPr sz="6600">
              <a:latin typeface="Algerian"/>
              <a:ea typeface="Algerian"/>
              <a:cs typeface="Algerian"/>
              <a:sym typeface="Algerian"/>
            </a:endParaRPr>
          </a:p>
          <a:p>
            <a:pPr indent="0" lvl="0" marL="0" rtl="0" algn="ctr">
              <a:lnSpc>
                <a:spcPct val="90000"/>
              </a:lnSpc>
              <a:spcBef>
                <a:spcPts val="1400"/>
              </a:spcBef>
              <a:spcAft>
                <a:spcPts val="0"/>
              </a:spcAft>
              <a:buSzPts val="6600"/>
              <a:buNone/>
            </a:pPr>
            <a:r>
              <a:t/>
            </a:r>
            <a:endParaRPr sz="6600">
              <a:latin typeface="Algerian"/>
              <a:ea typeface="Algerian"/>
              <a:cs typeface="Algerian"/>
              <a:sym typeface="Algerian"/>
            </a:endParaRPr>
          </a:p>
          <a:p>
            <a:pPr indent="0" lvl="0" marL="0" rtl="0" algn="ctr">
              <a:lnSpc>
                <a:spcPct val="90000"/>
              </a:lnSpc>
              <a:spcBef>
                <a:spcPts val="1400"/>
              </a:spcBef>
              <a:spcAft>
                <a:spcPts val="0"/>
              </a:spcAft>
              <a:buSzPts val="6600"/>
              <a:buNone/>
            </a:pPr>
            <a:r>
              <a:rPr lang="en-US" sz="6600">
                <a:latin typeface="Algerian"/>
                <a:ea typeface="Algerian"/>
                <a:cs typeface="Algerian"/>
                <a:sym typeface="Algerian"/>
              </a:rPr>
              <a:t>Thank You</a:t>
            </a:r>
            <a:endParaRPr/>
          </a:p>
        </p:txBody>
      </p:sp>
      <p:pic>
        <p:nvPicPr>
          <p:cNvPr id="333" name="Google Shape;333;p22"/>
          <p:cNvPicPr preferRelativeResize="0"/>
          <p:nvPr/>
        </p:nvPicPr>
        <p:blipFill rotWithShape="1">
          <a:blip r:embed="rId3">
            <a:alphaModFix/>
          </a:blip>
          <a:srcRect b="0" l="0" r="0" t="0"/>
          <a:stretch/>
        </p:blipFill>
        <p:spPr>
          <a:xfrm>
            <a:off x="10740571" y="5573486"/>
            <a:ext cx="1332367" cy="116862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06F013DBE9A0D4C970E999EDA675400" ma:contentTypeVersion="0" ma:contentTypeDescription="Create a new document." ma:contentTypeScope="" ma:versionID="cf3f776b30167f37e7a9f4c355cfeb30">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2F8EFAE-F078-4984-835D-6E53E702C127}"/>
</file>

<file path=customXml/itemProps2.xml><?xml version="1.0" encoding="utf-8"?>
<ds:datastoreItem xmlns:ds="http://schemas.openxmlformats.org/officeDocument/2006/customXml" ds:itemID="{6B4F8593-1297-4EE1-8B17-12D7BF4D7852}"/>
</file>

<file path=customXml/itemProps3.xml><?xml version="1.0" encoding="utf-8"?>
<ds:datastoreItem xmlns:ds="http://schemas.openxmlformats.org/officeDocument/2006/customXml" ds:itemID="{04FAAFBB-9A59-41D2-A8B4-06BE67E7B338}"/>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Abidullah</dc:creator>
  <dcterms:created xsi:type="dcterms:W3CDTF">2020-04-02T05:39:02Z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0x010100206F013DBE9A0D4C970E999EDA675400</vt:lpwstr>
  </property>
</Properties>
</file>