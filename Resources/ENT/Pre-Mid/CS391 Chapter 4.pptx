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247">
          <p15:clr>
            <a:srgbClr val="A4A3A4"/>
          </p15:clr>
        </p15:guide>
        <p15:guide id="2" pos="7605">
          <p15:clr>
            <a:srgbClr val="A4A3A4"/>
          </p15:clr>
        </p15:guide>
      </p15:sldGuideLst>
    </p:ext>
    <p:ext uri="GoogleSlidesCustomDataVersion2">
      <go:slidesCustomData xmlns:go="http://customooxmlschemas.google.com/" r:id="rId44" roundtripDataSignature="AMtx7mjpeczfM/8Ze2NNnhAX06JYq4/f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247" orient="horz"/>
        <p:guide pos="7605"/>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3" Type="http://schemas.openxmlformats.org/officeDocument/2006/relationships/slide" Target="slides/slide8.xml"/><Relationship Id="rId39" Type="http://schemas.openxmlformats.org/officeDocument/2006/relationships/slide" Target="slides/slide34.xml"/><Relationship Id="rId18" Type="http://schemas.openxmlformats.org/officeDocument/2006/relationships/slide" Target="slides/slide13.xml"/><Relationship Id="rId42" Type="http://schemas.openxmlformats.org/officeDocument/2006/relationships/slide" Target="slides/slide37.xml"/><Relationship Id="rId21" Type="http://schemas.openxmlformats.org/officeDocument/2006/relationships/slide" Target="slides/slide16.xml"/><Relationship Id="rId34" Type="http://schemas.openxmlformats.org/officeDocument/2006/relationships/slide" Target="slides/slide29.xml"/><Relationship Id="rId47" Type="http://schemas.openxmlformats.org/officeDocument/2006/relationships/customXml" Target="../customXml/item3.xml"/><Relationship Id="rId7" Type="http://schemas.openxmlformats.org/officeDocument/2006/relationships/slide" Target="slides/slide2.xml"/><Relationship Id="rId2" Type="http://schemas.openxmlformats.org/officeDocument/2006/relationships/viewProps" Target="viewProps.xml"/><Relationship Id="rId29" Type="http://schemas.openxmlformats.org/officeDocument/2006/relationships/slide" Target="slides/slide24.xml"/><Relationship Id="rId16" Type="http://schemas.openxmlformats.org/officeDocument/2006/relationships/slide" Target="slides/slide11.xml"/><Relationship Id="rId40" Type="http://schemas.openxmlformats.org/officeDocument/2006/relationships/slide" Target="slides/slide35.xml"/><Relationship Id="rId24" Type="http://schemas.openxmlformats.org/officeDocument/2006/relationships/slide" Target="slides/slide19.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45" Type="http://schemas.openxmlformats.org/officeDocument/2006/relationships/customXml" Target="../customXml/item1.xml"/><Relationship Id="rId23" Type="http://schemas.openxmlformats.org/officeDocument/2006/relationships/slide" Target="slides/slide18.xml"/><Relationship Id="rId28" Type="http://schemas.openxmlformats.org/officeDocument/2006/relationships/slide" Target="slides/slide23.xml"/><Relationship Id="rId5" Type="http://schemas.openxmlformats.org/officeDocument/2006/relationships/notesMaster" Target="notesMasters/notesMaster1.xml"/><Relationship Id="rId15" Type="http://schemas.openxmlformats.org/officeDocument/2006/relationships/slide" Target="slides/slide10.xml"/><Relationship Id="rId36" Type="http://schemas.openxmlformats.org/officeDocument/2006/relationships/slide" Target="slides/slide31.xml"/><Relationship Id="rId44" Type="http://customschemas.google.com/relationships/presentationmetadata" Target="metadata"/><Relationship Id="rId31" Type="http://schemas.openxmlformats.org/officeDocument/2006/relationships/slide" Target="slides/slide26.xml"/><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slide" Target="slides/slide17.xml"/><Relationship Id="rId43" Type="http://schemas.openxmlformats.org/officeDocument/2006/relationships/slide" Target="slides/slide38.xml"/><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14" Type="http://schemas.openxmlformats.org/officeDocument/2006/relationships/slide" Target="slides/slide9.xml"/><Relationship Id="rId8" Type="http://schemas.openxmlformats.org/officeDocument/2006/relationships/slide" Target="slides/slide3.xml"/><Relationship Id="rId3" Type="http://schemas.openxmlformats.org/officeDocument/2006/relationships/presProps" Target="presProps.xml"/><Relationship Id="rId25" Type="http://schemas.openxmlformats.org/officeDocument/2006/relationships/slide" Target="slides/slide20.xml"/><Relationship Id="rId33" Type="http://schemas.openxmlformats.org/officeDocument/2006/relationships/slide" Target="slides/slide28.xml"/><Relationship Id="rId12" Type="http://schemas.openxmlformats.org/officeDocument/2006/relationships/slide" Target="slides/slide7.xml"/><Relationship Id="rId17" Type="http://schemas.openxmlformats.org/officeDocument/2006/relationships/slide" Target="slides/slide12.xml"/><Relationship Id="rId38" Type="http://schemas.openxmlformats.org/officeDocument/2006/relationships/slide" Target="slides/slide33.xml"/><Relationship Id="rId46" Type="http://schemas.openxmlformats.org/officeDocument/2006/relationships/customXml" Target="../customXml/item2.xml"/><Relationship Id="rId20" Type="http://schemas.openxmlformats.org/officeDocument/2006/relationships/slide" Target="slides/slide15.xml"/><Relationship Id="rId41"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81bcde5b9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g381bcde5b9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1bcde5b92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1bcde5b9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1bcde5b92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81bcde5b92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81bcde5b92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81bcde5b92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1bcde5b92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81bcde5b92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1bcde5b92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1bcde5b9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81bcde5b92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81bcde5b92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1bcde5b92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81bcde5b92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1bcde5b92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1bcde5b92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1bcde5b92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81bcde5b92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1bcde5b92_0_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1bcde5b92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1bcde5b92_0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81bcde5b92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1bcde5b92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81bcde5b92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1bcde5b92_0_1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1bcde5b92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81bcde5b92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81bcde5b92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1bcde5b92_0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1bcde5b92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81bcde5b92_0_2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81bcde5b92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81bcde5b92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81bcde5b92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1bcde5b92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81bcde5b92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1bcde5b92_0_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81bcde5b92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81bcde5b92_0_2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81bcde5b92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1bcde5b92_0_2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81bcde5b92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1bcde5b92_0_2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81bcde5b92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1bcde5b92_0_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81bcde5b92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1bcde5b92_0_2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81bcde5b92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81bcde5b92_0_2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81bcde5b92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81bcde5b92_0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81bcde5b92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4"/>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 name="Google Shape;15;p1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15"/>
          <p:cNvSpPr/>
          <p:nvPr/>
        </p:nvSpPr>
        <p:spPr>
          <a:xfrm>
            <a:off x="0" y="0"/>
            <a:ext cx="12192000" cy="4572001"/>
          </a:xfrm>
          <a:prstGeom prst="rect">
            <a:avLst/>
          </a:prstGeom>
          <a:solidFill>
            <a:srgbClr val="1482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5"/>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5"/>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5"/>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23" name="Google Shape;23;p1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26" name="Google Shape;26;p15"/>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7" name="Shape 27"/>
        <p:cNvGrpSpPr/>
        <p:nvPr/>
      </p:nvGrpSpPr>
      <p:grpSpPr>
        <a:xfrm>
          <a:off x="0" y="0"/>
          <a:ext cx="0" cy="0"/>
          <a:chOff x="0" y="0"/>
          <a:chExt cx="0" cy="0"/>
        </a:xfrm>
      </p:grpSpPr>
      <p:sp>
        <p:nvSpPr>
          <p:cNvPr id="28" name="Google Shape;28;p16"/>
          <p:cNvSpPr/>
          <p:nvPr/>
        </p:nvSpPr>
        <p:spPr>
          <a:xfrm>
            <a:off x="0" y="0"/>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6"/>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6"/>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6"/>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2" name="Google Shape;32;p1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35" name="Google Shape;35;p16"/>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1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17"/>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0" name="Google Shape;40;p1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1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8"/>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6" name="Google Shape;46;p18"/>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18"/>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8" name="Google Shape;48;p18"/>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1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1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7" name="Shape 57"/>
        <p:cNvGrpSpPr/>
        <p:nvPr/>
      </p:nvGrpSpPr>
      <p:grpSpPr>
        <a:xfrm>
          <a:off x="0" y="0"/>
          <a:ext cx="0" cy="0"/>
          <a:chOff x="0" y="0"/>
          <a:chExt cx="0" cy="0"/>
        </a:xfrm>
      </p:grpSpPr>
      <p:sp>
        <p:nvSpPr>
          <p:cNvPr id="58" name="Google Shape;58;p2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4" name="Google Shape;64;p21"/>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5" name="Google Shape;65;p2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p:nvPr>
            <p:ph idx="2" type="pic"/>
          </p:nvPr>
        </p:nvSpPr>
        <p:spPr>
          <a:xfrm>
            <a:off x="0" y="-1"/>
            <a:ext cx="12188952" cy="4572000"/>
          </a:xfrm>
          <a:prstGeom prst="rect">
            <a:avLst/>
          </a:prstGeom>
          <a:solidFill>
            <a:srgbClr val="76CEEF"/>
          </a:solidFill>
          <a:ln>
            <a:noFill/>
          </a:ln>
        </p:spPr>
      </p:sp>
      <p:sp>
        <p:nvSpPr>
          <p:cNvPr id="71" name="Google Shape;71;p22"/>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2" name="Google Shape;72;p2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75" name="Google Shape;75;p22"/>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2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3"/>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9" name="Google Shape;79;p2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2" name="Shape 82"/>
        <p:cNvGrpSpPr/>
        <p:nvPr/>
      </p:nvGrpSpPr>
      <p:grpSpPr>
        <a:xfrm>
          <a:off x="0" y="0"/>
          <a:ext cx="0" cy="0"/>
          <a:chOff x="0" y="0"/>
          <a:chExt cx="0" cy="0"/>
        </a:xfrm>
      </p:grpSpPr>
      <p:sp>
        <p:nvSpPr>
          <p:cNvPr id="83" name="Google Shape;83;p24"/>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24"/>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5" name="Google Shape;85;p2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88" name="Google Shape;88;p24"/>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Twentieth Century"/>
              <a:buNone/>
              <a:defRPr b="0" i="0" sz="5000" u="none" cap="none" strike="noStrik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8" name="Google Shape;8;p1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9" name="Google Shape;9;p1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 name="Google Shape;10;p1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11" name="Google Shape;11;p13"/>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81bcde5b92_0_0"/>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accent1"/>
              </a:buClr>
              <a:buSzPts val="3600"/>
              <a:buFont typeface="Twentieth Century"/>
              <a:buNone/>
            </a:pPr>
            <a:r>
              <a:rPr b="1" lang="en-US" sz="3600">
                <a:solidFill>
                  <a:schemeClr val="accent1"/>
                </a:solidFill>
              </a:rPr>
              <a:t>COURSE TITLE: ENTREPRENEURSHIP AND Technology Commercialization  </a:t>
            </a:r>
            <a:endParaRPr sz="3600">
              <a:solidFill>
                <a:schemeClr val="accent1"/>
              </a:solidFill>
            </a:endParaRPr>
          </a:p>
        </p:txBody>
      </p:sp>
      <p:sp>
        <p:nvSpPr>
          <p:cNvPr id="94" name="Google Shape;94;g381bcde5b92_0_0"/>
          <p:cNvSpPr txBox="1"/>
          <p:nvPr>
            <p:ph idx="1" type="body"/>
          </p:nvPr>
        </p:nvSpPr>
        <p:spPr>
          <a:xfrm>
            <a:off x="1024128" y="2286000"/>
            <a:ext cx="9720000" cy="4023300"/>
          </a:xfrm>
          <a:prstGeom prst="rect">
            <a:avLst/>
          </a:prstGeom>
          <a:solidFill>
            <a:schemeClr val="lt1"/>
          </a:solidFill>
          <a:ln>
            <a:noFill/>
          </a:ln>
        </p:spPr>
        <p:txBody>
          <a:bodyPr anchorCtr="0" anchor="t" bIns="45700" lIns="45700" spcFirstLastPara="1" rIns="45700" wrap="square" tIns="45700">
            <a:normAutofit/>
          </a:bodyPr>
          <a:lstStyle/>
          <a:p>
            <a:pPr indent="0" lvl="0" marL="0" rtl="0" algn="ctr">
              <a:lnSpc>
                <a:spcPct val="90000"/>
              </a:lnSpc>
              <a:spcBef>
                <a:spcPts val="0"/>
              </a:spcBef>
              <a:spcAft>
                <a:spcPts val="0"/>
              </a:spcAft>
              <a:buSzPts val="2200"/>
              <a:buNone/>
            </a:pPr>
            <a:br>
              <a:rPr b="1" lang="en-US"/>
            </a:br>
            <a:r>
              <a:rPr b="1" lang="en-US"/>
              <a:t>Course Code: CS391</a:t>
            </a:r>
            <a:endParaRPr b="1"/>
          </a:p>
          <a:p>
            <a:pPr indent="0" lvl="0" marL="0" rtl="0" algn="ctr">
              <a:lnSpc>
                <a:spcPct val="90000"/>
              </a:lnSpc>
              <a:spcBef>
                <a:spcPts val="1400"/>
              </a:spcBef>
              <a:spcAft>
                <a:spcPts val="0"/>
              </a:spcAft>
              <a:buSzPts val="2200"/>
              <a:buNone/>
            </a:pPr>
            <a:br>
              <a:rPr b="1" lang="en-US"/>
            </a:br>
            <a:r>
              <a:rPr b="1" lang="en-US"/>
              <a:t>Course Instructor: Dr. Fahd S. Khan</a:t>
            </a:r>
            <a:br>
              <a:rPr b="1" lang="en-US"/>
            </a:br>
            <a:endParaRPr/>
          </a:p>
          <a:p>
            <a:pPr indent="0" lvl="0" marL="0" rtl="0" algn="ctr">
              <a:lnSpc>
                <a:spcPct val="90000"/>
              </a:lnSpc>
              <a:spcBef>
                <a:spcPts val="1400"/>
              </a:spcBef>
              <a:spcAft>
                <a:spcPts val="0"/>
              </a:spcAft>
              <a:buSzPts val="2200"/>
              <a:buNone/>
            </a:pPr>
            <a:r>
              <a:rPr b="1" lang="en-US"/>
              <a:t>Ghulam Ishaq Khan Institute Of Engineering Sciences and Technology</a:t>
            </a:r>
            <a:endParaRPr/>
          </a:p>
        </p:txBody>
      </p:sp>
      <p:pic>
        <p:nvPicPr>
          <p:cNvPr id="95" name="Google Shape;95;g381bcde5b92_0_0"/>
          <p:cNvPicPr preferRelativeResize="0"/>
          <p:nvPr/>
        </p:nvPicPr>
        <p:blipFill rotWithShape="1">
          <a:blip r:embed="rId3">
            <a:alphaModFix/>
          </a:blip>
          <a:srcRect b="0" l="0" r="0" t="0"/>
          <a:stretch/>
        </p:blipFill>
        <p:spPr>
          <a:xfrm>
            <a:off x="0" y="902"/>
            <a:ext cx="1328738" cy="11686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1000"/>
                                        <p:tgtEl>
                                          <p:spTgt spid="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Effect filter="fade" transition="in">
                                      <p:cBhvr>
                                        <p:cTn dur="1000"/>
                                        <p:tgtEl>
                                          <p:spTgt spid="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animEffect filter="fade" transition="in">
                                      <p:cBhvr>
                                        <p:cTn dur="1000"/>
                                        <p:tgtEl>
                                          <p:spTgt spid="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animEffect filter="fade" transition="in">
                                      <p:cBhvr>
                                        <p:cTn dur="1000"/>
                                        <p:tgtEl>
                                          <p:spTgt spid="9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g381bcde5b92_0_62"/>
          <p:cNvPicPr preferRelativeResize="0"/>
          <p:nvPr/>
        </p:nvPicPr>
        <p:blipFill rotWithShape="1">
          <a:blip r:embed="rId3">
            <a:alphaModFix/>
          </a:blip>
          <a:srcRect b="48668" l="68612" r="7684" t="12898"/>
          <a:stretch/>
        </p:blipFill>
        <p:spPr>
          <a:xfrm>
            <a:off x="2046446" y="659100"/>
            <a:ext cx="7736448" cy="51756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81bcde5b92_0_123"/>
          <p:cNvSpPr txBox="1"/>
          <p:nvPr/>
        </p:nvSpPr>
        <p:spPr>
          <a:xfrm>
            <a:off x="151725" y="819325"/>
            <a:ext cx="12192000" cy="47100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2100"/>
          </a:p>
          <a:p>
            <a:pPr indent="-361950" lvl="0" marL="457200" rtl="0" algn="l">
              <a:spcBef>
                <a:spcPts val="0"/>
              </a:spcBef>
              <a:spcAft>
                <a:spcPts val="0"/>
              </a:spcAft>
              <a:buSzPts val="2100"/>
              <a:buChar char="●"/>
            </a:pPr>
            <a:r>
              <a:rPr lang="en-US" sz="2100"/>
              <a:t> ­A business model is a firm’s plan or recipe for how it creates, delivers, and captures value for its stakeholders.</a:t>
            </a:r>
            <a:endParaRPr sz="2100"/>
          </a:p>
          <a:p>
            <a:pPr indent="0" lvl="0" marL="457200" rtl="0" algn="l">
              <a:spcBef>
                <a:spcPts val="0"/>
              </a:spcBef>
              <a:spcAft>
                <a:spcPts val="0"/>
              </a:spcAft>
              <a:buNone/>
            </a:pPr>
            <a:r>
              <a:t/>
            </a:r>
            <a:endParaRPr sz="2100"/>
          </a:p>
          <a:p>
            <a:pPr indent="-361950" lvl="0" marL="457200" rtl="0" algn="l">
              <a:spcBef>
                <a:spcPts val="0"/>
              </a:spcBef>
              <a:spcAft>
                <a:spcPts val="0"/>
              </a:spcAft>
              <a:buSzPts val="2100"/>
              <a:buChar char="●"/>
            </a:pPr>
            <a:r>
              <a:rPr lang="en-US" sz="2100"/>
              <a:t>Business models are foundational to a firm’s ability to succeed, both in the short and long term, especially when it is the first one to introduce a new product or service to customers. </a:t>
            </a:r>
            <a:endParaRPr sz="2100"/>
          </a:p>
          <a:p>
            <a:pPr indent="0" lvl="0" marL="457200" rtl="0" algn="l">
              <a:spcBef>
                <a:spcPts val="0"/>
              </a:spcBef>
              <a:spcAft>
                <a:spcPts val="0"/>
              </a:spcAft>
              <a:buNone/>
            </a:pPr>
            <a:r>
              <a:t/>
            </a:r>
            <a:endParaRPr sz="2100"/>
          </a:p>
          <a:p>
            <a:pPr indent="-361950" lvl="0" marL="457200" rtl="0" algn="l">
              <a:spcBef>
                <a:spcPts val="0"/>
              </a:spcBef>
              <a:spcAft>
                <a:spcPts val="0"/>
              </a:spcAft>
              <a:buSzPts val="2100"/>
              <a:buChar char="●"/>
            </a:pPr>
            <a:r>
              <a:rPr lang="en-US" sz="2100"/>
              <a:t>Dropbox, for example, has what is referred to as a freemium business model. It offers its customers a free account with a set amount of storage space; the firm earns money by selling premium accounts with more capacity. </a:t>
            </a:r>
            <a:endParaRPr sz="2100"/>
          </a:p>
          <a:p>
            <a:pPr indent="0" lvl="0" marL="457200" rtl="0" algn="l">
              <a:spcBef>
                <a:spcPts val="0"/>
              </a:spcBef>
              <a:spcAft>
                <a:spcPts val="0"/>
              </a:spcAft>
              <a:buNone/>
            </a:pPr>
            <a:r>
              <a:t/>
            </a:r>
            <a:endParaRPr sz="2100"/>
          </a:p>
          <a:p>
            <a:pPr indent="-361950" lvl="0" marL="457200" rtl="0" algn="l">
              <a:spcBef>
                <a:spcPts val="0"/>
              </a:spcBef>
              <a:spcAft>
                <a:spcPts val="0"/>
              </a:spcAft>
              <a:buSzPts val="2100"/>
              <a:buChar char="●"/>
            </a:pPr>
            <a:r>
              <a:rPr lang="en-US" sz="2100"/>
              <a:t>Dropbox could charge all of its users a monthly fee based on the amount of storage that they use, but that is not its business model. Its business model is based on the belief that by introducing users to its service through a free account, it will ultimately sign up more paid users.</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g381bcde5b92_0_129"/>
          <p:cNvPicPr preferRelativeResize="0"/>
          <p:nvPr/>
        </p:nvPicPr>
        <p:blipFill rotWithShape="1">
          <a:blip r:embed="rId3">
            <a:alphaModFix/>
          </a:blip>
          <a:srcRect b="21810" l="35533" r="26437" t="61056"/>
          <a:stretch/>
        </p:blipFill>
        <p:spPr>
          <a:xfrm>
            <a:off x="798250" y="3501550"/>
            <a:ext cx="10595501" cy="2685126"/>
          </a:xfrm>
          <a:prstGeom prst="rect">
            <a:avLst/>
          </a:prstGeom>
          <a:noFill/>
          <a:ln>
            <a:noFill/>
          </a:ln>
        </p:spPr>
      </p:pic>
      <p:sp>
        <p:nvSpPr>
          <p:cNvPr id="111" name="Google Shape;111;g381bcde5b92_0_129"/>
          <p:cNvSpPr txBox="1"/>
          <p:nvPr/>
        </p:nvSpPr>
        <p:spPr>
          <a:xfrm>
            <a:off x="516950" y="515875"/>
            <a:ext cx="108768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t>T</a:t>
            </a:r>
            <a:r>
              <a:rPr lang="en-US" sz="2200"/>
              <a:t>hree important elements of a firm’s business model are:</a:t>
            </a:r>
            <a:endParaRPr sz="2200"/>
          </a:p>
          <a:p>
            <a:pPr indent="0" lvl="0" marL="0" rtl="0" algn="l">
              <a:spcBef>
                <a:spcPts val="0"/>
              </a:spcBef>
              <a:spcAft>
                <a:spcPts val="0"/>
              </a:spcAft>
              <a:buNone/>
            </a:pPr>
            <a:r>
              <a:t/>
            </a:r>
            <a:endParaRPr sz="2200"/>
          </a:p>
          <a:p>
            <a:pPr indent="-368300" lvl="0" marL="457200" rtl="0" algn="l">
              <a:spcBef>
                <a:spcPts val="0"/>
              </a:spcBef>
              <a:spcAft>
                <a:spcPts val="0"/>
              </a:spcAft>
              <a:buSzPts val="2200"/>
              <a:buAutoNum type="arabicParenR"/>
            </a:pPr>
            <a:r>
              <a:rPr lang="en-US" sz="2200"/>
              <a:t>Its target market, </a:t>
            </a:r>
            <a:endParaRPr sz="2200"/>
          </a:p>
          <a:p>
            <a:pPr indent="-368300" lvl="0" marL="457200" rtl="0" algn="l">
              <a:spcBef>
                <a:spcPts val="0"/>
              </a:spcBef>
              <a:spcAft>
                <a:spcPts val="0"/>
              </a:spcAft>
              <a:buSzPts val="2200"/>
              <a:buAutoNum type="arabicParenR"/>
            </a:pPr>
            <a:r>
              <a:rPr lang="en-US" sz="2200"/>
              <a:t>Its basis for differentiation, and</a:t>
            </a:r>
            <a:endParaRPr sz="2200"/>
          </a:p>
          <a:p>
            <a:pPr indent="-368300" lvl="0" marL="457200" rtl="0" algn="l">
              <a:spcBef>
                <a:spcPts val="0"/>
              </a:spcBef>
              <a:spcAft>
                <a:spcPts val="0"/>
              </a:spcAft>
              <a:buSzPts val="2200"/>
              <a:buAutoNum type="arabicParenR"/>
            </a:pPr>
            <a:r>
              <a:rPr lang="en-US" sz="2200"/>
              <a:t>Its key assets.</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g381bcde5b92_0_136"/>
          <p:cNvPicPr preferRelativeResize="0"/>
          <p:nvPr/>
        </p:nvPicPr>
        <p:blipFill rotWithShape="1">
          <a:blip r:embed="rId3">
            <a:alphaModFix/>
          </a:blip>
          <a:srcRect b="14441" l="37877" r="16020" t="18913"/>
          <a:stretch/>
        </p:blipFill>
        <p:spPr>
          <a:xfrm>
            <a:off x="470950" y="134575"/>
            <a:ext cx="10813027" cy="65888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81bcde5b92_0_140"/>
          <p:cNvSpPr txBox="1"/>
          <p:nvPr/>
        </p:nvSpPr>
        <p:spPr>
          <a:xfrm>
            <a:off x="313800" y="1881400"/>
            <a:ext cx="118782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t>Standard Business Models</a:t>
            </a:r>
            <a:endParaRPr b="1"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The first category is standard business models. This type of model is used commonly by existing firms as well as by those launching an entrepreneurial venture.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Standard business models depict existing plans or recipes firms can use to determine how they will create, deliver, and capture value for their stake holders.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For example, Amazon did not invent a new business model. It took the mail order business model and moved it online. </a:t>
            </a:r>
            <a:endParaRPr sz="2000"/>
          </a:p>
          <a:p>
            <a:pPr indent="0" lvl="0" marL="0" rtl="0" algn="l">
              <a:spcBef>
                <a:spcPts val="0"/>
              </a:spcBef>
              <a:spcAft>
                <a:spcPts val="0"/>
              </a:spcAft>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g381bcde5b92_0_147"/>
          <p:cNvPicPr preferRelativeResize="0"/>
          <p:nvPr/>
        </p:nvPicPr>
        <p:blipFill rotWithShape="1">
          <a:blip r:embed="rId3">
            <a:alphaModFix/>
          </a:blip>
          <a:srcRect b="15325" l="35792" r="17845" t="17070"/>
          <a:stretch/>
        </p:blipFill>
        <p:spPr>
          <a:xfrm>
            <a:off x="800750" y="255525"/>
            <a:ext cx="9862200" cy="6346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81bcde5b92_0_151"/>
          <p:cNvSpPr txBox="1"/>
          <p:nvPr/>
        </p:nvSpPr>
        <p:spPr>
          <a:xfrm>
            <a:off x="333775" y="333825"/>
            <a:ext cx="11241000" cy="572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Disruptive Business Models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The second category of business models is disruptive business models. Disruptive business models, which are rare, are models that do not fit the profile of a standard business model, and are impactful enough that they disrupt or change the way business is conducted in an industry or an important niche within an industry.</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There are many types of disruptive business models. The first type is called new market disruption. A new market disruption addresses a market that previously wasn’t served. An example is Google and its AdWords program.</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The second type of disruptive business model is referred to as a low-end market disruption. Examples here include Southwest Airlines in the United States and Ryanair in Europe. Southwest created its point-to-point, low-cost, no-frills business model as an alternative to higherend service offerings provided by legacy carriers such as United and American.</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81bcde5b92_0_160"/>
          <p:cNvSpPr txBox="1"/>
          <p:nvPr/>
        </p:nvSpPr>
        <p:spPr>
          <a:xfrm>
            <a:off x="119100" y="849675"/>
            <a:ext cx="12072900" cy="266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t>Although not everyone agrees precisely on the components of a business model, many agree that a successful business model has a common set of attributes.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These attributes are often laid out in a visual framework or template so it is easy to see the individual parts and their interrelationships.</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p:txBody>
      </p:sp>
      <p:pic>
        <p:nvPicPr>
          <p:cNvPr id="137" name="Google Shape;137;g381bcde5b92_0_160"/>
          <p:cNvPicPr preferRelativeResize="0"/>
          <p:nvPr/>
        </p:nvPicPr>
        <p:blipFill rotWithShape="1">
          <a:blip r:embed="rId3">
            <a:alphaModFix/>
          </a:blip>
          <a:srcRect b="61685" l="46351" r="16379" t="25026"/>
          <a:stretch/>
        </p:blipFill>
        <p:spPr>
          <a:xfrm>
            <a:off x="182075" y="3255124"/>
            <a:ext cx="11742874" cy="26627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g381bcde5b92_0_167"/>
          <p:cNvPicPr preferRelativeResize="0"/>
          <p:nvPr/>
        </p:nvPicPr>
        <p:blipFill rotWithShape="1">
          <a:blip r:embed="rId3">
            <a:alphaModFix/>
          </a:blip>
          <a:srcRect b="59152" l="38919" r="26438" t="23085"/>
          <a:stretch/>
        </p:blipFill>
        <p:spPr>
          <a:xfrm>
            <a:off x="132613" y="880000"/>
            <a:ext cx="11926776" cy="35162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g381bcde5b92_0_171"/>
          <p:cNvPicPr preferRelativeResize="0"/>
          <p:nvPr/>
        </p:nvPicPr>
        <p:blipFill rotWithShape="1">
          <a:blip r:embed="rId3">
            <a:alphaModFix/>
          </a:blip>
          <a:srcRect b="19032" l="38657" r="25919" t="59203"/>
          <a:stretch/>
        </p:blipFill>
        <p:spPr>
          <a:xfrm>
            <a:off x="310349" y="1028000"/>
            <a:ext cx="11239325" cy="38841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81bcde5b92_0_175"/>
          <p:cNvSpPr txBox="1"/>
          <p:nvPr/>
        </p:nvSpPr>
        <p:spPr>
          <a:xfrm>
            <a:off x="187200" y="637230"/>
            <a:ext cx="118176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Basi</a:t>
            </a:r>
            <a:r>
              <a:rPr b="1" lang="en-US" sz="2400"/>
              <a:t>s of Differentiation</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381000" lvl="0" marL="457200" rtl="0" algn="l">
              <a:spcBef>
                <a:spcPts val="0"/>
              </a:spcBef>
              <a:spcAft>
                <a:spcPts val="0"/>
              </a:spcAft>
              <a:buSzPts val="2400"/>
              <a:buChar char="●"/>
            </a:pPr>
            <a:r>
              <a:rPr lang="en-US" sz="2400"/>
              <a:t>It is important that a business clearly articulate the points that differentiate its product or service from competitors.</a:t>
            </a:r>
            <a:endParaRPr sz="2400"/>
          </a:p>
          <a:p>
            <a:pPr indent="0" lvl="0" marL="457200" rtl="0" algn="l">
              <a:spcBef>
                <a:spcPts val="0"/>
              </a:spcBef>
              <a:spcAft>
                <a:spcPts val="0"/>
              </a:spcAft>
              <a:buNone/>
            </a:pPr>
            <a:r>
              <a:t/>
            </a:r>
            <a:endParaRPr sz="2400"/>
          </a:p>
          <a:p>
            <a:pPr indent="-381000" lvl="0" marL="457200" rtl="0" algn="l">
              <a:spcBef>
                <a:spcPts val="0"/>
              </a:spcBef>
              <a:spcAft>
                <a:spcPts val="0"/>
              </a:spcAft>
              <a:buSzPts val="2400"/>
              <a:buChar char="●"/>
            </a:pPr>
            <a:r>
              <a:rPr lang="en-US" sz="2400"/>
              <a:t>This is akin to what some authors refer to as a company’s value proposition. </a:t>
            </a:r>
            <a:endParaRPr sz="2400"/>
          </a:p>
          <a:p>
            <a:pPr indent="0" lvl="0" marL="457200" rtl="0" algn="l">
              <a:spcBef>
                <a:spcPts val="0"/>
              </a:spcBef>
              <a:spcAft>
                <a:spcPts val="0"/>
              </a:spcAft>
              <a:buNone/>
            </a:pPr>
            <a:r>
              <a:t/>
            </a:r>
            <a:endParaRPr sz="2400"/>
          </a:p>
          <a:p>
            <a:pPr indent="-381000" lvl="0" marL="457200" rtl="0" algn="l">
              <a:spcBef>
                <a:spcPts val="0"/>
              </a:spcBef>
              <a:spcAft>
                <a:spcPts val="0"/>
              </a:spcAft>
              <a:buSzPts val="2400"/>
              <a:buChar char="●"/>
            </a:pPr>
            <a:r>
              <a:rPr lang="en-US" sz="2400"/>
              <a:t>A company’s basis of differentiation is what causes consumers to pick one company’s products over another’s. I</a:t>
            </a:r>
            <a:r>
              <a:rPr lang="en-US" sz="2400"/>
              <a:t>t </a:t>
            </a:r>
            <a:r>
              <a:rPr lang="en-US" sz="2400"/>
              <a:t>is what solves a problem or satisfies a customer need.</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81bcde5b92_0_247"/>
          <p:cNvSpPr txBox="1"/>
          <p:nvPr/>
        </p:nvSpPr>
        <p:spPr>
          <a:xfrm>
            <a:off x="308550" y="490440"/>
            <a:ext cx="115749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Target Market.</a:t>
            </a:r>
            <a:r>
              <a:rPr lang="en-US" sz="2400"/>
              <a:t>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US" sz="2400"/>
              <a:t>The identification of the target market in which the firm will compete is extremely important.</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US" sz="2400"/>
              <a:t>As explained in Chapter 3, a target market is a segment within a larger market that represents a narrower group of customers with similar interests.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US" sz="2400"/>
              <a:t>This is the case with Snapchat, a firm targeting individuals who want to send messages that disappear within 10 seconds to 24 hours of their receipt.</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US" sz="2400"/>
              <a:t>Most new businesses do not start by selling to broad markets. Instead, most start by identifying an emerging or underserved niche within a larger market.</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g381bcde5b92_0_184"/>
          <p:cNvPicPr preferRelativeResize="0"/>
          <p:nvPr/>
        </p:nvPicPr>
        <p:blipFill rotWithShape="1">
          <a:blip r:embed="rId3">
            <a:alphaModFix/>
          </a:blip>
          <a:srcRect b="60561" l="38139" r="26696" t="27621"/>
          <a:stretch/>
        </p:blipFill>
        <p:spPr>
          <a:xfrm>
            <a:off x="0" y="208675"/>
            <a:ext cx="11878277" cy="2245525"/>
          </a:xfrm>
          <a:prstGeom prst="rect">
            <a:avLst/>
          </a:prstGeom>
          <a:noFill/>
          <a:ln>
            <a:noFill/>
          </a:ln>
        </p:spPr>
      </p:pic>
      <p:pic>
        <p:nvPicPr>
          <p:cNvPr id="163" name="Google Shape;163;g381bcde5b92_0_184"/>
          <p:cNvPicPr preferRelativeResize="0"/>
          <p:nvPr/>
        </p:nvPicPr>
        <p:blipFill rotWithShape="1">
          <a:blip r:embed="rId4">
            <a:alphaModFix/>
          </a:blip>
          <a:srcRect b="38480" l="38398" r="26959" t="42997"/>
          <a:stretch/>
        </p:blipFill>
        <p:spPr>
          <a:xfrm>
            <a:off x="597099" y="3091475"/>
            <a:ext cx="10997798" cy="3307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g381bcde5b92_0_192"/>
          <p:cNvPicPr preferRelativeResize="0"/>
          <p:nvPr/>
        </p:nvPicPr>
        <p:blipFill rotWithShape="1">
          <a:blip r:embed="rId3">
            <a:alphaModFix/>
          </a:blip>
          <a:srcRect b="46337" l="47253" r="17582" t="25863"/>
          <a:stretch/>
        </p:blipFill>
        <p:spPr>
          <a:xfrm>
            <a:off x="841650" y="694175"/>
            <a:ext cx="10508674" cy="46731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g381bcde5b92_0_198"/>
          <p:cNvPicPr preferRelativeResize="0"/>
          <p:nvPr/>
        </p:nvPicPr>
        <p:blipFill rotWithShape="1">
          <a:blip r:embed="rId3">
            <a:alphaModFix/>
          </a:blip>
          <a:srcRect b="37092" l="46993" r="17321" t="30492"/>
          <a:stretch/>
        </p:blipFill>
        <p:spPr>
          <a:xfrm>
            <a:off x="650550" y="350825"/>
            <a:ext cx="10946323" cy="55930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g381bcde5b92_0_202"/>
          <p:cNvPicPr preferRelativeResize="0"/>
          <p:nvPr/>
        </p:nvPicPr>
        <p:blipFill rotWithShape="1">
          <a:blip r:embed="rId3">
            <a:alphaModFix/>
          </a:blip>
          <a:srcRect b="35735" l="38918" r="26698" t="48554"/>
          <a:stretch/>
        </p:blipFill>
        <p:spPr>
          <a:xfrm>
            <a:off x="303550" y="690550"/>
            <a:ext cx="11584925" cy="2977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g381bcde5b92_0_206"/>
          <p:cNvPicPr preferRelativeResize="0"/>
          <p:nvPr/>
        </p:nvPicPr>
        <p:blipFill rotWithShape="1">
          <a:blip r:embed="rId3">
            <a:alphaModFix/>
          </a:blip>
          <a:srcRect b="57334" l="47254" r="17842" t="25400"/>
          <a:stretch/>
        </p:blipFill>
        <p:spPr>
          <a:xfrm>
            <a:off x="903700" y="1214625"/>
            <a:ext cx="10344926" cy="28782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g381bcde5b92_0_210"/>
          <p:cNvPicPr preferRelativeResize="0"/>
          <p:nvPr/>
        </p:nvPicPr>
        <p:blipFill rotWithShape="1">
          <a:blip r:embed="rId3">
            <a:alphaModFix/>
          </a:blip>
          <a:srcRect b="31535" l="46733" r="18102" t="42069"/>
          <a:stretch/>
        </p:blipFill>
        <p:spPr>
          <a:xfrm>
            <a:off x="522537" y="883371"/>
            <a:ext cx="11146925" cy="470647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g381bcde5b92_0_214"/>
          <p:cNvPicPr preferRelativeResize="0"/>
          <p:nvPr/>
        </p:nvPicPr>
        <p:blipFill rotWithShape="1">
          <a:blip r:embed="rId3">
            <a:alphaModFix/>
          </a:blip>
          <a:srcRect b="28754" l="38399" r="16017" t="22623"/>
          <a:stretch/>
        </p:blipFill>
        <p:spPr>
          <a:xfrm>
            <a:off x="1043525" y="397525"/>
            <a:ext cx="10104950" cy="6062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g381bcde5b92_0_218"/>
          <p:cNvPicPr preferRelativeResize="0"/>
          <p:nvPr/>
        </p:nvPicPr>
        <p:blipFill rotWithShape="1">
          <a:blip r:embed="rId3">
            <a:alphaModFix/>
          </a:blip>
          <a:srcRect b="55896" l="36576" r="26696" t="30493"/>
          <a:stretch/>
        </p:blipFill>
        <p:spPr>
          <a:xfrm>
            <a:off x="782200" y="269332"/>
            <a:ext cx="10627598" cy="2215226"/>
          </a:xfrm>
          <a:prstGeom prst="rect">
            <a:avLst/>
          </a:prstGeom>
          <a:noFill/>
          <a:ln>
            <a:noFill/>
          </a:ln>
        </p:spPr>
      </p:pic>
      <p:pic>
        <p:nvPicPr>
          <p:cNvPr id="199" name="Google Shape;199;g381bcde5b92_0_218"/>
          <p:cNvPicPr preferRelativeResize="0"/>
          <p:nvPr/>
        </p:nvPicPr>
        <p:blipFill rotWithShape="1">
          <a:blip r:embed="rId4">
            <a:alphaModFix/>
          </a:blip>
          <a:srcRect b="31402" l="44319" r="17673" t="47720"/>
          <a:stretch/>
        </p:blipFill>
        <p:spPr>
          <a:xfrm>
            <a:off x="782200" y="3121800"/>
            <a:ext cx="10627598" cy="32836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81bcde5b92_0_223"/>
          <p:cNvSpPr txBox="1"/>
          <p:nvPr/>
        </p:nvSpPr>
        <p:spPr>
          <a:xfrm>
            <a:off x="232650" y="606900"/>
            <a:ext cx="11726700" cy="443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t>Financing/Funding.</a:t>
            </a:r>
            <a:endParaRPr b="1" sz="2300"/>
          </a:p>
          <a:p>
            <a:pPr indent="0" lvl="0" marL="0" rtl="0" algn="l">
              <a:spcBef>
                <a:spcPts val="0"/>
              </a:spcBef>
              <a:spcAft>
                <a:spcPts val="0"/>
              </a:spcAft>
              <a:buNone/>
            </a:pPr>
            <a:r>
              <a:t/>
            </a:r>
            <a:endParaRPr b="1" sz="2300"/>
          </a:p>
          <a:p>
            <a:pPr indent="0" lvl="0" marL="0" rtl="0" algn="l">
              <a:spcBef>
                <a:spcPts val="0"/>
              </a:spcBef>
              <a:spcAft>
                <a:spcPts val="0"/>
              </a:spcAft>
              <a:buNone/>
            </a:pPr>
            <a:r>
              <a:rPr lang="en-US" sz="2300"/>
              <a:t>Finally, many business models rely on a certain amount of financing or funding to bring their business model to life.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Most businesses incur costs prior to the time they generate revenue. </a:t>
            </a:r>
            <a:r>
              <a:rPr lang="en-US" sz="2300">
                <a:solidFill>
                  <a:schemeClr val="dk1"/>
                </a:solidFill>
              </a:rPr>
              <a:t>t</a:t>
            </a:r>
            <a:r>
              <a:rPr lang="en-US" sz="2300"/>
              <a:t>h</a:t>
            </a:r>
            <a:r>
              <a:rPr lang="en-US" sz="2300"/>
              <a:t>ink </a:t>
            </a:r>
            <a:r>
              <a:rPr lang="en-US" sz="2300"/>
              <a:t>of</a:t>
            </a:r>
            <a:r>
              <a:rPr lang="en-US" sz="2300"/>
              <a:t> a b</a:t>
            </a:r>
            <a:r>
              <a:rPr lang="en-US" sz="2300"/>
              <a:t>usiness such as Faraday Bikes. Prior to earning revenue, the company had to design its product, arrange for manufacturing, purchase inventory, acquire customers, and ship its product to its customers.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This sequence, which is common, typically necessitates an infusion of up-front capital for the business to be feasible. Absent the capital, the entire business model is untenable.</a:t>
            </a:r>
            <a:endParaRPr sz="23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g381bcde5b92_0_229"/>
          <p:cNvPicPr preferRelativeResize="0"/>
          <p:nvPr/>
        </p:nvPicPr>
        <p:blipFill rotWithShape="1">
          <a:blip r:embed="rId3">
            <a:alphaModFix/>
          </a:blip>
          <a:srcRect b="61169" l="39177" r="25921" t="25401"/>
          <a:stretch/>
        </p:blipFill>
        <p:spPr>
          <a:xfrm>
            <a:off x="196367" y="1816975"/>
            <a:ext cx="11918376" cy="25793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g381bcde5b92_0_233"/>
          <p:cNvPicPr preferRelativeResize="0"/>
          <p:nvPr/>
        </p:nvPicPr>
        <p:blipFill rotWithShape="1">
          <a:blip r:embed="rId3">
            <a:alphaModFix/>
          </a:blip>
          <a:srcRect b="42719" l="38395" r="25920" t="38369"/>
          <a:stretch/>
        </p:blipFill>
        <p:spPr>
          <a:xfrm>
            <a:off x="620225" y="619975"/>
            <a:ext cx="10835424" cy="41404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g381bcde5b92_0_238"/>
          <p:cNvPicPr preferRelativeResize="0"/>
          <p:nvPr/>
        </p:nvPicPr>
        <p:blipFill rotWithShape="1">
          <a:blip r:embed="rId3">
            <a:alphaModFix/>
          </a:blip>
          <a:srcRect b="46615" l="47251" r="18107" t="46239"/>
          <a:stretch/>
        </p:blipFill>
        <p:spPr>
          <a:xfrm>
            <a:off x="872863" y="1392125"/>
            <a:ext cx="10446274" cy="17903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g381bcde5b92_0_242"/>
          <p:cNvPicPr preferRelativeResize="0"/>
          <p:nvPr/>
        </p:nvPicPr>
        <p:blipFill rotWithShape="1">
          <a:blip r:embed="rId3">
            <a:alphaModFix/>
          </a:blip>
          <a:srcRect b="63554" l="39439" r="26178" t="24012"/>
          <a:stretch/>
        </p:blipFill>
        <p:spPr>
          <a:xfrm>
            <a:off x="501575" y="87294"/>
            <a:ext cx="11188848" cy="2275876"/>
          </a:xfrm>
          <a:prstGeom prst="rect">
            <a:avLst/>
          </a:prstGeom>
          <a:noFill/>
          <a:ln>
            <a:noFill/>
          </a:ln>
        </p:spPr>
      </p:pic>
      <p:pic>
        <p:nvPicPr>
          <p:cNvPr id="225" name="Google Shape;225;g381bcde5b92_0_242"/>
          <p:cNvPicPr preferRelativeResize="0"/>
          <p:nvPr/>
        </p:nvPicPr>
        <p:blipFill rotWithShape="1">
          <a:blip r:embed="rId4">
            <a:alphaModFix/>
          </a:blip>
          <a:srcRect b="21075" l="38463" r="26095" t="41988"/>
          <a:stretch/>
        </p:blipFill>
        <p:spPr>
          <a:xfrm>
            <a:off x="1938974" y="2575575"/>
            <a:ext cx="7107653" cy="41665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g381bcde5b92_0_251"/>
          <p:cNvPicPr preferRelativeResize="0"/>
          <p:nvPr/>
        </p:nvPicPr>
        <p:blipFill rotWithShape="1">
          <a:blip r:embed="rId3">
            <a:alphaModFix/>
          </a:blip>
          <a:srcRect b="10231" l="31883" r="10031" t="15677"/>
          <a:stretch/>
        </p:blipFill>
        <p:spPr>
          <a:xfrm>
            <a:off x="1552087" y="168812"/>
            <a:ext cx="9087816" cy="65203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34" name="Shape 234"/>
        <p:cNvGrpSpPr/>
        <p:nvPr/>
      </p:nvGrpSpPr>
      <p:grpSpPr>
        <a:xfrm>
          <a:off x="0" y="0"/>
          <a:ext cx="0" cy="0"/>
          <a:chOff x="0" y="0"/>
          <a:chExt cx="0" cy="0"/>
        </a:xfrm>
      </p:grpSpPr>
      <p:sp>
        <p:nvSpPr>
          <p:cNvPr id="235" name="Google Shape;235;p2"/>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80000"/>
              </a:lnSpc>
              <a:spcBef>
                <a:spcPts val="0"/>
              </a:spcBef>
              <a:spcAft>
                <a:spcPts val="0"/>
              </a:spcAft>
              <a:buClr>
                <a:srgbClr val="7030A0"/>
              </a:buClr>
              <a:buSzPct val="100000"/>
              <a:buFont typeface="Calibri"/>
              <a:buNone/>
            </a:pPr>
            <a:br>
              <a:rPr b="1" lang="en-US" sz="3600">
                <a:solidFill>
                  <a:srgbClr val="7030A0"/>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dk1"/>
                </a:solidFill>
                <a:latin typeface="Calibri"/>
                <a:ea typeface="Calibri"/>
                <a:cs typeface="Calibri"/>
                <a:sym typeface="Calibri"/>
              </a:rPr>
              <a:t>CHAPTER 4</a:t>
            </a:r>
            <a:br>
              <a:rPr b="1" lang="en-US" sz="3600">
                <a:solidFill>
                  <a:srgbClr val="7030A0"/>
                </a:solidFill>
                <a:latin typeface="Calibri"/>
                <a:ea typeface="Calibri"/>
                <a:cs typeface="Calibri"/>
                <a:sym typeface="Calibri"/>
              </a:rPr>
            </a:br>
            <a:r>
              <a:rPr b="1" lang="en-US" sz="3600">
                <a:solidFill>
                  <a:srgbClr val="00B0F0"/>
                </a:solidFill>
              </a:rPr>
              <a:t>CREATIVITY AND THE BUSINESS IDEA</a:t>
            </a:r>
            <a:endParaRPr sz="3600">
              <a:solidFill>
                <a:schemeClr val="accent1"/>
              </a:solidFill>
              <a:latin typeface="Calibri"/>
              <a:ea typeface="Calibri"/>
              <a:cs typeface="Calibri"/>
              <a:sym typeface="Calibri"/>
            </a:endParaRPr>
          </a:p>
        </p:txBody>
      </p:sp>
      <p:sp>
        <p:nvSpPr>
          <p:cNvPr id="236" name="Google Shape;236;p2"/>
          <p:cNvSpPr txBox="1"/>
          <p:nvPr>
            <p:ph idx="1" type="subTitle"/>
          </p:nvPr>
        </p:nvSpPr>
        <p:spPr>
          <a:xfrm>
            <a:off x="1187355" y="1928812"/>
            <a:ext cx="10399593" cy="4744943"/>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SzPts val="2400"/>
              <a:buNone/>
            </a:pPr>
            <a:r>
              <a:t/>
            </a:r>
            <a:endParaRPr b="1" sz="2400">
              <a:latin typeface="Twentieth Century"/>
              <a:ea typeface="Twentieth Century"/>
              <a:cs typeface="Twentieth Century"/>
              <a:sym typeface="Twentieth Century"/>
            </a:endParaRPr>
          </a:p>
          <a:p>
            <a:pPr indent="0" lvl="0" marL="0" rtl="0" algn="l">
              <a:lnSpc>
                <a:spcPct val="150000"/>
              </a:lnSpc>
              <a:spcBef>
                <a:spcPts val="200"/>
              </a:spcBef>
              <a:spcAft>
                <a:spcPts val="0"/>
              </a:spcAft>
              <a:buSzPts val="2800"/>
              <a:buNone/>
            </a:pPr>
            <a:r>
              <a:rPr b="1" lang="en-US" sz="2800">
                <a:solidFill>
                  <a:srgbClr val="7030A0"/>
                </a:solidFill>
                <a:latin typeface="Twentieth Century"/>
                <a:ea typeface="Twentieth Century"/>
                <a:cs typeface="Twentieth Century"/>
                <a:sym typeface="Twentieth Century"/>
              </a:rPr>
              <a:t>SOURCES FOR NEW BUSINESS IDEAS</a:t>
            </a:r>
            <a:endParaRPr/>
          </a:p>
          <a:p>
            <a:pPr indent="-342900" lvl="0" marL="342900" rtl="0" algn="l">
              <a:lnSpc>
                <a:spcPct val="150000"/>
              </a:lnSpc>
              <a:spcBef>
                <a:spcPts val="200"/>
              </a:spcBef>
              <a:spcAft>
                <a:spcPts val="0"/>
              </a:spcAft>
              <a:buSzPts val="2400"/>
              <a:buFont typeface="Noto Sans Symbols"/>
              <a:buChar char="▪"/>
            </a:pPr>
            <a:r>
              <a:rPr b="1" lang="en-US" sz="2400">
                <a:solidFill>
                  <a:srgbClr val="00B050"/>
                </a:solidFill>
              </a:rPr>
              <a:t>Previous Employment</a:t>
            </a:r>
            <a:endParaRPr/>
          </a:p>
          <a:p>
            <a:pPr indent="-342900" lvl="0" marL="342900" rtl="0" algn="l">
              <a:lnSpc>
                <a:spcPct val="150000"/>
              </a:lnSpc>
              <a:spcBef>
                <a:spcPts val="200"/>
              </a:spcBef>
              <a:spcAft>
                <a:spcPts val="0"/>
              </a:spcAft>
              <a:buSzPts val="2400"/>
              <a:buFont typeface="Noto Sans Symbols"/>
              <a:buChar char="▪"/>
            </a:pPr>
            <a:r>
              <a:rPr b="1" lang="en-US" sz="2400">
                <a:solidFill>
                  <a:srgbClr val="00B050"/>
                </a:solidFill>
              </a:rPr>
              <a:t>Hobbies</a:t>
            </a:r>
            <a:endParaRPr/>
          </a:p>
          <a:p>
            <a:pPr indent="-342900" lvl="0" marL="342900" rtl="0" algn="l">
              <a:lnSpc>
                <a:spcPct val="150000"/>
              </a:lnSpc>
              <a:spcBef>
                <a:spcPts val="200"/>
              </a:spcBef>
              <a:spcAft>
                <a:spcPts val="0"/>
              </a:spcAft>
              <a:buSzPts val="2400"/>
              <a:buFont typeface="Noto Sans Symbols"/>
              <a:buChar char="▪"/>
            </a:pPr>
            <a:r>
              <a:rPr b="1" lang="en-US" sz="2400">
                <a:solidFill>
                  <a:srgbClr val="00B050"/>
                </a:solidFill>
              </a:rPr>
              <a:t>Intentional Search</a:t>
            </a:r>
            <a:endParaRPr/>
          </a:p>
          <a:p>
            <a:pPr indent="-342900" lvl="0" marL="342900" rtl="0" algn="l">
              <a:lnSpc>
                <a:spcPct val="150000"/>
              </a:lnSpc>
              <a:spcBef>
                <a:spcPts val="200"/>
              </a:spcBef>
              <a:spcAft>
                <a:spcPts val="0"/>
              </a:spcAft>
              <a:buSzPts val="2400"/>
              <a:buFont typeface="Noto Sans Symbols"/>
              <a:buChar char="▪"/>
            </a:pPr>
            <a:r>
              <a:rPr b="1" lang="en-US" sz="2400">
                <a:solidFill>
                  <a:srgbClr val="00B050"/>
                </a:solidFill>
              </a:rPr>
              <a:t>Accidental Invention or Discovery</a:t>
            </a:r>
            <a:endParaRPr b="1" sz="2400">
              <a:solidFill>
                <a:srgbClr val="00B050"/>
              </a:solidFill>
              <a:latin typeface="Twentieth Century"/>
              <a:ea typeface="Twentieth Century"/>
              <a:cs typeface="Twentieth Century"/>
              <a:sym typeface="Twentieth Century"/>
            </a:endParaRPr>
          </a:p>
          <a:p>
            <a:pPr indent="0" lvl="0" marL="0" rtl="0" algn="l">
              <a:lnSpc>
                <a:spcPct val="15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p:txBody>
      </p:sp>
      <p:pic>
        <p:nvPicPr>
          <p:cNvPr id="237" name="Google Shape;237;p2"/>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41" name="Shape 241"/>
        <p:cNvGrpSpPr/>
        <p:nvPr/>
      </p:nvGrpSpPr>
      <p:grpSpPr>
        <a:xfrm>
          <a:off x="0" y="0"/>
          <a:ext cx="0" cy="0"/>
          <a:chOff x="0" y="0"/>
          <a:chExt cx="0" cy="0"/>
        </a:xfrm>
      </p:grpSpPr>
      <p:sp>
        <p:nvSpPr>
          <p:cNvPr id="242" name="Google Shape;242;p3"/>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80000"/>
              </a:lnSpc>
              <a:spcBef>
                <a:spcPts val="0"/>
              </a:spcBef>
              <a:spcAft>
                <a:spcPts val="0"/>
              </a:spcAft>
              <a:buClr>
                <a:srgbClr val="7030A0"/>
              </a:buClr>
              <a:buSzPct val="100000"/>
              <a:buFont typeface="Calibri"/>
              <a:buNone/>
            </a:pPr>
            <a:br>
              <a:rPr b="1" lang="en-US" sz="3600">
                <a:solidFill>
                  <a:srgbClr val="7030A0"/>
                </a:solidFill>
                <a:latin typeface="Calibri"/>
                <a:ea typeface="Calibri"/>
                <a:cs typeface="Calibri"/>
                <a:sym typeface="Calibri"/>
              </a:rPr>
            </a:br>
            <a:br>
              <a:rPr b="1" lang="en-US" sz="3600">
                <a:solidFill>
                  <a:srgbClr val="7030A0"/>
                </a:solidFill>
                <a:latin typeface="Calibri"/>
                <a:ea typeface="Calibri"/>
                <a:cs typeface="Calibri"/>
                <a:sym typeface="Calibri"/>
              </a:rPr>
            </a:br>
            <a:r>
              <a:rPr b="1" lang="en-US" sz="3600">
                <a:solidFill>
                  <a:schemeClr val="dk1"/>
                </a:solidFill>
                <a:latin typeface="Calibri"/>
                <a:ea typeface="Calibri"/>
                <a:cs typeface="Calibri"/>
                <a:sym typeface="Calibri"/>
              </a:rPr>
              <a:t>CHAPTER 4</a:t>
            </a:r>
            <a:br>
              <a:rPr b="1" lang="en-US" sz="3600">
                <a:solidFill>
                  <a:srgbClr val="7030A0"/>
                </a:solidFill>
                <a:latin typeface="Calibri"/>
                <a:ea typeface="Calibri"/>
                <a:cs typeface="Calibri"/>
                <a:sym typeface="Calibri"/>
              </a:rPr>
            </a:br>
            <a:r>
              <a:rPr b="1" lang="en-US" sz="3600">
                <a:solidFill>
                  <a:srgbClr val="00B0F0"/>
                </a:solidFill>
              </a:rPr>
              <a:t>CREATIVITY AND THE BUSINESS IDEA</a:t>
            </a:r>
            <a:endParaRPr sz="3600">
              <a:solidFill>
                <a:schemeClr val="accent1"/>
              </a:solidFill>
              <a:latin typeface="Calibri"/>
              <a:ea typeface="Calibri"/>
              <a:cs typeface="Calibri"/>
              <a:sym typeface="Calibri"/>
            </a:endParaRPr>
          </a:p>
        </p:txBody>
      </p:sp>
      <p:sp>
        <p:nvSpPr>
          <p:cNvPr id="243" name="Google Shape;243;p3"/>
          <p:cNvSpPr txBox="1"/>
          <p:nvPr>
            <p:ph idx="1" type="subTitle"/>
          </p:nvPr>
        </p:nvSpPr>
        <p:spPr>
          <a:xfrm>
            <a:off x="1187355" y="1928812"/>
            <a:ext cx="10399593" cy="4744943"/>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50000"/>
              </a:lnSpc>
              <a:spcBef>
                <a:spcPts val="0"/>
              </a:spcBef>
              <a:spcAft>
                <a:spcPts val="0"/>
              </a:spcAft>
              <a:buSzPts val="2400"/>
              <a:buNone/>
            </a:pPr>
            <a:r>
              <a:t/>
            </a:r>
            <a:endParaRPr b="1" sz="2400">
              <a:latin typeface="Twentieth Century"/>
              <a:ea typeface="Twentieth Century"/>
              <a:cs typeface="Twentieth Century"/>
              <a:sym typeface="Twentieth Century"/>
            </a:endParaRPr>
          </a:p>
          <a:p>
            <a:pPr indent="0" lvl="0" marL="0" rtl="0" algn="l">
              <a:lnSpc>
                <a:spcPct val="150000"/>
              </a:lnSpc>
              <a:spcBef>
                <a:spcPts val="200"/>
              </a:spcBef>
              <a:spcAft>
                <a:spcPts val="0"/>
              </a:spcAft>
              <a:buSzPts val="2800"/>
              <a:buNone/>
            </a:pPr>
            <a:r>
              <a:rPr b="1" lang="en-US" sz="2800">
                <a:solidFill>
                  <a:srgbClr val="7030A0"/>
                </a:solidFill>
                <a:latin typeface="Twentieth Century"/>
                <a:ea typeface="Twentieth Century"/>
                <a:cs typeface="Twentieth Century"/>
                <a:sym typeface="Twentieth Century"/>
              </a:rPr>
              <a:t>SOURCES FOR NEW BUSINESS IDEAS</a:t>
            </a:r>
            <a:endParaRPr/>
          </a:p>
          <a:p>
            <a:pPr indent="0" lvl="0" marL="0" rtl="0" algn="l">
              <a:lnSpc>
                <a:spcPct val="150000"/>
              </a:lnSpc>
              <a:spcBef>
                <a:spcPts val="200"/>
              </a:spcBef>
              <a:spcAft>
                <a:spcPts val="0"/>
              </a:spcAft>
              <a:buSzPts val="2400"/>
              <a:buNone/>
            </a:pPr>
            <a:r>
              <a:rPr b="1" lang="en-US" sz="2400">
                <a:solidFill>
                  <a:srgbClr val="00B050"/>
                </a:solidFill>
              </a:rPr>
              <a:t>TRENDS(DEMANDS OR NEED AT A SPECIFIC TIME)</a:t>
            </a:r>
            <a:endParaRPr/>
          </a:p>
          <a:p>
            <a:pPr indent="-457200" lvl="0" marL="457200" rtl="0" algn="l">
              <a:lnSpc>
                <a:spcPct val="100000"/>
              </a:lnSpc>
              <a:spcBef>
                <a:spcPts val="200"/>
              </a:spcBef>
              <a:spcAft>
                <a:spcPts val="0"/>
              </a:spcAft>
              <a:buSzPts val="2400"/>
              <a:buFont typeface="Courier New"/>
              <a:buChar char="o"/>
            </a:pPr>
            <a:r>
              <a:rPr lang="en-US" sz="2400">
                <a:latin typeface="Twentieth Century"/>
                <a:ea typeface="Twentieth Century"/>
                <a:cs typeface="Twentieth Century"/>
                <a:sym typeface="Twentieth Century"/>
              </a:rPr>
              <a:t>Wearable trend</a:t>
            </a:r>
            <a:endParaRPr/>
          </a:p>
          <a:p>
            <a:pPr indent="-457200" lvl="0" marL="457200" rtl="0" algn="l">
              <a:lnSpc>
                <a:spcPct val="100000"/>
              </a:lnSpc>
              <a:spcBef>
                <a:spcPts val="200"/>
              </a:spcBef>
              <a:spcAft>
                <a:spcPts val="0"/>
              </a:spcAft>
              <a:buSzPts val="2400"/>
              <a:buFont typeface="Courier New"/>
              <a:buChar char="o"/>
            </a:pPr>
            <a:r>
              <a:rPr lang="en-US" sz="2400">
                <a:latin typeface="Twentieth Century"/>
                <a:ea typeface="Twentieth Century"/>
                <a:cs typeface="Twentieth Century"/>
                <a:sym typeface="Twentieth Century"/>
              </a:rPr>
              <a:t>Green trend(ENVIRONMENT RELATED, CROPS, RECYCLING, PAPERS FROM TREES FOR CLEAN ENVIRONMENT)</a:t>
            </a:r>
            <a:endParaRPr/>
          </a:p>
          <a:p>
            <a:pPr indent="-457200" lvl="0" marL="457200" rtl="0" algn="l">
              <a:lnSpc>
                <a:spcPct val="100000"/>
              </a:lnSpc>
              <a:spcBef>
                <a:spcPts val="200"/>
              </a:spcBef>
              <a:spcAft>
                <a:spcPts val="0"/>
              </a:spcAft>
              <a:buSzPts val="2400"/>
              <a:buFont typeface="Courier New"/>
              <a:buChar char="o"/>
            </a:pPr>
            <a:r>
              <a:rPr lang="en-US" sz="2400">
                <a:latin typeface="Twentieth Century"/>
                <a:ea typeface="Twentieth Century"/>
                <a:cs typeface="Twentieth Century"/>
                <a:sym typeface="Twentieth Century"/>
              </a:rPr>
              <a:t>Payments(ATM, ONLINE EASYPAISA NAYAPAY ETC)</a:t>
            </a:r>
            <a:endParaRPr/>
          </a:p>
          <a:p>
            <a:pPr indent="-457200" lvl="0" marL="457200" rtl="0" algn="l">
              <a:lnSpc>
                <a:spcPct val="100000"/>
              </a:lnSpc>
              <a:spcBef>
                <a:spcPts val="200"/>
              </a:spcBef>
              <a:spcAft>
                <a:spcPts val="0"/>
              </a:spcAft>
              <a:buSzPts val="2400"/>
              <a:buFont typeface="Courier New"/>
              <a:buChar char="o"/>
            </a:pPr>
            <a:r>
              <a:rPr lang="en-US" sz="2400">
                <a:latin typeface="Twentieth Century"/>
                <a:ea typeface="Twentieth Century"/>
                <a:cs typeface="Twentieth Century"/>
                <a:sym typeface="Twentieth Century"/>
              </a:rPr>
              <a:t>Maker trend</a:t>
            </a:r>
            <a:endParaRPr/>
          </a:p>
          <a:p>
            <a:pPr indent="-457200" lvl="0" marL="457200" rtl="0" algn="l">
              <a:lnSpc>
                <a:spcPct val="100000"/>
              </a:lnSpc>
              <a:spcBef>
                <a:spcPts val="200"/>
              </a:spcBef>
              <a:spcAft>
                <a:spcPts val="0"/>
              </a:spcAft>
              <a:buSzPts val="2400"/>
              <a:buFont typeface="Courier New"/>
              <a:buChar char="o"/>
            </a:pPr>
            <a:r>
              <a:rPr lang="en-US" sz="2400">
                <a:latin typeface="Twentieth Century"/>
                <a:ea typeface="Twentieth Century"/>
                <a:cs typeface="Twentieth Century"/>
                <a:sym typeface="Twentieth Century"/>
              </a:rPr>
              <a:t>Mobile trend        </a:t>
            </a:r>
            <a:r>
              <a:rPr lang="en-US" sz="2400">
                <a:solidFill>
                  <a:srgbClr val="00B0F0"/>
                </a:solidFill>
                <a:latin typeface="Twentieth Century"/>
                <a:ea typeface="Twentieth Century"/>
                <a:cs typeface="Twentieth Century"/>
                <a:sym typeface="Twentieth Century"/>
              </a:rPr>
              <a:t>( Industry exceeded $7.8 billion)</a:t>
            </a:r>
            <a:endParaRPr/>
          </a:p>
          <a:p>
            <a:pPr indent="-457200" lvl="0" marL="457200" rtl="0" algn="l">
              <a:lnSpc>
                <a:spcPct val="100000"/>
              </a:lnSpc>
              <a:spcBef>
                <a:spcPts val="200"/>
              </a:spcBef>
              <a:spcAft>
                <a:spcPts val="0"/>
              </a:spcAft>
              <a:buSzPts val="2400"/>
              <a:buFont typeface="Courier New"/>
              <a:buChar char="o"/>
            </a:pPr>
            <a:r>
              <a:rPr lang="en-US" sz="2400">
                <a:latin typeface="Twentieth Century"/>
                <a:ea typeface="Twentieth Century"/>
                <a:cs typeface="Twentieth Century"/>
                <a:sym typeface="Twentieth Century"/>
              </a:rPr>
              <a:t>Health trends(DIET KETO DIET PHYSICAL FITNESS YOGA THERAPY MENTAL THERAPY FITTESS APPS SMART WATCHES)</a:t>
            </a:r>
            <a:endParaRPr/>
          </a:p>
          <a:p>
            <a:pPr indent="-457200" lvl="0" marL="457200" rtl="0" algn="l">
              <a:lnSpc>
                <a:spcPct val="100000"/>
              </a:lnSpc>
              <a:spcBef>
                <a:spcPts val="200"/>
              </a:spcBef>
              <a:spcAft>
                <a:spcPts val="0"/>
              </a:spcAft>
              <a:buSzPts val="2400"/>
              <a:buFont typeface="Courier New"/>
              <a:buChar char="o"/>
            </a:pPr>
            <a:r>
              <a:rPr lang="en-US" sz="2400">
                <a:latin typeface="Twentieth Century"/>
                <a:ea typeface="Twentieth Century"/>
                <a:cs typeface="Twentieth Century"/>
                <a:sym typeface="Twentieth Century"/>
              </a:rPr>
              <a:t>The Internet of things  </a:t>
            </a:r>
            <a:r>
              <a:rPr lang="en-US" sz="2400">
                <a:solidFill>
                  <a:srgbClr val="00B0F0"/>
                </a:solidFill>
                <a:latin typeface="Twentieth Century"/>
                <a:ea typeface="Twentieth Century"/>
                <a:cs typeface="Twentieth Century"/>
                <a:sym typeface="Twentieth Century"/>
              </a:rPr>
              <a:t>(by 2020, more than 26 billion devices)</a:t>
            </a:r>
            <a:endParaRPr b="1" sz="2400">
              <a:solidFill>
                <a:srgbClr val="00B0F0"/>
              </a:solidFill>
              <a:latin typeface="Twentieth Century"/>
              <a:ea typeface="Twentieth Century"/>
              <a:cs typeface="Twentieth Century"/>
              <a:sym typeface="Twentieth Century"/>
            </a:endParaRPr>
          </a:p>
        </p:txBody>
      </p:sp>
      <p:pic>
        <p:nvPicPr>
          <p:cNvPr id="244" name="Google Shape;244;p3"/>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48" name="Shape 248"/>
        <p:cNvGrpSpPr/>
        <p:nvPr/>
      </p:nvGrpSpPr>
      <p:grpSpPr>
        <a:xfrm>
          <a:off x="0" y="0"/>
          <a:ext cx="0" cy="0"/>
          <a:chOff x="0" y="0"/>
          <a:chExt cx="0" cy="0"/>
        </a:xfrm>
      </p:grpSpPr>
      <p:sp>
        <p:nvSpPr>
          <p:cNvPr id="249" name="Google Shape;249;p4"/>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r>
              <a:rPr b="1" lang="en-US" sz="3600">
                <a:solidFill>
                  <a:schemeClr val="dk1"/>
                </a:solidFill>
                <a:latin typeface="Calibri"/>
                <a:ea typeface="Calibri"/>
                <a:cs typeface="Calibri"/>
                <a:sym typeface="Calibri"/>
              </a:rPr>
              <a:t>CHAPTER 4</a:t>
            </a:r>
            <a:br>
              <a:rPr b="1" lang="en-US" sz="3600">
                <a:solidFill>
                  <a:srgbClr val="7030A0"/>
                </a:solidFill>
                <a:latin typeface="Calibri"/>
                <a:ea typeface="Calibri"/>
                <a:cs typeface="Calibri"/>
                <a:sym typeface="Calibri"/>
              </a:rPr>
            </a:br>
            <a:r>
              <a:rPr b="1" lang="en-US" sz="3600">
                <a:solidFill>
                  <a:srgbClr val="00B0F0"/>
                </a:solidFill>
              </a:rPr>
              <a:t>CREATIVITY AND THE BUSINESS IDEA</a:t>
            </a:r>
            <a:endParaRPr sz="3600">
              <a:solidFill>
                <a:schemeClr val="accent1"/>
              </a:solidFill>
              <a:latin typeface="Calibri"/>
              <a:ea typeface="Calibri"/>
              <a:cs typeface="Calibri"/>
              <a:sym typeface="Calibri"/>
            </a:endParaRPr>
          </a:p>
        </p:txBody>
      </p:sp>
      <p:sp>
        <p:nvSpPr>
          <p:cNvPr id="250" name="Google Shape;250;p4"/>
          <p:cNvSpPr txBox="1"/>
          <p:nvPr>
            <p:ph idx="1" type="subTitle"/>
          </p:nvPr>
        </p:nvSpPr>
        <p:spPr>
          <a:xfrm>
            <a:off x="1187355" y="1928812"/>
            <a:ext cx="10399593" cy="4744943"/>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SzPts val="2400"/>
              <a:buNone/>
            </a:pPr>
            <a:r>
              <a:rPr b="1" lang="en-US" sz="2400">
                <a:solidFill>
                  <a:srgbClr val="7030A0"/>
                </a:solidFill>
              </a:rPr>
              <a:t>SOURCES FOR NEW BUSINESS IDEAS</a:t>
            </a:r>
            <a:endParaRPr b="1" sz="2400">
              <a:latin typeface="Twentieth Century"/>
              <a:ea typeface="Twentieth Century"/>
              <a:cs typeface="Twentieth Century"/>
              <a:sym typeface="Twentieth Century"/>
            </a:endParaRPr>
          </a:p>
          <a:p>
            <a:pPr indent="0" lvl="0" marL="0" rtl="0" algn="l">
              <a:lnSpc>
                <a:spcPct val="150000"/>
              </a:lnSpc>
              <a:spcBef>
                <a:spcPts val="200"/>
              </a:spcBef>
              <a:spcAft>
                <a:spcPts val="0"/>
              </a:spcAft>
              <a:buSzPts val="2400"/>
              <a:buNone/>
            </a:pPr>
            <a:r>
              <a:t/>
            </a:r>
            <a:endParaRPr b="1" sz="2400">
              <a:solidFill>
                <a:srgbClr val="00B050"/>
              </a:solidFill>
            </a:endParaRPr>
          </a:p>
          <a:p>
            <a:pPr indent="-342900" lvl="0" marL="342900" rtl="0" algn="just">
              <a:lnSpc>
                <a:spcPct val="90000"/>
              </a:lnSpc>
              <a:spcBef>
                <a:spcPts val="200"/>
              </a:spcBef>
              <a:spcAft>
                <a:spcPts val="0"/>
              </a:spcAft>
              <a:buSzPts val="2400"/>
              <a:buFont typeface="Noto Sans Symbols"/>
              <a:buChar char="▪"/>
            </a:pPr>
            <a:r>
              <a:rPr b="1" lang="en-US" sz="2400">
                <a:solidFill>
                  <a:srgbClr val="00B050"/>
                </a:solidFill>
              </a:rPr>
              <a:t>Existing Products and Services ( Sam Walton)(ATMS COMPANY AND THEN ANOTHER COMPANY CAME AND INTRODUCE ONLINE PAYMENT)</a:t>
            </a:r>
            <a:endParaRPr/>
          </a:p>
          <a:p>
            <a:pPr indent="-342900" lvl="0" marL="342900" rtl="0" algn="just">
              <a:lnSpc>
                <a:spcPct val="90000"/>
              </a:lnSpc>
              <a:spcBef>
                <a:spcPts val="200"/>
              </a:spcBef>
              <a:spcAft>
                <a:spcPts val="0"/>
              </a:spcAft>
              <a:buSzPts val="2400"/>
              <a:buFont typeface="Noto Sans Symbols"/>
              <a:buChar char="▪"/>
            </a:pPr>
            <a:r>
              <a:rPr b="1" lang="en-US" sz="2400">
                <a:solidFill>
                  <a:srgbClr val="00B050"/>
                </a:solidFill>
              </a:rPr>
              <a:t>Distribution Channels (THEY KNOW ABOUT MARKET AND CUSTOMER DEMANS)</a:t>
            </a:r>
            <a:endParaRPr/>
          </a:p>
          <a:p>
            <a:pPr indent="-342900" lvl="0" marL="342900" rtl="0" algn="just">
              <a:lnSpc>
                <a:spcPct val="90000"/>
              </a:lnSpc>
              <a:spcBef>
                <a:spcPts val="200"/>
              </a:spcBef>
              <a:spcAft>
                <a:spcPts val="0"/>
              </a:spcAft>
              <a:buSzPts val="2400"/>
              <a:buFont typeface="Noto Sans Symbols"/>
              <a:buChar char="▪"/>
            </a:pPr>
            <a:r>
              <a:rPr b="1" lang="en-US" sz="2400">
                <a:solidFill>
                  <a:srgbClr val="00B050"/>
                </a:solidFill>
              </a:rPr>
              <a:t>Research and Development(GOOGLE FACEBOOK AMAZON ETC COMPANIES)</a:t>
            </a:r>
            <a:endParaRPr/>
          </a:p>
          <a:p>
            <a:pPr indent="-342900" lvl="0" marL="342900" rtl="0" algn="just">
              <a:lnSpc>
                <a:spcPct val="90000"/>
              </a:lnSpc>
              <a:spcBef>
                <a:spcPts val="200"/>
              </a:spcBef>
              <a:spcAft>
                <a:spcPts val="0"/>
              </a:spcAft>
              <a:buSzPts val="2400"/>
              <a:buFont typeface="Noto Sans Symbols"/>
              <a:buChar char="▪"/>
            </a:pPr>
            <a:r>
              <a:rPr b="1" lang="en-US" sz="2400">
                <a:solidFill>
                  <a:srgbClr val="00B050"/>
                </a:solidFill>
                <a:latin typeface="Twentieth Century"/>
                <a:ea typeface="Twentieth Century"/>
                <a:cs typeface="Twentieth Century"/>
                <a:sym typeface="Twentieth Century"/>
              </a:rPr>
              <a:t>IDEAS FROM CONSUMERS </a:t>
            </a:r>
            <a:endParaRPr/>
          </a:p>
        </p:txBody>
      </p:sp>
      <p:pic>
        <p:nvPicPr>
          <p:cNvPr id="251" name="Google Shape;251;p4"/>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animEffect filter="fade" transition="in">
                                      <p:cBhvr>
                                        <p:cTn dur="1000"/>
                                        <p:tgtEl>
                                          <p:spTgt spid="2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1" st="1"/>
                                            </p:txEl>
                                          </p:spTgt>
                                        </p:tgtEl>
                                        <p:attrNameLst>
                                          <p:attrName>style.visibility</p:attrName>
                                        </p:attrNameLst>
                                      </p:cBhvr>
                                      <p:to>
                                        <p:strVal val="visible"/>
                                      </p:to>
                                    </p:set>
                                    <p:animEffect filter="fade" transition="in">
                                      <p:cBhvr>
                                        <p:cTn dur="1000"/>
                                        <p:tgtEl>
                                          <p:spTgt spid="2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2" st="2"/>
                                            </p:txEl>
                                          </p:spTgt>
                                        </p:tgtEl>
                                        <p:attrNameLst>
                                          <p:attrName>style.visibility</p:attrName>
                                        </p:attrNameLst>
                                      </p:cBhvr>
                                      <p:to>
                                        <p:strVal val="visible"/>
                                      </p:to>
                                    </p:set>
                                    <p:animEffect filter="fade" transition="in">
                                      <p:cBhvr>
                                        <p:cTn dur="1000"/>
                                        <p:tgtEl>
                                          <p:spTgt spid="2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3" st="3"/>
                                            </p:txEl>
                                          </p:spTgt>
                                        </p:tgtEl>
                                        <p:attrNameLst>
                                          <p:attrName>style.visibility</p:attrName>
                                        </p:attrNameLst>
                                      </p:cBhvr>
                                      <p:to>
                                        <p:strVal val="visible"/>
                                      </p:to>
                                    </p:set>
                                    <p:animEffect filter="fade" transition="in">
                                      <p:cBhvr>
                                        <p:cTn dur="1000"/>
                                        <p:tgtEl>
                                          <p:spTgt spid="2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4" st="4"/>
                                            </p:txEl>
                                          </p:spTgt>
                                        </p:tgtEl>
                                        <p:attrNameLst>
                                          <p:attrName>style.visibility</p:attrName>
                                        </p:attrNameLst>
                                      </p:cBhvr>
                                      <p:to>
                                        <p:strVal val="visible"/>
                                      </p:to>
                                    </p:set>
                                    <p:animEffect filter="fade" transition="in">
                                      <p:cBhvr>
                                        <p:cTn dur="1000"/>
                                        <p:tgtEl>
                                          <p:spTgt spid="2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5" st="5"/>
                                            </p:txEl>
                                          </p:spTgt>
                                        </p:tgtEl>
                                        <p:attrNameLst>
                                          <p:attrName>style.visibility</p:attrName>
                                        </p:attrNameLst>
                                      </p:cBhvr>
                                      <p:to>
                                        <p:strVal val="visible"/>
                                      </p:to>
                                    </p:set>
                                    <p:animEffect filter="fade" transition="in">
                                      <p:cBhvr>
                                        <p:cTn dur="1000"/>
                                        <p:tgtEl>
                                          <p:spTgt spid="25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55" name="Shape 255"/>
        <p:cNvGrpSpPr/>
        <p:nvPr/>
      </p:nvGrpSpPr>
      <p:grpSpPr>
        <a:xfrm>
          <a:off x="0" y="0"/>
          <a:ext cx="0" cy="0"/>
          <a:chOff x="0" y="0"/>
          <a:chExt cx="0" cy="0"/>
        </a:xfrm>
      </p:grpSpPr>
      <p:sp>
        <p:nvSpPr>
          <p:cNvPr id="256" name="Google Shape;256;p5"/>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r>
              <a:rPr b="1" lang="en-US" sz="3600">
                <a:solidFill>
                  <a:schemeClr val="dk1"/>
                </a:solidFill>
                <a:latin typeface="Calibri"/>
                <a:ea typeface="Calibri"/>
                <a:cs typeface="Calibri"/>
                <a:sym typeface="Calibri"/>
              </a:rPr>
              <a:t>CHAPTER 4</a:t>
            </a:r>
            <a:br>
              <a:rPr b="1" lang="en-US" sz="3600">
                <a:solidFill>
                  <a:srgbClr val="7030A0"/>
                </a:solidFill>
                <a:latin typeface="Calibri"/>
                <a:ea typeface="Calibri"/>
                <a:cs typeface="Calibri"/>
                <a:sym typeface="Calibri"/>
              </a:rPr>
            </a:br>
            <a:r>
              <a:rPr b="1" lang="en-US" sz="3600">
                <a:solidFill>
                  <a:srgbClr val="00B0F0"/>
                </a:solidFill>
              </a:rPr>
              <a:t>CREATIVITY AND THE BUSINESS IDEA</a:t>
            </a:r>
            <a:endParaRPr sz="3600">
              <a:solidFill>
                <a:schemeClr val="accent1"/>
              </a:solidFill>
              <a:latin typeface="Calibri"/>
              <a:ea typeface="Calibri"/>
              <a:cs typeface="Calibri"/>
              <a:sym typeface="Calibri"/>
            </a:endParaRPr>
          </a:p>
        </p:txBody>
      </p:sp>
      <p:sp>
        <p:nvSpPr>
          <p:cNvPr id="257" name="Google Shape;257;p5"/>
          <p:cNvSpPr txBox="1"/>
          <p:nvPr>
            <p:ph idx="1" type="subTitle"/>
          </p:nvPr>
        </p:nvSpPr>
        <p:spPr>
          <a:xfrm>
            <a:off x="1187355" y="1928812"/>
            <a:ext cx="10399593" cy="4744943"/>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150000"/>
              </a:lnSpc>
              <a:spcBef>
                <a:spcPts val="0"/>
              </a:spcBef>
              <a:spcAft>
                <a:spcPts val="0"/>
              </a:spcAft>
              <a:buSzPct val="100000"/>
              <a:buNone/>
            </a:pPr>
            <a:r>
              <a:t/>
            </a:r>
            <a:endParaRPr b="1" sz="2400">
              <a:latin typeface="Twentieth Century"/>
              <a:ea typeface="Twentieth Century"/>
              <a:cs typeface="Twentieth Century"/>
              <a:sym typeface="Twentieth Century"/>
            </a:endParaRPr>
          </a:p>
          <a:p>
            <a:pPr indent="0" lvl="0" marL="0" rtl="0" algn="just">
              <a:lnSpc>
                <a:spcPct val="90000"/>
              </a:lnSpc>
              <a:spcBef>
                <a:spcPts val="200"/>
              </a:spcBef>
              <a:spcAft>
                <a:spcPts val="0"/>
              </a:spcAft>
              <a:buSzPct val="100000"/>
              <a:buNone/>
            </a:pPr>
            <a:r>
              <a:t/>
            </a:r>
            <a:endParaRPr b="1" sz="2400">
              <a:solidFill>
                <a:srgbClr val="00B050"/>
              </a:solidFill>
            </a:endParaRPr>
          </a:p>
          <a:p>
            <a:pPr indent="0" lvl="0" marL="0" rtl="0" algn="just">
              <a:lnSpc>
                <a:spcPct val="90000"/>
              </a:lnSpc>
              <a:spcBef>
                <a:spcPts val="200"/>
              </a:spcBef>
              <a:spcAft>
                <a:spcPts val="0"/>
              </a:spcAft>
              <a:buSzPct val="100000"/>
              <a:buNone/>
            </a:pPr>
            <a:r>
              <a:t/>
            </a:r>
            <a:endParaRPr b="1" sz="2400">
              <a:solidFill>
                <a:srgbClr val="00B050"/>
              </a:solidFill>
            </a:endParaRPr>
          </a:p>
          <a:p>
            <a:pPr indent="0" lvl="0" marL="0" rtl="0" algn="just">
              <a:lnSpc>
                <a:spcPct val="90000"/>
              </a:lnSpc>
              <a:spcBef>
                <a:spcPts val="200"/>
              </a:spcBef>
              <a:spcAft>
                <a:spcPts val="0"/>
              </a:spcAft>
              <a:buSzPct val="100000"/>
              <a:buNone/>
            </a:pPr>
            <a:r>
              <a:rPr b="1" lang="en-US" sz="2400">
                <a:solidFill>
                  <a:srgbClr val="00B050"/>
                </a:solidFill>
              </a:rPr>
              <a:t>Needs:</a:t>
            </a:r>
            <a:r>
              <a:rPr lang="en-US" sz="2400">
                <a:solidFill>
                  <a:srgbClr val="00B050"/>
                </a:solidFill>
              </a:rPr>
              <a:t> </a:t>
            </a:r>
            <a:endParaRPr/>
          </a:p>
          <a:p>
            <a:pPr indent="0" lvl="0" marL="0" rtl="0" algn="just">
              <a:lnSpc>
                <a:spcPct val="90000"/>
              </a:lnSpc>
              <a:spcBef>
                <a:spcPts val="200"/>
              </a:spcBef>
              <a:spcAft>
                <a:spcPts val="0"/>
              </a:spcAft>
              <a:buSzPct val="100000"/>
              <a:buNone/>
            </a:pPr>
            <a:r>
              <a:rPr lang="en-US" sz="2400"/>
              <a:t>Human needs are states of felt deprivation. (Physical needs for food, clothing, warmth, and safety)</a:t>
            </a:r>
            <a:endParaRPr/>
          </a:p>
          <a:p>
            <a:pPr indent="0" lvl="0" marL="0" rtl="0" algn="just">
              <a:lnSpc>
                <a:spcPct val="90000"/>
              </a:lnSpc>
              <a:spcBef>
                <a:spcPts val="200"/>
              </a:spcBef>
              <a:spcAft>
                <a:spcPts val="0"/>
              </a:spcAft>
              <a:buSzPct val="100000"/>
              <a:buNone/>
            </a:pPr>
            <a:r>
              <a:t/>
            </a:r>
            <a:endParaRPr sz="2400"/>
          </a:p>
          <a:p>
            <a:pPr indent="0" lvl="0" marL="0" rtl="0" algn="l">
              <a:lnSpc>
                <a:spcPct val="90000"/>
              </a:lnSpc>
              <a:spcBef>
                <a:spcPts val="200"/>
              </a:spcBef>
              <a:spcAft>
                <a:spcPts val="0"/>
              </a:spcAft>
              <a:buSzPct val="100000"/>
              <a:buNone/>
            </a:pPr>
            <a:r>
              <a:rPr b="1" lang="en-US" sz="2400">
                <a:solidFill>
                  <a:srgbClr val="00B050"/>
                </a:solidFill>
              </a:rPr>
              <a:t>Wants:</a:t>
            </a:r>
            <a:endParaRPr b="1" sz="1600"/>
          </a:p>
          <a:p>
            <a:pPr indent="0" lvl="0" marL="0" rtl="0" algn="just">
              <a:lnSpc>
                <a:spcPct val="90000"/>
              </a:lnSpc>
              <a:spcBef>
                <a:spcPts val="200"/>
              </a:spcBef>
              <a:spcAft>
                <a:spcPts val="0"/>
              </a:spcAft>
              <a:buSzPct val="100000"/>
              <a:buNone/>
            </a:pPr>
            <a:r>
              <a:rPr lang="en-US" sz="2400"/>
              <a:t>Want are the form taken by human needs as they are shaped by culture and individual personality.</a:t>
            </a:r>
            <a:endParaRPr/>
          </a:p>
          <a:p>
            <a:pPr indent="0" lvl="0" marL="0" rtl="0" algn="just">
              <a:lnSpc>
                <a:spcPct val="90000"/>
              </a:lnSpc>
              <a:spcBef>
                <a:spcPts val="200"/>
              </a:spcBef>
              <a:spcAft>
                <a:spcPts val="0"/>
              </a:spcAft>
              <a:buSzPct val="100000"/>
              <a:buNone/>
            </a:pPr>
            <a:r>
              <a:rPr lang="en-US" sz="2400"/>
              <a:t>People have almost unlimited wants but limited resources.</a:t>
            </a:r>
            <a:endParaRPr/>
          </a:p>
          <a:p>
            <a:pPr indent="0" lvl="0" marL="0" rtl="0" algn="just">
              <a:lnSpc>
                <a:spcPct val="90000"/>
              </a:lnSpc>
              <a:spcBef>
                <a:spcPts val="200"/>
              </a:spcBef>
              <a:spcAft>
                <a:spcPts val="0"/>
              </a:spcAft>
              <a:buSzPct val="100000"/>
              <a:buNone/>
            </a:pPr>
            <a:r>
              <a:rPr lang="en-US" sz="2400"/>
              <a:t>They want to choose products that provide the most value and satisfaction for their money. </a:t>
            </a:r>
            <a:endParaRPr/>
          </a:p>
          <a:p>
            <a:pPr indent="0" lvl="0" marL="0" rtl="0" algn="just">
              <a:lnSpc>
                <a:spcPct val="90000"/>
              </a:lnSpc>
              <a:spcBef>
                <a:spcPts val="200"/>
              </a:spcBef>
              <a:spcAft>
                <a:spcPts val="0"/>
              </a:spcAft>
              <a:buSzPct val="100000"/>
              <a:buNone/>
            </a:pPr>
            <a:r>
              <a:t/>
            </a:r>
            <a:endParaRPr sz="1600"/>
          </a:p>
          <a:p>
            <a:pPr indent="0" lvl="0" marL="0" rtl="0" algn="l">
              <a:lnSpc>
                <a:spcPct val="90000"/>
              </a:lnSpc>
              <a:spcBef>
                <a:spcPts val="200"/>
              </a:spcBef>
              <a:spcAft>
                <a:spcPts val="0"/>
              </a:spcAft>
              <a:buSzPct val="100000"/>
              <a:buNone/>
            </a:pPr>
            <a:r>
              <a:rPr b="1" lang="en-US" sz="2400">
                <a:solidFill>
                  <a:srgbClr val="00B050"/>
                </a:solidFill>
              </a:rPr>
              <a:t>Demands: </a:t>
            </a:r>
            <a:endParaRPr sz="2400"/>
          </a:p>
          <a:p>
            <a:pPr indent="0" lvl="0" marL="0" rtl="0" algn="just">
              <a:lnSpc>
                <a:spcPct val="90000"/>
              </a:lnSpc>
              <a:spcBef>
                <a:spcPts val="200"/>
              </a:spcBef>
              <a:spcAft>
                <a:spcPts val="0"/>
              </a:spcAft>
              <a:buSzPct val="100000"/>
              <a:buNone/>
            </a:pPr>
            <a:r>
              <a:rPr lang="en-US" sz="2400"/>
              <a:t>When backed by buying power, wants become demands.</a:t>
            </a:r>
            <a:endParaRPr/>
          </a:p>
          <a:p>
            <a:pPr indent="0" lvl="0" marL="0" rtl="0" algn="just">
              <a:lnSpc>
                <a:spcPct val="90000"/>
              </a:lnSpc>
              <a:spcBef>
                <a:spcPts val="200"/>
              </a:spcBef>
              <a:spcAft>
                <a:spcPts val="0"/>
              </a:spcAft>
              <a:buSzPct val="100000"/>
              <a:buNone/>
            </a:pPr>
            <a:r>
              <a:rPr lang="en-US" sz="2400"/>
              <a:t>Consumers view products as bundles of benefits and choose products that give them the best bundle for their money.</a:t>
            </a:r>
            <a:endParaRPr b="1" sz="2400">
              <a:latin typeface="Twentieth Century"/>
              <a:ea typeface="Twentieth Century"/>
              <a:cs typeface="Twentieth Century"/>
              <a:sym typeface="Twentieth Century"/>
            </a:endParaRPr>
          </a:p>
          <a:p>
            <a:pPr indent="0" lvl="0" marL="0" rtl="0" algn="l">
              <a:lnSpc>
                <a:spcPct val="150000"/>
              </a:lnSpc>
              <a:spcBef>
                <a:spcPts val="200"/>
              </a:spcBef>
              <a:spcAft>
                <a:spcPts val="0"/>
              </a:spcAft>
              <a:buSzPct val="100000"/>
              <a:buNone/>
            </a:pPr>
            <a:r>
              <a:t/>
            </a:r>
            <a:endParaRPr b="1" sz="2800">
              <a:solidFill>
                <a:srgbClr val="7030A0"/>
              </a:solidFill>
              <a:latin typeface="Twentieth Century"/>
              <a:ea typeface="Twentieth Century"/>
              <a:cs typeface="Twentieth Century"/>
              <a:sym typeface="Twentieth Century"/>
            </a:endParaRPr>
          </a:p>
        </p:txBody>
      </p:sp>
      <p:pic>
        <p:nvPicPr>
          <p:cNvPr id="258" name="Google Shape;258;p5"/>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62" name="Shape 262"/>
        <p:cNvGrpSpPr/>
        <p:nvPr/>
      </p:nvGrpSpPr>
      <p:grpSpPr>
        <a:xfrm>
          <a:off x="0" y="0"/>
          <a:ext cx="0" cy="0"/>
          <a:chOff x="0" y="0"/>
          <a:chExt cx="0" cy="0"/>
        </a:xfrm>
      </p:grpSpPr>
      <p:sp>
        <p:nvSpPr>
          <p:cNvPr id="263" name="Google Shape;263;p6"/>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r>
              <a:rPr b="1" lang="en-US" sz="3600">
                <a:solidFill>
                  <a:schemeClr val="dk1"/>
                </a:solidFill>
                <a:latin typeface="Calibri"/>
                <a:ea typeface="Calibri"/>
                <a:cs typeface="Calibri"/>
                <a:sym typeface="Calibri"/>
              </a:rPr>
              <a:t>CHAPTER 4</a:t>
            </a:r>
            <a:br>
              <a:rPr b="1" lang="en-US" sz="3600">
                <a:solidFill>
                  <a:srgbClr val="7030A0"/>
                </a:solidFill>
                <a:latin typeface="Calibri"/>
                <a:ea typeface="Calibri"/>
                <a:cs typeface="Calibri"/>
                <a:sym typeface="Calibri"/>
              </a:rPr>
            </a:br>
            <a:r>
              <a:rPr b="1" lang="en-US" sz="3600">
                <a:solidFill>
                  <a:srgbClr val="00B0F0"/>
                </a:solidFill>
              </a:rPr>
              <a:t>CREATIVITY AND THE BUSINESS IDEA</a:t>
            </a:r>
            <a:endParaRPr sz="3600">
              <a:solidFill>
                <a:schemeClr val="accent1"/>
              </a:solidFill>
              <a:latin typeface="Calibri"/>
              <a:ea typeface="Calibri"/>
              <a:cs typeface="Calibri"/>
              <a:sym typeface="Calibri"/>
            </a:endParaRPr>
          </a:p>
        </p:txBody>
      </p:sp>
      <p:sp>
        <p:nvSpPr>
          <p:cNvPr id="264" name="Google Shape;264;p6"/>
          <p:cNvSpPr txBox="1"/>
          <p:nvPr>
            <p:ph idx="1" type="subTitle"/>
          </p:nvPr>
        </p:nvSpPr>
        <p:spPr>
          <a:xfrm>
            <a:off x="1187355" y="1928812"/>
            <a:ext cx="10399593" cy="4744943"/>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SzPts val="2400"/>
              <a:buNone/>
            </a:pPr>
            <a:r>
              <a:t/>
            </a:r>
            <a:endParaRPr b="1" sz="2400">
              <a:latin typeface="Twentieth Century"/>
              <a:ea typeface="Twentieth Century"/>
              <a:cs typeface="Twentieth Century"/>
              <a:sym typeface="Twentieth Century"/>
            </a:endParaRPr>
          </a:p>
          <a:p>
            <a:pPr indent="0" lvl="0" marL="0" rtl="0" algn="l">
              <a:lnSpc>
                <a:spcPct val="150000"/>
              </a:lnSpc>
              <a:spcBef>
                <a:spcPts val="200"/>
              </a:spcBef>
              <a:spcAft>
                <a:spcPts val="0"/>
              </a:spcAft>
              <a:buSzPts val="2800"/>
              <a:buNone/>
            </a:pPr>
            <a:r>
              <a:rPr b="1" lang="en-US" sz="2800">
                <a:solidFill>
                  <a:srgbClr val="7030A0"/>
                </a:solidFill>
                <a:latin typeface="Twentieth Century"/>
                <a:ea typeface="Twentieth Century"/>
                <a:cs typeface="Twentieth Century"/>
                <a:sym typeface="Twentieth Century"/>
              </a:rPr>
              <a:t>Market Segmentation</a:t>
            </a:r>
            <a:endParaRPr/>
          </a:p>
          <a:p>
            <a:pPr indent="0" lvl="0" marL="0" rtl="0" algn="l">
              <a:lnSpc>
                <a:spcPct val="150000"/>
              </a:lnSpc>
              <a:spcBef>
                <a:spcPts val="200"/>
              </a:spcBef>
              <a:spcAft>
                <a:spcPts val="0"/>
              </a:spcAft>
              <a:buSzPts val="2400"/>
              <a:buNone/>
            </a:pPr>
            <a:r>
              <a:rPr b="1" lang="en-US" sz="2400">
                <a:latin typeface="Twentieth Century"/>
                <a:ea typeface="Twentieth Century"/>
                <a:cs typeface="Twentieth Century"/>
                <a:sym typeface="Twentieth Century"/>
              </a:rPr>
              <a:t>The process of dividing the market into subgroups of similar customers.</a:t>
            </a:r>
            <a:endParaRPr/>
          </a:p>
          <a:p>
            <a:pPr indent="0" lvl="0" marL="0" rtl="0" algn="l">
              <a:lnSpc>
                <a:spcPct val="150000"/>
              </a:lnSpc>
              <a:spcBef>
                <a:spcPts val="200"/>
              </a:spcBef>
              <a:spcAft>
                <a:spcPts val="0"/>
              </a:spcAft>
              <a:buSzPts val="2800"/>
              <a:buNone/>
            </a:pPr>
            <a:r>
              <a:rPr b="1" lang="en-US" sz="2800">
                <a:solidFill>
                  <a:srgbClr val="7030A0"/>
                </a:solidFill>
                <a:latin typeface="Twentieth Century"/>
                <a:ea typeface="Twentieth Century"/>
                <a:cs typeface="Twentieth Century"/>
                <a:sym typeface="Twentieth Century"/>
              </a:rPr>
              <a:t>Market Segment </a:t>
            </a:r>
            <a:endParaRPr/>
          </a:p>
          <a:p>
            <a:pPr indent="0" lvl="0" marL="0" rtl="0" algn="l">
              <a:lnSpc>
                <a:spcPct val="150000"/>
              </a:lnSpc>
              <a:spcBef>
                <a:spcPts val="200"/>
              </a:spcBef>
              <a:spcAft>
                <a:spcPts val="0"/>
              </a:spcAft>
              <a:buSzPts val="2400"/>
              <a:buNone/>
            </a:pPr>
            <a:r>
              <a:rPr b="1" lang="en-US" sz="2400">
                <a:latin typeface="Twentieth Century"/>
                <a:ea typeface="Twentieth Century"/>
                <a:cs typeface="Twentieth Century"/>
                <a:sym typeface="Twentieth Century"/>
              </a:rPr>
              <a:t>Subgroups of people that share similarities which can be used for more efficient seller/buyer relationship.</a:t>
            </a:r>
            <a:endParaRPr/>
          </a:p>
          <a:p>
            <a:pPr indent="0" lvl="0" marL="0" rtl="0" algn="l">
              <a:lnSpc>
                <a:spcPct val="15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50000"/>
              </a:lnSpc>
              <a:spcBef>
                <a:spcPts val="200"/>
              </a:spcBef>
              <a:spcAft>
                <a:spcPts val="0"/>
              </a:spcAft>
              <a:buSzPts val="2400"/>
              <a:buNone/>
            </a:pPr>
            <a:r>
              <a:t/>
            </a:r>
            <a:endParaRPr b="1" sz="2400">
              <a:latin typeface="Twentieth Century"/>
              <a:ea typeface="Twentieth Century"/>
              <a:cs typeface="Twentieth Century"/>
              <a:sym typeface="Twentieth Century"/>
            </a:endParaRPr>
          </a:p>
          <a:p>
            <a:pPr indent="0" lvl="0" marL="0" rtl="0" algn="l">
              <a:lnSpc>
                <a:spcPct val="15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p:txBody>
      </p:sp>
      <p:pic>
        <p:nvPicPr>
          <p:cNvPr id="265" name="Google Shape;265;p6"/>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69" name="Shape 269"/>
        <p:cNvGrpSpPr/>
        <p:nvPr/>
      </p:nvGrpSpPr>
      <p:grpSpPr>
        <a:xfrm>
          <a:off x="0" y="0"/>
          <a:ext cx="0" cy="0"/>
          <a:chOff x="0" y="0"/>
          <a:chExt cx="0" cy="0"/>
        </a:xfrm>
      </p:grpSpPr>
      <p:sp>
        <p:nvSpPr>
          <p:cNvPr id="270" name="Google Shape;270;p7"/>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br>
              <a:rPr b="1" lang="en-US" sz="3600">
                <a:solidFill>
                  <a:schemeClr val="dk1"/>
                </a:solidFill>
                <a:latin typeface="Calibri"/>
                <a:ea typeface="Calibri"/>
                <a:cs typeface="Calibri"/>
                <a:sym typeface="Calibri"/>
              </a:rPr>
            </a:br>
            <a:r>
              <a:rPr b="1" lang="en-US" sz="3600">
                <a:solidFill>
                  <a:schemeClr val="dk1"/>
                </a:solidFill>
                <a:latin typeface="Calibri"/>
                <a:ea typeface="Calibri"/>
                <a:cs typeface="Calibri"/>
                <a:sym typeface="Calibri"/>
              </a:rPr>
              <a:t>CHAPTER 4</a:t>
            </a:r>
            <a:br>
              <a:rPr b="1" lang="en-US" sz="3600">
                <a:solidFill>
                  <a:srgbClr val="7030A0"/>
                </a:solidFill>
                <a:latin typeface="Calibri"/>
                <a:ea typeface="Calibri"/>
                <a:cs typeface="Calibri"/>
                <a:sym typeface="Calibri"/>
              </a:rPr>
            </a:br>
            <a:r>
              <a:rPr b="1" lang="en-US" sz="3600">
                <a:solidFill>
                  <a:srgbClr val="00B0F0"/>
                </a:solidFill>
              </a:rPr>
              <a:t>CREATIVITY AND THE BUSINESS IDEA</a:t>
            </a:r>
            <a:endParaRPr sz="3600">
              <a:solidFill>
                <a:schemeClr val="accent1"/>
              </a:solidFill>
              <a:latin typeface="Calibri"/>
              <a:ea typeface="Calibri"/>
              <a:cs typeface="Calibri"/>
              <a:sym typeface="Calibri"/>
            </a:endParaRPr>
          </a:p>
        </p:txBody>
      </p:sp>
      <p:sp>
        <p:nvSpPr>
          <p:cNvPr id="271" name="Google Shape;271;p7"/>
          <p:cNvSpPr txBox="1"/>
          <p:nvPr>
            <p:ph idx="1" type="subTitle"/>
          </p:nvPr>
        </p:nvSpPr>
        <p:spPr>
          <a:xfrm>
            <a:off x="1187355" y="1928812"/>
            <a:ext cx="10399593" cy="474494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b="1" lang="en-US" sz="2800">
                <a:solidFill>
                  <a:srgbClr val="7030A0"/>
                </a:solidFill>
                <a:latin typeface="Twentieth Century"/>
                <a:ea typeface="Twentieth Century"/>
                <a:cs typeface="Twentieth Century"/>
                <a:sym typeface="Twentieth Century"/>
              </a:rPr>
              <a:t>How to access segments?</a:t>
            </a:r>
            <a:endParaRPr/>
          </a:p>
          <a:p>
            <a:pPr indent="0" lvl="0" marL="0" rtl="0" algn="l">
              <a:lnSpc>
                <a:spcPct val="100000"/>
              </a:lnSpc>
              <a:spcBef>
                <a:spcPts val="200"/>
              </a:spcBef>
              <a:spcAft>
                <a:spcPts val="0"/>
              </a:spcAft>
              <a:buSzPts val="2800"/>
              <a:buNone/>
            </a:pPr>
            <a:r>
              <a:rPr b="1" lang="en-US" sz="2800"/>
              <a:t>Common used criteria segments should be:</a:t>
            </a:r>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152400" lvl="0" marL="0" rtl="0" algn="l">
              <a:lnSpc>
                <a:spcPct val="100000"/>
              </a:lnSpc>
              <a:spcBef>
                <a:spcPts val="200"/>
              </a:spcBef>
              <a:spcAft>
                <a:spcPts val="0"/>
              </a:spcAft>
              <a:buSzPts val="2400"/>
              <a:buFont typeface="Noto Sans Symbols"/>
              <a:buChar char="▪"/>
            </a:pPr>
            <a:r>
              <a:rPr b="1" lang="en-US" sz="2400">
                <a:latin typeface="Twentieth Century"/>
                <a:ea typeface="Twentieth Century"/>
                <a:cs typeface="Twentieth Century"/>
                <a:sym typeface="Twentieth Century"/>
              </a:rPr>
              <a:t>Substantial</a:t>
            </a:r>
            <a:endParaRPr/>
          </a:p>
          <a:p>
            <a:pPr indent="-152400" lvl="0" marL="0" rtl="0" algn="l">
              <a:lnSpc>
                <a:spcPct val="100000"/>
              </a:lnSpc>
              <a:spcBef>
                <a:spcPts val="200"/>
              </a:spcBef>
              <a:spcAft>
                <a:spcPts val="0"/>
              </a:spcAft>
              <a:buSzPts val="2400"/>
              <a:buFont typeface="Noto Sans Symbols"/>
              <a:buChar char="▪"/>
            </a:pPr>
            <a:r>
              <a:rPr b="1" lang="en-US" sz="2400">
                <a:latin typeface="Twentieth Century"/>
                <a:ea typeface="Twentieth Century"/>
                <a:cs typeface="Twentieth Century"/>
                <a:sym typeface="Twentieth Century"/>
              </a:rPr>
              <a:t>Accessible </a:t>
            </a:r>
            <a:endParaRPr/>
          </a:p>
          <a:p>
            <a:pPr indent="-152400" lvl="0" marL="0" rtl="0" algn="l">
              <a:lnSpc>
                <a:spcPct val="100000"/>
              </a:lnSpc>
              <a:spcBef>
                <a:spcPts val="200"/>
              </a:spcBef>
              <a:spcAft>
                <a:spcPts val="0"/>
              </a:spcAft>
              <a:buSzPts val="2400"/>
              <a:buFont typeface="Noto Sans Symbols"/>
              <a:buChar char="▪"/>
            </a:pPr>
            <a:r>
              <a:rPr b="1" lang="en-US" sz="2400">
                <a:latin typeface="Twentieth Century"/>
                <a:ea typeface="Twentieth Century"/>
                <a:cs typeface="Twentieth Century"/>
                <a:sym typeface="Twentieth Century"/>
              </a:rPr>
              <a:t>Actionable </a:t>
            </a:r>
            <a:endParaRPr/>
          </a:p>
          <a:p>
            <a:pPr indent="-152400" lvl="0" marL="0" rtl="0" algn="l">
              <a:lnSpc>
                <a:spcPct val="100000"/>
              </a:lnSpc>
              <a:spcBef>
                <a:spcPts val="200"/>
              </a:spcBef>
              <a:spcAft>
                <a:spcPts val="0"/>
              </a:spcAft>
              <a:buSzPts val="2400"/>
              <a:buFont typeface="Noto Sans Symbols"/>
              <a:buChar char="▪"/>
            </a:pPr>
            <a:r>
              <a:rPr b="1" lang="en-US" sz="2400">
                <a:latin typeface="Twentieth Century"/>
                <a:ea typeface="Twentieth Century"/>
                <a:cs typeface="Twentieth Century"/>
                <a:sym typeface="Twentieth Century"/>
              </a:rPr>
              <a:t>Differentiable </a:t>
            </a:r>
            <a:endParaRPr/>
          </a:p>
          <a:p>
            <a:pPr indent="-152400" lvl="0" marL="0" rtl="0" algn="l">
              <a:lnSpc>
                <a:spcPct val="100000"/>
              </a:lnSpc>
              <a:spcBef>
                <a:spcPts val="200"/>
              </a:spcBef>
              <a:spcAft>
                <a:spcPts val="0"/>
              </a:spcAft>
              <a:buSzPts val="2400"/>
              <a:buFont typeface="Noto Sans Symbols"/>
              <a:buChar char="▪"/>
            </a:pPr>
            <a:r>
              <a:rPr b="1" lang="en-US" sz="2400"/>
              <a:t>Measurable </a:t>
            </a:r>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5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p:txBody>
      </p:sp>
      <p:pic>
        <p:nvPicPr>
          <p:cNvPr id="272" name="Google Shape;272;p7"/>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1000"/>
                                        <p:tgtEl>
                                          <p:spTgt spid="2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animEffect filter="fade" transition="in">
                                      <p:cBhvr>
                                        <p:cTn dur="1000"/>
                                        <p:tgtEl>
                                          <p:spTgt spid="2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animEffect filter="fade" transition="in">
                                      <p:cBhvr>
                                        <p:cTn dur="1000"/>
                                        <p:tgtEl>
                                          <p:spTgt spid="2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animEffect filter="fade" transition="in">
                                      <p:cBhvr>
                                        <p:cTn dur="1000"/>
                                        <p:tgtEl>
                                          <p:spTgt spid="2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4" st="4"/>
                                            </p:txEl>
                                          </p:spTgt>
                                        </p:tgtEl>
                                        <p:attrNameLst>
                                          <p:attrName>style.visibility</p:attrName>
                                        </p:attrNameLst>
                                      </p:cBhvr>
                                      <p:to>
                                        <p:strVal val="visible"/>
                                      </p:to>
                                    </p:set>
                                    <p:animEffect filter="fade" transition="in">
                                      <p:cBhvr>
                                        <p:cTn dur="1000"/>
                                        <p:tgtEl>
                                          <p:spTgt spid="2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5" st="5"/>
                                            </p:txEl>
                                          </p:spTgt>
                                        </p:tgtEl>
                                        <p:attrNameLst>
                                          <p:attrName>style.visibility</p:attrName>
                                        </p:attrNameLst>
                                      </p:cBhvr>
                                      <p:to>
                                        <p:strVal val="visible"/>
                                      </p:to>
                                    </p:set>
                                    <p:animEffect filter="fade" transition="in">
                                      <p:cBhvr>
                                        <p:cTn dur="1000"/>
                                        <p:tgtEl>
                                          <p:spTgt spid="2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6" st="6"/>
                                            </p:txEl>
                                          </p:spTgt>
                                        </p:tgtEl>
                                        <p:attrNameLst>
                                          <p:attrName>style.visibility</p:attrName>
                                        </p:attrNameLst>
                                      </p:cBhvr>
                                      <p:to>
                                        <p:strVal val="visible"/>
                                      </p:to>
                                    </p:set>
                                    <p:animEffect filter="fade" transition="in">
                                      <p:cBhvr>
                                        <p:cTn dur="1000"/>
                                        <p:tgtEl>
                                          <p:spTgt spid="27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7" st="7"/>
                                            </p:txEl>
                                          </p:spTgt>
                                        </p:tgtEl>
                                        <p:attrNameLst>
                                          <p:attrName>style.visibility</p:attrName>
                                        </p:attrNameLst>
                                      </p:cBhvr>
                                      <p:to>
                                        <p:strVal val="visible"/>
                                      </p:to>
                                    </p:set>
                                    <p:animEffect filter="fade" transition="in">
                                      <p:cBhvr>
                                        <p:cTn dur="1000"/>
                                        <p:tgtEl>
                                          <p:spTgt spid="27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8" st="8"/>
                                            </p:txEl>
                                          </p:spTgt>
                                        </p:tgtEl>
                                        <p:attrNameLst>
                                          <p:attrName>style.visibility</p:attrName>
                                        </p:attrNameLst>
                                      </p:cBhvr>
                                      <p:to>
                                        <p:strVal val="visible"/>
                                      </p:to>
                                    </p:set>
                                    <p:animEffect filter="fade" transition="in">
                                      <p:cBhvr>
                                        <p:cTn dur="1000"/>
                                        <p:tgtEl>
                                          <p:spTgt spid="27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9" st="9"/>
                                            </p:txEl>
                                          </p:spTgt>
                                        </p:tgtEl>
                                        <p:attrNameLst>
                                          <p:attrName>style.visibility</p:attrName>
                                        </p:attrNameLst>
                                      </p:cBhvr>
                                      <p:to>
                                        <p:strVal val="visible"/>
                                      </p:to>
                                    </p:set>
                                    <p:animEffect filter="fade" transition="in">
                                      <p:cBhvr>
                                        <p:cTn dur="1000"/>
                                        <p:tgtEl>
                                          <p:spTgt spid="27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76" name="Shape 276"/>
        <p:cNvGrpSpPr/>
        <p:nvPr/>
      </p:nvGrpSpPr>
      <p:grpSpPr>
        <a:xfrm>
          <a:off x="0" y="0"/>
          <a:ext cx="0" cy="0"/>
          <a:chOff x="0" y="0"/>
          <a:chExt cx="0" cy="0"/>
        </a:xfrm>
      </p:grpSpPr>
      <p:sp>
        <p:nvSpPr>
          <p:cNvPr id="277" name="Google Shape;277;p8"/>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r>
              <a:rPr b="1" lang="en-US" sz="3600">
                <a:solidFill>
                  <a:schemeClr val="dk1"/>
                </a:solidFill>
                <a:latin typeface="Calibri"/>
                <a:ea typeface="Calibri"/>
                <a:cs typeface="Calibri"/>
                <a:sym typeface="Calibri"/>
              </a:rPr>
              <a:t>CHAPTER 4</a:t>
            </a:r>
            <a:br>
              <a:rPr b="1" lang="en-US" sz="3600">
                <a:solidFill>
                  <a:srgbClr val="7030A0"/>
                </a:solidFill>
                <a:latin typeface="Calibri"/>
                <a:ea typeface="Calibri"/>
                <a:cs typeface="Calibri"/>
                <a:sym typeface="Calibri"/>
              </a:rPr>
            </a:br>
            <a:r>
              <a:rPr b="1" lang="en-US" sz="3600">
                <a:solidFill>
                  <a:srgbClr val="00B0F0"/>
                </a:solidFill>
              </a:rPr>
              <a:t>CREATIVITY AND THE BUSINESS IDEA</a:t>
            </a:r>
            <a:endParaRPr sz="3600">
              <a:solidFill>
                <a:schemeClr val="accent1"/>
              </a:solidFill>
              <a:latin typeface="Calibri"/>
              <a:ea typeface="Calibri"/>
              <a:cs typeface="Calibri"/>
              <a:sym typeface="Calibri"/>
            </a:endParaRPr>
          </a:p>
        </p:txBody>
      </p:sp>
      <p:sp>
        <p:nvSpPr>
          <p:cNvPr id="278" name="Google Shape;278;p8"/>
          <p:cNvSpPr txBox="1"/>
          <p:nvPr>
            <p:ph idx="1" type="subTitle"/>
          </p:nvPr>
        </p:nvSpPr>
        <p:spPr>
          <a:xfrm>
            <a:off x="1187355" y="1928812"/>
            <a:ext cx="10399593" cy="474494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t/>
            </a:r>
            <a:endParaRPr b="1" sz="2800"/>
          </a:p>
          <a:p>
            <a:pPr indent="0" lvl="0" marL="0" rtl="0" algn="l">
              <a:lnSpc>
                <a:spcPct val="100000"/>
              </a:lnSpc>
              <a:spcBef>
                <a:spcPts val="200"/>
              </a:spcBef>
              <a:spcAft>
                <a:spcPts val="0"/>
              </a:spcAft>
              <a:buSzPts val="2800"/>
              <a:buNone/>
            </a:pPr>
            <a:r>
              <a:rPr b="1" lang="en-US" sz="2800">
                <a:solidFill>
                  <a:srgbClr val="7030A0"/>
                </a:solidFill>
                <a:latin typeface="Twentieth Century"/>
                <a:ea typeface="Twentieth Century"/>
                <a:cs typeface="Twentieth Century"/>
                <a:sym typeface="Twentieth Century"/>
              </a:rPr>
              <a:t>Target Market </a:t>
            </a:r>
            <a:endParaRPr/>
          </a:p>
          <a:p>
            <a:pPr indent="0" lvl="0" marL="0" rtl="0" algn="l">
              <a:lnSpc>
                <a:spcPct val="100000"/>
              </a:lnSpc>
              <a:spcBef>
                <a:spcPts val="200"/>
              </a:spcBef>
              <a:spcAft>
                <a:spcPts val="0"/>
              </a:spcAft>
              <a:buSzPts val="2400"/>
              <a:buNone/>
            </a:pPr>
            <a:r>
              <a:rPr b="1" lang="en-US" sz="2400">
                <a:latin typeface="Twentieth Century"/>
                <a:ea typeface="Twentieth Century"/>
                <a:cs typeface="Twentieth Century"/>
                <a:sym typeface="Twentieth Century"/>
              </a:rPr>
              <a:t>Subgroup that present greatest opportunity for targeting.</a:t>
            </a:r>
            <a:endParaRPr/>
          </a:p>
          <a:p>
            <a:pPr indent="0" lvl="0" marL="0" rtl="0" algn="l">
              <a:lnSpc>
                <a:spcPct val="100000"/>
              </a:lnSpc>
              <a:spcBef>
                <a:spcPts val="200"/>
              </a:spcBef>
              <a:spcAft>
                <a:spcPts val="0"/>
              </a:spcAft>
              <a:buSzPts val="2800"/>
              <a:buNone/>
            </a:pPr>
            <a:r>
              <a:rPr b="1" lang="en-US" sz="2800">
                <a:solidFill>
                  <a:srgbClr val="7030A0"/>
                </a:solidFill>
                <a:latin typeface="Twentieth Century"/>
                <a:ea typeface="Twentieth Century"/>
                <a:cs typeface="Twentieth Century"/>
                <a:sym typeface="Twentieth Century"/>
              </a:rPr>
              <a:t>How to select segments for targeting?</a:t>
            </a:r>
            <a:endParaRPr/>
          </a:p>
          <a:p>
            <a:pPr indent="0" lvl="0" marL="0" rtl="0" algn="l">
              <a:lnSpc>
                <a:spcPct val="100000"/>
              </a:lnSpc>
              <a:spcBef>
                <a:spcPts val="200"/>
              </a:spcBef>
              <a:spcAft>
                <a:spcPts val="0"/>
              </a:spcAft>
              <a:buSzPts val="2800"/>
              <a:buNone/>
            </a:pPr>
            <a:r>
              <a:rPr b="1" lang="en-US" sz="2800"/>
              <a:t>Need to take into account:</a:t>
            </a:r>
            <a:endParaRPr/>
          </a:p>
          <a:p>
            <a:pPr indent="-152400" lvl="0" marL="0" rtl="0" algn="l">
              <a:lnSpc>
                <a:spcPct val="100000"/>
              </a:lnSpc>
              <a:spcBef>
                <a:spcPts val="200"/>
              </a:spcBef>
              <a:spcAft>
                <a:spcPts val="0"/>
              </a:spcAft>
              <a:buSzPts val="2400"/>
              <a:buFont typeface="Noto Sans Symbols"/>
              <a:buChar char="▪"/>
            </a:pPr>
            <a:r>
              <a:rPr b="1" lang="en-US" sz="2400">
                <a:latin typeface="Twentieth Century"/>
                <a:ea typeface="Twentieth Century"/>
                <a:cs typeface="Twentieth Century"/>
                <a:sym typeface="Twentieth Century"/>
              </a:rPr>
              <a:t>Available company resources </a:t>
            </a:r>
            <a:endParaRPr/>
          </a:p>
          <a:p>
            <a:pPr indent="-152400" lvl="0" marL="0" rtl="0" algn="l">
              <a:lnSpc>
                <a:spcPct val="100000"/>
              </a:lnSpc>
              <a:spcBef>
                <a:spcPts val="200"/>
              </a:spcBef>
              <a:spcAft>
                <a:spcPts val="0"/>
              </a:spcAft>
              <a:buSzPts val="2400"/>
              <a:buFont typeface="Noto Sans Symbols"/>
              <a:buChar char="▪"/>
            </a:pPr>
            <a:r>
              <a:rPr b="1" lang="en-US" sz="2400">
                <a:latin typeface="Twentieth Century"/>
                <a:ea typeface="Twentieth Century"/>
                <a:cs typeface="Twentieth Century"/>
                <a:sym typeface="Twentieth Century"/>
              </a:rPr>
              <a:t>Segment growth potential </a:t>
            </a:r>
            <a:endParaRPr/>
          </a:p>
          <a:p>
            <a:pPr indent="-152400" lvl="0" marL="0" rtl="0" algn="l">
              <a:lnSpc>
                <a:spcPct val="100000"/>
              </a:lnSpc>
              <a:spcBef>
                <a:spcPts val="200"/>
              </a:spcBef>
              <a:spcAft>
                <a:spcPts val="0"/>
              </a:spcAft>
              <a:buSzPts val="2400"/>
              <a:buFont typeface="Noto Sans Symbols"/>
              <a:buChar char="▪"/>
            </a:pPr>
            <a:r>
              <a:rPr b="1" lang="en-US" sz="2400">
                <a:latin typeface="Twentieth Century"/>
                <a:ea typeface="Twentieth Century"/>
                <a:cs typeface="Twentieth Century"/>
                <a:sym typeface="Twentieth Century"/>
              </a:rPr>
              <a:t>Segment profitability </a:t>
            </a:r>
            <a:endParaRPr/>
          </a:p>
          <a:p>
            <a:pPr indent="-152400" lvl="0" marL="0" rtl="0" algn="l">
              <a:lnSpc>
                <a:spcPct val="100000"/>
              </a:lnSpc>
              <a:spcBef>
                <a:spcPts val="200"/>
              </a:spcBef>
              <a:spcAft>
                <a:spcPts val="0"/>
              </a:spcAft>
              <a:buSzPts val="2400"/>
              <a:buFont typeface="Noto Sans Symbols"/>
              <a:buChar char="▪"/>
            </a:pPr>
            <a:r>
              <a:rPr b="1" lang="en-US" sz="2400">
                <a:latin typeface="Twentieth Century"/>
                <a:ea typeface="Twentieth Century"/>
                <a:cs typeface="Twentieth Century"/>
                <a:sym typeface="Twentieth Century"/>
              </a:rPr>
              <a:t>Competitive environment </a:t>
            </a:r>
            <a:endParaRPr/>
          </a:p>
          <a:p>
            <a:pPr indent="-152400" lvl="0" marL="0" rtl="0" algn="l">
              <a:lnSpc>
                <a:spcPct val="100000"/>
              </a:lnSpc>
              <a:spcBef>
                <a:spcPts val="200"/>
              </a:spcBef>
              <a:spcAft>
                <a:spcPts val="0"/>
              </a:spcAft>
              <a:buSzPts val="2400"/>
              <a:buFont typeface="Noto Sans Symbols"/>
              <a:buChar char="▪"/>
            </a:pPr>
            <a:r>
              <a:rPr b="1" lang="en-US" sz="2400">
                <a:latin typeface="Twentieth Century"/>
                <a:ea typeface="Twentieth Century"/>
                <a:cs typeface="Twentieth Century"/>
                <a:sym typeface="Twentieth Century"/>
              </a:rPr>
              <a:t>Company long term objective</a:t>
            </a:r>
            <a:endParaRPr b="1" sz="24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400"/>
              <a:buNone/>
            </a:pPr>
            <a:r>
              <a:t/>
            </a:r>
            <a:endParaRPr b="1" sz="2400">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5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p:txBody>
      </p:sp>
      <p:pic>
        <p:nvPicPr>
          <p:cNvPr id="279" name="Google Shape;279;p8"/>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83" name="Shape 283"/>
        <p:cNvGrpSpPr/>
        <p:nvPr/>
      </p:nvGrpSpPr>
      <p:grpSpPr>
        <a:xfrm>
          <a:off x="0" y="0"/>
          <a:ext cx="0" cy="0"/>
          <a:chOff x="0" y="0"/>
          <a:chExt cx="0" cy="0"/>
        </a:xfrm>
      </p:grpSpPr>
      <p:sp>
        <p:nvSpPr>
          <p:cNvPr id="284" name="Google Shape;284;p9"/>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r>
              <a:rPr b="1" lang="en-US" sz="3600">
                <a:solidFill>
                  <a:schemeClr val="dk1"/>
                </a:solidFill>
                <a:latin typeface="Calibri"/>
                <a:ea typeface="Calibri"/>
                <a:cs typeface="Calibri"/>
                <a:sym typeface="Calibri"/>
              </a:rPr>
              <a:t>CHAPTER 4</a:t>
            </a:r>
            <a:br>
              <a:rPr b="1" lang="en-US" sz="3600">
                <a:solidFill>
                  <a:srgbClr val="7030A0"/>
                </a:solidFill>
                <a:latin typeface="Calibri"/>
                <a:ea typeface="Calibri"/>
                <a:cs typeface="Calibri"/>
                <a:sym typeface="Calibri"/>
              </a:rPr>
            </a:br>
            <a:r>
              <a:rPr b="1" lang="en-US" sz="3600">
                <a:solidFill>
                  <a:srgbClr val="00B0F0"/>
                </a:solidFill>
              </a:rPr>
              <a:t>CREATIVITY AND THE BUSINESS IDEA</a:t>
            </a:r>
            <a:endParaRPr sz="3600">
              <a:solidFill>
                <a:schemeClr val="accent1"/>
              </a:solidFill>
              <a:latin typeface="Calibri"/>
              <a:ea typeface="Calibri"/>
              <a:cs typeface="Calibri"/>
              <a:sym typeface="Calibri"/>
            </a:endParaRPr>
          </a:p>
        </p:txBody>
      </p:sp>
      <p:sp>
        <p:nvSpPr>
          <p:cNvPr id="285" name="Google Shape;285;p9"/>
          <p:cNvSpPr txBox="1"/>
          <p:nvPr>
            <p:ph idx="1" type="subTitle"/>
          </p:nvPr>
        </p:nvSpPr>
        <p:spPr>
          <a:xfrm>
            <a:off x="1187355" y="1928812"/>
            <a:ext cx="10399593" cy="474494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rPr b="1" lang="en-US" sz="2800">
                <a:solidFill>
                  <a:srgbClr val="7030A0"/>
                </a:solidFill>
                <a:latin typeface="Twentieth Century"/>
                <a:ea typeface="Twentieth Century"/>
                <a:cs typeface="Twentieth Century"/>
                <a:sym typeface="Twentieth Century"/>
              </a:rPr>
              <a:t>METHODS OF GENERATING IDEAS</a:t>
            </a:r>
            <a:endParaRPr b="1" sz="2400">
              <a:solidFill>
                <a:srgbClr val="7030A0"/>
              </a:solidFill>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Focused Group</a:t>
            </a:r>
            <a:endParaRPr/>
          </a:p>
          <a:p>
            <a:pPr indent="-342900" lvl="0" marL="3429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Brainstorming</a:t>
            </a:r>
            <a:endParaRPr/>
          </a:p>
          <a:p>
            <a:pPr indent="-342900" lvl="0" marL="3429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Reverse brainstorming</a:t>
            </a:r>
            <a:endParaRPr/>
          </a:p>
          <a:p>
            <a:pPr indent="-342900" lvl="0" marL="3429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Brainwriting</a:t>
            </a:r>
            <a:endParaRPr b="1" sz="2800">
              <a:latin typeface="Twentieth Century"/>
              <a:ea typeface="Twentieth Century"/>
              <a:cs typeface="Twentieth Century"/>
              <a:sym typeface="Twentieth Century"/>
            </a:endParaRPr>
          </a:p>
          <a:p>
            <a:pPr indent="-342900" lvl="0" marL="3429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Gordon method</a:t>
            </a:r>
            <a:endParaRPr/>
          </a:p>
          <a:p>
            <a:pPr indent="-342900" lvl="0" marL="3429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Checklist method</a:t>
            </a:r>
            <a:endParaRPr/>
          </a:p>
          <a:p>
            <a:pPr indent="-342900" lvl="0" marL="3429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Free association</a:t>
            </a:r>
            <a:endParaRPr b="1" sz="2800">
              <a:solidFill>
                <a:srgbClr val="7030A0"/>
              </a:solidFill>
              <a:latin typeface="Twentieth Century"/>
              <a:ea typeface="Twentieth Century"/>
              <a:cs typeface="Twentieth Century"/>
              <a:sym typeface="Twentieth Century"/>
            </a:endParaRPr>
          </a:p>
          <a:p>
            <a:pPr indent="0" lvl="0" marL="0" rtl="0" algn="l">
              <a:lnSpc>
                <a:spcPct val="150000"/>
              </a:lnSpc>
              <a:spcBef>
                <a:spcPts val="20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p:txBody>
      </p:sp>
      <p:pic>
        <p:nvPicPr>
          <p:cNvPr id="286" name="Google Shape;286;p9"/>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90" name="Shape 290"/>
        <p:cNvGrpSpPr/>
        <p:nvPr/>
      </p:nvGrpSpPr>
      <p:grpSpPr>
        <a:xfrm>
          <a:off x="0" y="0"/>
          <a:ext cx="0" cy="0"/>
          <a:chOff x="0" y="0"/>
          <a:chExt cx="0" cy="0"/>
        </a:xfrm>
      </p:grpSpPr>
      <p:sp>
        <p:nvSpPr>
          <p:cNvPr id="291" name="Google Shape;291;p10"/>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r>
              <a:rPr b="1" lang="en-US" sz="3600">
                <a:solidFill>
                  <a:schemeClr val="dk1"/>
                </a:solidFill>
                <a:latin typeface="Calibri"/>
                <a:ea typeface="Calibri"/>
                <a:cs typeface="Calibri"/>
                <a:sym typeface="Calibri"/>
              </a:rPr>
              <a:t>CHAPTER 4</a:t>
            </a:r>
            <a:br>
              <a:rPr b="1" lang="en-US" sz="3600">
                <a:solidFill>
                  <a:srgbClr val="7030A0"/>
                </a:solidFill>
                <a:latin typeface="Calibri"/>
                <a:ea typeface="Calibri"/>
                <a:cs typeface="Calibri"/>
                <a:sym typeface="Calibri"/>
              </a:rPr>
            </a:br>
            <a:r>
              <a:rPr b="1" lang="en-US" sz="3600">
                <a:solidFill>
                  <a:srgbClr val="00B0F0"/>
                </a:solidFill>
              </a:rPr>
              <a:t>CREATIVITY AND THE BUSINESS IDEA</a:t>
            </a:r>
            <a:endParaRPr sz="3600">
              <a:solidFill>
                <a:schemeClr val="accent1"/>
              </a:solidFill>
              <a:latin typeface="Calibri"/>
              <a:ea typeface="Calibri"/>
              <a:cs typeface="Calibri"/>
              <a:sym typeface="Calibri"/>
            </a:endParaRPr>
          </a:p>
        </p:txBody>
      </p:sp>
      <p:sp>
        <p:nvSpPr>
          <p:cNvPr id="292" name="Google Shape;292;p10"/>
          <p:cNvSpPr txBox="1"/>
          <p:nvPr>
            <p:ph idx="1" type="subTitle"/>
          </p:nvPr>
        </p:nvSpPr>
        <p:spPr>
          <a:xfrm>
            <a:off x="1187355" y="1928812"/>
            <a:ext cx="10399593" cy="474494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rPr b="1" lang="en-US" sz="2800">
                <a:solidFill>
                  <a:srgbClr val="7030A0"/>
                </a:solidFill>
                <a:latin typeface="Twentieth Century"/>
                <a:ea typeface="Twentieth Century"/>
                <a:cs typeface="Twentieth Century"/>
                <a:sym typeface="Twentieth Century"/>
              </a:rPr>
              <a:t>METHODS OF GENERATING IDEAS</a:t>
            </a:r>
            <a:endParaRPr b="1" sz="2400">
              <a:solidFill>
                <a:srgbClr val="7030A0"/>
              </a:solidFill>
              <a:latin typeface="Twentieth Century"/>
              <a:ea typeface="Twentieth Century"/>
              <a:cs typeface="Twentieth Century"/>
              <a:sym typeface="Twentieth Century"/>
            </a:endParaRPr>
          </a:p>
          <a:p>
            <a:pPr indent="-457200" lvl="0" marL="4572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Forced relationships</a:t>
            </a:r>
            <a:endParaRPr/>
          </a:p>
          <a:p>
            <a:pPr indent="-457200" lvl="0" marL="4572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Collective notebook method</a:t>
            </a:r>
            <a:endParaRPr/>
          </a:p>
          <a:p>
            <a:pPr indent="-457200" lvl="0" marL="4572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Attribute listing method</a:t>
            </a:r>
            <a:endParaRPr/>
          </a:p>
          <a:p>
            <a:pPr indent="-457200" lvl="0" marL="4572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Big-dream approach</a:t>
            </a:r>
            <a:endParaRPr/>
          </a:p>
          <a:p>
            <a:pPr indent="-457200" lvl="0" marL="457200" rtl="0" algn="l">
              <a:lnSpc>
                <a:spcPct val="100000"/>
              </a:lnSpc>
              <a:spcBef>
                <a:spcPts val="200"/>
              </a:spcBef>
              <a:spcAft>
                <a:spcPts val="0"/>
              </a:spcAft>
              <a:buSzPts val="2800"/>
              <a:buFont typeface="Noto Sans Symbols"/>
              <a:buChar char="▪"/>
            </a:pPr>
            <a:r>
              <a:rPr b="1" lang="en-US" sz="2800">
                <a:latin typeface="Twentieth Century"/>
                <a:ea typeface="Twentieth Century"/>
                <a:cs typeface="Twentieth Century"/>
                <a:sym typeface="Twentieth Century"/>
              </a:rPr>
              <a:t>Parameter analysis</a:t>
            </a:r>
            <a:endParaRPr b="1" sz="2800">
              <a:solidFill>
                <a:srgbClr val="7030A0"/>
              </a:solidFill>
              <a:latin typeface="Twentieth Century"/>
              <a:ea typeface="Twentieth Century"/>
              <a:cs typeface="Twentieth Century"/>
              <a:sym typeface="Twentieth Century"/>
            </a:endParaRPr>
          </a:p>
        </p:txBody>
      </p:sp>
      <p:pic>
        <p:nvPicPr>
          <p:cNvPr id="293" name="Google Shape;293;p10"/>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97" name="Shape 297"/>
        <p:cNvGrpSpPr/>
        <p:nvPr/>
      </p:nvGrpSpPr>
      <p:grpSpPr>
        <a:xfrm>
          <a:off x="0" y="0"/>
          <a:ext cx="0" cy="0"/>
          <a:chOff x="0" y="0"/>
          <a:chExt cx="0" cy="0"/>
        </a:xfrm>
      </p:grpSpPr>
      <p:sp>
        <p:nvSpPr>
          <p:cNvPr id="298" name="Google Shape;298;p11"/>
          <p:cNvSpPr txBox="1"/>
          <p:nvPr>
            <p:ph type="ctrTitle"/>
          </p:nvPr>
        </p:nvSpPr>
        <p:spPr>
          <a:xfrm>
            <a:off x="1428465" y="276202"/>
            <a:ext cx="9144000" cy="14434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3600"/>
              <a:buFont typeface="Calibri"/>
              <a:buNone/>
            </a:pPr>
            <a:r>
              <a:rPr b="1" lang="en-US" sz="3600">
                <a:solidFill>
                  <a:schemeClr val="dk1"/>
                </a:solidFill>
                <a:latin typeface="Calibri"/>
                <a:ea typeface="Calibri"/>
                <a:cs typeface="Calibri"/>
                <a:sym typeface="Calibri"/>
              </a:rPr>
              <a:t>CHAPTER 4</a:t>
            </a:r>
            <a:br>
              <a:rPr b="1" lang="en-US" sz="3600">
                <a:solidFill>
                  <a:srgbClr val="7030A0"/>
                </a:solidFill>
                <a:latin typeface="Calibri"/>
                <a:ea typeface="Calibri"/>
                <a:cs typeface="Calibri"/>
                <a:sym typeface="Calibri"/>
              </a:rPr>
            </a:br>
            <a:r>
              <a:rPr b="1" lang="en-US" sz="3600">
                <a:solidFill>
                  <a:srgbClr val="00B0F0"/>
                </a:solidFill>
              </a:rPr>
              <a:t>CREATIVITY AND THE BUSINESS IDEA</a:t>
            </a:r>
            <a:endParaRPr sz="3600">
              <a:solidFill>
                <a:schemeClr val="accent1"/>
              </a:solidFill>
              <a:latin typeface="Calibri"/>
              <a:ea typeface="Calibri"/>
              <a:cs typeface="Calibri"/>
              <a:sym typeface="Calibri"/>
            </a:endParaRPr>
          </a:p>
        </p:txBody>
      </p:sp>
      <p:sp>
        <p:nvSpPr>
          <p:cNvPr id="299" name="Google Shape;299;p11"/>
          <p:cNvSpPr txBox="1"/>
          <p:nvPr>
            <p:ph idx="1" type="subTitle"/>
          </p:nvPr>
        </p:nvSpPr>
        <p:spPr>
          <a:xfrm>
            <a:off x="1187355" y="1928812"/>
            <a:ext cx="10399593" cy="474494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t/>
            </a:r>
            <a:endParaRPr b="1" sz="2800">
              <a:solidFill>
                <a:srgbClr val="7030A0"/>
              </a:solidFill>
              <a:latin typeface="Twentieth Century"/>
              <a:ea typeface="Twentieth Century"/>
              <a:cs typeface="Twentieth Century"/>
              <a:sym typeface="Twentieth Century"/>
            </a:endParaRPr>
          </a:p>
          <a:p>
            <a:pPr indent="0" lvl="0" marL="0" rtl="0" algn="l">
              <a:lnSpc>
                <a:spcPct val="100000"/>
              </a:lnSpc>
              <a:spcBef>
                <a:spcPts val="200"/>
              </a:spcBef>
              <a:spcAft>
                <a:spcPts val="0"/>
              </a:spcAft>
              <a:buSzPts val="2800"/>
              <a:buNone/>
            </a:pPr>
            <a:r>
              <a:rPr b="1" lang="en-US" sz="2800">
                <a:solidFill>
                  <a:srgbClr val="7030A0"/>
                </a:solidFill>
              </a:rPr>
              <a:t>METHODS OF GENERATING IDEAS</a:t>
            </a:r>
            <a:endParaRPr b="1" sz="2400">
              <a:solidFill>
                <a:srgbClr val="7030A0"/>
              </a:solidFill>
            </a:endParaRPr>
          </a:p>
          <a:p>
            <a:pPr indent="-342900" lvl="0" marL="342900" rtl="0" algn="l">
              <a:lnSpc>
                <a:spcPct val="100000"/>
              </a:lnSpc>
              <a:spcBef>
                <a:spcPts val="200"/>
              </a:spcBef>
              <a:spcAft>
                <a:spcPts val="0"/>
              </a:spcAft>
              <a:buSzPts val="2800"/>
              <a:buFont typeface="Noto Sans Symbols"/>
              <a:buChar char="▪"/>
            </a:pPr>
            <a:r>
              <a:rPr b="1" lang="en-US" sz="2800"/>
              <a:t>Focused Group</a:t>
            </a:r>
            <a:endParaRPr/>
          </a:p>
          <a:p>
            <a:pPr indent="0" lvl="0" marL="0" rtl="0" algn="l">
              <a:lnSpc>
                <a:spcPct val="100000"/>
              </a:lnSpc>
              <a:spcBef>
                <a:spcPts val="200"/>
              </a:spcBef>
              <a:spcAft>
                <a:spcPts val="0"/>
              </a:spcAft>
              <a:buSzPts val="2400"/>
              <a:buNone/>
            </a:pPr>
            <a:r>
              <a:rPr lang="en-US" sz="2400">
                <a:latin typeface="Twentieth Century"/>
                <a:ea typeface="Twentieth Century"/>
                <a:cs typeface="Twentieth Century"/>
                <a:sym typeface="Twentieth Century"/>
              </a:rPr>
              <a:t>Groups of individuals providing information in a structured format.</a:t>
            </a:r>
            <a:endParaRPr b="1" sz="2400">
              <a:latin typeface="Twentieth Century"/>
              <a:ea typeface="Twentieth Century"/>
              <a:cs typeface="Twentieth Century"/>
              <a:sym typeface="Twentieth Century"/>
            </a:endParaRPr>
          </a:p>
        </p:txBody>
      </p:sp>
      <p:pic>
        <p:nvPicPr>
          <p:cNvPr id="300" name="Google Shape;300;p11"/>
          <p:cNvPicPr preferRelativeResize="0"/>
          <p:nvPr/>
        </p:nvPicPr>
        <p:blipFill rotWithShape="1">
          <a:blip r:embed="rId3">
            <a:alphaModFix/>
          </a:blip>
          <a:srcRect b="0" l="0" r="0" t="0"/>
          <a:stretch/>
        </p:blipFill>
        <p:spPr>
          <a:xfrm>
            <a:off x="23527" y="0"/>
            <a:ext cx="1404938" cy="11557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 name="Shape 304"/>
        <p:cNvGrpSpPr/>
        <p:nvPr/>
      </p:nvGrpSpPr>
      <p:grpSpPr>
        <a:xfrm>
          <a:off x="0" y="0"/>
          <a:ext cx="0" cy="0"/>
          <a:chOff x="0" y="0"/>
          <a:chExt cx="0" cy="0"/>
        </a:xfrm>
      </p:grpSpPr>
      <p:sp>
        <p:nvSpPr>
          <p:cNvPr id="305" name="Google Shape;305;p12"/>
          <p:cNvSpPr txBox="1"/>
          <p:nvPr>
            <p:ph idx="1" type="body"/>
          </p:nvPr>
        </p:nvSpPr>
        <p:spPr>
          <a:xfrm>
            <a:off x="838200" y="798286"/>
            <a:ext cx="10515600" cy="5378677"/>
          </a:xfrm>
          <a:prstGeom prst="rect">
            <a:avLst/>
          </a:prstGeom>
          <a:noFill/>
          <a:ln>
            <a:noFill/>
          </a:ln>
        </p:spPr>
        <p:txBody>
          <a:bodyPr anchorCtr="0" anchor="t" bIns="45700" lIns="45700" spcFirstLastPara="1" rIns="45700" wrap="square" tIns="45700">
            <a:normAutofit/>
          </a:bodyPr>
          <a:lstStyle/>
          <a:p>
            <a:pPr indent="0" lvl="0" marL="0" rtl="0" algn="ctr">
              <a:lnSpc>
                <a:spcPct val="90000"/>
              </a:lnSpc>
              <a:spcBef>
                <a:spcPts val="0"/>
              </a:spcBef>
              <a:spcAft>
                <a:spcPts val="0"/>
              </a:spcAft>
              <a:buSzPts val="6600"/>
              <a:buNone/>
            </a:pPr>
            <a:r>
              <a:t/>
            </a:r>
            <a:endParaRPr sz="6600">
              <a:latin typeface="Algerian"/>
              <a:ea typeface="Algerian"/>
              <a:cs typeface="Algerian"/>
              <a:sym typeface="Algerian"/>
            </a:endParaRPr>
          </a:p>
          <a:p>
            <a:pPr indent="0" lvl="0" marL="0" rtl="0" algn="ctr">
              <a:lnSpc>
                <a:spcPct val="90000"/>
              </a:lnSpc>
              <a:spcBef>
                <a:spcPts val="1400"/>
              </a:spcBef>
              <a:spcAft>
                <a:spcPts val="0"/>
              </a:spcAft>
              <a:buSzPts val="6600"/>
              <a:buNone/>
            </a:pPr>
            <a:r>
              <a:t/>
            </a:r>
            <a:endParaRPr sz="6600">
              <a:latin typeface="Algerian"/>
              <a:ea typeface="Algerian"/>
              <a:cs typeface="Algerian"/>
              <a:sym typeface="Algerian"/>
            </a:endParaRPr>
          </a:p>
          <a:p>
            <a:pPr indent="0" lvl="0" marL="0" rtl="0" algn="ctr">
              <a:lnSpc>
                <a:spcPct val="90000"/>
              </a:lnSpc>
              <a:spcBef>
                <a:spcPts val="1400"/>
              </a:spcBef>
              <a:spcAft>
                <a:spcPts val="0"/>
              </a:spcAft>
              <a:buSzPts val="6600"/>
              <a:buNone/>
            </a:pPr>
            <a:r>
              <a:rPr lang="en-US" sz="6600">
                <a:latin typeface="Algerian"/>
                <a:ea typeface="Algerian"/>
                <a:cs typeface="Algerian"/>
                <a:sym typeface="Algerian"/>
              </a:rPr>
              <a:t>Thank You</a:t>
            </a:r>
            <a:endParaRPr/>
          </a:p>
        </p:txBody>
      </p:sp>
      <p:pic>
        <p:nvPicPr>
          <p:cNvPr id="306" name="Google Shape;306;p12"/>
          <p:cNvPicPr preferRelativeResize="0"/>
          <p:nvPr/>
        </p:nvPicPr>
        <p:blipFill rotWithShape="1">
          <a:blip r:embed="rId3">
            <a:alphaModFix/>
          </a:blip>
          <a:srcRect b="0" l="0" r="0" t="0"/>
          <a:stretch/>
        </p:blipFill>
        <p:spPr>
          <a:xfrm>
            <a:off x="10740571" y="5573486"/>
            <a:ext cx="1332367" cy="116862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6F013DBE9A0D4C970E999EDA675400" ma:contentTypeVersion="3" ma:contentTypeDescription="Create a new document." ma:contentTypeScope="" ma:versionID="41747472b4b6818510549bbbe5db7f49">
  <xsd:schema xmlns:xsd="http://www.w3.org/2001/XMLSchema" xmlns:xs="http://www.w3.org/2001/XMLSchema" xmlns:p="http://schemas.microsoft.com/office/2006/metadata/properties" xmlns:ns2="84e1ea4c-b2bb-46d2-8c87-fddf5169f1e9" targetNamespace="http://schemas.microsoft.com/office/2006/metadata/properties" ma:root="true" ma:fieldsID="4bbdc2be2f652bf335264ea3861174a1" ns2:_="">
    <xsd:import namespace="84e1ea4c-b2bb-46d2-8c87-fddf5169f1e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e1ea4c-b2bb-46d2-8c87-fddf5169f1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FD2BE1A-C444-49E8-9AA5-A2DBC437D775}"/>
</file>

<file path=customXml/itemProps2.xml><?xml version="1.0" encoding="utf-8"?>
<ds:datastoreItem xmlns:ds="http://schemas.openxmlformats.org/officeDocument/2006/customXml" ds:itemID="{D6189AE6-4779-488D-9C04-F69996405BE4}"/>
</file>

<file path=customXml/itemProps3.xml><?xml version="1.0" encoding="utf-8"?>
<ds:datastoreItem xmlns:ds="http://schemas.openxmlformats.org/officeDocument/2006/customXml" ds:itemID="{71FED92D-3B31-469B-9579-ADA95768FF99}"/>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Abidullah</dc:creator>
  <dcterms:created xsi:type="dcterms:W3CDTF">2020-04-02T05:39:02Z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0x010100206F013DBE9A0D4C970E999EDA675400</vt:lpwstr>
  </property>
</Properties>
</file>