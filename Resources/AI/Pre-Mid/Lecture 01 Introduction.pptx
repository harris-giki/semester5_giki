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sldIdLst>
    <p:sldId id="256" r:id="rId5"/>
    <p:sldId id="258" r:id="rId6"/>
    <p:sldId id="260" r:id="rId7"/>
    <p:sldId id="261" r:id="rId8"/>
    <p:sldId id="32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0" r:id="rId26"/>
    <p:sldId id="281" r:id="rId27"/>
    <p:sldId id="282" r:id="rId28"/>
    <p:sldId id="283" r:id="rId29"/>
    <p:sldId id="284" r:id="rId30"/>
    <p:sldId id="360" r:id="rId31"/>
    <p:sldId id="286" r:id="rId32"/>
    <p:sldId id="287" r:id="rId33"/>
    <p:sldId id="288" r:id="rId34"/>
    <p:sldId id="289" r:id="rId35"/>
    <p:sldId id="390" r:id="rId36"/>
    <p:sldId id="392" r:id="rId37"/>
    <p:sldId id="290" r:id="rId38"/>
    <p:sldId id="291" r:id="rId39"/>
    <p:sldId id="292" r:id="rId40"/>
    <p:sldId id="293" r:id="rId41"/>
    <p:sldId id="295" r:id="rId42"/>
    <p:sldId id="393" r:id="rId43"/>
    <p:sldId id="296" r:id="rId44"/>
    <p:sldId id="297" r:id="rId45"/>
    <p:sldId id="298" r:id="rId46"/>
    <p:sldId id="299" r:id="rId47"/>
    <p:sldId id="300" r:id="rId48"/>
    <p:sldId id="320" r:id="rId49"/>
    <p:sldId id="321" r:id="rId50"/>
    <p:sldId id="323" r:id="rId51"/>
    <p:sldId id="394" r:id="rId52"/>
    <p:sldId id="362" r:id="rId53"/>
    <p:sldId id="396" r:id="rId54"/>
    <p:sldId id="327" r:id="rId55"/>
    <p:sldId id="395" r:id="rId56"/>
    <p:sldId id="305" r:id="rId57"/>
  </p:sldIdLst>
  <p:sldSz cx="138176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636EB-9FBB-E601-96AF-9CF31C5C7B6A}" v="1" dt="2025-09-21T21:45:06.3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96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13DFBAF7-65FD-4C62-94B2-5695DC11D481}"/>
    <pc:docChg chg="undo custSel addSld delSld modSld sldOrd">
      <pc:chgData name="Dr. Khurram Jadoon khan Asstt. Professor FCS" userId="684a1a15-bea5-4a17-9b67-1313be309245" providerId="ADAL" clId="{13DFBAF7-65FD-4C62-94B2-5695DC11D481}" dt="2025-09-08T04:53:40.163" v="316" actId="108"/>
      <pc:docMkLst>
        <pc:docMk/>
      </pc:docMkLst>
      <pc:sldChg chg="addSp modSp mod">
        <pc:chgData name="Dr. Khurram Jadoon khan Asstt. Professor FCS" userId="684a1a15-bea5-4a17-9b67-1313be309245" providerId="ADAL" clId="{13DFBAF7-65FD-4C62-94B2-5695DC11D481}" dt="2025-09-05T04:54:42.710" v="10" actId="164"/>
        <pc:sldMkLst>
          <pc:docMk/>
          <pc:sldMk cId="0" sldId="292"/>
        </pc:sldMkLst>
        <pc:spChg chg="mod">
          <ac:chgData name="Dr. Khurram Jadoon khan Asstt. Professor FCS" userId="684a1a15-bea5-4a17-9b67-1313be309245" providerId="ADAL" clId="{13DFBAF7-65FD-4C62-94B2-5695DC11D481}" dt="2025-09-05T04:54:42.710" v="10" actId="164"/>
          <ac:spMkLst>
            <pc:docMk/>
            <pc:sldMk cId="0" sldId="29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5T04:54:42.710" v="10" actId="164"/>
          <ac:spMkLst>
            <pc:docMk/>
            <pc:sldMk cId="0" sldId="29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5T04:54:42.710" v="10" actId="164"/>
          <ac:spMkLst>
            <pc:docMk/>
            <pc:sldMk cId="0" sldId="29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5T04:54:42.710" v="10" actId="164"/>
          <ac:spMkLst>
            <pc:docMk/>
            <pc:sldMk cId="0" sldId="29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5T04:54:09.985" v="6" actId="1076"/>
          <ac:spMkLst>
            <pc:docMk/>
            <pc:sldMk cId="0" sldId="292"/>
            <ac:spMk id="8" creationId="{00000000-0000-0000-0000-000000000000}"/>
          </ac:spMkLst>
        </pc:spChg>
        <pc:grpChg chg="add mod">
          <ac:chgData name="Dr. Khurram Jadoon khan Asstt. Professor FCS" userId="684a1a15-bea5-4a17-9b67-1313be309245" providerId="ADAL" clId="{13DFBAF7-65FD-4C62-94B2-5695DC11D481}" dt="2025-09-05T04:54:42.710" v="10" actId="164"/>
          <ac:grpSpMkLst>
            <pc:docMk/>
            <pc:sldMk cId="0" sldId="292"/>
            <ac:grpSpMk id="9" creationId="{1AA10117-237E-DEB5-F47C-676C934CF820}"/>
          </ac:grpSpMkLst>
        </pc:grpChg>
      </pc:sldChg>
      <pc:sldChg chg="addSp delSp modSp mod">
        <pc:chgData name="Dr. Khurram Jadoon khan Asstt. Professor FCS" userId="684a1a15-bea5-4a17-9b67-1313be309245" providerId="ADAL" clId="{13DFBAF7-65FD-4C62-94B2-5695DC11D481}" dt="2025-09-08T04:37:36.766" v="196" actId="207"/>
        <pc:sldMkLst>
          <pc:docMk/>
          <pc:sldMk cId="0" sldId="298"/>
        </pc:sldMkLst>
        <pc:spChg chg="del">
          <ac:chgData name="Dr. Khurram Jadoon khan Asstt. Professor FCS" userId="684a1a15-bea5-4a17-9b67-1313be309245" providerId="ADAL" clId="{13DFBAF7-65FD-4C62-94B2-5695DC11D481}" dt="2025-09-08T04:35:40.928" v="132" actId="478"/>
          <ac:spMkLst>
            <pc:docMk/>
            <pc:sldMk cId="0" sldId="298"/>
            <ac:spMk id="2" creationId="{00000000-0000-0000-0000-000000000000}"/>
          </ac:spMkLst>
        </pc:spChg>
        <pc:spChg chg="add mod">
          <ac:chgData name="Dr. Khurram Jadoon khan Asstt. Professor FCS" userId="684a1a15-bea5-4a17-9b67-1313be309245" providerId="ADAL" clId="{13DFBAF7-65FD-4C62-94B2-5695DC11D481}" dt="2025-09-08T04:36:33.014" v="143" actId="1076"/>
          <ac:spMkLst>
            <pc:docMk/>
            <pc:sldMk cId="0" sldId="298"/>
            <ac:spMk id="6" creationId="{C96D150A-7A1E-9D1D-335B-D074CD65EF42}"/>
          </ac:spMkLst>
        </pc:spChg>
        <pc:spChg chg="add mod">
          <ac:chgData name="Dr. Khurram Jadoon khan Asstt. Professor FCS" userId="684a1a15-bea5-4a17-9b67-1313be309245" providerId="ADAL" clId="{13DFBAF7-65FD-4C62-94B2-5695DC11D481}" dt="2025-09-08T04:37:36.766" v="196" actId="207"/>
          <ac:spMkLst>
            <pc:docMk/>
            <pc:sldMk cId="0" sldId="298"/>
            <ac:spMk id="7" creationId="{FDC731E3-CAA1-384B-CF3A-330637BCD925}"/>
          </ac:spMkLst>
        </pc:spChg>
        <pc:picChg chg="add mod">
          <ac:chgData name="Dr. Khurram Jadoon khan Asstt. Professor FCS" userId="684a1a15-bea5-4a17-9b67-1313be309245" providerId="ADAL" clId="{13DFBAF7-65FD-4C62-94B2-5695DC11D481}" dt="2025-09-08T04:35:48.503" v="136" actId="1076"/>
          <ac:picMkLst>
            <pc:docMk/>
            <pc:sldMk cId="0" sldId="298"/>
            <ac:picMk id="4" creationId="{4E4D6BC0-4104-1C18-50EC-6667F8CF738C}"/>
          </ac:picMkLst>
        </pc:picChg>
      </pc:sldChg>
      <pc:sldChg chg="modSp mod">
        <pc:chgData name="Dr. Khurram Jadoon khan Asstt. Professor FCS" userId="684a1a15-bea5-4a17-9b67-1313be309245" providerId="ADAL" clId="{13DFBAF7-65FD-4C62-94B2-5695DC11D481}" dt="2025-09-08T04:38:02.280" v="199" actId="1076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13DFBAF7-65FD-4C62-94B2-5695DC11D481}" dt="2025-09-08T04:37:52.447" v="197" actId="1076"/>
          <ac:spMkLst>
            <pc:docMk/>
            <pc:sldMk cId="0" sldId="29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38:02.280" v="199" actId="1076"/>
          <ac:spMkLst>
            <pc:docMk/>
            <pc:sldMk cId="0" sldId="299"/>
            <ac:spMk id="3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13DFBAF7-65FD-4C62-94B2-5695DC11D481}" dt="2025-09-08T04:39:03.826" v="215" actId="207"/>
        <pc:sldMkLst>
          <pc:docMk/>
          <pc:sldMk cId="0" sldId="300"/>
        </pc:sldMkLst>
        <pc:spChg chg="mod">
          <ac:chgData name="Dr. Khurram Jadoon khan Asstt. Professor FCS" userId="684a1a15-bea5-4a17-9b67-1313be309245" providerId="ADAL" clId="{13DFBAF7-65FD-4C62-94B2-5695DC11D481}" dt="2025-09-08T04:38:53.614" v="214" actId="1076"/>
          <ac:spMkLst>
            <pc:docMk/>
            <pc:sldMk cId="0" sldId="30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39:03.826" v="215" actId="207"/>
          <ac:spMkLst>
            <pc:docMk/>
            <pc:sldMk cId="0" sldId="300"/>
            <ac:spMk id="4" creationId="{31E94CE4-AA3A-08DC-91B6-2B15D4F77E07}"/>
          </ac:spMkLst>
        </pc:spChg>
        <pc:spChg chg="add mod">
          <ac:chgData name="Dr. Khurram Jadoon khan Asstt. Professor FCS" userId="684a1a15-bea5-4a17-9b67-1313be309245" providerId="ADAL" clId="{13DFBAF7-65FD-4C62-94B2-5695DC11D481}" dt="2025-09-08T04:38:46.575" v="212" actId="1076"/>
          <ac:spMkLst>
            <pc:docMk/>
            <pc:sldMk cId="0" sldId="300"/>
            <ac:spMk id="5" creationId="{43DF84BE-B5B7-A03E-0C6D-46F4502DD21F}"/>
          </ac:spMkLst>
        </pc:spChg>
      </pc:sldChg>
      <pc:sldChg chg="addSp delSp modSp mod">
        <pc:chgData name="Dr. Khurram Jadoon khan Asstt. Professor FCS" userId="684a1a15-bea5-4a17-9b67-1313be309245" providerId="ADAL" clId="{13DFBAF7-65FD-4C62-94B2-5695DC11D481}" dt="2025-09-08T04:40:05.052" v="228" actId="207"/>
        <pc:sldMkLst>
          <pc:docMk/>
          <pc:sldMk cId="0" sldId="320"/>
        </pc:sldMkLst>
        <pc:spChg chg="mod">
          <ac:chgData name="Dr. Khurram Jadoon khan Asstt. Professor FCS" userId="684a1a15-bea5-4a17-9b67-1313be309245" providerId="ADAL" clId="{13DFBAF7-65FD-4C62-94B2-5695DC11D481}" dt="2025-09-08T04:39:50.419" v="219" actId="1076"/>
          <ac:spMkLst>
            <pc:docMk/>
            <pc:sldMk cId="0" sldId="320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13DFBAF7-65FD-4C62-94B2-5695DC11D481}" dt="2025-09-08T04:39:35.730" v="217" actId="478"/>
          <ac:spMkLst>
            <pc:docMk/>
            <pc:sldMk cId="0" sldId="32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40:05.052" v="228" actId="207"/>
          <ac:spMkLst>
            <pc:docMk/>
            <pc:sldMk cId="0" sldId="320"/>
            <ac:spMk id="12" creationId="{7B01F04D-6F8B-F8F6-0C12-EDEC68A1382D}"/>
          </ac:spMkLst>
        </pc:spChg>
        <pc:picChg chg="add mod">
          <ac:chgData name="Dr. Khurram Jadoon khan Asstt. Professor FCS" userId="684a1a15-bea5-4a17-9b67-1313be309245" providerId="ADAL" clId="{13DFBAF7-65FD-4C62-94B2-5695DC11D481}" dt="2025-09-08T04:39:57.929" v="223" actId="1076"/>
          <ac:picMkLst>
            <pc:docMk/>
            <pc:sldMk cId="0" sldId="320"/>
            <ac:picMk id="11" creationId="{7FA32679-366B-CEA2-C82C-18ABF2406639}"/>
          </ac:picMkLst>
        </pc:picChg>
      </pc:sldChg>
      <pc:sldChg chg="modSp mod">
        <pc:chgData name="Dr. Khurram Jadoon khan Asstt. Professor FCS" userId="684a1a15-bea5-4a17-9b67-1313be309245" providerId="ADAL" clId="{13DFBAF7-65FD-4C62-94B2-5695DC11D481}" dt="2025-09-08T04:41:13.140" v="241" actId="6549"/>
        <pc:sldMkLst>
          <pc:docMk/>
          <pc:sldMk cId="0" sldId="321"/>
        </pc:sldMkLst>
        <pc:spChg chg="mod">
          <ac:chgData name="Dr. Khurram Jadoon khan Asstt. Professor FCS" userId="684a1a15-bea5-4a17-9b67-1313be309245" providerId="ADAL" clId="{13DFBAF7-65FD-4C62-94B2-5695DC11D481}" dt="2025-09-08T04:41:13.140" v="241" actId="6549"/>
          <ac:spMkLst>
            <pc:docMk/>
            <pc:sldMk cId="0" sldId="32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13DFBAF7-65FD-4C62-94B2-5695DC11D481}" dt="2025-09-05T04:56:39.332" v="14" actId="2711"/>
          <ac:spMkLst>
            <pc:docMk/>
            <pc:sldMk cId="0" sldId="321"/>
            <ac:spMk id="6" creationId="{58317030-D46B-3080-B152-8B8352EA7C94}"/>
          </ac:spMkLst>
        </pc:spChg>
      </pc:sldChg>
      <pc:sldChg chg="addSp delSp modSp mod">
        <pc:chgData name="Dr. Khurram Jadoon khan Asstt. Professor FCS" userId="684a1a15-bea5-4a17-9b67-1313be309245" providerId="ADAL" clId="{13DFBAF7-65FD-4C62-94B2-5695DC11D481}" dt="2025-09-08T04:43:51.873" v="257" actId="20577"/>
        <pc:sldMkLst>
          <pc:docMk/>
          <pc:sldMk cId="0" sldId="323"/>
        </pc:sldMkLst>
        <pc:spChg chg="mod">
          <ac:chgData name="Dr. Khurram Jadoon khan Asstt. Professor FCS" userId="684a1a15-bea5-4a17-9b67-1313be309245" providerId="ADAL" clId="{13DFBAF7-65FD-4C62-94B2-5695DC11D481}" dt="2025-09-08T04:43:51.873" v="257" actId="20577"/>
          <ac:spMkLst>
            <pc:docMk/>
            <pc:sldMk cId="0" sldId="323"/>
            <ac:spMk id="2" creationId="{00000000-0000-0000-0000-000000000000}"/>
          </ac:spMkLst>
        </pc:spChg>
        <pc:spChg chg="add mod">
          <ac:chgData name="Dr. Khurram Jadoon khan Asstt. Professor FCS" userId="684a1a15-bea5-4a17-9b67-1313be309245" providerId="ADAL" clId="{13DFBAF7-65FD-4C62-94B2-5695DC11D481}" dt="2025-09-08T04:41:44.253" v="245" actId="255"/>
          <ac:spMkLst>
            <pc:docMk/>
            <pc:sldMk cId="0" sldId="323"/>
            <ac:spMk id="4" creationId="{E3905AD7-7042-2712-2329-24B0C9E74A58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43:50.822" v="256" actId="1076"/>
          <ac:spMkLst>
            <pc:docMk/>
            <pc:sldMk cId="0" sldId="323"/>
            <ac:spMk id="9" creationId="{9F70386A-019A-471A-08B3-D091C0BA786E}"/>
          </ac:spMkLst>
        </pc:spChg>
        <pc:picChg chg="mod">
          <ac:chgData name="Dr. Khurram Jadoon khan Asstt. Professor FCS" userId="684a1a15-bea5-4a17-9b67-1313be309245" providerId="ADAL" clId="{13DFBAF7-65FD-4C62-94B2-5695DC11D481}" dt="2025-09-08T04:43:33.946" v="252" actId="14100"/>
          <ac:picMkLst>
            <pc:docMk/>
            <pc:sldMk cId="0" sldId="323"/>
            <ac:picMk id="11" creationId="{A86DE973-90E1-5A96-C8D3-87D15B204A56}"/>
          </ac:picMkLst>
        </pc:picChg>
      </pc:sldChg>
      <pc:sldChg chg="modSp mod ord">
        <pc:chgData name="Dr. Khurram Jadoon khan Asstt. Professor FCS" userId="684a1a15-bea5-4a17-9b67-1313be309245" providerId="ADAL" clId="{13DFBAF7-65FD-4C62-94B2-5695DC11D481}" dt="2025-09-08T04:53:40.163" v="316" actId="108"/>
        <pc:sldMkLst>
          <pc:docMk/>
          <pc:sldMk cId="0" sldId="327"/>
        </pc:sldMkLst>
        <pc:spChg chg="mod">
          <ac:chgData name="Dr. Khurram Jadoon khan Asstt. Professor FCS" userId="684a1a15-bea5-4a17-9b67-1313be309245" providerId="ADAL" clId="{13DFBAF7-65FD-4C62-94B2-5695DC11D481}" dt="2025-09-08T04:53:40.163" v="316" actId="108"/>
          <ac:spMkLst>
            <pc:docMk/>
            <pc:sldMk cId="0" sldId="327"/>
            <ac:spMk id="5" creationId="{F66394A2-2963-EEEF-902B-1E77A6A74CB5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52:04.779" v="297" actId="1076"/>
          <ac:spMkLst>
            <pc:docMk/>
            <pc:sldMk cId="0" sldId="327"/>
            <ac:spMk id="6" creationId="{065016E6-A71A-7CED-A9AD-6C4E9A250BF5}"/>
          </ac:spMkLst>
        </pc:spChg>
      </pc:sldChg>
      <pc:sldChg chg="del">
        <pc:chgData name="Dr. Khurram Jadoon khan Asstt. Professor FCS" userId="684a1a15-bea5-4a17-9b67-1313be309245" providerId="ADAL" clId="{13DFBAF7-65FD-4C62-94B2-5695DC11D481}" dt="2025-09-05T07:43:37.624" v="68" actId="47"/>
        <pc:sldMkLst>
          <pc:docMk/>
          <pc:sldMk cId="0" sldId="361"/>
        </pc:sldMkLst>
      </pc:sldChg>
      <pc:sldChg chg="addSp delSp modSp mod">
        <pc:chgData name="Dr. Khurram Jadoon khan Asstt. Professor FCS" userId="684a1a15-bea5-4a17-9b67-1313be309245" providerId="ADAL" clId="{13DFBAF7-65FD-4C62-94B2-5695DC11D481}" dt="2025-09-08T04:48:12.941" v="284" actId="1076"/>
        <pc:sldMkLst>
          <pc:docMk/>
          <pc:sldMk cId="0" sldId="362"/>
        </pc:sldMkLst>
        <pc:spChg chg="add del mod">
          <ac:chgData name="Dr. Khurram Jadoon khan Asstt. Professor FCS" userId="684a1a15-bea5-4a17-9b67-1313be309245" providerId="ADAL" clId="{13DFBAF7-65FD-4C62-94B2-5695DC11D481}" dt="2025-09-08T04:48:11.674" v="283" actId="22"/>
          <ac:spMkLst>
            <pc:docMk/>
            <pc:sldMk cId="0" sldId="362"/>
            <ac:spMk id="3" creationId="{BA7814FE-D097-B679-E4F2-D0A9E8932C61}"/>
          </ac:spMkLst>
        </pc:spChg>
        <pc:picChg chg="mod">
          <ac:chgData name="Dr. Khurram Jadoon khan Asstt. Professor FCS" userId="684a1a15-bea5-4a17-9b67-1313be309245" providerId="ADAL" clId="{13DFBAF7-65FD-4C62-94B2-5695DC11D481}" dt="2025-09-08T04:48:12.941" v="284" actId="1076"/>
          <ac:picMkLst>
            <pc:docMk/>
            <pc:sldMk cId="0" sldId="362"/>
            <ac:picMk id="20" creationId="{9D46A34F-A1F6-8C31-C38C-83B8B2C15173}"/>
          </ac:picMkLst>
        </pc:picChg>
      </pc:sldChg>
      <pc:sldChg chg="addSp delSp modSp add mod">
        <pc:chgData name="Dr. Khurram Jadoon khan Asstt. Professor FCS" userId="684a1a15-bea5-4a17-9b67-1313be309245" providerId="ADAL" clId="{13DFBAF7-65FD-4C62-94B2-5695DC11D481}" dt="2025-09-08T04:44:17.489" v="264" actId="20577"/>
        <pc:sldMkLst>
          <pc:docMk/>
          <pc:sldMk cId="2018109078" sldId="394"/>
        </pc:sldMkLst>
        <pc:spChg chg="add mod">
          <ac:chgData name="Dr. Khurram Jadoon khan Asstt. Professor FCS" userId="684a1a15-bea5-4a17-9b67-1313be309245" providerId="ADAL" clId="{13DFBAF7-65FD-4C62-94B2-5695DC11D481}" dt="2025-09-08T04:44:02.391" v="259"/>
          <ac:spMkLst>
            <pc:docMk/>
            <pc:sldMk cId="2018109078" sldId="394"/>
            <ac:spMk id="2" creationId="{94AACBCC-3502-987B-C0B2-A77923159012}"/>
          </ac:spMkLst>
        </pc:spChg>
        <pc:spChg chg="add del mod">
          <ac:chgData name="Dr. Khurram Jadoon khan Asstt. Professor FCS" userId="684a1a15-bea5-4a17-9b67-1313be309245" providerId="ADAL" clId="{13DFBAF7-65FD-4C62-94B2-5695DC11D481}" dt="2025-09-08T04:44:01.155" v="258" actId="478"/>
          <ac:spMkLst>
            <pc:docMk/>
            <pc:sldMk cId="2018109078" sldId="394"/>
            <ac:spMk id="3" creationId="{93A9B5C1-DBC4-0B0B-9DC7-8FFF094CADDE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44:17.489" v="264" actId="20577"/>
          <ac:spMkLst>
            <pc:docMk/>
            <pc:sldMk cId="2018109078" sldId="394"/>
            <ac:spMk id="4" creationId="{69B1B91F-2990-7ADF-08A8-DD72A72361FD}"/>
          </ac:spMkLst>
        </pc:spChg>
        <pc:picChg chg="mod">
          <ac:chgData name="Dr. Khurram Jadoon khan Asstt. Professor FCS" userId="684a1a15-bea5-4a17-9b67-1313be309245" providerId="ADAL" clId="{13DFBAF7-65FD-4C62-94B2-5695DC11D481}" dt="2025-09-05T05:06:58.204" v="39" actId="1076"/>
          <ac:picMkLst>
            <pc:docMk/>
            <pc:sldMk cId="2018109078" sldId="394"/>
            <ac:picMk id="13" creationId="{5B8EFBDD-392B-0D2A-F151-48E4AAEC93F8}"/>
          </ac:picMkLst>
        </pc:picChg>
      </pc:sldChg>
      <pc:sldChg chg="addSp delSp modSp new mod">
        <pc:chgData name="Dr. Khurram Jadoon khan Asstt. Professor FCS" userId="684a1a15-bea5-4a17-9b67-1313be309245" providerId="ADAL" clId="{13DFBAF7-65FD-4C62-94B2-5695DC11D481}" dt="2025-09-05T07:39:09.348" v="63" actId="1076"/>
        <pc:sldMkLst>
          <pc:docMk/>
          <pc:sldMk cId="1555454872" sldId="395"/>
        </pc:sldMkLst>
        <pc:picChg chg="add mod">
          <ac:chgData name="Dr. Khurram Jadoon khan Asstt. Professor FCS" userId="684a1a15-bea5-4a17-9b67-1313be309245" providerId="ADAL" clId="{13DFBAF7-65FD-4C62-94B2-5695DC11D481}" dt="2025-09-05T07:39:09.348" v="63" actId="1076"/>
          <ac:picMkLst>
            <pc:docMk/>
            <pc:sldMk cId="1555454872" sldId="395"/>
            <ac:picMk id="5" creationId="{994811E3-B498-3C02-FFD8-6DBC13FE41B2}"/>
          </ac:picMkLst>
        </pc:picChg>
      </pc:sldChg>
      <pc:sldChg chg="modSp new mod">
        <pc:chgData name="Dr. Khurram Jadoon khan Asstt. Professor FCS" userId="684a1a15-bea5-4a17-9b67-1313be309245" providerId="ADAL" clId="{13DFBAF7-65FD-4C62-94B2-5695DC11D481}" dt="2025-09-08T04:48:49.014" v="293" actId="179"/>
        <pc:sldMkLst>
          <pc:docMk/>
          <pc:sldMk cId="3338849476" sldId="396"/>
        </pc:sldMkLst>
        <pc:spChg chg="mod">
          <ac:chgData name="Dr. Khurram Jadoon khan Asstt. Professor FCS" userId="684a1a15-bea5-4a17-9b67-1313be309245" providerId="ADAL" clId="{13DFBAF7-65FD-4C62-94B2-5695DC11D481}" dt="2025-09-05T07:44:17.964" v="74" actId="1076"/>
          <ac:spMkLst>
            <pc:docMk/>
            <pc:sldMk cId="3338849476" sldId="396"/>
            <ac:spMk id="2" creationId="{809FDA49-4212-DE09-F68F-49EAEB4DAD5F}"/>
          </ac:spMkLst>
        </pc:spChg>
        <pc:spChg chg="mod">
          <ac:chgData name="Dr. Khurram Jadoon khan Asstt. Professor FCS" userId="684a1a15-bea5-4a17-9b67-1313be309245" providerId="ADAL" clId="{13DFBAF7-65FD-4C62-94B2-5695DC11D481}" dt="2025-09-08T04:48:49.014" v="293" actId="179"/>
          <ac:spMkLst>
            <pc:docMk/>
            <pc:sldMk cId="3338849476" sldId="396"/>
            <ac:spMk id="3" creationId="{E0AE53AE-B7AB-F646-03DD-04F4AA63ABC1}"/>
          </ac:spMkLst>
        </pc:spChg>
      </pc:sldChg>
    </pc:docChg>
  </pc:docChgLst>
  <pc:docChgLst>
    <pc:chgData name="u2023008" userId="S::u2023008@giki.edu.pk::744d67b5-1071-428e-bffe-04b896a8345a" providerId="AD" clId="Web-{F3C636EB-9FBB-E601-96AF-9CF31C5C7B6A}"/>
    <pc:docChg chg="modSld">
      <pc:chgData name="u2023008" userId="S::u2023008@giki.edu.pk::744d67b5-1071-428e-bffe-04b896a8345a" providerId="AD" clId="Web-{F3C636EB-9FBB-E601-96AF-9CF31C5C7B6A}" dt="2025-09-21T21:45:06.313" v="0" actId="1076"/>
      <pc:docMkLst>
        <pc:docMk/>
      </pc:docMkLst>
      <pc:sldChg chg="modSp">
        <pc:chgData name="u2023008" userId="S::u2023008@giki.edu.pk::744d67b5-1071-428e-bffe-04b896a8345a" providerId="AD" clId="Web-{F3C636EB-9FBB-E601-96AF-9CF31C5C7B6A}" dt="2025-09-21T21:45:06.313" v="0" actId="1076"/>
        <pc:sldMkLst>
          <pc:docMk/>
          <pc:sldMk cId="0" sldId="320"/>
        </pc:sldMkLst>
        <pc:spChg chg="mod">
          <ac:chgData name="u2023008" userId="S::u2023008@giki.edu.pk::744d67b5-1071-428e-bffe-04b896a8345a" providerId="AD" clId="Web-{F3C636EB-9FBB-E601-96AF-9CF31C5C7B6A}" dt="2025-09-21T21:45:06.313" v="0" actId="1076"/>
          <ac:spMkLst>
            <pc:docMk/>
            <pc:sldMk cId="0" sldId="320"/>
            <ac:spMk id="2" creationId="{00000000-0000-0000-0000-000000000000}"/>
          </ac:spMkLst>
        </pc:spChg>
      </pc:sldChg>
    </pc:docChg>
  </pc:docChgLst>
  <pc:docChgLst>
    <pc:chgData name="Dr. Khurram Jadoon khan Asstt. Professor FCS" userId="684a1a15-bea5-4a17-9b67-1313be309245" providerId="ADAL" clId="{4788BA0A-FA5D-4BEE-B208-6C5F0CB78F00}"/>
    <pc:docChg chg="undo custSel delSld modSld">
      <pc:chgData name="Dr. Khurram Jadoon khan Asstt. Professor FCS" userId="684a1a15-bea5-4a17-9b67-1313be309245" providerId="ADAL" clId="{4788BA0A-FA5D-4BEE-B208-6C5F0CB78F00}" dt="2025-09-03T05:30:17.967" v="252" actId="47"/>
      <pc:docMkLst>
        <pc:docMk/>
      </pc:docMkLst>
      <pc:sldChg chg="modSp mod">
        <pc:chgData name="Dr. Khurram Jadoon khan Asstt. Professor FCS" userId="684a1a15-bea5-4a17-9b67-1313be309245" providerId="ADAL" clId="{4788BA0A-FA5D-4BEE-B208-6C5F0CB78F00}" dt="2025-09-03T04:27:49.062" v="1" actId="33524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4788BA0A-FA5D-4BEE-B208-6C5F0CB78F00}" dt="2025-09-03T04:27:46.008" v="0" actId="33524"/>
          <ac:spMkLst>
            <pc:docMk/>
            <pc:sldMk cId="0" sldId="25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27:49.062" v="1" actId="3352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34:20.790" v="31" actId="20577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4788BA0A-FA5D-4BEE-B208-6C5F0CB78F00}" dt="2025-09-03T04:34:20.790" v="3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38:55.957" v="35" actId="21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4788BA0A-FA5D-4BEE-B208-6C5F0CB78F00}" dt="2025-09-03T04:38:55.957" v="35" actId="21"/>
          <ac:spMkLst>
            <pc:docMk/>
            <pc:sldMk cId="0" sldId="265"/>
            <ac:spMk id="5" creationId="{00000000-0000-0000-0000-000000000000}"/>
          </ac:spMkLst>
        </pc:spChg>
        <pc:grpChg chg="mod">
          <ac:chgData name="Dr. Khurram Jadoon khan Asstt. Professor FCS" userId="684a1a15-bea5-4a17-9b67-1313be309245" providerId="ADAL" clId="{4788BA0A-FA5D-4BEE-B208-6C5F0CB78F00}" dt="2025-09-03T04:38:50.138" v="33" actId="14100"/>
          <ac:grpSpMkLst>
            <pc:docMk/>
            <pc:sldMk cId="0" sldId="265"/>
            <ac:grpSpMk id="7" creationId="{09AAE94D-8266-B444-B094-7C0CECC49B45}"/>
          </ac:grpSpMkLst>
        </pc:grpChg>
      </pc:sldChg>
      <pc:sldChg chg="modSp mod">
        <pc:chgData name="Dr. Khurram Jadoon khan Asstt. Professor FCS" userId="684a1a15-bea5-4a17-9b67-1313be309245" providerId="ADAL" clId="{4788BA0A-FA5D-4BEE-B208-6C5F0CB78F00}" dt="2025-09-03T04:41:52.786" v="41" actId="20577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4788BA0A-FA5D-4BEE-B208-6C5F0CB78F00}" dt="2025-09-03T04:41:52.786" v="41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5:19:19.129" v="246" actId="14100"/>
        <pc:sldMkLst>
          <pc:docMk/>
          <pc:sldMk cId="0" sldId="268"/>
        </pc:sldMkLst>
        <pc:spChg chg="mod">
          <ac:chgData name="Dr. Khurram Jadoon khan Asstt. Professor FCS" userId="684a1a15-bea5-4a17-9b67-1313be309245" providerId="ADAL" clId="{4788BA0A-FA5D-4BEE-B208-6C5F0CB78F00}" dt="2025-09-03T05:19:19.129" v="246" actId="14100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57:53.927" v="176" actId="255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4788BA0A-FA5D-4BEE-B208-6C5F0CB78F00}" dt="2025-09-03T04:57:53.927" v="176" actId="25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46:22.979" v="48" actId="1076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4788BA0A-FA5D-4BEE-B208-6C5F0CB78F00}" dt="2025-09-03T04:46:20.370" v="47" actId="404"/>
          <ac:spMkLst>
            <pc:docMk/>
            <pc:sldMk cId="0" sldId="27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46:22.979" v="48" actId="1076"/>
          <ac:spMkLst>
            <pc:docMk/>
            <pc:sldMk cId="0" sldId="270"/>
            <ac:spMk id="6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4788BA0A-FA5D-4BEE-B208-6C5F0CB78F00}" dt="2025-09-03T05:24:49.093" v="248" actId="15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4788BA0A-FA5D-4BEE-B208-6C5F0CB78F00}" dt="2025-09-03T04:52:46.952" v="131" actId="1036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Dr. Khurram Jadoon khan Asstt. Professor FCS" userId="684a1a15-bea5-4a17-9b67-1313be309245" providerId="ADAL" clId="{4788BA0A-FA5D-4BEE-B208-6C5F0CB78F00}" dt="2025-09-03T05:24:49.093" v="248" actId="15"/>
          <ac:spMkLst>
            <pc:docMk/>
            <pc:sldMk cId="0" sldId="272"/>
            <ac:spMk id="11" creationId="{318721A8-66DC-431B-F48D-C5EC0D3D63AF}"/>
          </ac:spMkLst>
        </pc:spChg>
        <pc:spChg chg="add mod">
          <ac:chgData name="Dr. Khurram Jadoon khan Asstt. Professor FCS" userId="684a1a15-bea5-4a17-9b67-1313be309245" providerId="ADAL" clId="{4788BA0A-FA5D-4BEE-B208-6C5F0CB78F00}" dt="2025-09-03T04:50:54.276" v="74" actId="21"/>
          <ac:spMkLst>
            <pc:docMk/>
            <pc:sldMk cId="0" sldId="272"/>
            <ac:spMk id="13" creationId="{852AB697-8DCE-7384-D9B7-380F9651C7B4}"/>
          </ac:spMkLst>
        </pc:spChg>
        <pc:spChg chg="add mod">
          <ac:chgData name="Dr. Khurram Jadoon khan Asstt. Professor FCS" userId="684a1a15-bea5-4a17-9b67-1313be309245" providerId="ADAL" clId="{4788BA0A-FA5D-4BEE-B208-6C5F0CB78F00}" dt="2025-09-03T04:51:03.560" v="79" actId="21"/>
          <ac:spMkLst>
            <pc:docMk/>
            <pc:sldMk cId="0" sldId="272"/>
            <ac:spMk id="15" creationId="{8EF1BAD6-03C1-4A6A-63BF-1A96906FEA62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54:59.234" v="168" actId="14100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4788BA0A-FA5D-4BEE-B208-6C5F0CB78F00}" dt="2025-09-03T04:54:59.234" v="168" actId="14100"/>
          <ac:spMkLst>
            <pc:docMk/>
            <pc:sldMk cId="0" sldId="27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4:53.168" v="166" actId="404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59:27.419" v="189" actId="108"/>
        <pc:sldMkLst>
          <pc:docMk/>
          <pc:sldMk cId="0" sldId="276"/>
        </pc:sldMkLst>
        <pc:spChg chg="mod">
          <ac:chgData name="Dr. Khurram Jadoon khan Asstt. Professor FCS" userId="684a1a15-bea5-4a17-9b67-1313be309245" providerId="ADAL" clId="{4788BA0A-FA5D-4BEE-B208-6C5F0CB78F00}" dt="2025-09-03T04:59:27.419" v="189" actId="108"/>
          <ac:spMkLst>
            <pc:docMk/>
            <pc:sldMk cId="0" sldId="27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9:07.456" v="185" actId="1076"/>
          <ac:spMkLst>
            <pc:docMk/>
            <pc:sldMk cId="0" sldId="276"/>
            <ac:spMk id="1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57:16.696" v="175" actId="1076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4788BA0A-FA5D-4BEE-B208-6C5F0CB78F00}" dt="2025-09-03T04:56:40.003" v="173" actId="15"/>
          <ac:spMkLst>
            <pc:docMk/>
            <pc:sldMk cId="0" sldId="27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4.235" v="174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4:57:16.696" v="175" actId="1076"/>
          <ac:spMkLst>
            <pc:docMk/>
            <pc:sldMk cId="0" sldId="277"/>
            <ac:spMk id="16" creationId="{AD071899-1731-6A0F-DFEE-F5BCCA7C2B74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4:59:59.829" v="194" actId="108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4788BA0A-FA5D-4BEE-B208-6C5F0CB78F00}" dt="2025-09-03T04:59:59.829" v="194" actId="108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5:28:09.470" v="249" actId="1076"/>
        <pc:sldMkLst>
          <pc:docMk/>
          <pc:sldMk cId="0" sldId="281"/>
        </pc:sldMkLst>
        <pc:spChg chg="mod">
          <ac:chgData name="Dr. Khurram Jadoon khan Asstt. Professor FCS" userId="684a1a15-bea5-4a17-9b67-1313be309245" providerId="ADAL" clId="{4788BA0A-FA5D-4BEE-B208-6C5F0CB78F00}" dt="2025-09-03T05:01:17.608" v="207" actId="20577"/>
          <ac:spMkLst>
            <pc:docMk/>
            <pc:sldMk cId="0" sldId="28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1:34.335" v="209" actId="113"/>
          <ac:spMkLst>
            <pc:docMk/>
            <pc:sldMk cId="0" sldId="281"/>
            <ac:spMk id="5" creationId="{BA308FE4-69E8-3F77-A457-0E8523CE3B11}"/>
          </ac:spMkLst>
        </pc:spChg>
        <pc:picChg chg="mod">
          <ac:chgData name="Dr. Khurram Jadoon khan Asstt. Professor FCS" userId="684a1a15-bea5-4a17-9b67-1313be309245" providerId="ADAL" clId="{4788BA0A-FA5D-4BEE-B208-6C5F0CB78F00}" dt="2025-09-03T05:28:09.470" v="249" actId="1076"/>
          <ac:picMkLst>
            <pc:docMk/>
            <pc:sldMk cId="0" sldId="281"/>
            <ac:picMk id="6" creationId="{727D8BA7-F34F-82A7-F21C-665E9D0C3540}"/>
          </ac:picMkLst>
        </pc:picChg>
      </pc:sldChg>
      <pc:sldChg chg="modSp mod">
        <pc:chgData name="Dr. Khurram Jadoon khan Asstt. Professor FCS" userId="684a1a15-bea5-4a17-9b67-1313be309245" providerId="ADAL" clId="{4788BA0A-FA5D-4BEE-B208-6C5F0CB78F00}" dt="2025-09-03T05:28:28.646" v="251" actId="14100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4788BA0A-FA5D-4BEE-B208-6C5F0CB78F00}" dt="2025-09-03T05:28:28.646" v="251" actId="14100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4788BA0A-FA5D-4BEE-B208-6C5F0CB78F00}" dt="2025-09-03T05:04:26.085" v="225" actId="14100"/>
        <pc:sldMkLst>
          <pc:docMk/>
          <pc:sldMk cId="0" sldId="283"/>
        </pc:sldMkLst>
        <pc:picChg chg="mod">
          <ac:chgData name="Dr. Khurram Jadoon khan Asstt. Professor FCS" userId="684a1a15-bea5-4a17-9b67-1313be309245" providerId="ADAL" clId="{4788BA0A-FA5D-4BEE-B208-6C5F0CB78F00}" dt="2025-09-03T05:04:26.085" v="225" actId="14100"/>
          <ac:picMkLst>
            <pc:docMk/>
            <pc:sldMk cId="0" sldId="283"/>
            <ac:picMk id="5" creationId="{2FD55F12-A806-F188-C881-ACA5B64ECBA5}"/>
          </ac:picMkLst>
        </pc:picChg>
      </pc:sldChg>
      <pc:sldChg chg="modSp del mod">
        <pc:chgData name="Dr. Khurram Jadoon khan Asstt. Professor FCS" userId="684a1a15-bea5-4a17-9b67-1313be309245" providerId="ADAL" clId="{4788BA0A-FA5D-4BEE-B208-6C5F0CB78F00}" dt="2025-09-03T05:30:17.967" v="252" actId="47"/>
        <pc:sldMkLst>
          <pc:docMk/>
          <pc:sldMk cId="0" sldId="285"/>
        </pc:sldMkLst>
      </pc:sldChg>
      <pc:sldChg chg="addSp modSp mod">
        <pc:chgData name="Dr. Khurram Jadoon khan Asstt. Professor FCS" userId="684a1a15-bea5-4a17-9b67-1313be309245" providerId="ADAL" clId="{4788BA0A-FA5D-4BEE-B208-6C5F0CB78F00}" dt="2025-09-03T04:33:55.298" v="28" actId="255"/>
        <pc:sldMkLst>
          <pc:docMk/>
          <pc:sldMk cId="4286085912" sldId="325"/>
        </pc:sldMkLst>
        <pc:spChg chg="add mod">
          <ac:chgData name="Dr. Khurram Jadoon khan Asstt. Professor FCS" userId="684a1a15-bea5-4a17-9b67-1313be309245" providerId="ADAL" clId="{4788BA0A-FA5D-4BEE-B208-6C5F0CB78F00}" dt="2025-09-03T04:32:17.187" v="16" actId="1076"/>
          <ac:spMkLst>
            <pc:docMk/>
            <pc:sldMk cId="4286085912" sldId="325"/>
            <ac:spMk id="8" creationId="{C918B90C-1551-AFD5-BC9F-1CE058FD2992}"/>
          </ac:spMkLst>
        </pc:spChg>
        <pc:spChg chg="add mod">
          <ac:chgData name="Dr. Khurram Jadoon khan Asstt. Professor FCS" userId="684a1a15-bea5-4a17-9b67-1313be309245" providerId="ADAL" clId="{4788BA0A-FA5D-4BEE-B208-6C5F0CB78F00}" dt="2025-09-03T04:32:51.865" v="23" actId="14100"/>
          <ac:spMkLst>
            <pc:docMk/>
            <pc:sldMk cId="4286085912" sldId="325"/>
            <ac:spMk id="12" creationId="{253D09EA-111B-7B47-6CE3-FB677A2FC536}"/>
          </ac:spMkLst>
        </pc:spChg>
        <pc:spChg chg="add mod">
          <ac:chgData name="Dr. Khurram Jadoon khan Asstt. Professor FCS" userId="684a1a15-bea5-4a17-9b67-1313be309245" providerId="ADAL" clId="{4788BA0A-FA5D-4BEE-B208-6C5F0CB78F00}" dt="2025-09-03T04:33:55.298" v="28" actId="255"/>
          <ac:spMkLst>
            <pc:docMk/>
            <pc:sldMk cId="4286085912" sldId="325"/>
            <ac:spMk id="14" creationId="{45D231BE-5751-3EB7-1574-233C39036390}"/>
          </ac:spMkLst>
        </pc:spChg>
      </pc:sldChg>
      <pc:sldChg chg="delSp modSp mod">
        <pc:chgData name="Dr. Khurram Jadoon khan Asstt. Professor FCS" userId="684a1a15-bea5-4a17-9b67-1313be309245" providerId="ADAL" clId="{4788BA0A-FA5D-4BEE-B208-6C5F0CB78F00}" dt="2025-09-03T05:07:13.577" v="243" actId="403"/>
        <pc:sldMkLst>
          <pc:docMk/>
          <pc:sldMk cId="0" sldId="360"/>
        </pc:sldMkLst>
        <pc:spChg chg="mod">
          <ac:chgData name="Dr. Khurram Jadoon khan Asstt. Professor FCS" userId="684a1a15-bea5-4a17-9b67-1313be309245" providerId="ADAL" clId="{4788BA0A-FA5D-4BEE-B208-6C5F0CB78F00}" dt="2025-09-03T05:06:30.703" v="227" actId="14100"/>
          <ac:spMkLst>
            <pc:docMk/>
            <pc:sldMk cId="0" sldId="36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6:37.619" v="231" actId="14100"/>
          <ac:spMkLst>
            <pc:docMk/>
            <pc:sldMk cId="0" sldId="36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6:48.413" v="235" actId="1076"/>
          <ac:spMkLst>
            <pc:docMk/>
            <pc:sldMk cId="0" sldId="36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7:05.735" v="240" actId="14100"/>
          <ac:spMkLst>
            <pc:docMk/>
            <pc:sldMk cId="0" sldId="36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6:51.840" v="237" actId="14100"/>
          <ac:spMkLst>
            <pc:docMk/>
            <pc:sldMk cId="0" sldId="36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4788BA0A-FA5D-4BEE-B208-6C5F0CB78F00}" dt="2025-09-03T05:07:13.577" v="243" actId="403"/>
          <ac:spMkLst>
            <pc:docMk/>
            <pc:sldMk cId="0" sldId="360"/>
            <ac:spMk id="8" creationId="{00000000-0000-0000-0000-000000000000}"/>
          </ac:spMkLst>
        </pc:spChg>
      </pc:sldChg>
    </pc:docChg>
  </pc:docChgLst>
  <pc:docChgLst>
    <pc:chgData name="Dr. Khurram Jadoon khan Asstt. Professor FCS" userId="684a1a15-bea5-4a17-9b67-1313be309245" providerId="ADAL" clId="{15850093-4D4C-496B-90FE-88B3CA6A2799}"/>
    <pc:docChg chg="undo custSel addSld delSld modSld sldOrd modMainMaster modNotesMaster">
      <pc:chgData name="Dr. Khurram Jadoon khan Asstt. Professor FCS" userId="684a1a15-bea5-4a17-9b67-1313be309245" providerId="ADAL" clId="{15850093-4D4C-496B-90FE-88B3CA6A2799}" dt="2024-09-11T07:28:25.524" v="524" actId="108"/>
      <pc:docMkLst>
        <pc:docMk/>
      </pc:docMkLst>
      <pc:sldChg chg="modSp mod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56"/>
        </pc:sldMkLst>
      </pc:sldChg>
      <pc:sldChg chg="addSp delSp modSp del mod">
        <pc:chgData name="Dr. Khurram Jadoon khan Asstt. Professor FCS" userId="684a1a15-bea5-4a17-9b67-1313be309245" providerId="ADAL" clId="{15850093-4D4C-496B-90FE-88B3CA6A2799}" dt="2024-09-05T04:24:13.570" v="18" actId="47"/>
        <pc:sldMkLst>
          <pc:docMk/>
          <pc:sldMk cId="0" sldId="257"/>
        </pc:sldMkLst>
      </pc:sldChg>
      <pc:sldChg chg="modSp mod">
        <pc:chgData name="Dr. Khurram Jadoon khan Asstt. Professor FCS" userId="684a1a15-bea5-4a17-9b67-1313be309245" providerId="ADAL" clId="{15850093-4D4C-496B-90FE-88B3CA6A2799}" dt="2024-09-10T08:07:45.286" v="523" actId="20577"/>
        <pc:sldMkLst>
          <pc:docMk/>
          <pc:sldMk cId="0" sldId="258"/>
        </pc:sldMkLst>
      </pc:sldChg>
      <pc:sldChg chg="modSp del mod">
        <pc:chgData name="Dr. Khurram Jadoon khan Asstt. Professor FCS" userId="684a1a15-bea5-4a17-9b67-1313be309245" providerId="ADAL" clId="{15850093-4D4C-496B-90FE-88B3CA6A2799}" dt="2024-09-05T07:25:52.011" v="504" actId="47"/>
        <pc:sldMkLst>
          <pc:docMk/>
          <pc:sldMk cId="0" sldId="259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60"/>
        </pc:sldMkLst>
      </pc:sldChg>
      <pc:sldChg chg="modSp mod">
        <pc:chgData name="Dr. Khurram Jadoon khan Asstt. Professor FCS" userId="684a1a15-bea5-4a17-9b67-1313be309245" providerId="ADAL" clId="{15850093-4D4C-496B-90FE-88B3CA6A2799}" dt="2024-09-05T07:04:19.506" v="370" actId="20577"/>
        <pc:sldMkLst>
          <pc:docMk/>
          <pc:sldMk cId="0" sldId="261"/>
        </pc:sldMkLst>
      </pc:sldChg>
      <pc:sldChg chg="modSp mod">
        <pc:chgData name="Dr. Khurram Jadoon khan Asstt. Professor FCS" userId="684a1a15-bea5-4a17-9b67-1313be309245" providerId="ADAL" clId="{15850093-4D4C-496B-90FE-88B3CA6A2799}" dt="2024-09-05T07:07:08.414" v="372" actId="14100"/>
        <pc:sldMkLst>
          <pc:docMk/>
          <pc:sldMk cId="0" sldId="262"/>
        </pc:sldMkLst>
      </pc:sldChg>
      <pc:sldChg chg="addSp modSp mod modNotes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63"/>
        </pc:sldMkLst>
      </pc:sldChg>
      <pc:sldChg chg="modSp mod">
        <pc:chgData name="Dr. Khurram Jadoon khan Asstt. Professor FCS" userId="684a1a15-bea5-4a17-9b67-1313be309245" providerId="ADAL" clId="{15850093-4D4C-496B-90FE-88B3CA6A2799}" dt="2024-09-05T07:08:52.343" v="378" actId="14100"/>
        <pc:sldMkLst>
          <pc:docMk/>
          <pc:sldMk cId="0" sldId="264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65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09:26.063" v="383" actId="1076"/>
        <pc:sldMkLst>
          <pc:docMk/>
          <pc:sldMk cId="0" sldId="266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0:36.780" v="386" actId="207"/>
        <pc:sldMkLst>
          <pc:docMk/>
          <pc:sldMk cId="0" sldId="267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0:45.535" v="388" actId="1076"/>
        <pc:sldMkLst>
          <pc:docMk/>
          <pc:sldMk cId="0" sldId="268"/>
        </pc:sldMkLst>
      </pc:sldChg>
      <pc:sldChg chg="modSp mod">
        <pc:chgData name="Dr. Khurram Jadoon khan Asstt. Professor FCS" userId="684a1a15-bea5-4a17-9b67-1313be309245" providerId="ADAL" clId="{15850093-4D4C-496B-90FE-88B3CA6A2799}" dt="2024-09-05T07:11:31.390" v="391" actId="6549"/>
        <pc:sldMkLst>
          <pc:docMk/>
          <pc:sldMk cId="0" sldId="269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2:49.257" v="421" actId="20577"/>
        <pc:sldMkLst>
          <pc:docMk/>
          <pc:sldMk cId="0" sldId="270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2:59.116" v="423" actId="14100"/>
        <pc:sldMkLst>
          <pc:docMk/>
          <pc:sldMk cId="0" sldId="271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7:26:28.172" v="505" actId="207"/>
        <pc:sldMkLst>
          <pc:docMk/>
          <pc:sldMk cId="0" sldId="272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5:54.603" v="435" actId="15"/>
        <pc:sldMkLst>
          <pc:docMk/>
          <pc:sldMk cId="0" sldId="273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6:08.609" v="441" actId="15"/>
        <pc:sldMkLst>
          <pc:docMk/>
          <pc:sldMk cId="0" sldId="274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6:32.833" v="449" actId="478"/>
        <pc:sldMkLst>
          <pc:docMk/>
          <pc:sldMk cId="0" sldId="275"/>
        </pc:sldMkLst>
      </pc:sldChg>
      <pc:sldChg chg="addSp modSp mod">
        <pc:chgData name="Dr. Khurram Jadoon khan Asstt. Professor FCS" userId="684a1a15-bea5-4a17-9b67-1313be309245" providerId="ADAL" clId="{15850093-4D4C-496B-90FE-88B3CA6A2799}" dt="2024-09-05T07:16:44.789" v="452" actId="14100"/>
        <pc:sldMkLst>
          <pc:docMk/>
          <pc:sldMk cId="0" sldId="276"/>
        </pc:sldMkLst>
      </pc:sldChg>
      <pc:sldChg chg="addSp modSp mod">
        <pc:chgData name="Dr. Khurram Jadoon khan Asstt. Professor FCS" userId="684a1a15-bea5-4a17-9b67-1313be309245" providerId="ADAL" clId="{15850093-4D4C-496B-90FE-88B3CA6A2799}" dt="2024-09-05T05:59:24.130" v="229" actId="1076"/>
        <pc:sldMkLst>
          <pc:docMk/>
          <pc:sldMk cId="0" sldId="277"/>
        </pc:sldMkLst>
      </pc:sldChg>
      <pc:sldChg chg="add del">
        <pc:chgData name="Dr. Khurram Jadoon khan Asstt. Professor FCS" userId="684a1a15-bea5-4a17-9b67-1313be309245" providerId="ADAL" clId="{15850093-4D4C-496B-90FE-88B3CA6A2799}" dt="2024-09-05T05:56:57.389" v="209" actId="47"/>
        <pc:sldMkLst>
          <pc:docMk/>
          <pc:sldMk cId="0" sldId="278"/>
        </pc:sldMkLst>
      </pc:sldChg>
      <pc:sldChg chg="del">
        <pc:chgData name="Dr. Khurram Jadoon khan Asstt. Professor FCS" userId="684a1a15-bea5-4a17-9b67-1313be309245" providerId="ADAL" clId="{15850093-4D4C-496B-90FE-88B3CA6A2799}" dt="2024-09-05T05:56:55.769" v="208" actId="47"/>
        <pc:sldMkLst>
          <pc:docMk/>
          <pc:sldMk cId="0" sldId="279"/>
        </pc:sldMkLst>
      </pc:sldChg>
      <pc:sldChg chg="modSp mod">
        <pc:chgData name="Dr. Khurram Jadoon khan Asstt. Professor FCS" userId="684a1a15-bea5-4a17-9b67-1313be309245" providerId="ADAL" clId="{15850093-4D4C-496B-90FE-88B3CA6A2799}" dt="2024-09-05T05:59:12.559" v="226" actId="403"/>
        <pc:sldMkLst>
          <pc:docMk/>
          <pc:sldMk cId="0" sldId="280"/>
        </pc:sldMkLst>
      </pc:sldChg>
      <pc:sldChg chg="addSp modSp mod">
        <pc:chgData name="Dr. Khurram Jadoon khan Asstt. Professor FCS" userId="684a1a15-bea5-4a17-9b67-1313be309245" providerId="ADAL" clId="{15850093-4D4C-496B-90FE-88B3CA6A2799}" dt="2024-09-05T07:18:44.077" v="464" actId="20577"/>
        <pc:sldMkLst>
          <pc:docMk/>
          <pc:sldMk cId="0" sldId="281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9:13.833" v="465" actId="1076"/>
        <pc:sldMkLst>
          <pc:docMk/>
          <pc:sldMk cId="0" sldId="282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6:03:50.634" v="254" actId="1076"/>
        <pc:sldMkLst>
          <pc:docMk/>
          <pc:sldMk cId="0" sldId="283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6:05:13.517" v="260" actId="1076"/>
        <pc:sldMkLst>
          <pc:docMk/>
          <pc:sldMk cId="0" sldId="284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6:06:00.097" v="267" actId="478"/>
        <pc:sldMkLst>
          <pc:docMk/>
          <pc:sldMk cId="0" sldId="285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7:19:25.585" v="466" actId="478"/>
        <pc:sldMkLst>
          <pc:docMk/>
          <pc:sldMk cId="0" sldId="286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06:05.394" v="268" actId="1076"/>
        <pc:sldMkLst>
          <pc:docMk/>
          <pc:sldMk cId="0" sldId="287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06:10.177" v="269" actId="1076"/>
        <pc:sldMkLst>
          <pc:docMk/>
          <pc:sldMk cId="0" sldId="288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89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06:59.889" v="279" actId="1076"/>
        <pc:sldMkLst>
          <pc:docMk/>
          <pc:sldMk cId="0" sldId="290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6:07:22.356" v="281" actId="478"/>
        <pc:sldMkLst>
          <pc:docMk/>
          <pc:sldMk cId="0" sldId="291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07:40.406" v="282" actId="1076"/>
        <pc:sldMkLst>
          <pc:docMk/>
          <pc:sldMk cId="0" sldId="292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93"/>
        </pc:sldMkLst>
      </pc:sldChg>
      <pc:sldChg chg="modSp del">
        <pc:chgData name="Dr. Khurram Jadoon khan Asstt. Professor FCS" userId="684a1a15-bea5-4a17-9b67-1313be309245" providerId="ADAL" clId="{15850093-4D4C-496B-90FE-88B3CA6A2799}" dt="2024-09-05T06:08:03.780" v="283" actId="47"/>
        <pc:sldMkLst>
          <pc:docMk/>
          <pc:sldMk cId="0" sldId="294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6:11:02.571" v="313" actId="14100"/>
        <pc:sldMkLst>
          <pc:docMk/>
          <pc:sldMk cId="0" sldId="295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56:41.917" v="315" actId="14100"/>
        <pc:sldMkLst>
          <pc:docMk/>
          <pc:sldMk cId="0" sldId="296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97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98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299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57:00.031" v="316" actId="14100"/>
        <pc:sldMkLst>
          <pc:docMk/>
          <pc:sldMk cId="0" sldId="300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305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320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6:58:00.774" v="334"/>
        <pc:sldMkLst>
          <pc:docMk/>
          <pc:sldMk cId="0" sldId="321"/>
        </pc:sldMkLst>
      </pc:sldChg>
      <pc:sldChg chg="modSp mod">
        <pc:chgData name="Dr. Khurram Jadoon khan Asstt. Professor FCS" userId="684a1a15-bea5-4a17-9b67-1313be309245" providerId="ADAL" clId="{15850093-4D4C-496B-90FE-88B3CA6A2799}" dt="2024-09-05T06:59:56.645" v="350" actId="207"/>
        <pc:sldMkLst>
          <pc:docMk/>
          <pc:sldMk cId="0" sldId="323"/>
        </pc:sldMkLst>
      </pc:sldChg>
      <pc:sldChg chg="modSp mod ord">
        <pc:chgData name="Dr. Khurram Jadoon khan Asstt. Professor FCS" userId="684a1a15-bea5-4a17-9b67-1313be309245" providerId="ADAL" clId="{15850093-4D4C-496B-90FE-88B3CA6A2799}" dt="2024-09-05T07:07:54.507" v="377" actId="14100"/>
        <pc:sldMkLst>
          <pc:docMk/>
          <pc:sldMk cId="4286085912" sldId="325"/>
        </pc:sldMkLst>
      </pc:sldChg>
      <pc:sldChg chg="modSp del">
        <pc:chgData name="Dr. Khurram Jadoon khan Asstt. Professor FCS" userId="684a1a15-bea5-4a17-9b67-1313be309245" providerId="ADAL" clId="{15850093-4D4C-496B-90FE-88B3CA6A2799}" dt="2024-09-05T06:05:31.881" v="261" actId="47"/>
        <pc:sldMkLst>
          <pc:docMk/>
          <pc:sldMk cId="864586145" sldId="326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11T07:28:25.524" v="524" actId="108"/>
        <pc:sldMkLst>
          <pc:docMk/>
          <pc:sldMk cId="0" sldId="327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360"/>
        </pc:sldMkLst>
      </pc:sldChg>
      <pc:sldChg chg="modSp">
        <pc:chgData name="Dr. Khurram Jadoon khan Asstt. Professor FCS" userId="684a1a15-bea5-4a17-9b67-1313be309245" providerId="ADAL" clId="{15850093-4D4C-496B-90FE-88B3CA6A2799}" dt="2024-09-05T05:58:17.271" v="210"/>
        <pc:sldMkLst>
          <pc:docMk/>
          <pc:sldMk cId="0" sldId="361"/>
        </pc:sldMkLst>
      </pc:sldChg>
      <pc:sldChg chg="modSp mod">
        <pc:chgData name="Dr. Khurram Jadoon khan Asstt. Professor FCS" userId="684a1a15-bea5-4a17-9b67-1313be309245" providerId="ADAL" clId="{15850093-4D4C-496B-90FE-88B3CA6A2799}" dt="2024-09-05T07:23:49.939" v="469" actId="14100"/>
        <pc:sldMkLst>
          <pc:docMk/>
          <pc:sldMk cId="0" sldId="362"/>
        </pc:sldMkLst>
      </pc:sldChg>
      <pc:sldChg chg="modSp del">
        <pc:chgData name="Dr. Khurram Jadoon khan Asstt. Professor FCS" userId="684a1a15-bea5-4a17-9b67-1313be309245" providerId="ADAL" clId="{15850093-4D4C-496B-90FE-88B3CA6A2799}" dt="2024-09-05T07:25:31.181" v="503" actId="47"/>
        <pc:sldMkLst>
          <pc:docMk/>
          <pc:sldMk cId="2290152521" sldId="363"/>
        </pc:sldMkLst>
      </pc:sldChg>
      <pc:sldChg chg="addSp delSp modSp mod">
        <pc:chgData name="Dr. Khurram Jadoon khan Asstt. Professor FCS" userId="684a1a15-bea5-4a17-9b67-1313be309245" providerId="ADAL" clId="{15850093-4D4C-496B-90FE-88B3CA6A2799}" dt="2024-09-05T06:06:30.465" v="273" actId="14100"/>
        <pc:sldMkLst>
          <pc:docMk/>
          <pc:sldMk cId="0" sldId="390"/>
        </pc:sldMkLst>
      </pc:sldChg>
      <pc:sldChg chg="delSp modSp mod">
        <pc:chgData name="Dr. Khurram Jadoon khan Asstt. Professor FCS" userId="684a1a15-bea5-4a17-9b67-1313be309245" providerId="ADAL" clId="{15850093-4D4C-496B-90FE-88B3CA6A2799}" dt="2024-09-05T06:06:38.275" v="275" actId="478"/>
        <pc:sldMkLst>
          <pc:docMk/>
          <pc:sldMk cId="0" sldId="392"/>
        </pc:sldMkLst>
      </pc:sldChg>
      <pc:sldChg chg="addSp delSp modSp add mod">
        <pc:chgData name="Dr. Khurram Jadoon khan Asstt. Professor FCS" userId="684a1a15-bea5-4a17-9b67-1313be309245" providerId="ADAL" clId="{15850093-4D4C-496B-90FE-88B3CA6A2799}" dt="2024-09-05T06:10:51.732" v="309" actId="20577"/>
        <pc:sldMkLst>
          <pc:docMk/>
          <pc:sldMk cId="210634973" sldId="393"/>
        </pc:sldMkLst>
      </pc:sldChg>
      <pc:sldMasterChg chg="modSp modSldLayout">
        <pc:chgData name="Dr. Khurram Jadoon khan Asstt. Professor FCS" userId="684a1a15-bea5-4a17-9b67-1313be309245" providerId="ADAL" clId="{15850093-4D4C-496B-90FE-88B3CA6A2799}" dt="2024-09-05T05:58:17.271" v="210"/>
        <pc:sldMasterMkLst>
          <pc:docMk/>
          <pc:sldMasterMk cId="0" sldId="2147483648"/>
        </pc:sldMasterMkLst>
        <pc:sldLayoutChg chg="modSp">
          <pc:chgData name="Dr. Khurram Jadoon khan Asstt. Professor FCS" userId="684a1a15-bea5-4a17-9b67-1313be309245" providerId="ADAL" clId="{15850093-4D4C-496B-90FE-88B3CA6A2799}" dt="2024-09-05T05:58:17.271" v="210"/>
          <pc:sldLayoutMkLst>
            <pc:docMk/>
            <pc:sldMasterMk cId="0" sldId="2147483648"/>
            <pc:sldLayoutMk cId="0" sldId="2147483661"/>
          </pc:sldLayoutMkLst>
        </pc:sldLayoutChg>
        <pc:sldLayoutChg chg="modSp">
          <pc:chgData name="Dr. Khurram Jadoon khan Asstt. Professor FCS" userId="684a1a15-bea5-4a17-9b67-1313be309245" providerId="ADAL" clId="{15850093-4D4C-496B-90FE-88B3CA6A2799}" dt="2024-09-05T05:58:17.271" v="210"/>
          <pc:sldLayoutMkLst>
            <pc:docMk/>
            <pc:sldMasterMk cId="0" sldId="2147483648"/>
            <pc:sldLayoutMk cId="0" sldId="2147483663"/>
          </pc:sldLayoutMkLst>
        </pc:sldLayoutChg>
      </pc:sldMasterChg>
    </pc:docChg>
  </pc:docChgLst>
  <pc:docChgLst>
    <pc:chgData name="Dr. Khurram Jadoon khan Asstt. Professor FCS" userId="684a1a15-bea5-4a17-9b67-1313be309245" providerId="ADAL" clId="{C6138609-4DB6-404B-B2D3-24D95502C110}"/>
    <pc:docChg chg="undo redo custSel addSld delSld modSld">
      <pc:chgData name="Dr. Khurram Jadoon khan Asstt. Professor FCS" userId="684a1a15-bea5-4a17-9b67-1313be309245" providerId="ADAL" clId="{C6138609-4DB6-404B-B2D3-24D95502C110}" dt="2024-02-01T11:29:18.239" v="472" actId="14100"/>
      <pc:docMkLst>
        <pc:docMk/>
      </pc:docMkLst>
      <pc:sldChg chg="modSp mod">
        <pc:chgData name="Dr. Khurram Jadoon khan Asstt. Professor FCS" userId="684a1a15-bea5-4a17-9b67-1313be309245" providerId="ADAL" clId="{C6138609-4DB6-404B-B2D3-24D95502C110}" dt="2024-02-01T10:56:57.844" v="176" actId="20577"/>
        <pc:sldMkLst>
          <pc:docMk/>
          <pc:sldMk cId="0" sldId="269"/>
        </pc:sldMkLst>
      </pc:sldChg>
      <pc:sldChg chg="delSp modSp mod">
        <pc:chgData name="Dr. Khurram Jadoon khan Asstt. Professor FCS" userId="684a1a15-bea5-4a17-9b67-1313be309245" providerId="ADAL" clId="{C6138609-4DB6-404B-B2D3-24D95502C110}" dt="2024-02-01T11:00:06.879" v="178" actId="478"/>
        <pc:sldMkLst>
          <pc:docMk/>
          <pc:sldMk cId="0" sldId="276"/>
        </pc:sldMkLst>
      </pc:sldChg>
      <pc:sldChg chg="modSp mod">
        <pc:chgData name="Dr. Khurram Jadoon khan Asstt. Professor FCS" userId="684a1a15-bea5-4a17-9b67-1313be309245" providerId="ADAL" clId="{C6138609-4DB6-404B-B2D3-24D95502C110}" dt="2024-02-01T11:02:34.698" v="179" actId="6549"/>
        <pc:sldMkLst>
          <pc:docMk/>
          <pc:sldMk cId="0" sldId="280"/>
        </pc:sldMkLst>
      </pc:sldChg>
      <pc:sldChg chg="addSp delSp modSp mod">
        <pc:chgData name="Dr. Khurram Jadoon khan Asstt. Professor FCS" userId="684a1a15-bea5-4a17-9b67-1313be309245" providerId="ADAL" clId="{C6138609-4DB6-404B-B2D3-24D95502C110}" dt="2024-02-01T11:08:08.819" v="194" actId="1076"/>
        <pc:sldMkLst>
          <pc:docMk/>
          <pc:sldMk cId="0" sldId="281"/>
        </pc:sldMkLst>
      </pc:sldChg>
      <pc:sldChg chg="modSp mod">
        <pc:chgData name="Dr. Khurram Jadoon khan Asstt. Professor FCS" userId="684a1a15-bea5-4a17-9b67-1313be309245" providerId="ADAL" clId="{C6138609-4DB6-404B-B2D3-24D95502C110}" dt="2024-02-01T11:08:52.830" v="196" actId="14100"/>
        <pc:sldMkLst>
          <pc:docMk/>
          <pc:sldMk cId="0" sldId="282"/>
        </pc:sldMkLst>
      </pc:sldChg>
      <pc:sldChg chg="delSp modSp mod">
        <pc:chgData name="Dr. Khurram Jadoon khan Asstt. Professor FCS" userId="684a1a15-bea5-4a17-9b67-1313be309245" providerId="ADAL" clId="{C6138609-4DB6-404B-B2D3-24D95502C110}" dt="2024-02-01T11:13:46.428" v="310" actId="1076"/>
        <pc:sldMkLst>
          <pc:docMk/>
          <pc:sldMk cId="0" sldId="284"/>
        </pc:sldMkLst>
      </pc:sldChg>
      <pc:sldChg chg="addSp delSp modSp mod">
        <pc:chgData name="Dr. Khurram Jadoon khan Asstt. Professor FCS" userId="684a1a15-bea5-4a17-9b67-1313be309245" providerId="ADAL" clId="{C6138609-4DB6-404B-B2D3-24D95502C110}" dt="2024-02-01T11:28:53.942" v="467" actId="1076"/>
        <pc:sldMkLst>
          <pc:docMk/>
          <pc:sldMk cId="0" sldId="289"/>
        </pc:sldMkLst>
      </pc:sldChg>
      <pc:sldChg chg="modSp mod">
        <pc:chgData name="Dr. Khurram Jadoon khan Asstt. Professor FCS" userId="684a1a15-bea5-4a17-9b67-1313be309245" providerId="ADAL" clId="{C6138609-4DB6-404B-B2D3-24D95502C110}" dt="2024-02-01T11:16:04.780" v="324" actId="1076"/>
        <pc:sldMkLst>
          <pc:docMk/>
          <pc:sldMk cId="0" sldId="297"/>
        </pc:sldMkLst>
      </pc:sldChg>
      <pc:sldChg chg="modSp mod">
        <pc:chgData name="Dr. Khurram Jadoon khan Asstt. Professor FCS" userId="684a1a15-bea5-4a17-9b67-1313be309245" providerId="ADAL" clId="{C6138609-4DB6-404B-B2D3-24D95502C110}" dt="2024-02-01T05:29:10.749" v="1" actId="1076"/>
        <pc:sldMkLst>
          <pc:docMk/>
          <pc:sldMk cId="0" sldId="298"/>
        </pc:sldMkLst>
      </pc:sldChg>
      <pc:sldChg chg="modSp mod">
        <pc:chgData name="Dr. Khurram Jadoon khan Asstt. Professor FCS" userId="684a1a15-bea5-4a17-9b67-1313be309245" providerId="ADAL" clId="{C6138609-4DB6-404B-B2D3-24D95502C110}" dt="2024-02-01T05:48:51.976" v="4" actId="1076"/>
        <pc:sldMkLst>
          <pc:docMk/>
          <pc:sldMk cId="0" sldId="299"/>
        </pc:sldMkLst>
      </pc:sldChg>
      <pc:sldChg chg="addSp modSp mod">
        <pc:chgData name="Dr. Khurram Jadoon khan Asstt. Professor FCS" userId="684a1a15-bea5-4a17-9b67-1313be309245" providerId="ADAL" clId="{C6138609-4DB6-404B-B2D3-24D95502C110}" dt="2024-02-01T11:17:35.111" v="356" actId="20577"/>
        <pc:sldMkLst>
          <pc:docMk/>
          <pc:sldMk cId="0" sldId="300"/>
        </pc:sldMkLst>
      </pc:sldChg>
      <pc:sldChg chg="modSp del mod">
        <pc:chgData name="Dr. Khurram Jadoon khan Asstt. Professor FCS" userId="684a1a15-bea5-4a17-9b67-1313be309245" providerId="ADAL" clId="{C6138609-4DB6-404B-B2D3-24D95502C110}" dt="2024-02-01T05:49:26.535" v="10" actId="47"/>
        <pc:sldMkLst>
          <pc:docMk/>
          <pc:sldMk cId="0" sldId="301"/>
        </pc:sldMkLst>
      </pc:sldChg>
      <pc:sldChg chg="addSp delSp modSp del mod">
        <pc:chgData name="Dr. Khurram Jadoon khan Asstt. Professor FCS" userId="684a1a15-bea5-4a17-9b67-1313be309245" providerId="ADAL" clId="{C6138609-4DB6-404B-B2D3-24D95502C110}" dt="2024-02-01T05:57:11.761" v="124" actId="47"/>
        <pc:sldMkLst>
          <pc:docMk/>
          <pc:sldMk cId="0" sldId="302"/>
        </pc:sldMkLst>
      </pc:sldChg>
      <pc:sldChg chg="add del">
        <pc:chgData name="Dr. Khurram Jadoon khan Asstt. Professor FCS" userId="684a1a15-bea5-4a17-9b67-1313be309245" providerId="ADAL" clId="{C6138609-4DB6-404B-B2D3-24D95502C110}" dt="2024-02-01T11:23:37.664" v="416" actId="47"/>
        <pc:sldMkLst>
          <pc:docMk/>
          <pc:sldMk cId="0" sldId="303"/>
        </pc:sldMkLst>
      </pc:sldChg>
      <pc:sldChg chg="add del">
        <pc:chgData name="Dr. Khurram Jadoon khan Asstt. Professor FCS" userId="684a1a15-bea5-4a17-9b67-1313be309245" providerId="ADAL" clId="{C6138609-4DB6-404B-B2D3-24D95502C110}" dt="2024-02-01T11:24:12.947" v="422" actId="47"/>
        <pc:sldMkLst>
          <pc:docMk/>
          <pc:sldMk cId="0" sldId="304"/>
        </pc:sldMkLst>
      </pc:sldChg>
      <pc:sldChg chg="addSp delSp modSp add mod">
        <pc:chgData name="Dr. Khurram Jadoon khan Asstt. Professor FCS" userId="684a1a15-bea5-4a17-9b67-1313be309245" providerId="ADAL" clId="{C6138609-4DB6-404B-B2D3-24D95502C110}" dt="2024-02-01T11:19:29.541" v="387" actId="403"/>
        <pc:sldMkLst>
          <pc:docMk/>
          <pc:sldMk cId="0" sldId="320"/>
        </pc:sldMkLst>
      </pc:sldChg>
      <pc:sldChg chg="addSp modSp add mod">
        <pc:chgData name="Dr. Khurram Jadoon khan Asstt. Professor FCS" userId="684a1a15-bea5-4a17-9b67-1313be309245" providerId="ADAL" clId="{C6138609-4DB6-404B-B2D3-24D95502C110}" dt="2024-02-01T05:57:33.609" v="131" actId="403"/>
        <pc:sldMkLst>
          <pc:docMk/>
          <pc:sldMk cId="0" sldId="321"/>
        </pc:sldMkLst>
      </pc:sldChg>
      <pc:sldChg chg="addSp delSp modSp add del mod">
        <pc:chgData name="Dr. Khurram Jadoon khan Asstt. Professor FCS" userId="684a1a15-bea5-4a17-9b67-1313be309245" providerId="ADAL" clId="{C6138609-4DB6-404B-B2D3-24D95502C110}" dt="2024-02-01T05:57:07.550" v="123" actId="47"/>
        <pc:sldMkLst>
          <pc:docMk/>
          <pc:sldMk cId="0" sldId="322"/>
        </pc:sldMkLst>
      </pc:sldChg>
      <pc:sldChg chg="addSp delSp modSp add mod">
        <pc:chgData name="Dr. Khurram Jadoon khan Asstt. Professor FCS" userId="684a1a15-bea5-4a17-9b67-1313be309245" providerId="ADAL" clId="{C6138609-4DB6-404B-B2D3-24D95502C110}" dt="2024-02-01T11:21:17.603" v="397" actId="20577"/>
        <pc:sldMkLst>
          <pc:docMk/>
          <pc:sldMk cId="0" sldId="323"/>
        </pc:sldMkLst>
      </pc:sldChg>
      <pc:sldChg chg="delSp modSp add del mod">
        <pc:chgData name="Dr. Khurram Jadoon khan Asstt. Professor FCS" userId="684a1a15-bea5-4a17-9b67-1313be309245" providerId="ADAL" clId="{C6138609-4DB6-404B-B2D3-24D95502C110}" dt="2024-02-01T11:23:38.603" v="417" actId="47"/>
        <pc:sldMkLst>
          <pc:docMk/>
          <pc:sldMk cId="0" sldId="324"/>
        </pc:sldMkLst>
      </pc:sldChg>
      <pc:sldChg chg="addSp delSp modSp new mod">
        <pc:chgData name="Dr. Khurram Jadoon khan Asstt. Professor FCS" userId="684a1a15-bea5-4a17-9b67-1313be309245" providerId="ADAL" clId="{C6138609-4DB6-404B-B2D3-24D95502C110}" dt="2024-02-01T10:15:06.070" v="167" actId="1076"/>
        <pc:sldMkLst>
          <pc:docMk/>
          <pc:sldMk cId="4286085912" sldId="325"/>
        </pc:sldMkLst>
      </pc:sldChg>
      <pc:sldChg chg="modSp add mod">
        <pc:chgData name="Dr. Khurram Jadoon khan Asstt. Professor FCS" userId="684a1a15-bea5-4a17-9b67-1313be309245" providerId="ADAL" clId="{C6138609-4DB6-404B-B2D3-24D95502C110}" dt="2024-02-01T11:14:45.587" v="318" actId="1076"/>
        <pc:sldMkLst>
          <pc:docMk/>
          <pc:sldMk cId="864586145" sldId="326"/>
        </pc:sldMkLst>
      </pc:sldChg>
      <pc:sldChg chg="delSp modSp add del mod">
        <pc:chgData name="Dr. Khurram Jadoon khan Asstt. Professor FCS" userId="684a1a15-bea5-4a17-9b67-1313be309245" providerId="ADAL" clId="{C6138609-4DB6-404B-B2D3-24D95502C110}" dt="2024-02-01T11:27:10.027" v="463" actId="478"/>
        <pc:sldMkLst>
          <pc:docMk/>
          <pc:sldMk cId="0" sldId="327"/>
        </pc:sldMkLst>
      </pc:sldChg>
      <pc:sldChg chg="modSp add mod">
        <pc:chgData name="Dr. Khurram Jadoon khan Asstt. Professor FCS" userId="684a1a15-bea5-4a17-9b67-1313be309245" providerId="ADAL" clId="{C6138609-4DB6-404B-B2D3-24D95502C110}" dt="2024-02-01T11:15:05.404" v="321" actId="14100"/>
        <pc:sldMkLst>
          <pc:docMk/>
          <pc:sldMk cId="0" sldId="360"/>
        </pc:sldMkLst>
      </pc:sldChg>
      <pc:sldChg chg="modSp add del mod">
        <pc:chgData name="Dr. Khurram Jadoon khan Asstt. Professor FCS" userId="684a1a15-bea5-4a17-9b67-1313be309245" providerId="ADAL" clId="{C6138609-4DB6-404B-B2D3-24D95502C110}" dt="2024-02-01T11:23:31.981" v="415" actId="14100"/>
        <pc:sldMkLst>
          <pc:docMk/>
          <pc:sldMk cId="0" sldId="361"/>
        </pc:sldMkLst>
      </pc:sldChg>
      <pc:sldChg chg="addSp delSp modSp add del mod">
        <pc:chgData name="Dr. Khurram Jadoon khan Asstt. Professor FCS" userId="684a1a15-bea5-4a17-9b67-1313be309245" providerId="ADAL" clId="{C6138609-4DB6-404B-B2D3-24D95502C110}" dt="2024-02-01T11:24:39.372" v="426" actId="22"/>
        <pc:sldMkLst>
          <pc:docMk/>
          <pc:sldMk cId="0" sldId="362"/>
        </pc:sldMkLst>
      </pc:sldChg>
      <pc:sldChg chg="delSp modSp add mod">
        <pc:chgData name="Dr. Khurram Jadoon khan Asstt. Professor FCS" userId="684a1a15-bea5-4a17-9b67-1313be309245" providerId="ADAL" clId="{C6138609-4DB6-404B-B2D3-24D95502C110}" dt="2024-02-01T11:26:26.733" v="459" actId="1076"/>
        <pc:sldMkLst>
          <pc:docMk/>
          <pc:sldMk cId="2290152521" sldId="363"/>
        </pc:sldMkLst>
      </pc:sldChg>
      <pc:sldChg chg="modSp add mod">
        <pc:chgData name="Dr. Khurram Jadoon khan Asstt. Professor FCS" userId="684a1a15-bea5-4a17-9b67-1313be309245" providerId="ADAL" clId="{C6138609-4DB6-404B-B2D3-24D95502C110}" dt="2024-02-01T11:29:06.134" v="470" actId="14100"/>
        <pc:sldMkLst>
          <pc:docMk/>
          <pc:sldMk cId="0" sldId="390"/>
        </pc:sldMkLst>
      </pc:sldChg>
      <pc:sldChg chg="modSp add mod">
        <pc:chgData name="Dr. Khurram Jadoon khan Asstt. Professor FCS" userId="684a1a15-bea5-4a17-9b67-1313be309245" providerId="ADAL" clId="{C6138609-4DB6-404B-B2D3-24D95502C110}" dt="2024-02-01T11:29:18.239" v="472" actId="14100"/>
        <pc:sldMkLst>
          <pc:docMk/>
          <pc:sldMk cId="0" sldId="3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9EECD-05C5-4F1B-B774-062724DAD88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971550"/>
            <a:ext cx="46609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4FB4D-C33F-4520-A6D7-C99356EF1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1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971550"/>
            <a:ext cx="4660900" cy="2622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FB4D-C33F-4520-A6D7-C99356EF14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3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70182" y="1296924"/>
            <a:ext cx="10677236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82538" y="683769"/>
            <a:ext cx="1045252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2640" y="4352544"/>
            <a:ext cx="96723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0880" y="1787652"/>
            <a:ext cx="601065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1787652"/>
            <a:ext cx="601065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68929" y="660400"/>
            <a:ext cx="3879743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8348" y="2914903"/>
            <a:ext cx="1046875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echnologyreview.com/featuredstory/520431/d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kype.com/en/translator-preview/" TargetMode="External"/><Relationship Id="rId7" Type="http://schemas.openxmlformats.org/officeDocument/2006/relationships/image" Target="../media/image21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hyperlink" Target="http://googleblog.blogspot.com/2015/01/hallo-hola-ola-" TargetMode="External"/><Relationship Id="rId4" Type="http://schemas.openxmlformats.org/officeDocument/2006/relationships/image" Target="../media/image1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070" y="3396297"/>
            <a:ext cx="634746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6000" spc="-5"/>
              <a:t>Artificial</a:t>
            </a:r>
            <a:r>
              <a:rPr sz="6000" spc="-15"/>
              <a:t> </a:t>
            </a:r>
            <a:r>
              <a:rPr sz="6000" spc="-20"/>
              <a:t>Intelligence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0846307" y="6900671"/>
            <a:ext cx="1016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7200" y="381000"/>
            <a:ext cx="38100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4800" spc="-120"/>
              <a:t>Textbook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60400" y="1295401"/>
            <a:ext cx="11049000" cy="490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Font typeface="Arial"/>
              <a:buChar char="•"/>
              <a:tabLst>
                <a:tab pos="357505" algn="l"/>
              </a:tabLst>
            </a:pPr>
            <a:r>
              <a:rPr lang="en-US" sz="4000" b="1" spc="-90">
                <a:latin typeface="Calibri"/>
                <a:cs typeface="Calibri"/>
              </a:rPr>
              <a:t>Textbook</a:t>
            </a:r>
            <a:r>
              <a:rPr sz="4000" b="1">
                <a:latin typeface="Calibri"/>
                <a:cs typeface="Calibri"/>
              </a:rPr>
              <a:t>:</a:t>
            </a:r>
            <a:endParaRPr sz="4000">
              <a:latin typeface="Calibri"/>
              <a:cs typeface="Calibri"/>
            </a:endParaRPr>
          </a:p>
          <a:p>
            <a:pPr marL="753110" marR="314960" lvl="1" indent="-396240">
              <a:spcBef>
                <a:spcPts val="805"/>
              </a:spcBef>
              <a:buFont typeface="Wingdings"/>
              <a:buChar char=""/>
              <a:tabLst>
                <a:tab pos="753745" algn="l"/>
              </a:tabLst>
            </a:pPr>
            <a:r>
              <a:rPr sz="3600" spc="-5">
                <a:latin typeface="Calibri"/>
                <a:cs typeface="Calibri"/>
              </a:rPr>
              <a:t>Artificial </a:t>
            </a:r>
            <a:r>
              <a:rPr sz="3600" spc="-10">
                <a:latin typeface="Calibri"/>
                <a:cs typeface="Calibri"/>
              </a:rPr>
              <a:t>Intelligence: </a:t>
            </a:r>
            <a:r>
              <a:rPr sz="3600" spc="-5">
                <a:latin typeface="Calibri"/>
                <a:cs typeface="Calibri"/>
              </a:rPr>
              <a:t>A </a:t>
            </a:r>
            <a:r>
              <a:rPr sz="3600" spc="-10">
                <a:latin typeface="Calibri"/>
                <a:cs typeface="Calibri"/>
              </a:rPr>
              <a:t>Modern </a:t>
            </a:r>
            <a:r>
              <a:rPr sz="3600" spc="-15">
                <a:latin typeface="Calibri"/>
                <a:cs typeface="Calibri"/>
              </a:rPr>
              <a:t>Approach  by </a:t>
            </a:r>
            <a:r>
              <a:rPr sz="3600" b="1" spc="-10">
                <a:latin typeface="Calibri"/>
                <a:cs typeface="Calibri"/>
              </a:rPr>
              <a:t>Stuart </a:t>
            </a:r>
            <a:r>
              <a:rPr sz="3600" b="1" spc="-5">
                <a:latin typeface="Calibri"/>
                <a:cs typeface="Calibri"/>
              </a:rPr>
              <a:t>Russell </a:t>
            </a:r>
            <a:r>
              <a:rPr sz="3600" b="1" spc="-10">
                <a:latin typeface="Calibri"/>
                <a:cs typeface="Calibri"/>
              </a:rPr>
              <a:t>&amp; </a:t>
            </a:r>
            <a:r>
              <a:rPr sz="3600" b="1" spc="-30">
                <a:latin typeface="Calibri"/>
                <a:cs typeface="Calibri"/>
              </a:rPr>
              <a:t>Peter</a:t>
            </a:r>
            <a:r>
              <a:rPr sz="3600" b="1" spc="95">
                <a:latin typeface="Calibri"/>
                <a:cs typeface="Calibri"/>
              </a:rPr>
              <a:t> </a:t>
            </a:r>
            <a:r>
              <a:rPr sz="3600" b="1">
                <a:latin typeface="Calibri"/>
                <a:cs typeface="Calibri"/>
              </a:rPr>
              <a:t>Norvig</a:t>
            </a:r>
            <a:r>
              <a:rPr lang="en-US" sz="3600" b="1">
                <a:latin typeface="Calibri"/>
                <a:cs typeface="Calibri"/>
              </a:rPr>
              <a:t> (</a:t>
            </a:r>
            <a:r>
              <a:rPr lang="en-US" sz="3600">
                <a:latin typeface="Calibri"/>
                <a:cs typeface="Calibri"/>
              </a:rPr>
              <a:t>Fourth Edition)</a:t>
            </a:r>
            <a:endParaRPr sz="3600">
              <a:latin typeface="Calibri"/>
              <a:cs typeface="Calibri"/>
            </a:endParaRPr>
          </a:p>
          <a:p>
            <a:pPr marL="356870" indent="-344170">
              <a:spcBef>
                <a:spcPts val="76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3600" b="1" spc="-15">
                <a:latin typeface="Calibri"/>
                <a:cs typeface="Calibri"/>
              </a:rPr>
              <a:t>Recommended</a:t>
            </a:r>
            <a:r>
              <a:rPr sz="3600" b="1" spc="15">
                <a:latin typeface="Calibri"/>
                <a:cs typeface="Calibri"/>
              </a:rPr>
              <a:t> </a:t>
            </a:r>
            <a:r>
              <a:rPr sz="3600" b="1" spc="-10">
                <a:latin typeface="Calibri"/>
                <a:cs typeface="Calibri"/>
              </a:rPr>
              <a:t>books:</a:t>
            </a:r>
            <a:endParaRPr sz="3600">
              <a:latin typeface="Calibri"/>
              <a:cs typeface="Calibri"/>
            </a:endParaRPr>
          </a:p>
          <a:p>
            <a:pPr marL="805180" marR="1327150" lvl="1" indent="-396240">
              <a:spcBef>
                <a:spcPts val="765"/>
              </a:spcBef>
              <a:buFont typeface="Wingdings"/>
              <a:buChar char=""/>
              <a:tabLst>
                <a:tab pos="805180" algn="l"/>
              </a:tabLst>
            </a:pPr>
            <a:r>
              <a:rPr sz="3600" spc="-5">
                <a:latin typeface="Calibri"/>
                <a:cs typeface="Calibri"/>
              </a:rPr>
              <a:t>Artificial </a:t>
            </a:r>
            <a:r>
              <a:rPr sz="3600" spc="-10">
                <a:latin typeface="Calibri"/>
                <a:cs typeface="Calibri"/>
              </a:rPr>
              <a:t>Intelligence </a:t>
            </a:r>
            <a:r>
              <a:rPr sz="3600" spc="-5">
                <a:latin typeface="Calibri"/>
                <a:cs typeface="Calibri"/>
              </a:rPr>
              <a:t>and </a:t>
            </a:r>
            <a:r>
              <a:rPr sz="3600" spc="-10">
                <a:latin typeface="Calibri"/>
                <a:cs typeface="Calibri"/>
              </a:rPr>
              <a:t>Intelligent  </a:t>
            </a:r>
            <a:r>
              <a:rPr sz="3600" spc="-25">
                <a:latin typeface="Calibri"/>
                <a:cs typeface="Calibri"/>
              </a:rPr>
              <a:t>Systems, </a:t>
            </a:r>
            <a:r>
              <a:rPr sz="3600" spc="-105">
                <a:latin typeface="Calibri"/>
                <a:cs typeface="Calibri"/>
              </a:rPr>
              <a:t>N.P.</a:t>
            </a:r>
            <a:r>
              <a:rPr sz="3600" spc="5">
                <a:latin typeface="Calibri"/>
                <a:cs typeface="Calibri"/>
              </a:rPr>
              <a:t> </a:t>
            </a:r>
            <a:r>
              <a:rPr sz="3600" spc="-55">
                <a:latin typeface="Calibri"/>
                <a:cs typeface="Calibri"/>
              </a:rPr>
              <a:t>PADHY</a:t>
            </a:r>
            <a:endParaRPr sz="3600">
              <a:latin typeface="Calibri"/>
              <a:cs typeface="Calibri"/>
            </a:endParaRPr>
          </a:p>
          <a:p>
            <a:pPr marL="805180" marR="5080" lvl="1" indent="-396240">
              <a:spcBef>
                <a:spcPts val="765"/>
              </a:spcBef>
              <a:buFont typeface="Wingdings"/>
              <a:buChar char=""/>
              <a:tabLst>
                <a:tab pos="805180" algn="l"/>
              </a:tabLst>
            </a:pPr>
            <a:r>
              <a:rPr sz="3600" spc="-15">
                <a:latin typeface="Calibri"/>
                <a:cs typeface="Calibri"/>
              </a:rPr>
              <a:t>Practical </a:t>
            </a:r>
            <a:r>
              <a:rPr sz="3600" spc="-5">
                <a:latin typeface="Calibri"/>
                <a:cs typeface="Calibri"/>
              </a:rPr>
              <a:t>Artificial </a:t>
            </a:r>
            <a:r>
              <a:rPr sz="3600" spc="-10">
                <a:latin typeface="Calibri"/>
                <a:cs typeface="Calibri"/>
              </a:rPr>
              <a:t>Intelligence </a:t>
            </a:r>
            <a:r>
              <a:rPr sz="3600" spc="-20">
                <a:latin typeface="Calibri"/>
                <a:cs typeface="Calibri"/>
              </a:rPr>
              <a:t>Programming  </a:t>
            </a:r>
            <a:r>
              <a:rPr sz="3600" spc="-5">
                <a:latin typeface="Calibri"/>
                <a:cs typeface="Calibri"/>
              </a:rPr>
              <a:t>with </a:t>
            </a:r>
            <a:r>
              <a:rPr sz="3600" spc="-25">
                <a:latin typeface="Calibri"/>
                <a:cs typeface="Calibri"/>
              </a:rPr>
              <a:t>java, </a:t>
            </a:r>
            <a:r>
              <a:rPr sz="3600" spc="-5">
                <a:latin typeface="Calibri"/>
                <a:cs typeface="Calibri"/>
              </a:rPr>
              <a:t>Mark</a:t>
            </a:r>
            <a:r>
              <a:rPr sz="3600" spc="5">
                <a:latin typeface="Calibri"/>
                <a:cs typeface="Calibri"/>
              </a:rPr>
              <a:t> </a:t>
            </a:r>
            <a:r>
              <a:rPr sz="3600" spc="-30">
                <a:latin typeface="Calibri"/>
                <a:cs typeface="Calibri"/>
              </a:rPr>
              <a:t>Watson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91443" y="6832601"/>
            <a:ext cx="1524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1445" y="2280411"/>
            <a:ext cx="7472045" cy="205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spc="-20"/>
              <a:t>What </a:t>
            </a:r>
            <a:r>
              <a:rPr sz="6500" spc="-5"/>
              <a:t>is</a:t>
            </a:r>
            <a:r>
              <a:rPr sz="6500" spc="-50"/>
              <a:t> </a:t>
            </a:r>
            <a:r>
              <a:rPr sz="6500"/>
              <a:t>AI??</a:t>
            </a:r>
          </a:p>
          <a:p>
            <a:pPr algn="ctr">
              <a:lnSpc>
                <a:spcPct val="100000"/>
              </a:lnSpc>
            </a:pPr>
            <a:r>
              <a:rPr sz="6500"/>
              <a:t>Artificial +</a:t>
            </a:r>
            <a:r>
              <a:rPr sz="6500" spc="-80"/>
              <a:t> </a:t>
            </a:r>
            <a:r>
              <a:rPr sz="6500" spc="-20"/>
              <a:t>Intelligence</a:t>
            </a:r>
            <a:endParaRPr sz="6500"/>
          </a:p>
        </p:txBody>
      </p:sp>
      <p:sp>
        <p:nvSpPr>
          <p:cNvPr id="3" name="object 3"/>
          <p:cNvSpPr txBox="1"/>
          <p:nvPr/>
        </p:nvSpPr>
        <p:spPr>
          <a:xfrm>
            <a:off x="10843259" y="6897623"/>
            <a:ext cx="1016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>
                <a:solidFill>
                  <a:srgbClr val="888888"/>
                </a:solidFill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8001" y="282575"/>
            <a:ext cx="473519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5"/>
              <a:t>What </a:t>
            </a:r>
            <a:r>
              <a:rPr spc="-5"/>
              <a:t>is </a:t>
            </a:r>
            <a:r>
              <a:rPr spc="-20"/>
              <a:t>Intelligence?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939487"/>
            <a:ext cx="10972800" cy="551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3600" spc="-10">
                <a:latin typeface="Calibri"/>
                <a:cs typeface="Calibri"/>
              </a:rPr>
              <a:t>Intelligence:</a:t>
            </a:r>
            <a:endParaRPr sz="3600">
              <a:latin typeface="Calibri"/>
              <a:cs typeface="Calibri"/>
            </a:endParaRPr>
          </a:p>
          <a:p>
            <a:pPr marL="756285" marR="566420" lvl="1" indent="-286385">
              <a:spcBef>
                <a:spcPts val="630"/>
              </a:spcBef>
              <a:buFont typeface="Arial"/>
              <a:buChar char="–"/>
              <a:tabLst>
                <a:tab pos="756920" algn="l"/>
              </a:tabLst>
            </a:pPr>
            <a:r>
              <a:rPr sz="2800">
                <a:latin typeface="Calibri"/>
                <a:cs typeface="Calibri"/>
              </a:rPr>
              <a:t>“</a:t>
            </a:r>
            <a:r>
              <a:rPr sz="2800" b="1">
                <a:latin typeface="Calibri"/>
                <a:cs typeface="Calibri"/>
              </a:rPr>
              <a:t>The </a:t>
            </a:r>
            <a:r>
              <a:rPr sz="2800" b="1" spc="-5">
                <a:latin typeface="Calibri"/>
                <a:cs typeface="Calibri"/>
              </a:rPr>
              <a:t>capacity </a:t>
            </a:r>
            <a:r>
              <a:rPr sz="2800" b="1" spc="-10">
                <a:latin typeface="Calibri"/>
                <a:cs typeface="Calibri"/>
              </a:rPr>
              <a:t>to </a:t>
            </a:r>
            <a:r>
              <a:rPr sz="2800" b="1" spc="-5">
                <a:latin typeface="Calibri"/>
                <a:cs typeface="Calibri"/>
              </a:rPr>
              <a:t>learn and solve problems</a:t>
            </a:r>
            <a:r>
              <a:rPr sz="2800" spc="-5">
                <a:latin typeface="Calibri"/>
                <a:cs typeface="Calibri"/>
              </a:rPr>
              <a:t>” </a:t>
            </a:r>
            <a:r>
              <a:rPr sz="2800" spc="-20">
                <a:latin typeface="Calibri"/>
                <a:cs typeface="Calibri"/>
              </a:rPr>
              <a:t>(Websters  </a:t>
            </a:r>
            <a:r>
              <a:rPr sz="2800" spc="-5">
                <a:latin typeface="Calibri"/>
                <a:cs typeface="Calibri"/>
              </a:rPr>
              <a:t>dictionary)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>
                <a:latin typeface="Calibri"/>
                <a:cs typeface="Calibri"/>
              </a:rPr>
              <a:t>in</a:t>
            </a:r>
            <a:r>
              <a:rPr sz="2800" spc="-85">
                <a:latin typeface="Calibri"/>
                <a:cs typeface="Calibri"/>
              </a:rPr>
              <a:t> </a:t>
            </a:r>
            <a:r>
              <a:rPr sz="2800" spc="-20">
                <a:latin typeface="Calibri"/>
                <a:cs typeface="Calibri"/>
              </a:rPr>
              <a:t>particular,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490"/>
              </a:spcBef>
              <a:buFont typeface="Arial"/>
              <a:buChar char="•"/>
              <a:tabLst>
                <a:tab pos="1213485" algn="l"/>
                <a:tab pos="1214120" algn="l"/>
              </a:tabLst>
            </a:pPr>
            <a:r>
              <a:rPr sz="2400" i="1" spc="-5">
                <a:latin typeface="Calibri"/>
                <a:cs typeface="Calibri"/>
              </a:rPr>
              <a:t>the ability </a:t>
            </a:r>
            <a:r>
              <a:rPr sz="2400" i="1" spc="-15">
                <a:latin typeface="Calibri"/>
                <a:cs typeface="Calibri"/>
              </a:rPr>
              <a:t>to </a:t>
            </a:r>
            <a:r>
              <a:rPr sz="2400" i="1" spc="-5">
                <a:latin typeface="Calibri"/>
                <a:cs typeface="Calibri"/>
              </a:rPr>
              <a:t>solve </a:t>
            </a:r>
            <a:r>
              <a:rPr sz="2400" i="1">
                <a:latin typeface="Calibri"/>
                <a:cs typeface="Calibri"/>
              </a:rPr>
              <a:t>novel</a:t>
            </a:r>
            <a:r>
              <a:rPr sz="2400" i="1" spc="-50">
                <a:latin typeface="Calibri"/>
                <a:cs typeface="Calibri"/>
              </a:rPr>
              <a:t> </a:t>
            </a:r>
            <a:r>
              <a:rPr sz="2400" i="1" spc="-5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spcBef>
                <a:spcPts val="47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400" i="1" spc="-5">
                <a:latin typeface="Calibri"/>
                <a:cs typeface="Calibri"/>
              </a:rPr>
              <a:t>the ability </a:t>
            </a:r>
            <a:r>
              <a:rPr sz="2400" i="1" spc="-15">
                <a:latin typeface="Calibri"/>
                <a:cs typeface="Calibri"/>
              </a:rPr>
              <a:t>to </a:t>
            </a:r>
            <a:r>
              <a:rPr sz="2400" i="1" spc="-5">
                <a:latin typeface="Calibri"/>
                <a:cs typeface="Calibri"/>
              </a:rPr>
              <a:t>think </a:t>
            </a:r>
            <a:r>
              <a:rPr sz="2400" i="1" spc="-10">
                <a:latin typeface="Calibri"/>
                <a:cs typeface="Calibri"/>
              </a:rPr>
              <a:t>&amp; </a:t>
            </a:r>
            <a:r>
              <a:rPr sz="2400" i="1">
                <a:latin typeface="Calibri"/>
                <a:cs typeface="Calibri"/>
              </a:rPr>
              <a:t>act</a:t>
            </a:r>
            <a:r>
              <a:rPr sz="2400" i="1" spc="15">
                <a:latin typeface="Calibri"/>
                <a:cs typeface="Calibri"/>
              </a:rPr>
              <a:t> </a:t>
            </a:r>
            <a:r>
              <a:rPr sz="2400" i="1" spc="-5">
                <a:latin typeface="Calibri"/>
                <a:cs typeface="Calibri"/>
              </a:rPr>
              <a:t>rationally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spcBef>
                <a:spcPts val="47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400" i="1" spc="-5">
                <a:latin typeface="Calibri"/>
                <a:cs typeface="Calibri"/>
              </a:rPr>
              <a:t>the ability </a:t>
            </a:r>
            <a:r>
              <a:rPr sz="2400" i="1" spc="-15">
                <a:latin typeface="Calibri"/>
                <a:cs typeface="Calibri"/>
              </a:rPr>
              <a:t>to </a:t>
            </a:r>
            <a:r>
              <a:rPr sz="2400" i="1" spc="-5">
                <a:latin typeface="Calibri"/>
                <a:cs typeface="Calibri"/>
              </a:rPr>
              <a:t>think </a:t>
            </a:r>
            <a:r>
              <a:rPr sz="2400" i="1" spc="-10">
                <a:latin typeface="Calibri"/>
                <a:cs typeface="Calibri"/>
              </a:rPr>
              <a:t>&amp; </a:t>
            </a:r>
            <a:r>
              <a:rPr sz="2400" i="1">
                <a:latin typeface="Calibri"/>
                <a:cs typeface="Calibri"/>
              </a:rPr>
              <a:t>act </a:t>
            </a:r>
            <a:r>
              <a:rPr sz="2400" i="1" spc="-20">
                <a:latin typeface="Calibri"/>
                <a:cs typeface="Calibri"/>
              </a:rPr>
              <a:t>like</a:t>
            </a:r>
            <a:r>
              <a:rPr sz="2400" i="1" spc="20">
                <a:latin typeface="Calibri"/>
                <a:cs typeface="Calibri"/>
              </a:rPr>
              <a:t> </a:t>
            </a:r>
            <a:r>
              <a:rPr sz="2400" i="1" spc="-5">
                <a:latin typeface="Calibri"/>
                <a:cs typeface="Calibri"/>
              </a:rPr>
              <a:t>humans</a:t>
            </a:r>
            <a:endParaRPr lang="en-US" sz="2400" i="1" spc="-5">
              <a:latin typeface="Calibri"/>
              <a:cs typeface="Calibri"/>
            </a:endParaRPr>
          </a:p>
          <a:p>
            <a:pPr marL="1155700" lvl="2" indent="-228600">
              <a:spcBef>
                <a:spcPts val="47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endParaRPr sz="2400">
              <a:latin typeface="Calibri"/>
              <a:cs typeface="Calibri"/>
            </a:endParaRPr>
          </a:p>
          <a:p>
            <a:pPr marL="448309" indent="-435609">
              <a:spcBef>
                <a:spcPts val="690"/>
              </a:spcBef>
              <a:buFont typeface="Arial"/>
              <a:buChar char="•"/>
              <a:tabLst>
                <a:tab pos="448309" algn="l"/>
                <a:tab pos="448945" algn="l"/>
              </a:tabLst>
            </a:pPr>
            <a:r>
              <a:rPr sz="3600" spc="-5">
                <a:latin typeface="Calibri"/>
                <a:cs typeface="Calibri"/>
              </a:rPr>
              <a:t>Artificial</a:t>
            </a:r>
            <a:r>
              <a:rPr sz="3600">
                <a:latin typeface="Calibri"/>
                <a:cs typeface="Calibri"/>
              </a:rPr>
              <a:t> </a:t>
            </a:r>
            <a:r>
              <a:rPr sz="3600" spc="-10">
                <a:latin typeface="Calibri"/>
                <a:cs typeface="Calibri"/>
              </a:rPr>
              <a:t>Intelligence</a:t>
            </a:r>
            <a:endParaRPr sz="3600">
              <a:latin typeface="Calibri"/>
              <a:cs typeface="Calibri"/>
            </a:endParaRPr>
          </a:p>
          <a:p>
            <a:pPr marL="756285" lvl="1" indent="-286385"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800">
                <a:latin typeface="Calibri"/>
                <a:cs typeface="Calibri"/>
              </a:rPr>
              <a:t>build and </a:t>
            </a:r>
            <a:r>
              <a:rPr sz="2800" spc="-10">
                <a:latin typeface="Calibri"/>
                <a:cs typeface="Calibri"/>
              </a:rPr>
              <a:t>understand intelligent </a:t>
            </a:r>
            <a:r>
              <a:rPr sz="2800">
                <a:latin typeface="Calibri"/>
                <a:cs typeface="Calibri"/>
              </a:rPr>
              <a:t>entities </a:t>
            </a:r>
            <a:r>
              <a:rPr sz="2800" spc="-5">
                <a:latin typeface="Calibri"/>
                <a:cs typeface="Calibri"/>
              </a:rPr>
              <a:t>or</a:t>
            </a:r>
            <a:r>
              <a:rPr sz="2800" spc="-14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agents</a:t>
            </a:r>
            <a:endParaRPr sz="2800">
              <a:latin typeface="Calibri"/>
              <a:cs typeface="Calibri"/>
            </a:endParaRPr>
          </a:p>
          <a:p>
            <a:pPr marL="756285" marR="499745" lvl="1" indent="-286385"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5">
                <a:latin typeface="Calibri"/>
                <a:cs typeface="Calibri"/>
              </a:rPr>
              <a:t>Two </a:t>
            </a:r>
            <a:r>
              <a:rPr sz="2800" spc="-5">
                <a:latin typeface="Calibri"/>
                <a:cs typeface="Calibri"/>
              </a:rPr>
              <a:t>main approaches: “</a:t>
            </a:r>
            <a:r>
              <a:rPr sz="2800" b="1" spc="-5">
                <a:latin typeface="Calibri"/>
                <a:cs typeface="Calibri"/>
              </a:rPr>
              <a:t>engineering</a:t>
            </a:r>
            <a:r>
              <a:rPr sz="2800" spc="-5">
                <a:latin typeface="Calibri"/>
                <a:cs typeface="Calibri"/>
              </a:rPr>
              <a:t>” </a:t>
            </a:r>
            <a:r>
              <a:rPr sz="2800" spc="-15">
                <a:latin typeface="Calibri"/>
                <a:cs typeface="Calibri"/>
              </a:rPr>
              <a:t>versus </a:t>
            </a:r>
            <a:r>
              <a:rPr sz="2800" spc="-5">
                <a:latin typeface="Calibri"/>
                <a:cs typeface="Calibri"/>
              </a:rPr>
              <a:t>“</a:t>
            </a:r>
            <a:r>
              <a:rPr sz="2800" b="1" spc="-5">
                <a:latin typeface="Calibri"/>
                <a:cs typeface="Calibri"/>
              </a:rPr>
              <a:t>cognitive  </a:t>
            </a:r>
            <a:r>
              <a:rPr sz="2800" b="1">
                <a:latin typeface="Calibri"/>
                <a:cs typeface="Calibri"/>
              </a:rPr>
              <a:t>modeling</a:t>
            </a:r>
            <a:r>
              <a:rPr sz="2800">
                <a:latin typeface="Calibri"/>
                <a:cs typeface="Calibri"/>
              </a:rPr>
              <a:t>”</a:t>
            </a:r>
          </a:p>
          <a:p>
            <a:pPr marR="5080" algn="r">
              <a:spcBef>
                <a:spcPts val="1910"/>
              </a:spcBef>
            </a:pP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EFE7-D2F5-2E03-A9B1-39EF5E8C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1" y="145774"/>
            <a:ext cx="10287000" cy="2708434"/>
          </a:xfrm>
        </p:spPr>
        <p:txBody>
          <a:bodyPr/>
          <a:lstStyle/>
          <a:p>
            <a:r>
              <a:rPr lang="en-US" spc="-35"/>
              <a:t>What’s </a:t>
            </a:r>
            <a:r>
              <a:rPr lang="en-US" spc="-25"/>
              <a:t>involved </a:t>
            </a:r>
            <a:r>
              <a:rPr lang="en-US" spc="-5"/>
              <a:t>in</a:t>
            </a:r>
            <a:r>
              <a:rPr lang="en-US" spc="125"/>
              <a:t> </a:t>
            </a:r>
            <a:r>
              <a:rPr lang="en-US" spc="-20"/>
              <a:t>Intelligence?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04174A-9C70-3BF8-A3DE-33BCA061E1F7}"/>
              </a:ext>
            </a:extLst>
          </p:cNvPr>
          <p:cNvGrpSpPr/>
          <p:nvPr/>
        </p:nvGrpSpPr>
        <p:grpSpPr>
          <a:xfrm>
            <a:off x="3791199" y="822882"/>
            <a:ext cx="4276725" cy="2590800"/>
            <a:chOff x="4432135" y="1330628"/>
            <a:chExt cx="4350385" cy="2179955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E708B8AB-AD4E-0486-6F76-9D0C5495033B}"/>
                </a:ext>
              </a:extLst>
            </p:cNvPr>
            <p:cNvSpPr/>
            <p:nvPr/>
          </p:nvSpPr>
          <p:spPr>
            <a:xfrm>
              <a:off x="4432135" y="1330628"/>
              <a:ext cx="4350385" cy="2179955"/>
            </a:xfrm>
            <a:custGeom>
              <a:avLst/>
              <a:gdLst/>
              <a:ahLst/>
              <a:cxnLst/>
              <a:rect l="l" t="t" r="r" b="b"/>
              <a:pathLst>
                <a:path w="4350384" h="2179954">
                  <a:moveTo>
                    <a:pt x="0" y="127095"/>
                  </a:moveTo>
                  <a:lnTo>
                    <a:pt x="0" y="2052588"/>
                  </a:lnTo>
                  <a:lnTo>
                    <a:pt x="9987" y="2102059"/>
                  </a:lnTo>
                  <a:lnTo>
                    <a:pt x="37225" y="2142458"/>
                  </a:lnTo>
                  <a:lnTo>
                    <a:pt x="77624" y="2169696"/>
                  </a:lnTo>
                  <a:lnTo>
                    <a:pt x="127095" y="2179683"/>
                  </a:lnTo>
                  <a:lnTo>
                    <a:pt x="4223014" y="2179683"/>
                  </a:lnTo>
                  <a:lnTo>
                    <a:pt x="4272486" y="2169696"/>
                  </a:lnTo>
                  <a:lnTo>
                    <a:pt x="4312884" y="2142458"/>
                  </a:lnTo>
                  <a:lnTo>
                    <a:pt x="4340122" y="2102059"/>
                  </a:lnTo>
                  <a:lnTo>
                    <a:pt x="4350110" y="2052588"/>
                  </a:lnTo>
                  <a:lnTo>
                    <a:pt x="4350110" y="127095"/>
                  </a:lnTo>
                  <a:lnTo>
                    <a:pt x="4340122" y="77624"/>
                  </a:lnTo>
                  <a:lnTo>
                    <a:pt x="4312884" y="37225"/>
                  </a:lnTo>
                  <a:lnTo>
                    <a:pt x="4272486" y="9987"/>
                  </a:lnTo>
                  <a:lnTo>
                    <a:pt x="4223014" y="0"/>
                  </a:lnTo>
                  <a:lnTo>
                    <a:pt x="127095" y="0"/>
                  </a:lnTo>
                  <a:lnTo>
                    <a:pt x="77624" y="9987"/>
                  </a:lnTo>
                  <a:lnTo>
                    <a:pt x="37225" y="37225"/>
                  </a:lnTo>
                  <a:lnTo>
                    <a:pt x="9987" y="77624"/>
                  </a:lnTo>
                  <a:lnTo>
                    <a:pt x="0" y="127095"/>
                  </a:lnTo>
                  <a:close/>
                </a:path>
              </a:pathLst>
            </a:custGeom>
            <a:ln w="6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268E9EBF-2FCF-D40B-A46B-438918CC3257}"/>
                </a:ext>
              </a:extLst>
            </p:cNvPr>
            <p:cNvSpPr txBox="1"/>
            <p:nvPr/>
          </p:nvSpPr>
          <p:spPr>
            <a:xfrm>
              <a:off x="4552883" y="2208167"/>
              <a:ext cx="1433830" cy="32371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500" spc="-45">
                  <a:latin typeface="Tahoma"/>
                  <a:cs typeface="Tahoma"/>
                </a:rPr>
                <a:t>Real</a:t>
              </a:r>
              <a:r>
                <a:rPr sz="2500" spc="-10">
                  <a:latin typeface="Tahoma"/>
                  <a:cs typeface="Tahoma"/>
                </a:rPr>
                <a:t> </a:t>
              </a:r>
              <a:r>
                <a:rPr sz="2500" spc="-90">
                  <a:latin typeface="Tahoma"/>
                  <a:cs typeface="Tahoma"/>
                </a:rPr>
                <a:t>world</a:t>
              </a:r>
              <a:endParaRPr sz="2500">
                <a:latin typeface="Tahoma"/>
                <a:cs typeface="Tahoma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23868B7-FD58-DBE7-C680-5A66109A5ED7}"/>
                </a:ext>
              </a:extLst>
            </p:cNvPr>
            <p:cNvSpPr/>
            <p:nvPr/>
          </p:nvSpPr>
          <p:spPr>
            <a:xfrm>
              <a:off x="6100534" y="1464078"/>
              <a:ext cx="2548260" cy="191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44DE4F7-0978-86F5-7AA5-47BB791B2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399" y="3433560"/>
            <a:ext cx="5204322" cy="2121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220F66-0D2A-E7FD-4B99-69B2774EF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5574577"/>
            <a:ext cx="4786256" cy="18297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18B90C-1551-AFD5-BC9F-1CE058FD2992}"/>
              </a:ext>
            </a:extLst>
          </p:cNvPr>
          <p:cNvSpPr txBox="1"/>
          <p:nvPr/>
        </p:nvSpPr>
        <p:spPr>
          <a:xfrm>
            <a:off x="8395331" y="1307294"/>
            <a:ext cx="5102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Real world</a:t>
            </a:r>
            <a:r>
              <a:rPr lang="en-US" sz="2400"/>
              <a:t> represents the complex, messy, and often overwhelming information we experience.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D09EA-111B-7B47-6CE3-FB677A2FC536}"/>
              </a:ext>
            </a:extLst>
          </p:cNvPr>
          <p:cNvSpPr txBox="1"/>
          <p:nvPr/>
        </p:nvSpPr>
        <p:spPr>
          <a:xfrm>
            <a:off x="8531720" y="3669143"/>
            <a:ext cx="5102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Model</a:t>
            </a:r>
            <a:r>
              <a:rPr lang="en-US" sz="2400"/>
              <a:t> is how an AI system simplifies the real world into a structured, manageable representation.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231BE-5751-3EB7-1574-233C39036390}"/>
              </a:ext>
            </a:extLst>
          </p:cNvPr>
          <p:cNvSpPr txBox="1"/>
          <p:nvPr/>
        </p:nvSpPr>
        <p:spPr>
          <a:xfrm>
            <a:off x="8531720" y="6046467"/>
            <a:ext cx="4786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Predictions</a:t>
            </a:r>
            <a:r>
              <a:rPr lang="en-US" sz="2400"/>
              <a:t> is the final step, where the AI uses the model to find a solution or make a decision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608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0" y="283084"/>
            <a:ext cx="71831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35"/>
              <a:t>What’s </a:t>
            </a:r>
            <a:r>
              <a:rPr spc="-25"/>
              <a:t>involved </a:t>
            </a:r>
            <a:r>
              <a:rPr spc="-5"/>
              <a:t>in</a:t>
            </a:r>
            <a:r>
              <a:rPr spc="125"/>
              <a:t> </a:t>
            </a:r>
            <a:r>
              <a:rPr spc="-20"/>
              <a:t>Intelligence?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000" y="1187592"/>
            <a:ext cx="12496800" cy="5563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685" indent="-514984">
              <a:buAutoNum type="arabicPeriod"/>
              <a:tabLst>
                <a:tab pos="527685" algn="l"/>
                <a:tab pos="528320" algn="l"/>
              </a:tabLst>
            </a:pPr>
            <a:r>
              <a:rPr sz="3200">
                <a:latin typeface="Calibri"/>
                <a:cs typeface="Calibri"/>
              </a:rPr>
              <a:t>Ability </a:t>
            </a:r>
            <a:r>
              <a:rPr sz="3200" spc="-15">
                <a:latin typeface="Calibri"/>
                <a:cs typeface="Calibri"/>
              </a:rPr>
              <a:t>to interact </a:t>
            </a:r>
            <a:r>
              <a:rPr sz="3200">
                <a:latin typeface="Calibri"/>
                <a:cs typeface="Calibri"/>
              </a:rPr>
              <a:t>with </a:t>
            </a:r>
            <a:r>
              <a:rPr sz="3200" spc="-5">
                <a:latin typeface="Calibri"/>
                <a:cs typeface="Calibri"/>
              </a:rPr>
              <a:t>the </a:t>
            </a:r>
            <a:r>
              <a:rPr sz="3200" spc="-10">
                <a:latin typeface="Calibri"/>
                <a:cs typeface="Calibri"/>
              </a:rPr>
              <a:t>real</a:t>
            </a:r>
            <a:r>
              <a:rPr sz="3200" spc="-110">
                <a:latin typeface="Calibri"/>
                <a:cs typeface="Calibri"/>
              </a:rPr>
              <a:t> </a:t>
            </a:r>
            <a:r>
              <a:rPr sz="3200">
                <a:latin typeface="Calibri"/>
                <a:cs typeface="Calibri"/>
              </a:rPr>
              <a:t>world</a:t>
            </a:r>
          </a:p>
          <a:p>
            <a:pPr marL="1213485" lvl="2" indent="-286385">
              <a:spcBef>
                <a:spcPts val="4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to </a:t>
            </a:r>
            <a:r>
              <a:rPr sz="2600" spc="-5">
                <a:latin typeface="Calibri"/>
                <a:cs typeface="Calibri"/>
              </a:rPr>
              <a:t>perceive, understand, </a:t>
            </a:r>
            <a:r>
              <a:rPr sz="2600">
                <a:latin typeface="Calibri"/>
                <a:cs typeface="Calibri"/>
              </a:rPr>
              <a:t>and</a:t>
            </a:r>
            <a:r>
              <a:rPr sz="2600" spc="-185">
                <a:latin typeface="Calibri"/>
                <a:cs typeface="Calibri"/>
              </a:rPr>
              <a:t> </a:t>
            </a:r>
            <a:r>
              <a:rPr sz="2600" spc="-5">
                <a:latin typeface="Calibri"/>
                <a:cs typeface="Calibri"/>
              </a:rPr>
              <a:t>act</a:t>
            </a:r>
            <a:endParaRPr sz="2600">
              <a:latin typeface="Calibri"/>
              <a:cs typeface="Calibri"/>
            </a:endParaRPr>
          </a:p>
          <a:p>
            <a:pPr marL="1670685" lvl="3" indent="-286385">
              <a:buFont typeface="Arial"/>
              <a:buChar char="–"/>
              <a:tabLst>
                <a:tab pos="756920" algn="l"/>
              </a:tabLst>
            </a:pPr>
            <a:r>
              <a:rPr sz="2400">
                <a:latin typeface="Calibri"/>
                <a:cs typeface="Calibri"/>
              </a:rPr>
              <a:t>e.g., speech </a:t>
            </a:r>
            <a:r>
              <a:rPr sz="2400" spc="-5">
                <a:latin typeface="Calibri"/>
                <a:cs typeface="Calibri"/>
              </a:rPr>
              <a:t>recognition </a:t>
            </a:r>
            <a:r>
              <a:rPr sz="2400">
                <a:latin typeface="Calibri"/>
                <a:cs typeface="Calibri"/>
              </a:rPr>
              <a:t>and </a:t>
            </a:r>
            <a:r>
              <a:rPr sz="2400" spc="-5">
                <a:latin typeface="Calibri"/>
                <a:cs typeface="Calibri"/>
              </a:rPr>
              <a:t>understanding</a:t>
            </a:r>
            <a:r>
              <a:rPr lang="en-US" sz="2400" spc="-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670685" lvl="3" indent="-286385">
              <a:buFont typeface="Arial"/>
              <a:buChar char="–"/>
              <a:tabLst>
                <a:tab pos="756920" algn="l"/>
              </a:tabLst>
            </a:pPr>
            <a:r>
              <a:rPr sz="2400">
                <a:latin typeface="Calibri"/>
                <a:cs typeface="Calibri"/>
              </a:rPr>
              <a:t>e.g., </a:t>
            </a:r>
            <a:r>
              <a:rPr sz="2400" spc="-10">
                <a:latin typeface="Calibri"/>
                <a:cs typeface="Calibri"/>
              </a:rPr>
              <a:t>image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understanding</a:t>
            </a:r>
            <a:endParaRPr sz="2400">
              <a:latin typeface="Calibri"/>
              <a:cs typeface="Calibri"/>
            </a:endParaRPr>
          </a:p>
          <a:p>
            <a:pPr marL="527685" indent="-514984">
              <a:spcBef>
                <a:spcPts val="63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3200" spc="-5">
                <a:latin typeface="Calibri"/>
                <a:cs typeface="Calibri"/>
              </a:rPr>
              <a:t>Reasoning </a:t>
            </a:r>
            <a:r>
              <a:rPr sz="3200">
                <a:latin typeface="Calibri"/>
                <a:cs typeface="Calibri"/>
              </a:rPr>
              <a:t>and</a:t>
            </a:r>
            <a:r>
              <a:rPr sz="3200" spc="-95">
                <a:latin typeface="Calibri"/>
                <a:cs typeface="Calibri"/>
              </a:rPr>
              <a:t> </a:t>
            </a:r>
            <a:r>
              <a:rPr sz="3200" spc="-5"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  <a:p>
            <a:pPr marL="1213485" lvl="2" indent="-286385">
              <a:spcBef>
                <a:spcPts val="3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modeling the external world, given input</a:t>
            </a:r>
          </a:p>
          <a:p>
            <a:pPr marL="1213485" lvl="2" indent="-286385"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solving new problems, planning, and making decisions</a:t>
            </a:r>
          </a:p>
          <a:p>
            <a:pPr marL="1213485" lvl="2" indent="-286385"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ability to deal with unexpected problems, uncertainties</a:t>
            </a:r>
          </a:p>
          <a:p>
            <a:pPr marL="527685" indent="-514984">
              <a:spcBef>
                <a:spcPts val="62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3200" spc="-5">
                <a:latin typeface="Calibri"/>
                <a:cs typeface="Calibri"/>
              </a:rPr>
              <a:t>Learning </a:t>
            </a:r>
            <a:r>
              <a:rPr sz="3200">
                <a:latin typeface="Calibri"/>
                <a:cs typeface="Calibri"/>
              </a:rPr>
              <a:t>and</a:t>
            </a:r>
            <a:r>
              <a:rPr sz="3200" spc="-40">
                <a:latin typeface="Calibri"/>
                <a:cs typeface="Calibri"/>
              </a:rPr>
              <a:t> </a:t>
            </a:r>
            <a:r>
              <a:rPr sz="3200" spc="-1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  <a:p>
            <a:pPr marL="1213485" lvl="2" indent="-286385">
              <a:spcBef>
                <a:spcPts val="3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we are continuously learning and adapting</a:t>
            </a:r>
          </a:p>
          <a:p>
            <a:pPr marL="1213485" lvl="2" indent="-286385">
              <a:buFont typeface="Arial"/>
              <a:buChar char="–"/>
              <a:tabLst>
                <a:tab pos="756920" algn="l"/>
              </a:tabLst>
            </a:pPr>
            <a:r>
              <a:rPr sz="2600" spc="-10">
                <a:latin typeface="Calibri"/>
                <a:cs typeface="Calibri"/>
              </a:rPr>
              <a:t>our internal models are always being “updated”</a:t>
            </a:r>
          </a:p>
          <a:p>
            <a:pPr marL="2127885" lvl="4" indent="-286385"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libri"/>
                <a:cs typeface="Calibri"/>
              </a:rPr>
              <a:t>e.g., a baby learning to categorize and recognize animals</a:t>
            </a:r>
            <a:endParaRPr lang="en-US" sz="2400" spc="-10">
              <a:latin typeface="Calibri"/>
              <a:cs typeface="Calibri"/>
            </a:endParaRPr>
          </a:p>
          <a:p>
            <a:pPr marR="5080" algn="r">
              <a:spcBef>
                <a:spcPts val="860"/>
              </a:spcBef>
            </a:pPr>
            <a:r>
              <a:rPr lang="en-US" sz="2000" spc="-5">
                <a:solidFill>
                  <a:srgbClr val="888888"/>
                </a:solidFill>
                <a:latin typeface="Times New Roman"/>
                <a:cs typeface="Times New Roman"/>
              </a:rPr>
              <a:t>7</a:t>
            </a:r>
            <a:endParaRPr lang="en-US"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3D56F6-FE49-7DE4-49BD-24B8FC9FCEAF}"/>
              </a:ext>
            </a:extLst>
          </p:cNvPr>
          <p:cNvSpPr/>
          <p:nvPr/>
        </p:nvSpPr>
        <p:spPr>
          <a:xfrm>
            <a:off x="2108200" y="1105318"/>
            <a:ext cx="9677400" cy="3009482"/>
          </a:xfrm>
          <a:prstGeom prst="rect">
            <a:avLst/>
          </a:prstGeom>
          <a:solidFill>
            <a:schemeClr val="bg1"/>
          </a:solidFill>
          <a:ln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601" y="228600"/>
            <a:ext cx="711009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0"/>
              <a:t>Artificial </a:t>
            </a:r>
            <a:r>
              <a:rPr spc="-20"/>
              <a:t>Intelligence </a:t>
            </a:r>
            <a:r>
              <a:rPr spc="-5"/>
              <a:t>as</a:t>
            </a:r>
            <a:r>
              <a:rPr spc="185"/>
              <a:t> </a:t>
            </a:r>
            <a:r>
              <a:rPr spc="-1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8200" y="1105319"/>
            <a:ext cx="9601200" cy="6344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buFont typeface="Arial" panose="020B0604020202020204" pitchFamily="34" charset="0"/>
              <a:buChar char="•"/>
              <a:tabLst>
                <a:tab pos="582930" algn="l"/>
                <a:tab pos="2258695" algn="l"/>
                <a:tab pos="3578225" algn="l"/>
                <a:tab pos="4288790" algn="l"/>
                <a:tab pos="5026025" algn="l"/>
                <a:tab pos="6590030" algn="l"/>
              </a:tabLst>
            </a:pPr>
            <a:r>
              <a:rPr sz="4000" b="1" spc="-10">
                <a:latin typeface="Calibri"/>
                <a:cs typeface="Calibri"/>
              </a:rPr>
              <a:t>Physics</a:t>
            </a:r>
            <a:r>
              <a:rPr sz="4000" spc="-10">
                <a:latin typeface="Calibri"/>
                <a:cs typeface="Calibri"/>
              </a:rPr>
              <a:t>:</a:t>
            </a:r>
            <a:r>
              <a:rPr lang="en-US" sz="4000" spc="-10">
                <a:latin typeface="Calibri"/>
                <a:cs typeface="Calibri"/>
              </a:rPr>
              <a:t> </a:t>
            </a:r>
            <a:r>
              <a:rPr sz="3600" spc="-10">
                <a:latin typeface="Calibri"/>
                <a:cs typeface="Calibri"/>
              </a:rPr>
              <a:t>Where</a:t>
            </a:r>
            <a:r>
              <a:rPr lang="en-US" sz="3600" spc="-10">
                <a:latin typeface="Calibri"/>
                <a:cs typeface="Calibri"/>
              </a:rPr>
              <a:t> </a:t>
            </a:r>
            <a:r>
              <a:rPr sz="3600" spc="5">
                <a:latin typeface="Calibri"/>
                <a:cs typeface="Calibri"/>
              </a:rPr>
              <a:t>did</a:t>
            </a:r>
            <a:r>
              <a:rPr lang="en-US" sz="3600" spc="5">
                <a:latin typeface="Calibri"/>
                <a:cs typeface="Calibri"/>
              </a:rPr>
              <a:t> </a:t>
            </a:r>
            <a:r>
              <a:rPr sz="3600">
                <a:latin typeface="Calibri"/>
                <a:cs typeface="Calibri"/>
              </a:rPr>
              <a:t>the</a:t>
            </a:r>
            <a:r>
              <a:rPr lang="en-US" sz="3600">
                <a:latin typeface="Calibri"/>
                <a:cs typeface="Calibri"/>
              </a:rPr>
              <a:t> </a:t>
            </a:r>
            <a:r>
              <a:rPr sz="3600" b="1" i="1" spc="-15">
                <a:latin typeface="Calibri"/>
                <a:cs typeface="Calibri"/>
              </a:rPr>
              <a:t>physical</a:t>
            </a:r>
            <a:r>
              <a:rPr lang="en-US" sz="3600" b="1" i="1" spc="-15">
                <a:latin typeface="Calibri"/>
                <a:cs typeface="Calibri"/>
              </a:rPr>
              <a:t> </a:t>
            </a:r>
            <a:r>
              <a:rPr sz="3600" b="1" i="1">
                <a:latin typeface="Calibri"/>
                <a:cs typeface="Calibri"/>
              </a:rPr>
              <a:t>universe</a:t>
            </a:r>
            <a:endParaRPr sz="3600">
              <a:latin typeface="Calibri"/>
              <a:cs typeface="Calibri"/>
            </a:endParaRPr>
          </a:p>
          <a:p>
            <a:pPr marL="582295" marR="5080">
              <a:spcBef>
                <a:spcPts val="35"/>
              </a:spcBef>
              <a:tabLst>
                <a:tab pos="1871345" algn="l"/>
                <a:tab pos="3048000" algn="l"/>
                <a:tab pos="4041775" algn="l"/>
                <a:tab pos="5254625" algn="l"/>
                <a:tab pos="6361430" algn="l"/>
                <a:tab pos="7660005" algn="l"/>
              </a:tabLst>
            </a:pPr>
            <a:r>
              <a:rPr sz="3600" b="1" i="1" spc="-15">
                <a:latin typeface="Calibri"/>
                <a:cs typeface="Calibri"/>
              </a:rPr>
              <a:t>co</a:t>
            </a:r>
            <a:r>
              <a:rPr sz="3600" b="1" i="1" spc="5">
                <a:latin typeface="Calibri"/>
                <a:cs typeface="Calibri"/>
              </a:rPr>
              <a:t>me</a:t>
            </a:r>
            <a:r>
              <a:rPr sz="3600" b="1" i="1">
                <a:latin typeface="Calibri"/>
                <a:cs typeface="Calibri"/>
              </a:rPr>
              <a:t>	</a:t>
            </a:r>
            <a:r>
              <a:rPr sz="3600">
                <a:latin typeface="Calibri"/>
                <a:cs typeface="Calibri"/>
              </a:rPr>
              <a:t>f</a:t>
            </a:r>
            <a:r>
              <a:rPr sz="3600" spc="-75">
                <a:latin typeface="Calibri"/>
                <a:cs typeface="Calibri"/>
              </a:rPr>
              <a:t>r</a:t>
            </a:r>
            <a:r>
              <a:rPr sz="3600" spc="5">
                <a:latin typeface="Calibri"/>
                <a:cs typeface="Calibri"/>
              </a:rPr>
              <a:t>om</a:t>
            </a:r>
            <a:r>
              <a:rPr sz="3600">
                <a:latin typeface="Calibri"/>
                <a:cs typeface="Calibri"/>
              </a:rPr>
              <a:t>	</a:t>
            </a:r>
            <a:r>
              <a:rPr sz="3600" spc="5">
                <a:latin typeface="Calibri"/>
                <a:cs typeface="Calibri"/>
              </a:rPr>
              <a:t>a</a:t>
            </a:r>
            <a:r>
              <a:rPr sz="3600" spc="-5">
                <a:latin typeface="Calibri"/>
                <a:cs typeface="Calibri"/>
              </a:rPr>
              <a:t>n</a:t>
            </a:r>
            <a:r>
              <a:rPr sz="3600" spc="5">
                <a:latin typeface="Calibri"/>
                <a:cs typeface="Calibri"/>
              </a:rPr>
              <a:t>d</a:t>
            </a:r>
            <a:r>
              <a:rPr sz="3600">
                <a:latin typeface="Calibri"/>
                <a:cs typeface="Calibri"/>
              </a:rPr>
              <a:t>	</a:t>
            </a:r>
            <a:r>
              <a:rPr sz="3600" spc="10">
                <a:latin typeface="Calibri"/>
                <a:cs typeface="Calibri"/>
              </a:rPr>
              <a:t>w</a:t>
            </a:r>
            <a:r>
              <a:rPr sz="3600" spc="-5">
                <a:latin typeface="Calibri"/>
                <a:cs typeface="Calibri"/>
              </a:rPr>
              <a:t>h</a:t>
            </a:r>
            <a:r>
              <a:rPr sz="3600" spc="-20">
                <a:latin typeface="Calibri"/>
                <a:cs typeface="Calibri"/>
              </a:rPr>
              <a:t>a</a:t>
            </a:r>
            <a:r>
              <a:rPr sz="3600">
                <a:latin typeface="Calibri"/>
                <a:cs typeface="Calibri"/>
              </a:rPr>
              <a:t>t	</a:t>
            </a:r>
            <a:r>
              <a:rPr sz="3600" spc="5">
                <a:latin typeface="Calibri"/>
                <a:cs typeface="Calibri"/>
              </a:rPr>
              <a:t>l</a:t>
            </a:r>
            <a:r>
              <a:rPr sz="3600" spc="-45">
                <a:latin typeface="Calibri"/>
                <a:cs typeface="Calibri"/>
              </a:rPr>
              <a:t>a</a:t>
            </a:r>
            <a:r>
              <a:rPr sz="3600" spc="-10">
                <a:latin typeface="Calibri"/>
                <a:cs typeface="Calibri"/>
              </a:rPr>
              <a:t>w</a:t>
            </a:r>
            <a:r>
              <a:rPr sz="3600">
                <a:latin typeface="Calibri"/>
                <a:cs typeface="Calibri"/>
              </a:rPr>
              <a:t>s	</a:t>
            </a:r>
            <a:r>
              <a:rPr sz="3600" spc="5">
                <a:latin typeface="Calibri"/>
                <a:cs typeface="Calibri"/>
              </a:rPr>
              <a:t>g</a:t>
            </a:r>
            <a:r>
              <a:rPr sz="3600" spc="-5">
                <a:latin typeface="Calibri"/>
                <a:cs typeface="Calibri"/>
              </a:rPr>
              <a:t>u</a:t>
            </a:r>
            <a:r>
              <a:rPr sz="3600" spc="5">
                <a:latin typeface="Calibri"/>
                <a:cs typeface="Calibri"/>
              </a:rPr>
              <a:t>i</a:t>
            </a:r>
            <a:r>
              <a:rPr sz="3600" spc="-5">
                <a:latin typeface="Calibri"/>
                <a:cs typeface="Calibri"/>
              </a:rPr>
              <a:t>d</a:t>
            </a:r>
            <a:r>
              <a:rPr sz="3600" spc="5">
                <a:latin typeface="Calibri"/>
                <a:cs typeface="Calibri"/>
              </a:rPr>
              <a:t>e</a:t>
            </a:r>
            <a:r>
              <a:rPr sz="3600">
                <a:latin typeface="Calibri"/>
                <a:cs typeface="Calibri"/>
              </a:rPr>
              <a:t>	</a:t>
            </a:r>
            <a:r>
              <a:rPr sz="3600" spc="5">
                <a:latin typeface="Calibri"/>
                <a:cs typeface="Calibri"/>
              </a:rPr>
              <a:t>i</a:t>
            </a:r>
            <a:r>
              <a:rPr sz="3600" spc="-5">
                <a:latin typeface="Calibri"/>
                <a:cs typeface="Calibri"/>
              </a:rPr>
              <a:t>t</a:t>
            </a:r>
            <a:r>
              <a:rPr sz="3600">
                <a:latin typeface="Calibri"/>
                <a:cs typeface="Calibri"/>
              </a:rPr>
              <a:t>s  </a:t>
            </a:r>
            <a:r>
              <a:rPr sz="3600" spc="5">
                <a:latin typeface="Calibri"/>
                <a:cs typeface="Calibri"/>
              </a:rPr>
              <a:t>dynamics?</a:t>
            </a:r>
            <a:endParaRPr sz="3600">
              <a:latin typeface="Calibri"/>
              <a:cs typeface="Calibri"/>
            </a:endParaRPr>
          </a:p>
          <a:p>
            <a:pPr marL="584200" marR="7620" indent="-571500" algn="just">
              <a:lnSpc>
                <a:spcPct val="1008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582930" algn="l"/>
              </a:tabLst>
            </a:pPr>
            <a:r>
              <a:rPr sz="4000" b="1">
                <a:latin typeface="Calibri"/>
                <a:cs typeface="Calibri"/>
              </a:rPr>
              <a:t>Biology</a:t>
            </a:r>
            <a:r>
              <a:rPr sz="4000">
                <a:latin typeface="Calibri"/>
                <a:cs typeface="Calibri"/>
              </a:rPr>
              <a:t>: </a:t>
            </a:r>
            <a:r>
              <a:rPr sz="3600" spc="-10">
                <a:latin typeface="Calibri"/>
                <a:cs typeface="Calibri"/>
              </a:rPr>
              <a:t>How </a:t>
            </a:r>
            <a:r>
              <a:rPr sz="3600">
                <a:latin typeface="Calibri"/>
                <a:cs typeface="Calibri"/>
              </a:rPr>
              <a:t>did </a:t>
            </a:r>
            <a:r>
              <a:rPr sz="3600" b="1" i="1" spc="-5">
                <a:latin typeface="Calibri"/>
                <a:cs typeface="Calibri"/>
              </a:rPr>
              <a:t>biological </a:t>
            </a:r>
            <a:r>
              <a:rPr sz="3600" b="1" i="1" spc="-10">
                <a:latin typeface="Calibri"/>
                <a:cs typeface="Calibri"/>
              </a:rPr>
              <a:t>life </a:t>
            </a:r>
            <a:r>
              <a:rPr sz="3600" b="1" i="1" spc="-5">
                <a:latin typeface="Calibri"/>
                <a:cs typeface="Calibri"/>
              </a:rPr>
              <a:t>evolve </a:t>
            </a:r>
            <a:r>
              <a:rPr sz="3600" b="1" i="1" spc="-10">
                <a:latin typeface="Calibri"/>
                <a:cs typeface="Calibri"/>
              </a:rPr>
              <a:t>and  </a:t>
            </a:r>
            <a:r>
              <a:rPr sz="3600" b="1" i="1" spc="-5">
                <a:latin typeface="Calibri"/>
                <a:cs typeface="Calibri"/>
              </a:rPr>
              <a:t>how </a:t>
            </a:r>
            <a:r>
              <a:rPr sz="3600" spc="10">
                <a:latin typeface="Calibri"/>
                <a:cs typeface="Calibri"/>
              </a:rPr>
              <a:t>do </a:t>
            </a:r>
            <a:r>
              <a:rPr sz="3600" spc="5">
                <a:latin typeface="Calibri"/>
                <a:cs typeface="Calibri"/>
              </a:rPr>
              <a:t>living </a:t>
            </a:r>
            <a:r>
              <a:rPr sz="3600" spc="-10">
                <a:latin typeface="Calibri"/>
                <a:cs typeface="Calibri"/>
              </a:rPr>
              <a:t>organisms</a:t>
            </a:r>
            <a:r>
              <a:rPr sz="3600" spc="-190">
                <a:latin typeface="Calibri"/>
                <a:cs typeface="Calibri"/>
              </a:rPr>
              <a:t> </a:t>
            </a:r>
            <a:r>
              <a:rPr sz="3600" spc="5">
                <a:latin typeface="Calibri"/>
                <a:cs typeface="Calibri"/>
              </a:rPr>
              <a:t>function?</a:t>
            </a:r>
            <a:endParaRPr lang="en-US" sz="3600" spc="5">
              <a:latin typeface="Calibri"/>
              <a:cs typeface="Calibri"/>
            </a:endParaRPr>
          </a:p>
          <a:p>
            <a:pPr marL="584200" marR="7620" indent="-571500" algn="just">
              <a:lnSpc>
                <a:spcPct val="1008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582930" algn="l"/>
              </a:tabLst>
            </a:pPr>
            <a:r>
              <a:rPr lang="en-US" sz="2400">
                <a:solidFill>
                  <a:srgbClr val="FF0000"/>
                </a:solidFill>
              </a:rPr>
              <a:t>two sciences, seeks to answer fundamental questions about its respective domain</a:t>
            </a:r>
            <a:endParaRPr lang="en-US" sz="2400">
              <a:solidFill>
                <a:srgbClr val="FF0000"/>
              </a:solidFill>
              <a:latin typeface="Calibri"/>
              <a:cs typeface="Calibri"/>
            </a:endParaRPr>
          </a:p>
          <a:p>
            <a:pPr marL="584200" marR="7620" indent="-571500" algn="just">
              <a:lnSpc>
                <a:spcPct val="1008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582930" algn="l"/>
              </a:tabLst>
            </a:pPr>
            <a:endParaRPr sz="3600">
              <a:latin typeface="Calibri"/>
              <a:cs typeface="Calibri"/>
            </a:endParaRPr>
          </a:p>
          <a:p>
            <a:pPr marL="584200" marR="5080" indent="-571500" algn="just">
              <a:lnSpc>
                <a:spcPct val="1004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582930" algn="l"/>
              </a:tabLst>
            </a:pPr>
            <a:r>
              <a:rPr sz="4000" b="1" spc="-5">
                <a:latin typeface="Calibri"/>
                <a:cs typeface="Calibri"/>
              </a:rPr>
              <a:t>Artificial Intelligence</a:t>
            </a:r>
            <a:r>
              <a:rPr sz="4000" spc="-5">
                <a:latin typeface="Calibri"/>
                <a:cs typeface="Calibri"/>
              </a:rPr>
              <a:t>: </a:t>
            </a:r>
            <a:r>
              <a:rPr sz="3600" spc="-5">
                <a:latin typeface="Calibri"/>
                <a:cs typeface="Calibri"/>
              </a:rPr>
              <a:t>What is </a:t>
            </a:r>
            <a:r>
              <a:rPr sz="3600" spc="-10">
                <a:latin typeface="Calibri"/>
                <a:cs typeface="Calibri"/>
              </a:rPr>
              <a:t>the </a:t>
            </a:r>
            <a:r>
              <a:rPr sz="3600" spc="-20">
                <a:latin typeface="Calibri"/>
                <a:cs typeface="Calibri"/>
              </a:rPr>
              <a:t>nature  </a:t>
            </a:r>
            <a:r>
              <a:rPr sz="3600">
                <a:latin typeface="Calibri"/>
                <a:cs typeface="Calibri"/>
              </a:rPr>
              <a:t>of </a:t>
            </a:r>
            <a:r>
              <a:rPr sz="3600" spc="-10">
                <a:latin typeface="Calibri"/>
                <a:cs typeface="Calibri"/>
              </a:rPr>
              <a:t>“</a:t>
            </a:r>
            <a:r>
              <a:rPr sz="3600" b="1" i="1" spc="-10">
                <a:latin typeface="Calibri"/>
                <a:cs typeface="Calibri"/>
              </a:rPr>
              <a:t>intelligence” </a:t>
            </a:r>
            <a:r>
              <a:rPr sz="3600" b="1" i="1" spc="-5">
                <a:latin typeface="Calibri"/>
                <a:cs typeface="Calibri"/>
              </a:rPr>
              <a:t>and </a:t>
            </a:r>
            <a:r>
              <a:rPr sz="3600" b="1" i="1">
                <a:latin typeface="Calibri"/>
                <a:cs typeface="Calibri"/>
              </a:rPr>
              <a:t>what </a:t>
            </a:r>
            <a:r>
              <a:rPr sz="3600" spc="-15">
                <a:latin typeface="Calibri"/>
                <a:cs typeface="Calibri"/>
              </a:rPr>
              <a:t>constitutes </a:t>
            </a:r>
            <a:r>
              <a:rPr sz="3600" spc="715">
                <a:latin typeface="Calibri"/>
                <a:cs typeface="Calibri"/>
              </a:rPr>
              <a:t> </a:t>
            </a:r>
            <a:r>
              <a:rPr sz="3600" spc="-5">
                <a:latin typeface="Calibri"/>
                <a:cs typeface="Calibri"/>
              </a:rPr>
              <a:t>intelligent</a:t>
            </a:r>
            <a:r>
              <a:rPr sz="3600" spc="-95">
                <a:latin typeface="Calibri"/>
                <a:cs typeface="Calibri"/>
              </a:rPr>
              <a:t> </a:t>
            </a:r>
            <a:r>
              <a:rPr sz="3600" spc="-10">
                <a:latin typeface="Calibri"/>
                <a:cs typeface="Calibri"/>
              </a:rPr>
              <a:t>behavior?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91443" y="6832601"/>
            <a:ext cx="1524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64904" y="3349752"/>
            <a:ext cx="2176272" cy="3895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4788" y="222504"/>
            <a:ext cx="8605012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t>Artificial </a:t>
            </a:r>
            <a:r>
              <a:rPr spc="-10"/>
              <a:t>Intelligence </a:t>
            </a:r>
            <a:r>
              <a:t>as</a:t>
            </a:r>
            <a:r>
              <a:rPr spc="-120"/>
              <a:t> </a:t>
            </a:r>
            <a:r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0401" y="1173163"/>
            <a:ext cx="10372222" cy="5470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ts val="3420"/>
              </a:lnSpc>
              <a:buFont typeface="Arial" panose="020B0604020202020204" pitchFamily="34" charset="0"/>
              <a:buChar char="•"/>
              <a:tabLst>
                <a:tab pos="479425" algn="l"/>
                <a:tab pos="1374775" algn="l"/>
                <a:tab pos="2103120" algn="l"/>
                <a:tab pos="2746375" algn="l"/>
                <a:tab pos="3789045" algn="l"/>
                <a:tab pos="5374005" algn="l"/>
                <a:tab pos="6156960" algn="l"/>
                <a:tab pos="7845425" algn="l"/>
              </a:tabLst>
            </a:pPr>
            <a:r>
              <a:rPr sz="3000">
                <a:latin typeface="Calibri"/>
                <a:cs typeface="Calibri"/>
              </a:rPr>
              <a:t>H</a:t>
            </a:r>
            <a:r>
              <a:rPr sz="3000" spc="-5">
                <a:latin typeface="Calibri"/>
                <a:cs typeface="Calibri"/>
              </a:rPr>
              <a:t>ow</a:t>
            </a:r>
            <a:r>
              <a:rPr lang="en-US" sz="3000" spc="-5">
                <a:latin typeface="Calibri"/>
                <a:cs typeface="Calibri"/>
              </a:rPr>
              <a:t> </a:t>
            </a:r>
            <a:r>
              <a:rPr sz="3000" spc="-25">
                <a:latin typeface="Calibri"/>
                <a:cs typeface="Calibri"/>
              </a:rPr>
              <a:t>c</a:t>
            </a:r>
            <a:r>
              <a:rPr sz="3000">
                <a:latin typeface="Calibri"/>
                <a:cs typeface="Calibri"/>
              </a:rPr>
              <a:t>a</a:t>
            </a:r>
            <a:r>
              <a:rPr sz="3000" spc="-5">
                <a:latin typeface="Calibri"/>
                <a:cs typeface="Calibri"/>
              </a:rPr>
              <a:t>n</a:t>
            </a:r>
            <a:r>
              <a:rPr sz="3000">
                <a:latin typeface="Calibri"/>
                <a:cs typeface="Calibri"/>
              </a:rPr>
              <a:t>	</a:t>
            </a:r>
            <a:r>
              <a:rPr sz="3000" spc="-35">
                <a:latin typeface="Calibri"/>
                <a:cs typeface="Calibri"/>
              </a:rPr>
              <a:t>w</a:t>
            </a:r>
            <a:r>
              <a:rPr sz="3000">
                <a:latin typeface="Calibri"/>
                <a:cs typeface="Calibri"/>
              </a:rPr>
              <a:t>e	</a:t>
            </a:r>
            <a:r>
              <a:rPr sz="3000" b="1" spc="-20">
                <a:latin typeface="Calibri"/>
                <a:cs typeface="Calibri"/>
              </a:rPr>
              <a:t>m</a:t>
            </a:r>
            <a:r>
              <a:rPr sz="3000" b="1" spc="-15">
                <a:latin typeface="Calibri"/>
                <a:cs typeface="Calibri"/>
              </a:rPr>
              <a:t>a</a:t>
            </a:r>
            <a:r>
              <a:rPr sz="3000" b="1" spc="-100">
                <a:latin typeface="Calibri"/>
                <a:cs typeface="Calibri"/>
              </a:rPr>
              <a:t>k</a:t>
            </a:r>
            <a:r>
              <a:rPr sz="3000" b="1" spc="-5">
                <a:latin typeface="Calibri"/>
                <a:cs typeface="Calibri"/>
              </a:rPr>
              <a:t>e</a:t>
            </a:r>
            <a:r>
              <a:rPr sz="3000" b="1">
                <a:latin typeface="Calibri"/>
                <a:cs typeface="Calibri"/>
              </a:rPr>
              <a:t>	s</a:t>
            </a:r>
            <a:r>
              <a:rPr sz="3000" b="1" spc="-5">
                <a:latin typeface="Calibri"/>
                <a:cs typeface="Calibri"/>
              </a:rPr>
              <a:t>o</a:t>
            </a:r>
            <a:r>
              <a:rPr sz="3000" b="1">
                <a:latin typeface="Calibri"/>
                <a:cs typeface="Calibri"/>
              </a:rPr>
              <a:t>f</a:t>
            </a:r>
            <a:r>
              <a:rPr sz="3000" b="1" spc="-10">
                <a:latin typeface="Calibri"/>
                <a:cs typeface="Calibri"/>
              </a:rPr>
              <a:t>t</a:t>
            </a:r>
            <a:r>
              <a:rPr sz="3000" b="1" spc="-35">
                <a:latin typeface="Calibri"/>
                <a:cs typeface="Calibri"/>
              </a:rPr>
              <a:t>w</a:t>
            </a:r>
            <a:r>
              <a:rPr sz="3000" b="1">
                <a:latin typeface="Calibri"/>
                <a:cs typeface="Calibri"/>
              </a:rPr>
              <a:t>a</a:t>
            </a:r>
            <a:r>
              <a:rPr sz="3000" b="1" spc="-40">
                <a:latin typeface="Calibri"/>
                <a:cs typeface="Calibri"/>
              </a:rPr>
              <a:t>r</a:t>
            </a:r>
            <a:r>
              <a:rPr sz="3000" b="1" spc="-5">
                <a:latin typeface="Calibri"/>
                <a:cs typeface="Calibri"/>
              </a:rPr>
              <a:t>e</a:t>
            </a:r>
            <a:r>
              <a:rPr sz="3000" b="1">
                <a:latin typeface="Calibri"/>
                <a:cs typeface="Calibri"/>
              </a:rPr>
              <a:t>	a</a:t>
            </a:r>
            <a:r>
              <a:rPr sz="3000" b="1" spc="-5">
                <a:latin typeface="Calibri"/>
                <a:cs typeface="Calibri"/>
              </a:rPr>
              <a:t>n</a:t>
            </a:r>
            <a:r>
              <a:rPr sz="3000" b="1">
                <a:latin typeface="Calibri"/>
                <a:cs typeface="Calibri"/>
              </a:rPr>
              <a:t>d	</a:t>
            </a:r>
            <a:r>
              <a:rPr sz="3000" b="1" spc="-20">
                <a:latin typeface="Calibri"/>
                <a:cs typeface="Calibri"/>
              </a:rPr>
              <a:t>m</a:t>
            </a:r>
            <a:r>
              <a:rPr sz="3000" b="1">
                <a:latin typeface="Calibri"/>
                <a:cs typeface="Calibri"/>
              </a:rPr>
              <a:t>a</a:t>
            </a:r>
            <a:r>
              <a:rPr sz="3000" b="1" spc="-10">
                <a:latin typeface="Calibri"/>
                <a:cs typeface="Calibri"/>
              </a:rPr>
              <a:t>c</a:t>
            </a:r>
            <a:r>
              <a:rPr sz="3000" b="1">
                <a:latin typeface="Calibri"/>
                <a:cs typeface="Calibri"/>
              </a:rPr>
              <a:t>hi</a:t>
            </a:r>
            <a:r>
              <a:rPr sz="3000" b="1" spc="-5">
                <a:latin typeface="Calibri"/>
                <a:cs typeface="Calibri"/>
              </a:rPr>
              <a:t>ne</a:t>
            </a:r>
            <a:r>
              <a:rPr sz="3000" b="1">
                <a:latin typeface="Calibri"/>
                <a:cs typeface="Calibri"/>
              </a:rPr>
              <a:t>s	</a:t>
            </a:r>
            <a:r>
              <a:rPr sz="3000">
                <a:latin typeface="Calibri"/>
                <a:cs typeface="Calibri"/>
              </a:rPr>
              <a:t>m</a:t>
            </a:r>
            <a:r>
              <a:rPr sz="3000" spc="-5">
                <a:latin typeface="Calibri"/>
                <a:cs typeface="Calibri"/>
              </a:rPr>
              <a:t>o</a:t>
            </a:r>
            <a:r>
              <a:rPr sz="3000" spc="-40">
                <a:latin typeface="Calibri"/>
                <a:cs typeface="Calibri"/>
              </a:rPr>
              <a:t>r</a:t>
            </a:r>
            <a:r>
              <a:rPr sz="3000">
                <a:latin typeface="Calibri"/>
                <a:cs typeface="Calibri"/>
              </a:rPr>
              <a:t>e</a:t>
            </a:r>
          </a:p>
          <a:p>
            <a:pPr marL="478790">
              <a:lnSpc>
                <a:spcPts val="3420"/>
              </a:lnSpc>
            </a:pPr>
            <a:r>
              <a:rPr sz="3000" b="1" spc="-10">
                <a:latin typeface="Calibri"/>
                <a:cs typeface="Calibri"/>
              </a:rPr>
              <a:t>powerful</a:t>
            </a:r>
            <a:r>
              <a:rPr sz="3000" spc="-10">
                <a:latin typeface="Calibri"/>
                <a:cs typeface="Calibri"/>
              </a:rPr>
              <a:t>, </a:t>
            </a:r>
            <a:r>
              <a:rPr sz="3000" b="1" spc="-5">
                <a:latin typeface="Calibri"/>
                <a:cs typeface="Calibri"/>
              </a:rPr>
              <a:t>adaptive</a:t>
            </a:r>
            <a:r>
              <a:rPr sz="3000" spc="-5">
                <a:latin typeface="Calibri"/>
                <a:cs typeface="Calibri"/>
              </a:rPr>
              <a:t>, </a:t>
            </a:r>
            <a:r>
              <a:rPr sz="3000">
                <a:latin typeface="Calibri"/>
                <a:cs typeface="Calibri"/>
              </a:rPr>
              <a:t>and </a:t>
            </a:r>
            <a:r>
              <a:rPr sz="3000" spc="-5">
                <a:latin typeface="Calibri"/>
                <a:cs typeface="Calibri"/>
              </a:rPr>
              <a:t>easier </a:t>
            </a:r>
            <a:r>
              <a:rPr sz="3000" spc="-15">
                <a:latin typeface="Calibri"/>
                <a:cs typeface="Calibri"/>
              </a:rPr>
              <a:t>to</a:t>
            </a:r>
            <a:r>
              <a:rPr sz="3000" spc="-55">
                <a:latin typeface="Calibri"/>
                <a:cs typeface="Calibri"/>
              </a:rPr>
              <a:t> </a:t>
            </a:r>
            <a:r>
              <a:rPr sz="3000" spc="-5">
                <a:latin typeface="Calibri"/>
                <a:cs typeface="Calibri"/>
              </a:rPr>
              <a:t>use?</a:t>
            </a:r>
            <a:endParaRPr sz="3000">
              <a:latin typeface="Calibri"/>
              <a:cs typeface="Calibri"/>
            </a:endParaRPr>
          </a:p>
          <a:p>
            <a:pPr marL="478790">
              <a:spcBef>
                <a:spcPts val="360"/>
              </a:spcBef>
            </a:pPr>
            <a:r>
              <a:rPr sz="3000" spc="-10">
                <a:latin typeface="Calibri"/>
                <a:cs typeface="Calibri"/>
              </a:rPr>
              <a:t>Examples:</a:t>
            </a:r>
            <a:endParaRPr sz="3000">
              <a:latin typeface="Calibri"/>
              <a:cs typeface="Calibri"/>
            </a:endParaRPr>
          </a:p>
          <a:p>
            <a:pPr marL="1335405" indent="-457200">
              <a:spcBef>
                <a:spcPts val="640"/>
              </a:spcBef>
              <a:buFont typeface="Wingdings" panose="05000000000000000000" pitchFamily="2" charset="2"/>
              <a:buChar char="§"/>
            </a:pPr>
            <a:r>
              <a:rPr sz="2600" b="1" spc="-10">
                <a:latin typeface="Calibri"/>
                <a:cs typeface="Calibri"/>
              </a:rPr>
              <a:t>Speech</a:t>
            </a:r>
            <a:r>
              <a:rPr sz="2600" b="1" spc="10">
                <a:latin typeface="Calibri"/>
                <a:cs typeface="Calibri"/>
              </a:rPr>
              <a:t> </a:t>
            </a:r>
            <a:r>
              <a:rPr sz="2600" b="1" spc="-15">
                <a:latin typeface="Calibri"/>
                <a:cs typeface="Calibri"/>
              </a:rPr>
              <a:t>recognition</a:t>
            </a:r>
            <a:endParaRPr sz="2600">
              <a:latin typeface="Calibri"/>
              <a:cs typeface="Calibri"/>
            </a:endParaRPr>
          </a:p>
          <a:p>
            <a:pPr marL="1335405" marR="19939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sz="2600" b="1" spc="-25">
                <a:latin typeface="Calibri"/>
                <a:cs typeface="Calibri"/>
              </a:rPr>
              <a:t>Natural </a:t>
            </a:r>
            <a:r>
              <a:rPr sz="2600" b="1" spc="-15">
                <a:latin typeface="Calibri"/>
                <a:cs typeface="Calibri"/>
              </a:rPr>
              <a:t>language understanding</a:t>
            </a:r>
            <a:endParaRPr lang="en-US" sz="2600" b="1" spc="-15">
              <a:latin typeface="Calibri"/>
              <a:cs typeface="Calibri"/>
            </a:endParaRPr>
          </a:p>
          <a:p>
            <a:pPr marL="1335405" marR="19939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sz="2600" b="1" spc="-15">
                <a:latin typeface="Calibri"/>
                <a:cs typeface="Calibri"/>
              </a:rPr>
              <a:t>Computer </a:t>
            </a:r>
            <a:r>
              <a:rPr sz="2600" b="1">
                <a:latin typeface="Calibri"/>
                <a:cs typeface="Calibri"/>
              </a:rPr>
              <a:t>vision </a:t>
            </a:r>
            <a:r>
              <a:rPr sz="2600" b="1" spc="-10">
                <a:latin typeface="Calibri"/>
                <a:cs typeface="Calibri"/>
              </a:rPr>
              <a:t>and </a:t>
            </a:r>
            <a:r>
              <a:rPr sz="2600" b="1" spc="-15">
                <a:latin typeface="Calibri"/>
                <a:cs typeface="Calibri"/>
              </a:rPr>
              <a:t>image understanding </a:t>
            </a:r>
            <a:endParaRPr lang="en-US" sz="2600" b="1" spc="-15">
              <a:latin typeface="Calibri"/>
              <a:cs typeface="Calibri"/>
            </a:endParaRPr>
          </a:p>
          <a:p>
            <a:pPr marL="1335405" marR="1993900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sz="2600" b="1" spc="-15">
                <a:latin typeface="Calibri"/>
                <a:cs typeface="Calibri"/>
              </a:rPr>
              <a:t> Intelligent </a:t>
            </a:r>
            <a:r>
              <a:rPr sz="2600" b="1" spc="-10">
                <a:latin typeface="Calibri"/>
                <a:cs typeface="Calibri"/>
              </a:rPr>
              <a:t>user</a:t>
            </a:r>
            <a:r>
              <a:rPr sz="2600" b="1">
                <a:latin typeface="Calibri"/>
                <a:cs typeface="Calibri"/>
              </a:rPr>
              <a:t> </a:t>
            </a:r>
            <a:r>
              <a:rPr sz="2600" b="1" spc="-20">
                <a:latin typeface="Calibri"/>
                <a:cs typeface="Calibri"/>
              </a:rPr>
              <a:t>interfaces</a:t>
            </a:r>
            <a:endParaRPr sz="2600">
              <a:latin typeface="Calibri"/>
              <a:cs typeface="Calibri"/>
            </a:endParaRPr>
          </a:p>
          <a:p>
            <a:pPr marL="1335405" indent="-457200">
              <a:spcBef>
                <a:spcPts val="620"/>
              </a:spcBef>
              <a:buFont typeface="Wingdings" panose="05000000000000000000" pitchFamily="2" charset="2"/>
              <a:buChar char="§"/>
            </a:pPr>
            <a:r>
              <a:rPr sz="2600" b="1" spc="-25">
                <a:latin typeface="Calibri"/>
                <a:cs typeface="Calibri"/>
              </a:rPr>
              <a:t>Data</a:t>
            </a:r>
            <a:r>
              <a:rPr sz="2600" b="1" spc="-50">
                <a:latin typeface="Calibri"/>
                <a:cs typeface="Calibri"/>
              </a:rPr>
              <a:t> </a:t>
            </a:r>
            <a:r>
              <a:rPr sz="2600" b="1" spc="-5">
                <a:latin typeface="Calibri"/>
                <a:cs typeface="Calibri"/>
              </a:rPr>
              <a:t>mining</a:t>
            </a:r>
            <a:endParaRPr sz="2600">
              <a:latin typeface="Calibri"/>
              <a:cs typeface="Calibri"/>
            </a:endParaRPr>
          </a:p>
          <a:p>
            <a:pPr marL="1335405" marR="2821305" indent="-4572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sz="2600" b="1" spc="-5">
                <a:latin typeface="Calibri"/>
                <a:cs typeface="Calibri"/>
              </a:rPr>
              <a:t>Mobile </a:t>
            </a:r>
            <a:r>
              <a:rPr sz="2600" b="1" spc="-10">
                <a:latin typeface="Calibri"/>
                <a:cs typeface="Calibri"/>
              </a:rPr>
              <a:t>robots, Softbots, </a:t>
            </a:r>
            <a:r>
              <a:rPr sz="2600" b="1" spc="-5">
                <a:latin typeface="Calibri"/>
                <a:cs typeface="Calibri"/>
              </a:rPr>
              <a:t>Humanoids  </a:t>
            </a:r>
            <a:r>
              <a:rPr sz="2600" b="1" spc="-15">
                <a:latin typeface="Calibri"/>
                <a:cs typeface="Calibri"/>
              </a:rPr>
              <a:t>Medical </a:t>
            </a:r>
            <a:r>
              <a:rPr sz="2600" b="1" spc="-20">
                <a:latin typeface="Calibri"/>
                <a:cs typeface="Calibri"/>
              </a:rPr>
              <a:t>expert</a:t>
            </a:r>
            <a:r>
              <a:rPr sz="2600" b="1" spc="90">
                <a:latin typeface="Calibri"/>
                <a:cs typeface="Calibri"/>
              </a:rPr>
              <a:t> </a:t>
            </a:r>
            <a:r>
              <a:rPr sz="2600" b="1" spc="-25">
                <a:latin typeface="Calibri"/>
                <a:cs typeface="Calibri"/>
              </a:rPr>
              <a:t>systems…</a:t>
            </a:r>
            <a:endParaRPr sz="2600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R="235585" algn="r">
              <a:spcBef>
                <a:spcPts val="5"/>
              </a:spcBef>
            </a:pP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0801" y="7315201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AAE94D-8266-B444-B094-7C0CECC49B45}"/>
              </a:ext>
            </a:extLst>
          </p:cNvPr>
          <p:cNvGrpSpPr/>
          <p:nvPr/>
        </p:nvGrpSpPr>
        <p:grpSpPr>
          <a:xfrm>
            <a:off x="2336800" y="1143001"/>
            <a:ext cx="8071484" cy="4932681"/>
            <a:chOff x="993139" y="1946655"/>
            <a:chExt cx="8071484" cy="4932681"/>
          </a:xfrm>
        </p:grpSpPr>
        <p:sp>
          <p:nvSpPr>
            <p:cNvPr id="3" name="object 3"/>
            <p:cNvSpPr/>
            <p:nvPr/>
          </p:nvSpPr>
          <p:spPr>
            <a:xfrm>
              <a:off x="2389632" y="3715511"/>
              <a:ext cx="5708904" cy="31638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4321555" y="6257544"/>
              <a:ext cx="1134110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400" b="1" spc="-5">
                  <a:latin typeface="Comic Sans MS"/>
                  <a:cs typeface="Comic Sans MS"/>
                </a:rPr>
                <a:t>Hu</a:t>
              </a:r>
              <a:r>
                <a:rPr sz="2400" b="1">
                  <a:latin typeface="Comic Sans MS"/>
                  <a:cs typeface="Comic Sans MS"/>
                </a:rPr>
                <a:t>ma</a:t>
              </a:r>
              <a:r>
                <a:rPr sz="2400" b="1" spc="-10">
                  <a:latin typeface="Comic Sans MS"/>
                  <a:cs typeface="Comic Sans MS"/>
                </a:rPr>
                <a:t>n</a:t>
              </a:r>
              <a:r>
                <a:rPr sz="2400" b="1">
                  <a:latin typeface="Comic Sans MS"/>
                  <a:cs typeface="Comic Sans MS"/>
                </a:rPr>
                <a:t>s</a:t>
              </a:r>
              <a:endParaRPr sz="2400">
                <a:latin typeface="Comic Sans MS"/>
                <a:cs typeface="Comic Sans MS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993139" y="1946655"/>
              <a:ext cx="8071484" cy="29514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6870" marR="5080" indent="-344170" algn="just">
                <a:buClr>
                  <a:srgbClr val="3333CC"/>
                </a:buClr>
                <a:buFont typeface="Wingdings"/>
                <a:buChar char=""/>
                <a:tabLst>
                  <a:tab pos="357505" algn="l"/>
                </a:tabLst>
              </a:pPr>
              <a:r>
                <a:rPr lang="en-US" sz="3200" spc="-5">
                  <a:latin typeface="Calibri"/>
                  <a:cs typeface="Calibri"/>
                </a:rPr>
                <a:t>AI </a:t>
              </a:r>
              <a:r>
                <a:rPr lang="en-US" sz="3200">
                  <a:latin typeface="Calibri"/>
                  <a:cs typeface="Calibri"/>
                </a:rPr>
                <a:t>is </a:t>
              </a:r>
              <a:r>
                <a:rPr lang="en-US" sz="3200" spc="-5">
                  <a:latin typeface="Calibri"/>
                  <a:cs typeface="Calibri"/>
                </a:rPr>
                <a:t>the </a:t>
              </a:r>
              <a:r>
                <a:rPr lang="en-US" sz="3200" spc="-20">
                  <a:latin typeface="Calibri"/>
                  <a:cs typeface="Calibri"/>
                </a:rPr>
                <a:t>attempt </a:t>
              </a:r>
              <a:r>
                <a:rPr lang="en-US" sz="3200" spc="-30">
                  <a:latin typeface="Calibri"/>
                  <a:cs typeface="Calibri"/>
                </a:rPr>
                <a:t>for </a:t>
              </a:r>
              <a:r>
                <a:rPr lang="en-US" sz="3200" spc="-5">
                  <a:latin typeface="Calibri"/>
                  <a:cs typeface="Calibri"/>
                </a:rPr>
                <a:t>the </a:t>
              </a:r>
              <a:r>
                <a:rPr lang="en-US" sz="3200" spc="-10">
                  <a:latin typeface="Calibri"/>
                  <a:cs typeface="Calibri"/>
                </a:rPr>
                <a:t>reproduction </a:t>
              </a:r>
              <a:r>
                <a:rPr lang="en-US" sz="3200" spc="-5">
                  <a:latin typeface="Calibri"/>
                  <a:cs typeface="Calibri"/>
                </a:rPr>
                <a:t>of  </a:t>
              </a:r>
              <a:r>
                <a:rPr lang="en-US" sz="3200" b="1" spc="-10">
                  <a:solidFill>
                    <a:srgbClr val="993300"/>
                  </a:solidFill>
                  <a:latin typeface="Calibri"/>
                  <a:cs typeface="Calibri"/>
                </a:rPr>
                <a:t>human </a:t>
              </a:r>
              <a:r>
                <a:rPr lang="en-US" sz="3200" b="1" spc="-15">
                  <a:solidFill>
                    <a:srgbClr val="993300"/>
                  </a:solidFill>
                  <a:latin typeface="Calibri"/>
                  <a:cs typeface="Calibri"/>
                </a:rPr>
                <a:t>reasoning </a:t>
              </a:r>
              <a:r>
                <a:rPr lang="en-US" sz="3200" spc="-5">
                  <a:latin typeface="Calibri"/>
                  <a:cs typeface="Calibri"/>
                </a:rPr>
                <a:t>and </a:t>
              </a:r>
              <a:r>
                <a:rPr lang="en-US" sz="3200" b="1" spc="-15">
                  <a:solidFill>
                    <a:srgbClr val="993300"/>
                  </a:solidFill>
                  <a:latin typeface="Calibri"/>
                  <a:cs typeface="Calibri"/>
                </a:rPr>
                <a:t>intelligent </a:t>
              </a:r>
              <a:r>
                <a:rPr lang="en-US" sz="3200" b="1" spc="-10">
                  <a:solidFill>
                    <a:srgbClr val="993300"/>
                  </a:solidFill>
                  <a:latin typeface="Calibri"/>
                  <a:cs typeface="Calibri"/>
                </a:rPr>
                <a:t>behavior </a:t>
              </a:r>
              <a:r>
                <a:rPr lang="en-US" sz="3200" spc="-15">
                  <a:latin typeface="Calibri"/>
                  <a:cs typeface="Calibri"/>
                </a:rPr>
                <a:t>by </a:t>
              </a:r>
              <a:r>
                <a:rPr lang="en-US" sz="3200" spc="690">
                  <a:latin typeface="Calibri"/>
                  <a:cs typeface="Calibri"/>
                </a:rPr>
                <a:t> </a:t>
              </a:r>
              <a:r>
                <a:rPr lang="en-US" sz="3200" spc="-15">
                  <a:latin typeface="Calibri"/>
                  <a:cs typeface="Calibri"/>
                </a:rPr>
                <a:t>computational</a:t>
              </a:r>
              <a:r>
                <a:rPr lang="en-US" sz="3200" spc="15">
                  <a:latin typeface="Calibri"/>
                  <a:cs typeface="Calibri"/>
                </a:rPr>
                <a:t> </a:t>
              </a:r>
              <a:r>
                <a:rPr lang="en-US" sz="3200" spc="-10">
                  <a:latin typeface="Calibri"/>
                  <a:cs typeface="Calibri"/>
                </a:rPr>
                <a:t>methods</a:t>
              </a:r>
              <a:endParaRPr lang="en-US" sz="3200">
                <a:latin typeface="Calibri"/>
                <a:cs typeface="Calibri"/>
              </a:endParaRPr>
            </a:p>
            <a:p>
              <a:pPr marL="1874520" marR="4871720" indent="-207645">
                <a:spcBef>
                  <a:spcPts val="3030"/>
                </a:spcBef>
              </a:pPr>
              <a:r>
                <a:rPr sz="2400" b="1">
                  <a:latin typeface="Comic Sans MS"/>
                  <a:cs typeface="Comic Sans MS"/>
                </a:rPr>
                <a:t>I</a:t>
              </a:r>
              <a:r>
                <a:rPr sz="2400" b="1" spc="-15">
                  <a:latin typeface="Comic Sans MS"/>
                  <a:cs typeface="Comic Sans MS"/>
                </a:rPr>
                <a:t>n</a:t>
              </a:r>
              <a:r>
                <a:rPr sz="2400" b="1" spc="-5">
                  <a:latin typeface="Comic Sans MS"/>
                  <a:cs typeface="Comic Sans MS"/>
                </a:rPr>
                <a:t>te</a:t>
              </a:r>
              <a:r>
                <a:rPr sz="2400" b="1" spc="-10">
                  <a:latin typeface="Comic Sans MS"/>
                  <a:cs typeface="Comic Sans MS"/>
                </a:rPr>
                <a:t>ll</a:t>
              </a:r>
              <a:r>
                <a:rPr sz="2400" b="1" spc="-5">
                  <a:latin typeface="Comic Sans MS"/>
                  <a:cs typeface="Comic Sans MS"/>
                </a:rPr>
                <a:t>i</a:t>
              </a:r>
              <a:r>
                <a:rPr sz="2400" b="1" spc="-10">
                  <a:latin typeface="Comic Sans MS"/>
                  <a:cs typeface="Comic Sans MS"/>
                </a:rPr>
                <a:t>g</a:t>
              </a:r>
              <a:r>
                <a:rPr sz="2400" b="1" spc="-5">
                  <a:latin typeface="Comic Sans MS"/>
                  <a:cs typeface="Comic Sans MS"/>
                </a:rPr>
                <a:t>e</a:t>
              </a:r>
              <a:r>
                <a:rPr sz="2400" b="1" spc="-10">
                  <a:latin typeface="Comic Sans MS"/>
                  <a:cs typeface="Comic Sans MS"/>
                </a:rPr>
                <a:t>n</a:t>
              </a:r>
              <a:r>
                <a:rPr sz="2400" b="1" spc="-5">
                  <a:latin typeface="Comic Sans MS"/>
                  <a:cs typeface="Comic Sans MS"/>
                </a:rPr>
                <a:t>t  </a:t>
              </a:r>
              <a:r>
                <a:rPr sz="2400" b="1">
                  <a:latin typeface="Comic Sans MS"/>
                  <a:cs typeface="Comic Sans MS"/>
                </a:rPr>
                <a:t>behavior</a:t>
              </a:r>
              <a:endParaRPr sz="2400">
                <a:latin typeface="Comic Sans MS"/>
                <a:cs typeface="Comic Sans MS"/>
              </a:endParaRPr>
            </a:p>
            <a:p>
              <a:pPr marL="5318760">
                <a:spcBef>
                  <a:spcPts val="45"/>
                </a:spcBef>
              </a:pPr>
              <a:r>
                <a:rPr sz="2400" b="1" spc="-5">
                  <a:latin typeface="Comic Sans MS"/>
                  <a:cs typeface="Comic Sans MS"/>
                </a:rPr>
                <a:t>Computer</a:t>
              </a:r>
              <a:endParaRPr sz="2400">
                <a:latin typeface="Comic Sans MS"/>
                <a:cs typeface="Comic Sans MS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35023" y="215956"/>
            <a:ext cx="746366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0"/>
              <a:t>What </a:t>
            </a:r>
            <a:r>
              <a:rPr spc="-5"/>
              <a:t>is </a:t>
            </a:r>
            <a:r>
              <a:t>AI? A </a:t>
            </a:r>
            <a:r>
              <a:rPr spc="-5"/>
              <a:t>simple</a:t>
            </a:r>
            <a:r>
              <a:rPr spc="-80"/>
              <a:t> </a:t>
            </a:r>
            <a:r>
              <a:rPr spc="-5"/>
              <a:t>Definition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96843" y="4588375"/>
            <a:ext cx="3493135" cy="1066800"/>
          </a:xfrm>
          <a:custGeom>
            <a:avLst/>
            <a:gdLst/>
            <a:ahLst/>
            <a:cxnLst/>
            <a:rect l="l" t="t" r="r" b="b"/>
            <a:pathLst>
              <a:path w="3493135" h="1066800">
                <a:moveTo>
                  <a:pt x="0" y="1066800"/>
                </a:moveTo>
                <a:lnTo>
                  <a:pt x="3493007" y="1066800"/>
                </a:lnTo>
                <a:lnTo>
                  <a:pt x="3493007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D9E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90747" y="4582281"/>
            <a:ext cx="3502660" cy="1076325"/>
          </a:xfrm>
          <a:custGeom>
            <a:avLst/>
            <a:gdLst/>
            <a:ahLst/>
            <a:cxnLst/>
            <a:rect l="l" t="t" r="r" b="b"/>
            <a:pathLst>
              <a:path w="3502660" h="1076325">
                <a:moveTo>
                  <a:pt x="3502152" y="0"/>
                </a:moveTo>
                <a:lnTo>
                  <a:pt x="0" y="0"/>
                </a:lnTo>
                <a:lnTo>
                  <a:pt x="0" y="1075944"/>
                </a:lnTo>
                <a:lnTo>
                  <a:pt x="3502152" y="1075944"/>
                </a:lnTo>
                <a:lnTo>
                  <a:pt x="3502152" y="1072896"/>
                </a:lnTo>
                <a:lnTo>
                  <a:pt x="12191" y="1072896"/>
                </a:lnTo>
                <a:lnTo>
                  <a:pt x="6095" y="1066800"/>
                </a:lnTo>
                <a:lnTo>
                  <a:pt x="12191" y="1066800"/>
                </a:lnTo>
                <a:lnTo>
                  <a:pt x="12191" y="9144"/>
                </a:lnTo>
                <a:lnTo>
                  <a:pt x="6095" y="9144"/>
                </a:lnTo>
                <a:lnTo>
                  <a:pt x="12191" y="6096"/>
                </a:lnTo>
                <a:lnTo>
                  <a:pt x="3502152" y="6096"/>
                </a:lnTo>
                <a:lnTo>
                  <a:pt x="3502152" y="0"/>
                </a:lnTo>
                <a:close/>
              </a:path>
              <a:path w="3502660" h="1076325">
                <a:moveTo>
                  <a:pt x="12191" y="1066800"/>
                </a:moveTo>
                <a:lnTo>
                  <a:pt x="6095" y="1066800"/>
                </a:lnTo>
                <a:lnTo>
                  <a:pt x="12191" y="1072896"/>
                </a:lnTo>
                <a:lnTo>
                  <a:pt x="12191" y="1066800"/>
                </a:lnTo>
                <a:close/>
              </a:path>
              <a:path w="3502660" h="1076325">
                <a:moveTo>
                  <a:pt x="3493008" y="1066800"/>
                </a:moveTo>
                <a:lnTo>
                  <a:pt x="12191" y="1066800"/>
                </a:lnTo>
                <a:lnTo>
                  <a:pt x="12191" y="1072896"/>
                </a:lnTo>
                <a:lnTo>
                  <a:pt x="3493008" y="1072896"/>
                </a:lnTo>
                <a:lnTo>
                  <a:pt x="3493008" y="1066800"/>
                </a:lnTo>
                <a:close/>
              </a:path>
              <a:path w="3502660" h="1076325">
                <a:moveTo>
                  <a:pt x="3493008" y="6096"/>
                </a:moveTo>
                <a:lnTo>
                  <a:pt x="3493008" y="1072896"/>
                </a:lnTo>
                <a:lnTo>
                  <a:pt x="3499104" y="1066800"/>
                </a:lnTo>
                <a:lnTo>
                  <a:pt x="3502152" y="1066800"/>
                </a:lnTo>
                <a:lnTo>
                  <a:pt x="3502152" y="9144"/>
                </a:lnTo>
                <a:lnTo>
                  <a:pt x="3499104" y="9144"/>
                </a:lnTo>
                <a:lnTo>
                  <a:pt x="3493008" y="6096"/>
                </a:lnTo>
                <a:close/>
              </a:path>
              <a:path w="3502660" h="1076325">
                <a:moveTo>
                  <a:pt x="3502152" y="1066800"/>
                </a:moveTo>
                <a:lnTo>
                  <a:pt x="3499104" y="1066800"/>
                </a:lnTo>
                <a:lnTo>
                  <a:pt x="3493008" y="1072896"/>
                </a:lnTo>
                <a:lnTo>
                  <a:pt x="3502152" y="1072896"/>
                </a:lnTo>
                <a:lnTo>
                  <a:pt x="3502152" y="1066800"/>
                </a:lnTo>
                <a:close/>
              </a:path>
              <a:path w="3502660" h="1076325">
                <a:moveTo>
                  <a:pt x="12191" y="6096"/>
                </a:moveTo>
                <a:lnTo>
                  <a:pt x="6095" y="9144"/>
                </a:lnTo>
                <a:lnTo>
                  <a:pt x="12191" y="9144"/>
                </a:lnTo>
                <a:lnTo>
                  <a:pt x="12191" y="6096"/>
                </a:lnTo>
                <a:close/>
              </a:path>
              <a:path w="3502660" h="1076325">
                <a:moveTo>
                  <a:pt x="3493008" y="6096"/>
                </a:moveTo>
                <a:lnTo>
                  <a:pt x="12191" y="6096"/>
                </a:lnTo>
                <a:lnTo>
                  <a:pt x="12191" y="9144"/>
                </a:lnTo>
                <a:lnTo>
                  <a:pt x="3493008" y="9144"/>
                </a:lnTo>
                <a:lnTo>
                  <a:pt x="3493008" y="6096"/>
                </a:lnTo>
                <a:close/>
              </a:path>
              <a:path w="3502660" h="1076325">
                <a:moveTo>
                  <a:pt x="3502152" y="6096"/>
                </a:moveTo>
                <a:lnTo>
                  <a:pt x="3493008" y="6096"/>
                </a:lnTo>
                <a:lnTo>
                  <a:pt x="3499104" y="9144"/>
                </a:lnTo>
                <a:lnTo>
                  <a:pt x="3502152" y="9144"/>
                </a:lnTo>
                <a:lnTo>
                  <a:pt x="3502152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89851" y="4588375"/>
            <a:ext cx="3520440" cy="1066800"/>
          </a:xfrm>
          <a:custGeom>
            <a:avLst/>
            <a:gdLst/>
            <a:ahLst/>
            <a:cxnLst/>
            <a:rect l="l" t="t" r="r" b="b"/>
            <a:pathLst>
              <a:path w="3520440" h="1066800">
                <a:moveTo>
                  <a:pt x="0" y="1066800"/>
                </a:moveTo>
                <a:lnTo>
                  <a:pt x="3520439" y="1066800"/>
                </a:lnTo>
                <a:lnTo>
                  <a:pt x="3520439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83756" y="4582281"/>
            <a:ext cx="3529965" cy="1076325"/>
          </a:xfrm>
          <a:custGeom>
            <a:avLst/>
            <a:gdLst/>
            <a:ahLst/>
            <a:cxnLst/>
            <a:rect l="l" t="t" r="r" b="b"/>
            <a:pathLst>
              <a:path w="3529965" h="1076325">
                <a:moveTo>
                  <a:pt x="3529584" y="0"/>
                </a:moveTo>
                <a:lnTo>
                  <a:pt x="0" y="0"/>
                </a:lnTo>
                <a:lnTo>
                  <a:pt x="0" y="1075944"/>
                </a:lnTo>
                <a:lnTo>
                  <a:pt x="3529584" y="1075944"/>
                </a:lnTo>
                <a:lnTo>
                  <a:pt x="3529584" y="1072896"/>
                </a:lnTo>
                <a:lnTo>
                  <a:pt x="9143" y="1072896"/>
                </a:lnTo>
                <a:lnTo>
                  <a:pt x="6095" y="1066800"/>
                </a:lnTo>
                <a:lnTo>
                  <a:pt x="9143" y="1066800"/>
                </a:lnTo>
                <a:lnTo>
                  <a:pt x="9143" y="9144"/>
                </a:lnTo>
                <a:lnTo>
                  <a:pt x="6095" y="9144"/>
                </a:lnTo>
                <a:lnTo>
                  <a:pt x="9143" y="6096"/>
                </a:lnTo>
                <a:lnTo>
                  <a:pt x="3529584" y="6096"/>
                </a:lnTo>
                <a:lnTo>
                  <a:pt x="3529584" y="0"/>
                </a:lnTo>
                <a:close/>
              </a:path>
              <a:path w="3529965" h="1076325">
                <a:moveTo>
                  <a:pt x="9143" y="1066800"/>
                </a:moveTo>
                <a:lnTo>
                  <a:pt x="6095" y="1066800"/>
                </a:lnTo>
                <a:lnTo>
                  <a:pt x="9143" y="1072896"/>
                </a:lnTo>
                <a:lnTo>
                  <a:pt x="9143" y="1066800"/>
                </a:lnTo>
                <a:close/>
              </a:path>
              <a:path w="3529965" h="1076325">
                <a:moveTo>
                  <a:pt x="3520440" y="1066800"/>
                </a:moveTo>
                <a:lnTo>
                  <a:pt x="9143" y="1066800"/>
                </a:lnTo>
                <a:lnTo>
                  <a:pt x="9143" y="1072896"/>
                </a:lnTo>
                <a:lnTo>
                  <a:pt x="3520440" y="1072896"/>
                </a:lnTo>
                <a:lnTo>
                  <a:pt x="3520440" y="1066800"/>
                </a:lnTo>
                <a:close/>
              </a:path>
              <a:path w="3529965" h="1076325">
                <a:moveTo>
                  <a:pt x="3520440" y="6096"/>
                </a:moveTo>
                <a:lnTo>
                  <a:pt x="3520440" y="1072896"/>
                </a:lnTo>
                <a:lnTo>
                  <a:pt x="3526536" y="1066800"/>
                </a:lnTo>
                <a:lnTo>
                  <a:pt x="3529584" y="1066800"/>
                </a:lnTo>
                <a:lnTo>
                  <a:pt x="3529584" y="9144"/>
                </a:lnTo>
                <a:lnTo>
                  <a:pt x="3526536" y="9144"/>
                </a:lnTo>
                <a:lnTo>
                  <a:pt x="3520440" y="6096"/>
                </a:lnTo>
                <a:close/>
              </a:path>
              <a:path w="3529965" h="1076325">
                <a:moveTo>
                  <a:pt x="3529584" y="1066800"/>
                </a:moveTo>
                <a:lnTo>
                  <a:pt x="3526536" y="1066800"/>
                </a:lnTo>
                <a:lnTo>
                  <a:pt x="3520440" y="1072896"/>
                </a:lnTo>
                <a:lnTo>
                  <a:pt x="3529584" y="1072896"/>
                </a:lnTo>
                <a:lnTo>
                  <a:pt x="3529584" y="1066800"/>
                </a:lnTo>
                <a:close/>
              </a:path>
              <a:path w="3529965" h="1076325">
                <a:moveTo>
                  <a:pt x="9143" y="6096"/>
                </a:moveTo>
                <a:lnTo>
                  <a:pt x="6095" y="9144"/>
                </a:lnTo>
                <a:lnTo>
                  <a:pt x="9143" y="9144"/>
                </a:lnTo>
                <a:lnTo>
                  <a:pt x="9143" y="6096"/>
                </a:lnTo>
                <a:close/>
              </a:path>
              <a:path w="3529965" h="1076325">
                <a:moveTo>
                  <a:pt x="3520440" y="6096"/>
                </a:moveTo>
                <a:lnTo>
                  <a:pt x="9143" y="6096"/>
                </a:lnTo>
                <a:lnTo>
                  <a:pt x="9143" y="9144"/>
                </a:lnTo>
                <a:lnTo>
                  <a:pt x="3520440" y="9144"/>
                </a:lnTo>
                <a:lnTo>
                  <a:pt x="3520440" y="6096"/>
                </a:lnTo>
                <a:close/>
              </a:path>
              <a:path w="3529965" h="1076325">
                <a:moveTo>
                  <a:pt x="3529584" y="6096"/>
                </a:moveTo>
                <a:lnTo>
                  <a:pt x="3520440" y="6096"/>
                </a:lnTo>
                <a:lnTo>
                  <a:pt x="3526536" y="9144"/>
                </a:lnTo>
                <a:lnTo>
                  <a:pt x="3529584" y="9144"/>
                </a:lnTo>
                <a:lnTo>
                  <a:pt x="352958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4423" y="4573136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29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69411" y="512177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84650" y="4573136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29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02670" y="4573136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29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9411" y="458837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9411" y="566279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58463" y="4507096"/>
            <a:ext cx="296100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4940">
              <a:lnSpc>
                <a:spcPct val="125000"/>
              </a:lnSpc>
            </a:pPr>
            <a:r>
              <a:rPr sz="2800" spc="5">
                <a:solidFill>
                  <a:srgbClr val="7F000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7F0000"/>
                </a:solidFill>
                <a:latin typeface="Comic Sans MS"/>
                <a:cs typeface="Comic Sans MS"/>
              </a:rPr>
              <a:t>like humans  </a:t>
            </a:r>
            <a:r>
              <a:rPr sz="2800" spc="5">
                <a:solidFill>
                  <a:srgbClr val="7F0000"/>
                </a:solidFill>
                <a:latin typeface="Comic Sans MS"/>
                <a:cs typeface="Comic Sans MS"/>
              </a:rPr>
              <a:t>Think </a:t>
            </a:r>
            <a:r>
              <a:rPr sz="2800">
                <a:solidFill>
                  <a:srgbClr val="7F0000"/>
                </a:solidFill>
                <a:latin typeface="Comic Sans MS"/>
                <a:cs typeface="Comic Sans MS"/>
              </a:rPr>
              <a:t>like</a:t>
            </a:r>
            <a:r>
              <a:rPr sz="2800" spc="-110">
                <a:solidFill>
                  <a:srgbClr val="7F000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7F0000"/>
                </a:solidFill>
                <a:latin typeface="Comic Sans MS"/>
                <a:cs typeface="Comic Sans MS"/>
              </a:rPr>
              <a:t>humans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7400" y="4507096"/>
            <a:ext cx="261683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8115">
              <a:lnSpc>
                <a:spcPct val="125000"/>
              </a:lnSpc>
            </a:pPr>
            <a:r>
              <a:rPr sz="2800" spc="5">
                <a:solidFill>
                  <a:srgbClr val="7F000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7F0000"/>
                </a:solidFill>
                <a:latin typeface="Comic Sans MS"/>
                <a:cs typeface="Comic Sans MS"/>
              </a:rPr>
              <a:t>rationally  </a:t>
            </a:r>
            <a:r>
              <a:rPr sz="2800" spc="5">
                <a:solidFill>
                  <a:srgbClr val="7F0000"/>
                </a:solidFill>
                <a:latin typeface="Comic Sans MS"/>
                <a:cs typeface="Comic Sans MS"/>
              </a:rPr>
              <a:t>Think</a:t>
            </a:r>
            <a:r>
              <a:rPr sz="2800" spc="-114">
                <a:solidFill>
                  <a:srgbClr val="7F000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7F0000"/>
                </a:solidFill>
                <a:latin typeface="Comic Sans MS"/>
                <a:cs typeface="Comic Sans MS"/>
              </a:rPr>
              <a:t>rationally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308600" y="271906"/>
            <a:ext cx="40386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0"/>
              <a:t>What </a:t>
            </a:r>
            <a:r>
              <a:rPr spc="-5"/>
              <a:t>is</a:t>
            </a:r>
            <a:r>
              <a:rPr spc="-95"/>
              <a:t> </a:t>
            </a:r>
            <a:r>
              <a:t>AI?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8001" y="1138165"/>
            <a:ext cx="12344397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1165225" indent="-457200">
              <a:buFont typeface="Arial" panose="020B0604020202020204" pitchFamily="34" charset="0"/>
              <a:buChar char="•"/>
            </a:pPr>
            <a:r>
              <a:rPr sz="3200" spc="5">
                <a:latin typeface="Comic Sans MS"/>
                <a:cs typeface="Comic Sans MS"/>
              </a:rPr>
              <a:t>Four </a:t>
            </a:r>
            <a:r>
              <a:rPr sz="3200">
                <a:latin typeface="Comic Sans MS"/>
                <a:cs typeface="Comic Sans MS"/>
              </a:rPr>
              <a:t>possible ways to define</a:t>
            </a:r>
            <a:r>
              <a:rPr sz="3200" spc="-80">
                <a:latin typeface="Comic Sans MS"/>
                <a:cs typeface="Comic Sans MS"/>
              </a:rPr>
              <a:t> </a:t>
            </a:r>
            <a:r>
              <a:rPr sz="3200">
                <a:latin typeface="Comic Sans MS"/>
                <a:cs typeface="Comic Sans MS"/>
              </a:rPr>
              <a:t>Artificial  Intelligence</a:t>
            </a:r>
            <a:r>
              <a:rPr sz="3200" spc="-90">
                <a:latin typeface="Comic Sans MS"/>
                <a:cs typeface="Comic Sans MS"/>
              </a:rPr>
              <a:t> </a:t>
            </a:r>
            <a:r>
              <a:rPr sz="3200">
                <a:latin typeface="Comic Sans MS"/>
                <a:cs typeface="Comic Sans MS"/>
              </a:rPr>
              <a:t>i.e.</a:t>
            </a:r>
          </a:p>
          <a:p>
            <a:pPr marL="571500" indent="-571500">
              <a:spcBef>
                <a:spcPts val="45"/>
              </a:spcBef>
              <a:buFont typeface="Arial" panose="020B0604020202020204" pitchFamily="34" charset="0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469900" marR="5080" indent="-457200">
              <a:buFont typeface="Arial" panose="020B0604020202020204" pitchFamily="34" charset="0"/>
              <a:buChar char="•"/>
            </a:pPr>
            <a:r>
              <a:rPr sz="3200">
                <a:latin typeface="Comic Sans MS"/>
                <a:cs typeface="Comic Sans MS"/>
              </a:rPr>
              <a:t>A discipline </a:t>
            </a:r>
            <a:r>
              <a:rPr sz="3200" spc="5">
                <a:latin typeface="Comic Sans MS"/>
                <a:cs typeface="Comic Sans MS"/>
              </a:rPr>
              <a:t>that </a:t>
            </a:r>
            <a:r>
              <a:rPr sz="3200">
                <a:latin typeface="Comic Sans MS"/>
                <a:cs typeface="Comic Sans MS"/>
              </a:rPr>
              <a:t>systematizes and automates  reasoning processes to create machines</a:t>
            </a:r>
            <a:r>
              <a:rPr sz="3200" spc="-70">
                <a:latin typeface="Comic Sans MS"/>
                <a:cs typeface="Comic Sans MS"/>
              </a:rPr>
              <a:t> </a:t>
            </a:r>
            <a:r>
              <a:rPr sz="3200">
                <a:latin typeface="Comic Sans MS"/>
                <a:cs typeface="Comic Sans MS"/>
              </a:rPr>
              <a:t>that: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3429" y="6832601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600" y="1610330"/>
            <a:ext cx="12725399" cy="591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 algn="just">
              <a:lnSpc>
                <a:spcPts val="3020"/>
              </a:lnSpc>
              <a:buClr>
                <a:srgbClr val="3333CC"/>
              </a:buClr>
              <a:buFont typeface="Wingdings"/>
              <a:buChar char=""/>
              <a:tabLst>
                <a:tab pos="357505" algn="l"/>
              </a:tabLst>
            </a:pPr>
            <a:r>
              <a:rPr sz="3200">
                <a:latin typeface="Calibri"/>
                <a:cs typeface="Calibri"/>
              </a:rPr>
              <a:t>The </a:t>
            </a:r>
            <a:r>
              <a:rPr sz="3200" spc="-5">
                <a:latin typeface="Calibri"/>
                <a:cs typeface="Calibri"/>
              </a:rPr>
              <a:t>goal </a:t>
            </a:r>
            <a:r>
              <a:rPr sz="3200" spc="5">
                <a:latin typeface="Calibri"/>
                <a:cs typeface="Calibri"/>
              </a:rPr>
              <a:t>of AI </a:t>
            </a:r>
            <a:r>
              <a:rPr sz="3200">
                <a:latin typeface="Calibri"/>
                <a:cs typeface="Calibri"/>
              </a:rPr>
              <a:t>is </a:t>
            </a:r>
            <a:r>
              <a:rPr sz="3200" i="1">
                <a:latin typeface="Calibri"/>
                <a:cs typeface="Calibri"/>
              </a:rPr>
              <a:t>to </a:t>
            </a:r>
            <a:r>
              <a:rPr sz="3200" b="1" i="1" spc="-5">
                <a:latin typeface="Calibri"/>
                <a:cs typeface="Calibri"/>
              </a:rPr>
              <a:t>create computer </a:t>
            </a:r>
            <a:r>
              <a:rPr sz="3200" b="1" i="1" spc="-15">
                <a:latin typeface="Calibri"/>
                <a:cs typeface="Calibri"/>
              </a:rPr>
              <a:t>systems</a:t>
            </a:r>
            <a:r>
              <a:rPr sz="3200" b="1" i="1" spc="600">
                <a:latin typeface="Calibri"/>
                <a:cs typeface="Calibri"/>
              </a:rPr>
              <a:t> </a:t>
            </a:r>
            <a:r>
              <a:rPr sz="3200" i="1" spc="-5">
                <a:latin typeface="Calibri"/>
                <a:cs typeface="Calibri"/>
              </a:rPr>
              <a:t>that  </a:t>
            </a:r>
            <a:r>
              <a:rPr sz="3200" b="1" i="1" spc="-5">
                <a:latin typeface="Calibri"/>
                <a:cs typeface="Calibri"/>
              </a:rPr>
              <a:t>perform </a:t>
            </a:r>
            <a:r>
              <a:rPr sz="3200" b="1" i="1" spc="-10">
                <a:latin typeface="Calibri"/>
                <a:cs typeface="Calibri"/>
              </a:rPr>
              <a:t>tasks </a:t>
            </a:r>
            <a:r>
              <a:rPr sz="3200" i="1">
                <a:latin typeface="Calibri"/>
                <a:cs typeface="Calibri"/>
              </a:rPr>
              <a:t>regarded as requiring </a:t>
            </a:r>
            <a:r>
              <a:rPr sz="3200" b="1" i="1" spc="-10">
                <a:latin typeface="Calibri"/>
                <a:cs typeface="Calibri"/>
              </a:rPr>
              <a:t>intelligence </a:t>
            </a:r>
            <a:r>
              <a:rPr sz="3200" i="1">
                <a:latin typeface="Calibri"/>
                <a:cs typeface="Calibri"/>
              </a:rPr>
              <a:t>when  done </a:t>
            </a:r>
            <a:r>
              <a:rPr sz="3200" i="1" spc="-15">
                <a:latin typeface="Calibri"/>
                <a:cs typeface="Calibri"/>
              </a:rPr>
              <a:t>by</a:t>
            </a:r>
            <a:r>
              <a:rPr sz="3200" i="1" spc="-85">
                <a:latin typeface="Calibri"/>
                <a:cs typeface="Calibri"/>
              </a:rPr>
              <a:t> </a:t>
            </a:r>
            <a:r>
              <a:rPr sz="3200" b="1" i="1" spc="5">
                <a:latin typeface="Calibri"/>
                <a:cs typeface="Calibri"/>
              </a:rPr>
              <a:t>humans</a:t>
            </a:r>
            <a:r>
              <a:rPr sz="3200" i="1" spc="5">
                <a:latin typeface="Calibri"/>
                <a:cs typeface="Calibri"/>
              </a:rPr>
              <a:t>.</a:t>
            </a:r>
            <a:endParaRPr lang="en-US" sz="3200" i="1" spc="5">
              <a:latin typeface="Calibri"/>
              <a:cs typeface="Calibri"/>
            </a:endParaRPr>
          </a:p>
          <a:p>
            <a:pPr marL="356870" marR="5080" indent="-344170" algn="just">
              <a:lnSpc>
                <a:spcPts val="3020"/>
              </a:lnSpc>
              <a:buClr>
                <a:srgbClr val="3333CC"/>
              </a:buClr>
              <a:buFont typeface="Wingdings"/>
              <a:buChar char=""/>
              <a:tabLst>
                <a:tab pos="357505" algn="l"/>
              </a:tabLst>
            </a:pPr>
            <a:endParaRPr sz="3200">
              <a:latin typeface="Calibri"/>
              <a:cs typeface="Calibri"/>
            </a:endParaRPr>
          </a:p>
          <a:p>
            <a:pPr marL="356870" marR="220979" indent="-344170">
              <a:lnSpc>
                <a:spcPts val="2590"/>
              </a:lnSpc>
              <a:spcBef>
                <a:spcPts val="1520"/>
              </a:spcBef>
              <a:buClr>
                <a:srgbClr val="3333C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spc="-5">
                <a:latin typeface="Calibri"/>
                <a:cs typeface="Calibri"/>
              </a:rPr>
              <a:t>In </a:t>
            </a:r>
            <a:r>
              <a:rPr sz="2800">
                <a:latin typeface="Calibri"/>
                <a:cs typeface="Calibri"/>
              </a:rPr>
              <a:t>this AI Methodology </a:t>
            </a:r>
            <a:r>
              <a:rPr sz="2800" spc="-20">
                <a:latin typeface="Calibri"/>
                <a:cs typeface="Calibri"/>
              </a:rPr>
              <a:t>we </a:t>
            </a:r>
            <a:r>
              <a:rPr sz="2800" spc="-25">
                <a:latin typeface="Calibri"/>
                <a:cs typeface="Calibri"/>
              </a:rPr>
              <a:t>take </a:t>
            </a:r>
            <a:r>
              <a:rPr sz="2800">
                <a:latin typeface="Calibri"/>
                <a:cs typeface="Calibri"/>
              </a:rPr>
              <a:t>a </a:t>
            </a:r>
            <a:r>
              <a:rPr sz="2800" spc="-5">
                <a:latin typeface="Calibri"/>
                <a:cs typeface="Calibri"/>
              </a:rPr>
              <a:t>task </a:t>
            </a:r>
            <a:r>
              <a:rPr sz="2800" spc="-15">
                <a:latin typeface="Calibri"/>
                <a:cs typeface="Calibri"/>
              </a:rPr>
              <a:t>at </a:t>
            </a:r>
            <a:r>
              <a:rPr sz="2800" spc="-5">
                <a:latin typeface="Calibri"/>
                <a:cs typeface="Calibri"/>
              </a:rPr>
              <a:t>which </a:t>
            </a:r>
            <a:r>
              <a:rPr sz="2800">
                <a:latin typeface="Calibri"/>
                <a:cs typeface="Calibri"/>
              </a:rPr>
              <a:t>people </a:t>
            </a:r>
            <a:r>
              <a:rPr sz="2800" spc="-10">
                <a:latin typeface="Calibri"/>
                <a:cs typeface="Calibri"/>
              </a:rPr>
              <a:t>are</a:t>
            </a:r>
            <a:r>
              <a:rPr sz="2800" spc="-150">
                <a:latin typeface="Calibri"/>
                <a:cs typeface="Calibri"/>
              </a:rPr>
              <a:t> </a:t>
            </a:r>
            <a:r>
              <a:rPr sz="2800" spc="-40">
                <a:latin typeface="Calibri"/>
                <a:cs typeface="Calibri"/>
              </a:rPr>
              <a:t>better,  </a:t>
            </a:r>
            <a:r>
              <a:rPr sz="2800">
                <a:latin typeface="Calibri"/>
                <a:cs typeface="Calibri"/>
              </a:rPr>
              <a:t>e.g.:</a:t>
            </a:r>
          </a:p>
          <a:p>
            <a:pPr marL="1213485" lvl="2" indent="-286385">
              <a:spcBef>
                <a:spcPts val="245"/>
              </a:spcBef>
              <a:buClr>
                <a:srgbClr val="3333CC"/>
              </a:buClr>
              <a:buFont typeface="Calibri"/>
              <a:buChar char="•"/>
              <a:tabLst>
                <a:tab pos="756285" algn="l"/>
                <a:tab pos="756920" algn="l"/>
              </a:tabLst>
            </a:pPr>
            <a:r>
              <a:rPr sz="2800" b="1" spc="-10">
                <a:latin typeface="Calibri"/>
                <a:cs typeface="Calibri"/>
              </a:rPr>
              <a:t>Prove </a:t>
            </a:r>
            <a:r>
              <a:rPr sz="2800" b="1">
                <a:latin typeface="Calibri"/>
                <a:cs typeface="Calibri"/>
              </a:rPr>
              <a:t>a</a:t>
            </a:r>
            <a:r>
              <a:rPr sz="2800" b="1" spc="-95">
                <a:latin typeface="Calibri"/>
                <a:cs typeface="Calibri"/>
              </a:rPr>
              <a:t> </a:t>
            </a:r>
            <a:r>
              <a:rPr sz="2800" b="1" spc="-5">
                <a:latin typeface="Calibri"/>
                <a:cs typeface="Calibri"/>
              </a:rPr>
              <a:t>theorem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285"/>
              </a:spcBef>
              <a:buClr>
                <a:srgbClr val="3333CC"/>
              </a:buClr>
              <a:buFont typeface="Calibri"/>
              <a:buChar char="•"/>
              <a:tabLst>
                <a:tab pos="756285" algn="l"/>
                <a:tab pos="756920" algn="l"/>
              </a:tabLst>
            </a:pPr>
            <a:r>
              <a:rPr sz="2800" b="1" spc="-15">
                <a:latin typeface="Calibri"/>
                <a:cs typeface="Calibri"/>
              </a:rPr>
              <a:t>Play</a:t>
            </a:r>
            <a:r>
              <a:rPr sz="2800" b="1" spc="-75">
                <a:latin typeface="Calibri"/>
                <a:cs typeface="Calibri"/>
              </a:rPr>
              <a:t> </a:t>
            </a:r>
            <a:r>
              <a:rPr sz="2800" b="1" spc="-5">
                <a:latin typeface="Calibri"/>
                <a:cs typeface="Calibri"/>
              </a:rPr>
              <a:t>chess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285"/>
              </a:spcBef>
              <a:buClr>
                <a:srgbClr val="3333CC"/>
              </a:buClr>
              <a:buFont typeface="Calibri"/>
              <a:buChar char="•"/>
              <a:tabLst>
                <a:tab pos="756285" algn="l"/>
                <a:tab pos="756920" algn="l"/>
              </a:tabLst>
            </a:pPr>
            <a:r>
              <a:rPr sz="2800" b="1" spc="-5">
                <a:latin typeface="Calibri"/>
                <a:cs typeface="Calibri"/>
              </a:rPr>
              <a:t>Plan </a:t>
            </a:r>
            <a:r>
              <a:rPr sz="2800" b="1">
                <a:latin typeface="Calibri"/>
                <a:cs typeface="Calibri"/>
              </a:rPr>
              <a:t>a </a:t>
            </a:r>
            <a:r>
              <a:rPr sz="2800" b="1" spc="-5">
                <a:latin typeface="Calibri"/>
                <a:cs typeface="Calibri"/>
              </a:rPr>
              <a:t>surgical</a:t>
            </a:r>
            <a:r>
              <a:rPr sz="2800" b="1" spc="-80">
                <a:latin typeface="Calibri"/>
                <a:cs typeface="Calibri"/>
              </a:rPr>
              <a:t> </a:t>
            </a:r>
            <a:r>
              <a:rPr sz="2800" b="1" spc="-10">
                <a:latin typeface="Calibri"/>
                <a:cs typeface="Calibri"/>
              </a:rPr>
              <a:t>operation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285"/>
              </a:spcBef>
              <a:buClr>
                <a:srgbClr val="3333CC"/>
              </a:buClr>
              <a:buFont typeface="Calibri"/>
              <a:buChar char="•"/>
              <a:tabLst>
                <a:tab pos="756285" algn="l"/>
                <a:tab pos="756920" algn="l"/>
              </a:tabLst>
            </a:pPr>
            <a:r>
              <a:rPr sz="2800" b="1" spc="-5">
                <a:latin typeface="Calibri"/>
                <a:cs typeface="Calibri"/>
              </a:rPr>
              <a:t>Diagnose </a:t>
            </a:r>
            <a:r>
              <a:rPr sz="2800" b="1">
                <a:latin typeface="Calibri"/>
                <a:cs typeface="Calibri"/>
              </a:rPr>
              <a:t>a</a:t>
            </a:r>
            <a:r>
              <a:rPr sz="2800" b="1" spc="-30">
                <a:latin typeface="Calibri"/>
                <a:cs typeface="Calibri"/>
              </a:rPr>
              <a:t> </a:t>
            </a:r>
            <a:r>
              <a:rPr sz="2800" b="1" spc="-5">
                <a:latin typeface="Calibri"/>
                <a:cs typeface="Calibri"/>
              </a:rPr>
              <a:t>disease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285"/>
              </a:spcBef>
              <a:buClr>
                <a:srgbClr val="3333CC"/>
              </a:buClr>
              <a:buFont typeface="Calibri"/>
              <a:buChar char="•"/>
              <a:tabLst>
                <a:tab pos="756285" algn="l"/>
                <a:tab pos="756920" algn="l"/>
              </a:tabLst>
            </a:pPr>
            <a:r>
              <a:rPr sz="2800" b="1" spc="-20">
                <a:latin typeface="Calibri"/>
                <a:cs typeface="Calibri"/>
              </a:rPr>
              <a:t>Navigate </a:t>
            </a:r>
            <a:r>
              <a:rPr sz="2800" b="1" spc="5">
                <a:latin typeface="Calibri"/>
                <a:cs typeface="Calibri"/>
              </a:rPr>
              <a:t>in </a:t>
            </a:r>
            <a:r>
              <a:rPr sz="2800" b="1">
                <a:latin typeface="Calibri"/>
                <a:cs typeface="Calibri"/>
              </a:rPr>
              <a:t>a</a:t>
            </a:r>
            <a:r>
              <a:rPr sz="2800" b="1" spc="-70">
                <a:latin typeface="Calibri"/>
                <a:cs typeface="Calibri"/>
              </a:rPr>
              <a:t> </a:t>
            </a:r>
            <a:r>
              <a:rPr sz="2800" b="1" spc="5">
                <a:latin typeface="Calibri"/>
                <a:cs typeface="Calibri"/>
              </a:rPr>
              <a:t>building</a:t>
            </a:r>
            <a:endParaRPr sz="2800">
              <a:latin typeface="Calibri"/>
              <a:cs typeface="Calibri"/>
            </a:endParaRPr>
          </a:p>
          <a:p>
            <a:pPr marL="356870">
              <a:spcBef>
                <a:spcPts val="285"/>
              </a:spcBef>
            </a:pPr>
            <a:r>
              <a:rPr sz="2800">
                <a:latin typeface="Calibri"/>
                <a:cs typeface="Calibri"/>
              </a:rPr>
              <a:t>and build a </a:t>
            </a:r>
            <a:r>
              <a:rPr sz="2800" spc="-5">
                <a:latin typeface="Calibri"/>
                <a:cs typeface="Calibri"/>
              </a:rPr>
              <a:t>computer </a:t>
            </a:r>
            <a:r>
              <a:rPr sz="2800" spc="-20">
                <a:latin typeface="Calibri"/>
                <a:cs typeface="Calibri"/>
              </a:rPr>
              <a:t>system </a:t>
            </a:r>
            <a:r>
              <a:rPr sz="2800" spc="-5">
                <a:latin typeface="Calibri"/>
                <a:cs typeface="Calibri"/>
              </a:rPr>
              <a:t>that </a:t>
            </a:r>
            <a:r>
              <a:rPr sz="2800">
                <a:latin typeface="Calibri"/>
                <a:cs typeface="Calibri"/>
              </a:rPr>
              <a:t>does </a:t>
            </a:r>
            <a:r>
              <a:rPr sz="2800" spc="-5">
                <a:latin typeface="Calibri"/>
                <a:cs typeface="Calibri"/>
              </a:rPr>
              <a:t>it</a:t>
            </a:r>
            <a:r>
              <a:rPr sz="2800" spc="-210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automatically</a:t>
            </a:r>
            <a:endParaRPr lang="en-US" sz="2800" spc="-5">
              <a:latin typeface="Calibri"/>
              <a:cs typeface="Calibri"/>
            </a:endParaRPr>
          </a:p>
          <a:p>
            <a:pPr marL="356870">
              <a:spcBef>
                <a:spcPts val="285"/>
              </a:spcBef>
            </a:pPr>
            <a:endParaRPr sz="2800">
              <a:latin typeface="Calibri"/>
              <a:cs typeface="Calibri"/>
            </a:endParaRPr>
          </a:p>
          <a:p>
            <a:pPr marL="356870" indent="-344170">
              <a:spcBef>
                <a:spcPts val="835"/>
              </a:spcBef>
              <a:buClr>
                <a:srgbClr val="3333C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>
                <a:solidFill>
                  <a:srgbClr val="990000"/>
                </a:solidFill>
                <a:latin typeface="Calibri"/>
                <a:cs typeface="Calibri"/>
              </a:rPr>
              <a:t>But </a:t>
            </a:r>
            <a:r>
              <a:rPr sz="2800" b="1" spc="-5">
                <a:solidFill>
                  <a:srgbClr val="FF0000"/>
                </a:solidFill>
                <a:latin typeface="Calibri"/>
                <a:cs typeface="Calibri"/>
              </a:rPr>
              <a:t>HUMANS </a:t>
            </a:r>
            <a:r>
              <a:rPr sz="2800" b="1">
                <a:solidFill>
                  <a:srgbClr val="FF0000"/>
                </a:solidFill>
                <a:latin typeface="Calibri"/>
                <a:cs typeface="Calibri"/>
              </a:rPr>
              <a:t>MAKE </a:t>
            </a:r>
            <a:r>
              <a:rPr sz="2800" b="1" spc="-5">
                <a:solidFill>
                  <a:srgbClr val="FF0000"/>
                </a:solidFill>
                <a:latin typeface="Calibri"/>
                <a:cs typeface="Calibri"/>
              </a:rPr>
              <a:t>ERRORS</a:t>
            </a:r>
            <a:r>
              <a:rPr sz="2800" b="1" spc="-5">
                <a:solidFill>
                  <a:srgbClr val="990000"/>
                </a:solidFill>
                <a:latin typeface="Calibri"/>
                <a:cs typeface="Calibri"/>
              </a:rPr>
              <a:t>,,,,,do </a:t>
            </a:r>
            <a:r>
              <a:rPr sz="2800" b="1" spc="-10">
                <a:solidFill>
                  <a:srgbClr val="990000"/>
                </a:solidFill>
                <a:latin typeface="Calibri"/>
                <a:cs typeface="Calibri"/>
              </a:rPr>
              <a:t>we </a:t>
            </a:r>
            <a:r>
              <a:rPr sz="2800" b="1" spc="-15">
                <a:solidFill>
                  <a:srgbClr val="990000"/>
                </a:solidFill>
                <a:latin typeface="Calibri"/>
                <a:cs typeface="Calibri"/>
              </a:rPr>
              <a:t>want </a:t>
            </a:r>
            <a:r>
              <a:rPr sz="2800" b="1" spc="-10">
                <a:solidFill>
                  <a:srgbClr val="990000"/>
                </a:solidFill>
                <a:latin typeface="Calibri"/>
                <a:cs typeface="Calibri"/>
              </a:rPr>
              <a:t>to </a:t>
            </a:r>
            <a:r>
              <a:rPr sz="2800" b="1" spc="-5">
                <a:solidFill>
                  <a:srgbClr val="990000"/>
                </a:solidFill>
                <a:latin typeface="Calibri"/>
                <a:cs typeface="Calibri"/>
              </a:rPr>
              <a:t>duplicate </a:t>
            </a:r>
            <a:r>
              <a:rPr sz="2800" b="1">
                <a:solidFill>
                  <a:srgbClr val="990000"/>
                </a:solidFill>
                <a:latin typeface="Calibri"/>
                <a:cs typeface="Calibri"/>
              </a:rPr>
              <a:t>or</a:t>
            </a:r>
            <a:r>
              <a:rPr sz="2800" b="1" spc="-110">
                <a:solidFill>
                  <a:srgbClr val="990000"/>
                </a:solidFill>
                <a:latin typeface="Calibri"/>
                <a:cs typeface="Calibri"/>
              </a:rPr>
              <a:t> </a:t>
            </a:r>
            <a:r>
              <a:rPr sz="2800" b="1" spc="-5">
                <a:solidFill>
                  <a:srgbClr val="990000"/>
                </a:solidFill>
                <a:latin typeface="Calibri"/>
                <a:cs typeface="Calibri"/>
              </a:rPr>
              <a:t>copy</a:t>
            </a:r>
            <a:r>
              <a:rPr lang="en-US" sz="2800" b="1" spc="-5">
                <a:solidFill>
                  <a:srgbClr val="990000"/>
                </a:solidFill>
                <a:latin typeface="Calibri"/>
                <a:cs typeface="Calibri"/>
              </a:rPr>
              <a:t> human imperfections?</a:t>
            </a:r>
          </a:p>
        </p:txBody>
      </p:sp>
      <p:sp>
        <p:nvSpPr>
          <p:cNvPr id="5" name="object 5"/>
          <p:cNvSpPr/>
          <p:nvPr/>
        </p:nvSpPr>
        <p:spPr>
          <a:xfrm>
            <a:off x="3126231" y="379476"/>
            <a:ext cx="3489960" cy="1066800"/>
          </a:xfrm>
          <a:custGeom>
            <a:avLst/>
            <a:gdLst/>
            <a:ahLst/>
            <a:cxnLst/>
            <a:rect l="l" t="t" r="r" b="b"/>
            <a:pathLst>
              <a:path w="3489960" h="1066800">
                <a:moveTo>
                  <a:pt x="0" y="1066800"/>
                </a:moveTo>
                <a:lnTo>
                  <a:pt x="3489960" y="1066800"/>
                </a:lnTo>
                <a:lnTo>
                  <a:pt x="348996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D9E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0136" y="376429"/>
            <a:ext cx="3502660" cy="1076325"/>
          </a:xfrm>
          <a:custGeom>
            <a:avLst/>
            <a:gdLst/>
            <a:ahLst/>
            <a:cxnLst/>
            <a:rect l="l" t="t" r="r" b="b"/>
            <a:pathLst>
              <a:path w="3502660" h="1076325">
                <a:moveTo>
                  <a:pt x="3502152" y="0"/>
                </a:moveTo>
                <a:lnTo>
                  <a:pt x="0" y="0"/>
                </a:lnTo>
                <a:lnTo>
                  <a:pt x="0" y="1075944"/>
                </a:lnTo>
                <a:lnTo>
                  <a:pt x="3502152" y="1075944"/>
                </a:lnTo>
                <a:lnTo>
                  <a:pt x="3502152" y="1069848"/>
                </a:lnTo>
                <a:lnTo>
                  <a:pt x="9143" y="1069848"/>
                </a:lnTo>
                <a:lnTo>
                  <a:pt x="6096" y="1066800"/>
                </a:lnTo>
                <a:lnTo>
                  <a:pt x="9143" y="1066800"/>
                </a:lnTo>
                <a:lnTo>
                  <a:pt x="9143" y="9144"/>
                </a:lnTo>
                <a:lnTo>
                  <a:pt x="6096" y="9144"/>
                </a:lnTo>
                <a:lnTo>
                  <a:pt x="9143" y="3048"/>
                </a:lnTo>
                <a:lnTo>
                  <a:pt x="3502152" y="3048"/>
                </a:lnTo>
                <a:lnTo>
                  <a:pt x="3502152" y="0"/>
                </a:lnTo>
                <a:close/>
              </a:path>
              <a:path w="3502660" h="1076325">
                <a:moveTo>
                  <a:pt x="9143" y="1066800"/>
                </a:moveTo>
                <a:lnTo>
                  <a:pt x="6096" y="1066800"/>
                </a:lnTo>
                <a:lnTo>
                  <a:pt x="9143" y="1069848"/>
                </a:lnTo>
                <a:lnTo>
                  <a:pt x="9143" y="1066800"/>
                </a:lnTo>
                <a:close/>
              </a:path>
              <a:path w="3502660" h="1076325">
                <a:moveTo>
                  <a:pt x="3493007" y="1066800"/>
                </a:moveTo>
                <a:lnTo>
                  <a:pt x="9143" y="1066800"/>
                </a:lnTo>
                <a:lnTo>
                  <a:pt x="9143" y="1069848"/>
                </a:lnTo>
                <a:lnTo>
                  <a:pt x="3493007" y="1069848"/>
                </a:lnTo>
                <a:lnTo>
                  <a:pt x="3493007" y="1066800"/>
                </a:lnTo>
                <a:close/>
              </a:path>
              <a:path w="3502660" h="1076325">
                <a:moveTo>
                  <a:pt x="3493007" y="3048"/>
                </a:moveTo>
                <a:lnTo>
                  <a:pt x="3493007" y="1069848"/>
                </a:lnTo>
                <a:lnTo>
                  <a:pt x="3496055" y="1066800"/>
                </a:lnTo>
                <a:lnTo>
                  <a:pt x="3502152" y="1066800"/>
                </a:lnTo>
                <a:lnTo>
                  <a:pt x="3502152" y="9144"/>
                </a:lnTo>
                <a:lnTo>
                  <a:pt x="3496055" y="9144"/>
                </a:lnTo>
                <a:lnTo>
                  <a:pt x="3493007" y="3048"/>
                </a:lnTo>
                <a:close/>
              </a:path>
              <a:path w="3502660" h="1076325">
                <a:moveTo>
                  <a:pt x="3502152" y="1066800"/>
                </a:moveTo>
                <a:lnTo>
                  <a:pt x="3496055" y="1066800"/>
                </a:lnTo>
                <a:lnTo>
                  <a:pt x="3493007" y="1069848"/>
                </a:lnTo>
                <a:lnTo>
                  <a:pt x="3502152" y="1069848"/>
                </a:lnTo>
                <a:lnTo>
                  <a:pt x="3502152" y="1066800"/>
                </a:lnTo>
                <a:close/>
              </a:path>
              <a:path w="3502660" h="1076325">
                <a:moveTo>
                  <a:pt x="9143" y="3048"/>
                </a:moveTo>
                <a:lnTo>
                  <a:pt x="6096" y="9144"/>
                </a:lnTo>
                <a:lnTo>
                  <a:pt x="9143" y="9144"/>
                </a:lnTo>
                <a:lnTo>
                  <a:pt x="9143" y="3048"/>
                </a:lnTo>
                <a:close/>
              </a:path>
              <a:path w="3502660" h="1076325">
                <a:moveTo>
                  <a:pt x="3493007" y="3048"/>
                </a:moveTo>
                <a:lnTo>
                  <a:pt x="9143" y="3048"/>
                </a:lnTo>
                <a:lnTo>
                  <a:pt x="9143" y="9144"/>
                </a:lnTo>
                <a:lnTo>
                  <a:pt x="3493007" y="9144"/>
                </a:lnTo>
                <a:lnTo>
                  <a:pt x="3493007" y="3048"/>
                </a:lnTo>
                <a:close/>
              </a:path>
              <a:path w="3502660" h="1076325">
                <a:moveTo>
                  <a:pt x="3502152" y="3048"/>
                </a:moveTo>
                <a:lnTo>
                  <a:pt x="3493007" y="3048"/>
                </a:lnTo>
                <a:lnTo>
                  <a:pt x="3496055" y="9144"/>
                </a:lnTo>
                <a:lnTo>
                  <a:pt x="3502152" y="9144"/>
                </a:lnTo>
                <a:lnTo>
                  <a:pt x="3502152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16192" y="379476"/>
            <a:ext cx="3520440" cy="1066800"/>
          </a:xfrm>
          <a:custGeom>
            <a:avLst/>
            <a:gdLst/>
            <a:ahLst/>
            <a:cxnLst/>
            <a:rect l="l" t="t" r="r" b="b"/>
            <a:pathLst>
              <a:path w="3520440" h="1066800">
                <a:moveTo>
                  <a:pt x="0" y="1066800"/>
                </a:moveTo>
                <a:lnTo>
                  <a:pt x="3520440" y="1066800"/>
                </a:lnTo>
                <a:lnTo>
                  <a:pt x="352044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13145" y="376429"/>
            <a:ext cx="3529965" cy="1076325"/>
          </a:xfrm>
          <a:custGeom>
            <a:avLst/>
            <a:gdLst/>
            <a:ahLst/>
            <a:cxnLst/>
            <a:rect l="l" t="t" r="r" b="b"/>
            <a:pathLst>
              <a:path w="3529965" h="1076325">
                <a:moveTo>
                  <a:pt x="3529583" y="0"/>
                </a:moveTo>
                <a:lnTo>
                  <a:pt x="0" y="0"/>
                </a:lnTo>
                <a:lnTo>
                  <a:pt x="0" y="1075944"/>
                </a:lnTo>
                <a:lnTo>
                  <a:pt x="3529583" y="1075944"/>
                </a:lnTo>
                <a:lnTo>
                  <a:pt x="3529583" y="1069848"/>
                </a:lnTo>
                <a:lnTo>
                  <a:pt x="9144" y="1069848"/>
                </a:lnTo>
                <a:lnTo>
                  <a:pt x="3048" y="1066800"/>
                </a:lnTo>
                <a:lnTo>
                  <a:pt x="9144" y="1066800"/>
                </a:lnTo>
                <a:lnTo>
                  <a:pt x="9144" y="9144"/>
                </a:lnTo>
                <a:lnTo>
                  <a:pt x="3048" y="9144"/>
                </a:lnTo>
                <a:lnTo>
                  <a:pt x="9144" y="3048"/>
                </a:lnTo>
                <a:lnTo>
                  <a:pt x="3529583" y="3048"/>
                </a:lnTo>
                <a:lnTo>
                  <a:pt x="3529583" y="0"/>
                </a:lnTo>
                <a:close/>
              </a:path>
              <a:path w="3529965" h="1076325">
                <a:moveTo>
                  <a:pt x="9144" y="1066800"/>
                </a:moveTo>
                <a:lnTo>
                  <a:pt x="3048" y="1066800"/>
                </a:lnTo>
                <a:lnTo>
                  <a:pt x="9144" y="1069848"/>
                </a:lnTo>
                <a:lnTo>
                  <a:pt x="9144" y="1066800"/>
                </a:lnTo>
                <a:close/>
              </a:path>
              <a:path w="3529965" h="1076325">
                <a:moveTo>
                  <a:pt x="3520440" y="1066800"/>
                </a:moveTo>
                <a:lnTo>
                  <a:pt x="9144" y="1066800"/>
                </a:lnTo>
                <a:lnTo>
                  <a:pt x="9144" y="1069848"/>
                </a:lnTo>
                <a:lnTo>
                  <a:pt x="3520440" y="1069848"/>
                </a:lnTo>
                <a:lnTo>
                  <a:pt x="3520440" y="1066800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3520440" y="1069848"/>
                </a:lnTo>
                <a:lnTo>
                  <a:pt x="3523488" y="1066800"/>
                </a:lnTo>
                <a:lnTo>
                  <a:pt x="3529583" y="1066800"/>
                </a:lnTo>
                <a:lnTo>
                  <a:pt x="3529583" y="9144"/>
                </a:lnTo>
                <a:lnTo>
                  <a:pt x="3523488" y="9144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3" y="1066800"/>
                </a:moveTo>
                <a:lnTo>
                  <a:pt x="3523488" y="1066800"/>
                </a:lnTo>
                <a:lnTo>
                  <a:pt x="3520440" y="1069848"/>
                </a:lnTo>
                <a:lnTo>
                  <a:pt x="3529583" y="1069848"/>
                </a:lnTo>
                <a:lnTo>
                  <a:pt x="3529583" y="1066800"/>
                </a:lnTo>
                <a:close/>
              </a:path>
              <a:path w="3529965" h="1076325">
                <a:moveTo>
                  <a:pt x="9144" y="3048"/>
                </a:moveTo>
                <a:lnTo>
                  <a:pt x="3048" y="9144"/>
                </a:lnTo>
                <a:lnTo>
                  <a:pt x="9144" y="9144"/>
                </a:lnTo>
                <a:lnTo>
                  <a:pt x="9144" y="3048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9144" y="3048"/>
                </a:lnTo>
                <a:lnTo>
                  <a:pt x="9144" y="9144"/>
                </a:lnTo>
                <a:lnTo>
                  <a:pt x="3520440" y="9144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3" y="3048"/>
                </a:moveTo>
                <a:lnTo>
                  <a:pt x="3520440" y="3048"/>
                </a:lnTo>
                <a:lnTo>
                  <a:pt x="3523488" y="9144"/>
                </a:lnTo>
                <a:lnTo>
                  <a:pt x="3529583" y="9144"/>
                </a:lnTo>
                <a:lnTo>
                  <a:pt x="3529583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2288" y="3672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98800" y="91440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12516" y="3672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0535" y="3672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98800" y="38100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98800" y="145542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384804" y="301244"/>
            <a:ext cx="296100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4940">
              <a:lnSpc>
                <a:spcPct val="125000"/>
              </a:lnSpc>
            </a:pPr>
            <a:r>
              <a:rPr sz="2800" spc="5">
                <a:solidFill>
                  <a:srgbClr val="3333CC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3333CC"/>
                </a:solidFill>
                <a:latin typeface="Comic Sans MS"/>
                <a:cs typeface="Comic Sans MS"/>
              </a:rPr>
              <a:t>like humans  </a:t>
            </a: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Think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like</a:t>
            </a:r>
            <a:r>
              <a:rPr sz="2800" spc="-110">
                <a:solidFill>
                  <a:srgbClr val="EDEBE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humans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6789" y="301244"/>
            <a:ext cx="261683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8115">
              <a:lnSpc>
                <a:spcPct val="125000"/>
              </a:lnSpc>
            </a:pP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  </a:t>
            </a: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Think</a:t>
            </a:r>
            <a:r>
              <a:rPr sz="2800" spc="-114">
                <a:solidFill>
                  <a:srgbClr val="EDEBE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98672" y="1749551"/>
            <a:ext cx="5068824" cy="1758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36927" y="1065427"/>
            <a:ext cx="252349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400" spc="5">
                <a:latin typeface="Arial"/>
                <a:cs typeface="Arial"/>
              </a:rPr>
              <a:t>The </a:t>
            </a:r>
            <a:r>
              <a:rPr sz="2400">
                <a:latin typeface="Arial"/>
                <a:cs typeface="Arial"/>
              </a:rPr>
              <a:t>Turing</a:t>
            </a:r>
            <a:r>
              <a:rPr sz="2400" spc="-155">
                <a:latin typeface="Arial"/>
                <a:cs typeface="Arial"/>
              </a:rPr>
              <a:t> </a:t>
            </a:r>
            <a:r>
              <a:rPr sz="2400" spc="5">
                <a:latin typeface="Arial"/>
                <a:cs typeface="Arial"/>
              </a:rPr>
              <a:t>Test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21114" y="226999"/>
            <a:ext cx="7540487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AI </a:t>
            </a:r>
            <a:r>
              <a:rPr sz="3400">
                <a:latin typeface="Arial"/>
                <a:cs typeface="Arial"/>
              </a:rPr>
              <a:t>definition 01: </a:t>
            </a:r>
            <a:r>
              <a:rPr sz="3400" spc="5">
                <a:latin typeface="Arial"/>
                <a:cs typeface="Arial"/>
              </a:rPr>
              <a:t>Act Like</a:t>
            </a:r>
            <a:r>
              <a:rPr sz="3400" spc="-17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Humans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0400" y="3681985"/>
            <a:ext cx="11734799" cy="3113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>
              <a:buChar char="•"/>
              <a:tabLst>
                <a:tab pos="356870" algn="l"/>
                <a:tab pos="357505" algn="l"/>
              </a:tabLst>
            </a:pPr>
            <a:r>
              <a:rPr sz="2400" spc="15">
                <a:latin typeface="Arial"/>
                <a:cs typeface="Arial"/>
              </a:rPr>
              <a:t>What </a:t>
            </a:r>
            <a:r>
              <a:rPr sz="2400">
                <a:latin typeface="Arial"/>
                <a:cs typeface="Arial"/>
              </a:rPr>
              <a:t>capabilities </a:t>
            </a:r>
            <a:r>
              <a:rPr sz="2400" spc="-10">
                <a:latin typeface="Arial"/>
                <a:cs typeface="Arial"/>
              </a:rPr>
              <a:t>would </a:t>
            </a:r>
            <a:r>
              <a:rPr sz="2400" spc="-5">
                <a:latin typeface="Arial"/>
                <a:cs typeface="Arial"/>
              </a:rPr>
              <a:t>a </a:t>
            </a:r>
            <a:r>
              <a:rPr sz="2400">
                <a:latin typeface="Arial"/>
                <a:cs typeface="Arial"/>
              </a:rPr>
              <a:t>computer need to </a:t>
            </a:r>
            <a:r>
              <a:rPr sz="2400" spc="-5">
                <a:latin typeface="Arial"/>
                <a:cs typeface="Arial"/>
              </a:rPr>
              <a:t>have </a:t>
            </a:r>
            <a:r>
              <a:rPr sz="2400">
                <a:latin typeface="Arial"/>
                <a:cs typeface="Arial"/>
              </a:rPr>
              <a:t>to</a:t>
            </a:r>
            <a:r>
              <a:rPr sz="2400" spc="-18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pass  the Turing</a:t>
            </a:r>
            <a:r>
              <a:rPr sz="2400" spc="-114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Test?</a:t>
            </a:r>
          </a:p>
          <a:p>
            <a:pPr marL="1213485" lvl="2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0">
                <a:latin typeface="Arial"/>
                <a:cs typeface="Arial"/>
              </a:rPr>
              <a:t>Natural language</a:t>
            </a:r>
            <a:r>
              <a:rPr sz="2000" spc="55">
                <a:latin typeface="Arial"/>
                <a:cs typeface="Arial"/>
              </a:rPr>
              <a:t> </a:t>
            </a:r>
            <a:r>
              <a:rPr sz="2000" spc="-5">
                <a:latin typeface="Arial"/>
                <a:cs typeface="Arial"/>
              </a:rPr>
              <a:t>processing</a:t>
            </a:r>
            <a:endParaRPr sz="2000">
              <a:latin typeface="Arial"/>
              <a:cs typeface="Arial"/>
            </a:endParaRPr>
          </a:p>
          <a:p>
            <a:pPr marL="1213485" lvl="2" indent="-286385">
              <a:spcBef>
                <a:spcPts val="480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5">
                <a:latin typeface="Arial"/>
                <a:cs typeface="Arial"/>
              </a:rPr>
              <a:t>Knowledge</a:t>
            </a:r>
            <a:r>
              <a:rPr sz="2000" spc="9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representation</a:t>
            </a:r>
            <a:endParaRPr sz="2000">
              <a:latin typeface="Arial"/>
              <a:cs typeface="Arial"/>
            </a:endParaRPr>
          </a:p>
          <a:p>
            <a:pPr marL="1213485" lvl="2" indent="-286385">
              <a:spcBef>
                <a:spcPts val="480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5">
                <a:latin typeface="Arial"/>
                <a:cs typeface="Arial"/>
              </a:rPr>
              <a:t>Automated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reasoning</a:t>
            </a:r>
            <a:endParaRPr sz="2000">
              <a:latin typeface="Arial"/>
              <a:cs typeface="Arial"/>
            </a:endParaRPr>
          </a:p>
          <a:p>
            <a:pPr marL="1213485" lvl="2" indent="-286385">
              <a:spcBef>
                <a:spcPts val="480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0">
                <a:latin typeface="Arial"/>
                <a:cs typeface="Arial"/>
              </a:rPr>
              <a:t>Machine</a:t>
            </a:r>
            <a:r>
              <a:rPr sz="2000" spc="-30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learning</a:t>
            </a:r>
            <a:endParaRPr sz="2000">
              <a:latin typeface="Arial"/>
              <a:cs typeface="Arial"/>
            </a:endParaRPr>
          </a:p>
          <a:p>
            <a:pPr marL="469900" marR="101600" indent="-457200">
              <a:spcBef>
                <a:spcPts val="560"/>
              </a:spcBef>
              <a:buChar char="•"/>
              <a:tabLst>
                <a:tab pos="469265" algn="l"/>
                <a:tab pos="469900" algn="l"/>
              </a:tabLst>
            </a:pPr>
            <a:r>
              <a:rPr sz="2400">
                <a:latin typeface="Arial"/>
                <a:cs typeface="Arial"/>
              </a:rPr>
              <a:t>Turing predicted that by the </a:t>
            </a:r>
            <a:r>
              <a:rPr sz="2400" spc="-5">
                <a:latin typeface="Arial"/>
                <a:cs typeface="Arial"/>
              </a:rPr>
              <a:t>year </a:t>
            </a:r>
            <a:r>
              <a:rPr sz="2400">
                <a:latin typeface="Arial"/>
                <a:cs typeface="Arial"/>
              </a:rPr>
              <a:t>2000, machines</a:t>
            </a:r>
            <a:r>
              <a:rPr sz="2400" spc="-17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would  </a:t>
            </a:r>
            <a:r>
              <a:rPr sz="2400">
                <a:latin typeface="Arial"/>
                <a:cs typeface="Arial"/>
              </a:rPr>
              <a:t>be able to </a:t>
            </a:r>
            <a:r>
              <a:rPr sz="2400" spc="5">
                <a:latin typeface="Arial"/>
                <a:cs typeface="Arial"/>
              </a:rPr>
              <a:t>fool </a:t>
            </a:r>
            <a:r>
              <a:rPr sz="2400">
                <a:latin typeface="Arial"/>
                <a:cs typeface="Arial"/>
              </a:rPr>
              <a:t>30% of human </a:t>
            </a:r>
            <a:r>
              <a:rPr sz="2400" spc="-5">
                <a:latin typeface="Arial"/>
                <a:cs typeface="Arial"/>
              </a:rPr>
              <a:t>judges </a:t>
            </a:r>
            <a:r>
              <a:rPr sz="2400" spc="10">
                <a:latin typeface="Arial"/>
                <a:cs typeface="Arial"/>
              </a:rPr>
              <a:t>for </a:t>
            </a:r>
            <a:r>
              <a:rPr sz="2400" spc="-5">
                <a:latin typeface="Arial"/>
                <a:cs typeface="Arial"/>
              </a:rPr>
              <a:t>five</a:t>
            </a:r>
            <a:r>
              <a:rPr sz="2400" spc="-18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minutes</a:t>
            </a:r>
          </a:p>
          <a:p>
            <a:pPr marL="1536700">
              <a:spcBef>
                <a:spcPts val="1964"/>
              </a:spcBef>
            </a:pPr>
            <a:r>
              <a:rPr sz="1200" spc="-5">
                <a:latin typeface="Arial"/>
                <a:cs typeface="Arial"/>
              </a:rPr>
              <a:t>A.</a:t>
            </a:r>
            <a:r>
              <a:rPr sz="1200" spc="5">
                <a:latin typeface="Arial"/>
                <a:cs typeface="Arial"/>
              </a:rPr>
              <a:t> </a:t>
            </a:r>
            <a:r>
              <a:rPr sz="1200" spc="-5">
                <a:latin typeface="Arial"/>
                <a:cs typeface="Arial"/>
              </a:rPr>
              <a:t>Turing,</a:t>
            </a:r>
            <a:r>
              <a:rPr sz="1200" spc="-65">
                <a:latin typeface="Arial"/>
                <a:cs typeface="Arial"/>
              </a:rPr>
              <a:t> </a:t>
            </a:r>
            <a:r>
              <a:rPr sz="1200" u="sng" spc="-5">
                <a:solidFill>
                  <a:srgbClr val="0000FF"/>
                </a:solidFill>
                <a:latin typeface="Arial"/>
                <a:cs typeface="Arial"/>
              </a:rPr>
              <a:t>Computing</a:t>
            </a:r>
            <a:r>
              <a:rPr sz="1200" u="sng" spc="-1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u="sng" spc="-5">
                <a:solidFill>
                  <a:srgbClr val="0000FF"/>
                </a:solidFill>
                <a:latin typeface="Arial"/>
                <a:cs typeface="Arial"/>
              </a:rPr>
              <a:t>machinery</a:t>
            </a:r>
            <a:r>
              <a:rPr sz="1200" u="sng" spc="-5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u="sng" spc="-5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200" u="sng" spc="-1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u="sng">
                <a:solidFill>
                  <a:srgbClr val="0000FF"/>
                </a:solidFill>
                <a:latin typeface="Arial"/>
                <a:cs typeface="Arial"/>
              </a:rPr>
              <a:t>intelligence</a:t>
            </a:r>
            <a:r>
              <a:rPr sz="1200">
                <a:latin typeface="Arial"/>
                <a:cs typeface="Arial"/>
              </a:rPr>
              <a:t>,</a:t>
            </a:r>
            <a:r>
              <a:rPr sz="1200" spc="-70">
                <a:latin typeface="Arial"/>
                <a:cs typeface="Arial"/>
              </a:rPr>
              <a:t> </a:t>
            </a:r>
            <a:r>
              <a:rPr sz="1200" spc="-5">
                <a:latin typeface="Arial"/>
                <a:cs typeface="Arial"/>
              </a:rPr>
              <a:t>Mind</a:t>
            </a:r>
            <a:r>
              <a:rPr sz="1200" spc="-1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59,</a:t>
            </a:r>
            <a:r>
              <a:rPr sz="1200" spc="-1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pp.</a:t>
            </a:r>
            <a:r>
              <a:rPr sz="1200" spc="-1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433-460,</a:t>
            </a:r>
            <a:r>
              <a:rPr sz="1200" spc="-45">
                <a:latin typeface="Arial"/>
                <a:cs typeface="Arial"/>
              </a:rPr>
              <a:t> </a:t>
            </a:r>
            <a:r>
              <a:rPr sz="1200" spc="-5">
                <a:latin typeface="Arial"/>
                <a:cs typeface="Arial"/>
              </a:rPr>
              <a:t>1950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88704" y="1520952"/>
            <a:ext cx="1612392" cy="2008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6001" y="225172"/>
            <a:ext cx="635063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800" b="1" spc="-15"/>
              <a:t>Eliza </a:t>
            </a:r>
            <a:r>
              <a:rPr sz="4800" b="1"/>
              <a:t>– A </a:t>
            </a:r>
            <a:r>
              <a:rPr sz="4800" b="1" spc="-5"/>
              <a:t>partial</a:t>
            </a:r>
            <a:r>
              <a:rPr sz="4800" b="1" spc="-45"/>
              <a:t> </a:t>
            </a:r>
            <a:r>
              <a:rPr sz="4800" b="1"/>
              <a:t>success…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60400" y="1269266"/>
            <a:ext cx="12268200" cy="5742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 algn="just">
              <a:buFont typeface="Arial"/>
              <a:buChar char="•"/>
              <a:tabLst>
                <a:tab pos="357505" algn="l"/>
              </a:tabLst>
            </a:pPr>
            <a:r>
              <a:rPr sz="2800" spc="-10">
                <a:latin typeface="Calibri"/>
                <a:cs typeface="Calibri"/>
              </a:rPr>
              <a:t>ELIZA: </a:t>
            </a:r>
            <a:r>
              <a:rPr sz="2600" spc="-5">
                <a:latin typeface="Calibri"/>
                <a:cs typeface="Calibri"/>
              </a:rPr>
              <a:t>A </a:t>
            </a:r>
            <a:r>
              <a:rPr sz="2600" spc="-20">
                <a:latin typeface="Calibri"/>
                <a:cs typeface="Calibri"/>
              </a:rPr>
              <a:t>program </a:t>
            </a:r>
            <a:r>
              <a:rPr sz="2600">
                <a:latin typeface="Calibri"/>
                <a:cs typeface="Calibri"/>
              </a:rPr>
              <a:t>that </a:t>
            </a:r>
            <a:r>
              <a:rPr sz="2600" spc="-10">
                <a:latin typeface="Calibri"/>
                <a:cs typeface="Calibri"/>
              </a:rPr>
              <a:t>simulated </a:t>
            </a:r>
            <a:r>
              <a:rPr sz="2600" spc="-5">
                <a:latin typeface="Calibri"/>
                <a:cs typeface="Calibri"/>
              </a:rPr>
              <a:t>a </a:t>
            </a:r>
            <a:r>
              <a:rPr sz="2600" spc="-15">
                <a:latin typeface="Calibri"/>
                <a:cs typeface="Calibri"/>
              </a:rPr>
              <a:t>psychotherapist </a:t>
            </a:r>
            <a:r>
              <a:rPr sz="2600" spc="-10">
                <a:latin typeface="Calibri"/>
                <a:cs typeface="Calibri"/>
              </a:rPr>
              <a:t>interacting </a:t>
            </a:r>
            <a:r>
              <a:rPr sz="2600" spc="-5">
                <a:latin typeface="Calibri"/>
                <a:cs typeface="Calibri"/>
              </a:rPr>
              <a:t>with a </a:t>
            </a:r>
            <a:r>
              <a:rPr sz="2600" spc="-10">
                <a:latin typeface="Calibri"/>
                <a:cs typeface="Calibri"/>
              </a:rPr>
              <a:t>patient and </a:t>
            </a:r>
            <a:r>
              <a:rPr sz="2600" spc="-5">
                <a:latin typeface="Calibri"/>
                <a:cs typeface="Calibri"/>
              </a:rPr>
              <a:t>successfully passed the </a:t>
            </a:r>
            <a:r>
              <a:rPr sz="2600" spc="-30">
                <a:latin typeface="Calibri"/>
                <a:cs typeface="Calibri"/>
              </a:rPr>
              <a:t>Turing  </a:t>
            </a:r>
            <a:r>
              <a:rPr sz="2600" spc="-50">
                <a:latin typeface="Calibri"/>
                <a:cs typeface="Calibri"/>
              </a:rPr>
              <a:t>Test.</a:t>
            </a:r>
            <a:endParaRPr sz="2600">
              <a:latin typeface="Calibri"/>
              <a:cs typeface="Calibri"/>
            </a:endParaRPr>
          </a:p>
          <a:p>
            <a:pPr marL="356870" indent="-344170">
              <a:spcBef>
                <a:spcPts val="60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800" spc="-5">
                <a:latin typeface="Calibri"/>
                <a:cs typeface="Calibri"/>
              </a:rPr>
              <a:t>Coded </a:t>
            </a:r>
            <a:r>
              <a:rPr sz="2800" spc="-15">
                <a:latin typeface="Calibri"/>
                <a:cs typeface="Calibri"/>
              </a:rPr>
              <a:t>at </a:t>
            </a:r>
            <a:r>
              <a:rPr sz="2800" spc="-5">
                <a:latin typeface="Calibri"/>
                <a:cs typeface="Calibri"/>
              </a:rPr>
              <a:t>MIT during </a:t>
            </a:r>
            <a:r>
              <a:rPr sz="2800">
                <a:latin typeface="Calibri"/>
                <a:cs typeface="Calibri"/>
              </a:rPr>
              <a:t>1964-1966 </a:t>
            </a:r>
            <a:r>
              <a:rPr sz="2800" spc="-10">
                <a:latin typeface="Calibri"/>
                <a:cs typeface="Calibri"/>
              </a:rPr>
              <a:t>by </a:t>
            </a:r>
            <a:r>
              <a:rPr sz="2800" spc="-5">
                <a:latin typeface="Calibri"/>
                <a:cs typeface="Calibri"/>
              </a:rPr>
              <a:t>Joel</a:t>
            </a:r>
            <a:r>
              <a:rPr sz="2800" spc="-40">
                <a:latin typeface="Calibri"/>
                <a:cs typeface="Calibri"/>
              </a:rPr>
              <a:t> </a:t>
            </a:r>
            <a:r>
              <a:rPr sz="2800" spc="-15">
                <a:latin typeface="Calibri"/>
                <a:cs typeface="Calibri"/>
              </a:rPr>
              <a:t>Weizenbaum.</a:t>
            </a:r>
            <a:endParaRPr sz="2800">
              <a:latin typeface="Calibri"/>
              <a:cs typeface="Calibri"/>
            </a:endParaRPr>
          </a:p>
          <a:p>
            <a:pPr marL="356870" indent="-344170">
              <a:spcBef>
                <a:spcPts val="60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800" spc="-15">
                <a:latin typeface="Calibri"/>
                <a:cs typeface="Calibri"/>
              </a:rPr>
              <a:t>First </a:t>
            </a:r>
            <a:r>
              <a:rPr sz="2800" spc="-5">
                <a:latin typeface="Calibri"/>
                <a:cs typeface="Calibri"/>
              </a:rPr>
              <a:t>script </a:t>
            </a:r>
            <a:r>
              <a:rPr sz="2800" spc="-15">
                <a:latin typeface="Calibri"/>
                <a:cs typeface="Calibri"/>
              </a:rPr>
              <a:t>was</a:t>
            </a:r>
            <a:r>
              <a:rPr sz="2800" spc="-4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DOCTOR.</a:t>
            </a:r>
            <a:endParaRPr sz="2800">
              <a:latin typeface="Calibri"/>
              <a:cs typeface="Calibri"/>
            </a:endParaRPr>
          </a:p>
          <a:p>
            <a:pPr marL="1213485" marR="5080" lvl="2" indent="-286385">
              <a:spcBef>
                <a:spcPts val="54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400">
                <a:latin typeface="Calibri"/>
                <a:cs typeface="Calibri"/>
              </a:rPr>
              <a:t>The </a:t>
            </a:r>
            <a:r>
              <a:rPr sz="2400" spc="-5">
                <a:latin typeface="Calibri"/>
                <a:cs typeface="Calibri"/>
              </a:rPr>
              <a:t>script was </a:t>
            </a:r>
            <a:r>
              <a:rPr sz="2400">
                <a:latin typeface="Calibri"/>
                <a:cs typeface="Calibri"/>
              </a:rPr>
              <a:t>a </a:t>
            </a:r>
            <a:r>
              <a:rPr sz="2400" spc="-5">
                <a:latin typeface="Calibri"/>
                <a:cs typeface="Calibri"/>
              </a:rPr>
              <a:t>simple collection </a:t>
            </a:r>
            <a:r>
              <a:rPr sz="2400" spc="5">
                <a:latin typeface="Calibri"/>
                <a:cs typeface="Calibri"/>
              </a:rPr>
              <a:t>of </a:t>
            </a:r>
            <a:r>
              <a:rPr sz="2400" b="1" spc="-15">
                <a:latin typeface="Calibri"/>
                <a:cs typeface="Calibri"/>
              </a:rPr>
              <a:t>syntactic </a:t>
            </a:r>
            <a:r>
              <a:rPr sz="2400" spc="-15">
                <a:latin typeface="Calibri"/>
                <a:cs typeface="Calibri"/>
              </a:rPr>
              <a:t>patterns </a:t>
            </a:r>
            <a:r>
              <a:rPr lang="en-US" sz="2400" spc="-15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lang="en-US" sz="2800">
                <a:solidFill>
                  <a:srgbClr val="C00000"/>
                </a:solidFill>
                <a:latin typeface="Google Sans"/>
              </a:rPr>
              <a:t>Tom went home.” It's a full thought with a subject and verb) </a:t>
            </a:r>
            <a:endParaRPr sz="2400">
              <a:solidFill>
                <a:srgbClr val="C00000"/>
              </a:solidFill>
              <a:latin typeface="Calibri"/>
              <a:cs typeface="Calibri"/>
            </a:endParaRPr>
          </a:p>
          <a:p>
            <a:pPr marL="1213485" marR="5080" lvl="2" indent="-286385">
              <a:lnSpc>
                <a:spcPct val="100899"/>
              </a:lnSpc>
              <a:spcBef>
                <a:spcPts val="50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400" spc="-10">
                <a:latin typeface="Calibri"/>
                <a:cs typeface="Calibri"/>
              </a:rPr>
              <a:t>Each </a:t>
            </a:r>
            <a:r>
              <a:rPr sz="2400" spc="-15">
                <a:latin typeface="Calibri"/>
                <a:cs typeface="Calibri"/>
              </a:rPr>
              <a:t>pattern </a:t>
            </a:r>
            <a:r>
              <a:rPr sz="2400">
                <a:latin typeface="Calibri"/>
                <a:cs typeface="Calibri"/>
              </a:rPr>
              <a:t>had an </a:t>
            </a:r>
            <a:r>
              <a:rPr sz="2400" spc="-5">
                <a:latin typeface="Calibri"/>
                <a:cs typeface="Calibri"/>
              </a:rPr>
              <a:t>associated </a:t>
            </a:r>
            <a:r>
              <a:rPr sz="2400" spc="-10">
                <a:latin typeface="Calibri"/>
                <a:cs typeface="Calibri"/>
              </a:rPr>
              <a:t>reply </a:t>
            </a:r>
            <a:r>
              <a:rPr sz="2400" spc="-5">
                <a:latin typeface="Calibri"/>
                <a:cs typeface="Calibri"/>
              </a:rPr>
              <a:t>which might </a:t>
            </a:r>
            <a:r>
              <a:rPr sz="2400" spc="-10">
                <a:latin typeface="Calibri"/>
                <a:cs typeface="Calibri"/>
              </a:rPr>
              <a:t>include </a:t>
            </a:r>
            <a:r>
              <a:rPr sz="2400">
                <a:latin typeface="Calibri"/>
                <a:cs typeface="Calibri"/>
              </a:rPr>
              <a:t>bits </a:t>
            </a:r>
            <a:r>
              <a:rPr sz="2400" spc="5">
                <a:latin typeface="Calibri"/>
                <a:cs typeface="Calibri"/>
              </a:rPr>
              <a:t>of  </a:t>
            </a:r>
            <a:r>
              <a:rPr sz="2400">
                <a:latin typeface="Calibri"/>
                <a:cs typeface="Calibri"/>
              </a:rPr>
              <a:t>the </a:t>
            </a:r>
            <a:r>
              <a:rPr sz="2400" spc="-5">
                <a:latin typeface="Calibri"/>
                <a:cs typeface="Calibri"/>
              </a:rPr>
              <a:t>input (after </a:t>
            </a:r>
            <a:r>
              <a:rPr sz="2400">
                <a:latin typeface="Calibri"/>
                <a:cs typeface="Calibri"/>
              </a:rPr>
              <a:t>simple </a:t>
            </a:r>
            <a:r>
              <a:rPr sz="2400" spc="-10">
                <a:latin typeface="Calibri"/>
                <a:cs typeface="Calibri"/>
              </a:rPr>
              <a:t>transformations (my </a:t>
            </a:r>
            <a:r>
              <a:rPr sz="2400" spc="5">
                <a:latin typeface="Symbol"/>
                <a:cs typeface="Symbol"/>
              </a:rPr>
              <a:t></a:t>
            </a:r>
            <a:r>
              <a:rPr sz="2400" spc="-185">
                <a:latin typeface="Times New Roman"/>
                <a:cs typeface="Times New Roman"/>
              </a:rPr>
              <a:t> </a:t>
            </a:r>
            <a:r>
              <a:rPr sz="2400" spc="-5">
                <a:latin typeface="Calibri"/>
                <a:cs typeface="Calibri"/>
              </a:rPr>
              <a:t>your)</a:t>
            </a:r>
            <a:endParaRPr sz="2400">
              <a:latin typeface="Calibri"/>
              <a:cs typeface="Calibri"/>
            </a:endParaRPr>
          </a:p>
          <a:p>
            <a:pPr marL="356870" indent="-344170">
              <a:spcBef>
                <a:spcPts val="56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800" spc="-15">
                <a:latin typeface="Calibri"/>
                <a:cs typeface="Calibri"/>
              </a:rPr>
              <a:t>Weizenbaum was shocked at</a:t>
            </a:r>
            <a:r>
              <a:rPr sz="2800" spc="-25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reactions:</a:t>
            </a:r>
            <a:endParaRPr sz="2800">
              <a:latin typeface="Calibri"/>
              <a:cs typeface="Calibri"/>
            </a:endParaRPr>
          </a:p>
          <a:p>
            <a:pPr marL="1213485" lvl="2" indent="-286385">
              <a:spcBef>
                <a:spcPts val="54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400" spc="-10">
                <a:latin typeface="Calibri"/>
                <a:cs typeface="Calibri"/>
              </a:rPr>
              <a:t>Psychiatrists </a:t>
            </a:r>
            <a:r>
              <a:rPr sz="2400" spc="-5">
                <a:latin typeface="Calibri"/>
                <a:cs typeface="Calibri"/>
              </a:rPr>
              <a:t>thought </a:t>
            </a:r>
            <a:r>
              <a:rPr sz="2400">
                <a:latin typeface="Calibri"/>
                <a:cs typeface="Calibri"/>
              </a:rPr>
              <a:t>it had</a:t>
            </a:r>
            <a:r>
              <a:rPr sz="2400" spc="-17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potential.</a:t>
            </a:r>
            <a:endParaRPr sz="2400">
              <a:latin typeface="Calibri"/>
              <a:cs typeface="Calibri"/>
            </a:endParaRPr>
          </a:p>
          <a:p>
            <a:pPr marL="1213485" lvl="2" indent="-286385"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400" spc="-5">
                <a:latin typeface="Calibri"/>
                <a:cs typeface="Calibri"/>
              </a:rPr>
              <a:t>People unequivocally </a:t>
            </a:r>
            <a:r>
              <a:rPr sz="2400" spc="-10">
                <a:latin typeface="Calibri"/>
                <a:cs typeface="Calibri"/>
              </a:rPr>
              <a:t>related </a:t>
            </a:r>
            <a:r>
              <a:rPr sz="2400">
                <a:latin typeface="Calibri"/>
                <a:cs typeface="Calibri"/>
              </a:rPr>
              <a:t>it </a:t>
            </a:r>
            <a:r>
              <a:rPr sz="2400" spc="-10">
                <a:latin typeface="Calibri"/>
                <a:cs typeface="Calibri"/>
              </a:rPr>
              <a:t>to </a:t>
            </a:r>
            <a:r>
              <a:rPr sz="2400">
                <a:latin typeface="Calibri"/>
                <a:cs typeface="Calibri"/>
              </a:rPr>
              <a:t>humans </a:t>
            </a:r>
            <a:r>
              <a:rPr sz="2400" spc="-20">
                <a:latin typeface="Calibri"/>
                <a:cs typeface="Calibri"/>
              </a:rPr>
              <a:t>like</a:t>
            </a:r>
            <a:r>
              <a:rPr sz="2400" spc="-130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1213485" lvl="2" indent="-286385"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400" spc="-10">
                <a:latin typeface="Calibri"/>
                <a:cs typeface="Calibri"/>
              </a:rPr>
              <a:t>Many </a:t>
            </a:r>
            <a:r>
              <a:rPr sz="2400" spc="-5">
                <a:latin typeface="Calibri"/>
                <a:cs typeface="Calibri"/>
              </a:rPr>
              <a:t>thought </a:t>
            </a:r>
            <a:r>
              <a:rPr sz="2400">
                <a:latin typeface="Calibri"/>
                <a:cs typeface="Calibri"/>
              </a:rPr>
              <a:t>it solved the </a:t>
            </a:r>
            <a:r>
              <a:rPr sz="2400" spc="-5">
                <a:latin typeface="Calibri"/>
                <a:cs typeface="Calibri"/>
              </a:rPr>
              <a:t>NL</a:t>
            </a:r>
            <a:r>
              <a:rPr sz="2400" spc="-120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problem.</a:t>
            </a:r>
            <a:endParaRPr sz="2400">
              <a:latin typeface="Calibri"/>
              <a:cs typeface="Calibri"/>
            </a:endParaRPr>
          </a:p>
          <a:p>
            <a:pPr marR="314325" algn="r">
              <a:spcBef>
                <a:spcPts val="55"/>
              </a:spcBef>
            </a:pP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6783" y="423418"/>
            <a:ext cx="6884034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000" b="1"/>
              <a:t>An </a:t>
            </a:r>
            <a:r>
              <a:rPr sz="4000" b="1" spc="-5"/>
              <a:t>Application </a:t>
            </a:r>
            <a:r>
              <a:rPr sz="4000" b="1"/>
              <a:t>of the </a:t>
            </a:r>
            <a:r>
              <a:rPr sz="4000" b="1" spc="-35"/>
              <a:t>Turing</a:t>
            </a:r>
            <a:r>
              <a:rPr sz="4000" b="1" spc="-95"/>
              <a:t> </a:t>
            </a:r>
            <a:r>
              <a:rPr sz="4000" b="1" spc="-90"/>
              <a:t>Test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03200" y="1357609"/>
            <a:ext cx="129540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marR="5080" indent="-571500" algn="just">
              <a:buClr>
                <a:srgbClr val="C0504D"/>
              </a:buClr>
              <a:buFont typeface="Arial" panose="020B0604020202020204" pitchFamily="34" charset="0"/>
              <a:buChar char="•"/>
              <a:tabLst>
                <a:tab pos="357505" algn="l"/>
              </a:tabLst>
            </a:pPr>
            <a:r>
              <a:rPr sz="3600" b="1" spc="-15">
                <a:latin typeface="Calibri"/>
                <a:cs typeface="Calibri"/>
              </a:rPr>
              <a:t>CAPTCHA</a:t>
            </a:r>
            <a:r>
              <a:rPr sz="3600" spc="-15">
                <a:latin typeface="Calibri"/>
                <a:cs typeface="Calibri"/>
              </a:rPr>
              <a:t>: </a:t>
            </a:r>
            <a:r>
              <a:rPr sz="3200" b="1" spc="-15">
                <a:latin typeface="Calibri"/>
                <a:cs typeface="Calibri"/>
              </a:rPr>
              <a:t>C</a:t>
            </a:r>
            <a:r>
              <a:rPr sz="3200" spc="-15">
                <a:latin typeface="Calibri"/>
                <a:cs typeface="Calibri"/>
              </a:rPr>
              <a:t>ompletely </a:t>
            </a:r>
            <a:r>
              <a:rPr sz="3200" b="1" spc="-15">
                <a:latin typeface="Calibri"/>
                <a:cs typeface="Calibri"/>
              </a:rPr>
              <a:t>A</a:t>
            </a:r>
            <a:r>
              <a:rPr sz="3200" spc="-15">
                <a:latin typeface="Calibri"/>
                <a:cs typeface="Calibri"/>
              </a:rPr>
              <a:t>utomatic </a:t>
            </a:r>
            <a:r>
              <a:rPr sz="3200" b="1" spc="-5">
                <a:latin typeface="Calibri"/>
                <a:cs typeface="Calibri"/>
              </a:rPr>
              <a:t>P</a:t>
            </a:r>
            <a:r>
              <a:rPr sz="3200" spc="-5">
                <a:latin typeface="Calibri"/>
                <a:cs typeface="Calibri"/>
              </a:rPr>
              <a:t>ublic </a:t>
            </a:r>
            <a:r>
              <a:rPr sz="3200" b="1" spc="-10">
                <a:latin typeface="Calibri"/>
                <a:cs typeface="Calibri"/>
              </a:rPr>
              <a:t>T</a:t>
            </a:r>
            <a:r>
              <a:rPr sz="3200" spc="-10">
                <a:latin typeface="Calibri"/>
                <a:cs typeface="Calibri"/>
              </a:rPr>
              <a:t>uring </a:t>
            </a:r>
            <a:r>
              <a:rPr sz="3200" spc="-20">
                <a:latin typeface="Calibri"/>
                <a:cs typeface="Calibri"/>
              </a:rPr>
              <a:t>tests </a:t>
            </a:r>
            <a:r>
              <a:rPr sz="3200" spc="-30">
                <a:latin typeface="Calibri"/>
                <a:cs typeface="Calibri"/>
              </a:rPr>
              <a:t>to </a:t>
            </a:r>
            <a:r>
              <a:rPr sz="3200" spc="-20">
                <a:latin typeface="Calibri"/>
                <a:cs typeface="Calibri"/>
              </a:rPr>
              <a:t>tell </a:t>
            </a:r>
            <a:r>
              <a:rPr sz="3200" b="1" spc="-20">
                <a:latin typeface="Calibri"/>
                <a:cs typeface="Calibri"/>
              </a:rPr>
              <a:t>C</a:t>
            </a:r>
            <a:r>
              <a:rPr sz="3200" spc="-20">
                <a:latin typeface="Calibri"/>
                <a:cs typeface="Calibri"/>
              </a:rPr>
              <a:t>omputers </a:t>
            </a:r>
            <a:r>
              <a:rPr sz="3200" spc="-5">
                <a:latin typeface="Calibri"/>
                <a:cs typeface="Calibri"/>
              </a:rPr>
              <a:t>and  </a:t>
            </a:r>
            <a:r>
              <a:rPr sz="3200" b="1">
                <a:latin typeface="Calibri"/>
                <a:cs typeface="Calibri"/>
              </a:rPr>
              <a:t>H</a:t>
            </a:r>
            <a:r>
              <a:rPr sz="3200">
                <a:latin typeface="Calibri"/>
                <a:cs typeface="Calibri"/>
              </a:rPr>
              <a:t>umans</a:t>
            </a:r>
            <a:r>
              <a:rPr sz="3200" spc="-114">
                <a:latin typeface="Calibri"/>
                <a:cs typeface="Calibri"/>
              </a:rPr>
              <a:t> </a:t>
            </a:r>
            <a:r>
              <a:rPr sz="3200" b="1" spc="-5">
                <a:latin typeface="Calibri"/>
                <a:cs typeface="Calibri"/>
              </a:rPr>
              <a:t>A</a:t>
            </a:r>
            <a:r>
              <a:rPr sz="3200" spc="-5">
                <a:latin typeface="Calibri"/>
                <a:cs typeface="Calibri"/>
              </a:rPr>
              <a:t>part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4400" y="2740013"/>
            <a:ext cx="9827261" cy="297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>
                <a:solidFill>
                  <a:srgbClr val="C0504D"/>
                </a:solidFill>
                <a:latin typeface="Wingdings"/>
                <a:cs typeface="Wingdings"/>
              </a:rPr>
              <a:t></a:t>
            </a:r>
            <a:r>
              <a:rPr sz="3600" spc="8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600" spc="5">
                <a:latin typeface="Calibri"/>
                <a:cs typeface="Calibri"/>
              </a:rPr>
              <a:t>E.g.:</a:t>
            </a:r>
            <a:endParaRPr sz="3600">
              <a:latin typeface="Calibri"/>
              <a:cs typeface="Calibri"/>
            </a:endParaRPr>
          </a:p>
          <a:p>
            <a:pPr marL="756285" indent="-286385">
              <a:spcBef>
                <a:spcPts val="805"/>
              </a:spcBef>
              <a:buClr>
                <a:srgbClr val="C0504D"/>
              </a:buClr>
              <a:buChar char="•"/>
              <a:tabLst>
                <a:tab pos="756920" algn="l"/>
              </a:tabLst>
            </a:pPr>
            <a:r>
              <a:rPr sz="3200" spc="-10">
                <a:latin typeface="Calibri"/>
                <a:cs typeface="Calibri"/>
              </a:rPr>
              <a:t>Display </a:t>
            </a:r>
            <a:r>
              <a:rPr sz="3200">
                <a:latin typeface="Calibri"/>
                <a:cs typeface="Calibri"/>
              </a:rPr>
              <a:t>visually </a:t>
            </a:r>
            <a:r>
              <a:rPr sz="3200" spc="-15">
                <a:latin typeface="Calibri"/>
                <a:cs typeface="Calibri"/>
              </a:rPr>
              <a:t>distorted</a:t>
            </a:r>
            <a:r>
              <a:rPr sz="3200" spc="-5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words</a:t>
            </a:r>
            <a:endParaRPr sz="3200">
              <a:latin typeface="Calibri"/>
              <a:cs typeface="Calibri"/>
            </a:endParaRPr>
          </a:p>
          <a:p>
            <a:pPr marL="756285" indent="-286385">
              <a:spcBef>
                <a:spcPts val="765"/>
              </a:spcBef>
              <a:buClr>
                <a:srgbClr val="C0504D"/>
              </a:buClr>
              <a:buChar char="•"/>
              <a:tabLst>
                <a:tab pos="756920" algn="l"/>
              </a:tabLst>
            </a:pPr>
            <a:r>
              <a:rPr sz="3200" spc="-5">
                <a:latin typeface="Calibri"/>
                <a:cs typeface="Calibri"/>
              </a:rPr>
              <a:t>Ask </a:t>
            </a:r>
            <a:r>
              <a:rPr lang="en-US" sz="3200" spc="-5">
                <a:latin typeface="Calibri"/>
                <a:cs typeface="Calibri"/>
              </a:rPr>
              <a:t>the </a:t>
            </a:r>
            <a:r>
              <a:rPr sz="3200" spc="-10">
                <a:latin typeface="Calibri"/>
                <a:cs typeface="Calibri"/>
              </a:rPr>
              <a:t>user </a:t>
            </a:r>
            <a:r>
              <a:rPr sz="3200" spc="-15">
                <a:latin typeface="Calibri"/>
                <a:cs typeface="Calibri"/>
              </a:rPr>
              <a:t>to </a:t>
            </a:r>
            <a:r>
              <a:rPr sz="3200" spc="-20">
                <a:latin typeface="Calibri"/>
                <a:cs typeface="Calibri"/>
              </a:rPr>
              <a:t>recognize </a:t>
            </a:r>
            <a:r>
              <a:rPr sz="3200" spc="-5">
                <a:latin typeface="Calibri"/>
                <a:cs typeface="Calibri"/>
              </a:rPr>
              <a:t>these</a:t>
            </a:r>
            <a:r>
              <a:rPr sz="3200" spc="45">
                <a:latin typeface="Calibri"/>
                <a:cs typeface="Calibri"/>
              </a:rPr>
              <a:t> </a:t>
            </a:r>
            <a:r>
              <a:rPr sz="3200" spc="-25">
                <a:latin typeface="Calibri"/>
                <a:cs typeface="Calibri"/>
              </a:rPr>
              <a:t>words</a:t>
            </a:r>
            <a:endParaRPr sz="3200">
              <a:latin typeface="Calibri"/>
              <a:cs typeface="Calibri"/>
            </a:endParaRPr>
          </a:p>
          <a:p>
            <a:pPr marL="356870" marR="5080" indent="-344170">
              <a:spcBef>
                <a:spcPts val="819"/>
              </a:spcBef>
              <a:buClr>
                <a:srgbClr val="C0504D"/>
              </a:buClr>
              <a:buFont typeface="Wingdings"/>
              <a:buChar char=""/>
              <a:tabLst>
                <a:tab pos="357505" algn="l"/>
                <a:tab pos="2392680" algn="l"/>
                <a:tab pos="3240405" algn="l"/>
                <a:tab pos="5876925" algn="l"/>
              </a:tabLst>
            </a:pPr>
            <a:r>
              <a:rPr lang="en-US" sz="3600" spc="-10">
                <a:latin typeface="Calibri"/>
                <a:cs typeface="Calibri"/>
              </a:rPr>
              <a:t>E</a:t>
            </a:r>
            <a:r>
              <a:rPr lang="en-US" sz="3600" spc="-75">
                <a:latin typeface="Calibri"/>
                <a:cs typeface="Calibri"/>
              </a:rPr>
              <a:t>x</a:t>
            </a:r>
            <a:r>
              <a:rPr lang="en-US" sz="3600">
                <a:latin typeface="Calibri"/>
                <a:cs typeface="Calibri"/>
              </a:rPr>
              <a:t>am</a:t>
            </a:r>
            <a:r>
              <a:rPr lang="en-US" sz="3600" spc="-5">
                <a:latin typeface="Calibri"/>
                <a:cs typeface="Calibri"/>
              </a:rPr>
              <a:t>p</a:t>
            </a:r>
            <a:r>
              <a:rPr lang="en-US" sz="3600" spc="-15">
                <a:latin typeface="Calibri"/>
                <a:cs typeface="Calibri"/>
              </a:rPr>
              <a:t>l</a:t>
            </a:r>
            <a:r>
              <a:rPr lang="en-US" sz="3600">
                <a:latin typeface="Calibri"/>
                <a:cs typeface="Calibri"/>
              </a:rPr>
              <a:t>e	</a:t>
            </a:r>
            <a:r>
              <a:rPr lang="en-US" sz="3600" spc="-5">
                <a:latin typeface="Calibri"/>
                <a:cs typeface="Calibri"/>
              </a:rPr>
              <a:t>of</a:t>
            </a:r>
            <a:r>
              <a:rPr lang="en-US" sz="3600">
                <a:latin typeface="Calibri"/>
                <a:cs typeface="Calibri"/>
              </a:rPr>
              <a:t>	</a:t>
            </a:r>
            <a:r>
              <a:rPr lang="en-US" sz="3600" spc="-20">
                <a:latin typeface="Calibri"/>
                <a:cs typeface="Calibri"/>
              </a:rPr>
              <a:t>a</a:t>
            </a:r>
            <a:r>
              <a:rPr lang="en-US" sz="3600" spc="-5">
                <a:latin typeface="Calibri"/>
                <a:cs typeface="Calibri"/>
              </a:rPr>
              <a:t>pp</a:t>
            </a:r>
            <a:r>
              <a:rPr lang="en-US" sz="3600" spc="-15">
                <a:latin typeface="Calibri"/>
                <a:cs typeface="Calibri"/>
              </a:rPr>
              <a:t>li</a:t>
            </a:r>
            <a:r>
              <a:rPr lang="en-US" sz="3600" spc="-35">
                <a:latin typeface="Calibri"/>
                <a:cs typeface="Calibri"/>
              </a:rPr>
              <a:t>c</a:t>
            </a:r>
            <a:r>
              <a:rPr lang="en-US" sz="3600" spc="-20">
                <a:latin typeface="Calibri"/>
                <a:cs typeface="Calibri"/>
              </a:rPr>
              <a:t>a</a:t>
            </a:r>
            <a:r>
              <a:rPr lang="en-US" sz="3600" spc="-5">
                <a:latin typeface="Calibri"/>
                <a:cs typeface="Calibri"/>
              </a:rPr>
              <a:t>t</a:t>
            </a:r>
            <a:r>
              <a:rPr lang="en-US" sz="3600" spc="-15">
                <a:latin typeface="Calibri"/>
                <a:cs typeface="Calibri"/>
              </a:rPr>
              <a:t>i</a:t>
            </a:r>
            <a:r>
              <a:rPr lang="en-US" sz="3600" spc="-5">
                <a:latin typeface="Calibri"/>
                <a:cs typeface="Calibri"/>
              </a:rPr>
              <a:t>o</a:t>
            </a:r>
            <a:r>
              <a:rPr lang="en-US" sz="3600" spc="-10">
                <a:latin typeface="Calibri"/>
                <a:cs typeface="Calibri"/>
              </a:rPr>
              <a:t>n</a:t>
            </a:r>
            <a:r>
              <a:rPr lang="en-US" sz="3600">
                <a:latin typeface="Calibri"/>
                <a:cs typeface="Calibri"/>
              </a:rPr>
              <a:t>:	</a:t>
            </a:r>
            <a:r>
              <a:rPr lang="en-US" sz="3600" spc="-15">
                <a:latin typeface="Calibri"/>
                <a:cs typeface="Calibri"/>
              </a:rPr>
              <a:t>H</a:t>
            </a:r>
            <a:r>
              <a:rPr lang="en-US" sz="3600" spc="-65">
                <a:latin typeface="Calibri"/>
                <a:cs typeface="Calibri"/>
              </a:rPr>
              <a:t>a</a:t>
            </a:r>
            <a:r>
              <a:rPr lang="en-US" sz="3600" spc="-20">
                <a:latin typeface="Calibri"/>
                <a:cs typeface="Calibri"/>
              </a:rPr>
              <a:t>v</a:t>
            </a:r>
            <a:r>
              <a:rPr lang="en-US" sz="3600">
                <a:latin typeface="Calibri"/>
                <a:cs typeface="Calibri"/>
              </a:rPr>
              <a:t>e </a:t>
            </a:r>
            <a:r>
              <a:rPr lang="en-US" sz="3600" spc="-5">
                <a:latin typeface="Calibri"/>
                <a:cs typeface="Calibri"/>
              </a:rPr>
              <a:t>on</a:t>
            </a:r>
            <a:r>
              <a:rPr lang="en-US" sz="3600" spc="-15">
                <a:latin typeface="Calibri"/>
                <a:cs typeface="Calibri"/>
              </a:rPr>
              <a:t>l</a:t>
            </a:r>
            <a:r>
              <a:rPr lang="en-US" sz="3600">
                <a:latin typeface="Calibri"/>
                <a:cs typeface="Calibri"/>
              </a:rPr>
              <a:t>y </a:t>
            </a:r>
            <a:r>
              <a:rPr lang="en-US" sz="3600" spc="-5">
                <a:latin typeface="Calibri"/>
                <a:cs typeface="Calibri"/>
              </a:rPr>
              <a:t>humans </a:t>
            </a:r>
            <a:r>
              <a:rPr lang="en-US" sz="3600">
                <a:latin typeface="Calibri"/>
                <a:cs typeface="Calibri"/>
              </a:rPr>
              <a:t>open </a:t>
            </a:r>
            <a:r>
              <a:rPr lang="en-US" sz="3600" spc="-5">
                <a:latin typeface="Calibri"/>
                <a:cs typeface="Calibri"/>
              </a:rPr>
              <a:t>email</a:t>
            </a:r>
            <a:r>
              <a:rPr lang="en-US" sz="3600" spc="-100">
                <a:latin typeface="Calibri"/>
                <a:cs typeface="Calibri"/>
              </a:rPr>
              <a:t> </a:t>
            </a:r>
            <a:r>
              <a:rPr lang="en-US" sz="3600" spc="-10">
                <a:latin typeface="Calibri"/>
                <a:cs typeface="Calibri"/>
              </a:rPr>
              <a:t>accounts</a:t>
            </a:r>
            <a:endParaRPr lang="en-US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1800" y="914400"/>
            <a:ext cx="12725400" cy="2172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346710" indent="-344170"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Turing predicted that by the </a:t>
            </a:r>
            <a:r>
              <a:rPr sz="2400" spc="-5">
                <a:latin typeface="Arial"/>
                <a:cs typeface="Arial"/>
              </a:rPr>
              <a:t>year </a:t>
            </a:r>
            <a:r>
              <a:rPr sz="2400">
                <a:latin typeface="Arial"/>
                <a:cs typeface="Arial"/>
              </a:rPr>
              <a:t>2000, machines</a:t>
            </a:r>
            <a:r>
              <a:rPr sz="2400" spc="-170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would  </a:t>
            </a:r>
            <a:r>
              <a:rPr sz="2400">
                <a:latin typeface="Arial"/>
                <a:cs typeface="Arial"/>
              </a:rPr>
              <a:t>be able to </a:t>
            </a:r>
            <a:r>
              <a:rPr sz="2400" spc="5">
                <a:latin typeface="Arial"/>
                <a:cs typeface="Arial"/>
              </a:rPr>
              <a:t>fool </a:t>
            </a:r>
            <a:r>
              <a:rPr sz="2400">
                <a:latin typeface="Arial"/>
                <a:cs typeface="Arial"/>
              </a:rPr>
              <a:t>30% of human </a:t>
            </a:r>
            <a:r>
              <a:rPr sz="2400" spc="-5">
                <a:latin typeface="Arial"/>
                <a:cs typeface="Arial"/>
              </a:rPr>
              <a:t>judges </a:t>
            </a:r>
            <a:r>
              <a:rPr sz="2400" spc="10">
                <a:latin typeface="Arial"/>
                <a:cs typeface="Arial"/>
              </a:rPr>
              <a:t>for </a:t>
            </a:r>
            <a:r>
              <a:rPr sz="2400" spc="-5">
                <a:latin typeface="Arial"/>
                <a:cs typeface="Arial"/>
              </a:rPr>
              <a:t>five</a:t>
            </a:r>
            <a:r>
              <a:rPr sz="2400" spc="-18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minutes</a:t>
            </a:r>
          </a:p>
          <a:p>
            <a:pPr marL="356870" indent="-344170">
              <a:spcBef>
                <a:spcPts val="575"/>
              </a:spcBef>
              <a:buClr>
                <a:srgbClr val="000000"/>
              </a:buClr>
              <a:buChar char="•"/>
              <a:tabLst>
                <a:tab pos="356870" algn="l"/>
                <a:tab pos="357505" algn="l"/>
              </a:tabLst>
            </a:pP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Loebner</a:t>
            </a:r>
            <a:r>
              <a:rPr sz="2400" u="heavy" spc="-11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heavy" spc="-10">
                <a:solidFill>
                  <a:srgbClr val="0000FF"/>
                </a:solidFill>
                <a:latin typeface="Arial"/>
                <a:cs typeface="Arial"/>
              </a:rPr>
              <a:t>prize</a:t>
            </a:r>
            <a:endParaRPr sz="2400">
              <a:latin typeface="Arial"/>
              <a:cs typeface="Arial"/>
            </a:endParaRPr>
          </a:p>
          <a:p>
            <a:pPr marL="756285" marR="5080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0">
                <a:latin typeface="Arial"/>
                <a:cs typeface="Arial"/>
              </a:rPr>
              <a:t>2008 </a:t>
            </a:r>
            <a:r>
              <a:rPr sz="2000" spc="-5">
                <a:latin typeface="Arial"/>
                <a:cs typeface="Arial"/>
              </a:rPr>
              <a:t>competition: each </a:t>
            </a:r>
            <a:r>
              <a:rPr sz="2000" spc="-10">
                <a:latin typeface="Arial"/>
                <a:cs typeface="Arial"/>
              </a:rPr>
              <a:t>of 12 judges </a:t>
            </a:r>
            <a:r>
              <a:rPr sz="2000" spc="-15">
                <a:latin typeface="Arial"/>
                <a:cs typeface="Arial"/>
              </a:rPr>
              <a:t>was given </a:t>
            </a:r>
            <a:r>
              <a:rPr sz="2000" spc="-5">
                <a:latin typeface="Arial"/>
                <a:cs typeface="Arial"/>
              </a:rPr>
              <a:t>five minutes to  conduct simultaneous, </a:t>
            </a:r>
            <a:r>
              <a:rPr sz="2000" spc="-10">
                <a:latin typeface="Arial"/>
                <a:cs typeface="Arial"/>
              </a:rPr>
              <a:t>split-screen conversations </a:t>
            </a:r>
            <a:r>
              <a:rPr sz="2000" spc="-15">
                <a:latin typeface="Arial"/>
                <a:cs typeface="Arial"/>
              </a:rPr>
              <a:t>with two </a:t>
            </a:r>
            <a:r>
              <a:rPr sz="2000" spc="-10">
                <a:latin typeface="Arial"/>
                <a:cs typeface="Arial"/>
              </a:rPr>
              <a:t>hidden  entities </a:t>
            </a:r>
            <a:r>
              <a:rPr sz="2000">
                <a:latin typeface="Arial"/>
                <a:cs typeface="Arial"/>
              </a:rPr>
              <a:t>(human </a:t>
            </a:r>
            <a:r>
              <a:rPr sz="2000" spc="-10">
                <a:latin typeface="Arial"/>
                <a:cs typeface="Arial"/>
              </a:rPr>
              <a:t>and </a:t>
            </a:r>
            <a:r>
              <a:rPr sz="2000" spc="-5">
                <a:latin typeface="Arial"/>
                <a:cs typeface="Arial"/>
              </a:rPr>
              <a:t>chatterbot). </a:t>
            </a:r>
            <a:r>
              <a:rPr sz="2000">
                <a:latin typeface="Arial"/>
                <a:cs typeface="Arial"/>
              </a:rPr>
              <a:t>The </a:t>
            </a:r>
            <a:r>
              <a:rPr sz="2000" spc="-15">
                <a:latin typeface="Arial"/>
                <a:cs typeface="Arial"/>
              </a:rPr>
              <a:t>winner, </a:t>
            </a:r>
            <a:r>
              <a:rPr sz="2000" spc="-10">
                <a:latin typeface="Arial"/>
                <a:cs typeface="Arial"/>
              </a:rPr>
              <a:t>Elbot of </a:t>
            </a:r>
            <a:r>
              <a:rPr sz="2000" spc="-5">
                <a:latin typeface="Arial"/>
                <a:cs typeface="Arial"/>
              </a:rPr>
              <a:t>Artificial  </a:t>
            </a:r>
            <a:r>
              <a:rPr sz="2000" spc="-10">
                <a:latin typeface="Arial"/>
                <a:cs typeface="Arial"/>
              </a:rPr>
              <a:t>Solutions, </a:t>
            </a:r>
            <a:r>
              <a:rPr sz="2000" spc="-5">
                <a:latin typeface="Arial"/>
                <a:cs typeface="Arial"/>
              </a:rPr>
              <a:t>managed to fool three </a:t>
            </a:r>
            <a:r>
              <a:rPr sz="2000" spc="-10">
                <a:latin typeface="Arial"/>
                <a:cs typeface="Arial"/>
              </a:rPr>
              <a:t>of the judges into </a:t>
            </a:r>
            <a:r>
              <a:rPr sz="2000" spc="-15">
                <a:latin typeface="Arial"/>
                <a:cs typeface="Arial"/>
              </a:rPr>
              <a:t>believing </a:t>
            </a:r>
            <a:r>
              <a:rPr sz="2000" spc="-10">
                <a:latin typeface="Arial"/>
                <a:cs typeface="Arial"/>
              </a:rPr>
              <a:t>it </a:t>
            </a:r>
            <a:r>
              <a:rPr sz="2000" spc="-15">
                <a:latin typeface="Arial"/>
                <a:cs typeface="Arial"/>
              </a:rPr>
              <a:t>was  </a:t>
            </a:r>
            <a:r>
              <a:rPr sz="2000" spc="-5">
                <a:latin typeface="Arial"/>
                <a:cs typeface="Arial"/>
              </a:rPr>
              <a:t>human</a:t>
            </a:r>
            <a:r>
              <a:rPr sz="2000" spc="-40">
                <a:latin typeface="Arial"/>
                <a:cs typeface="Arial"/>
              </a:rPr>
              <a:t> </a:t>
            </a:r>
            <a:r>
              <a:rPr sz="2000" spc="-5">
                <a:latin typeface="Arial"/>
                <a:cs typeface="Arial"/>
              </a:rPr>
              <a:t>[</a:t>
            </a:r>
            <a:r>
              <a:rPr sz="2000" u="heavy" spc="-5">
                <a:solidFill>
                  <a:srgbClr val="0000FF"/>
                </a:solidFill>
                <a:latin typeface="Arial"/>
                <a:cs typeface="Arial"/>
              </a:rPr>
              <a:t>Wikipedia</a:t>
            </a:r>
            <a:r>
              <a:rPr sz="2000" spc="-5">
                <a:latin typeface="Arial"/>
                <a:cs typeface="Arial"/>
              </a:rPr>
              <a:t>].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99000" y="179705"/>
            <a:ext cx="39624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 spc="10">
                <a:latin typeface="Arial"/>
                <a:cs typeface="Arial"/>
              </a:rPr>
              <a:t>The </a:t>
            </a:r>
            <a:r>
              <a:rPr sz="3600" spc="5">
                <a:latin typeface="Arial"/>
                <a:cs typeface="Arial"/>
              </a:rPr>
              <a:t>Turing</a:t>
            </a:r>
            <a:r>
              <a:rPr sz="3600" spc="-204">
                <a:latin typeface="Arial"/>
                <a:cs typeface="Arial"/>
              </a:rPr>
              <a:t> </a:t>
            </a:r>
            <a:r>
              <a:rPr sz="3600" spc="10">
                <a:latin typeface="Arial"/>
                <a:cs typeface="Arial"/>
              </a:rPr>
              <a:t>Test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8104" y="4663440"/>
            <a:ext cx="2392680" cy="2392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78904" y="4642103"/>
            <a:ext cx="2392679" cy="2414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98800" y="149225"/>
            <a:ext cx="664781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>
                <a:latin typeface="Arial"/>
                <a:cs typeface="Arial"/>
              </a:rPr>
              <a:t>What’s </a:t>
            </a:r>
            <a:r>
              <a:rPr sz="3400" spc="-5">
                <a:latin typeface="Arial"/>
                <a:cs typeface="Arial"/>
              </a:rPr>
              <a:t>wrong </a:t>
            </a:r>
            <a:r>
              <a:rPr sz="3400" spc="-10">
                <a:latin typeface="Arial"/>
                <a:cs typeface="Arial"/>
              </a:rPr>
              <a:t>with </a:t>
            </a:r>
            <a:r>
              <a:rPr sz="3400" spc="-5">
                <a:latin typeface="Arial"/>
                <a:cs typeface="Arial"/>
              </a:rPr>
              <a:t>the </a:t>
            </a:r>
            <a:r>
              <a:rPr sz="3400" spc="5">
                <a:latin typeface="Arial"/>
                <a:cs typeface="Arial"/>
              </a:rPr>
              <a:t>Turing</a:t>
            </a:r>
            <a:r>
              <a:rPr sz="3400" spc="-70">
                <a:latin typeface="Arial"/>
                <a:cs typeface="Arial"/>
              </a:rPr>
              <a:t> </a:t>
            </a:r>
            <a:r>
              <a:rPr sz="3400" spc="-5">
                <a:latin typeface="Arial"/>
                <a:cs typeface="Arial"/>
              </a:rPr>
              <a:t>test?</a:t>
            </a:r>
            <a:endParaRPr sz="3400">
              <a:latin typeface="Arial"/>
              <a:cs typeface="Arial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18721A8-66DC-431B-F48D-C5EC0D3D6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43" y="858525"/>
            <a:ext cx="12556835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Variability in protocols and judges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Different questioning styles affect chatbot success.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chatbot may handle small talk (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“How’s the weather?”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but fail on logic puzzles (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“What’s 17×19?”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b="1">
                <a:latin typeface="Arial" panose="020B0604020202020204" pitchFamily="34" charset="0"/>
              </a:rPr>
              <a:t> Success depends on deception</a:t>
            </a:r>
            <a:endParaRPr lang="en-US" altLang="en-US" sz="2000">
              <a:latin typeface="Arial" panose="020B0604020202020204" pitchFamily="34" charset="0"/>
            </a:endParaRPr>
          </a:p>
          <a:p>
            <a:pPr lvl="1" indent="6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C00000"/>
                </a:solidFill>
                <a:latin typeface="Arial" panose="020B0604020202020204" pitchFamily="34" charset="0"/>
              </a:rPr>
              <a:t>Passing often relies on evasive or misleading responses.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 </a:t>
            </a:r>
            <a:r>
              <a:rPr lang="en-US" altLang="en-US" sz="2000">
                <a:latin typeface="Arial" panose="020B0604020202020204" pitchFamily="34" charset="0"/>
              </a:rPr>
              <a:t>When asked a tough question, the chatbot jokes, </a:t>
            </a:r>
            <a:r>
              <a:rPr lang="en-US" altLang="en-US" sz="2000" i="1">
                <a:latin typeface="Arial" panose="020B0604020202020204" pitchFamily="34" charset="0"/>
              </a:rPr>
              <a:t>“That’s above my pay grade!”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i="1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i="1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b="1">
                <a:latin typeface="Arial" panose="020B0604020202020204" pitchFamily="34" charset="0"/>
              </a:rPr>
              <a:t> Cheap tricks</a:t>
            </a:r>
            <a:endParaRPr lang="en-US" altLang="en-US" sz="2000">
              <a:latin typeface="Arial" panose="020B0604020202020204" pitchFamily="34" charset="0"/>
            </a:endParaRPr>
          </a:p>
          <a:p>
            <a:pPr lvl="1" indent="16986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 </a:t>
            </a:r>
            <a:r>
              <a:rPr lang="en-US" altLang="en-US" sz="2000">
                <a:solidFill>
                  <a:srgbClr val="C00000"/>
                </a:solidFill>
                <a:latin typeface="Arial" panose="020B0604020202020204" pitchFamily="34" charset="0"/>
              </a:rPr>
              <a:t>Pattern-matching can mimic understanding without real reasoning.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  </a:t>
            </a:r>
            <a:r>
              <a:rPr lang="en-US" altLang="en-US" sz="2000">
                <a:latin typeface="Arial" panose="020B0604020202020204" pitchFamily="34" charset="0"/>
              </a:rPr>
              <a:t>User: </a:t>
            </a:r>
            <a:r>
              <a:rPr lang="en-US" altLang="en-US" sz="2000" i="1">
                <a:latin typeface="Arial" panose="020B0604020202020204" pitchFamily="34" charset="0"/>
              </a:rPr>
              <a:t>“I feel lonely.”</a:t>
            </a:r>
            <a:r>
              <a:rPr lang="en-US" altLang="en-US" sz="2000">
                <a:latin typeface="Arial" panose="020B0604020202020204" pitchFamily="34" charset="0"/>
              </a:rPr>
              <a:t> → Chatbot: </a:t>
            </a:r>
            <a:r>
              <a:rPr lang="en-US" altLang="en-US" sz="2000" i="1">
                <a:latin typeface="Arial" panose="020B0604020202020204" pitchFamily="34" charset="0"/>
              </a:rPr>
              <a:t>“Why do you feel lonely?”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Arial" panose="020B0604020202020204" pitchFamily="34" charset="0"/>
              </a:rPr>
              <a:t> ELIZA (1966)</a:t>
            </a:r>
            <a:endParaRPr lang="en-US" altLang="en-US" sz="2000">
              <a:latin typeface="Arial" panose="020B0604020202020204" pitchFamily="34" charset="0"/>
            </a:endParaRPr>
          </a:p>
          <a:p>
            <a:pPr lvl="2" indent="6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  </a:t>
            </a:r>
            <a:r>
              <a:rPr lang="en-US" altLang="en-US" sz="2000">
                <a:solidFill>
                  <a:srgbClr val="C00000"/>
                </a:solidFill>
                <a:latin typeface="Arial" panose="020B0604020202020204" pitchFamily="34" charset="0"/>
              </a:rPr>
              <a:t>Early chatbot used input rephrasing to simulate intelligence.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i="1">
                <a:latin typeface="Arial" panose="020B0604020202020204" pitchFamily="34" charset="0"/>
              </a:rPr>
              <a:t>  </a:t>
            </a:r>
            <a:r>
              <a:rPr lang="en-US" altLang="en-US" sz="2000">
                <a:latin typeface="Arial" panose="020B0604020202020204" pitchFamily="34" charset="0"/>
              </a:rPr>
              <a:t>User: </a:t>
            </a:r>
            <a:r>
              <a:rPr lang="en-US" altLang="en-US" sz="2000" i="1">
                <a:latin typeface="Arial" panose="020B0604020202020204" pitchFamily="34" charset="0"/>
              </a:rPr>
              <a:t>“I’m anxious about work.”</a:t>
            </a:r>
            <a:r>
              <a:rPr lang="en-US" altLang="en-US" sz="2000">
                <a:latin typeface="Arial" panose="020B0604020202020204" pitchFamily="34" charset="0"/>
              </a:rPr>
              <a:t> → ELIZA: </a:t>
            </a:r>
            <a:r>
              <a:rPr lang="en-US" altLang="en-US" sz="2000" i="1">
                <a:latin typeface="Arial" panose="020B0604020202020204" pitchFamily="34" charset="0"/>
              </a:rPr>
              <a:t>“Why are you anxious about work?”</a:t>
            </a:r>
            <a:endParaRPr lang="en-US" altLang="en-US" sz="20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52AB697-8DCE-7384-D9B7-380F9651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11246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EF1BAD6-03C1-4A6A-63BF-1A96906FE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3597202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0400" y="196937"/>
            <a:ext cx="3938270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 </a:t>
            </a:r>
            <a:r>
              <a:rPr sz="3400" spc="-5">
                <a:latin typeface="Arial"/>
                <a:cs typeface="Arial"/>
              </a:rPr>
              <a:t>better </a:t>
            </a:r>
            <a:r>
              <a:rPr sz="3400" spc="5">
                <a:latin typeface="Arial"/>
                <a:cs typeface="Arial"/>
              </a:rPr>
              <a:t>Turing</a:t>
            </a:r>
            <a:r>
              <a:rPr sz="3400" spc="-114">
                <a:latin typeface="Arial"/>
                <a:cs typeface="Arial"/>
              </a:rPr>
              <a:t> </a:t>
            </a:r>
            <a:r>
              <a:rPr sz="3400" spc="-5">
                <a:latin typeface="Arial"/>
                <a:cs typeface="Arial"/>
              </a:rPr>
              <a:t>test?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200" y="1406145"/>
            <a:ext cx="12801600" cy="4067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 algn="just">
              <a:buFont typeface="Arial"/>
              <a:buChar char="•"/>
              <a:tabLst>
                <a:tab pos="469900" algn="l"/>
              </a:tabLst>
            </a:pPr>
            <a:r>
              <a:rPr sz="3200" b="1">
                <a:latin typeface="+mj-lt"/>
                <a:cs typeface="Arial"/>
              </a:rPr>
              <a:t>Multiple choice </a:t>
            </a:r>
            <a:r>
              <a:rPr sz="3200" b="1" spc="-5">
                <a:latin typeface="+mj-lt"/>
                <a:cs typeface="Arial"/>
              </a:rPr>
              <a:t>questions </a:t>
            </a:r>
            <a:r>
              <a:rPr sz="3200" spc="5">
                <a:latin typeface="+mj-lt"/>
                <a:cs typeface="Arial"/>
              </a:rPr>
              <a:t>that </a:t>
            </a:r>
            <a:r>
              <a:rPr sz="3200" spc="-5">
                <a:latin typeface="+mj-lt"/>
                <a:cs typeface="Arial"/>
              </a:rPr>
              <a:t>can </a:t>
            </a:r>
            <a:r>
              <a:rPr sz="3200">
                <a:latin typeface="+mj-lt"/>
                <a:cs typeface="Arial"/>
              </a:rPr>
              <a:t>be  easily answered </a:t>
            </a:r>
            <a:r>
              <a:rPr sz="3200" spc="10">
                <a:latin typeface="+mj-lt"/>
                <a:cs typeface="Arial"/>
              </a:rPr>
              <a:t>by </a:t>
            </a:r>
            <a:r>
              <a:rPr sz="3200">
                <a:latin typeface="+mj-lt"/>
                <a:cs typeface="Arial"/>
              </a:rPr>
              <a:t>people but cannot be  answered by </a:t>
            </a:r>
            <a:r>
              <a:rPr sz="3200" spc="5">
                <a:latin typeface="+mj-lt"/>
                <a:cs typeface="Arial"/>
              </a:rPr>
              <a:t>computers using “cheap</a:t>
            </a:r>
            <a:r>
              <a:rPr sz="3200" spc="-95">
                <a:latin typeface="+mj-lt"/>
                <a:cs typeface="Arial"/>
              </a:rPr>
              <a:t> </a:t>
            </a:r>
            <a:r>
              <a:rPr sz="3200" spc="5">
                <a:latin typeface="+mj-lt"/>
                <a:cs typeface="Arial"/>
              </a:rPr>
              <a:t>tricks”:</a:t>
            </a:r>
            <a:endParaRPr sz="3200">
              <a:latin typeface="+mj-lt"/>
              <a:cs typeface="Arial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sz="4400">
              <a:latin typeface="+mj-lt"/>
              <a:cs typeface="Times New Roman"/>
            </a:endParaRPr>
          </a:p>
          <a:p>
            <a:pPr marL="469900" marR="443865" lvl="1"/>
            <a:r>
              <a:rPr sz="3200" i="1" spc="-5">
                <a:latin typeface="+mj-lt"/>
                <a:cs typeface="Arial"/>
              </a:rPr>
              <a:t>The </a:t>
            </a:r>
            <a:r>
              <a:rPr sz="3200" i="1" spc="5">
                <a:latin typeface="+mj-lt"/>
                <a:cs typeface="Arial"/>
              </a:rPr>
              <a:t>trophy </a:t>
            </a:r>
            <a:r>
              <a:rPr sz="3200" i="1">
                <a:latin typeface="+mj-lt"/>
                <a:cs typeface="Arial"/>
              </a:rPr>
              <a:t>would not </a:t>
            </a:r>
            <a:r>
              <a:rPr sz="3200" i="1" spc="5">
                <a:latin typeface="+mj-lt"/>
                <a:cs typeface="Arial"/>
              </a:rPr>
              <a:t>ﬁt </a:t>
            </a:r>
            <a:r>
              <a:rPr sz="3200" i="1">
                <a:latin typeface="+mj-lt"/>
                <a:cs typeface="Arial"/>
              </a:rPr>
              <a:t>in </a:t>
            </a:r>
            <a:r>
              <a:rPr sz="3200" i="1" spc="5">
                <a:latin typeface="+mj-lt"/>
                <a:cs typeface="Arial"/>
              </a:rPr>
              <a:t>the </a:t>
            </a:r>
            <a:r>
              <a:rPr sz="3200" i="1">
                <a:latin typeface="+mj-lt"/>
                <a:cs typeface="Arial"/>
              </a:rPr>
              <a:t>brown</a:t>
            </a:r>
            <a:r>
              <a:rPr sz="3200" i="1" spc="-85">
                <a:latin typeface="+mj-lt"/>
                <a:cs typeface="Arial"/>
              </a:rPr>
              <a:t> </a:t>
            </a:r>
            <a:r>
              <a:rPr sz="3200" i="1" spc="5">
                <a:latin typeface="+mj-lt"/>
                <a:cs typeface="Arial"/>
              </a:rPr>
              <a:t>suitcase  because </a:t>
            </a:r>
            <a:r>
              <a:rPr sz="3200" i="1">
                <a:latin typeface="+mj-lt"/>
                <a:cs typeface="Arial"/>
              </a:rPr>
              <a:t>it </a:t>
            </a:r>
            <a:r>
              <a:rPr sz="3200" i="1" spc="-5">
                <a:latin typeface="+mj-lt"/>
                <a:cs typeface="Arial"/>
              </a:rPr>
              <a:t>was </a:t>
            </a:r>
            <a:r>
              <a:rPr sz="3200" i="1" spc="5">
                <a:latin typeface="+mj-lt"/>
                <a:cs typeface="Arial"/>
              </a:rPr>
              <a:t>so</a:t>
            </a:r>
            <a:r>
              <a:rPr sz="3200" i="1" spc="-95">
                <a:latin typeface="+mj-lt"/>
                <a:cs typeface="Arial"/>
              </a:rPr>
              <a:t> </a:t>
            </a:r>
            <a:r>
              <a:rPr sz="3200" i="1">
                <a:latin typeface="+mj-lt"/>
                <a:cs typeface="Arial"/>
              </a:rPr>
              <a:t>small.</a:t>
            </a:r>
            <a:endParaRPr sz="3200">
              <a:latin typeface="+mj-lt"/>
              <a:cs typeface="Arial"/>
            </a:endParaRPr>
          </a:p>
          <a:p>
            <a:pPr lvl="1">
              <a:spcBef>
                <a:spcPts val="5"/>
              </a:spcBef>
            </a:pPr>
            <a:endParaRPr sz="3600">
              <a:latin typeface="+mj-lt"/>
              <a:cs typeface="Times New Roman"/>
            </a:endParaRPr>
          </a:p>
          <a:p>
            <a:pPr marL="469900" lvl="1"/>
            <a:r>
              <a:rPr sz="3200" i="1" spc="15">
                <a:latin typeface="+mj-lt"/>
                <a:cs typeface="Arial"/>
              </a:rPr>
              <a:t>What </a:t>
            </a:r>
            <a:r>
              <a:rPr sz="3200" i="1" spc="-5">
                <a:latin typeface="+mj-lt"/>
                <a:cs typeface="Arial"/>
              </a:rPr>
              <a:t>was </a:t>
            </a:r>
            <a:r>
              <a:rPr sz="3200" i="1" spc="5">
                <a:latin typeface="+mj-lt"/>
                <a:cs typeface="Arial"/>
              </a:rPr>
              <a:t>so</a:t>
            </a:r>
            <a:r>
              <a:rPr sz="3200" i="1" spc="-145">
                <a:latin typeface="+mj-lt"/>
                <a:cs typeface="Arial"/>
              </a:rPr>
              <a:t> </a:t>
            </a:r>
            <a:r>
              <a:rPr sz="3200" i="1">
                <a:latin typeface="+mj-lt"/>
                <a:cs typeface="Arial"/>
              </a:rPr>
              <a:t>small?</a:t>
            </a:r>
            <a:endParaRPr sz="3200">
              <a:latin typeface="+mj-lt"/>
              <a:cs typeface="Arial"/>
            </a:endParaRPr>
          </a:p>
          <a:p>
            <a:pPr marL="1325880" lvl="2" indent="-457200">
              <a:spcBef>
                <a:spcPts val="509"/>
              </a:spcBef>
              <a:buFont typeface="Arial"/>
              <a:buChar char="•"/>
              <a:tabLst>
                <a:tab pos="868680" algn="l"/>
                <a:tab pos="869315" algn="l"/>
              </a:tabLst>
            </a:pPr>
            <a:r>
              <a:rPr sz="2400" i="1" spc="-5">
                <a:latin typeface="+mj-lt"/>
                <a:cs typeface="Arial"/>
              </a:rPr>
              <a:t>The</a:t>
            </a:r>
            <a:r>
              <a:rPr sz="2400" i="1" spc="-60">
                <a:latin typeface="+mj-lt"/>
                <a:cs typeface="Arial"/>
              </a:rPr>
              <a:t> </a:t>
            </a:r>
            <a:r>
              <a:rPr sz="2400" i="1" spc="-10">
                <a:latin typeface="+mj-lt"/>
                <a:cs typeface="Arial"/>
              </a:rPr>
              <a:t>trophy</a:t>
            </a:r>
            <a:endParaRPr sz="2400">
              <a:latin typeface="+mj-lt"/>
              <a:cs typeface="Arial"/>
            </a:endParaRPr>
          </a:p>
          <a:p>
            <a:pPr marL="1325880" lvl="2" indent="-457200">
              <a:spcBef>
                <a:spcPts val="475"/>
              </a:spcBef>
              <a:buFont typeface="Arial"/>
              <a:buChar char="•"/>
              <a:tabLst>
                <a:tab pos="868680" algn="l"/>
                <a:tab pos="869315" algn="l"/>
              </a:tabLst>
            </a:pPr>
            <a:r>
              <a:rPr sz="2400" i="1" spc="-5">
                <a:latin typeface="+mj-lt"/>
                <a:cs typeface="Arial"/>
              </a:rPr>
              <a:t>The </a:t>
            </a:r>
            <a:r>
              <a:rPr sz="2400" i="1" spc="-10">
                <a:latin typeface="+mj-lt"/>
                <a:cs typeface="Arial"/>
              </a:rPr>
              <a:t>brown</a:t>
            </a:r>
            <a:r>
              <a:rPr sz="2400" i="1" spc="-25">
                <a:latin typeface="+mj-lt"/>
                <a:cs typeface="Arial"/>
              </a:rPr>
              <a:t> </a:t>
            </a:r>
            <a:r>
              <a:rPr sz="2400" i="1" spc="-5">
                <a:latin typeface="+mj-lt"/>
                <a:cs typeface="Arial"/>
              </a:rPr>
              <a:t>suitcase</a:t>
            </a:r>
            <a:endParaRPr sz="2400">
              <a:latin typeface="+mj-lt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4880" y="136671"/>
            <a:ext cx="39382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 </a:t>
            </a:r>
            <a:r>
              <a:rPr sz="3400" spc="-5">
                <a:latin typeface="Arial"/>
                <a:cs typeface="Arial"/>
              </a:rPr>
              <a:t>better </a:t>
            </a:r>
            <a:r>
              <a:rPr sz="3400" spc="5">
                <a:latin typeface="Arial"/>
                <a:cs typeface="Arial"/>
              </a:rPr>
              <a:t>Turing</a:t>
            </a:r>
            <a:r>
              <a:rPr sz="3400" spc="-114">
                <a:latin typeface="Arial"/>
                <a:cs typeface="Arial"/>
              </a:rPr>
              <a:t> </a:t>
            </a:r>
            <a:r>
              <a:rPr sz="3400" spc="-5">
                <a:latin typeface="Arial"/>
                <a:cs typeface="Arial"/>
              </a:rPr>
              <a:t>test?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800" y="1406144"/>
            <a:ext cx="12801600" cy="3613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>
              <a:buChar char="•"/>
              <a:tabLst>
                <a:tab pos="469265" algn="l"/>
                <a:tab pos="469900" algn="l"/>
              </a:tabLst>
            </a:pPr>
            <a:r>
              <a:rPr sz="2800">
                <a:latin typeface="Arial"/>
                <a:cs typeface="Arial"/>
              </a:rPr>
              <a:t>Multiple </a:t>
            </a:r>
            <a:r>
              <a:rPr sz="2800" spc="5">
                <a:latin typeface="Arial"/>
                <a:cs typeface="Arial"/>
              </a:rPr>
              <a:t>choice questions that can </a:t>
            </a:r>
            <a:r>
              <a:rPr sz="2800">
                <a:latin typeface="Arial"/>
                <a:cs typeface="Arial"/>
              </a:rPr>
              <a:t>be easily  answered by people but </a:t>
            </a:r>
            <a:r>
              <a:rPr sz="2800" spc="5">
                <a:latin typeface="Arial"/>
                <a:cs typeface="Arial"/>
              </a:rPr>
              <a:t>cannot </a:t>
            </a:r>
            <a:r>
              <a:rPr sz="2800">
                <a:latin typeface="Arial"/>
                <a:cs typeface="Arial"/>
              </a:rPr>
              <a:t>be</a:t>
            </a:r>
            <a:r>
              <a:rPr sz="2800" spc="-30">
                <a:latin typeface="Arial"/>
                <a:cs typeface="Arial"/>
              </a:rPr>
              <a:t> </a:t>
            </a:r>
            <a:r>
              <a:rPr sz="2800">
                <a:latin typeface="Arial"/>
                <a:cs typeface="Arial"/>
              </a:rPr>
              <a:t>answered  by </a:t>
            </a:r>
            <a:r>
              <a:rPr sz="2800" spc="5">
                <a:latin typeface="Arial"/>
                <a:cs typeface="Arial"/>
              </a:rPr>
              <a:t>computers using “cheap</a:t>
            </a:r>
            <a:r>
              <a:rPr sz="2800" spc="-120">
                <a:latin typeface="Arial"/>
                <a:cs typeface="Arial"/>
              </a:rPr>
              <a:t> </a:t>
            </a:r>
            <a:r>
              <a:rPr sz="2800" spc="5">
                <a:latin typeface="Arial"/>
                <a:cs typeface="Arial"/>
              </a:rPr>
              <a:t>tricks”:</a:t>
            </a:r>
            <a:endParaRPr sz="2800">
              <a:latin typeface="Arial"/>
              <a:cs typeface="Arial"/>
            </a:endParaRPr>
          </a:p>
          <a:p>
            <a:pPr>
              <a:spcBef>
                <a:spcPts val="45"/>
              </a:spcBef>
              <a:buFont typeface="Arial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927100" marR="401955" lvl="2"/>
            <a:r>
              <a:rPr sz="2800" i="1" spc="-5">
                <a:latin typeface="Arial"/>
                <a:cs typeface="Arial"/>
              </a:rPr>
              <a:t>The </a:t>
            </a:r>
            <a:r>
              <a:rPr sz="2800" i="1" spc="5">
                <a:latin typeface="Arial"/>
                <a:cs typeface="Arial"/>
              </a:rPr>
              <a:t>trophy </a:t>
            </a:r>
            <a:r>
              <a:rPr sz="2800" i="1">
                <a:latin typeface="Arial"/>
                <a:cs typeface="Arial"/>
              </a:rPr>
              <a:t>would not </a:t>
            </a:r>
            <a:r>
              <a:rPr sz="2800" i="1" spc="5">
                <a:latin typeface="Arial"/>
                <a:cs typeface="Arial"/>
              </a:rPr>
              <a:t>ﬁt </a:t>
            </a:r>
            <a:r>
              <a:rPr sz="2800" i="1">
                <a:latin typeface="Arial"/>
                <a:cs typeface="Arial"/>
              </a:rPr>
              <a:t>in </a:t>
            </a:r>
            <a:r>
              <a:rPr sz="2800" i="1" spc="5">
                <a:latin typeface="Arial"/>
                <a:cs typeface="Arial"/>
              </a:rPr>
              <a:t>the </a:t>
            </a:r>
            <a:r>
              <a:rPr sz="2800" i="1">
                <a:latin typeface="Arial"/>
                <a:cs typeface="Arial"/>
              </a:rPr>
              <a:t>brown</a:t>
            </a:r>
            <a:r>
              <a:rPr sz="2800" i="1" spc="-85">
                <a:latin typeface="Arial"/>
                <a:cs typeface="Arial"/>
              </a:rPr>
              <a:t> </a:t>
            </a:r>
            <a:r>
              <a:rPr sz="2800" i="1" spc="5">
                <a:latin typeface="Arial"/>
                <a:cs typeface="Arial"/>
              </a:rPr>
              <a:t>suitcase  because </a:t>
            </a:r>
            <a:r>
              <a:rPr sz="2800" i="1">
                <a:latin typeface="Arial"/>
                <a:cs typeface="Arial"/>
              </a:rPr>
              <a:t>it </a:t>
            </a:r>
            <a:r>
              <a:rPr sz="2800" i="1" spc="-5">
                <a:latin typeface="Arial"/>
                <a:cs typeface="Arial"/>
              </a:rPr>
              <a:t>was </a:t>
            </a:r>
            <a:r>
              <a:rPr sz="2800" i="1" spc="5">
                <a:latin typeface="Arial"/>
                <a:cs typeface="Arial"/>
              </a:rPr>
              <a:t>so</a:t>
            </a:r>
            <a:r>
              <a:rPr sz="2800" i="1" spc="-105">
                <a:latin typeface="Arial"/>
                <a:cs typeface="Arial"/>
              </a:rPr>
              <a:t> </a:t>
            </a:r>
            <a:r>
              <a:rPr sz="2800" i="1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800" i="1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lvl="2">
              <a:spcBef>
                <a:spcPts val="20"/>
              </a:spcBef>
            </a:pPr>
            <a:endParaRPr sz="3400">
              <a:latin typeface="Times New Roman"/>
              <a:cs typeface="Times New Roman"/>
            </a:endParaRPr>
          </a:p>
          <a:p>
            <a:pPr marL="927100" lvl="2">
              <a:spcBef>
                <a:spcPts val="5"/>
              </a:spcBef>
            </a:pPr>
            <a:r>
              <a:rPr sz="2800" i="1" spc="15">
                <a:latin typeface="Arial"/>
                <a:cs typeface="Arial"/>
              </a:rPr>
              <a:t>What </a:t>
            </a:r>
            <a:r>
              <a:rPr sz="2800" i="1" spc="-5">
                <a:latin typeface="Arial"/>
                <a:cs typeface="Arial"/>
              </a:rPr>
              <a:t>was </a:t>
            </a:r>
            <a:r>
              <a:rPr sz="2800" i="1" spc="5">
                <a:latin typeface="Arial"/>
                <a:cs typeface="Arial"/>
              </a:rPr>
              <a:t>so</a:t>
            </a:r>
            <a:r>
              <a:rPr sz="2800" i="1" spc="-155">
                <a:latin typeface="Arial"/>
                <a:cs typeface="Arial"/>
              </a:rPr>
              <a:t> </a:t>
            </a:r>
            <a:r>
              <a:rPr sz="2800" i="1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800" i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  <a:p>
            <a:pPr marL="1783080" lvl="3" indent="-457200">
              <a:spcBef>
                <a:spcPts val="509"/>
              </a:spcBef>
              <a:buFont typeface="Arial"/>
              <a:buChar char="•"/>
              <a:tabLst>
                <a:tab pos="868680" algn="l"/>
                <a:tab pos="869315" algn="l"/>
              </a:tabLst>
            </a:pPr>
            <a:r>
              <a:rPr sz="2000" i="1" spc="-5">
                <a:latin typeface="Arial"/>
                <a:cs typeface="Arial"/>
              </a:rPr>
              <a:t>The</a:t>
            </a:r>
            <a:r>
              <a:rPr sz="2000" i="1" spc="-60">
                <a:latin typeface="Arial"/>
                <a:cs typeface="Arial"/>
              </a:rPr>
              <a:t> </a:t>
            </a:r>
            <a:r>
              <a:rPr sz="2000" i="1" spc="-10">
                <a:latin typeface="Arial"/>
                <a:cs typeface="Arial"/>
              </a:rPr>
              <a:t>trophy</a:t>
            </a:r>
            <a:endParaRPr sz="2000">
              <a:latin typeface="Arial"/>
              <a:cs typeface="Arial"/>
            </a:endParaRPr>
          </a:p>
          <a:p>
            <a:pPr marL="1783080" lvl="3" indent="-457200">
              <a:spcBef>
                <a:spcPts val="475"/>
              </a:spcBef>
              <a:buFont typeface="Arial"/>
              <a:buChar char="•"/>
              <a:tabLst>
                <a:tab pos="868680" algn="l"/>
                <a:tab pos="869315" algn="l"/>
              </a:tabLst>
            </a:pPr>
            <a:r>
              <a:rPr sz="2000" i="1" spc="-5">
                <a:latin typeface="Arial"/>
                <a:cs typeface="Arial"/>
              </a:rPr>
              <a:t>The </a:t>
            </a:r>
            <a:r>
              <a:rPr sz="2000" i="1" spc="-10">
                <a:latin typeface="Arial"/>
                <a:cs typeface="Arial"/>
              </a:rPr>
              <a:t>brown</a:t>
            </a:r>
            <a:r>
              <a:rPr sz="2000" i="1" spc="-25">
                <a:latin typeface="Arial"/>
                <a:cs typeface="Arial"/>
              </a:rPr>
              <a:t> </a:t>
            </a:r>
            <a:r>
              <a:rPr sz="2000" i="1" spc="-5">
                <a:latin typeface="Arial"/>
                <a:cs typeface="Arial"/>
              </a:rPr>
              <a:t>suitcase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3860" y="6821424"/>
            <a:ext cx="502031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Arial"/>
                <a:cs typeface="Arial"/>
              </a:rPr>
              <a:t>H. </a:t>
            </a:r>
            <a:r>
              <a:rPr>
                <a:latin typeface="Arial"/>
                <a:cs typeface="Arial"/>
              </a:rPr>
              <a:t>Levesque,  </a:t>
            </a:r>
            <a:r>
              <a:rPr i="1" u="heavy" spc="-5">
                <a:solidFill>
                  <a:srgbClr val="0000FF"/>
                </a:solidFill>
                <a:latin typeface="Arial"/>
                <a:cs typeface="Arial"/>
              </a:rPr>
              <a:t>On </a:t>
            </a:r>
            <a:r>
              <a:rPr i="1" u="heavy">
                <a:solidFill>
                  <a:srgbClr val="0000FF"/>
                </a:solidFill>
                <a:latin typeface="Arial"/>
                <a:cs typeface="Arial"/>
              </a:rPr>
              <a:t>our </a:t>
            </a:r>
            <a:r>
              <a:rPr i="1" u="heavy" spc="5">
                <a:solidFill>
                  <a:srgbClr val="0000FF"/>
                </a:solidFill>
                <a:latin typeface="Arial"/>
                <a:cs typeface="Arial"/>
              </a:rPr>
              <a:t>best behaviour</a:t>
            </a:r>
            <a:r>
              <a:rPr spc="5">
                <a:latin typeface="Arial"/>
                <a:cs typeface="Arial"/>
              </a:rPr>
              <a:t>, </a:t>
            </a:r>
            <a:r>
              <a:rPr>
                <a:latin typeface="Arial"/>
                <a:cs typeface="Arial"/>
              </a:rPr>
              <a:t>IJCAI</a:t>
            </a:r>
            <a:r>
              <a:rPr spc="-195">
                <a:latin typeface="Arial"/>
                <a:cs typeface="Arial"/>
              </a:rPr>
              <a:t> </a:t>
            </a:r>
            <a:r>
              <a:rPr>
                <a:latin typeface="Arial"/>
                <a:cs typeface="Arial"/>
              </a:rPr>
              <a:t>2013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46600" y="210878"/>
            <a:ext cx="48006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 spc="5">
                <a:latin typeface="Arial"/>
                <a:cs typeface="Arial"/>
              </a:rPr>
              <a:t>A </a:t>
            </a:r>
            <a:r>
              <a:rPr sz="3600" spc="-5">
                <a:latin typeface="Arial"/>
                <a:cs typeface="Arial"/>
              </a:rPr>
              <a:t>better </a:t>
            </a:r>
            <a:r>
              <a:rPr sz="3600" spc="5">
                <a:latin typeface="Arial"/>
                <a:cs typeface="Arial"/>
              </a:rPr>
              <a:t>Turing</a:t>
            </a:r>
            <a:r>
              <a:rPr sz="3600" spc="-114">
                <a:latin typeface="Arial"/>
                <a:cs typeface="Arial"/>
              </a:rPr>
              <a:t> </a:t>
            </a:r>
            <a:r>
              <a:rPr sz="3600" spc="-5">
                <a:latin typeface="Arial"/>
                <a:cs typeface="Arial"/>
              </a:rPr>
              <a:t>test?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00" y="1482345"/>
            <a:ext cx="12268200" cy="4087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buChar char="•"/>
              <a:tabLst>
                <a:tab pos="469265" algn="l"/>
                <a:tab pos="469900" algn="l"/>
              </a:tabLst>
            </a:pPr>
            <a:r>
              <a:rPr sz="4000">
                <a:latin typeface="Arial"/>
                <a:cs typeface="Arial"/>
              </a:rPr>
              <a:t>Advantages </a:t>
            </a:r>
            <a:r>
              <a:rPr sz="4000" spc="-5">
                <a:latin typeface="Arial"/>
                <a:cs typeface="Arial"/>
              </a:rPr>
              <a:t>over </a:t>
            </a:r>
            <a:r>
              <a:rPr sz="4000" spc="5">
                <a:latin typeface="Arial"/>
                <a:cs typeface="Arial"/>
              </a:rPr>
              <a:t>standard </a:t>
            </a:r>
            <a:r>
              <a:rPr sz="4000">
                <a:latin typeface="Arial"/>
                <a:cs typeface="Arial"/>
              </a:rPr>
              <a:t>Turing</a:t>
            </a:r>
            <a:r>
              <a:rPr sz="4000" spc="-25">
                <a:latin typeface="Arial"/>
                <a:cs typeface="Arial"/>
              </a:rPr>
              <a:t> </a:t>
            </a:r>
            <a:r>
              <a:rPr sz="4000" spc="5">
                <a:latin typeface="Arial"/>
                <a:cs typeface="Arial"/>
              </a:rPr>
              <a:t>test</a:t>
            </a:r>
            <a:endParaRPr sz="4000">
              <a:latin typeface="Arial"/>
              <a:cs typeface="Arial"/>
            </a:endParaRPr>
          </a:p>
          <a:p>
            <a:pPr marL="1325880" lvl="2" indent="-457200">
              <a:lnSpc>
                <a:spcPct val="150000"/>
              </a:lnSpc>
              <a:spcBef>
                <a:spcPts val="509"/>
              </a:spcBef>
              <a:buChar char="•"/>
              <a:tabLst>
                <a:tab pos="868680" algn="l"/>
                <a:tab pos="869315" algn="l"/>
              </a:tabLst>
            </a:pPr>
            <a:r>
              <a:rPr sz="2800">
                <a:latin typeface="Arial"/>
                <a:cs typeface="Arial"/>
              </a:rPr>
              <a:t>Test </a:t>
            </a:r>
            <a:r>
              <a:rPr sz="2800" spc="-5">
                <a:latin typeface="Arial"/>
                <a:cs typeface="Arial"/>
              </a:rPr>
              <a:t>can </a:t>
            </a:r>
            <a:r>
              <a:rPr sz="2800" spc="-10">
                <a:latin typeface="Arial"/>
                <a:cs typeface="Arial"/>
              </a:rPr>
              <a:t>be </a:t>
            </a:r>
            <a:r>
              <a:rPr sz="2800" spc="-5">
                <a:latin typeface="Arial"/>
                <a:cs typeface="Arial"/>
              </a:rPr>
              <a:t>administered </a:t>
            </a:r>
            <a:r>
              <a:rPr sz="2800" spc="-10">
                <a:latin typeface="Arial"/>
                <a:cs typeface="Arial"/>
              </a:rPr>
              <a:t>and graded by</a:t>
            </a:r>
            <a:r>
              <a:rPr sz="2800" spc="75">
                <a:latin typeface="Arial"/>
                <a:cs typeface="Arial"/>
              </a:rPr>
              <a:t> </a:t>
            </a:r>
            <a:r>
              <a:rPr sz="2800" spc="-5">
                <a:latin typeface="Arial"/>
                <a:cs typeface="Arial"/>
              </a:rPr>
              <a:t>machine</a:t>
            </a:r>
            <a:endParaRPr sz="2800">
              <a:latin typeface="Arial"/>
              <a:cs typeface="Arial"/>
            </a:endParaRPr>
          </a:p>
          <a:p>
            <a:pPr marL="1325880" lvl="2" indent="-457200">
              <a:lnSpc>
                <a:spcPct val="150000"/>
              </a:lnSpc>
              <a:spcBef>
                <a:spcPts val="475"/>
              </a:spcBef>
              <a:buChar char="•"/>
              <a:tabLst>
                <a:tab pos="868680" algn="l"/>
                <a:tab pos="869315" algn="l"/>
              </a:tabLst>
            </a:pPr>
            <a:r>
              <a:rPr sz="2800" spc="-10">
                <a:latin typeface="Arial"/>
                <a:cs typeface="Arial"/>
              </a:rPr>
              <a:t>Does not depend on </a:t>
            </a:r>
            <a:r>
              <a:rPr sz="2800" spc="-5">
                <a:latin typeface="Arial"/>
                <a:cs typeface="Arial"/>
              </a:rPr>
              <a:t>human</a:t>
            </a:r>
            <a:r>
              <a:rPr sz="2800" spc="70">
                <a:latin typeface="Arial"/>
                <a:cs typeface="Arial"/>
              </a:rPr>
              <a:t> </a:t>
            </a:r>
            <a:r>
              <a:rPr sz="2800" spc="-5">
                <a:latin typeface="Arial"/>
                <a:cs typeface="Arial"/>
              </a:rPr>
              <a:t>subjectivity</a:t>
            </a:r>
            <a:endParaRPr sz="2800">
              <a:latin typeface="Arial"/>
              <a:cs typeface="Arial"/>
            </a:endParaRPr>
          </a:p>
          <a:p>
            <a:pPr marL="1325880" lvl="2" indent="-457200">
              <a:lnSpc>
                <a:spcPct val="150000"/>
              </a:lnSpc>
              <a:spcBef>
                <a:spcPts val="475"/>
              </a:spcBef>
              <a:buChar char="•"/>
              <a:tabLst>
                <a:tab pos="868680" algn="l"/>
                <a:tab pos="869315" algn="l"/>
              </a:tabLst>
            </a:pPr>
            <a:r>
              <a:rPr sz="2800" spc="-10">
                <a:latin typeface="Arial"/>
                <a:cs typeface="Arial"/>
              </a:rPr>
              <a:t>Does not require ability </a:t>
            </a:r>
            <a:r>
              <a:rPr sz="2800" spc="-5">
                <a:latin typeface="Arial"/>
                <a:cs typeface="Arial"/>
              </a:rPr>
              <a:t>to </a:t>
            </a:r>
            <a:r>
              <a:rPr sz="2800" spc="-10">
                <a:latin typeface="Arial"/>
                <a:cs typeface="Arial"/>
              </a:rPr>
              <a:t>generate English</a:t>
            </a:r>
            <a:r>
              <a:rPr sz="2800" spc="275">
                <a:latin typeface="Arial"/>
                <a:cs typeface="Arial"/>
              </a:rPr>
              <a:t> </a:t>
            </a:r>
            <a:r>
              <a:rPr sz="2800" spc="-5">
                <a:latin typeface="Arial"/>
                <a:cs typeface="Arial"/>
              </a:rPr>
              <a:t>sentences</a:t>
            </a:r>
            <a:endParaRPr sz="2800">
              <a:latin typeface="Arial"/>
              <a:cs typeface="Arial"/>
            </a:endParaRPr>
          </a:p>
          <a:p>
            <a:pPr marL="1325880" lvl="2" indent="-457200">
              <a:lnSpc>
                <a:spcPct val="150000"/>
              </a:lnSpc>
              <a:spcBef>
                <a:spcPts val="475"/>
              </a:spcBef>
              <a:buChar char="•"/>
              <a:tabLst>
                <a:tab pos="868680" algn="l"/>
                <a:tab pos="869315" algn="l"/>
              </a:tabLst>
            </a:pPr>
            <a:r>
              <a:rPr sz="2800" spc="-10">
                <a:latin typeface="Arial"/>
                <a:cs typeface="Arial"/>
              </a:rPr>
              <a:t>Questions cannot be </a:t>
            </a:r>
            <a:r>
              <a:rPr sz="2800" spc="-15">
                <a:latin typeface="Arial"/>
                <a:cs typeface="Arial"/>
              </a:rPr>
              <a:t>evaded </a:t>
            </a:r>
            <a:r>
              <a:rPr sz="2800" spc="-10">
                <a:latin typeface="Arial"/>
                <a:cs typeface="Arial"/>
              </a:rPr>
              <a:t>using verbal</a:t>
            </a:r>
            <a:r>
              <a:rPr sz="2800" spc="245">
                <a:latin typeface="Arial"/>
                <a:cs typeface="Arial"/>
              </a:rPr>
              <a:t> </a:t>
            </a:r>
            <a:r>
              <a:rPr sz="2800" spc="-10">
                <a:latin typeface="Arial"/>
                <a:cs typeface="Arial"/>
              </a:rPr>
              <a:t>dodges</a:t>
            </a:r>
            <a:endParaRPr sz="2800">
              <a:latin typeface="Arial"/>
              <a:cs typeface="Arial"/>
            </a:endParaRPr>
          </a:p>
          <a:p>
            <a:pPr marL="1325880" lvl="2" indent="-457200">
              <a:lnSpc>
                <a:spcPct val="150000"/>
              </a:lnSpc>
              <a:spcBef>
                <a:spcPts val="475"/>
              </a:spcBef>
              <a:buChar char="•"/>
              <a:tabLst>
                <a:tab pos="868680" algn="l"/>
                <a:tab pos="869315" algn="l"/>
              </a:tabLst>
            </a:pPr>
            <a:r>
              <a:rPr sz="2800" spc="-10">
                <a:latin typeface="Arial"/>
                <a:cs typeface="Arial"/>
              </a:rPr>
              <a:t>Questions </a:t>
            </a:r>
            <a:r>
              <a:rPr sz="2800" spc="-5">
                <a:latin typeface="Arial"/>
                <a:cs typeface="Arial"/>
              </a:rPr>
              <a:t>can </a:t>
            </a:r>
            <a:r>
              <a:rPr sz="2800" spc="-10">
                <a:latin typeface="Arial"/>
                <a:cs typeface="Arial"/>
              </a:rPr>
              <a:t>be </a:t>
            </a:r>
            <a:r>
              <a:rPr sz="2800">
                <a:latin typeface="Arial"/>
                <a:cs typeface="Arial"/>
              </a:rPr>
              <a:t>made </a:t>
            </a:r>
            <a:r>
              <a:rPr sz="2800" spc="-10">
                <a:latin typeface="Arial"/>
                <a:cs typeface="Arial"/>
              </a:rPr>
              <a:t>“Google-proof” </a:t>
            </a:r>
            <a:r>
              <a:rPr sz="2800" spc="-5">
                <a:latin typeface="Arial"/>
                <a:cs typeface="Arial"/>
              </a:rPr>
              <a:t>(at </a:t>
            </a:r>
            <a:r>
              <a:rPr sz="2800" spc="-10">
                <a:latin typeface="Arial"/>
                <a:cs typeface="Arial"/>
              </a:rPr>
              <a:t>least </a:t>
            </a:r>
            <a:r>
              <a:rPr sz="2800">
                <a:latin typeface="Arial"/>
                <a:cs typeface="Arial"/>
              </a:rPr>
              <a:t>for</a:t>
            </a:r>
            <a:r>
              <a:rPr sz="2800" spc="130">
                <a:latin typeface="Arial"/>
                <a:cs typeface="Arial"/>
              </a:rPr>
              <a:t> </a:t>
            </a:r>
            <a:r>
              <a:rPr sz="2800" spc="-15">
                <a:latin typeface="Arial"/>
                <a:cs typeface="Arial"/>
              </a:rPr>
              <a:t>now…)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8186" y="7352712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933" y="2337044"/>
            <a:ext cx="13168261" cy="5227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6095" indent="-342900"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r>
              <a:rPr sz="2800" spc="-5">
                <a:latin typeface="Calibri"/>
                <a:cs typeface="Calibri"/>
              </a:rPr>
              <a:t>In </a:t>
            </a:r>
            <a:r>
              <a:rPr sz="2800">
                <a:latin typeface="Calibri"/>
                <a:cs typeface="Calibri"/>
              </a:rPr>
              <a:t>this type </a:t>
            </a:r>
            <a:r>
              <a:rPr sz="2800" spc="-5">
                <a:latin typeface="Calibri"/>
                <a:cs typeface="Calibri"/>
              </a:rPr>
              <a:t>of approach </a:t>
            </a:r>
            <a:r>
              <a:rPr sz="2800" spc="-10">
                <a:latin typeface="Calibri"/>
                <a:cs typeface="Calibri"/>
              </a:rPr>
              <a:t>to </a:t>
            </a:r>
            <a:r>
              <a:rPr sz="2800" spc="-5">
                <a:latin typeface="Calibri"/>
                <a:cs typeface="Calibri"/>
              </a:rPr>
              <a:t>AI, </a:t>
            </a:r>
            <a:r>
              <a:rPr sz="2800">
                <a:latin typeface="Calibri"/>
                <a:cs typeface="Calibri"/>
              </a:rPr>
              <a:t>how the </a:t>
            </a: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computer</a:t>
            </a:r>
            <a:r>
              <a:rPr sz="2800" spc="-2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performs  </a:t>
            </a:r>
            <a:r>
              <a:rPr sz="2800" spc="-15">
                <a:solidFill>
                  <a:srgbClr val="C00000"/>
                </a:solidFill>
                <a:latin typeface="Calibri"/>
                <a:cs typeface="Calibri"/>
              </a:rPr>
              <a:t>tasks </a:t>
            </a:r>
            <a:r>
              <a:rPr sz="2800">
                <a:latin typeface="Calibri"/>
                <a:cs typeface="Calibri"/>
              </a:rPr>
              <a:t>does </a:t>
            </a:r>
            <a:r>
              <a:rPr sz="2800" spc="-10">
                <a:latin typeface="Calibri"/>
                <a:cs typeface="Calibri"/>
              </a:rPr>
              <a:t>matter </a:t>
            </a:r>
            <a:r>
              <a:rPr sz="2800">
                <a:latin typeface="Calibri"/>
                <a:cs typeface="Calibri"/>
              </a:rPr>
              <a:t>and </a:t>
            </a:r>
            <a:r>
              <a:rPr sz="2800" spc="-10">
                <a:latin typeface="Calibri"/>
                <a:cs typeface="Calibri"/>
              </a:rPr>
              <a:t>are </a:t>
            </a: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inspired by human thinking</a:t>
            </a:r>
            <a:r>
              <a:rPr sz="2800">
                <a:latin typeface="Calibri"/>
                <a:cs typeface="Calibri"/>
              </a:rPr>
              <a:t>.</a:t>
            </a:r>
            <a:endParaRPr lang="en-US" sz="2800">
              <a:latin typeface="Calibri"/>
              <a:cs typeface="Calibri"/>
            </a:endParaRPr>
          </a:p>
          <a:p>
            <a:pPr marL="355600" marR="506095" indent="-342900"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endParaRPr sz="2800">
              <a:latin typeface="Calibri"/>
              <a:cs typeface="Calibri"/>
            </a:endParaRPr>
          </a:p>
          <a:p>
            <a:pPr marL="355600" marR="774700" indent="-342900">
              <a:spcBef>
                <a:spcPts val="1080"/>
              </a:spcBef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Calibri"/>
                <a:cs typeface="Calibri"/>
              </a:rPr>
              <a:t>The </a:t>
            </a: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reasoning steps are important</a:t>
            </a:r>
            <a:r>
              <a:rPr sz="2800" spc="-5">
                <a:latin typeface="Calibri"/>
                <a:cs typeface="Calibri"/>
              </a:rPr>
              <a:t>…… </a:t>
            </a:r>
            <a:r>
              <a:rPr sz="2800">
                <a:latin typeface="Calibri"/>
                <a:cs typeface="Calibri"/>
              </a:rPr>
              <a:t>done </a:t>
            </a:r>
            <a:r>
              <a:rPr sz="2800" spc="-5">
                <a:latin typeface="Calibri"/>
                <a:cs typeface="Calibri"/>
              </a:rPr>
              <a:t>in </a:t>
            </a:r>
            <a:r>
              <a:rPr sz="2800">
                <a:latin typeface="Calibri"/>
                <a:cs typeface="Calibri"/>
              </a:rPr>
              <a:t>the</a:t>
            </a:r>
            <a:r>
              <a:rPr sz="2800" spc="-12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same  </a:t>
            </a:r>
            <a:r>
              <a:rPr sz="2800" spc="-10">
                <a:latin typeface="Calibri"/>
                <a:cs typeface="Calibri"/>
              </a:rPr>
              <a:t>fashion </a:t>
            </a:r>
            <a:r>
              <a:rPr sz="2800" spc="-5">
                <a:latin typeface="Calibri"/>
                <a:cs typeface="Calibri"/>
              </a:rPr>
              <a:t>as </a:t>
            </a:r>
            <a:r>
              <a:rPr sz="2800">
                <a:latin typeface="Calibri"/>
                <a:cs typeface="Calibri"/>
              </a:rPr>
              <a:t>humans </a:t>
            </a:r>
            <a:r>
              <a:rPr sz="2800" spc="-10">
                <a:latin typeface="Calibri"/>
                <a:cs typeface="Calibri"/>
              </a:rPr>
              <a:t>process</a:t>
            </a:r>
            <a:r>
              <a:rPr sz="2800" spc="-8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thoughts…</a:t>
            </a:r>
            <a:endParaRPr lang="en-US" sz="2800">
              <a:latin typeface="Calibri"/>
              <a:cs typeface="Calibri"/>
            </a:endParaRPr>
          </a:p>
          <a:p>
            <a:pPr marL="355600" marR="774700" indent="-342900">
              <a:spcBef>
                <a:spcPts val="1080"/>
              </a:spcBef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endParaRPr sz="2800">
              <a:latin typeface="Calibri"/>
              <a:cs typeface="Calibri"/>
            </a:endParaRPr>
          </a:p>
          <a:p>
            <a:pPr marL="355600" indent="-342900">
              <a:spcBef>
                <a:spcPts val="960"/>
              </a:spcBef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Ability to create and manipulate symbolic knowledge</a:t>
            </a:r>
          </a:p>
          <a:p>
            <a:pPr marL="699770" indent="-342900">
              <a:buFont typeface="Arial" panose="020B0604020202020204" pitchFamily="34" charset="0"/>
              <a:buChar char="•"/>
            </a:pPr>
            <a:r>
              <a:rPr sz="2800" spc="-5">
                <a:latin typeface="Calibri"/>
                <a:cs typeface="Calibri"/>
              </a:rPr>
              <a:t>(definitions, concepts, theorems,</a:t>
            </a:r>
            <a:r>
              <a:rPr sz="2800" spc="-95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…)</a:t>
            </a:r>
            <a:endParaRPr lang="en-US" sz="2800" spc="-5">
              <a:latin typeface="Calibri"/>
              <a:cs typeface="Calibri"/>
            </a:endParaRPr>
          </a:p>
          <a:p>
            <a:pPr marL="699770" indent="-342900">
              <a:buFont typeface="Arial" panose="020B0604020202020204" pitchFamily="34" charset="0"/>
              <a:buChar char="•"/>
            </a:pPr>
            <a:endParaRPr sz="2800">
              <a:latin typeface="Calibri"/>
              <a:cs typeface="Calibri"/>
            </a:endParaRPr>
          </a:p>
          <a:p>
            <a:pPr marL="355600" marR="5080" indent="-342900" algn="just">
              <a:spcBef>
                <a:spcPts val="600"/>
              </a:spcBef>
              <a:buClr>
                <a:srgbClr val="3333CC"/>
              </a:buClr>
              <a:buFont typeface="Arial" panose="020B0604020202020204" pitchFamily="34" charset="0"/>
              <a:buChar char="•"/>
              <a:tabLst>
                <a:tab pos="357505" algn="l"/>
              </a:tabLst>
            </a:pPr>
            <a:r>
              <a:rPr sz="2800" spc="-5">
                <a:latin typeface="Calibri"/>
                <a:cs typeface="Calibri"/>
              </a:rPr>
              <a:t>Example GPS (General Problem Solver): solved simple  problems such as the </a:t>
            </a:r>
            <a:r>
              <a:rPr sz="2800" spc="-5">
                <a:solidFill>
                  <a:srgbClr val="C00000"/>
                </a:solidFill>
                <a:latin typeface="Calibri"/>
                <a:cs typeface="Calibri"/>
              </a:rPr>
              <a:t>Towers of Hanoi</a:t>
            </a:r>
            <a:r>
              <a:rPr sz="2800" b="1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that could be  sufficiently</a:t>
            </a:r>
            <a:r>
              <a:rPr sz="2800" spc="-35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formalized.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9801" y="1065276"/>
            <a:ext cx="3489960" cy="1066800"/>
          </a:xfrm>
          <a:custGeom>
            <a:avLst/>
            <a:gdLst/>
            <a:ahLst/>
            <a:cxnLst/>
            <a:rect l="l" t="t" r="r" b="b"/>
            <a:pathLst>
              <a:path w="3489960" h="1066800">
                <a:moveTo>
                  <a:pt x="0" y="1066800"/>
                </a:moveTo>
                <a:lnTo>
                  <a:pt x="3489960" y="1066800"/>
                </a:lnTo>
                <a:lnTo>
                  <a:pt x="348996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DAE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3706" y="1062229"/>
            <a:ext cx="3502660" cy="1076325"/>
          </a:xfrm>
          <a:custGeom>
            <a:avLst/>
            <a:gdLst/>
            <a:ahLst/>
            <a:cxnLst/>
            <a:rect l="l" t="t" r="r" b="b"/>
            <a:pathLst>
              <a:path w="3502660" h="1076325">
                <a:moveTo>
                  <a:pt x="3502152" y="0"/>
                </a:moveTo>
                <a:lnTo>
                  <a:pt x="0" y="0"/>
                </a:lnTo>
                <a:lnTo>
                  <a:pt x="0" y="1075944"/>
                </a:lnTo>
                <a:lnTo>
                  <a:pt x="3502152" y="1075944"/>
                </a:lnTo>
                <a:lnTo>
                  <a:pt x="3502152" y="1069848"/>
                </a:lnTo>
                <a:lnTo>
                  <a:pt x="9144" y="1069848"/>
                </a:lnTo>
                <a:lnTo>
                  <a:pt x="6096" y="1066800"/>
                </a:lnTo>
                <a:lnTo>
                  <a:pt x="9144" y="1066800"/>
                </a:lnTo>
                <a:lnTo>
                  <a:pt x="9144" y="9144"/>
                </a:lnTo>
                <a:lnTo>
                  <a:pt x="6096" y="9144"/>
                </a:lnTo>
                <a:lnTo>
                  <a:pt x="9144" y="3048"/>
                </a:lnTo>
                <a:lnTo>
                  <a:pt x="3502152" y="3048"/>
                </a:lnTo>
                <a:lnTo>
                  <a:pt x="3502152" y="0"/>
                </a:lnTo>
                <a:close/>
              </a:path>
              <a:path w="3502660" h="1076325">
                <a:moveTo>
                  <a:pt x="9144" y="1066800"/>
                </a:moveTo>
                <a:lnTo>
                  <a:pt x="6096" y="1066800"/>
                </a:lnTo>
                <a:lnTo>
                  <a:pt x="9144" y="1069848"/>
                </a:lnTo>
                <a:lnTo>
                  <a:pt x="9144" y="1066800"/>
                </a:lnTo>
                <a:close/>
              </a:path>
              <a:path w="3502660" h="1076325">
                <a:moveTo>
                  <a:pt x="3493008" y="1066800"/>
                </a:moveTo>
                <a:lnTo>
                  <a:pt x="9144" y="1066800"/>
                </a:lnTo>
                <a:lnTo>
                  <a:pt x="9144" y="1069848"/>
                </a:lnTo>
                <a:lnTo>
                  <a:pt x="3493008" y="1069848"/>
                </a:lnTo>
                <a:lnTo>
                  <a:pt x="3493008" y="1066800"/>
                </a:lnTo>
                <a:close/>
              </a:path>
              <a:path w="3502660" h="1076325">
                <a:moveTo>
                  <a:pt x="3493008" y="3048"/>
                </a:moveTo>
                <a:lnTo>
                  <a:pt x="3493008" y="1069848"/>
                </a:lnTo>
                <a:lnTo>
                  <a:pt x="3496055" y="1066800"/>
                </a:lnTo>
                <a:lnTo>
                  <a:pt x="3502152" y="1066800"/>
                </a:lnTo>
                <a:lnTo>
                  <a:pt x="3502152" y="9144"/>
                </a:lnTo>
                <a:lnTo>
                  <a:pt x="3496055" y="9144"/>
                </a:lnTo>
                <a:lnTo>
                  <a:pt x="3493008" y="3048"/>
                </a:lnTo>
                <a:close/>
              </a:path>
              <a:path w="3502660" h="1076325">
                <a:moveTo>
                  <a:pt x="3502152" y="1066800"/>
                </a:moveTo>
                <a:lnTo>
                  <a:pt x="3496055" y="1066800"/>
                </a:lnTo>
                <a:lnTo>
                  <a:pt x="3493008" y="1069848"/>
                </a:lnTo>
                <a:lnTo>
                  <a:pt x="3502152" y="1069848"/>
                </a:lnTo>
                <a:lnTo>
                  <a:pt x="3502152" y="1066800"/>
                </a:lnTo>
                <a:close/>
              </a:path>
              <a:path w="3502660" h="1076325">
                <a:moveTo>
                  <a:pt x="9144" y="3048"/>
                </a:moveTo>
                <a:lnTo>
                  <a:pt x="6096" y="9144"/>
                </a:lnTo>
                <a:lnTo>
                  <a:pt x="9144" y="9144"/>
                </a:lnTo>
                <a:lnTo>
                  <a:pt x="9144" y="3048"/>
                </a:lnTo>
                <a:close/>
              </a:path>
              <a:path w="3502660" h="1076325">
                <a:moveTo>
                  <a:pt x="3493008" y="3048"/>
                </a:moveTo>
                <a:lnTo>
                  <a:pt x="9144" y="3048"/>
                </a:lnTo>
                <a:lnTo>
                  <a:pt x="9144" y="9144"/>
                </a:lnTo>
                <a:lnTo>
                  <a:pt x="3493008" y="9143"/>
                </a:lnTo>
                <a:lnTo>
                  <a:pt x="3493008" y="3048"/>
                </a:lnTo>
                <a:close/>
              </a:path>
              <a:path w="3502660" h="1076325">
                <a:moveTo>
                  <a:pt x="3502152" y="3048"/>
                </a:moveTo>
                <a:lnTo>
                  <a:pt x="3493008" y="3048"/>
                </a:lnTo>
                <a:lnTo>
                  <a:pt x="3496055" y="9144"/>
                </a:lnTo>
                <a:lnTo>
                  <a:pt x="3502152" y="9144"/>
                </a:lnTo>
                <a:lnTo>
                  <a:pt x="3502152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89762" y="1065276"/>
            <a:ext cx="3520440" cy="1066800"/>
          </a:xfrm>
          <a:custGeom>
            <a:avLst/>
            <a:gdLst/>
            <a:ahLst/>
            <a:cxnLst/>
            <a:rect l="l" t="t" r="r" b="b"/>
            <a:pathLst>
              <a:path w="3520440" h="1066800">
                <a:moveTo>
                  <a:pt x="0" y="1066800"/>
                </a:moveTo>
                <a:lnTo>
                  <a:pt x="3520440" y="1066800"/>
                </a:lnTo>
                <a:lnTo>
                  <a:pt x="352044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86715" y="1062229"/>
            <a:ext cx="3529965" cy="1076325"/>
          </a:xfrm>
          <a:custGeom>
            <a:avLst/>
            <a:gdLst/>
            <a:ahLst/>
            <a:cxnLst/>
            <a:rect l="l" t="t" r="r" b="b"/>
            <a:pathLst>
              <a:path w="3529965" h="1076325">
                <a:moveTo>
                  <a:pt x="3529584" y="0"/>
                </a:moveTo>
                <a:lnTo>
                  <a:pt x="0" y="0"/>
                </a:lnTo>
                <a:lnTo>
                  <a:pt x="0" y="1075944"/>
                </a:lnTo>
                <a:lnTo>
                  <a:pt x="3529584" y="1075944"/>
                </a:lnTo>
                <a:lnTo>
                  <a:pt x="3529584" y="1069848"/>
                </a:lnTo>
                <a:lnTo>
                  <a:pt x="9144" y="1069848"/>
                </a:lnTo>
                <a:lnTo>
                  <a:pt x="3048" y="1066800"/>
                </a:lnTo>
                <a:lnTo>
                  <a:pt x="9144" y="1066800"/>
                </a:lnTo>
                <a:lnTo>
                  <a:pt x="9144" y="9144"/>
                </a:lnTo>
                <a:lnTo>
                  <a:pt x="3048" y="9144"/>
                </a:lnTo>
                <a:lnTo>
                  <a:pt x="9144" y="3048"/>
                </a:lnTo>
                <a:lnTo>
                  <a:pt x="3529584" y="3047"/>
                </a:lnTo>
                <a:lnTo>
                  <a:pt x="3529584" y="0"/>
                </a:lnTo>
                <a:close/>
              </a:path>
              <a:path w="3529965" h="1076325">
                <a:moveTo>
                  <a:pt x="9144" y="1066800"/>
                </a:moveTo>
                <a:lnTo>
                  <a:pt x="3048" y="1066800"/>
                </a:lnTo>
                <a:lnTo>
                  <a:pt x="9144" y="1069848"/>
                </a:lnTo>
                <a:lnTo>
                  <a:pt x="9144" y="1066800"/>
                </a:lnTo>
                <a:close/>
              </a:path>
              <a:path w="3529965" h="1076325">
                <a:moveTo>
                  <a:pt x="3520440" y="1066800"/>
                </a:moveTo>
                <a:lnTo>
                  <a:pt x="9144" y="1066800"/>
                </a:lnTo>
                <a:lnTo>
                  <a:pt x="9144" y="1069848"/>
                </a:lnTo>
                <a:lnTo>
                  <a:pt x="3520440" y="1069848"/>
                </a:lnTo>
                <a:lnTo>
                  <a:pt x="3520440" y="1066800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3520440" y="1069848"/>
                </a:lnTo>
                <a:lnTo>
                  <a:pt x="3523488" y="1066800"/>
                </a:lnTo>
                <a:lnTo>
                  <a:pt x="3529584" y="1066800"/>
                </a:lnTo>
                <a:lnTo>
                  <a:pt x="3529584" y="9144"/>
                </a:lnTo>
                <a:lnTo>
                  <a:pt x="3523488" y="9144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4" y="1066800"/>
                </a:moveTo>
                <a:lnTo>
                  <a:pt x="3523488" y="1066800"/>
                </a:lnTo>
                <a:lnTo>
                  <a:pt x="3520440" y="1069848"/>
                </a:lnTo>
                <a:lnTo>
                  <a:pt x="3529584" y="1069848"/>
                </a:lnTo>
                <a:lnTo>
                  <a:pt x="3529584" y="1066800"/>
                </a:lnTo>
                <a:close/>
              </a:path>
              <a:path w="3529965" h="1076325">
                <a:moveTo>
                  <a:pt x="9144" y="3048"/>
                </a:moveTo>
                <a:lnTo>
                  <a:pt x="3048" y="9144"/>
                </a:lnTo>
                <a:lnTo>
                  <a:pt x="9144" y="9144"/>
                </a:lnTo>
                <a:lnTo>
                  <a:pt x="9144" y="3048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9144" y="3048"/>
                </a:lnTo>
                <a:lnTo>
                  <a:pt x="9144" y="9144"/>
                </a:lnTo>
                <a:lnTo>
                  <a:pt x="3520440" y="9143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4" y="3047"/>
                </a:moveTo>
                <a:lnTo>
                  <a:pt x="3520440" y="3048"/>
                </a:lnTo>
                <a:lnTo>
                  <a:pt x="3523488" y="9144"/>
                </a:lnTo>
                <a:lnTo>
                  <a:pt x="3529584" y="9144"/>
                </a:lnTo>
                <a:lnTo>
                  <a:pt x="3529584" y="3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95858" y="10530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370" y="160020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6086" y="10530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04105" y="1053084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72370" y="106680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72370" y="2141220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358374" y="987044"/>
            <a:ext cx="296100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4940">
              <a:lnSpc>
                <a:spcPct val="125000"/>
              </a:lnSpc>
            </a:pP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like humans  </a:t>
            </a:r>
            <a:r>
              <a:rPr sz="2800" spc="5">
                <a:solidFill>
                  <a:srgbClr val="3333CC"/>
                </a:solidFill>
                <a:latin typeface="Comic Sans MS"/>
                <a:cs typeface="Comic Sans MS"/>
              </a:rPr>
              <a:t>Think </a:t>
            </a:r>
            <a:r>
              <a:rPr sz="2800">
                <a:solidFill>
                  <a:srgbClr val="3333CC"/>
                </a:solidFill>
                <a:latin typeface="Comic Sans MS"/>
                <a:cs typeface="Comic Sans MS"/>
              </a:rPr>
              <a:t>like</a:t>
            </a:r>
            <a:r>
              <a:rPr sz="2800" spc="-11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3333CC"/>
                </a:solidFill>
                <a:latin typeface="Comic Sans MS"/>
                <a:cs typeface="Comic Sans MS"/>
              </a:rPr>
              <a:t>humans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40359" y="987044"/>
            <a:ext cx="261683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8115">
              <a:lnSpc>
                <a:spcPct val="125000"/>
              </a:lnSpc>
            </a:pP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  </a:t>
            </a: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Think</a:t>
            </a:r>
            <a:r>
              <a:rPr sz="2800" spc="-114">
                <a:solidFill>
                  <a:srgbClr val="EDEBE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6E45D4B-FCA4-A90A-C560-2983342A5DC3}"/>
              </a:ext>
            </a:extLst>
          </p:cNvPr>
          <p:cNvSpPr txBox="1"/>
          <p:nvPr/>
        </p:nvSpPr>
        <p:spPr>
          <a:xfrm>
            <a:off x="3322047" y="185516"/>
            <a:ext cx="68211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AI </a:t>
            </a:r>
            <a:r>
              <a:rPr sz="3400">
                <a:latin typeface="Arial"/>
                <a:cs typeface="Arial"/>
              </a:rPr>
              <a:t>definition 02: </a:t>
            </a:r>
            <a:r>
              <a:rPr sz="3400" spc="10">
                <a:latin typeface="Arial"/>
                <a:cs typeface="Arial"/>
              </a:rPr>
              <a:t>Think </a:t>
            </a:r>
            <a:r>
              <a:rPr sz="3400" spc="5">
                <a:latin typeface="Arial"/>
                <a:cs typeface="Arial"/>
              </a:rPr>
              <a:t>Like</a:t>
            </a:r>
            <a:r>
              <a:rPr sz="3400" spc="-21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Humans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2" y="2819400"/>
            <a:ext cx="12725397" cy="4037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3200" spc="-5">
                <a:latin typeface="Calibri"/>
                <a:cs typeface="Calibri"/>
              </a:rPr>
              <a:t>Cognitive Science</a:t>
            </a:r>
            <a:r>
              <a:rPr sz="3200" spc="-25">
                <a:latin typeface="Calibri"/>
                <a:cs typeface="Calibri"/>
              </a:rPr>
              <a:t> </a:t>
            </a:r>
            <a:r>
              <a:rPr sz="3200" spc="-15">
                <a:latin typeface="Calibri"/>
                <a:cs typeface="Calibri"/>
              </a:rPr>
              <a:t>approach</a:t>
            </a:r>
            <a:endParaRPr sz="3200">
              <a:latin typeface="Calibri"/>
              <a:cs typeface="Calibri"/>
            </a:endParaRPr>
          </a:p>
          <a:p>
            <a:pPr marL="1213485" lvl="2" indent="-286385"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0">
                <a:latin typeface="Calibri"/>
                <a:cs typeface="Calibri"/>
              </a:rPr>
              <a:t>Try </a:t>
            </a:r>
            <a:r>
              <a:rPr sz="2800" spc="-15">
                <a:latin typeface="Calibri"/>
                <a:cs typeface="Calibri"/>
              </a:rPr>
              <a:t>to get </a:t>
            </a:r>
            <a:r>
              <a:rPr sz="2800" spc="-5">
                <a:latin typeface="Calibri"/>
                <a:cs typeface="Calibri"/>
              </a:rPr>
              <a:t>“inside” </a:t>
            </a:r>
            <a:r>
              <a:rPr sz="2800">
                <a:latin typeface="Calibri"/>
                <a:cs typeface="Calibri"/>
              </a:rPr>
              <a:t>our</a:t>
            </a:r>
            <a:r>
              <a:rPr sz="2800" spc="5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minds</a:t>
            </a:r>
            <a:endParaRPr sz="2800">
              <a:latin typeface="Calibri"/>
              <a:cs typeface="Calibri"/>
            </a:endParaRPr>
          </a:p>
          <a:p>
            <a:pPr marL="1213485" marR="5080" lvl="2" indent="-286385">
              <a:buFont typeface="Arial"/>
              <a:buChar char="–"/>
              <a:tabLst>
                <a:tab pos="756920" algn="l"/>
              </a:tabLst>
            </a:pPr>
            <a:r>
              <a:rPr sz="2800" spc="5">
                <a:latin typeface="Calibri"/>
                <a:cs typeface="Calibri"/>
              </a:rPr>
              <a:t>e.g., </a:t>
            </a:r>
            <a:r>
              <a:rPr sz="2800" spc="-10">
                <a:latin typeface="Calibri"/>
                <a:cs typeface="Calibri"/>
              </a:rPr>
              <a:t>conduct experiments </a:t>
            </a:r>
            <a:r>
              <a:rPr sz="2800">
                <a:latin typeface="Calibri"/>
                <a:cs typeface="Calibri"/>
              </a:rPr>
              <a:t>with </a:t>
            </a:r>
            <a:r>
              <a:rPr sz="2800" spc="-5">
                <a:latin typeface="Calibri"/>
                <a:cs typeface="Calibri"/>
              </a:rPr>
              <a:t>people </a:t>
            </a:r>
            <a:r>
              <a:rPr sz="2800" spc="-15">
                <a:latin typeface="Calibri"/>
                <a:cs typeface="Calibri"/>
              </a:rPr>
              <a:t>to </a:t>
            </a:r>
            <a:r>
              <a:rPr sz="2800" spc="5">
                <a:latin typeface="Calibri"/>
                <a:cs typeface="Calibri"/>
              </a:rPr>
              <a:t>try </a:t>
            </a:r>
            <a:r>
              <a:rPr sz="2800" spc="-15">
                <a:latin typeface="Calibri"/>
                <a:cs typeface="Calibri"/>
              </a:rPr>
              <a:t>to  </a:t>
            </a:r>
            <a:r>
              <a:rPr sz="2800" spc="-5">
                <a:latin typeface="Calibri"/>
                <a:cs typeface="Calibri"/>
              </a:rPr>
              <a:t>“reverse-engineer” </a:t>
            </a:r>
            <a:r>
              <a:rPr sz="2800">
                <a:latin typeface="Calibri"/>
                <a:cs typeface="Calibri"/>
              </a:rPr>
              <a:t>how </a:t>
            </a:r>
            <a:r>
              <a:rPr sz="2800" spc="-5">
                <a:latin typeface="Calibri"/>
                <a:cs typeface="Calibri"/>
              </a:rPr>
              <a:t>we reason, </a:t>
            </a:r>
            <a:r>
              <a:rPr sz="2800">
                <a:latin typeface="Calibri"/>
                <a:cs typeface="Calibri"/>
              </a:rPr>
              <a:t>learn,  </a:t>
            </a:r>
            <a:r>
              <a:rPr sz="2800" spc="-35">
                <a:latin typeface="Calibri"/>
                <a:cs typeface="Calibri"/>
              </a:rPr>
              <a:t>remember,</a:t>
            </a:r>
            <a:r>
              <a:rPr sz="2800" spc="-7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predict</a:t>
            </a:r>
            <a:endParaRPr sz="2800">
              <a:latin typeface="Calibri"/>
              <a:cs typeface="Calibri"/>
            </a:endParaRPr>
          </a:p>
          <a:p>
            <a:pPr marL="356870" indent="-344170">
              <a:spcBef>
                <a:spcPts val="7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3200" spc="-15"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  <a:p>
            <a:pPr marL="1213485" lvl="2" indent="-286385">
              <a:spcBef>
                <a:spcPts val="10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>
                <a:latin typeface="Calibri"/>
                <a:cs typeface="Calibri"/>
              </a:rPr>
              <a:t>Humans don’t </a:t>
            </a:r>
            <a:r>
              <a:rPr sz="2800" b="1" spc="-10">
                <a:latin typeface="Calibri"/>
                <a:cs typeface="Calibri"/>
              </a:rPr>
              <a:t>behave</a:t>
            </a:r>
            <a:r>
              <a:rPr sz="2800" b="1" spc="-165">
                <a:latin typeface="Calibri"/>
                <a:cs typeface="Calibri"/>
              </a:rPr>
              <a:t> </a:t>
            </a:r>
            <a:r>
              <a:rPr sz="2800" b="1" spc="-5">
                <a:latin typeface="Calibri"/>
                <a:cs typeface="Calibri"/>
              </a:rPr>
              <a:t>rationally</a:t>
            </a:r>
            <a:endParaRPr sz="2800">
              <a:latin typeface="Calibri"/>
              <a:cs typeface="Calibri"/>
            </a:endParaRPr>
          </a:p>
          <a:p>
            <a:pPr marL="1612900" lvl="3" indent="-228600">
              <a:lnSpc>
                <a:spcPts val="2860"/>
              </a:lnSpc>
              <a:spcBef>
                <a:spcPts val="35"/>
              </a:spcBef>
              <a:buFont typeface="Arial"/>
              <a:buChar char="•"/>
              <a:tabLst>
                <a:tab pos="1155700" algn="l"/>
              </a:tabLst>
            </a:pPr>
            <a:r>
              <a:rPr sz="2400">
                <a:latin typeface="Calibri"/>
                <a:cs typeface="Calibri"/>
              </a:rPr>
              <a:t>e.g., </a:t>
            </a:r>
            <a:r>
              <a:rPr sz="2400" spc="-5">
                <a:latin typeface="Calibri"/>
                <a:cs typeface="Calibri"/>
              </a:rPr>
              <a:t>insurance, politically </a:t>
            </a:r>
            <a:r>
              <a:rPr sz="2400" spc="-10">
                <a:latin typeface="Calibri"/>
                <a:cs typeface="Calibri"/>
              </a:rPr>
              <a:t>motivated</a:t>
            </a:r>
            <a:r>
              <a:rPr sz="2400" spc="-130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debate</a:t>
            </a:r>
            <a:endParaRPr sz="2400">
              <a:latin typeface="Calibri"/>
              <a:cs typeface="Calibri"/>
            </a:endParaRPr>
          </a:p>
          <a:p>
            <a:pPr marL="1213485" lvl="2" indent="-286385">
              <a:lnSpc>
                <a:spcPts val="3340"/>
              </a:lnSpc>
              <a:buFont typeface="Arial"/>
              <a:buChar char="–"/>
              <a:tabLst>
                <a:tab pos="756920" algn="l"/>
              </a:tabLst>
            </a:pPr>
            <a:r>
              <a:rPr sz="2800">
                <a:latin typeface="Calibri"/>
                <a:cs typeface="Calibri"/>
              </a:rPr>
              <a:t>The </a:t>
            </a:r>
            <a:r>
              <a:rPr sz="2800" spc="-20">
                <a:latin typeface="Calibri"/>
                <a:cs typeface="Calibri"/>
              </a:rPr>
              <a:t>reverse </a:t>
            </a:r>
            <a:r>
              <a:rPr sz="2800" spc="-5">
                <a:latin typeface="Calibri"/>
                <a:cs typeface="Calibri"/>
              </a:rPr>
              <a:t>engineering </a:t>
            </a:r>
            <a:r>
              <a:rPr sz="2800">
                <a:latin typeface="Calibri"/>
                <a:cs typeface="Calibri"/>
              </a:rPr>
              <a:t>is very </a:t>
            </a:r>
            <a:r>
              <a:rPr sz="2800" spc="-15">
                <a:latin typeface="Calibri"/>
                <a:cs typeface="Calibri"/>
              </a:rPr>
              <a:t>hard to</a:t>
            </a:r>
            <a:r>
              <a:rPr sz="2800" spc="-60">
                <a:latin typeface="Calibri"/>
                <a:cs typeface="Calibri"/>
              </a:rPr>
              <a:t> </a:t>
            </a:r>
            <a:r>
              <a:rPr sz="2800" spc="-5">
                <a:latin typeface="Calibri"/>
                <a:cs typeface="Calibri"/>
              </a:rPr>
              <a:t>do</a:t>
            </a:r>
            <a:endParaRPr sz="2800">
              <a:latin typeface="Calibri"/>
              <a:cs typeface="Calibri"/>
            </a:endParaRPr>
          </a:p>
          <a:p>
            <a:pPr marL="1213485" marR="808990" lvl="2" indent="-286385">
              <a:buFont typeface="Arial"/>
              <a:buChar char="–"/>
              <a:tabLst>
                <a:tab pos="756920" algn="l"/>
              </a:tabLst>
            </a:pPr>
            <a:r>
              <a:rPr sz="2800">
                <a:latin typeface="Calibri"/>
                <a:cs typeface="Calibri"/>
              </a:rPr>
              <a:t>The </a:t>
            </a:r>
            <a:r>
              <a:rPr sz="2800" spc="-35">
                <a:latin typeface="Calibri"/>
                <a:cs typeface="Calibri"/>
              </a:rPr>
              <a:t>brain’s </a:t>
            </a:r>
            <a:r>
              <a:rPr sz="2800" spc="-15">
                <a:latin typeface="Calibri"/>
                <a:cs typeface="Calibri"/>
              </a:rPr>
              <a:t>hardware </a:t>
            </a:r>
            <a:r>
              <a:rPr sz="2800">
                <a:latin typeface="Calibri"/>
                <a:cs typeface="Calibri"/>
              </a:rPr>
              <a:t>is very </a:t>
            </a:r>
            <a:r>
              <a:rPr sz="2800" spc="-20">
                <a:latin typeface="Calibri"/>
                <a:cs typeface="Calibri"/>
              </a:rPr>
              <a:t>different </a:t>
            </a:r>
            <a:r>
              <a:rPr sz="2800" spc="-15">
                <a:latin typeface="Calibri"/>
                <a:cs typeface="Calibri"/>
              </a:rPr>
              <a:t>to </a:t>
            </a:r>
            <a:r>
              <a:rPr sz="2800">
                <a:latin typeface="Calibri"/>
                <a:cs typeface="Calibri"/>
              </a:rPr>
              <a:t>a  </a:t>
            </a:r>
            <a:r>
              <a:rPr sz="2800" spc="-10">
                <a:latin typeface="Calibri"/>
                <a:cs typeface="Calibri"/>
              </a:rPr>
              <a:t>computer</a:t>
            </a:r>
            <a:r>
              <a:rPr sz="2800" spc="-80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9639" y="1100475"/>
            <a:ext cx="3489960" cy="1066800"/>
          </a:xfrm>
          <a:custGeom>
            <a:avLst/>
            <a:gdLst/>
            <a:ahLst/>
            <a:cxnLst/>
            <a:rect l="l" t="t" r="r" b="b"/>
            <a:pathLst>
              <a:path w="3489960" h="1066800">
                <a:moveTo>
                  <a:pt x="0" y="1066800"/>
                </a:moveTo>
                <a:lnTo>
                  <a:pt x="3489960" y="1066800"/>
                </a:lnTo>
                <a:lnTo>
                  <a:pt x="348996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D9E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93544" y="1094381"/>
            <a:ext cx="3502660" cy="1076325"/>
          </a:xfrm>
          <a:custGeom>
            <a:avLst/>
            <a:gdLst/>
            <a:ahLst/>
            <a:cxnLst/>
            <a:rect l="l" t="t" r="r" b="b"/>
            <a:pathLst>
              <a:path w="3502660" h="1076325">
                <a:moveTo>
                  <a:pt x="3502152" y="0"/>
                </a:moveTo>
                <a:lnTo>
                  <a:pt x="0" y="0"/>
                </a:lnTo>
                <a:lnTo>
                  <a:pt x="0" y="1075944"/>
                </a:lnTo>
                <a:lnTo>
                  <a:pt x="3502152" y="1075944"/>
                </a:lnTo>
                <a:lnTo>
                  <a:pt x="3502152" y="1072896"/>
                </a:lnTo>
                <a:lnTo>
                  <a:pt x="9143" y="1072896"/>
                </a:lnTo>
                <a:lnTo>
                  <a:pt x="6096" y="1066800"/>
                </a:lnTo>
                <a:lnTo>
                  <a:pt x="9143" y="1066800"/>
                </a:lnTo>
                <a:lnTo>
                  <a:pt x="9143" y="9144"/>
                </a:lnTo>
                <a:lnTo>
                  <a:pt x="6096" y="9144"/>
                </a:lnTo>
                <a:lnTo>
                  <a:pt x="9143" y="6096"/>
                </a:lnTo>
                <a:lnTo>
                  <a:pt x="3502152" y="6096"/>
                </a:lnTo>
                <a:lnTo>
                  <a:pt x="3502152" y="0"/>
                </a:lnTo>
                <a:close/>
              </a:path>
              <a:path w="3502660" h="1076325">
                <a:moveTo>
                  <a:pt x="9143" y="1066800"/>
                </a:moveTo>
                <a:lnTo>
                  <a:pt x="6096" y="1066800"/>
                </a:lnTo>
                <a:lnTo>
                  <a:pt x="9143" y="1072896"/>
                </a:lnTo>
                <a:lnTo>
                  <a:pt x="9143" y="1066800"/>
                </a:lnTo>
                <a:close/>
              </a:path>
              <a:path w="3502660" h="1076325">
                <a:moveTo>
                  <a:pt x="3493007" y="1066800"/>
                </a:moveTo>
                <a:lnTo>
                  <a:pt x="9143" y="1066800"/>
                </a:lnTo>
                <a:lnTo>
                  <a:pt x="9143" y="1072896"/>
                </a:lnTo>
                <a:lnTo>
                  <a:pt x="3493007" y="1072896"/>
                </a:lnTo>
                <a:lnTo>
                  <a:pt x="3493007" y="1066800"/>
                </a:lnTo>
                <a:close/>
              </a:path>
              <a:path w="3502660" h="1076325">
                <a:moveTo>
                  <a:pt x="3493007" y="6096"/>
                </a:moveTo>
                <a:lnTo>
                  <a:pt x="3493007" y="1072896"/>
                </a:lnTo>
                <a:lnTo>
                  <a:pt x="3496055" y="1066800"/>
                </a:lnTo>
                <a:lnTo>
                  <a:pt x="3502152" y="1066800"/>
                </a:lnTo>
                <a:lnTo>
                  <a:pt x="3502152" y="9144"/>
                </a:lnTo>
                <a:lnTo>
                  <a:pt x="3496055" y="9144"/>
                </a:lnTo>
                <a:lnTo>
                  <a:pt x="3493007" y="6096"/>
                </a:lnTo>
                <a:close/>
              </a:path>
              <a:path w="3502660" h="1076325">
                <a:moveTo>
                  <a:pt x="3502152" y="1066800"/>
                </a:moveTo>
                <a:lnTo>
                  <a:pt x="3496055" y="1066800"/>
                </a:lnTo>
                <a:lnTo>
                  <a:pt x="3493007" y="1072896"/>
                </a:lnTo>
                <a:lnTo>
                  <a:pt x="3502152" y="1072896"/>
                </a:lnTo>
                <a:lnTo>
                  <a:pt x="3502152" y="1066800"/>
                </a:lnTo>
                <a:close/>
              </a:path>
              <a:path w="3502660" h="1076325">
                <a:moveTo>
                  <a:pt x="9143" y="6096"/>
                </a:moveTo>
                <a:lnTo>
                  <a:pt x="6096" y="9144"/>
                </a:lnTo>
                <a:lnTo>
                  <a:pt x="9143" y="9144"/>
                </a:lnTo>
                <a:lnTo>
                  <a:pt x="9143" y="6096"/>
                </a:lnTo>
                <a:close/>
              </a:path>
              <a:path w="3502660" h="1076325">
                <a:moveTo>
                  <a:pt x="3493007" y="6096"/>
                </a:moveTo>
                <a:lnTo>
                  <a:pt x="9143" y="6096"/>
                </a:lnTo>
                <a:lnTo>
                  <a:pt x="9143" y="9144"/>
                </a:lnTo>
                <a:lnTo>
                  <a:pt x="3493007" y="9144"/>
                </a:lnTo>
                <a:lnTo>
                  <a:pt x="3493007" y="6096"/>
                </a:lnTo>
                <a:close/>
              </a:path>
              <a:path w="3502660" h="1076325">
                <a:moveTo>
                  <a:pt x="3502152" y="6096"/>
                </a:moveTo>
                <a:lnTo>
                  <a:pt x="3493007" y="6096"/>
                </a:lnTo>
                <a:lnTo>
                  <a:pt x="3496055" y="9144"/>
                </a:lnTo>
                <a:lnTo>
                  <a:pt x="3502152" y="9144"/>
                </a:lnTo>
                <a:lnTo>
                  <a:pt x="3502152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9600" y="1100475"/>
            <a:ext cx="3520440" cy="1066800"/>
          </a:xfrm>
          <a:custGeom>
            <a:avLst/>
            <a:gdLst/>
            <a:ahLst/>
            <a:cxnLst/>
            <a:rect l="l" t="t" r="r" b="b"/>
            <a:pathLst>
              <a:path w="3520440" h="1066800">
                <a:moveTo>
                  <a:pt x="0" y="1066800"/>
                </a:moveTo>
                <a:lnTo>
                  <a:pt x="3520440" y="1066800"/>
                </a:lnTo>
                <a:lnTo>
                  <a:pt x="352044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553" y="1094381"/>
            <a:ext cx="3529965" cy="1076325"/>
          </a:xfrm>
          <a:custGeom>
            <a:avLst/>
            <a:gdLst/>
            <a:ahLst/>
            <a:cxnLst/>
            <a:rect l="l" t="t" r="r" b="b"/>
            <a:pathLst>
              <a:path w="3529965" h="1076325">
                <a:moveTo>
                  <a:pt x="3529583" y="0"/>
                </a:moveTo>
                <a:lnTo>
                  <a:pt x="0" y="0"/>
                </a:lnTo>
                <a:lnTo>
                  <a:pt x="0" y="1075944"/>
                </a:lnTo>
                <a:lnTo>
                  <a:pt x="3529583" y="1075944"/>
                </a:lnTo>
                <a:lnTo>
                  <a:pt x="3529583" y="1072896"/>
                </a:lnTo>
                <a:lnTo>
                  <a:pt x="9144" y="1072896"/>
                </a:lnTo>
                <a:lnTo>
                  <a:pt x="3048" y="1066800"/>
                </a:lnTo>
                <a:lnTo>
                  <a:pt x="9144" y="1066800"/>
                </a:lnTo>
                <a:lnTo>
                  <a:pt x="9144" y="9144"/>
                </a:lnTo>
                <a:lnTo>
                  <a:pt x="3048" y="9144"/>
                </a:lnTo>
                <a:lnTo>
                  <a:pt x="9144" y="6096"/>
                </a:lnTo>
                <a:lnTo>
                  <a:pt x="3529583" y="6096"/>
                </a:lnTo>
                <a:lnTo>
                  <a:pt x="3529583" y="0"/>
                </a:lnTo>
                <a:close/>
              </a:path>
              <a:path w="3529965" h="1076325">
                <a:moveTo>
                  <a:pt x="9144" y="1066800"/>
                </a:moveTo>
                <a:lnTo>
                  <a:pt x="3048" y="1066800"/>
                </a:lnTo>
                <a:lnTo>
                  <a:pt x="9144" y="1072896"/>
                </a:lnTo>
                <a:lnTo>
                  <a:pt x="9144" y="1066800"/>
                </a:lnTo>
                <a:close/>
              </a:path>
              <a:path w="3529965" h="1076325">
                <a:moveTo>
                  <a:pt x="3520440" y="1066800"/>
                </a:moveTo>
                <a:lnTo>
                  <a:pt x="9144" y="1066800"/>
                </a:lnTo>
                <a:lnTo>
                  <a:pt x="9144" y="1072896"/>
                </a:lnTo>
                <a:lnTo>
                  <a:pt x="3520440" y="1072896"/>
                </a:lnTo>
                <a:lnTo>
                  <a:pt x="3520440" y="1066800"/>
                </a:lnTo>
                <a:close/>
              </a:path>
              <a:path w="3529965" h="1076325">
                <a:moveTo>
                  <a:pt x="3520440" y="6096"/>
                </a:moveTo>
                <a:lnTo>
                  <a:pt x="3520440" y="1072896"/>
                </a:lnTo>
                <a:lnTo>
                  <a:pt x="3523488" y="1066800"/>
                </a:lnTo>
                <a:lnTo>
                  <a:pt x="3529583" y="1066800"/>
                </a:lnTo>
                <a:lnTo>
                  <a:pt x="3529583" y="9144"/>
                </a:lnTo>
                <a:lnTo>
                  <a:pt x="3523488" y="9144"/>
                </a:lnTo>
                <a:lnTo>
                  <a:pt x="3520440" y="6096"/>
                </a:lnTo>
                <a:close/>
              </a:path>
              <a:path w="3529965" h="1076325">
                <a:moveTo>
                  <a:pt x="3529583" y="1066800"/>
                </a:moveTo>
                <a:lnTo>
                  <a:pt x="3523488" y="1066800"/>
                </a:lnTo>
                <a:lnTo>
                  <a:pt x="3520440" y="1072896"/>
                </a:lnTo>
                <a:lnTo>
                  <a:pt x="3529583" y="1072896"/>
                </a:lnTo>
                <a:lnTo>
                  <a:pt x="3529583" y="1066800"/>
                </a:lnTo>
                <a:close/>
              </a:path>
              <a:path w="3529965" h="1076325">
                <a:moveTo>
                  <a:pt x="9144" y="6096"/>
                </a:moveTo>
                <a:lnTo>
                  <a:pt x="3048" y="9144"/>
                </a:lnTo>
                <a:lnTo>
                  <a:pt x="9144" y="9144"/>
                </a:lnTo>
                <a:lnTo>
                  <a:pt x="9144" y="6096"/>
                </a:lnTo>
                <a:close/>
              </a:path>
              <a:path w="3529965" h="1076325">
                <a:moveTo>
                  <a:pt x="3520440" y="6096"/>
                </a:moveTo>
                <a:lnTo>
                  <a:pt x="9144" y="6096"/>
                </a:lnTo>
                <a:lnTo>
                  <a:pt x="9144" y="9144"/>
                </a:lnTo>
                <a:lnTo>
                  <a:pt x="3520440" y="9144"/>
                </a:lnTo>
                <a:lnTo>
                  <a:pt x="3520440" y="6096"/>
                </a:lnTo>
                <a:close/>
              </a:path>
              <a:path w="3529965" h="1076325">
                <a:moveTo>
                  <a:pt x="3529583" y="6096"/>
                </a:moveTo>
                <a:lnTo>
                  <a:pt x="3520440" y="6096"/>
                </a:lnTo>
                <a:lnTo>
                  <a:pt x="3523488" y="9144"/>
                </a:lnTo>
                <a:lnTo>
                  <a:pt x="3529583" y="9144"/>
                </a:lnTo>
                <a:lnTo>
                  <a:pt x="3529583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95696" y="1085235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5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2208" y="163387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85924" y="1085235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5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03943" y="1085235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5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72208" y="110047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72208" y="2174895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058212" y="1019197"/>
            <a:ext cx="296100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4940">
              <a:lnSpc>
                <a:spcPct val="125000"/>
              </a:lnSpc>
            </a:pP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like humans  </a:t>
            </a:r>
            <a:r>
              <a:rPr sz="2800" spc="5">
                <a:solidFill>
                  <a:srgbClr val="3333CC"/>
                </a:solidFill>
                <a:latin typeface="Comic Sans MS"/>
                <a:cs typeface="Comic Sans MS"/>
              </a:rPr>
              <a:t>Think </a:t>
            </a:r>
            <a:r>
              <a:rPr sz="2800">
                <a:solidFill>
                  <a:srgbClr val="3333CC"/>
                </a:solidFill>
                <a:latin typeface="Comic Sans MS"/>
                <a:cs typeface="Comic Sans MS"/>
              </a:rPr>
              <a:t>like</a:t>
            </a:r>
            <a:r>
              <a:rPr sz="2800" spc="-11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3333CC"/>
                </a:solidFill>
                <a:latin typeface="Comic Sans MS"/>
                <a:cs typeface="Comic Sans MS"/>
              </a:rPr>
              <a:t>humans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0197" y="1019197"/>
            <a:ext cx="261683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8115">
              <a:lnSpc>
                <a:spcPct val="125000"/>
              </a:lnSpc>
            </a:pP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Act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  </a:t>
            </a:r>
            <a:r>
              <a:rPr sz="2800" spc="5">
                <a:solidFill>
                  <a:srgbClr val="EDEBE0"/>
                </a:solidFill>
                <a:latin typeface="Comic Sans MS"/>
                <a:cs typeface="Comic Sans MS"/>
              </a:rPr>
              <a:t>Think</a:t>
            </a:r>
            <a:r>
              <a:rPr sz="2800" spc="-114">
                <a:solidFill>
                  <a:srgbClr val="EDEBE0"/>
                </a:solidFill>
                <a:latin typeface="Comic Sans MS"/>
                <a:cs typeface="Comic Sans MS"/>
              </a:rPr>
              <a:t> </a:t>
            </a:r>
            <a:r>
              <a:rPr sz="2800">
                <a:solidFill>
                  <a:srgbClr val="EDEBE0"/>
                </a:solidFill>
                <a:latin typeface="Comic Sans MS"/>
                <a:cs typeface="Comic Sans MS"/>
              </a:rPr>
              <a:t>rationally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33400" y="7239000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AD071899-1731-6A0F-DFEE-F5BCCA7C2B74}"/>
              </a:ext>
            </a:extLst>
          </p:cNvPr>
          <p:cNvSpPr txBox="1"/>
          <p:nvPr/>
        </p:nvSpPr>
        <p:spPr>
          <a:xfrm>
            <a:off x="2885111" y="224186"/>
            <a:ext cx="68211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AI </a:t>
            </a:r>
            <a:r>
              <a:rPr sz="3400">
                <a:latin typeface="Arial"/>
                <a:cs typeface="Arial"/>
              </a:rPr>
              <a:t>definition 02: </a:t>
            </a:r>
            <a:r>
              <a:rPr sz="3400" spc="10">
                <a:latin typeface="Arial"/>
                <a:cs typeface="Arial"/>
              </a:rPr>
              <a:t>Think </a:t>
            </a:r>
            <a:r>
              <a:rPr sz="3400" spc="5">
                <a:latin typeface="Arial"/>
                <a:cs typeface="Arial"/>
              </a:rPr>
              <a:t>Like</a:t>
            </a:r>
            <a:r>
              <a:rPr sz="3400" spc="-21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Humans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3429" y="6832601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400" y="2390648"/>
            <a:ext cx="12725397" cy="3897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 algn="just">
              <a:lnSpc>
                <a:spcPts val="3020"/>
              </a:lnSpc>
              <a:buClr>
                <a:srgbClr val="3333CC"/>
              </a:buClr>
              <a:buFont typeface="Wingdings"/>
              <a:buChar char=""/>
              <a:tabLst>
                <a:tab pos="357505" algn="l"/>
              </a:tabLst>
            </a:pPr>
            <a:r>
              <a:rPr sz="3200" spc="-5">
                <a:latin typeface="Calibri"/>
                <a:cs typeface="Calibri"/>
              </a:rPr>
              <a:t>In this type </a:t>
            </a:r>
            <a:r>
              <a:rPr sz="3200" spc="5">
                <a:latin typeface="Calibri"/>
                <a:cs typeface="Calibri"/>
              </a:rPr>
              <a:t>of </a:t>
            </a:r>
            <a:r>
              <a:rPr sz="3200" spc="-5">
                <a:latin typeface="Calibri"/>
                <a:cs typeface="Calibri"/>
              </a:rPr>
              <a:t>approach </a:t>
            </a:r>
            <a:r>
              <a:rPr sz="3200" spc="-15">
                <a:latin typeface="Calibri"/>
                <a:cs typeface="Calibri"/>
              </a:rPr>
              <a:t>to </a:t>
            </a:r>
            <a:r>
              <a:rPr sz="3200" spc="-5">
                <a:latin typeface="Calibri"/>
                <a:cs typeface="Calibri"/>
              </a:rPr>
              <a:t>AI, </a:t>
            </a:r>
            <a:r>
              <a:rPr sz="3200" spc="5">
                <a:latin typeface="Calibri"/>
                <a:cs typeface="Calibri"/>
              </a:rPr>
              <a:t>the </a:t>
            </a:r>
            <a:r>
              <a:rPr sz="3200" spc="-5">
                <a:latin typeface="Calibri"/>
                <a:cs typeface="Calibri"/>
              </a:rPr>
              <a:t>goal </a:t>
            </a:r>
            <a:r>
              <a:rPr sz="3200">
                <a:latin typeface="Calibri"/>
                <a:cs typeface="Calibri"/>
              </a:rPr>
              <a:t>is </a:t>
            </a: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3200">
                <a:solidFill>
                  <a:srgbClr val="C00000"/>
                </a:solidFill>
                <a:latin typeface="Calibri"/>
                <a:cs typeface="Calibri"/>
              </a:rPr>
              <a:t>build  </a:t>
            </a:r>
            <a:r>
              <a:rPr sz="3200" spc="-10">
                <a:solidFill>
                  <a:srgbClr val="C00000"/>
                </a:solidFill>
                <a:latin typeface="Calibri"/>
                <a:cs typeface="Calibri"/>
              </a:rPr>
              <a:t>agents that </a:t>
            </a:r>
            <a:r>
              <a:rPr sz="3200" spc="-20">
                <a:solidFill>
                  <a:srgbClr val="C00000"/>
                </a:solidFill>
                <a:latin typeface="Calibri"/>
                <a:cs typeface="Calibri"/>
              </a:rPr>
              <a:t>always make </a:t>
            </a:r>
            <a:r>
              <a:rPr sz="3200" spc="5">
                <a:solidFill>
                  <a:srgbClr val="C00000"/>
                </a:solidFill>
                <a:latin typeface="Calibri"/>
                <a:cs typeface="Calibri"/>
              </a:rPr>
              <a:t>the “best” </a:t>
            </a: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decision </a:t>
            </a:r>
            <a:r>
              <a:rPr sz="3200" spc="-10">
                <a:solidFill>
                  <a:srgbClr val="C00000"/>
                </a:solidFill>
                <a:latin typeface="Calibri"/>
                <a:cs typeface="Calibri"/>
              </a:rPr>
              <a:t>given  </a:t>
            </a: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sz="3200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sz="3200" spc="-10">
                <a:solidFill>
                  <a:srgbClr val="C00000"/>
                </a:solidFill>
                <a:latin typeface="Calibri"/>
                <a:cs typeface="Calibri"/>
              </a:rPr>
              <a:t>available </a:t>
            </a: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(knowledge, </a:t>
            </a:r>
            <a:r>
              <a:rPr sz="3200">
                <a:solidFill>
                  <a:srgbClr val="C00000"/>
                </a:solidFill>
                <a:latin typeface="Calibri"/>
                <a:cs typeface="Calibri"/>
              </a:rPr>
              <a:t>time,</a:t>
            </a:r>
            <a:r>
              <a:rPr sz="32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resources)</a:t>
            </a:r>
            <a:endParaRPr lang="en-US" sz="3200" spc="-5">
              <a:solidFill>
                <a:srgbClr val="C00000"/>
              </a:solidFill>
              <a:latin typeface="Calibri"/>
              <a:cs typeface="Calibri"/>
            </a:endParaRPr>
          </a:p>
          <a:p>
            <a:pPr marL="356870" marR="5080" indent="-344170" algn="just">
              <a:lnSpc>
                <a:spcPts val="3020"/>
              </a:lnSpc>
              <a:buClr>
                <a:srgbClr val="3333CC"/>
              </a:buClr>
              <a:buFont typeface="Wingdings"/>
              <a:buChar char=""/>
              <a:tabLst>
                <a:tab pos="357505" algn="l"/>
              </a:tabLst>
            </a:pPr>
            <a:endParaRPr sz="3200">
              <a:latin typeface="Calibri"/>
              <a:cs typeface="Calibri"/>
            </a:endParaRPr>
          </a:p>
          <a:p>
            <a:pPr marL="356870" marR="687705" indent="-344170">
              <a:lnSpc>
                <a:spcPts val="3020"/>
              </a:lnSpc>
              <a:spcBef>
                <a:spcPts val="1875"/>
              </a:spcBef>
              <a:buClr>
                <a:srgbClr val="3333C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3200" spc="10">
                <a:latin typeface="Calibri"/>
                <a:cs typeface="Calibri"/>
              </a:rPr>
              <a:t>“Best” </a:t>
            </a:r>
            <a:r>
              <a:rPr sz="3200" spc="-5">
                <a:latin typeface="Calibri"/>
                <a:cs typeface="Calibri"/>
              </a:rPr>
              <a:t>means maximizing the </a:t>
            </a:r>
            <a:r>
              <a:rPr sz="3200" b="1" spc="-5">
                <a:latin typeface="Calibri"/>
                <a:cs typeface="Calibri"/>
              </a:rPr>
              <a:t>expected </a:t>
            </a:r>
            <a:r>
              <a:rPr sz="3200" b="1" spc="-10">
                <a:latin typeface="Calibri"/>
                <a:cs typeface="Calibri"/>
              </a:rPr>
              <a:t>value</a:t>
            </a:r>
            <a:endParaRPr lang="en-US" sz="3200" b="1" spc="-10">
              <a:latin typeface="Calibri"/>
              <a:cs typeface="Calibri"/>
            </a:endParaRPr>
          </a:p>
          <a:p>
            <a:pPr marL="356870" marR="687705" indent="-344170">
              <a:lnSpc>
                <a:spcPts val="3020"/>
              </a:lnSpc>
              <a:spcBef>
                <a:spcPts val="1875"/>
              </a:spcBef>
              <a:buClr>
                <a:srgbClr val="3333C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endParaRPr sz="3200">
              <a:latin typeface="Calibri"/>
              <a:cs typeface="Calibri"/>
            </a:endParaRPr>
          </a:p>
          <a:p>
            <a:pPr marL="356870" marR="5080" indent="-344170" algn="just">
              <a:lnSpc>
                <a:spcPts val="3020"/>
              </a:lnSpc>
              <a:spcBef>
                <a:spcPts val="2450"/>
              </a:spcBef>
              <a:buClr>
                <a:srgbClr val="3333CC"/>
              </a:buClr>
              <a:buFont typeface="Wingdings"/>
              <a:buChar char=""/>
              <a:tabLst>
                <a:tab pos="357505" algn="l"/>
              </a:tabLst>
            </a:pPr>
            <a:r>
              <a:rPr sz="3200" spc="-5">
                <a:solidFill>
                  <a:srgbClr val="C00000"/>
                </a:solidFill>
                <a:latin typeface="Calibri"/>
                <a:cs typeface="Calibri"/>
              </a:rPr>
              <a:t>What is the impact of self-consciousness, emotions,  desires, love for music, fear of dying, etc ... on  human intelligence? Are they part of Human  Intelligence?</a:t>
            </a:r>
          </a:p>
        </p:txBody>
      </p:sp>
      <p:sp>
        <p:nvSpPr>
          <p:cNvPr id="4" name="object 4"/>
          <p:cNvSpPr/>
          <p:nvPr/>
        </p:nvSpPr>
        <p:spPr>
          <a:xfrm>
            <a:off x="3190239" y="838200"/>
            <a:ext cx="3489960" cy="1066800"/>
          </a:xfrm>
          <a:custGeom>
            <a:avLst/>
            <a:gdLst/>
            <a:ahLst/>
            <a:cxnLst/>
            <a:rect l="l" t="t" r="r" b="b"/>
            <a:pathLst>
              <a:path w="3489960" h="1066800">
                <a:moveTo>
                  <a:pt x="0" y="1066800"/>
                </a:moveTo>
                <a:lnTo>
                  <a:pt x="3489960" y="1066800"/>
                </a:lnTo>
                <a:lnTo>
                  <a:pt x="348996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D9E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4144" y="835153"/>
            <a:ext cx="3502660" cy="1076325"/>
          </a:xfrm>
          <a:custGeom>
            <a:avLst/>
            <a:gdLst/>
            <a:ahLst/>
            <a:cxnLst/>
            <a:rect l="l" t="t" r="r" b="b"/>
            <a:pathLst>
              <a:path w="3502660" h="1076325">
                <a:moveTo>
                  <a:pt x="3502152" y="0"/>
                </a:moveTo>
                <a:lnTo>
                  <a:pt x="0" y="0"/>
                </a:lnTo>
                <a:lnTo>
                  <a:pt x="0" y="1075944"/>
                </a:lnTo>
                <a:lnTo>
                  <a:pt x="3502152" y="1075944"/>
                </a:lnTo>
                <a:lnTo>
                  <a:pt x="3502152" y="1069848"/>
                </a:lnTo>
                <a:lnTo>
                  <a:pt x="9143" y="1069848"/>
                </a:lnTo>
                <a:lnTo>
                  <a:pt x="6096" y="1066800"/>
                </a:lnTo>
                <a:lnTo>
                  <a:pt x="9143" y="1066800"/>
                </a:lnTo>
                <a:lnTo>
                  <a:pt x="9143" y="9144"/>
                </a:lnTo>
                <a:lnTo>
                  <a:pt x="6096" y="9144"/>
                </a:lnTo>
                <a:lnTo>
                  <a:pt x="9143" y="3048"/>
                </a:lnTo>
                <a:lnTo>
                  <a:pt x="3502152" y="3048"/>
                </a:lnTo>
                <a:lnTo>
                  <a:pt x="3502152" y="0"/>
                </a:lnTo>
                <a:close/>
              </a:path>
              <a:path w="3502660" h="1076325">
                <a:moveTo>
                  <a:pt x="9143" y="1066800"/>
                </a:moveTo>
                <a:lnTo>
                  <a:pt x="6096" y="1066800"/>
                </a:lnTo>
                <a:lnTo>
                  <a:pt x="9143" y="1069848"/>
                </a:lnTo>
                <a:lnTo>
                  <a:pt x="9143" y="1066800"/>
                </a:lnTo>
                <a:close/>
              </a:path>
              <a:path w="3502660" h="1076325">
                <a:moveTo>
                  <a:pt x="3493007" y="1066800"/>
                </a:moveTo>
                <a:lnTo>
                  <a:pt x="9143" y="1066800"/>
                </a:lnTo>
                <a:lnTo>
                  <a:pt x="9143" y="1069848"/>
                </a:lnTo>
                <a:lnTo>
                  <a:pt x="3493007" y="1069848"/>
                </a:lnTo>
                <a:lnTo>
                  <a:pt x="3493007" y="1066800"/>
                </a:lnTo>
                <a:close/>
              </a:path>
              <a:path w="3502660" h="1076325">
                <a:moveTo>
                  <a:pt x="3493007" y="3048"/>
                </a:moveTo>
                <a:lnTo>
                  <a:pt x="3493007" y="1069848"/>
                </a:lnTo>
                <a:lnTo>
                  <a:pt x="3496055" y="1066800"/>
                </a:lnTo>
                <a:lnTo>
                  <a:pt x="3502152" y="1066800"/>
                </a:lnTo>
                <a:lnTo>
                  <a:pt x="3502152" y="9144"/>
                </a:lnTo>
                <a:lnTo>
                  <a:pt x="3496055" y="9144"/>
                </a:lnTo>
                <a:lnTo>
                  <a:pt x="3493007" y="3048"/>
                </a:lnTo>
                <a:close/>
              </a:path>
              <a:path w="3502660" h="1076325">
                <a:moveTo>
                  <a:pt x="3502152" y="1066800"/>
                </a:moveTo>
                <a:lnTo>
                  <a:pt x="3496055" y="1066800"/>
                </a:lnTo>
                <a:lnTo>
                  <a:pt x="3493007" y="1069848"/>
                </a:lnTo>
                <a:lnTo>
                  <a:pt x="3502152" y="1069848"/>
                </a:lnTo>
                <a:lnTo>
                  <a:pt x="3502152" y="1066800"/>
                </a:lnTo>
                <a:close/>
              </a:path>
              <a:path w="3502660" h="1076325">
                <a:moveTo>
                  <a:pt x="9143" y="3048"/>
                </a:moveTo>
                <a:lnTo>
                  <a:pt x="6096" y="9144"/>
                </a:lnTo>
                <a:lnTo>
                  <a:pt x="9143" y="9144"/>
                </a:lnTo>
                <a:lnTo>
                  <a:pt x="9143" y="3048"/>
                </a:lnTo>
                <a:close/>
              </a:path>
              <a:path w="3502660" h="1076325">
                <a:moveTo>
                  <a:pt x="3493007" y="3048"/>
                </a:moveTo>
                <a:lnTo>
                  <a:pt x="9143" y="3048"/>
                </a:lnTo>
                <a:lnTo>
                  <a:pt x="9143" y="9144"/>
                </a:lnTo>
                <a:lnTo>
                  <a:pt x="3493007" y="9144"/>
                </a:lnTo>
                <a:lnTo>
                  <a:pt x="3493007" y="3048"/>
                </a:lnTo>
                <a:close/>
              </a:path>
              <a:path w="3502660" h="1076325">
                <a:moveTo>
                  <a:pt x="3502152" y="3048"/>
                </a:moveTo>
                <a:lnTo>
                  <a:pt x="3493007" y="3048"/>
                </a:lnTo>
                <a:lnTo>
                  <a:pt x="3496055" y="9144"/>
                </a:lnTo>
                <a:lnTo>
                  <a:pt x="3502152" y="9144"/>
                </a:lnTo>
                <a:lnTo>
                  <a:pt x="3502152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80200" y="838200"/>
            <a:ext cx="3520440" cy="1066800"/>
          </a:xfrm>
          <a:custGeom>
            <a:avLst/>
            <a:gdLst/>
            <a:ahLst/>
            <a:cxnLst/>
            <a:rect l="l" t="t" r="r" b="b"/>
            <a:pathLst>
              <a:path w="3520440" h="1066800">
                <a:moveTo>
                  <a:pt x="0" y="1066800"/>
                </a:moveTo>
                <a:lnTo>
                  <a:pt x="3520440" y="1066800"/>
                </a:lnTo>
                <a:lnTo>
                  <a:pt x="352044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77153" y="835153"/>
            <a:ext cx="3529965" cy="1076325"/>
          </a:xfrm>
          <a:custGeom>
            <a:avLst/>
            <a:gdLst/>
            <a:ahLst/>
            <a:cxnLst/>
            <a:rect l="l" t="t" r="r" b="b"/>
            <a:pathLst>
              <a:path w="3529965" h="1076325">
                <a:moveTo>
                  <a:pt x="3529583" y="0"/>
                </a:moveTo>
                <a:lnTo>
                  <a:pt x="0" y="0"/>
                </a:lnTo>
                <a:lnTo>
                  <a:pt x="0" y="1075944"/>
                </a:lnTo>
                <a:lnTo>
                  <a:pt x="3529583" y="1075944"/>
                </a:lnTo>
                <a:lnTo>
                  <a:pt x="3529583" y="1069848"/>
                </a:lnTo>
                <a:lnTo>
                  <a:pt x="9144" y="1069848"/>
                </a:lnTo>
                <a:lnTo>
                  <a:pt x="3048" y="1066800"/>
                </a:lnTo>
                <a:lnTo>
                  <a:pt x="9144" y="1066800"/>
                </a:lnTo>
                <a:lnTo>
                  <a:pt x="9144" y="9144"/>
                </a:lnTo>
                <a:lnTo>
                  <a:pt x="3048" y="9144"/>
                </a:lnTo>
                <a:lnTo>
                  <a:pt x="9144" y="3048"/>
                </a:lnTo>
                <a:lnTo>
                  <a:pt x="3529583" y="3048"/>
                </a:lnTo>
                <a:lnTo>
                  <a:pt x="3529583" y="0"/>
                </a:lnTo>
                <a:close/>
              </a:path>
              <a:path w="3529965" h="1076325">
                <a:moveTo>
                  <a:pt x="9144" y="1066800"/>
                </a:moveTo>
                <a:lnTo>
                  <a:pt x="3048" y="1066800"/>
                </a:lnTo>
                <a:lnTo>
                  <a:pt x="9144" y="1069848"/>
                </a:lnTo>
                <a:lnTo>
                  <a:pt x="9144" y="1066800"/>
                </a:lnTo>
                <a:close/>
              </a:path>
              <a:path w="3529965" h="1076325">
                <a:moveTo>
                  <a:pt x="3520440" y="1066800"/>
                </a:moveTo>
                <a:lnTo>
                  <a:pt x="9144" y="1066800"/>
                </a:lnTo>
                <a:lnTo>
                  <a:pt x="9144" y="1069848"/>
                </a:lnTo>
                <a:lnTo>
                  <a:pt x="3520440" y="1069848"/>
                </a:lnTo>
                <a:lnTo>
                  <a:pt x="3520440" y="1066800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3520440" y="1069848"/>
                </a:lnTo>
                <a:lnTo>
                  <a:pt x="3523488" y="1066800"/>
                </a:lnTo>
                <a:lnTo>
                  <a:pt x="3529583" y="1066800"/>
                </a:lnTo>
                <a:lnTo>
                  <a:pt x="3529583" y="9144"/>
                </a:lnTo>
                <a:lnTo>
                  <a:pt x="3523488" y="9144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3" y="1066800"/>
                </a:moveTo>
                <a:lnTo>
                  <a:pt x="3523488" y="1066800"/>
                </a:lnTo>
                <a:lnTo>
                  <a:pt x="3520440" y="1069848"/>
                </a:lnTo>
                <a:lnTo>
                  <a:pt x="3529583" y="1069848"/>
                </a:lnTo>
                <a:lnTo>
                  <a:pt x="3529583" y="1066800"/>
                </a:lnTo>
                <a:close/>
              </a:path>
              <a:path w="3529965" h="1076325">
                <a:moveTo>
                  <a:pt x="9144" y="3048"/>
                </a:moveTo>
                <a:lnTo>
                  <a:pt x="3048" y="9144"/>
                </a:lnTo>
                <a:lnTo>
                  <a:pt x="9144" y="9144"/>
                </a:lnTo>
                <a:lnTo>
                  <a:pt x="9144" y="3048"/>
                </a:lnTo>
                <a:close/>
              </a:path>
              <a:path w="3529965" h="1076325">
                <a:moveTo>
                  <a:pt x="3520440" y="3048"/>
                </a:moveTo>
                <a:lnTo>
                  <a:pt x="9144" y="3048"/>
                </a:lnTo>
                <a:lnTo>
                  <a:pt x="9144" y="9144"/>
                </a:lnTo>
                <a:lnTo>
                  <a:pt x="3520440" y="9144"/>
                </a:lnTo>
                <a:lnTo>
                  <a:pt x="3520440" y="3048"/>
                </a:lnTo>
                <a:close/>
              </a:path>
              <a:path w="3529965" h="1076325">
                <a:moveTo>
                  <a:pt x="3529583" y="3048"/>
                </a:moveTo>
                <a:lnTo>
                  <a:pt x="3520440" y="3048"/>
                </a:lnTo>
                <a:lnTo>
                  <a:pt x="3523488" y="9144"/>
                </a:lnTo>
                <a:lnTo>
                  <a:pt x="3529583" y="9144"/>
                </a:lnTo>
                <a:lnTo>
                  <a:pt x="3529583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86296" y="826008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08" y="1373124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6524" y="826008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94543" y="826008"/>
            <a:ext cx="0" cy="1103630"/>
          </a:xfrm>
          <a:custGeom>
            <a:avLst/>
            <a:gdLst/>
            <a:ahLst/>
            <a:cxnLst/>
            <a:rect l="l" t="t" r="r" b="b"/>
            <a:pathLst>
              <a:path h="1103630">
                <a:moveTo>
                  <a:pt x="0" y="0"/>
                </a:moveTo>
                <a:lnTo>
                  <a:pt x="0" y="1103376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62808" y="839724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62808" y="1914144"/>
            <a:ext cx="7047230" cy="0"/>
          </a:xfrm>
          <a:custGeom>
            <a:avLst/>
            <a:gdLst/>
            <a:ahLst/>
            <a:cxnLst/>
            <a:rect l="l" t="t" r="r" b="b"/>
            <a:pathLst>
              <a:path w="7047230">
                <a:moveTo>
                  <a:pt x="0" y="0"/>
                </a:moveTo>
                <a:lnTo>
                  <a:pt x="7046976" y="0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448812" y="759968"/>
            <a:ext cx="296100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4940">
              <a:lnSpc>
                <a:spcPct val="125000"/>
              </a:lnSpc>
            </a:pPr>
            <a:r>
              <a:rPr sz="2800" spc="5">
                <a:latin typeface="Comic Sans MS"/>
                <a:cs typeface="Comic Sans MS"/>
              </a:rPr>
              <a:t>Act </a:t>
            </a:r>
            <a:r>
              <a:rPr sz="2800">
                <a:latin typeface="Comic Sans MS"/>
                <a:cs typeface="Comic Sans MS"/>
              </a:rPr>
              <a:t>like humans  </a:t>
            </a:r>
            <a:r>
              <a:rPr sz="2800" spc="5">
                <a:latin typeface="Comic Sans MS"/>
                <a:cs typeface="Comic Sans MS"/>
              </a:rPr>
              <a:t>Think </a:t>
            </a:r>
            <a:r>
              <a:rPr sz="2800">
                <a:latin typeface="Comic Sans MS"/>
                <a:cs typeface="Comic Sans MS"/>
              </a:rPr>
              <a:t>like</a:t>
            </a:r>
            <a:r>
              <a:rPr sz="2800" spc="-110">
                <a:latin typeface="Comic Sans MS"/>
                <a:cs typeface="Comic Sans MS"/>
              </a:rPr>
              <a:t> </a:t>
            </a:r>
            <a:r>
              <a:rPr sz="2800">
                <a:latin typeface="Comic Sans MS"/>
                <a:cs typeface="Comic Sans MS"/>
              </a:rPr>
              <a:t>humans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82029" y="759968"/>
            <a:ext cx="2714625" cy="103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61290">
              <a:lnSpc>
                <a:spcPct val="125000"/>
              </a:lnSpc>
            </a:pPr>
            <a:r>
              <a:rPr sz="2800" b="1" spc="5">
                <a:solidFill>
                  <a:srgbClr val="3333CC"/>
                </a:solidFill>
                <a:latin typeface="Comic Sans MS"/>
                <a:cs typeface="Comic Sans MS"/>
              </a:rPr>
              <a:t>Act </a:t>
            </a:r>
            <a:r>
              <a:rPr sz="2800" b="1">
                <a:solidFill>
                  <a:srgbClr val="3333CC"/>
                </a:solidFill>
                <a:latin typeface="Comic Sans MS"/>
                <a:cs typeface="Comic Sans MS"/>
              </a:rPr>
              <a:t>rationally  Think</a:t>
            </a:r>
            <a:r>
              <a:rPr sz="2800" b="1" spc="-7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b="1">
                <a:solidFill>
                  <a:srgbClr val="3333CC"/>
                </a:solidFill>
                <a:latin typeface="Comic Sans MS"/>
                <a:cs typeface="Comic Sans MS"/>
              </a:rPr>
              <a:t>rationally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8800" y="199737"/>
            <a:ext cx="660400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AI </a:t>
            </a:r>
            <a:r>
              <a:rPr sz="3400">
                <a:latin typeface="Arial"/>
                <a:cs typeface="Arial"/>
              </a:rPr>
              <a:t>definition 03: Thinking</a:t>
            </a:r>
            <a:r>
              <a:rPr sz="3400" spc="-15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rationally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9400" y="888712"/>
            <a:ext cx="12420600" cy="4837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Arial"/>
                <a:cs typeface="Arial"/>
              </a:rPr>
              <a:t>Idealized </a:t>
            </a:r>
            <a:r>
              <a:rPr sz="2400">
                <a:latin typeface="Arial"/>
                <a:cs typeface="Arial"/>
              </a:rPr>
              <a:t>or </a:t>
            </a:r>
            <a:r>
              <a:rPr sz="2400" spc="-5">
                <a:latin typeface="Arial"/>
                <a:cs typeface="Arial"/>
              </a:rPr>
              <a:t>“right” </a:t>
            </a:r>
            <a:r>
              <a:rPr sz="2400" spc="-10">
                <a:latin typeface="Arial"/>
                <a:cs typeface="Arial"/>
              </a:rPr>
              <a:t>way </a:t>
            </a:r>
            <a:r>
              <a:rPr sz="2400">
                <a:latin typeface="Arial"/>
                <a:cs typeface="Arial"/>
              </a:rPr>
              <a:t>of</a:t>
            </a:r>
            <a:r>
              <a:rPr sz="2400" spc="-2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thinking</a:t>
            </a:r>
            <a:endParaRPr lang="en-US" sz="2400">
              <a:latin typeface="Arial"/>
              <a:cs typeface="Arial"/>
            </a:endParaRPr>
          </a:p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endParaRPr sz="2400">
              <a:latin typeface="Arial"/>
              <a:cs typeface="Arial"/>
            </a:endParaRPr>
          </a:p>
          <a:p>
            <a:pPr marL="356870" marR="26670" indent="-344170">
              <a:spcBef>
                <a:spcPts val="57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b="1">
                <a:solidFill>
                  <a:srgbClr val="C00000"/>
                </a:solidFill>
                <a:latin typeface="Arial"/>
                <a:cs typeface="Arial"/>
              </a:rPr>
              <a:t>Logic: </a:t>
            </a:r>
            <a:r>
              <a:rPr sz="2200">
                <a:latin typeface="Arial"/>
                <a:cs typeface="Arial"/>
              </a:rPr>
              <a:t>patterns of argument that </a:t>
            </a:r>
            <a:r>
              <a:rPr sz="2200" spc="-10">
                <a:latin typeface="Arial"/>
                <a:cs typeface="Arial"/>
              </a:rPr>
              <a:t>always yield </a:t>
            </a:r>
            <a:r>
              <a:rPr sz="2200" spc="-5">
                <a:latin typeface="Arial"/>
                <a:cs typeface="Arial"/>
              </a:rPr>
              <a:t>correct </a:t>
            </a:r>
            <a:r>
              <a:rPr sz="2200">
                <a:latin typeface="Arial"/>
                <a:cs typeface="Arial"/>
              </a:rPr>
              <a:t>conclusions </a:t>
            </a:r>
            <a:r>
              <a:rPr sz="2200" spc="-10">
                <a:latin typeface="Arial"/>
                <a:cs typeface="Arial"/>
              </a:rPr>
              <a:t>when </a:t>
            </a:r>
            <a:r>
              <a:rPr sz="2200">
                <a:latin typeface="Arial"/>
                <a:cs typeface="Arial"/>
              </a:rPr>
              <a:t>supplied </a:t>
            </a:r>
            <a:r>
              <a:rPr sz="2200" spc="-10">
                <a:latin typeface="Arial"/>
                <a:cs typeface="Arial"/>
              </a:rPr>
              <a:t>with </a:t>
            </a:r>
            <a:r>
              <a:rPr sz="2200">
                <a:latin typeface="Arial"/>
                <a:cs typeface="Arial"/>
              </a:rPr>
              <a:t>correct</a:t>
            </a:r>
            <a:r>
              <a:rPr sz="2200" spc="-25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premises</a:t>
            </a:r>
          </a:p>
          <a:p>
            <a:pPr marL="756285" marR="5080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5">
                <a:solidFill>
                  <a:srgbClr val="0000FF"/>
                </a:solidFill>
                <a:latin typeface="Arial"/>
                <a:cs typeface="Arial"/>
              </a:rPr>
              <a:t>“Socrates </a:t>
            </a:r>
            <a:r>
              <a:rPr sz="2000" spc="-10">
                <a:solidFill>
                  <a:srgbClr val="0000FF"/>
                </a:solidFill>
                <a:latin typeface="Arial"/>
                <a:cs typeface="Arial"/>
              </a:rPr>
              <a:t>is </a:t>
            </a:r>
            <a:r>
              <a:rPr sz="2000" spc="-5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sz="2000">
                <a:solidFill>
                  <a:srgbClr val="0000FF"/>
                </a:solidFill>
                <a:latin typeface="Arial"/>
                <a:cs typeface="Arial"/>
              </a:rPr>
              <a:t>man; </a:t>
            </a:r>
            <a:r>
              <a:rPr sz="2000" spc="-10">
                <a:solidFill>
                  <a:srgbClr val="0000FF"/>
                </a:solidFill>
                <a:latin typeface="Arial"/>
                <a:cs typeface="Arial"/>
              </a:rPr>
              <a:t>all </a:t>
            </a:r>
            <a:r>
              <a:rPr sz="2000" spc="5">
                <a:solidFill>
                  <a:srgbClr val="0000FF"/>
                </a:solidFill>
                <a:latin typeface="Arial"/>
                <a:cs typeface="Arial"/>
              </a:rPr>
              <a:t>men </a:t>
            </a:r>
            <a:r>
              <a:rPr sz="2000" spc="-5">
                <a:solidFill>
                  <a:srgbClr val="0000FF"/>
                </a:solidFill>
                <a:latin typeface="Arial"/>
                <a:cs typeface="Arial"/>
              </a:rPr>
              <a:t>are </a:t>
            </a:r>
            <a:r>
              <a:rPr sz="2000">
                <a:solidFill>
                  <a:srgbClr val="0000FF"/>
                </a:solidFill>
                <a:latin typeface="Arial"/>
                <a:cs typeface="Arial"/>
              </a:rPr>
              <a:t>mortal; </a:t>
            </a:r>
            <a:r>
              <a:rPr sz="2000" spc="-5">
                <a:solidFill>
                  <a:srgbClr val="0000FF"/>
                </a:solidFill>
                <a:latin typeface="Arial"/>
                <a:cs typeface="Arial"/>
              </a:rPr>
              <a:t>therefore </a:t>
            </a:r>
            <a:r>
              <a:rPr sz="2000" spc="-10">
                <a:solidFill>
                  <a:srgbClr val="0000FF"/>
                </a:solidFill>
                <a:latin typeface="Arial"/>
                <a:cs typeface="Arial"/>
              </a:rPr>
              <a:t>Socrates is  </a:t>
            </a:r>
            <a:r>
              <a:rPr sz="2000" spc="-5">
                <a:solidFill>
                  <a:srgbClr val="0000FF"/>
                </a:solidFill>
                <a:latin typeface="Arial"/>
                <a:cs typeface="Arial"/>
              </a:rPr>
              <a:t>mortal.”</a:t>
            </a:r>
            <a:endParaRPr lang="en-US" sz="2000" spc="-5">
              <a:solidFill>
                <a:srgbClr val="0000FF"/>
              </a:solidFill>
              <a:latin typeface="Arial"/>
              <a:cs typeface="Arial"/>
            </a:endParaRPr>
          </a:p>
          <a:p>
            <a:pPr marL="756285" marR="5080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endParaRPr sz="2000">
              <a:latin typeface="Arial"/>
              <a:cs typeface="Arial"/>
            </a:endParaRPr>
          </a:p>
          <a:p>
            <a:pPr marL="356870" marR="5080" indent="-344170">
              <a:spcBef>
                <a:spcPts val="5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400" b="1">
                <a:solidFill>
                  <a:srgbClr val="C00000"/>
                </a:solidFill>
                <a:latin typeface="Arial"/>
                <a:cs typeface="Arial"/>
              </a:rPr>
              <a:t>Logicist approach to AI: </a:t>
            </a:r>
            <a:r>
              <a:rPr sz="2200">
                <a:latin typeface="Arial"/>
                <a:cs typeface="Arial"/>
              </a:rPr>
              <a:t>describe problem </a:t>
            </a:r>
            <a:r>
              <a:rPr sz="2200" spc="-5">
                <a:latin typeface="Arial"/>
                <a:cs typeface="Arial"/>
              </a:rPr>
              <a:t>in </a:t>
            </a:r>
            <a:r>
              <a:rPr sz="2200" spc="5">
                <a:latin typeface="Arial"/>
                <a:cs typeface="Arial"/>
              </a:rPr>
              <a:t>formal  </a:t>
            </a:r>
            <a:r>
              <a:rPr sz="2200" spc="-5">
                <a:latin typeface="Arial"/>
                <a:cs typeface="Arial"/>
              </a:rPr>
              <a:t>logical </a:t>
            </a:r>
            <a:r>
              <a:rPr sz="2200">
                <a:latin typeface="Arial"/>
                <a:cs typeface="Arial"/>
              </a:rPr>
              <a:t>notation and apply </a:t>
            </a:r>
            <a:r>
              <a:rPr sz="2200" spc="-5">
                <a:latin typeface="Arial"/>
                <a:cs typeface="Arial"/>
              </a:rPr>
              <a:t>general </a:t>
            </a:r>
            <a:r>
              <a:rPr sz="2200">
                <a:latin typeface="Arial"/>
                <a:cs typeface="Arial"/>
              </a:rPr>
              <a:t>deduction  procedures/rules to </a:t>
            </a:r>
            <a:r>
              <a:rPr sz="2200" spc="-10">
                <a:latin typeface="Arial"/>
                <a:cs typeface="Arial"/>
              </a:rPr>
              <a:t>solve</a:t>
            </a:r>
            <a:r>
              <a:rPr sz="2200" spc="-80">
                <a:latin typeface="Arial"/>
                <a:cs typeface="Arial"/>
              </a:rPr>
              <a:t> </a:t>
            </a:r>
            <a:r>
              <a:rPr sz="2200" spc="-5">
                <a:latin typeface="Arial"/>
                <a:cs typeface="Arial"/>
              </a:rPr>
              <a:t>it</a:t>
            </a:r>
            <a:endParaRPr lang="en-US" sz="2200" spc="-5">
              <a:latin typeface="Arial"/>
              <a:cs typeface="Arial"/>
            </a:endParaRPr>
          </a:p>
          <a:p>
            <a:pPr marL="356870" marR="5080" indent="-344170">
              <a:spcBef>
                <a:spcPts val="5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endParaRPr lang="en-US" sz="2400" spc="-5">
              <a:latin typeface="Arial"/>
              <a:cs typeface="Arial"/>
            </a:endParaRPr>
          </a:p>
          <a:p>
            <a:pPr marL="356870" marR="5080" indent="-344170">
              <a:spcBef>
                <a:spcPts val="5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endParaRPr lang="en-US" sz="2400" spc="-5">
              <a:latin typeface="Arial"/>
              <a:cs typeface="Arial"/>
            </a:endParaRPr>
          </a:p>
          <a:p>
            <a:pPr marL="356870" marR="5080" indent="-344170">
              <a:spcBef>
                <a:spcPts val="5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endParaRPr lang="en-US" sz="2400" spc="-5">
              <a:latin typeface="Arial"/>
              <a:cs typeface="Arial"/>
            </a:endParaRPr>
          </a:p>
          <a:p>
            <a:pPr marL="356870" marR="5080" indent="-344170">
              <a:spcBef>
                <a:spcPts val="56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endParaRPr sz="240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D8BA7-F34F-82A7-F21C-665E9D0C3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603" y="4049533"/>
            <a:ext cx="5305063" cy="335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308FE4-69E8-3F77-A457-0E8523CE3B11}"/>
              </a:ext>
            </a:extLst>
          </p:cNvPr>
          <p:cNvSpPr txBox="1"/>
          <p:nvPr/>
        </p:nvSpPr>
        <p:spPr>
          <a:xfrm>
            <a:off x="120934" y="4535864"/>
            <a:ext cx="792480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870" indent="-344170">
              <a:spcBef>
                <a:spcPts val="655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2200">
                <a:latin typeface="Arial"/>
                <a:cs typeface="Arial"/>
              </a:rPr>
              <a:t>Problems </a:t>
            </a:r>
            <a:r>
              <a:rPr lang="en-US" sz="2200" spc="15">
                <a:latin typeface="Arial"/>
                <a:cs typeface="Arial"/>
              </a:rPr>
              <a:t>with </a:t>
            </a:r>
            <a:r>
              <a:rPr lang="en-US" sz="2200" spc="-5">
                <a:latin typeface="Arial"/>
                <a:cs typeface="Arial"/>
              </a:rPr>
              <a:t>the </a:t>
            </a:r>
            <a:r>
              <a:rPr lang="en-US" sz="2200" err="1">
                <a:latin typeface="Arial"/>
                <a:cs typeface="Arial"/>
              </a:rPr>
              <a:t>logicist</a:t>
            </a:r>
            <a:r>
              <a:rPr lang="en-US" sz="2200" spc="-170">
                <a:latin typeface="Arial"/>
                <a:cs typeface="Arial"/>
              </a:rPr>
              <a:t> </a:t>
            </a:r>
            <a:r>
              <a:rPr lang="en-US" sz="2200">
                <a:latin typeface="Arial"/>
                <a:cs typeface="Arial"/>
              </a:rPr>
              <a:t>approach</a:t>
            </a:r>
          </a:p>
          <a:p>
            <a:pPr marL="927100" indent="-457200">
              <a:spcBef>
                <a:spcPts val="509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lang="en-US" sz="2200" spc="-5">
                <a:solidFill>
                  <a:srgbClr val="C00000"/>
                </a:solidFill>
                <a:latin typeface="Arial"/>
                <a:cs typeface="Arial"/>
              </a:rPr>
              <a:t>Computational complexity </a:t>
            </a:r>
            <a:r>
              <a:rPr lang="en-US" sz="2200" spc="-10">
                <a:latin typeface="Arial"/>
                <a:cs typeface="Arial"/>
              </a:rPr>
              <a:t>of finding the</a:t>
            </a:r>
            <a:r>
              <a:rPr lang="en-US" sz="2200" spc="105">
                <a:latin typeface="Arial"/>
                <a:cs typeface="Arial"/>
              </a:rPr>
              <a:t> </a:t>
            </a:r>
            <a:r>
              <a:rPr lang="en-US" sz="2200" spc="-10">
                <a:latin typeface="Arial"/>
                <a:cs typeface="Arial"/>
              </a:rPr>
              <a:t>solution</a:t>
            </a:r>
            <a:endParaRPr lang="en-US" sz="2200">
              <a:latin typeface="Arial"/>
              <a:cs typeface="Arial"/>
            </a:endParaRPr>
          </a:p>
          <a:p>
            <a:pPr marL="927100" marR="264160" indent="-457200">
              <a:spcBef>
                <a:spcPts val="47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lang="en-US" sz="2200" spc="-5">
                <a:latin typeface="Arial"/>
                <a:cs typeface="Arial"/>
              </a:rPr>
              <a:t>Describing </a:t>
            </a:r>
            <a:r>
              <a:rPr lang="en-US" sz="2200" spc="-10">
                <a:latin typeface="Arial"/>
                <a:cs typeface="Arial"/>
              </a:rPr>
              <a:t>real-world </a:t>
            </a:r>
            <a:r>
              <a:rPr lang="en-US" sz="2200" spc="-5">
                <a:latin typeface="Arial"/>
                <a:cs typeface="Arial"/>
              </a:rPr>
              <a:t>problems </a:t>
            </a:r>
            <a:r>
              <a:rPr lang="en-US" sz="2200" spc="-10">
                <a:latin typeface="Arial"/>
                <a:cs typeface="Arial"/>
              </a:rPr>
              <a:t>and knowledge in logical  notation; because </a:t>
            </a:r>
            <a:r>
              <a:rPr lang="en-US" sz="2200" spc="-5">
                <a:solidFill>
                  <a:srgbClr val="C00000"/>
                </a:solidFill>
                <a:latin typeface="Arial"/>
                <a:cs typeface="Arial"/>
              </a:rPr>
              <a:t>not all facts </a:t>
            </a:r>
            <a:r>
              <a:rPr lang="en-US" sz="2200" spc="-10">
                <a:solidFill>
                  <a:srgbClr val="C00000"/>
                </a:solidFill>
                <a:latin typeface="Arial"/>
                <a:cs typeface="Arial"/>
              </a:rPr>
              <a:t>are 100%</a:t>
            </a:r>
            <a:r>
              <a:rPr lang="en-US" sz="22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200" spc="-10">
                <a:solidFill>
                  <a:srgbClr val="C00000"/>
                </a:solidFill>
                <a:latin typeface="Arial"/>
                <a:cs typeface="Arial"/>
              </a:rPr>
              <a:t>true.</a:t>
            </a:r>
            <a:endParaRPr lang="en-US" sz="2200">
              <a:solidFill>
                <a:srgbClr val="C00000"/>
              </a:solidFill>
              <a:latin typeface="Arial"/>
              <a:cs typeface="Arial"/>
            </a:endParaRPr>
          </a:p>
          <a:p>
            <a:pPr marL="927100" indent="-457200">
              <a:spcBef>
                <a:spcPts val="47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lang="en-US" sz="2200" spc="-10">
                <a:latin typeface="Arial"/>
                <a:cs typeface="Arial"/>
              </a:rPr>
              <a:t>Dealing </a:t>
            </a:r>
            <a:r>
              <a:rPr lang="en-US" sz="2200" spc="-15">
                <a:latin typeface="Arial"/>
                <a:cs typeface="Arial"/>
              </a:rPr>
              <a:t>with </a:t>
            </a:r>
            <a:r>
              <a:rPr lang="en-US" sz="2200" spc="-10">
                <a:solidFill>
                  <a:srgbClr val="C00000"/>
                </a:solidFill>
                <a:latin typeface="Arial"/>
                <a:cs typeface="Arial"/>
              </a:rPr>
              <a:t>uncertainty/expected</a:t>
            </a:r>
            <a:r>
              <a:rPr lang="en-US" sz="2200" spc="2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200" spc="-5">
                <a:solidFill>
                  <a:srgbClr val="C00000"/>
                </a:solidFill>
                <a:latin typeface="Arial"/>
                <a:cs typeface="Arial"/>
              </a:rPr>
              <a:t>value</a:t>
            </a:r>
            <a:endParaRPr lang="en-US" sz="2200">
              <a:solidFill>
                <a:srgbClr val="C00000"/>
              </a:solidFill>
              <a:latin typeface="Arial"/>
              <a:cs typeface="Arial"/>
            </a:endParaRPr>
          </a:p>
          <a:p>
            <a:pPr marL="927100" indent="-457200"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lang="en-US" sz="2200" spc="-10">
                <a:latin typeface="Arial"/>
                <a:cs typeface="Arial"/>
              </a:rPr>
              <a:t>A lot of “rational” </a:t>
            </a:r>
            <a:r>
              <a:rPr lang="en-US" sz="2200" spc="-15">
                <a:latin typeface="Arial"/>
                <a:cs typeface="Arial"/>
              </a:rPr>
              <a:t>behavior </a:t>
            </a:r>
            <a:r>
              <a:rPr lang="en-US" sz="2200" spc="-10">
                <a:latin typeface="Arial"/>
                <a:cs typeface="Arial"/>
              </a:rPr>
              <a:t>has nothing </a:t>
            </a:r>
            <a:r>
              <a:rPr lang="en-US" sz="2200" spc="-5">
                <a:latin typeface="Arial"/>
                <a:cs typeface="Arial"/>
              </a:rPr>
              <a:t>to </a:t>
            </a:r>
            <a:r>
              <a:rPr lang="en-US" sz="2200" spc="-10">
                <a:latin typeface="Arial"/>
                <a:cs typeface="Arial"/>
              </a:rPr>
              <a:t>do </a:t>
            </a:r>
            <a:r>
              <a:rPr lang="en-US" sz="2200" spc="-15">
                <a:latin typeface="Arial"/>
                <a:cs typeface="Arial"/>
              </a:rPr>
              <a:t>with</a:t>
            </a:r>
            <a:r>
              <a:rPr lang="en-US" sz="2200" spc="370">
                <a:latin typeface="Arial"/>
                <a:cs typeface="Arial"/>
              </a:rPr>
              <a:t> </a:t>
            </a:r>
            <a:r>
              <a:rPr lang="en-US" sz="2200" spc="-10">
                <a:latin typeface="Arial"/>
                <a:cs typeface="Arial"/>
              </a:rPr>
              <a:t>logic.</a:t>
            </a:r>
            <a:endParaRPr lang="en-US"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2600" y="228600"/>
            <a:ext cx="617156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AI </a:t>
            </a:r>
            <a:r>
              <a:rPr sz="3400">
                <a:latin typeface="Arial"/>
                <a:cs typeface="Arial"/>
              </a:rPr>
              <a:t>definition 04: Acting</a:t>
            </a:r>
            <a:r>
              <a:rPr sz="3400" spc="-15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rationally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800" y="1463742"/>
            <a:ext cx="11811000" cy="4414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sz="2800" i="1">
                <a:solidFill>
                  <a:srgbClr val="C00000"/>
                </a:solidFill>
                <a:latin typeface="Arial"/>
                <a:cs typeface="Arial"/>
              </a:rPr>
              <a:t>rational agent </a:t>
            </a:r>
            <a:r>
              <a:rPr sz="2800">
                <a:solidFill>
                  <a:srgbClr val="C00000"/>
                </a:solidFill>
                <a:latin typeface="Arial"/>
                <a:cs typeface="Arial"/>
              </a:rPr>
              <a:t>acts to optimally </a:t>
            </a:r>
            <a:r>
              <a:rPr sz="2800" spc="-5">
                <a:solidFill>
                  <a:srgbClr val="C00000"/>
                </a:solidFill>
                <a:latin typeface="Arial"/>
                <a:cs typeface="Arial"/>
              </a:rPr>
              <a:t>achieve its</a:t>
            </a:r>
            <a:r>
              <a:rPr sz="2800" spc="-1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C00000"/>
                </a:solidFill>
                <a:latin typeface="Arial"/>
                <a:cs typeface="Arial"/>
              </a:rPr>
              <a:t>goals</a:t>
            </a:r>
            <a:endParaRPr sz="2800">
              <a:solidFill>
                <a:srgbClr val="C00000"/>
              </a:solidFill>
              <a:latin typeface="Arial"/>
              <a:cs typeface="Arial"/>
            </a:endParaRPr>
          </a:p>
          <a:p>
            <a:pPr marL="756285" marR="32384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10">
                <a:latin typeface="Arial"/>
                <a:cs typeface="Arial"/>
              </a:rPr>
              <a:t>Goals </a:t>
            </a:r>
            <a:r>
              <a:rPr sz="2400" spc="-5">
                <a:latin typeface="Arial"/>
                <a:cs typeface="Arial"/>
              </a:rPr>
              <a:t>are </a:t>
            </a:r>
            <a:r>
              <a:rPr sz="2400" spc="-10">
                <a:latin typeface="Arial"/>
                <a:cs typeface="Arial"/>
              </a:rPr>
              <a:t>application-dependent and </a:t>
            </a:r>
            <a:r>
              <a:rPr sz="2400" spc="-5">
                <a:latin typeface="Arial"/>
                <a:cs typeface="Arial"/>
              </a:rPr>
              <a:t>are expressed </a:t>
            </a:r>
            <a:r>
              <a:rPr sz="2400" spc="-10">
                <a:latin typeface="Arial"/>
                <a:cs typeface="Arial"/>
              </a:rPr>
              <a:t>in </a:t>
            </a:r>
            <a:r>
              <a:rPr sz="2400">
                <a:latin typeface="Arial"/>
                <a:cs typeface="Arial"/>
              </a:rPr>
              <a:t>terms  </a:t>
            </a:r>
            <a:r>
              <a:rPr sz="2400" spc="-10">
                <a:latin typeface="Arial"/>
                <a:cs typeface="Arial"/>
              </a:rPr>
              <a:t>of </a:t>
            </a:r>
            <a:r>
              <a:rPr sz="2400" spc="-10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sz="2400" spc="-5">
                <a:solidFill>
                  <a:srgbClr val="C00000"/>
                </a:solidFill>
                <a:latin typeface="Arial"/>
                <a:cs typeface="Arial"/>
              </a:rPr>
              <a:t>utility of</a:t>
            </a:r>
            <a:r>
              <a:rPr sz="2400" spc="-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>
                <a:solidFill>
                  <a:srgbClr val="C00000"/>
                </a:solidFill>
                <a:latin typeface="Arial"/>
                <a:cs typeface="Arial"/>
              </a:rPr>
              <a:t>outcomes</a:t>
            </a:r>
            <a:endParaRPr sz="2400">
              <a:solidFill>
                <a:srgbClr val="C00000"/>
              </a:solidFill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har char="•"/>
              <a:tabLst>
                <a:tab pos="756285" algn="l"/>
                <a:tab pos="756920" algn="l"/>
              </a:tabLst>
            </a:pPr>
            <a:r>
              <a:rPr sz="2400" spc="-15">
                <a:latin typeface="Arial"/>
                <a:cs typeface="Arial"/>
              </a:rPr>
              <a:t>Being </a:t>
            </a:r>
            <a:r>
              <a:rPr sz="2400" spc="-10">
                <a:latin typeface="Arial"/>
                <a:cs typeface="Arial"/>
              </a:rPr>
              <a:t>rational </a:t>
            </a:r>
            <a:r>
              <a:rPr sz="2400">
                <a:latin typeface="Arial"/>
                <a:cs typeface="Arial"/>
              </a:rPr>
              <a:t>means </a:t>
            </a:r>
            <a:r>
              <a:rPr sz="2400" spc="-5">
                <a:solidFill>
                  <a:srgbClr val="C00000"/>
                </a:solidFill>
                <a:latin typeface="Arial"/>
                <a:cs typeface="Arial"/>
              </a:rPr>
              <a:t>maximizing </a:t>
            </a:r>
            <a:r>
              <a:rPr sz="2400" spc="-10">
                <a:solidFill>
                  <a:srgbClr val="C00000"/>
                </a:solidFill>
                <a:latin typeface="Arial"/>
                <a:cs typeface="Arial"/>
              </a:rPr>
              <a:t>your </a:t>
            </a:r>
            <a:r>
              <a:rPr sz="2400" spc="-5">
                <a:solidFill>
                  <a:srgbClr val="C00000"/>
                </a:solidFill>
                <a:latin typeface="Arial"/>
                <a:cs typeface="Arial"/>
              </a:rPr>
              <a:t>(expected)</a:t>
            </a:r>
            <a:r>
              <a:rPr sz="2400" spc="1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>
                <a:solidFill>
                  <a:srgbClr val="C00000"/>
                </a:solidFill>
                <a:latin typeface="Arial"/>
                <a:cs typeface="Arial"/>
              </a:rPr>
              <a:t>utility</a:t>
            </a:r>
            <a:endParaRPr lang="en-US" sz="2400" spc="-5">
              <a:solidFill>
                <a:srgbClr val="C00000"/>
              </a:solidFill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har char="•"/>
              <a:tabLst>
                <a:tab pos="756285" algn="l"/>
                <a:tab pos="756920" algn="l"/>
              </a:tabLst>
            </a:pPr>
            <a:endParaRPr lang="en-US" sz="2400"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har char="•"/>
              <a:tabLst>
                <a:tab pos="756285" algn="l"/>
                <a:tab pos="756920" algn="l"/>
              </a:tabLst>
            </a:pPr>
            <a:endParaRPr lang="en-US" sz="2400"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har char="•"/>
              <a:tabLst>
                <a:tab pos="756285" algn="l"/>
                <a:tab pos="756920" algn="l"/>
              </a:tabLst>
            </a:pPr>
            <a:endParaRPr sz="2400">
              <a:latin typeface="Arial"/>
              <a:cs typeface="Arial"/>
            </a:endParaRPr>
          </a:p>
          <a:p>
            <a:pPr marL="356870" marR="585470" indent="-344170">
              <a:spcBef>
                <a:spcPts val="55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Arial"/>
                <a:cs typeface="Arial"/>
              </a:rPr>
              <a:t>This definition of </a:t>
            </a:r>
            <a:r>
              <a:rPr sz="2800" spc="-5">
                <a:latin typeface="Arial"/>
                <a:cs typeface="Arial"/>
              </a:rPr>
              <a:t>rationality </a:t>
            </a:r>
            <a:r>
              <a:rPr sz="2800">
                <a:latin typeface="Arial"/>
                <a:cs typeface="Arial"/>
              </a:rPr>
              <a:t>only concerns the  decisions/actions that </a:t>
            </a:r>
            <a:r>
              <a:rPr sz="2800" spc="-5">
                <a:latin typeface="Arial"/>
                <a:cs typeface="Arial"/>
              </a:rPr>
              <a:t>are </a:t>
            </a:r>
            <a:r>
              <a:rPr sz="2800" spc="5">
                <a:latin typeface="Arial"/>
                <a:cs typeface="Arial"/>
              </a:rPr>
              <a:t>made, </a:t>
            </a:r>
            <a:r>
              <a:rPr sz="2800">
                <a:latin typeface="Arial"/>
                <a:cs typeface="Arial"/>
              </a:rPr>
              <a:t>not the</a:t>
            </a:r>
            <a:r>
              <a:rPr sz="2800" spc="-210">
                <a:latin typeface="Arial"/>
                <a:cs typeface="Arial"/>
              </a:rPr>
              <a:t> </a:t>
            </a:r>
            <a:r>
              <a:rPr sz="2800" spc="-5">
                <a:latin typeface="Arial"/>
                <a:cs typeface="Arial"/>
              </a:rPr>
              <a:t>cognitive  </a:t>
            </a:r>
            <a:r>
              <a:rPr sz="2800">
                <a:latin typeface="Arial"/>
                <a:cs typeface="Arial"/>
              </a:rPr>
              <a:t>process behind</a:t>
            </a:r>
            <a:r>
              <a:rPr sz="2800" spc="-100">
                <a:latin typeface="Arial"/>
                <a:cs typeface="Arial"/>
              </a:rPr>
              <a:t> </a:t>
            </a:r>
            <a:r>
              <a:rPr sz="2800">
                <a:latin typeface="Arial"/>
                <a:cs typeface="Arial"/>
              </a:rPr>
              <a:t>them</a:t>
            </a:r>
            <a:r>
              <a:rPr lang="en-US" sz="2800">
                <a:latin typeface="Arial"/>
                <a:cs typeface="Arial"/>
              </a:rPr>
              <a:t>.</a:t>
            </a:r>
          </a:p>
          <a:p>
            <a:pPr marL="356870" marR="585470" indent="-344170">
              <a:spcBef>
                <a:spcPts val="555"/>
              </a:spcBef>
              <a:buChar char="•"/>
              <a:tabLst>
                <a:tab pos="356870" algn="l"/>
                <a:tab pos="357505" algn="l"/>
              </a:tabLst>
            </a:pP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8928" y="58679"/>
            <a:ext cx="387974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5"/>
              <a:t>History </a:t>
            </a:r>
            <a:r>
              <a:t>of</a:t>
            </a:r>
            <a:r>
              <a:rPr spc="-60"/>
              <a:t> </a:t>
            </a:r>
            <a:r>
              <a:rPr spc="-5"/>
              <a:t>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55F12-A806-F188-C881-ACA5B64EC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216" y="735787"/>
            <a:ext cx="8992183" cy="69779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1"/>
            <a:ext cx="7312661" cy="754053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/>
            <a:r>
              <a:rPr spc="-15"/>
              <a:t>History </a:t>
            </a:r>
            <a:r>
              <a:t>of</a:t>
            </a:r>
            <a:r>
              <a:rPr spc="-60"/>
              <a:t> </a:t>
            </a:r>
            <a:r>
              <a:rPr spc="-5"/>
              <a:t>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18243-46A2-41E2-375B-8554708F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029065"/>
            <a:ext cx="10972800" cy="57142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6200" y="545310"/>
            <a:ext cx="36576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pc="-114">
                <a:latin typeface="Tahoma"/>
                <a:cs typeface="Tahoma"/>
              </a:rPr>
              <a:t>Deep</a:t>
            </a:r>
            <a:r>
              <a:rPr spc="23">
                <a:latin typeface="Tahoma"/>
                <a:cs typeface="Tahoma"/>
              </a:rPr>
              <a:t> </a:t>
            </a:r>
            <a:r>
              <a:rPr spc="-107">
                <a:latin typeface="Tahoma"/>
                <a:cs typeface="Tahoma"/>
              </a:rPr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584200" y="1378868"/>
            <a:ext cx="1981200" cy="1598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71"/>
          </a:p>
        </p:txBody>
      </p:sp>
      <p:sp>
        <p:nvSpPr>
          <p:cNvPr id="4" name="object 4"/>
          <p:cNvSpPr txBox="1"/>
          <p:nvPr/>
        </p:nvSpPr>
        <p:spPr>
          <a:xfrm>
            <a:off x="2946400" y="1756904"/>
            <a:ext cx="104394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z="2400" spc="-87">
                <a:latin typeface="Tahoma"/>
                <a:cs typeface="Tahoma"/>
              </a:rPr>
              <a:t>2006:  </a:t>
            </a:r>
            <a:r>
              <a:rPr sz="2400" spc="-69">
                <a:latin typeface="Tahoma"/>
                <a:cs typeface="Tahoma"/>
              </a:rPr>
              <a:t>unsupervised </a:t>
            </a:r>
            <a:r>
              <a:rPr sz="2400" spc="-80">
                <a:latin typeface="Tahoma"/>
                <a:cs typeface="Tahoma"/>
              </a:rPr>
              <a:t>layerwise </a:t>
            </a:r>
            <a:r>
              <a:rPr sz="2400" spc="-46">
                <a:latin typeface="Tahoma"/>
                <a:cs typeface="Tahoma"/>
              </a:rPr>
              <a:t>pre-training of </a:t>
            </a:r>
            <a:r>
              <a:rPr sz="2400" spc="-103">
                <a:latin typeface="Tahoma"/>
                <a:cs typeface="Tahoma"/>
              </a:rPr>
              <a:t>deep </a:t>
            </a:r>
            <a:r>
              <a:rPr sz="2400" spc="-80">
                <a:latin typeface="Tahoma"/>
                <a:cs typeface="Tahoma"/>
              </a:rPr>
              <a:t>networks </a:t>
            </a:r>
            <a:r>
              <a:rPr sz="2400" spc="-4">
                <a:latin typeface="Tahoma"/>
                <a:cs typeface="Tahoma"/>
              </a:rPr>
              <a:t>(Hinton </a:t>
            </a:r>
            <a:r>
              <a:rPr sz="2400" spc="-42">
                <a:latin typeface="Tahoma"/>
                <a:cs typeface="Tahoma"/>
              </a:rPr>
              <a:t>et </a:t>
            </a:r>
            <a:r>
              <a:rPr sz="2400" spc="137">
                <a:latin typeface="Tahoma"/>
                <a:cs typeface="Tahoma"/>
              </a:rPr>
              <a:t> </a:t>
            </a:r>
            <a:r>
              <a:rPr sz="2400" spc="-19">
                <a:latin typeface="Tahoma"/>
                <a:cs typeface="Tahoma"/>
              </a:rPr>
              <a:t>al.)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013" y="3311178"/>
            <a:ext cx="1579291" cy="1219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71"/>
          </a:p>
        </p:txBody>
      </p:sp>
      <p:sp>
        <p:nvSpPr>
          <p:cNvPr id="6" name="object 6"/>
          <p:cNvSpPr txBox="1"/>
          <p:nvPr/>
        </p:nvSpPr>
        <p:spPr>
          <a:xfrm>
            <a:off x="2941471" y="3505200"/>
            <a:ext cx="10023115" cy="568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 marR="3868">
              <a:lnSpc>
                <a:spcPct val="101499"/>
              </a:lnSpc>
            </a:pPr>
            <a:r>
              <a:rPr sz="1904" spc="-87">
                <a:latin typeface="Tahoma"/>
                <a:cs typeface="Tahoma"/>
              </a:rPr>
              <a:t>2012: </a:t>
            </a:r>
            <a:r>
              <a:rPr sz="1904" spc="-4">
                <a:latin typeface="Tahoma"/>
                <a:cs typeface="Tahoma"/>
              </a:rPr>
              <a:t>AlexNet </a:t>
            </a:r>
            <a:r>
              <a:rPr sz="1904" spc="-42">
                <a:latin typeface="Tahoma"/>
                <a:cs typeface="Tahoma"/>
              </a:rPr>
              <a:t>obtains </a:t>
            </a:r>
            <a:r>
              <a:rPr sz="1904" spc="-91">
                <a:latin typeface="Tahoma"/>
                <a:cs typeface="Tahoma"/>
              </a:rPr>
              <a:t>huge </a:t>
            </a:r>
            <a:r>
              <a:rPr sz="1904" spc="-65">
                <a:latin typeface="Tahoma"/>
                <a:cs typeface="Tahoma"/>
              </a:rPr>
              <a:t>gains </a:t>
            </a:r>
            <a:r>
              <a:rPr sz="1904" spc="-23">
                <a:latin typeface="Tahoma"/>
                <a:cs typeface="Tahoma"/>
              </a:rPr>
              <a:t>in </a:t>
            </a:r>
            <a:r>
              <a:rPr sz="1904" spc="-42">
                <a:latin typeface="Tahoma"/>
                <a:cs typeface="Tahoma"/>
              </a:rPr>
              <a:t>object </a:t>
            </a:r>
            <a:r>
              <a:rPr sz="1904" spc="-49">
                <a:latin typeface="Tahoma"/>
                <a:cs typeface="Tahoma"/>
              </a:rPr>
              <a:t>recognition; </a:t>
            </a:r>
            <a:r>
              <a:rPr sz="1904" spc="-61">
                <a:latin typeface="Tahoma"/>
                <a:cs typeface="Tahoma"/>
              </a:rPr>
              <a:t>transformed </a:t>
            </a:r>
            <a:r>
              <a:rPr sz="1904" spc="-49">
                <a:latin typeface="Tahoma"/>
                <a:cs typeface="Tahoma"/>
              </a:rPr>
              <a:t>computer </a:t>
            </a:r>
            <a:r>
              <a:rPr sz="1904" spc="-42">
                <a:latin typeface="Tahoma"/>
                <a:cs typeface="Tahoma"/>
              </a:rPr>
              <a:t>vision  community</a:t>
            </a:r>
            <a:r>
              <a:rPr sz="1904">
                <a:latin typeface="Tahoma"/>
                <a:cs typeface="Tahoma"/>
              </a:rPr>
              <a:t> </a:t>
            </a:r>
            <a:r>
              <a:rPr sz="1904" spc="-49">
                <a:latin typeface="Tahoma"/>
                <a:cs typeface="Tahoma"/>
              </a:rPr>
              <a:t>overnight</a:t>
            </a:r>
            <a:endParaRPr sz="190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8656" y="5409920"/>
            <a:ext cx="1656743" cy="1219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71"/>
          </a:p>
        </p:txBody>
      </p:sp>
      <p:sp>
        <p:nvSpPr>
          <p:cNvPr id="8" name="object 8"/>
          <p:cNvSpPr txBox="1"/>
          <p:nvPr/>
        </p:nvSpPr>
        <p:spPr>
          <a:xfrm>
            <a:off x="3098800" y="5492996"/>
            <a:ext cx="9810144" cy="285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 marR="3868">
              <a:lnSpc>
                <a:spcPct val="101499"/>
              </a:lnSpc>
            </a:pPr>
            <a:r>
              <a:rPr sz="2000" spc="-87">
                <a:latin typeface="Tahoma"/>
                <a:cs typeface="Tahoma"/>
              </a:rPr>
              <a:t>2016: </a:t>
            </a:r>
            <a:r>
              <a:rPr sz="2000" spc="-11">
                <a:latin typeface="Tahoma"/>
                <a:cs typeface="Tahoma"/>
              </a:rPr>
              <a:t>AlphaGo </a:t>
            </a:r>
            <a:r>
              <a:rPr sz="2000" spc="-110">
                <a:latin typeface="Tahoma"/>
                <a:cs typeface="Tahoma"/>
              </a:rPr>
              <a:t>uses </a:t>
            </a:r>
            <a:r>
              <a:rPr sz="2000" spc="-103">
                <a:latin typeface="Tahoma"/>
                <a:cs typeface="Tahoma"/>
              </a:rPr>
              <a:t>deep </a:t>
            </a:r>
            <a:r>
              <a:rPr sz="2000" spc="-61">
                <a:latin typeface="Tahoma"/>
                <a:cs typeface="Tahoma"/>
              </a:rPr>
              <a:t>reinforcement </a:t>
            </a:r>
            <a:r>
              <a:rPr sz="2000" spc="-57">
                <a:latin typeface="Tahoma"/>
                <a:cs typeface="Tahoma"/>
              </a:rPr>
              <a:t>learning, </a:t>
            </a:r>
            <a:r>
              <a:rPr sz="2000" spc="-65">
                <a:latin typeface="Tahoma"/>
                <a:cs typeface="Tahoma"/>
              </a:rPr>
              <a:t>defeat </a:t>
            </a:r>
            <a:r>
              <a:rPr sz="2000" spc="-69">
                <a:latin typeface="Tahoma"/>
                <a:cs typeface="Tahoma"/>
              </a:rPr>
              <a:t>world </a:t>
            </a:r>
            <a:r>
              <a:rPr sz="2000" spc="-49">
                <a:latin typeface="Tahoma"/>
                <a:cs typeface="Tahoma"/>
              </a:rPr>
              <a:t>champion </a:t>
            </a:r>
            <a:r>
              <a:rPr sz="2000" spc="-65">
                <a:latin typeface="Tahoma"/>
                <a:cs typeface="Tahoma"/>
              </a:rPr>
              <a:t>Lee </a:t>
            </a:r>
            <a:r>
              <a:rPr sz="2000" spc="-49">
                <a:latin typeface="Tahoma"/>
                <a:cs typeface="Tahoma"/>
              </a:rPr>
              <a:t>Sedol </a:t>
            </a:r>
            <a:r>
              <a:rPr sz="2000" spc="-23">
                <a:latin typeface="Tahoma"/>
                <a:cs typeface="Tahoma"/>
              </a:rPr>
              <a:t>in  </a:t>
            </a:r>
            <a:r>
              <a:rPr sz="2000" spc="-30">
                <a:latin typeface="Tahoma"/>
                <a:cs typeface="Tahoma"/>
              </a:rPr>
              <a:t>Go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8100" y="3251200"/>
            <a:ext cx="611886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/>
              <a:t>Success </a:t>
            </a:r>
            <a:r>
              <a:rPr b="1" spc="-15"/>
              <a:t>Stories </a:t>
            </a:r>
            <a:r>
              <a:rPr b="1" spc="-5"/>
              <a:t>AI</a:t>
            </a:r>
            <a:r>
              <a:rPr b="1" spc="-10"/>
              <a:t> </a:t>
            </a:r>
            <a:r>
              <a:rPr b="1" spc="-35"/>
              <a:t>Systems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46600" y="116678"/>
            <a:ext cx="311848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>
                <a:latin typeface="Arial"/>
                <a:cs typeface="Arial"/>
              </a:rPr>
              <a:t>Self-driving</a:t>
            </a:r>
            <a:r>
              <a:rPr sz="3400" spc="-135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cars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28788" y="5235448"/>
            <a:ext cx="3154680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Google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plans to assemble </a:t>
            </a:r>
            <a:r>
              <a:rPr sz="1400" u="sng" spc="-5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test fleet of  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100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electric 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two-seat </a:t>
            </a:r>
            <a:r>
              <a:rPr sz="1400" u="sng" spc="-20">
                <a:solidFill>
                  <a:srgbClr val="0000FF"/>
                </a:solidFill>
                <a:latin typeface="Arial"/>
                <a:cs typeface="Arial"/>
              </a:rPr>
              <a:t>prototypes </a:t>
            </a:r>
            <a:r>
              <a:rPr sz="1400" u="sng" spc="-5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400" u="sng" spc="25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2015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59903" y="1749551"/>
            <a:ext cx="3971544" cy="3294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7484" y="6293104"/>
            <a:ext cx="2266950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0" marR="5080" indent="-368935"/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Uber 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employee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of the 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future:  </a:t>
            </a:r>
            <a:r>
              <a:rPr sz="1400" u="sng" spc="-5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self-driving</a:t>
            </a:r>
            <a:r>
              <a:rPr sz="1400" u="sng" spc="-1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car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86151" y="1749551"/>
            <a:ext cx="4657344" cy="3389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31364" y="5226305"/>
            <a:ext cx="4495165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 marR="5080" indent="-421005"/>
            <a:r>
              <a:rPr sz="1400" u="sng" spc="-10">
                <a:solidFill>
                  <a:srgbClr val="0000FF"/>
                </a:solidFill>
                <a:latin typeface="Arial"/>
                <a:cs typeface="Arial"/>
                <a:hlinkClick r:id="rId4"/>
              </a:rPr>
              <a:t>http://www.technologyreview.com/featuredstory/520431/d </a:t>
            </a:r>
            <a:r>
              <a:rPr sz="1400" u="sng" spc="-10">
                <a:solidFill>
                  <a:srgbClr val="0000FF"/>
                </a:solidFill>
                <a:latin typeface="Arial"/>
                <a:cs typeface="Arial"/>
              </a:rPr>
              <a:t> riverless-cars-are-further-away-than-you-think/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8400" y="151320"/>
            <a:ext cx="566801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5">
                <a:latin typeface="Arial"/>
                <a:cs typeface="Arial"/>
              </a:rPr>
              <a:t>Speech </a:t>
            </a:r>
            <a:r>
              <a:rPr sz="3400">
                <a:latin typeface="Arial"/>
                <a:cs typeface="Arial"/>
              </a:rPr>
              <a:t>and </a:t>
            </a:r>
            <a:r>
              <a:rPr sz="3400" spc="-5">
                <a:latin typeface="Arial"/>
                <a:cs typeface="Arial"/>
              </a:rPr>
              <a:t>natural</a:t>
            </a:r>
            <a:r>
              <a:rPr sz="3400" spc="-120">
                <a:latin typeface="Arial"/>
                <a:cs typeface="Arial"/>
              </a:rPr>
              <a:t> </a:t>
            </a:r>
            <a:r>
              <a:rPr sz="3400">
                <a:latin typeface="Arial"/>
                <a:cs typeface="Arial"/>
              </a:rPr>
              <a:t>language</a:t>
            </a:r>
          </a:p>
        </p:txBody>
      </p:sp>
      <p:sp>
        <p:nvSpPr>
          <p:cNvPr id="4" name="object 4"/>
          <p:cNvSpPr/>
          <p:nvPr/>
        </p:nvSpPr>
        <p:spPr>
          <a:xfrm>
            <a:off x="3098800" y="2508504"/>
            <a:ext cx="2673096" cy="4227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11781" y="6903719"/>
            <a:ext cx="326262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b="1" u="heavy" spc="-5">
                <a:solidFill>
                  <a:srgbClr val="0000FF"/>
                </a:solidFill>
                <a:latin typeface="Arial"/>
                <a:cs typeface="Arial"/>
                <a:hlinkClick r:id="rId3"/>
              </a:rPr>
              <a:t>http://www.skype.com/en/translator-preview/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6503" y="1520952"/>
            <a:ext cx="2983992" cy="1438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10755" y="6903720"/>
            <a:ext cx="4008120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8055" marR="5080" indent="-935990"/>
            <a:r>
              <a:rPr sz="1200" b="1" u="heavy">
                <a:solidFill>
                  <a:srgbClr val="0000FF"/>
                </a:solidFill>
                <a:latin typeface="Arial"/>
                <a:cs typeface="Arial"/>
                <a:hlinkClick r:id="rId5"/>
              </a:rPr>
              <a:t>http://googleblog.blogspot.com/2015/01/hallo-hola-ola- </a:t>
            </a:r>
            <a:r>
              <a:rPr sz="1200" b="1" u="heavy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u="heavy" spc="-5">
                <a:solidFill>
                  <a:srgbClr val="0000FF"/>
                </a:solidFill>
                <a:latin typeface="Arial"/>
                <a:cs typeface="Arial"/>
              </a:rPr>
              <a:t>more-powerful-translate.html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90511" y="1441703"/>
            <a:ext cx="3834384" cy="21061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78903" y="3578352"/>
            <a:ext cx="3666744" cy="13014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90589" y="5302505"/>
            <a:ext cx="3804285" cy="54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880" indent="-170180">
              <a:buFont typeface="Arial"/>
              <a:buChar char="•"/>
              <a:tabLst>
                <a:tab pos="183515" algn="l"/>
              </a:tabLst>
            </a:pPr>
            <a:r>
              <a:rPr sz="1400" b="1" spc="-15">
                <a:latin typeface="Arial"/>
                <a:cs typeface="Arial"/>
              </a:rPr>
              <a:t>Instant translation </a:t>
            </a:r>
            <a:r>
              <a:rPr sz="1400" b="1" spc="-10">
                <a:latin typeface="Arial"/>
                <a:cs typeface="Arial"/>
              </a:rPr>
              <a:t>with </a:t>
            </a:r>
            <a:r>
              <a:rPr sz="1400" b="1" spc="-15">
                <a:latin typeface="Arial"/>
                <a:cs typeface="Arial"/>
              </a:rPr>
              <a:t>Word</a:t>
            </a:r>
            <a:r>
              <a:rPr sz="1400" b="1" spc="170">
                <a:latin typeface="Arial"/>
                <a:cs typeface="Arial"/>
              </a:rPr>
              <a:t> </a:t>
            </a:r>
            <a:r>
              <a:rPr sz="1400" b="1" spc="-15">
                <a:latin typeface="Arial"/>
                <a:cs typeface="Arial"/>
              </a:rPr>
              <a:t>Lens</a:t>
            </a:r>
            <a:endParaRPr sz="1400">
              <a:latin typeface="Arial"/>
              <a:cs typeface="Arial"/>
            </a:endParaRPr>
          </a:p>
          <a:p>
            <a:pPr marL="182880" indent="-170180">
              <a:spcBef>
                <a:spcPts val="840"/>
              </a:spcBef>
              <a:buFont typeface="Arial"/>
              <a:buChar char="•"/>
              <a:tabLst>
                <a:tab pos="183515" algn="l"/>
              </a:tabLst>
            </a:pPr>
            <a:r>
              <a:rPr sz="1400" b="1" spc="-15">
                <a:latin typeface="Arial"/>
                <a:cs typeface="Arial"/>
              </a:rPr>
              <a:t>Have </a:t>
            </a:r>
            <a:r>
              <a:rPr sz="1400" b="1" spc="-5">
                <a:latin typeface="Arial"/>
                <a:cs typeface="Arial"/>
              </a:rPr>
              <a:t>a </a:t>
            </a:r>
            <a:r>
              <a:rPr sz="1400" b="1" spc="-15">
                <a:latin typeface="Arial"/>
                <a:cs typeface="Arial"/>
              </a:rPr>
              <a:t>conversation </a:t>
            </a:r>
            <a:r>
              <a:rPr sz="1400" b="1" spc="-10">
                <a:latin typeface="Arial"/>
                <a:cs typeface="Arial"/>
              </a:rPr>
              <a:t>with </a:t>
            </a:r>
            <a:r>
              <a:rPr sz="1400" b="1" spc="-15">
                <a:latin typeface="Arial"/>
                <a:cs typeface="Arial"/>
              </a:rPr>
              <a:t>Google</a:t>
            </a:r>
            <a:r>
              <a:rPr sz="1400" b="1" spc="190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Translate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4388" y="683769"/>
            <a:ext cx="120777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10">
                <a:latin typeface="Arial"/>
                <a:cs typeface="Arial"/>
              </a:rPr>
              <a:t>Vi</a:t>
            </a:r>
            <a:r>
              <a:rPr sz="3400">
                <a:latin typeface="Arial"/>
                <a:cs typeface="Arial"/>
              </a:rPr>
              <a:t>s</a:t>
            </a:r>
            <a:r>
              <a:rPr sz="3400" spc="10">
                <a:latin typeface="Arial"/>
                <a:cs typeface="Arial"/>
              </a:rPr>
              <a:t>i</a:t>
            </a:r>
            <a:r>
              <a:rPr sz="3400">
                <a:latin typeface="Arial"/>
                <a:cs typeface="Arial"/>
              </a:rPr>
              <a:t>on</a:t>
            </a:r>
          </a:p>
        </p:txBody>
      </p:sp>
      <p:sp>
        <p:nvSpPr>
          <p:cNvPr id="5" name="object 5"/>
          <p:cNvSpPr/>
          <p:nvPr/>
        </p:nvSpPr>
        <p:spPr>
          <a:xfrm>
            <a:off x="7972552" y="4642103"/>
            <a:ext cx="3297936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6503" y="1441703"/>
            <a:ext cx="7229856" cy="3060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870A259-391D-7165-4A37-D0B220BDDCC6}"/>
              </a:ext>
            </a:extLst>
          </p:cNvPr>
          <p:cNvSpPr/>
          <p:nvPr/>
        </p:nvSpPr>
        <p:spPr>
          <a:xfrm>
            <a:off x="1899479" y="3733801"/>
            <a:ext cx="1486983" cy="3751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1040" y="590267"/>
            <a:ext cx="486856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pc="-65">
                <a:latin typeface="Cambria"/>
                <a:cs typeface="Cambria"/>
              </a:rPr>
              <a:t>Healthcare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46B98C-53ED-BC0C-4AD1-20E072FB07C7}"/>
              </a:ext>
            </a:extLst>
          </p:cNvPr>
          <p:cNvGrpSpPr/>
          <p:nvPr/>
        </p:nvGrpSpPr>
        <p:grpSpPr>
          <a:xfrm>
            <a:off x="1965374" y="1524000"/>
            <a:ext cx="8982026" cy="4961536"/>
            <a:chOff x="3833400" y="2079651"/>
            <a:chExt cx="6156041" cy="4017874"/>
          </a:xfrm>
        </p:grpSpPr>
        <p:sp>
          <p:nvSpPr>
            <p:cNvPr id="3" name="object 3"/>
            <p:cNvSpPr txBox="1"/>
            <p:nvPr/>
          </p:nvSpPr>
          <p:spPr>
            <a:xfrm>
              <a:off x="6031812" y="2079651"/>
              <a:ext cx="1759253" cy="2930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9671"/>
              <a:r>
                <a:rPr sz="1904" b="1" spc="-42">
                  <a:solidFill>
                    <a:srgbClr val="FFA500"/>
                  </a:solidFill>
                  <a:latin typeface="Gill Sans MT"/>
                  <a:cs typeface="Gill Sans MT"/>
                </a:rPr>
                <a:t>Chest</a:t>
              </a:r>
              <a:r>
                <a:rPr sz="1904" b="1" spc="141">
                  <a:solidFill>
                    <a:srgbClr val="FFA500"/>
                  </a:solidFill>
                  <a:latin typeface="Gill Sans MT"/>
                  <a:cs typeface="Gill Sans MT"/>
                </a:rPr>
                <a:t> </a:t>
              </a:r>
              <a:r>
                <a:rPr sz="1904" b="1" spc="-38">
                  <a:solidFill>
                    <a:srgbClr val="FFA500"/>
                  </a:solidFill>
                  <a:latin typeface="Gill Sans MT"/>
                  <a:cs typeface="Gill Sans MT"/>
                </a:rPr>
                <a:t>radiology</a:t>
              </a:r>
              <a:endParaRPr sz="1904">
                <a:latin typeface="Gill Sans MT"/>
                <a:cs typeface="Gill Sans M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456991" y="2416892"/>
              <a:ext cx="2908477" cy="13889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71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833400" y="4303626"/>
              <a:ext cx="2326489" cy="2930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9671"/>
              <a:r>
                <a:rPr sz="1904" b="1" spc="-11">
                  <a:solidFill>
                    <a:srgbClr val="FFA500"/>
                  </a:solidFill>
                  <a:latin typeface="Gill Sans MT"/>
                  <a:cs typeface="Gill Sans MT"/>
                </a:rPr>
                <a:t>Diabetic</a:t>
              </a:r>
              <a:r>
                <a:rPr sz="1904" b="1" spc="152">
                  <a:solidFill>
                    <a:srgbClr val="FFA500"/>
                  </a:solidFill>
                  <a:latin typeface="Gill Sans MT"/>
                  <a:cs typeface="Gill Sans MT"/>
                </a:rPr>
                <a:t> </a:t>
              </a:r>
              <a:r>
                <a:rPr sz="1904" b="1" spc="-34">
                  <a:solidFill>
                    <a:srgbClr val="FFA500"/>
                  </a:solidFill>
                  <a:latin typeface="Gill Sans MT"/>
                  <a:cs typeface="Gill Sans MT"/>
                </a:rPr>
                <a:t>retinopathy</a:t>
              </a:r>
              <a:endParaRPr sz="1904">
                <a:latin typeface="Gill Sans MT"/>
                <a:cs typeface="Gill Sans M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510156" y="4640868"/>
              <a:ext cx="972718" cy="97271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71"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624229" y="4303626"/>
              <a:ext cx="3365212" cy="2930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9671"/>
              <a:r>
                <a:rPr sz="1904" b="1" spc="-30">
                  <a:solidFill>
                    <a:srgbClr val="FFA500"/>
                  </a:solidFill>
                  <a:latin typeface="Gill Sans MT"/>
                  <a:cs typeface="Gill Sans MT"/>
                </a:rPr>
                <a:t>Drug </a:t>
              </a:r>
              <a:r>
                <a:rPr sz="1904" b="1" spc="-38">
                  <a:solidFill>
                    <a:srgbClr val="FFA500"/>
                  </a:solidFill>
                  <a:latin typeface="Gill Sans MT"/>
                  <a:cs typeface="Gill Sans MT"/>
                </a:rPr>
                <a:t>screening </a:t>
              </a:r>
              <a:r>
                <a:rPr sz="1904" b="1" spc="-65">
                  <a:solidFill>
                    <a:srgbClr val="FFA500"/>
                  </a:solidFill>
                  <a:latin typeface="Gill Sans MT"/>
                  <a:cs typeface="Gill Sans MT"/>
                </a:rPr>
                <a:t>for </a:t>
              </a:r>
              <a:r>
                <a:rPr sz="1904" b="1" spc="99">
                  <a:solidFill>
                    <a:srgbClr val="FFA500"/>
                  </a:solidFill>
                  <a:latin typeface="Gill Sans MT"/>
                  <a:cs typeface="Gill Sans MT"/>
                </a:rPr>
                <a:t> </a:t>
              </a:r>
              <a:r>
                <a:rPr sz="1904" b="1" spc="-19">
                  <a:solidFill>
                    <a:srgbClr val="FFA500"/>
                  </a:solidFill>
                  <a:latin typeface="Gill Sans MT"/>
                  <a:cs typeface="Gill Sans MT"/>
                </a:rPr>
                <a:t>COVID-19</a:t>
              </a:r>
              <a:endParaRPr sz="1904">
                <a:latin typeface="Gill Sans MT"/>
                <a:cs typeface="Gill Sans M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578315" y="4640867"/>
              <a:ext cx="1456658" cy="1456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7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5373" y="6485536"/>
            <a:ext cx="283860" cy="117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z="762" spc="-4">
                <a:latin typeface="Cambria"/>
                <a:cs typeface="Cambria"/>
              </a:rPr>
              <a:t>CS221</a:t>
            </a:r>
            <a:endParaRPr sz="762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357" y="228600"/>
            <a:ext cx="404825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pc="-65">
                <a:latin typeface="Tahoma"/>
                <a:cs typeface="Tahoma"/>
              </a:rPr>
              <a:t>Poverty</a:t>
            </a:r>
            <a:r>
              <a:rPr>
                <a:latin typeface="Tahoma"/>
                <a:cs typeface="Tahoma"/>
              </a:rPr>
              <a:t> </a:t>
            </a:r>
            <a:r>
              <a:rPr spc="-103">
                <a:latin typeface="Tahoma"/>
                <a:cs typeface="Tahoma"/>
              </a:rPr>
              <a:t>mapping</a:t>
            </a:r>
          </a:p>
        </p:txBody>
      </p:sp>
      <p:sp>
        <p:nvSpPr>
          <p:cNvPr id="3" name="object 3"/>
          <p:cNvSpPr/>
          <p:nvPr/>
        </p:nvSpPr>
        <p:spPr>
          <a:xfrm>
            <a:off x="2553352" y="2167390"/>
            <a:ext cx="4360296" cy="2221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71"/>
          </a:p>
        </p:txBody>
      </p:sp>
      <p:sp>
        <p:nvSpPr>
          <p:cNvPr id="4" name="object 4"/>
          <p:cNvSpPr/>
          <p:nvPr/>
        </p:nvSpPr>
        <p:spPr>
          <a:xfrm>
            <a:off x="6424870" y="2651330"/>
            <a:ext cx="4844236" cy="38666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71"/>
          </a:p>
        </p:txBody>
      </p:sp>
      <p:sp>
        <p:nvSpPr>
          <p:cNvPr id="6" name="object 6"/>
          <p:cNvSpPr txBox="1"/>
          <p:nvPr/>
        </p:nvSpPr>
        <p:spPr>
          <a:xfrm>
            <a:off x="1965373" y="6485536"/>
            <a:ext cx="283860" cy="117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z="762" spc="-15">
                <a:latin typeface="Tahoma"/>
                <a:cs typeface="Tahoma"/>
              </a:rPr>
              <a:t>CS221</a:t>
            </a:r>
            <a:endParaRPr sz="762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53655" y="6451814"/>
            <a:ext cx="203586" cy="146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z="952" spc="-38">
                <a:latin typeface="Tahoma"/>
                <a:cs typeface="Tahoma"/>
              </a:rPr>
              <a:t>136</a:t>
            </a:r>
            <a:endParaRPr sz="952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7126" y="230384"/>
            <a:ext cx="141859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-10">
                <a:latin typeface="Arial"/>
                <a:cs typeface="Arial"/>
              </a:rPr>
              <a:t>G</a:t>
            </a:r>
            <a:r>
              <a:rPr sz="3400">
                <a:latin typeface="Arial"/>
                <a:cs typeface="Arial"/>
              </a:rPr>
              <a:t>a</a:t>
            </a:r>
            <a:r>
              <a:rPr sz="3400" spc="-5">
                <a:latin typeface="Arial"/>
                <a:cs typeface="Arial"/>
              </a:rPr>
              <a:t>m</a:t>
            </a:r>
            <a:r>
              <a:rPr sz="3400">
                <a:latin typeface="Arial"/>
                <a:cs typeface="Arial"/>
              </a:rPr>
              <a:t>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2801" y="1411224"/>
            <a:ext cx="9932544" cy="5165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659765" indent="-344170"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1997: </a:t>
            </a:r>
            <a:r>
              <a:rPr sz="2400" spc="-5">
                <a:latin typeface="Arial"/>
                <a:cs typeface="Arial"/>
              </a:rPr>
              <a:t>IBM’s </a:t>
            </a:r>
            <a:r>
              <a:rPr sz="2400">
                <a:latin typeface="Arial"/>
                <a:cs typeface="Arial"/>
              </a:rPr>
              <a:t>Deep Blue </a:t>
            </a:r>
            <a:r>
              <a:rPr sz="2400" spc="5">
                <a:latin typeface="Arial"/>
                <a:cs typeface="Arial"/>
              </a:rPr>
              <a:t>defeats </a:t>
            </a:r>
            <a:r>
              <a:rPr sz="2400">
                <a:latin typeface="Arial"/>
                <a:cs typeface="Arial"/>
              </a:rPr>
              <a:t>the </a:t>
            </a:r>
            <a:r>
              <a:rPr sz="2400" spc="-5">
                <a:latin typeface="Arial"/>
                <a:cs typeface="Arial"/>
              </a:rPr>
              <a:t>reigning</a:t>
            </a:r>
            <a:r>
              <a:rPr sz="2400" spc="-114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world  </a:t>
            </a:r>
            <a:r>
              <a:rPr sz="2400">
                <a:latin typeface="Arial"/>
                <a:cs typeface="Arial"/>
              </a:rPr>
              <a:t>chess champion </a:t>
            </a:r>
            <a:r>
              <a:rPr sz="2400" spc="-5">
                <a:latin typeface="Arial"/>
                <a:cs typeface="Arial"/>
              </a:rPr>
              <a:t>Garry</a:t>
            </a:r>
            <a:r>
              <a:rPr sz="2400" spc="-7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Kasparov</a:t>
            </a:r>
          </a:p>
          <a:p>
            <a:pPr marL="756285" lvl="1" indent="-286385">
              <a:spcBef>
                <a:spcPts val="49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b="1" spc="-10">
                <a:latin typeface="Arial"/>
                <a:cs typeface="Arial"/>
              </a:rPr>
              <a:t>1996: Kasparov Beats Deep</a:t>
            </a:r>
            <a:r>
              <a:rPr sz="2000" b="1" spc="110">
                <a:latin typeface="Arial"/>
                <a:cs typeface="Arial"/>
              </a:rPr>
              <a:t> </a:t>
            </a:r>
            <a:r>
              <a:rPr sz="2000" b="1" spc="-5">
                <a:latin typeface="Arial"/>
                <a:cs typeface="Arial"/>
              </a:rPr>
              <a:t>Blue</a:t>
            </a:r>
            <a:endParaRPr sz="2000">
              <a:latin typeface="Arial"/>
              <a:cs typeface="Arial"/>
            </a:endParaRPr>
          </a:p>
          <a:p>
            <a:pPr marL="756285" marR="2451735"/>
            <a:r>
              <a:rPr sz="2000">
                <a:latin typeface="Arial"/>
                <a:cs typeface="Arial"/>
              </a:rPr>
              <a:t>“I </a:t>
            </a:r>
            <a:r>
              <a:rPr sz="2000" spc="-10">
                <a:latin typeface="Arial"/>
                <a:cs typeface="Arial"/>
              </a:rPr>
              <a:t>could </a:t>
            </a:r>
            <a:r>
              <a:rPr sz="2000" spc="-5">
                <a:latin typeface="Arial"/>
                <a:cs typeface="Arial"/>
              </a:rPr>
              <a:t>feel – I </a:t>
            </a:r>
            <a:r>
              <a:rPr sz="2000" spc="-10">
                <a:latin typeface="Arial"/>
                <a:cs typeface="Arial"/>
              </a:rPr>
              <a:t>could </a:t>
            </a:r>
            <a:r>
              <a:rPr sz="2000">
                <a:latin typeface="Arial"/>
                <a:cs typeface="Arial"/>
              </a:rPr>
              <a:t>smell </a:t>
            </a:r>
            <a:r>
              <a:rPr sz="2000" spc="-5">
                <a:latin typeface="Arial"/>
                <a:cs typeface="Arial"/>
              </a:rPr>
              <a:t>– a </a:t>
            </a:r>
            <a:r>
              <a:rPr sz="2000" spc="-10">
                <a:latin typeface="Arial"/>
                <a:cs typeface="Arial"/>
              </a:rPr>
              <a:t>new </a:t>
            </a:r>
            <a:r>
              <a:rPr sz="2000">
                <a:latin typeface="Arial"/>
                <a:cs typeface="Arial"/>
              </a:rPr>
              <a:t>kind  </a:t>
            </a:r>
            <a:r>
              <a:rPr sz="2000" spc="-10">
                <a:latin typeface="Arial"/>
                <a:cs typeface="Arial"/>
              </a:rPr>
              <a:t>of intelligence </a:t>
            </a:r>
            <a:r>
              <a:rPr sz="2000" spc="-5">
                <a:latin typeface="Arial"/>
                <a:cs typeface="Arial"/>
              </a:rPr>
              <a:t>across </a:t>
            </a:r>
            <a:r>
              <a:rPr sz="2000" spc="-10">
                <a:latin typeface="Arial"/>
                <a:cs typeface="Arial"/>
              </a:rPr>
              <a:t>the</a:t>
            </a:r>
            <a:r>
              <a:rPr sz="2000" spc="114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table.”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spcBef>
                <a:spcPts val="48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000" b="1" spc="-10">
                <a:latin typeface="Arial"/>
                <a:cs typeface="Arial"/>
              </a:rPr>
              <a:t>1997: Deep </a:t>
            </a:r>
            <a:r>
              <a:rPr sz="2000" b="1" spc="-5">
                <a:latin typeface="Arial"/>
                <a:cs typeface="Arial"/>
              </a:rPr>
              <a:t>Blue </a:t>
            </a:r>
            <a:r>
              <a:rPr sz="2000" b="1" spc="-10">
                <a:latin typeface="Arial"/>
                <a:cs typeface="Arial"/>
              </a:rPr>
              <a:t>Beats</a:t>
            </a:r>
            <a:r>
              <a:rPr sz="2000" b="1" spc="8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Kasparov</a:t>
            </a:r>
            <a:endParaRPr sz="2000">
              <a:latin typeface="Arial"/>
              <a:cs typeface="Arial"/>
            </a:endParaRPr>
          </a:p>
          <a:p>
            <a:pPr marL="756285"/>
            <a:r>
              <a:rPr sz="2000" spc="-10">
                <a:latin typeface="Arial"/>
                <a:cs typeface="Arial"/>
              </a:rPr>
              <a:t>“Deep </a:t>
            </a:r>
            <a:r>
              <a:rPr sz="2000" spc="-15">
                <a:latin typeface="Arial"/>
                <a:cs typeface="Arial"/>
              </a:rPr>
              <a:t>Blue </a:t>
            </a:r>
            <a:r>
              <a:rPr sz="2000" spc="-5">
                <a:latin typeface="Arial"/>
                <a:cs typeface="Arial"/>
              </a:rPr>
              <a:t>hasn't </a:t>
            </a:r>
            <a:r>
              <a:rPr sz="2000" spc="-10">
                <a:latin typeface="Arial"/>
                <a:cs typeface="Arial"/>
              </a:rPr>
              <a:t>proven</a:t>
            </a:r>
            <a:r>
              <a:rPr sz="2000" spc="114">
                <a:latin typeface="Arial"/>
                <a:cs typeface="Arial"/>
              </a:rPr>
              <a:t> </a:t>
            </a:r>
            <a:r>
              <a:rPr sz="2000" spc="-15">
                <a:latin typeface="Arial"/>
                <a:cs typeface="Arial"/>
              </a:rPr>
              <a:t>anything.”</a:t>
            </a:r>
            <a:endParaRPr sz="2000">
              <a:latin typeface="Arial"/>
              <a:cs typeface="Arial"/>
            </a:endParaRPr>
          </a:p>
          <a:p>
            <a:pPr marL="356870" indent="-344170">
              <a:spcBef>
                <a:spcPts val="56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5">
                <a:latin typeface="Arial"/>
                <a:cs typeface="Arial"/>
              </a:rPr>
              <a:t>2007: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Checkers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2400" u="heavy" spc="-114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solved</a:t>
            </a:r>
            <a:endParaRPr sz="2400">
              <a:latin typeface="Arial"/>
              <a:cs typeface="Arial"/>
            </a:endParaRPr>
          </a:p>
          <a:p>
            <a:pPr marL="756285" marR="5080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5">
                <a:latin typeface="Arial"/>
                <a:cs typeface="Arial"/>
              </a:rPr>
              <a:t>Though </a:t>
            </a:r>
            <a:r>
              <a:rPr sz="2000">
                <a:latin typeface="Arial"/>
                <a:cs typeface="Arial"/>
              </a:rPr>
              <a:t>checkers </a:t>
            </a:r>
            <a:r>
              <a:rPr sz="2000" spc="-5">
                <a:latin typeface="Arial"/>
                <a:cs typeface="Arial"/>
              </a:rPr>
              <a:t>programs </a:t>
            </a:r>
            <a:r>
              <a:rPr sz="2000" spc="-10">
                <a:latin typeface="Arial"/>
                <a:cs typeface="Arial"/>
              </a:rPr>
              <a:t>had been beating the </a:t>
            </a:r>
            <a:r>
              <a:rPr sz="2000" spc="-5">
                <a:latin typeface="Arial"/>
                <a:cs typeface="Arial"/>
              </a:rPr>
              <a:t>best human  </a:t>
            </a:r>
            <a:r>
              <a:rPr sz="2000" spc="-20">
                <a:latin typeface="Arial"/>
                <a:cs typeface="Arial"/>
              </a:rPr>
              <a:t>players </a:t>
            </a:r>
            <a:r>
              <a:rPr sz="2000">
                <a:latin typeface="Arial"/>
                <a:cs typeface="Arial"/>
              </a:rPr>
              <a:t>for </a:t>
            </a:r>
            <a:r>
              <a:rPr sz="2000" spc="-10">
                <a:latin typeface="Arial"/>
                <a:cs typeface="Arial"/>
              </a:rPr>
              <a:t>at least </a:t>
            </a:r>
            <a:r>
              <a:rPr sz="2000" spc="-5">
                <a:latin typeface="Arial"/>
                <a:cs typeface="Arial"/>
              </a:rPr>
              <a:t>a </a:t>
            </a:r>
            <a:r>
              <a:rPr sz="2000" spc="-10">
                <a:latin typeface="Arial"/>
                <a:cs typeface="Arial"/>
              </a:rPr>
              <a:t>decade </a:t>
            </a:r>
            <a:r>
              <a:rPr sz="2000" spc="-5">
                <a:latin typeface="Arial"/>
                <a:cs typeface="Arial"/>
              </a:rPr>
              <a:t>before</a:t>
            </a:r>
            <a:r>
              <a:rPr sz="2000" spc="175">
                <a:latin typeface="Arial"/>
                <a:cs typeface="Arial"/>
              </a:rPr>
              <a:t> </a:t>
            </a:r>
            <a:r>
              <a:rPr sz="2000" spc="-10">
                <a:latin typeface="Arial"/>
                <a:cs typeface="Arial"/>
              </a:rPr>
              <a:t>then</a:t>
            </a:r>
            <a:endParaRPr sz="2000">
              <a:latin typeface="Arial"/>
              <a:cs typeface="Arial"/>
            </a:endParaRPr>
          </a:p>
          <a:p>
            <a:pPr marL="356870" indent="-344170">
              <a:spcBef>
                <a:spcPts val="56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2014: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Heads-up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limit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Texas Hold-em poker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2400" u="heavy" spc="-10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solved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spcBef>
                <a:spcPts val="49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5">
                <a:latin typeface="Arial"/>
                <a:cs typeface="Arial"/>
              </a:rPr>
              <a:t>First </a:t>
            </a:r>
            <a:r>
              <a:rPr sz="2000">
                <a:latin typeface="Arial"/>
                <a:cs typeface="Arial"/>
              </a:rPr>
              <a:t>game </a:t>
            </a:r>
            <a:r>
              <a:rPr sz="2000" spc="-10">
                <a:latin typeface="Arial"/>
                <a:cs typeface="Arial"/>
              </a:rPr>
              <a:t>of </a:t>
            </a:r>
            <a:r>
              <a:rPr sz="2000">
                <a:latin typeface="Arial"/>
                <a:cs typeface="Arial"/>
              </a:rPr>
              <a:t>imperfect</a:t>
            </a:r>
            <a:r>
              <a:rPr sz="2000" spc="-85">
                <a:latin typeface="Arial"/>
                <a:cs typeface="Arial"/>
              </a:rPr>
              <a:t> </a:t>
            </a:r>
            <a:r>
              <a:rPr sz="2000" spc="-5"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  <a:p>
            <a:pPr marL="356870" marR="314960" indent="-344170">
              <a:spcBef>
                <a:spcPts val="55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2015: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Deep reinforcement learning beats humans</a:t>
            </a:r>
            <a:r>
              <a:rPr sz="2400" u="heavy" spc="-16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at  </a:t>
            </a:r>
            <a:r>
              <a:rPr sz="2400" u="heavy" spc="-5">
                <a:solidFill>
                  <a:srgbClr val="0000FF"/>
                </a:solidFill>
                <a:latin typeface="Arial"/>
                <a:cs typeface="Arial"/>
              </a:rPr>
              <a:t>classic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arcade</a:t>
            </a:r>
            <a:r>
              <a:rPr sz="2400" u="heavy" spc="-6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u="heavy">
                <a:solidFill>
                  <a:srgbClr val="0000FF"/>
                </a:solidFill>
                <a:latin typeface="Arial"/>
                <a:cs typeface="Arial"/>
              </a:rPr>
              <a:t>games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652000" y="1826890"/>
            <a:ext cx="3663696" cy="2060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08600" y="201133"/>
            <a:ext cx="2475865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 spc="-5">
                <a:latin typeface="Arial"/>
                <a:cs typeface="Arial"/>
              </a:rPr>
              <a:t>M</a:t>
            </a:r>
            <a:r>
              <a:rPr sz="3400">
                <a:latin typeface="Arial"/>
                <a:cs typeface="Arial"/>
              </a:rPr>
              <a:t>a</a:t>
            </a:r>
            <a:r>
              <a:rPr sz="3400" spc="-15">
                <a:latin typeface="Arial"/>
                <a:cs typeface="Arial"/>
              </a:rPr>
              <a:t>t</a:t>
            </a:r>
            <a:r>
              <a:rPr sz="3400">
                <a:latin typeface="Arial"/>
                <a:cs typeface="Arial"/>
              </a:rPr>
              <a:t>he</a:t>
            </a:r>
            <a:r>
              <a:rPr sz="3400" spc="-5">
                <a:latin typeface="Arial"/>
                <a:cs typeface="Arial"/>
              </a:rPr>
              <a:t>m</a:t>
            </a:r>
            <a:r>
              <a:rPr sz="3400">
                <a:latin typeface="Arial"/>
                <a:cs typeface="Arial"/>
              </a:rPr>
              <a:t>a</a:t>
            </a:r>
            <a:r>
              <a:rPr sz="3400" spc="-15">
                <a:latin typeface="Arial"/>
                <a:cs typeface="Arial"/>
              </a:rPr>
              <a:t>t</a:t>
            </a:r>
            <a:r>
              <a:rPr sz="3400" spc="10">
                <a:latin typeface="Arial"/>
                <a:cs typeface="Arial"/>
              </a:rPr>
              <a:t>i</a:t>
            </a:r>
            <a:r>
              <a:rPr sz="3400">
                <a:latin typeface="Arial"/>
                <a:cs typeface="Arial"/>
              </a:rPr>
              <a:t>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28189" y="1411224"/>
            <a:ext cx="7381875" cy="2223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In 1996, </a:t>
            </a:r>
            <a:r>
              <a:rPr sz="2400" spc="-5">
                <a:latin typeface="Arial"/>
                <a:cs typeface="Arial"/>
              </a:rPr>
              <a:t>a </a:t>
            </a:r>
            <a:r>
              <a:rPr sz="2400">
                <a:latin typeface="Arial"/>
                <a:cs typeface="Arial"/>
              </a:rPr>
              <a:t>computer </a:t>
            </a:r>
            <a:r>
              <a:rPr sz="2400" spc="-5">
                <a:latin typeface="Arial"/>
                <a:cs typeface="Arial"/>
              </a:rPr>
              <a:t>program </a:t>
            </a:r>
            <a:r>
              <a:rPr sz="2400" spc="-10">
                <a:latin typeface="Arial"/>
                <a:cs typeface="Arial"/>
              </a:rPr>
              <a:t>written </a:t>
            </a:r>
            <a:r>
              <a:rPr sz="2400">
                <a:latin typeface="Arial"/>
                <a:cs typeface="Arial"/>
              </a:rPr>
              <a:t>by </a:t>
            </a:r>
            <a:r>
              <a:rPr sz="2400" spc="-5">
                <a:latin typeface="Arial"/>
                <a:cs typeface="Arial"/>
              </a:rPr>
              <a:t>researchers  </a:t>
            </a:r>
            <a:r>
              <a:rPr sz="2400">
                <a:latin typeface="Arial"/>
                <a:cs typeface="Arial"/>
              </a:rPr>
              <a:t>at </a:t>
            </a:r>
            <a:r>
              <a:rPr sz="2400" spc="-5">
                <a:latin typeface="Arial"/>
                <a:cs typeface="Arial"/>
              </a:rPr>
              <a:t>Argonne </a:t>
            </a:r>
            <a:r>
              <a:rPr sz="2400">
                <a:latin typeface="Arial"/>
                <a:cs typeface="Arial"/>
              </a:rPr>
              <a:t>National Laboratory </a:t>
            </a:r>
            <a:r>
              <a:rPr sz="2400" spc="-5">
                <a:latin typeface="Arial"/>
                <a:cs typeface="Arial"/>
              </a:rPr>
              <a:t>proved a  </a:t>
            </a:r>
            <a:r>
              <a:rPr sz="2400">
                <a:latin typeface="Arial"/>
                <a:cs typeface="Arial"/>
              </a:rPr>
              <a:t>mathematical conjecture </a:t>
            </a:r>
            <a:r>
              <a:rPr sz="2400" spc="-5">
                <a:latin typeface="Arial"/>
                <a:cs typeface="Arial"/>
              </a:rPr>
              <a:t>unsolved </a:t>
            </a:r>
            <a:r>
              <a:rPr sz="2400" spc="10">
                <a:latin typeface="Arial"/>
                <a:cs typeface="Arial"/>
              </a:rPr>
              <a:t>for</a:t>
            </a:r>
            <a:r>
              <a:rPr sz="2400" spc="-15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decades</a:t>
            </a:r>
          </a:p>
          <a:p>
            <a:pPr marL="756285" marR="709295" lvl="1" indent="-286385">
              <a:spcBef>
                <a:spcPts val="495"/>
              </a:spcBef>
              <a:buClr>
                <a:srgbClr val="000000"/>
              </a:buClr>
              <a:buChar char="•"/>
              <a:tabLst>
                <a:tab pos="756285" algn="l"/>
                <a:tab pos="756920" algn="l"/>
              </a:tabLst>
            </a:pP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NY </a:t>
            </a:r>
            <a:r>
              <a:rPr sz="2000" u="heavy" spc="5">
                <a:solidFill>
                  <a:srgbClr val="0000FF"/>
                </a:solidFill>
                <a:latin typeface="Arial"/>
                <a:cs typeface="Arial"/>
              </a:rPr>
              <a:t>Times </a:t>
            </a:r>
            <a:r>
              <a:rPr sz="2000" u="heavy" spc="-15">
                <a:solidFill>
                  <a:srgbClr val="0000FF"/>
                </a:solidFill>
                <a:latin typeface="Arial"/>
                <a:cs typeface="Arial"/>
              </a:rPr>
              <a:t>story</a:t>
            </a:r>
            <a:r>
              <a:rPr sz="2000" spc="-15">
                <a:latin typeface="Arial"/>
                <a:cs typeface="Arial"/>
              </a:rPr>
              <a:t>: </a:t>
            </a:r>
            <a:r>
              <a:rPr sz="2000" spc="-5">
                <a:latin typeface="Arial"/>
                <a:cs typeface="Arial"/>
              </a:rPr>
              <a:t>“</a:t>
            </a:r>
            <a:r>
              <a:rPr sz="2000" i="1" spc="-5">
                <a:latin typeface="Arial"/>
                <a:cs typeface="Arial"/>
              </a:rPr>
              <a:t>[The </a:t>
            </a:r>
            <a:r>
              <a:rPr sz="2000" i="1" spc="-10">
                <a:latin typeface="Arial"/>
                <a:cs typeface="Arial"/>
              </a:rPr>
              <a:t>proof] would </a:t>
            </a:r>
            <a:r>
              <a:rPr sz="2000" i="1" spc="-5">
                <a:latin typeface="Arial"/>
                <a:cs typeface="Arial"/>
              </a:rPr>
              <a:t>have </a:t>
            </a:r>
            <a:r>
              <a:rPr sz="2000" i="1" spc="-10">
                <a:latin typeface="Arial"/>
                <a:cs typeface="Arial"/>
              </a:rPr>
              <a:t>been called  </a:t>
            </a:r>
            <a:r>
              <a:rPr sz="2000" i="1" spc="-5">
                <a:latin typeface="Arial"/>
                <a:cs typeface="Arial"/>
              </a:rPr>
              <a:t>creative </a:t>
            </a:r>
            <a:r>
              <a:rPr sz="2000" i="1" spc="-10">
                <a:latin typeface="Arial"/>
                <a:cs typeface="Arial"/>
              </a:rPr>
              <a:t>if </a:t>
            </a:r>
            <a:r>
              <a:rPr sz="2000" i="1" spc="-5">
                <a:latin typeface="Arial"/>
                <a:cs typeface="Arial"/>
              </a:rPr>
              <a:t>a </a:t>
            </a:r>
            <a:r>
              <a:rPr sz="2000" i="1" spc="-10">
                <a:latin typeface="Arial"/>
                <a:cs typeface="Arial"/>
              </a:rPr>
              <a:t>human had thought of</a:t>
            </a:r>
            <a:r>
              <a:rPr sz="2000" i="1" spc="114">
                <a:latin typeface="Arial"/>
                <a:cs typeface="Arial"/>
              </a:rPr>
              <a:t> </a:t>
            </a:r>
            <a:r>
              <a:rPr sz="2000" i="1" spc="-25">
                <a:latin typeface="Arial"/>
                <a:cs typeface="Arial"/>
              </a:rPr>
              <a:t>it</a:t>
            </a:r>
            <a:r>
              <a:rPr sz="2000" spc="-25">
                <a:latin typeface="Arial"/>
                <a:cs typeface="Arial"/>
              </a:rPr>
              <a:t>”</a:t>
            </a:r>
            <a:endParaRPr sz="2000">
              <a:latin typeface="Arial"/>
              <a:cs typeface="Arial"/>
            </a:endParaRPr>
          </a:p>
          <a:p>
            <a:pPr marL="356870" indent="-344170">
              <a:spcBef>
                <a:spcPts val="55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>
                <a:latin typeface="Arial"/>
                <a:cs typeface="Arial"/>
              </a:rPr>
              <a:t>Mathematical</a:t>
            </a:r>
            <a:r>
              <a:rPr sz="2400" spc="-13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software:</a:t>
            </a:r>
          </a:p>
        </p:txBody>
      </p:sp>
      <p:sp>
        <p:nvSpPr>
          <p:cNvPr id="5" name="object 5"/>
          <p:cNvSpPr/>
          <p:nvPr/>
        </p:nvSpPr>
        <p:spPr>
          <a:xfrm>
            <a:off x="2635504" y="3983736"/>
            <a:ext cx="2185416" cy="1603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63592" y="3983735"/>
            <a:ext cx="6467856" cy="3032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1339" y="683769"/>
            <a:ext cx="588518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>
                <a:latin typeface="Arial"/>
                <a:cs typeface="Arial"/>
              </a:rPr>
              <a:t>Logistics, scheduling,</a:t>
            </a:r>
            <a:r>
              <a:rPr sz="3400" spc="-145">
                <a:latin typeface="Arial"/>
                <a:cs typeface="Arial"/>
              </a:rPr>
              <a:t> </a:t>
            </a:r>
            <a:r>
              <a:rPr sz="3400" spc="5">
                <a:latin typeface="Arial"/>
                <a:cs typeface="Arial"/>
              </a:rPr>
              <a:t>planning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A10117-237E-DEB5-F47C-676C934CF820}"/>
              </a:ext>
            </a:extLst>
          </p:cNvPr>
          <p:cNvGrpSpPr/>
          <p:nvPr/>
        </p:nvGrpSpPr>
        <p:grpSpPr>
          <a:xfrm>
            <a:off x="559155" y="1619536"/>
            <a:ext cx="11912245" cy="2207133"/>
            <a:chOff x="559155" y="1619536"/>
            <a:chExt cx="11912245" cy="2207133"/>
          </a:xfrm>
        </p:grpSpPr>
        <p:sp>
          <p:nvSpPr>
            <p:cNvPr id="4" name="object 4"/>
            <p:cNvSpPr txBox="1"/>
            <p:nvPr/>
          </p:nvSpPr>
          <p:spPr>
            <a:xfrm>
              <a:off x="559155" y="1619536"/>
              <a:ext cx="7903973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6870" indent="-344170">
                <a:buChar char="•"/>
                <a:tabLst>
                  <a:tab pos="356870" algn="l"/>
                  <a:tab pos="357505" algn="l"/>
                  <a:tab pos="1746885" algn="l"/>
                </a:tabLst>
              </a:pPr>
              <a:r>
                <a:rPr sz="2800" spc="-10">
                  <a:latin typeface="Arial"/>
                  <a:cs typeface="Arial"/>
                </a:rPr>
                <a:t>D</a:t>
              </a:r>
              <a:r>
                <a:rPr sz="2800">
                  <a:latin typeface="Arial"/>
                  <a:cs typeface="Arial"/>
                </a:rPr>
                <a:t>uring	</a:t>
              </a:r>
              <a:r>
                <a:rPr sz="2800" spc="10">
                  <a:latin typeface="Arial"/>
                  <a:cs typeface="Arial"/>
                </a:rPr>
                <a:t>t</a:t>
              </a:r>
              <a:r>
                <a:rPr sz="2800">
                  <a:latin typeface="Arial"/>
                  <a:cs typeface="Arial"/>
                </a:rPr>
                <a:t>he</a:t>
              </a: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073043" y="1676400"/>
              <a:ext cx="4074160" cy="870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68935" marR="5080" indent="-356870">
                <a:tabLst>
                  <a:tab pos="1076325" algn="l"/>
                  <a:tab pos="1146175" algn="l"/>
                  <a:tab pos="2136775" algn="l"/>
                  <a:tab pos="2715895" algn="l"/>
                  <a:tab pos="3230880" algn="l"/>
                </a:tabLst>
              </a:pPr>
              <a:r>
                <a:rPr sz="2800">
                  <a:latin typeface="Arial"/>
                  <a:cs typeface="Arial"/>
                </a:rPr>
                <a:t>1991		Gulf	War,	</a:t>
              </a:r>
              <a:r>
                <a:rPr sz="2800" spc="-5">
                  <a:latin typeface="Arial"/>
                  <a:cs typeface="Arial"/>
                </a:rPr>
                <a:t>US  </a:t>
              </a:r>
              <a:r>
                <a:rPr sz="2800">
                  <a:latin typeface="Arial"/>
                  <a:cs typeface="Arial"/>
                </a:rPr>
                <a:t>AI	logi</a:t>
              </a:r>
              <a:r>
                <a:rPr sz="2800" spc="10">
                  <a:latin typeface="Arial"/>
                  <a:cs typeface="Arial"/>
                </a:rPr>
                <a:t>st</a:t>
              </a:r>
              <a:r>
                <a:rPr sz="2800" spc="-25">
                  <a:latin typeface="Arial"/>
                  <a:cs typeface="Arial"/>
                </a:rPr>
                <a:t>i</a:t>
              </a:r>
              <a:r>
                <a:rPr sz="2800" spc="-15">
                  <a:latin typeface="Arial"/>
                  <a:cs typeface="Arial"/>
                </a:rPr>
                <a:t>c</a:t>
              </a:r>
              <a:r>
                <a:rPr sz="2800">
                  <a:latin typeface="Arial"/>
                  <a:cs typeface="Arial"/>
                </a:rPr>
                <a:t>s	plann</a:t>
              </a:r>
              <a:r>
                <a:rPr sz="2800" spc="-25">
                  <a:latin typeface="Arial"/>
                  <a:cs typeface="Arial"/>
                </a:rPr>
                <a:t>i</a:t>
              </a:r>
              <a:r>
                <a:rPr sz="2800">
                  <a:latin typeface="Arial"/>
                  <a:cs typeface="Arial"/>
                </a:rPr>
                <a:t>ng</a:t>
              </a: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152131" y="1676400"/>
              <a:ext cx="993775" cy="870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2800" spc="10">
                  <a:latin typeface="Arial"/>
                  <a:cs typeface="Arial"/>
                </a:rPr>
                <a:t>f</a:t>
              </a:r>
              <a:r>
                <a:rPr sz="2800">
                  <a:latin typeface="Arial"/>
                  <a:cs typeface="Arial"/>
                </a:rPr>
                <a:t>o</a:t>
              </a:r>
              <a:r>
                <a:rPr sz="2800" spc="-25">
                  <a:latin typeface="Arial"/>
                  <a:cs typeface="Arial"/>
                </a:rPr>
                <a:t>r</a:t>
              </a:r>
              <a:r>
                <a:rPr sz="2800" spc="10">
                  <a:latin typeface="Arial"/>
                  <a:cs typeface="Arial"/>
                </a:rPr>
                <a:t>c</a:t>
              </a:r>
              <a:r>
                <a:rPr sz="2800" spc="-25">
                  <a:latin typeface="Arial"/>
                  <a:cs typeface="Arial"/>
                </a:rPr>
                <a:t>e</a:t>
              </a:r>
              <a:r>
                <a:rPr sz="2800">
                  <a:latin typeface="Arial"/>
                  <a:cs typeface="Arial"/>
                </a:rPr>
                <a:t>s</a:t>
              </a:r>
            </a:p>
            <a:p>
              <a:pPr marL="381000"/>
              <a:r>
                <a:rPr sz="2800">
                  <a:latin typeface="Arial"/>
                  <a:cs typeface="Arial"/>
                </a:rPr>
                <a:t>and</a:t>
              </a: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873251" y="2103120"/>
              <a:ext cx="11598149" cy="172354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tabLst>
                  <a:tab pos="1828800" algn="l"/>
                </a:tabLst>
              </a:pPr>
              <a:r>
                <a:rPr sz="2800">
                  <a:latin typeface="Arial"/>
                  <a:cs typeface="Arial"/>
                </a:rPr>
                <a:t>deployed	an</a:t>
              </a:r>
            </a:p>
            <a:p>
              <a:pPr marL="12700">
                <a:tabLst>
                  <a:tab pos="2042160" algn="l"/>
                  <a:tab pos="3694429" algn="l"/>
                  <a:tab pos="4612005" algn="l"/>
                  <a:tab pos="6242685" algn="l"/>
                  <a:tab pos="6961505" algn="l"/>
                </a:tabLst>
              </a:pPr>
              <a:r>
                <a:rPr sz="2800" spc="10">
                  <a:latin typeface="Arial"/>
                  <a:cs typeface="Arial"/>
                </a:rPr>
                <a:t>sc</a:t>
              </a:r>
              <a:r>
                <a:rPr sz="2800">
                  <a:latin typeface="Arial"/>
                  <a:cs typeface="Arial"/>
                </a:rPr>
                <a:t>heduling	program	</a:t>
              </a:r>
              <a:r>
                <a:rPr sz="2800" spc="10">
                  <a:latin typeface="Arial"/>
                  <a:cs typeface="Arial"/>
                </a:rPr>
                <a:t>t</a:t>
              </a:r>
              <a:r>
                <a:rPr sz="2800">
                  <a:latin typeface="Arial"/>
                  <a:cs typeface="Arial"/>
                </a:rPr>
                <a:t>h</a:t>
              </a:r>
              <a:r>
                <a:rPr sz="2800" spc="-25">
                  <a:latin typeface="Arial"/>
                  <a:cs typeface="Arial"/>
                </a:rPr>
                <a:t>a</a:t>
              </a:r>
              <a:r>
                <a:rPr sz="2800">
                  <a:latin typeface="Arial"/>
                  <a:cs typeface="Arial"/>
                </a:rPr>
                <a:t>t	in</a:t>
              </a:r>
              <a:r>
                <a:rPr sz="2800" spc="-35">
                  <a:latin typeface="Arial"/>
                  <a:cs typeface="Arial"/>
                </a:rPr>
                <a:t>v</a:t>
              </a:r>
              <a:r>
                <a:rPr sz="2800">
                  <a:latin typeface="Arial"/>
                  <a:cs typeface="Arial"/>
                </a:rPr>
                <a:t>o</a:t>
              </a:r>
              <a:r>
                <a:rPr sz="2800" spc="20">
                  <a:latin typeface="Arial"/>
                  <a:cs typeface="Arial"/>
                </a:rPr>
                <a:t>l</a:t>
              </a:r>
              <a:r>
                <a:rPr sz="2800" spc="-35">
                  <a:latin typeface="Arial"/>
                  <a:cs typeface="Arial"/>
                </a:rPr>
                <a:t>v</a:t>
              </a:r>
              <a:r>
                <a:rPr sz="2800">
                  <a:latin typeface="Arial"/>
                  <a:cs typeface="Arial"/>
                </a:rPr>
                <a:t>ed	up	</a:t>
              </a:r>
              <a:r>
                <a:rPr sz="2800" spc="10">
                  <a:latin typeface="Arial"/>
                  <a:cs typeface="Arial"/>
                </a:rPr>
                <a:t>t</a:t>
              </a:r>
              <a:r>
                <a:rPr sz="2800">
                  <a:latin typeface="Arial"/>
                  <a:cs typeface="Arial"/>
                </a:rPr>
                <a:t>o</a:t>
              </a:r>
              <a:r>
                <a:rPr lang="en-US" sz="2800">
                  <a:latin typeface="Arial"/>
                  <a:cs typeface="Arial"/>
                </a:rPr>
                <a:t> </a:t>
              </a:r>
              <a:r>
                <a:rPr lang="en-US" sz="2800"/>
                <a:t>50,000 vehicles, </a:t>
              </a:r>
              <a:r>
                <a:rPr lang="en-US" sz="2800" spc="5"/>
                <a:t>cargo, </a:t>
              </a:r>
              <a:r>
                <a:rPr lang="en-US" sz="2800"/>
                <a:t>and</a:t>
              </a:r>
              <a:r>
                <a:rPr lang="en-US" sz="2800" spc="-65"/>
                <a:t> </a:t>
              </a:r>
              <a:r>
                <a:rPr lang="en-US" sz="2800"/>
                <a:t>people</a:t>
              </a:r>
            </a:p>
            <a:p>
              <a:pPr marL="12700">
                <a:tabLst>
                  <a:tab pos="2042160" algn="l"/>
                  <a:tab pos="3694429" algn="l"/>
                  <a:tab pos="4612005" algn="l"/>
                  <a:tab pos="6242685" algn="l"/>
                  <a:tab pos="6961505" algn="l"/>
                </a:tabLst>
              </a:pPr>
              <a:endParaRPr sz="2800">
                <a:latin typeface="Arial"/>
                <a:cs typeface="Arial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528827" y="3962792"/>
            <a:ext cx="10468750" cy="1890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6985" indent="-344170" algn="just">
              <a:spcBef>
                <a:spcPts val="1270"/>
              </a:spcBef>
              <a:buChar char="•"/>
              <a:tabLst>
                <a:tab pos="357505" algn="l"/>
              </a:tabLst>
            </a:pPr>
            <a:r>
              <a:t>NASA’s </a:t>
            </a:r>
            <a:r>
              <a:rPr u="heavy">
                <a:solidFill>
                  <a:srgbClr val="0000FF"/>
                </a:solidFill>
              </a:rPr>
              <a:t>Remote </a:t>
            </a:r>
            <a:r>
              <a:rPr u="heavy" spc="-5">
                <a:solidFill>
                  <a:srgbClr val="0000FF"/>
                </a:solidFill>
              </a:rPr>
              <a:t>Agent </a:t>
            </a:r>
            <a:r>
              <a:t>software </a:t>
            </a:r>
            <a:r>
              <a:rPr spc="5"/>
              <a:t>operated the  </a:t>
            </a:r>
            <a:r>
              <a:t>Deep </a:t>
            </a:r>
            <a:r>
              <a:rPr spc="5"/>
              <a:t>Space </a:t>
            </a:r>
            <a:r>
              <a:t>1 spacecraft </a:t>
            </a:r>
            <a:r>
              <a:rPr spc="-5"/>
              <a:t>during two  </a:t>
            </a:r>
            <a:r>
              <a:t>experiments in May</a:t>
            </a:r>
            <a:r>
              <a:rPr spc="-50"/>
              <a:t> </a:t>
            </a:r>
            <a:r>
              <a:t>1999</a:t>
            </a:r>
          </a:p>
          <a:p>
            <a:pPr marL="356870" marR="5080" indent="-344170" algn="just">
              <a:spcBef>
                <a:spcPts val="1270"/>
              </a:spcBef>
              <a:buChar char="•"/>
              <a:tabLst>
                <a:tab pos="357505" algn="l"/>
              </a:tabLst>
            </a:pPr>
            <a:r>
              <a:rPr spc="5"/>
              <a:t>In </a:t>
            </a:r>
            <a:r>
              <a:rPr spc="-5"/>
              <a:t>2004, </a:t>
            </a:r>
            <a:r>
              <a:t>NASA introduced </a:t>
            </a:r>
            <a:r>
              <a:rPr spc="5"/>
              <a:t>the </a:t>
            </a:r>
            <a:r>
              <a:rPr u="heavy">
                <a:solidFill>
                  <a:srgbClr val="0000FF"/>
                </a:solidFill>
              </a:rPr>
              <a:t>MAPGEN  </a:t>
            </a:r>
            <a:r>
              <a:t>system </a:t>
            </a:r>
            <a:r>
              <a:rPr spc="5"/>
              <a:t>to </a:t>
            </a:r>
            <a:r>
              <a:t>plan </a:t>
            </a:r>
            <a:r>
              <a:rPr spc="5"/>
              <a:t>the </a:t>
            </a:r>
            <a:r>
              <a:t>daily operations </a:t>
            </a:r>
            <a:r>
              <a:rPr spc="5"/>
              <a:t>for the  </a:t>
            </a:r>
            <a:r>
              <a:t>Mars Exploration</a:t>
            </a:r>
            <a:r>
              <a:rPr spc="-80"/>
              <a:t> </a:t>
            </a:r>
            <a:r>
              <a:rPr spc="-5"/>
              <a:t>Rovers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1296924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4389" y="683769"/>
            <a:ext cx="1710689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400">
                <a:latin typeface="Arial"/>
                <a:cs typeface="Arial"/>
              </a:rPr>
              <a:t>Robotics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4388" y="1409192"/>
            <a:ext cx="4198620" cy="468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Arial"/>
                <a:cs typeface="Arial"/>
              </a:rPr>
              <a:t>Mars</a:t>
            </a:r>
            <a:r>
              <a:rPr sz="2800" spc="-80">
                <a:latin typeface="Arial"/>
                <a:cs typeface="Arial"/>
              </a:rPr>
              <a:t> </a:t>
            </a:r>
            <a:r>
              <a:rPr sz="2800" spc="-5">
                <a:latin typeface="Arial"/>
                <a:cs typeface="Arial"/>
              </a:rPr>
              <a:t>rovers</a:t>
            </a:r>
            <a:endParaRPr sz="2800">
              <a:latin typeface="Arial"/>
              <a:cs typeface="Arial"/>
            </a:endParaRPr>
          </a:p>
          <a:p>
            <a:pPr marL="356870" indent="-344170"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Arial"/>
                <a:cs typeface="Arial"/>
              </a:rPr>
              <a:t>Autonomous</a:t>
            </a:r>
            <a:r>
              <a:rPr sz="2800" spc="-60">
                <a:latin typeface="Arial"/>
                <a:cs typeface="Arial"/>
              </a:rPr>
              <a:t> </a:t>
            </a:r>
            <a:r>
              <a:rPr sz="2800">
                <a:latin typeface="Arial"/>
                <a:cs typeface="Arial"/>
              </a:rPr>
              <a:t>vehicles</a:t>
            </a:r>
          </a:p>
          <a:p>
            <a:pPr marL="756285" lvl="1" indent="-286385">
              <a:spcBef>
                <a:spcPts val="509"/>
              </a:spcBef>
              <a:buClr>
                <a:srgbClr val="000000"/>
              </a:buClr>
              <a:buChar char="•"/>
              <a:tabLst>
                <a:tab pos="756285" algn="l"/>
                <a:tab pos="756920" algn="l"/>
              </a:tabLst>
            </a:pP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DARPA </a:t>
            </a:r>
            <a:r>
              <a:rPr sz="2000" u="heavy" spc="-5">
                <a:solidFill>
                  <a:srgbClr val="0000FF"/>
                </a:solidFill>
                <a:latin typeface="Arial"/>
                <a:cs typeface="Arial"/>
              </a:rPr>
              <a:t>Grand</a:t>
            </a:r>
            <a:r>
              <a:rPr sz="2000" u="heavy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Challenge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spcBef>
                <a:spcPts val="480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0">
                <a:latin typeface="Arial"/>
                <a:cs typeface="Arial"/>
              </a:rPr>
              <a:t>Self-driving</a:t>
            </a:r>
            <a:r>
              <a:rPr sz="2000" spc="10">
                <a:latin typeface="Arial"/>
                <a:cs typeface="Arial"/>
              </a:rPr>
              <a:t> </a:t>
            </a:r>
            <a:r>
              <a:rPr sz="2000" spc="-5">
                <a:latin typeface="Arial"/>
                <a:cs typeface="Arial"/>
              </a:rPr>
              <a:t>cars</a:t>
            </a:r>
            <a:endParaRPr sz="2000">
              <a:latin typeface="Arial"/>
              <a:cs typeface="Arial"/>
            </a:endParaRPr>
          </a:p>
          <a:p>
            <a:pPr marL="356870" indent="-344170">
              <a:spcBef>
                <a:spcPts val="640"/>
              </a:spcBef>
              <a:buClr>
                <a:srgbClr val="000000"/>
              </a:buClr>
              <a:buChar char="•"/>
              <a:tabLst>
                <a:tab pos="356870" algn="l"/>
                <a:tab pos="357505" algn="l"/>
              </a:tabLst>
            </a:pPr>
            <a:r>
              <a:rPr sz="2800" u="heavy">
                <a:solidFill>
                  <a:srgbClr val="0000FF"/>
                </a:solidFill>
                <a:latin typeface="Arial"/>
                <a:cs typeface="Arial"/>
              </a:rPr>
              <a:t>Autonomous</a:t>
            </a:r>
            <a:r>
              <a:rPr sz="2800" u="heavy" spc="-6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u="heavy" spc="5">
                <a:solidFill>
                  <a:srgbClr val="0000FF"/>
                </a:solidFill>
                <a:latin typeface="Arial"/>
                <a:cs typeface="Arial"/>
              </a:rPr>
              <a:t>helicopters</a:t>
            </a:r>
            <a:endParaRPr sz="2800">
              <a:latin typeface="Arial"/>
              <a:cs typeface="Arial"/>
            </a:endParaRPr>
          </a:p>
          <a:p>
            <a:pPr marL="356870" indent="-344170"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Arial"/>
                <a:cs typeface="Arial"/>
              </a:rPr>
              <a:t>Robot</a:t>
            </a:r>
            <a:r>
              <a:rPr sz="2800" spc="-75">
                <a:latin typeface="Arial"/>
                <a:cs typeface="Arial"/>
              </a:rPr>
              <a:t> </a:t>
            </a:r>
            <a:r>
              <a:rPr sz="2800" spc="5">
                <a:latin typeface="Arial"/>
                <a:cs typeface="Arial"/>
              </a:rPr>
              <a:t>soccer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spcBef>
                <a:spcPts val="509"/>
              </a:spcBef>
              <a:buClr>
                <a:srgbClr val="000000"/>
              </a:buClr>
              <a:buChar char="•"/>
              <a:tabLst>
                <a:tab pos="756285" algn="l"/>
                <a:tab pos="756920" algn="l"/>
              </a:tabLst>
            </a:pP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RoboCup</a:t>
            </a:r>
            <a:endParaRPr sz="2000">
              <a:latin typeface="Arial"/>
              <a:cs typeface="Arial"/>
            </a:endParaRPr>
          </a:p>
          <a:p>
            <a:pPr marL="356870" indent="-344170">
              <a:spcBef>
                <a:spcPts val="64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5">
                <a:latin typeface="Arial"/>
                <a:cs typeface="Arial"/>
              </a:rPr>
              <a:t>Personal</a:t>
            </a:r>
            <a:r>
              <a:rPr sz="2800" spc="-105">
                <a:latin typeface="Arial"/>
                <a:cs typeface="Arial"/>
              </a:rPr>
              <a:t> </a:t>
            </a:r>
            <a:r>
              <a:rPr sz="2800" spc="5">
                <a:latin typeface="Arial"/>
                <a:cs typeface="Arial"/>
              </a:rPr>
              <a:t>robotics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spcBef>
                <a:spcPts val="509"/>
              </a:spcBef>
              <a:buClr>
                <a:srgbClr val="000000"/>
              </a:buClr>
              <a:buChar char="•"/>
              <a:tabLst>
                <a:tab pos="756285" algn="l"/>
                <a:tab pos="756920" algn="l"/>
              </a:tabLst>
            </a:pPr>
            <a:r>
              <a:rPr sz="2000" u="heavy" spc="-5">
                <a:solidFill>
                  <a:srgbClr val="0000FF"/>
                </a:solidFill>
                <a:latin typeface="Arial"/>
                <a:cs typeface="Arial"/>
              </a:rPr>
              <a:t>Humanoid</a:t>
            </a:r>
            <a:r>
              <a:rPr sz="2000" u="heavy" spc="-5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robots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lr>
                <a:srgbClr val="000000"/>
              </a:buClr>
              <a:buChar char="•"/>
              <a:tabLst>
                <a:tab pos="756285" algn="l"/>
                <a:tab pos="756920" algn="l"/>
              </a:tabLst>
            </a:pP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Robotic</a:t>
            </a:r>
            <a:r>
              <a:rPr sz="2000" u="heavy" spc="-1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u="heavy" spc="-10">
                <a:solidFill>
                  <a:srgbClr val="0000FF"/>
                </a:solidFill>
                <a:latin typeface="Arial"/>
                <a:cs typeface="Arial"/>
              </a:rPr>
              <a:t>pets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spcBef>
                <a:spcPts val="475"/>
              </a:spcBef>
              <a:buChar char="•"/>
              <a:tabLst>
                <a:tab pos="756285" algn="l"/>
                <a:tab pos="756920" algn="l"/>
              </a:tabLst>
            </a:pPr>
            <a:r>
              <a:rPr sz="2000" spc="-10">
                <a:latin typeface="Arial"/>
                <a:cs typeface="Arial"/>
              </a:rPr>
              <a:t>Personal </a:t>
            </a:r>
            <a:r>
              <a:rPr sz="2000" spc="-5">
                <a:latin typeface="Arial"/>
                <a:cs typeface="Arial"/>
              </a:rPr>
              <a:t>assistants?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4303" y="3499103"/>
            <a:ext cx="2639568" cy="1764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74303" y="1441703"/>
            <a:ext cx="2630424" cy="1764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74303" y="5635752"/>
            <a:ext cx="2639568" cy="1456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19E2C9-51C6-01C9-7899-66324C004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975360"/>
            <a:ext cx="7161976" cy="548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3A2F7-00F3-A791-D355-C2BF7F9DA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24" y="1562989"/>
            <a:ext cx="7315200" cy="622878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E9836EE6-2ED0-1A4A-EAEF-437197BF2F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98800" y="151723"/>
            <a:ext cx="83058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25"/>
              <a:t>What </a:t>
            </a:r>
            <a:r>
              <a:rPr b="1" spc="-5"/>
              <a:t>AI </a:t>
            </a:r>
            <a:r>
              <a:rPr b="1" spc="-35"/>
              <a:t>systems </a:t>
            </a:r>
            <a:r>
              <a:rPr b="1" spc="-10"/>
              <a:t>can</a:t>
            </a:r>
            <a:r>
              <a:rPr lang="en-US" b="1" spc="-10"/>
              <a:t>/can’t</a:t>
            </a:r>
            <a:r>
              <a:rPr b="1" spc="-10"/>
              <a:t> do</a:t>
            </a:r>
            <a:r>
              <a:rPr b="1" spc="125"/>
              <a:t> </a:t>
            </a:r>
            <a:r>
              <a:rPr b="1" spc="-25"/>
              <a:t>yet?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8800" y="151723"/>
            <a:ext cx="6988809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25"/>
              <a:t>What </a:t>
            </a:r>
            <a:r>
              <a:rPr b="1" spc="-5"/>
              <a:t>AI </a:t>
            </a:r>
            <a:r>
              <a:rPr b="1" spc="-35"/>
              <a:t>systems </a:t>
            </a:r>
            <a:r>
              <a:rPr b="1" spc="-10"/>
              <a:t>can</a:t>
            </a:r>
            <a:r>
              <a:rPr lang="en-US" b="1" spc="-10"/>
              <a:t>/can’t</a:t>
            </a:r>
            <a:r>
              <a:rPr b="1" spc="-10"/>
              <a:t> do</a:t>
            </a:r>
            <a:r>
              <a:rPr b="1" spc="125"/>
              <a:t> </a:t>
            </a:r>
            <a:r>
              <a:rPr b="1" spc="-25"/>
              <a:t>yet?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9E2C9-51C6-01C9-7899-66324C004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68" y="836490"/>
            <a:ext cx="7161976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10C451-AFF9-87A2-078C-B5DD0CEFF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68" y="1339766"/>
            <a:ext cx="8599192" cy="646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4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4400" y="685298"/>
            <a:ext cx="8153400" cy="65537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9580" y="246634"/>
            <a:ext cx="6121400" cy="114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81352" y="1676400"/>
            <a:ext cx="9454896" cy="411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D6BC0-4104-1C18-50EC-6667F8CF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304800"/>
            <a:ext cx="5257800" cy="5944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D150A-7A1E-9D1D-335B-D074CD65EF42}"/>
              </a:ext>
            </a:extLst>
          </p:cNvPr>
          <p:cNvSpPr txBox="1"/>
          <p:nvPr/>
        </p:nvSpPr>
        <p:spPr>
          <a:xfrm>
            <a:off x="1079500" y="6249790"/>
            <a:ext cx="11658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• Consider the task of figuring out what move white should make given a particular chess position.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731E3-CAA1-384B-CF3A-330637BCD925}"/>
              </a:ext>
            </a:extLst>
          </p:cNvPr>
          <p:cNvSpPr txBox="1"/>
          <p:nvPr/>
        </p:nvSpPr>
        <p:spPr>
          <a:xfrm>
            <a:off x="8966200" y="2057400"/>
            <a:ext cx="4191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• </a:t>
            </a:r>
            <a:r>
              <a:rPr lang="en-US" sz="3200">
                <a:solidFill>
                  <a:srgbClr val="FF0000"/>
                </a:solidFill>
              </a:rPr>
              <a:t>Can this be done using Reflex based Models ?</a:t>
            </a:r>
            <a:endParaRPr 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9484" y="152400"/>
            <a:ext cx="5969000" cy="355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2800" y="3276600"/>
            <a:ext cx="9160615" cy="300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1492" y="965774"/>
            <a:ext cx="10134600" cy="6705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94CE4-AA3A-08DC-91B6-2B15D4F77E07}"/>
              </a:ext>
            </a:extLst>
          </p:cNvPr>
          <p:cNvSpPr txBox="1"/>
          <p:nvPr/>
        </p:nvSpPr>
        <p:spPr>
          <a:xfrm>
            <a:off x="1270000" y="3286035"/>
            <a:ext cx="624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oogle Sans"/>
              </a:rPr>
              <a:t>decision-making in situations where outcomes are partly random and partly under the control of a decision-maker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F84BE-B5B7-A03E-0C6D-46F4502DD21F}"/>
              </a:ext>
            </a:extLst>
          </p:cNvPr>
          <p:cNvSpPr txBox="1"/>
          <p:nvPr/>
        </p:nvSpPr>
        <p:spPr>
          <a:xfrm>
            <a:off x="3632200" y="101025"/>
            <a:ext cx="6910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Types of state-based models.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4588" y="235593"/>
            <a:ext cx="2424536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71"/>
            <a:r>
              <a:rPr spc="46"/>
              <a:t>Sudoku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1F04D-6F8B-F8F6-0C12-EDEC68A1382D}"/>
              </a:ext>
            </a:extLst>
          </p:cNvPr>
          <p:cNvSpPr txBox="1"/>
          <p:nvPr/>
        </p:nvSpPr>
        <p:spPr>
          <a:xfrm>
            <a:off x="2870200" y="6856482"/>
            <a:ext cx="541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State based Possible ??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32679-366B-CEA2-C82C-18ABF2406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447800"/>
            <a:ext cx="11896644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1273516"/>
            <a:ext cx="13335000" cy="5686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lang="en-US" sz="3200" spc="-76">
                <a:cs typeface="Tahoma"/>
              </a:rPr>
              <a:t>  </a:t>
            </a:r>
            <a:r>
              <a:rPr sz="3200" spc="-76">
                <a:cs typeface="Tahoma"/>
              </a:rPr>
              <a:t>In </a:t>
            </a:r>
            <a:r>
              <a:rPr sz="3200" spc="-38">
                <a:cs typeface="Tahoma"/>
              </a:rPr>
              <a:t>state-based models, </a:t>
            </a:r>
            <a:r>
              <a:rPr sz="3200" spc="-27">
                <a:solidFill>
                  <a:srgbClr val="C00000"/>
                </a:solidFill>
                <a:cs typeface="Tahoma"/>
              </a:rPr>
              <a:t>solutions </a:t>
            </a:r>
            <a:r>
              <a:rPr sz="3200" spc="-61">
                <a:solidFill>
                  <a:srgbClr val="C00000"/>
                </a:solidFill>
                <a:cs typeface="Tahoma"/>
              </a:rPr>
              <a:t>are </a:t>
            </a:r>
            <a:r>
              <a:rPr sz="3200" spc="-38">
                <a:solidFill>
                  <a:srgbClr val="C00000"/>
                </a:solidFill>
                <a:cs typeface="Tahoma"/>
              </a:rPr>
              <a:t>procedural</a:t>
            </a:r>
            <a:r>
              <a:rPr sz="3200" spc="-38">
                <a:cs typeface="Tahoma"/>
              </a:rPr>
              <a:t>:  </a:t>
            </a:r>
            <a:r>
              <a:rPr sz="3200" spc="-30">
                <a:cs typeface="Tahoma"/>
              </a:rPr>
              <a:t>they specify </a:t>
            </a:r>
            <a:r>
              <a:rPr sz="3200" spc="-38">
                <a:cs typeface="Tahoma"/>
              </a:rPr>
              <a:t>step </a:t>
            </a:r>
            <a:r>
              <a:rPr sz="3200" spc="-53">
                <a:cs typeface="Tahoma"/>
              </a:rPr>
              <a:t>by </a:t>
            </a:r>
            <a:r>
              <a:rPr sz="3200" spc="-38">
                <a:cs typeface="Tahoma"/>
              </a:rPr>
              <a:t>step </a:t>
            </a:r>
            <a:r>
              <a:rPr sz="3200" spc="-19">
                <a:cs typeface="Tahoma"/>
              </a:rPr>
              <a:t>instructions </a:t>
            </a:r>
            <a:r>
              <a:rPr sz="3200" spc="-42">
                <a:cs typeface="Tahoma"/>
              </a:rPr>
              <a:t>on </a:t>
            </a:r>
            <a:r>
              <a:rPr sz="3200" spc="-61">
                <a:cs typeface="Tahoma"/>
              </a:rPr>
              <a:t>how </a:t>
            </a:r>
            <a:r>
              <a:rPr sz="3200">
                <a:cs typeface="Tahoma"/>
              </a:rPr>
              <a:t>to </a:t>
            </a:r>
            <a:r>
              <a:rPr sz="3200" spc="-49">
                <a:cs typeface="Tahoma"/>
              </a:rPr>
              <a:t>go </a:t>
            </a:r>
            <a:r>
              <a:rPr sz="3200" spc="-27">
                <a:cs typeface="Tahoma"/>
              </a:rPr>
              <a:t>from </a:t>
            </a:r>
            <a:r>
              <a:rPr sz="3200" spc="95">
                <a:cs typeface="Tahoma"/>
              </a:rPr>
              <a:t>A </a:t>
            </a:r>
            <a:r>
              <a:rPr sz="3200">
                <a:cs typeface="Tahoma"/>
              </a:rPr>
              <a:t>to </a:t>
            </a:r>
            <a:r>
              <a:rPr sz="3200" spc="42">
                <a:cs typeface="Tahoma"/>
              </a:rPr>
              <a:t>B.</a:t>
            </a:r>
            <a:endParaRPr lang="en-US" sz="3200" spc="42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sz="3200">
              <a:cs typeface="Tahoma"/>
            </a:endParaRPr>
          </a:p>
          <a:p>
            <a:pPr marL="167309" indent="-157638">
              <a:spcBef>
                <a:spcPts val="697"/>
              </a:spcBef>
              <a:buFont typeface="Arial"/>
              <a:buChar char="•"/>
              <a:tabLst>
                <a:tab pos="167793" algn="l"/>
              </a:tabLst>
            </a:pPr>
            <a:r>
              <a:rPr lang="en-US" sz="3200" spc="-76">
                <a:cs typeface="Tahoma"/>
              </a:rPr>
              <a:t>  </a:t>
            </a:r>
            <a:r>
              <a:rPr sz="3200" spc="-76">
                <a:cs typeface="Tahoma"/>
              </a:rPr>
              <a:t>In </a:t>
            </a:r>
            <a:r>
              <a:rPr sz="3200" spc="-61">
                <a:cs typeface="Tahoma"/>
              </a:rPr>
              <a:t>some </a:t>
            </a:r>
            <a:r>
              <a:rPr sz="3200" spc="-19">
                <a:cs typeface="Tahoma"/>
              </a:rPr>
              <a:t>applications, </a:t>
            </a:r>
            <a:r>
              <a:rPr sz="3200" spc="-30">
                <a:cs typeface="Tahoma"/>
              </a:rPr>
              <a:t>the </a:t>
            </a:r>
            <a:r>
              <a:rPr sz="3200" spc="-49">
                <a:cs typeface="Tahoma"/>
              </a:rPr>
              <a:t>order </a:t>
            </a:r>
            <a:r>
              <a:rPr sz="3200" spc="-11">
                <a:cs typeface="Tahoma"/>
              </a:rPr>
              <a:t>in </a:t>
            </a:r>
            <a:r>
              <a:rPr sz="3200" spc="-27">
                <a:cs typeface="Tahoma"/>
              </a:rPr>
              <a:t>which things </a:t>
            </a:r>
            <a:r>
              <a:rPr sz="3200" spc="-61">
                <a:cs typeface="Tahoma"/>
              </a:rPr>
              <a:t>are </a:t>
            </a:r>
            <a:r>
              <a:rPr sz="3200" spc="-53">
                <a:cs typeface="Tahoma"/>
              </a:rPr>
              <a:t>done </a:t>
            </a:r>
            <a:r>
              <a:rPr sz="3200" spc="8">
                <a:cs typeface="Tahoma"/>
              </a:rPr>
              <a:t>isn’t </a:t>
            </a:r>
            <a:r>
              <a:rPr sz="3200" spc="-15">
                <a:cs typeface="Tahoma"/>
              </a:rPr>
              <a:t>important.</a:t>
            </a:r>
            <a:endParaRPr lang="en-US" sz="3200" spc="-15">
              <a:cs typeface="Tahoma"/>
            </a:endParaRPr>
          </a:p>
          <a:p>
            <a:pPr marL="167309" indent="-157638">
              <a:spcBef>
                <a:spcPts val="697"/>
              </a:spcBef>
              <a:buFont typeface="Arial"/>
              <a:buChar char="•"/>
              <a:tabLst>
                <a:tab pos="167793" algn="l"/>
              </a:tabLst>
            </a:pPr>
            <a:endParaRPr lang="en-US" sz="3200" spc="-15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lang="en-US" sz="3200" spc="-19">
                <a:cs typeface="Tahoma"/>
              </a:rPr>
              <a:t> For</a:t>
            </a:r>
            <a:r>
              <a:rPr lang="en-US" sz="3200" spc="99">
                <a:cs typeface="Tahoma"/>
              </a:rPr>
              <a:t> </a:t>
            </a:r>
            <a:r>
              <a:rPr lang="en-US" sz="3200" spc="-42">
                <a:cs typeface="Tahoma"/>
              </a:rPr>
              <a:t>example,</a:t>
            </a:r>
            <a:r>
              <a:rPr lang="en-US" sz="3200" spc="118">
                <a:cs typeface="Tahoma"/>
              </a:rPr>
              <a:t> </a:t>
            </a:r>
            <a:r>
              <a:rPr lang="en-US" sz="3200" spc="-11">
                <a:cs typeface="Tahoma"/>
              </a:rPr>
              <a:t>in</a:t>
            </a:r>
            <a:r>
              <a:rPr lang="en-US" sz="3200" spc="99">
                <a:cs typeface="Tahoma"/>
              </a:rPr>
              <a:t> </a:t>
            </a:r>
            <a:r>
              <a:rPr lang="en-US" sz="3200" spc="-19" err="1">
                <a:cs typeface="Tahoma"/>
              </a:rPr>
              <a:t>Sodoku</a:t>
            </a:r>
            <a:r>
              <a:rPr lang="en-US" sz="3200" spc="-19">
                <a:cs typeface="Tahoma"/>
              </a:rPr>
              <a:t>,</a:t>
            </a:r>
            <a:r>
              <a:rPr lang="en-US" sz="3200" spc="114">
                <a:cs typeface="Tahoma"/>
              </a:rPr>
              <a:t> </a:t>
            </a:r>
            <a:r>
              <a:rPr lang="en-US" sz="3200" spc="-61">
                <a:cs typeface="Tahoma"/>
              </a:rPr>
              <a:t>where</a:t>
            </a:r>
            <a:r>
              <a:rPr lang="en-US" sz="3200" spc="99">
                <a:cs typeface="Tahoma"/>
              </a:rPr>
              <a:t> </a:t>
            </a:r>
            <a:r>
              <a:rPr lang="en-US" sz="3200" spc="-30">
                <a:cs typeface="Tahoma"/>
              </a:rPr>
              <a:t>the</a:t>
            </a:r>
            <a:r>
              <a:rPr lang="en-US" sz="3200" spc="99">
                <a:cs typeface="Tahoma"/>
              </a:rPr>
              <a:t> </a:t>
            </a:r>
            <a:r>
              <a:rPr lang="en-US" sz="3200" spc="-30">
                <a:cs typeface="Tahoma"/>
              </a:rPr>
              <a:t>goal</a:t>
            </a:r>
            <a:r>
              <a:rPr lang="en-US" sz="3200" spc="103">
                <a:cs typeface="Tahoma"/>
              </a:rPr>
              <a:t> </a:t>
            </a:r>
            <a:r>
              <a:rPr lang="en-US" sz="3200" spc="-27">
                <a:cs typeface="Tahoma"/>
              </a:rPr>
              <a:t>is</a:t>
            </a:r>
            <a:r>
              <a:rPr lang="en-US" sz="3200" spc="99">
                <a:cs typeface="Tahoma"/>
              </a:rPr>
              <a:t> </a:t>
            </a:r>
            <a:r>
              <a:rPr lang="en-US" sz="3200">
                <a:cs typeface="Tahoma"/>
              </a:rPr>
              <a:t>to</a:t>
            </a:r>
            <a:r>
              <a:rPr lang="en-US" sz="3200" spc="99">
                <a:cs typeface="Tahoma"/>
              </a:rPr>
              <a:t> </a:t>
            </a:r>
            <a:r>
              <a:rPr lang="en-US" sz="3200" spc="-11">
                <a:solidFill>
                  <a:srgbClr val="FF0000"/>
                </a:solidFill>
                <a:cs typeface="Tahoma"/>
              </a:rPr>
              <a:t>put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15">
                <a:solidFill>
                  <a:srgbClr val="FF0000"/>
                </a:solidFill>
                <a:cs typeface="Tahoma"/>
              </a:rPr>
              <a:t>digits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11">
                <a:solidFill>
                  <a:srgbClr val="FF0000"/>
                </a:solidFill>
                <a:cs typeface="Tahoma"/>
              </a:rPr>
              <a:t>in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30">
                <a:solidFill>
                  <a:srgbClr val="FF0000"/>
                </a:solidFill>
                <a:cs typeface="Tahoma"/>
              </a:rPr>
              <a:t>the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23">
                <a:solidFill>
                  <a:srgbClr val="FF0000"/>
                </a:solidFill>
                <a:cs typeface="Tahoma"/>
              </a:rPr>
              <a:t>blank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57">
                <a:solidFill>
                  <a:srgbClr val="FF0000"/>
                </a:solidFill>
                <a:cs typeface="Tahoma"/>
              </a:rPr>
              <a:t>squares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>
                <a:solidFill>
                  <a:srgbClr val="FF0000"/>
                </a:solidFill>
                <a:cs typeface="Tahoma"/>
              </a:rPr>
              <a:t>to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27">
                <a:solidFill>
                  <a:srgbClr val="FF0000"/>
                </a:solidFill>
                <a:cs typeface="Tahoma"/>
              </a:rPr>
              <a:t>satisfy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49">
                <a:solidFill>
                  <a:srgbClr val="FF0000"/>
                </a:solidFill>
                <a:cs typeface="Tahoma"/>
              </a:rPr>
              <a:t>uniqueness</a:t>
            </a:r>
            <a:r>
              <a:rPr lang="en-US" sz="3200" spc="99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23">
                <a:solidFill>
                  <a:srgbClr val="FF0000"/>
                </a:solidFill>
                <a:cs typeface="Tahoma"/>
              </a:rPr>
              <a:t>constraints</a:t>
            </a:r>
            <a:r>
              <a:rPr lang="en-US" sz="3200" spc="-23">
                <a:cs typeface="Tahoma"/>
              </a:rPr>
              <a:t>,</a:t>
            </a:r>
            <a:r>
              <a:rPr lang="en-US" sz="3200" spc="114">
                <a:cs typeface="Tahoma"/>
              </a:rPr>
              <a:t> </a:t>
            </a:r>
            <a:r>
              <a:rPr lang="en-US" sz="3200" spc="-4">
                <a:cs typeface="Tahoma"/>
              </a:rPr>
              <a:t>all</a:t>
            </a:r>
            <a:r>
              <a:rPr lang="en-US" sz="3200" spc="99">
                <a:cs typeface="Tahoma"/>
              </a:rPr>
              <a:t> </a:t>
            </a:r>
            <a:r>
              <a:rPr lang="en-US" sz="3200">
                <a:cs typeface="Tahoma"/>
              </a:rPr>
              <a:t>that</a:t>
            </a:r>
            <a:r>
              <a:rPr lang="en-US" sz="3200" spc="103">
                <a:cs typeface="Tahoma"/>
              </a:rPr>
              <a:t> </a:t>
            </a:r>
            <a:r>
              <a:rPr lang="en-US" sz="3200" spc="-27">
                <a:cs typeface="Tahoma"/>
              </a:rPr>
              <a:t>matters</a:t>
            </a:r>
            <a:r>
              <a:rPr lang="en-US" sz="3200" spc="99">
                <a:cs typeface="Tahoma"/>
              </a:rPr>
              <a:t> </a:t>
            </a:r>
            <a:r>
              <a:rPr lang="en-US" sz="3200" spc="-27">
                <a:cs typeface="Tahoma"/>
              </a:rPr>
              <a:t>is</a:t>
            </a:r>
            <a:r>
              <a:rPr lang="en-US" sz="3200" spc="99">
                <a:cs typeface="Tahoma"/>
              </a:rPr>
              <a:t> </a:t>
            </a:r>
            <a:r>
              <a:rPr lang="en-US" sz="3200" spc="-30">
                <a:cs typeface="Tahoma"/>
              </a:rPr>
              <a:t>the</a:t>
            </a:r>
            <a:r>
              <a:rPr lang="en-US" sz="3200" spc="99">
                <a:cs typeface="Tahoma"/>
              </a:rPr>
              <a:t> </a:t>
            </a:r>
            <a:r>
              <a:rPr lang="en-US" sz="3200" spc="-15">
                <a:solidFill>
                  <a:srgbClr val="FF0000"/>
                </a:solidFill>
                <a:cs typeface="Tahoma"/>
              </a:rPr>
              <a:t>final </a:t>
            </a:r>
            <a:r>
              <a:rPr lang="en-US" sz="3200" spc="-23">
                <a:solidFill>
                  <a:srgbClr val="FF0000"/>
                </a:solidFill>
                <a:cs typeface="Tahoma"/>
              </a:rPr>
              <a:t>configuration </a:t>
            </a:r>
            <a:r>
              <a:rPr lang="en-US" sz="3200" spc="-27">
                <a:solidFill>
                  <a:srgbClr val="FF0000"/>
                </a:solidFill>
                <a:cs typeface="Tahoma"/>
              </a:rPr>
              <a:t>of </a:t>
            </a:r>
            <a:r>
              <a:rPr lang="en-US" sz="3200" spc="-49">
                <a:solidFill>
                  <a:srgbClr val="FF0000"/>
                </a:solidFill>
                <a:cs typeface="Tahoma"/>
              </a:rPr>
              <a:t>numbers; </a:t>
            </a:r>
            <a:r>
              <a:rPr lang="en-US" sz="3200" spc="-53">
                <a:solidFill>
                  <a:srgbClr val="FF0000"/>
                </a:solidFill>
                <a:cs typeface="Tahoma"/>
              </a:rPr>
              <a:t>you </a:t>
            </a:r>
            <a:r>
              <a:rPr lang="en-US" sz="3200" spc="-34">
                <a:solidFill>
                  <a:srgbClr val="FF0000"/>
                </a:solidFill>
                <a:cs typeface="Tahoma"/>
              </a:rPr>
              <a:t>can </a:t>
            </a:r>
            <a:r>
              <a:rPr lang="en-US" sz="3200" spc="8">
                <a:solidFill>
                  <a:srgbClr val="FF0000"/>
                </a:solidFill>
                <a:cs typeface="Tahoma"/>
              </a:rPr>
              <a:t>fill </a:t>
            </a:r>
            <a:r>
              <a:rPr lang="en-US" sz="3200" spc="-34">
                <a:solidFill>
                  <a:srgbClr val="FF0000"/>
                </a:solidFill>
                <a:cs typeface="Tahoma"/>
              </a:rPr>
              <a:t>them </a:t>
            </a:r>
            <a:r>
              <a:rPr lang="en-US" sz="3200" spc="-11">
                <a:solidFill>
                  <a:srgbClr val="FF0000"/>
                </a:solidFill>
                <a:cs typeface="Tahoma"/>
              </a:rPr>
              <a:t>in in </a:t>
            </a:r>
            <a:r>
              <a:rPr lang="en-US" sz="3200" spc="-42">
                <a:solidFill>
                  <a:srgbClr val="FF0000"/>
                </a:solidFill>
                <a:cs typeface="Tahoma"/>
              </a:rPr>
              <a:t>any </a:t>
            </a:r>
            <a:r>
              <a:rPr lang="en-US" sz="3200" spc="274">
                <a:solidFill>
                  <a:srgbClr val="FF0000"/>
                </a:solidFill>
                <a:cs typeface="Tahoma"/>
              </a:rPr>
              <a:t> </a:t>
            </a:r>
            <a:r>
              <a:rPr lang="en-US" sz="3200" spc="-46">
                <a:solidFill>
                  <a:srgbClr val="FF0000"/>
                </a:solidFill>
                <a:cs typeface="Tahoma"/>
              </a:rPr>
              <a:t>order.</a:t>
            </a: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lang="en-US" sz="3200" spc="-46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lang="en-US" sz="3200" spc="8">
                <a:cs typeface="Tahoma"/>
              </a:rPr>
              <a:t> This </a:t>
            </a:r>
            <a:r>
              <a:rPr lang="en-US" sz="3200" spc="-11">
                <a:cs typeface="Tahoma"/>
              </a:rPr>
              <a:t>flexibility </a:t>
            </a:r>
            <a:r>
              <a:rPr lang="en-US" sz="3200" spc="-38">
                <a:cs typeface="Tahoma"/>
              </a:rPr>
              <a:t>allows </a:t>
            </a:r>
            <a:r>
              <a:rPr lang="en-US" sz="3200" spc="-53">
                <a:cs typeface="Tahoma"/>
              </a:rPr>
              <a:t>us </a:t>
            </a:r>
            <a:r>
              <a:rPr lang="en-US" sz="3200">
                <a:cs typeface="Tahoma"/>
              </a:rPr>
              <a:t>to </a:t>
            </a:r>
            <a:r>
              <a:rPr lang="en-US" sz="3200" spc="-49">
                <a:cs typeface="Tahoma"/>
              </a:rPr>
              <a:t>devise </a:t>
            </a:r>
            <a:r>
              <a:rPr lang="en-US" sz="3200" spc="-57">
                <a:cs typeface="Tahoma"/>
              </a:rPr>
              <a:t>more </a:t>
            </a:r>
            <a:r>
              <a:rPr lang="en-US" sz="3200" spc="-27">
                <a:cs typeface="Tahoma"/>
              </a:rPr>
              <a:t>efficient </a:t>
            </a:r>
            <a:r>
              <a:rPr lang="en-US" sz="3200" spc="122">
                <a:cs typeface="Tahoma"/>
              </a:rPr>
              <a:t> </a:t>
            </a:r>
            <a:r>
              <a:rPr lang="en-US" sz="3200" spc="-27">
                <a:cs typeface="Tahoma"/>
              </a:rPr>
              <a:t>algorithms.</a:t>
            </a:r>
            <a:endParaRPr lang="en-US" sz="3200">
              <a:cs typeface="Tahoma"/>
            </a:endParaRPr>
          </a:p>
          <a:p>
            <a:pPr marL="167309" indent="-157638">
              <a:spcBef>
                <a:spcPts val="697"/>
              </a:spcBef>
              <a:buFont typeface="Arial"/>
              <a:buChar char="•"/>
              <a:tabLst>
                <a:tab pos="167793" algn="l"/>
              </a:tabLst>
            </a:pPr>
            <a:endParaRPr sz="3200"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8078" y="2655094"/>
            <a:ext cx="943652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lang="en-US" sz="2000">
              <a:latin typeface="Tahoma"/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sz="20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17030-D46B-3080-B152-8B8352EA7C94}"/>
              </a:ext>
            </a:extLst>
          </p:cNvPr>
          <p:cNvSpPr txBox="1"/>
          <p:nvPr/>
        </p:nvSpPr>
        <p:spPr>
          <a:xfrm>
            <a:off x="4394200" y="320270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130">
                <a:latin typeface="+mj-lt"/>
                <a:cs typeface="Tahoma"/>
              </a:rPr>
              <a:t>Variable-based</a:t>
            </a:r>
            <a:r>
              <a:rPr lang="en-US" sz="3600" spc="5">
                <a:latin typeface="+mj-lt"/>
                <a:cs typeface="Tahoma"/>
              </a:rPr>
              <a:t> </a:t>
            </a:r>
            <a:r>
              <a:rPr lang="en-US" sz="3600" spc="-150">
                <a:latin typeface="+mj-lt"/>
                <a:cs typeface="Tahoma"/>
              </a:rPr>
              <a:t>models</a:t>
            </a:r>
            <a:endParaRPr lang="en-US" sz="3600">
              <a:latin typeface="+mj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696" y="1186949"/>
            <a:ext cx="1249680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lang="en-US" sz="2800" b="1" spc="-27">
                <a:solidFill>
                  <a:srgbClr val="FF0000"/>
                </a:solidFill>
                <a:latin typeface="+mj-lt"/>
                <a:cs typeface="Gill Sans MT"/>
              </a:rPr>
              <a:t> </a:t>
            </a:r>
            <a:r>
              <a:rPr sz="2800" b="1" spc="-27">
                <a:solidFill>
                  <a:srgbClr val="FF0000"/>
                </a:solidFill>
                <a:cs typeface="Gill Sans MT"/>
              </a:rPr>
              <a:t>Constraint  </a:t>
            </a:r>
            <a:r>
              <a:rPr sz="2800" b="1" spc="-4">
                <a:solidFill>
                  <a:srgbClr val="FF0000"/>
                </a:solidFill>
                <a:cs typeface="Gill Sans MT"/>
              </a:rPr>
              <a:t>satisfaction </a:t>
            </a:r>
            <a:r>
              <a:rPr sz="2800" b="1" spc="-42">
                <a:solidFill>
                  <a:srgbClr val="FF0000"/>
                </a:solidFill>
                <a:cs typeface="Gill Sans MT"/>
              </a:rPr>
              <a:t>problems  </a:t>
            </a:r>
            <a:r>
              <a:rPr sz="2800" spc="-61">
                <a:cs typeface="Tahoma"/>
              </a:rPr>
              <a:t>are </a:t>
            </a:r>
            <a:r>
              <a:rPr sz="2800" spc="-42">
                <a:cs typeface="Tahoma"/>
              </a:rPr>
              <a:t>variable-based </a:t>
            </a:r>
            <a:r>
              <a:rPr sz="2800" spc="-38">
                <a:cs typeface="Tahoma"/>
              </a:rPr>
              <a:t>models </a:t>
            </a:r>
            <a:r>
              <a:rPr sz="2800" spc="-61">
                <a:cs typeface="Tahoma"/>
              </a:rPr>
              <a:t>where </a:t>
            </a:r>
            <a:r>
              <a:rPr sz="2800" spc="-95">
                <a:cs typeface="Tahoma"/>
              </a:rPr>
              <a:t>we  </a:t>
            </a:r>
            <a:r>
              <a:rPr sz="2800" spc="-27">
                <a:cs typeface="Tahoma"/>
              </a:rPr>
              <a:t>only </a:t>
            </a:r>
            <a:r>
              <a:rPr sz="2800" spc="-53">
                <a:cs typeface="Tahoma"/>
              </a:rPr>
              <a:t>have </a:t>
            </a:r>
            <a:r>
              <a:rPr sz="2800" spc="-42">
                <a:cs typeface="Tahoma"/>
              </a:rPr>
              <a:t>hard </a:t>
            </a:r>
            <a:r>
              <a:rPr sz="2800" spc="-23">
                <a:cs typeface="Tahoma"/>
              </a:rPr>
              <a:t>constraints.  </a:t>
            </a:r>
            <a:endParaRPr lang="en-US" sz="2800" spc="-23">
              <a:cs typeface="Tahoma"/>
            </a:endParaRPr>
          </a:p>
          <a:p>
            <a:pPr marL="1081709" lvl="2" indent="-157638">
              <a:buFont typeface="Arial"/>
              <a:buChar char="•"/>
              <a:tabLst>
                <a:tab pos="167793" algn="l"/>
              </a:tabLst>
            </a:pPr>
            <a:r>
              <a:rPr lang="en-US" sz="2800" spc="-19">
                <a:cs typeface="Tahoma"/>
              </a:rPr>
              <a:t> </a:t>
            </a:r>
            <a:r>
              <a:rPr sz="2800" spc="-19">
                <a:cs typeface="Tahoma"/>
              </a:rPr>
              <a:t>For </a:t>
            </a:r>
            <a:r>
              <a:rPr sz="2800" spc="-42">
                <a:cs typeface="Tahoma"/>
              </a:rPr>
              <a:t>example, </a:t>
            </a:r>
            <a:r>
              <a:rPr sz="2800" spc="-11">
                <a:cs typeface="Tahoma"/>
              </a:rPr>
              <a:t>in </a:t>
            </a:r>
            <a:r>
              <a:rPr sz="2800" spc="-34">
                <a:cs typeface="Tahoma"/>
              </a:rPr>
              <a:t>scheduling, </a:t>
            </a:r>
            <a:r>
              <a:rPr sz="2800" spc="-57">
                <a:cs typeface="Tahoma"/>
              </a:rPr>
              <a:t>one </a:t>
            </a:r>
            <a:r>
              <a:rPr sz="2800" spc="-42">
                <a:cs typeface="Tahoma"/>
              </a:rPr>
              <a:t>person</a:t>
            </a:r>
            <a:r>
              <a:rPr lang="en-US" sz="2800" spc="-42">
                <a:cs typeface="Tahoma"/>
              </a:rPr>
              <a:t> </a:t>
            </a:r>
            <a:r>
              <a:rPr lang="en-US" sz="2800" spc="5">
                <a:cs typeface="Tahoma"/>
              </a:rPr>
              <a:t>can’t </a:t>
            </a:r>
            <a:r>
              <a:rPr lang="en-US" sz="2800" spc="-60">
                <a:cs typeface="Tahoma"/>
              </a:rPr>
              <a:t>be </a:t>
            </a:r>
            <a:r>
              <a:rPr lang="en-US" sz="2800" spc="-15">
                <a:cs typeface="Tahoma"/>
              </a:rPr>
              <a:t>in </a:t>
            </a:r>
            <a:r>
              <a:rPr lang="en-US" sz="2800" spc="-60">
                <a:cs typeface="Tahoma"/>
              </a:rPr>
              <a:t>two </a:t>
            </a:r>
            <a:r>
              <a:rPr lang="en-US" sz="2800" spc="-55">
                <a:cs typeface="Tahoma"/>
              </a:rPr>
              <a:t>places </a:t>
            </a:r>
            <a:r>
              <a:rPr lang="en-US" sz="2800" spc="-5">
                <a:cs typeface="Tahoma"/>
              </a:rPr>
              <a:t>at</a:t>
            </a:r>
            <a:r>
              <a:rPr lang="en-US" sz="2800" spc="415">
                <a:cs typeface="Tahoma"/>
              </a:rPr>
              <a:t> </a:t>
            </a:r>
            <a:r>
              <a:rPr lang="en-US" sz="2800" spc="-55">
                <a:cs typeface="Tahoma"/>
              </a:rPr>
              <a:t>once.</a:t>
            </a:r>
            <a:endParaRPr sz="2800"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0386A-019A-471A-08B3-D091C0BA786E}"/>
              </a:ext>
            </a:extLst>
          </p:cNvPr>
          <p:cNvSpPr txBox="1"/>
          <p:nvPr/>
        </p:nvSpPr>
        <p:spPr>
          <a:xfrm>
            <a:off x="509896" y="2956674"/>
            <a:ext cx="123443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/>
            <a:r>
              <a:rPr lang="en-US" sz="2800" spc="5">
                <a:cs typeface="Times New Roman"/>
              </a:rPr>
              <a:t>Imagine </a:t>
            </a:r>
            <a:r>
              <a:rPr lang="en-US" sz="2800">
                <a:solidFill>
                  <a:srgbClr val="FF0000"/>
                </a:solidFill>
                <a:cs typeface="Times New Roman"/>
              </a:rPr>
              <a:t>scheduling </a:t>
            </a:r>
            <a:r>
              <a:rPr lang="en-US" sz="2800" spc="-40">
                <a:solidFill>
                  <a:srgbClr val="FF0000"/>
                </a:solidFill>
                <a:cs typeface="Times New Roman"/>
              </a:rPr>
              <a:t>3 </a:t>
            </a:r>
            <a:r>
              <a:rPr lang="en-US" sz="2800" spc="5">
                <a:solidFill>
                  <a:srgbClr val="FF0000"/>
                </a:solidFill>
                <a:cs typeface="Times New Roman"/>
              </a:rPr>
              <a:t>friends with </a:t>
            </a:r>
            <a:r>
              <a:rPr lang="en-US" sz="2800">
                <a:solidFill>
                  <a:srgbClr val="FF0000"/>
                </a:solidFill>
                <a:cs typeface="Times New Roman"/>
              </a:rPr>
              <a:t>different </a:t>
            </a:r>
            <a:r>
              <a:rPr lang="en-US" sz="2800" spc="5">
                <a:solidFill>
                  <a:srgbClr val="FF0000"/>
                </a:solidFill>
                <a:cs typeface="Times New Roman"/>
              </a:rPr>
              <a:t>dietary </a:t>
            </a:r>
            <a:r>
              <a:rPr lang="en-US" sz="2800" spc="10">
                <a:solidFill>
                  <a:srgbClr val="FF0000"/>
                </a:solidFill>
                <a:cs typeface="Times New Roman"/>
              </a:rPr>
              <a:t>restrictions </a:t>
            </a:r>
            <a:r>
              <a:rPr lang="en-US" sz="2800" spc="5">
                <a:solidFill>
                  <a:srgbClr val="FF0000"/>
                </a:solidFill>
                <a:cs typeface="Times New Roman"/>
              </a:rPr>
              <a:t>for </a:t>
            </a:r>
            <a:r>
              <a:rPr lang="en-US" sz="2800" spc="20">
                <a:solidFill>
                  <a:srgbClr val="FF0000"/>
                </a:solidFill>
                <a:cs typeface="Times New Roman"/>
              </a:rPr>
              <a:t>dinner</a:t>
            </a:r>
            <a:r>
              <a:rPr lang="en-US" sz="2800" spc="20">
                <a:cs typeface="Times New Roman"/>
              </a:rPr>
              <a:t>: </a:t>
            </a:r>
            <a:r>
              <a:rPr lang="en-US" sz="2800" spc="-10">
                <a:solidFill>
                  <a:srgbClr val="C00000"/>
                </a:solidFill>
                <a:cs typeface="Times New Roman"/>
              </a:rPr>
              <a:t>a </a:t>
            </a:r>
            <a:r>
              <a:rPr lang="en-US" sz="2800" spc="-25">
                <a:solidFill>
                  <a:srgbClr val="C00000"/>
                </a:solidFill>
                <a:cs typeface="Times New Roman"/>
              </a:rPr>
              <a:t>vegan</a:t>
            </a:r>
            <a:r>
              <a:rPr lang="en-US" sz="2800" spc="-25">
                <a:solidFill>
                  <a:schemeClr val="tx2">
                    <a:lumMod val="50000"/>
                  </a:schemeClr>
                </a:solidFill>
                <a:cs typeface="Times New Roman"/>
              </a:rPr>
              <a:t>, </a:t>
            </a:r>
            <a:r>
              <a:rPr lang="en-US" sz="2800" spc="-10">
                <a:solidFill>
                  <a:schemeClr val="tx2">
                    <a:lumMod val="50000"/>
                  </a:schemeClr>
                </a:solidFill>
                <a:cs typeface="Times New Roman"/>
              </a:rPr>
              <a:t>a  </a:t>
            </a:r>
            <a:r>
              <a:rPr lang="en-US" sz="2800" spc="-10">
                <a:solidFill>
                  <a:srgbClr val="00B050"/>
                </a:solidFill>
                <a:cs typeface="Times New Roman"/>
              </a:rPr>
              <a:t>vegetarian</a:t>
            </a:r>
            <a:r>
              <a:rPr lang="en-US" sz="2800" spc="-10">
                <a:solidFill>
                  <a:schemeClr val="tx2">
                    <a:lumMod val="50000"/>
                  </a:schemeClr>
                </a:solidFill>
                <a:cs typeface="Times New Roman"/>
              </a:rPr>
              <a:t>,</a:t>
            </a:r>
            <a:r>
              <a:rPr lang="en-US" sz="2800" spc="-40">
                <a:solidFill>
                  <a:schemeClr val="tx2">
                    <a:lumMod val="50000"/>
                  </a:schemeClr>
                </a:solidFill>
                <a:cs typeface="Times New Roman"/>
              </a:rPr>
              <a:t> </a:t>
            </a:r>
            <a:r>
              <a:rPr lang="en-US" sz="2800" spc="45">
                <a:solidFill>
                  <a:schemeClr val="tx2">
                    <a:lumMod val="50000"/>
                  </a:schemeClr>
                </a:solidFill>
                <a:cs typeface="Times New Roman"/>
              </a:rPr>
              <a:t>and</a:t>
            </a:r>
            <a:r>
              <a:rPr lang="en-US" sz="2800" spc="-40">
                <a:solidFill>
                  <a:schemeClr val="tx2">
                    <a:lumMod val="50000"/>
                  </a:schemeClr>
                </a:solidFill>
                <a:cs typeface="Times New Roman"/>
              </a:rPr>
              <a:t> </a:t>
            </a:r>
            <a:r>
              <a:rPr lang="en-US" sz="2800" spc="10">
                <a:solidFill>
                  <a:srgbClr val="002060"/>
                </a:solidFill>
                <a:cs typeface="Times New Roman"/>
              </a:rPr>
              <a:t>someone</a:t>
            </a:r>
            <a:r>
              <a:rPr lang="en-US" sz="2800" spc="-4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2800" spc="5">
                <a:solidFill>
                  <a:srgbClr val="002060"/>
                </a:solidFill>
                <a:cs typeface="Times New Roman"/>
              </a:rPr>
              <a:t>with</a:t>
            </a:r>
            <a:r>
              <a:rPr lang="en-US" sz="2800" spc="-4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2800" spc="-10">
                <a:solidFill>
                  <a:srgbClr val="002060"/>
                </a:solidFill>
                <a:cs typeface="Times New Roman"/>
              </a:rPr>
              <a:t>a</a:t>
            </a:r>
            <a:r>
              <a:rPr lang="en-US" sz="2800" spc="-4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2800" spc="-25">
                <a:solidFill>
                  <a:srgbClr val="002060"/>
                </a:solidFill>
                <a:cs typeface="Times New Roman"/>
              </a:rPr>
              <a:t>shellfish</a:t>
            </a:r>
            <a:r>
              <a:rPr lang="en-US" sz="2800" spc="-4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2800" spc="-35">
                <a:solidFill>
                  <a:srgbClr val="002060"/>
                </a:solidFill>
                <a:cs typeface="Times New Roman"/>
              </a:rPr>
              <a:t>all</a:t>
            </a:r>
            <a:r>
              <a:rPr lang="en-US" sz="2800" spc="-25">
                <a:solidFill>
                  <a:srgbClr val="002060"/>
                </a:solidFill>
                <a:cs typeface="Times New Roman"/>
              </a:rPr>
              <a:t>ergy</a:t>
            </a:r>
            <a:r>
              <a:rPr lang="en-US" sz="2800" spc="-35">
                <a:cs typeface="Times New Roman"/>
              </a:rPr>
              <a:t>.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-20">
                <a:cs typeface="Times New Roman"/>
              </a:rPr>
              <a:t>Each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30">
                <a:cs typeface="Times New Roman"/>
              </a:rPr>
              <a:t>restaurant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-5">
                <a:cs typeface="Times New Roman"/>
              </a:rPr>
              <a:t>caters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35">
                <a:cs typeface="Times New Roman"/>
              </a:rPr>
              <a:t>to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-30">
                <a:cs typeface="Times New Roman"/>
              </a:rPr>
              <a:t>specific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-10">
                <a:cs typeface="Times New Roman"/>
              </a:rPr>
              <a:t>diets,</a:t>
            </a:r>
            <a:r>
              <a:rPr lang="en-US" sz="2800" spc="-40">
                <a:cs typeface="Times New Roman"/>
              </a:rPr>
              <a:t> </a:t>
            </a:r>
            <a:r>
              <a:rPr lang="en-US" sz="2800" spc="-15">
                <a:cs typeface="Times New Roman"/>
              </a:rPr>
              <a:t>so  </a:t>
            </a:r>
            <a:r>
              <a:rPr lang="en-US" sz="2800">
                <a:cs typeface="Times New Roman"/>
              </a:rPr>
              <a:t>you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15">
                <a:cs typeface="Times New Roman"/>
              </a:rPr>
              <a:t>need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35">
                <a:cs typeface="Times New Roman"/>
              </a:rPr>
              <a:t>to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10">
                <a:cs typeface="Times New Roman"/>
              </a:rPr>
              <a:t>find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-10">
                <a:cs typeface="Times New Roman"/>
              </a:rPr>
              <a:t>a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30">
                <a:cs typeface="Times New Roman"/>
              </a:rPr>
              <a:t>restaurant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40">
                <a:cs typeface="Times New Roman"/>
              </a:rPr>
              <a:t>that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-30">
                <a:cs typeface="Times New Roman"/>
              </a:rPr>
              <a:t>satisfies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-15">
                <a:cs typeface="Times New Roman"/>
              </a:rPr>
              <a:t>everyone's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20">
                <a:cs typeface="Times New Roman"/>
              </a:rPr>
              <a:t>constraints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5">
                <a:cs typeface="Times New Roman"/>
              </a:rPr>
              <a:t>for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-10">
                <a:cs typeface="Times New Roman"/>
              </a:rPr>
              <a:t>a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10">
                <a:cs typeface="Times New Roman"/>
              </a:rPr>
              <a:t>happy</a:t>
            </a:r>
            <a:r>
              <a:rPr lang="en-US" sz="2800" spc="-50">
                <a:cs typeface="Times New Roman"/>
              </a:rPr>
              <a:t> </a:t>
            </a:r>
            <a:r>
              <a:rPr lang="en-US" sz="2800" spc="20">
                <a:cs typeface="Times New Roman"/>
              </a:rPr>
              <a:t>dinner!</a:t>
            </a:r>
            <a:endParaRPr lang="en-US" sz="2800"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6DE973-90E1-5A96-C8D3-87D15B20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4663678"/>
            <a:ext cx="2819400" cy="2628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05AD7-7042-2712-2329-24B0C9E74A58}"/>
              </a:ext>
            </a:extLst>
          </p:cNvPr>
          <p:cNvSpPr txBox="1"/>
          <p:nvPr/>
        </p:nvSpPr>
        <p:spPr>
          <a:xfrm>
            <a:off x="3937000" y="126276"/>
            <a:ext cx="6910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130">
                <a:latin typeface="+mj-lt"/>
                <a:cs typeface="Tahoma"/>
              </a:rPr>
              <a:t>Variable-based</a:t>
            </a:r>
            <a:r>
              <a:rPr lang="en-US" sz="3600" spc="5">
                <a:latin typeface="+mj-lt"/>
                <a:cs typeface="Tahoma"/>
              </a:rPr>
              <a:t> </a:t>
            </a:r>
            <a:r>
              <a:rPr lang="en-US" sz="3600" spc="-150">
                <a:latin typeface="+mj-lt"/>
                <a:cs typeface="Tahoma"/>
              </a:rPr>
              <a:t>models</a:t>
            </a:r>
            <a:endParaRPr lang="en-US" sz="3600">
              <a:latin typeface="+mj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A863-DC39-DED3-F529-926CC07C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9B1B91F-2990-7ADF-08A8-DD72A72361FD}"/>
              </a:ext>
            </a:extLst>
          </p:cNvPr>
          <p:cNvSpPr txBox="1"/>
          <p:nvPr/>
        </p:nvSpPr>
        <p:spPr>
          <a:xfrm>
            <a:off x="317500" y="1020609"/>
            <a:ext cx="13182600" cy="36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lang="en-US" sz="2800" b="1" spc="-11">
                <a:solidFill>
                  <a:srgbClr val="FF0000"/>
                </a:solidFill>
                <a:cs typeface="Gill Sans MT"/>
              </a:rPr>
              <a:t> </a:t>
            </a:r>
            <a:r>
              <a:rPr sz="2800" b="1" spc="-11">
                <a:solidFill>
                  <a:srgbClr val="FF0000"/>
                </a:solidFill>
                <a:cs typeface="Gill Sans MT"/>
              </a:rPr>
              <a:t>Bayesian  </a:t>
            </a:r>
            <a:r>
              <a:rPr sz="2800" b="1" spc="-42">
                <a:solidFill>
                  <a:srgbClr val="FF0000"/>
                </a:solidFill>
                <a:cs typeface="Gill Sans MT"/>
              </a:rPr>
              <a:t>networks  </a:t>
            </a:r>
            <a:r>
              <a:rPr sz="2800" spc="-61">
                <a:cs typeface="Tahoma"/>
              </a:rPr>
              <a:t>are</a:t>
            </a:r>
            <a:r>
              <a:rPr lang="en-US" sz="2800" spc="-61">
                <a:cs typeface="Tahoma"/>
              </a:rPr>
              <a:t> </a:t>
            </a:r>
            <a:r>
              <a:rPr sz="2800" spc="-42">
                <a:cs typeface="Tahoma"/>
              </a:rPr>
              <a:t>variable-based </a:t>
            </a:r>
            <a:r>
              <a:rPr sz="2800" spc="-38">
                <a:cs typeface="Tahoma"/>
              </a:rPr>
              <a:t>models </a:t>
            </a:r>
            <a:r>
              <a:rPr sz="2800" spc="-61">
                <a:cs typeface="Tahoma"/>
              </a:rPr>
              <a:t>where  </a:t>
            </a:r>
            <a:r>
              <a:rPr sz="2800" spc="-38">
                <a:cs typeface="Tahoma"/>
              </a:rPr>
              <a:t>variables </a:t>
            </a:r>
            <a:r>
              <a:rPr sz="2800" spc="-61">
                <a:cs typeface="Tahoma"/>
              </a:rPr>
              <a:t>are  </a:t>
            </a:r>
            <a:r>
              <a:rPr sz="2800" spc="-38">
                <a:cs typeface="Tahoma"/>
              </a:rPr>
              <a:t>random </a:t>
            </a:r>
            <a:r>
              <a:rPr sz="2800" b="1" spc="-38">
                <a:solidFill>
                  <a:srgbClr val="FF0000"/>
                </a:solidFill>
                <a:cs typeface="Tahoma"/>
              </a:rPr>
              <a:t>variables </a:t>
            </a:r>
            <a:r>
              <a:rPr sz="2800" b="1" spc="-27">
                <a:solidFill>
                  <a:srgbClr val="FF0000"/>
                </a:solidFill>
                <a:cs typeface="Tahoma"/>
              </a:rPr>
              <a:t>which </a:t>
            </a:r>
            <a:r>
              <a:rPr sz="2800" b="1" spc="-61">
                <a:solidFill>
                  <a:srgbClr val="FF0000"/>
                </a:solidFill>
                <a:cs typeface="Tahoma"/>
              </a:rPr>
              <a:t>are </a:t>
            </a:r>
            <a:r>
              <a:rPr sz="2800" b="1" spc="-42">
                <a:solidFill>
                  <a:srgbClr val="FF0000"/>
                </a:solidFill>
                <a:cs typeface="Tahoma"/>
              </a:rPr>
              <a:t>dependent on </a:t>
            </a:r>
            <a:r>
              <a:rPr sz="2800" b="1" spc="-46">
                <a:solidFill>
                  <a:srgbClr val="FF0000"/>
                </a:solidFill>
                <a:cs typeface="Tahoma"/>
              </a:rPr>
              <a:t>each </a:t>
            </a:r>
            <a:r>
              <a:rPr sz="2800" b="1" spc="-30">
                <a:solidFill>
                  <a:srgbClr val="FF0000"/>
                </a:solidFill>
                <a:cs typeface="Tahoma"/>
              </a:rPr>
              <a:t>other</a:t>
            </a:r>
            <a:r>
              <a:rPr sz="2800" spc="-30">
                <a:cs typeface="Tahoma"/>
              </a:rPr>
              <a:t>. </a:t>
            </a:r>
            <a:endParaRPr lang="en-US" sz="2800" spc="-30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lang="en-US" sz="2800" spc="-30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r>
              <a:rPr sz="2800" spc="-30">
                <a:cs typeface="Tahoma"/>
              </a:rPr>
              <a:t> </a:t>
            </a:r>
            <a:r>
              <a:rPr sz="2800" spc="-19">
                <a:cs typeface="Tahoma"/>
              </a:rPr>
              <a:t>For </a:t>
            </a:r>
            <a:r>
              <a:rPr sz="2800" spc="-42">
                <a:cs typeface="Tahoma"/>
              </a:rPr>
              <a:t>example, </a:t>
            </a:r>
            <a:r>
              <a:rPr sz="2800" spc="-30">
                <a:cs typeface="Tahoma"/>
              </a:rPr>
              <a:t>the</a:t>
            </a:r>
            <a:r>
              <a:rPr lang="en-US" sz="2800" spc="-30">
                <a:cs typeface="Tahoma"/>
              </a:rPr>
              <a:t> </a:t>
            </a:r>
            <a:r>
              <a:rPr lang="en-US" sz="2800" spc="-27">
                <a:cs typeface="Tahoma"/>
              </a:rPr>
              <a:t>true </a:t>
            </a:r>
            <a:r>
              <a:rPr lang="en-US" sz="2800" spc="-11">
                <a:cs typeface="Tahoma"/>
              </a:rPr>
              <a:t>location </a:t>
            </a:r>
            <a:r>
              <a:rPr lang="en-US" sz="2800" spc="-27">
                <a:cs typeface="Tahoma"/>
              </a:rPr>
              <a:t>of </a:t>
            </a:r>
            <a:r>
              <a:rPr lang="en-US" sz="2800" spc="-42">
                <a:cs typeface="Tahoma"/>
              </a:rPr>
              <a:t>an </a:t>
            </a:r>
            <a:r>
              <a:rPr lang="en-US" sz="2800" spc="-30">
                <a:cs typeface="Tahoma"/>
              </a:rPr>
              <a:t>airplane </a:t>
            </a:r>
            <a:r>
              <a:rPr lang="en-US" sz="2800" i="1" spc="30" err="1">
                <a:cs typeface="Bookman Old Style"/>
              </a:rPr>
              <a:t>H</a:t>
            </a:r>
            <a:r>
              <a:rPr lang="en-US" sz="2800" i="1" spc="46" baseline="-12077" err="1">
                <a:cs typeface="Trebuchet MS"/>
              </a:rPr>
              <a:t>t</a:t>
            </a:r>
            <a:r>
              <a:rPr lang="en-US" sz="2800" i="1" spc="46" baseline="-12077">
                <a:cs typeface="Trebuchet MS"/>
              </a:rPr>
              <a:t>  </a:t>
            </a:r>
            <a:r>
              <a:rPr lang="en-US" sz="2800" spc="-38">
                <a:cs typeface="Tahoma"/>
              </a:rPr>
              <a:t>and </a:t>
            </a:r>
            <a:r>
              <a:rPr lang="en-US" sz="2800" spc="-4">
                <a:cs typeface="Tahoma"/>
              </a:rPr>
              <a:t>its </a:t>
            </a:r>
            <a:r>
              <a:rPr lang="en-US" sz="2800" spc="-38">
                <a:cs typeface="Tahoma"/>
              </a:rPr>
              <a:t>radar reading </a:t>
            </a:r>
            <a:r>
              <a:rPr lang="en-US" sz="2800" i="1" spc="46">
                <a:cs typeface="Bookman Old Style"/>
              </a:rPr>
              <a:t>E</a:t>
            </a:r>
            <a:r>
              <a:rPr lang="en-US" sz="2800" i="1" spc="68" baseline="-12077">
                <a:cs typeface="Trebuchet MS"/>
              </a:rPr>
              <a:t>t  </a:t>
            </a:r>
            <a:r>
              <a:rPr lang="en-US" sz="2800" spc="-61">
                <a:cs typeface="Tahoma"/>
              </a:rPr>
              <a:t>are </a:t>
            </a:r>
            <a:r>
              <a:rPr lang="en-US" sz="2800" spc="-30">
                <a:cs typeface="Tahoma"/>
              </a:rPr>
              <a:t>related, </a:t>
            </a:r>
            <a:r>
              <a:rPr lang="en-US" sz="2800" spc="-57">
                <a:cs typeface="Tahoma"/>
              </a:rPr>
              <a:t>as </a:t>
            </a:r>
            <a:r>
              <a:rPr lang="en-US" sz="2800" spc="-61">
                <a:cs typeface="Tahoma"/>
              </a:rPr>
              <a:t>are </a:t>
            </a:r>
            <a:r>
              <a:rPr lang="en-US" sz="2800" spc="-30">
                <a:cs typeface="Tahoma"/>
              </a:rPr>
              <a:t>the </a:t>
            </a:r>
            <a:r>
              <a:rPr lang="en-US" sz="2800" spc="-11">
                <a:cs typeface="Tahoma"/>
              </a:rPr>
              <a:t>location </a:t>
            </a:r>
            <a:r>
              <a:rPr lang="en-US" sz="2800" i="1" spc="30" err="1">
                <a:cs typeface="Bookman Old Style"/>
              </a:rPr>
              <a:t>H</a:t>
            </a:r>
            <a:r>
              <a:rPr lang="en-US" sz="2800" i="1" spc="46" baseline="-12077" err="1">
                <a:cs typeface="Trebuchet MS"/>
              </a:rPr>
              <a:t>t</a:t>
            </a:r>
            <a:r>
              <a:rPr lang="en-US" sz="2800" i="1" spc="46" baseline="-12077">
                <a:cs typeface="Trebuchet MS"/>
              </a:rPr>
              <a:t>  </a:t>
            </a:r>
            <a:r>
              <a:rPr lang="en-US" sz="2800" spc="-38">
                <a:cs typeface="Tahoma"/>
              </a:rPr>
              <a:t>and </a:t>
            </a:r>
            <a:r>
              <a:rPr lang="en-US" sz="2800" spc="-30">
                <a:cs typeface="Tahoma"/>
              </a:rPr>
              <a:t>the </a:t>
            </a:r>
            <a:r>
              <a:rPr lang="en-US" sz="2800" spc="-11">
                <a:cs typeface="Tahoma"/>
              </a:rPr>
              <a:t>location </a:t>
            </a:r>
            <a:r>
              <a:rPr lang="en-US" sz="2800" spc="-4">
                <a:cs typeface="Tahoma"/>
              </a:rPr>
              <a:t>at </a:t>
            </a:r>
            <a:r>
              <a:rPr lang="en-US" sz="2800" spc="-30">
                <a:cs typeface="Tahoma"/>
              </a:rPr>
              <a:t>the </a:t>
            </a:r>
            <a:r>
              <a:rPr lang="en-US" sz="2800" spc="-15">
                <a:cs typeface="Tahoma"/>
              </a:rPr>
              <a:t>last </a:t>
            </a:r>
            <a:r>
              <a:rPr lang="en-US" sz="2800" spc="-19">
                <a:cs typeface="Tahoma"/>
              </a:rPr>
              <a:t>time </a:t>
            </a:r>
            <a:r>
              <a:rPr lang="en-US" sz="2800" spc="-38">
                <a:cs typeface="Tahoma"/>
              </a:rPr>
              <a:t>step </a:t>
            </a:r>
            <a:r>
              <a:rPr lang="en-US" sz="2800" i="1" spc="72">
                <a:cs typeface="Bookman Old Style"/>
              </a:rPr>
              <a:t>H</a:t>
            </a:r>
            <a:r>
              <a:rPr lang="en-US" sz="2800" i="1" spc="108" baseline="-12077">
                <a:cs typeface="Trebuchet MS"/>
              </a:rPr>
              <a:t>t</a:t>
            </a:r>
            <a:r>
              <a:rPr lang="en-US" sz="2800" i="1" spc="108" baseline="-12077">
                <a:cs typeface="Arial"/>
              </a:rPr>
              <a:t>−</a:t>
            </a:r>
            <a:r>
              <a:rPr lang="en-US" sz="2800" spc="108" baseline="-12077">
                <a:cs typeface="Bauhaus 93"/>
              </a:rPr>
              <a:t>1</a:t>
            </a:r>
            <a:r>
              <a:rPr lang="en-US" sz="2800" spc="72">
                <a:cs typeface="Tahoma"/>
              </a:rPr>
              <a:t>. </a:t>
            </a:r>
            <a:r>
              <a:rPr lang="en-US" sz="2800">
                <a:cs typeface="Tahoma"/>
              </a:rPr>
              <a:t>The </a:t>
            </a:r>
            <a:r>
              <a:rPr lang="en-US" sz="2800" spc="-27">
                <a:cs typeface="Tahoma"/>
              </a:rPr>
              <a:t>exact</a:t>
            </a:r>
            <a:r>
              <a:rPr lang="en-US" sz="2800" spc="30">
                <a:cs typeface="Tahoma"/>
              </a:rPr>
              <a:t> </a:t>
            </a:r>
            <a:r>
              <a:rPr lang="en-US" sz="2800" spc="-46">
                <a:cs typeface="Tahoma"/>
              </a:rPr>
              <a:t>dependency</a:t>
            </a:r>
            <a:r>
              <a:rPr lang="en-US" sz="2800" spc="34">
                <a:cs typeface="Tahoma"/>
              </a:rPr>
              <a:t> </a:t>
            </a:r>
            <a:r>
              <a:rPr lang="en-US" sz="2800" spc="-23">
                <a:cs typeface="Tahoma"/>
              </a:rPr>
              <a:t>structure</a:t>
            </a:r>
            <a:r>
              <a:rPr lang="en-US" sz="2800" spc="34">
                <a:cs typeface="Tahoma"/>
              </a:rPr>
              <a:t> </a:t>
            </a:r>
            <a:r>
              <a:rPr lang="en-US" sz="2800" spc="-27">
                <a:cs typeface="Tahoma"/>
              </a:rPr>
              <a:t>is</a:t>
            </a:r>
            <a:r>
              <a:rPr lang="en-US" sz="2800" spc="30">
                <a:cs typeface="Tahoma"/>
              </a:rPr>
              <a:t> </a:t>
            </a:r>
            <a:r>
              <a:rPr lang="en-US" sz="2800" spc="-42">
                <a:cs typeface="Tahoma"/>
              </a:rPr>
              <a:t>given</a:t>
            </a:r>
            <a:r>
              <a:rPr lang="en-US" sz="2800" spc="34">
                <a:cs typeface="Tahoma"/>
              </a:rPr>
              <a:t> </a:t>
            </a:r>
            <a:r>
              <a:rPr lang="en-US" sz="2800" spc="-53">
                <a:cs typeface="Tahoma"/>
              </a:rPr>
              <a:t>by</a:t>
            </a:r>
            <a:r>
              <a:rPr lang="en-US" sz="2800" spc="30">
                <a:cs typeface="Tahoma"/>
              </a:rPr>
              <a:t> </a:t>
            </a:r>
            <a:r>
              <a:rPr lang="en-US" sz="2800" spc="-30">
                <a:cs typeface="Tahoma"/>
              </a:rPr>
              <a:t>the</a:t>
            </a:r>
            <a:r>
              <a:rPr lang="en-US" sz="2800" spc="34">
                <a:cs typeface="Tahoma"/>
              </a:rPr>
              <a:t> </a:t>
            </a:r>
            <a:r>
              <a:rPr lang="en-US" sz="2800" spc="-38">
                <a:cs typeface="Tahoma"/>
              </a:rPr>
              <a:t>graph</a:t>
            </a:r>
            <a:r>
              <a:rPr lang="en-US" sz="2800" spc="34">
                <a:cs typeface="Tahoma"/>
              </a:rPr>
              <a:t> </a:t>
            </a:r>
            <a:r>
              <a:rPr lang="en-US" sz="2800" spc="-38">
                <a:cs typeface="Tahoma"/>
              </a:rPr>
              <a:t>and</a:t>
            </a:r>
            <a:r>
              <a:rPr lang="en-US" sz="2800" spc="30">
                <a:cs typeface="Tahoma"/>
              </a:rPr>
              <a:t> </a:t>
            </a:r>
            <a:r>
              <a:rPr lang="en-US" sz="2800" spc="27">
                <a:cs typeface="Tahoma"/>
              </a:rPr>
              <a:t>it</a:t>
            </a:r>
            <a:r>
              <a:rPr lang="en-US" sz="2800" spc="30">
                <a:cs typeface="Tahoma"/>
              </a:rPr>
              <a:t> </a:t>
            </a:r>
            <a:r>
              <a:rPr lang="en-US" sz="2800" spc="-23">
                <a:cs typeface="Tahoma"/>
              </a:rPr>
              <a:t>formally</a:t>
            </a:r>
            <a:r>
              <a:rPr lang="en-US" sz="2800" spc="34">
                <a:cs typeface="Tahoma"/>
              </a:rPr>
              <a:t> </a:t>
            </a:r>
            <a:r>
              <a:rPr lang="en-US" sz="2800" spc="-46">
                <a:cs typeface="Tahoma"/>
              </a:rPr>
              <a:t>defines</a:t>
            </a:r>
            <a:r>
              <a:rPr lang="en-US" sz="2800" spc="27">
                <a:cs typeface="Tahoma"/>
              </a:rPr>
              <a:t> </a:t>
            </a:r>
            <a:r>
              <a:rPr lang="en-US" sz="2800" spc="-46">
                <a:cs typeface="Tahoma"/>
              </a:rPr>
              <a:t>a</a:t>
            </a:r>
            <a:r>
              <a:rPr lang="en-US" sz="2800" spc="30">
                <a:cs typeface="Tahoma"/>
              </a:rPr>
              <a:t> </a:t>
            </a:r>
            <a:r>
              <a:rPr lang="en-US" sz="2800" spc="-8">
                <a:cs typeface="Tahoma"/>
              </a:rPr>
              <a:t>joint</a:t>
            </a:r>
            <a:r>
              <a:rPr lang="en-US" sz="2800" spc="30">
                <a:cs typeface="Tahoma"/>
              </a:rPr>
              <a:t> </a:t>
            </a:r>
            <a:r>
              <a:rPr lang="en-US" sz="2800" spc="-19">
                <a:cs typeface="Tahoma"/>
              </a:rPr>
              <a:t>probability</a:t>
            </a:r>
            <a:r>
              <a:rPr lang="en-US" sz="2800" spc="30">
                <a:cs typeface="Tahoma"/>
              </a:rPr>
              <a:t> </a:t>
            </a:r>
            <a:r>
              <a:rPr lang="en-US" sz="2800" spc="-11">
                <a:cs typeface="Tahoma"/>
              </a:rPr>
              <a:t>distribution</a:t>
            </a:r>
            <a:r>
              <a:rPr lang="en-US" sz="2800" spc="30">
                <a:cs typeface="Tahoma"/>
              </a:rPr>
              <a:t> </a:t>
            </a:r>
            <a:r>
              <a:rPr lang="en-US" sz="2800" spc="-46">
                <a:cs typeface="Tahoma"/>
              </a:rPr>
              <a:t>over</a:t>
            </a:r>
            <a:r>
              <a:rPr lang="en-US" sz="2800" spc="34">
                <a:cs typeface="Tahoma"/>
              </a:rPr>
              <a:t> </a:t>
            </a:r>
            <a:r>
              <a:rPr lang="en-US" sz="2800" spc="-4">
                <a:cs typeface="Tahoma"/>
              </a:rPr>
              <a:t>all</a:t>
            </a:r>
            <a:r>
              <a:rPr lang="en-US" sz="2800" spc="34">
                <a:cs typeface="Tahoma"/>
              </a:rPr>
              <a:t> </a:t>
            </a:r>
            <a:r>
              <a:rPr lang="en-US" sz="2800" spc="-27">
                <a:cs typeface="Tahoma"/>
              </a:rPr>
              <a:t>of</a:t>
            </a:r>
            <a:r>
              <a:rPr lang="en-US" sz="2800" spc="30">
                <a:cs typeface="Tahoma"/>
              </a:rPr>
              <a:t> </a:t>
            </a:r>
            <a:r>
              <a:rPr lang="en-US" sz="2800" spc="-30">
                <a:cs typeface="Tahoma"/>
              </a:rPr>
              <a:t>the</a:t>
            </a:r>
            <a:r>
              <a:rPr lang="en-US" sz="2800" spc="34">
                <a:cs typeface="Tahoma"/>
              </a:rPr>
              <a:t> </a:t>
            </a:r>
            <a:r>
              <a:rPr lang="en-US" sz="2800" spc="-38">
                <a:cs typeface="Tahoma"/>
              </a:rPr>
              <a:t>variables.</a:t>
            </a:r>
            <a:endParaRPr lang="en-US" sz="2800"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lang="en-US" sz="2000">
              <a:latin typeface="Tahoma"/>
              <a:cs typeface="Tahoma"/>
            </a:endParaRPr>
          </a:p>
          <a:p>
            <a:pPr marL="167309" indent="-157638">
              <a:buFont typeface="Arial"/>
              <a:buChar char="•"/>
              <a:tabLst>
                <a:tab pos="167793" algn="l"/>
              </a:tabLst>
            </a:pPr>
            <a:endParaRPr sz="20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8EFBDD-392B-0D2A-F151-48E4AAEC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66" y="4038600"/>
            <a:ext cx="5170468" cy="19178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AACBCC-3502-987B-C0B2-A77923159012}"/>
              </a:ext>
            </a:extLst>
          </p:cNvPr>
          <p:cNvSpPr txBox="1"/>
          <p:nvPr/>
        </p:nvSpPr>
        <p:spPr>
          <a:xfrm>
            <a:off x="3937000" y="126276"/>
            <a:ext cx="6910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130">
                <a:latin typeface="+mj-lt"/>
                <a:cs typeface="Tahoma"/>
              </a:rPr>
              <a:t>Variable-based</a:t>
            </a:r>
            <a:r>
              <a:rPr lang="en-US" sz="3600" spc="5">
                <a:latin typeface="+mj-lt"/>
                <a:cs typeface="Tahoma"/>
              </a:rPr>
              <a:t> </a:t>
            </a:r>
            <a:r>
              <a:rPr lang="en-US" sz="3600" spc="-150">
                <a:latin typeface="+mj-lt"/>
                <a:cs typeface="Tahoma"/>
              </a:rPr>
              <a:t>models</a:t>
            </a:r>
            <a:endParaRPr lang="en-US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81090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D46A34F-A1F6-8C31-C38C-83B8B2C15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52400"/>
            <a:ext cx="10822848" cy="595763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DA49-4212-DE09-F68F-49EAEB4D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206068"/>
            <a:ext cx="8686800" cy="787400"/>
          </a:xfrm>
        </p:spPr>
        <p:txBody>
          <a:bodyPr/>
          <a:lstStyle/>
          <a:p>
            <a:r>
              <a:rPr lang="en-US"/>
              <a:t>Motivation: virtual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E53AE-B7AB-F646-03DD-04F4AA63A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1300" y="1219200"/>
            <a:ext cx="13335000" cy="6093976"/>
          </a:xfrm>
        </p:spPr>
        <p:txBody>
          <a:bodyPr/>
          <a:lstStyle/>
          <a:p>
            <a:pPr marL="457200" indent="-457200">
              <a:spcAft>
                <a:spcPts val="1200"/>
              </a:spcAft>
            </a:pPr>
            <a:r>
              <a:rPr lang="en-US" sz="2700"/>
              <a:t>•   One motivation for </a:t>
            </a:r>
            <a:r>
              <a:rPr lang="en-US" sz="2700">
                <a:solidFill>
                  <a:srgbClr val="C00000"/>
                </a:solidFill>
              </a:rPr>
              <a:t>logic</a:t>
            </a:r>
            <a:r>
              <a:rPr lang="en-US" sz="2700"/>
              <a:t> is a virtual assistant.  A good assistant should be able to     </a:t>
            </a:r>
            <a:r>
              <a:rPr lang="en-US" sz="2700">
                <a:solidFill>
                  <a:srgbClr val="C00000"/>
                </a:solidFill>
              </a:rPr>
              <a:t>remember what you told it </a:t>
            </a:r>
            <a:r>
              <a:rPr lang="en-US" sz="2700"/>
              <a:t>and answer questions that </a:t>
            </a:r>
            <a:r>
              <a:rPr lang="en-US" sz="2700">
                <a:solidFill>
                  <a:srgbClr val="C00000"/>
                </a:solidFill>
              </a:rPr>
              <a:t>require drawing inferences </a:t>
            </a:r>
            <a:r>
              <a:rPr lang="en-US" sz="2700"/>
              <a:t>from its knowledge.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70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700"/>
              <a:t>You’d want </a:t>
            </a:r>
            <a:r>
              <a:rPr lang="en-US" sz="2700">
                <a:solidFill>
                  <a:srgbClr val="C00000"/>
                </a:solidFill>
              </a:rPr>
              <a:t>to interact with it using natural language</a:t>
            </a:r>
            <a:r>
              <a:rPr lang="en-US" sz="2700"/>
              <a:t>, the tool that humans invented for communication.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70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700"/>
              <a:t>With the emergence of large language models like ChatGPT, we are beginning to see virtual assistants with far greater capabilities.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70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700"/>
              <a:t>However, LLMs are well-known for their </a:t>
            </a:r>
            <a:r>
              <a:rPr lang="en-US" sz="2700">
                <a:solidFill>
                  <a:srgbClr val="FF0000"/>
                </a:solidFill>
              </a:rPr>
              <a:t>hallucinations</a:t>
            </a:r>
            <a:r>
              <a:rPr lang="en-US" sz="2700"/>
              <a:t>, whereas the </a:t>
            </a:r>
            <a:r>
              <a:rPr lang="en-US" sz="2700">
                <a:solidFill>
                  <a:srgbClr val="FF0000"/>
                </a:solidFill>
              </a:rPr>
              <a:t>logic-based system is 100% internally consistent</a:t>
            </a:r>
          </a:p>
        </p:txBody>
      </p:sp>
    </p:spTree>
    <p:extLst>
      <p:ext uri="{BB962C8B-B14F-4D97-AF65-F5344CB8AC3E}">
        <p14:creationId xmlns:p14="http://schemas.microsoft.com/office/powerpoint/2010/main" val="3338849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394A2-2963-EEEF-902B-1E77A6A74CB5}"/>
              </a:ext>
            </a:extLst>
          </p:cNvPr>
          <p:cNvSpPr txBox="1"/>
          <p:nvPr/>
        </p:nvSpPr>
        <p:spPr>
          <a:xfrm>
            <a:off x="15631" y="781164"/>
            <a:ext cx="134874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Natural Language Understanding: </a:t>
            </a:r>
            <a:r>
              <a:rPr lang="en-US" sz="2800"/>
              <a:t>A virtual assistant must be able to understand and respond to human language, which requires </a:t>
            </a:r>
            <a:r>
              <a:rPr lang="en-US" sz="2800">
                <a:solidFill>
                  <a:srgbClr val="FF0000"/>
                </a:solidFill>
              </a:rPr>
              <a:t>logical reasoning to interpret the meaning and context of the user's input.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User says: 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“Schedule a meeting tomorrow” </a:t>
            </a:r>
            <a:r>
              <a:rPr lang="en-US" sz="2400"/>
              <a:t>→ Assistant infers 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the correct date from today’s context</a:t>
            </a:r>
            <a:r>
              <a:rPr lang="en-US" sz="2400"/>
              <a:t>.</a:t>
            </a:r>
            <a:endParaRPr lang="en-US" sz="240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Information Processing: </a:t>
            </a:r>
            <a:r>
              <a:rPr lang="en-US" sz="2800"/>
              <a:t>To be effective, a virtual assistant must be able to digest and process </a:t>
            </a:r>
            <a:r>
              <a:rPr lang="en-US" sz="2800">
                <a:solidFill>
                  <a:srgbClr val="FF0000"/>
                </a:solidFill>
              </a:rPr>
              <a:t>information from various sources</a:t>
            </a:r>
            <a:r>
              <a:rPr lang="en-US" sz="2800"/>
              <a:t>. </a:t>
            </a:r>
            <a:r>
              <a:rPr lang="en-US" sz="2800">
                <a:solidFill>
                  <a:srgbClr val="FF0000"/>
                </a:solidFill>
              </a:rPr>
              <a:t>Logic provides a framework for organizing and analyzing this information.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Assistant checks 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calendar, email, and time zones </a:t>
            </a:r>
            <a:r>
              <a:rPr lang="en-US" sz="2400"/>
              <a:t>→ 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finds a free slot for the meeting</a:t>
            </a:r>
            <a:r>
              <a:rPr lang="en-US" sz="240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Deep Reasoning: </a:t>
            </a:r>
            <a:r>
              <a:rPr lang="en-US" sz="2800"/>
              <a:t>Virtual assistants should be able to reason deeply about the information they process, drawing conclusions and making informed decisions. </a:t>
            </a:r>
            <a:r>
              <a:rPr lang="en-US" sz="2800">
                <a:solidFill>
                  <a:srgbClr val="FF0000"/>
                </a:solidFill>
              </a:rPr>
              <a:t>Logic for sound arguments and decision-making.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If two meetings conflict, assistant suggests rescheduling the less urgent 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016E6-A71A-7CED-A9AD-6C4E9A250BF5}"/>
              </a:ext>
            </a:extLst>
          </p:cNvPr>
          <p:cNvSpPr txBox="1"/>
          <p:nvPr/>
        </p:nvSpPr>
        <p:spPr>
          <a:xfrm>
            <a:off x="2489200" y="11723"/>
            <a:ext cx="754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Logic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4811E3-B498-3C02-FFD8-6DBC13FE4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790700"/>
            <a:ext cx="1322025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548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1701" y="3479800"/>
            <a:ext cx="185610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/>
              <a:t>The</a:t>
            </a:r>
            <a:r>
              <a:rPr spc="-60"/>
              <a:t> </a:t>
            </a:r>
            <a:r>
              <a:rPr spc="-10"/>
              <a:t>End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3429" y="6832601"/>
            <a:ext cx="2800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>
                <a:solidFill>
                  <a:srgbClr val="888888"/>
                </a:solidFill>
                <a:latin typeface="Times New Roman"/>
                <a:cs typeface="Times New Roman"/>
              </a:rPr>
              <a:t>4</a:t>
            </a:r>
            <a:r>
              <a:rPr sz="2000" spc="-5">
                <a:solidFill>
                  <a:srgbClr val="888888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ED19A6-EC76-473D-A3DF-CB13680E1D34}"/>
</file>

<file path=customXml/itemProps2.xml><?xml version="1.0" encoding="utf-8"?>
<ds:datastoreItem xmlns:ds="http://schemas.openxmlformats.org/officeDocument/2006/customXml" ds:itemID="{D0298974-C208-4C11-B05C-DFD99F4F4B8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0C12E4-98B9-4242-B8FB-B16058610E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53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Artificial Intelligence</vt:lpstr>
      <vt:lpstr>Textbook</vt:lpstr>
      <vt:lpstr>What is AI?? Artificial + Intelligence</vt:lpstr>
      <vt:lpstr>What is Intelligence?</vt:lpstr>
      <vt:lpstr>What’s involved in Intelligence?</vt:lpstr>
      <vt:lpstr>What’s involved in Intelligence?</vt:lpstr>
      <vt:lpstr>Artificial Intelligence as Science</vt:lpstr>
      <vt:lpstr>Artificial Intelligence as Engineering</vt:lpstr>
      <vt:lpstr>What is AI? A simple Definition</vt:lpstr>
      <vt:lpstr>What is AI?</vt:lpstr>
      <vt:lpstr>Act like humans  Think like humans</vt:lpstr>
      <vt:lpstr>AI definition 01: Act Like Humans</vt:lpstr>
      <vt:lpstr>Eliza – A partial success…</vt:lpstr>
      <vt:lpstr>An Application of the Turing Test</vt:lpstr>
      <vt:lpstr>The Turing Test</vt:lpstr>
      <vt:lpstr>What’s wrong with the Turing test?</vt:lpstr>
      <vt:lpstr>A better Turing test?</vt:lpstr>
      <vt:lpstr>A better Turing test?</vt:lpstr>
      <vt:lpstr>A better Turing test?</vt:lpstr>
      <vt:lpstr>Act like humans  Think like humans</vt:lpstr>
      <vt:lpstr>Act like humans  Think like humans</vt:lpstr>
      <vt:lpstr>Act like humans  Think like humans</vt:lpstr>
      <vt:lpstr>AI definition 03: Thinking rationally</vt:lpstr>
      <vt:lpstr>AI definition 04: Acting rationally</vt:lpstr>
      <vt:lpstr>History of AI</vt:lpstr>
      <vt:lpstr>History of AI</vt:lpstr>
      <vt:lpstr>Deep learning</vt:lpstr>
      <vt:lpstr>Success Stories AI Systems</vt:lpstr>
      <vt:lpstr>Self-driving cars</vt:lpstr>
      <vt:lpstr>Speech and natural language</vt:lpstr>
      <vt:lpstr>Vision</vt:lpstr>
      <vt:lpstr>Healthcare</vt:lpstr>
      <vt:lpstr>Poverty mapping</vt:lpstr>
      <vt:lpstr>Games</vt:lpstr>
      <vt:lpstr>Mathematics</vt:lpstr>
      <vt:lpstr>Logistics, scheduling, planning</vt:lpstr>
      <vt:lpstr>Robotics</vt:lpstr>
      <vt:lpstr>What AI systems can/can’t do yet?</vt:lpstr>
      <vt:lpstr>What AI systems can/can’t do yet?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Sudoku</vt:lpstr>
      <vt:lpstr>PowerPoint Presentation</vt:lpstr>
      <vt:lpstr>PowerPoint Presentation</vt:lpstr>
      <vt:lpstr>PowerPoint Presentation</vt:lpstr>
      <vt:lpstr>PowerPoint Presentation</vt:lpstr>
      <vt:lpstr>Motivation: virtual assistant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revision>1</cp:revision>
  <dcterms:created xsi:type="dcterms:W3CDTF">2024-02-01T10:23:58Z</dcterms:created>
  <dcterms:modified xsi:type="dcterms:W3CDTF">2025-09-21T21:45:07Z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2016-01-22T00:00:00Z</vt:filetime>
  </property>
  <property fmtid="{D5CDD505-2E9C-101B-9397-08002B2CF9AE}" pid="3" name="LastSaved">
    <vt:filetime>2024-02-01T00:00:00Z</vt:filetime>
  </property>
  <property fmtid="{D5CDD505-2E9C-101B-9397-08002B2CF9AE}" pid="4" name="ContentTypeId">
    <vt:lpwstr>0x0101006E4823951FA9BF42B980A03718EB0B18</vt:lpwstr>
  </property>
</Properties>
</file>