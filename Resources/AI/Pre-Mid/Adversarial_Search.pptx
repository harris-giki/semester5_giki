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8"/>
  </p:notesMasterIdLst>
  <p:sldIdLst>
    <p:sldId id="345" r:id="rId5"/>
    <p:sldId id="348" r:id="rId6"/>
    <p:sldId id="280" r:id="rId7"/>
    <p:sldId id="262" r:id="rId8"/>
    <p:sldId id="264" r:id="rId9"/>
    <p:sldId id="273" r:id="rId10"/>
    <p:sldId id="281" r:id="rId11"/>
    <p:sldId id="270" r:id="rId12"/>
    <p:sldId id="267" r:id="rId13"/>
    <p:sldId id="271" r:id="rId14"/>
    <p:sldId id="268" r:id="rId15"/>
    <p:sldId id="265" r:id="rId16"/>
    <p:sldId id="276" r:id="rId17"/>
    <p:sldId id="277" r:id="rId18"/>
    <p:sldId id="278" r:id="rId19"/>
    <p:sldId id="284" r:id="rId20"/>
    <p:sldId id="285" r:id="rId21"/>
    <p:sldId id="292" r:id="rId22"/>
    <p:sldId id="287" r:id="rId23"/>
    <p:sldId id="290" r:id="rId24"/>
    <p:sldId id="288" r:id="rId25"/>
    <p:sldId id="293" r:id="rId26"/>
    <p:sldId id="294" r:id="rId27"/>
    <p:sldId id="291" r:id="rId28"/>
    <p:sldId id="351" r:id="rId29"/>
    <p:sldId id="296" r:id="rId30"/>
    <p:sldId id="304" r:id="rId31"/>
    <p:sldId id="308" r:id="rId32"/>
    <p:sldId id="310" r:id="rId33"/>
    <p:sldId id="311" r:id="rId34"/>
    <p:sldId id="312" r:id="rId35"/>
    <p:sldId id="329" r:id="rId36"/>
    <p:sldId id="315" r:id="rId37"/>
    <p:sldId id="316" r:id="rId38"/>
    <p:sldId id="317" r:id="rId39"/>
    <p:sldId id="319" r:id="rId40"/>
    <p:sldId id="318" r:id="rId41"/>
    <p:sldId id="320" r:id="rId42"/>
    <p:sldId id="33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55" r:id="rId52"/>
    <p:sldId id="356" r:id="rId53"/>
    <p:sldId id="357" r:id="rId54"/>
    <p:sldId id="335" r:id="rId55"/>
    <p:sldId id="336" r:id="rId56"/>
    <p:sldId id="352" r:id="rId57"/>
    <p:sldId id="338" r:id="rId58"/>
    <p:sldId id="340" r:id="rId59"/>
    <p:sldId id="341" r:id="rId60"/>
    <p:sldId id="342" r:id="rId61"/>
    <p:sldId id="353" r:id="rId62"/>
    <p:sldId id="354" r:id="rId63"/>
    <p:sldId id="343" r:id="rId64"/>
    <p:sldId id="358" r:id="rId65"/>
    <p:sldId id="359" r:id="rId66"/>
    <p:sldId id="344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C7BBD-B301-4F7E-A075-7ABA6FE7E22F}" v="8" dt="2025-10-08T05:16:45.268"/>
    <p1510:client id="{ECF13B43-D68B-D43B-2916-E1C640DE563B}" v="2" dt="2025-10-08T20:00:43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6265"/>
  </p:normalViewPr>
  <p:slideViewPr>
    <p:cSldViewPr snapToGrid="0" snapToObjects="1">
      <p:cViewPr varScale="1">
        <p:scale>
          <a:sx n="56" d="100"/>
          <a:sy n="56" d="100"/>
        </p:scale>
        <p:origin x="11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3171" userId="S::u2023171@giki.edu.pk::0fe57f17-9ba5-41c4-b45e-8016dac6fade" providerId="AD" clId="Web-{ECF13B43-D68B-D43B-2916-E1C640DE563B}"/>
    <pc:docChg chg="addSld delSld">
      <pc:chgData name="u2023171" userId="S::u2023171@giki.edu.pk::0fe57f17-9ba5-41c4-b45e-8016dac6fade" providerId="AD" clId="Web-{ECF13B43-D68B-D43B-2916-E1C640DE563B}" dt="2025-10-08T20:00:43.735" v="1"/>
      <pc:docMkLst>
        <pc:docMk/>
      </pc:docMkLst>
      <pc:sldChg chg="new del">
        <pc:chgData name="u2023171" userId="S::u2023171@giki.edu.pk::0fe57f17-9ba5-41c4-b45e-8016dac6fade" providerId="AD" clId="Web-{ECF13B43-D68B-D43B-2916-E1C640DE563B}" dt="2025-10-08T20:00:43.735" v="1"/>
        <pc:sldMkLst>
          <pc:docMk/>
          <pc:sldMk cId="3175949978" sldId="360"/>
        </pc:sldMkLst>
      </pc:sldChg>
    </pc:docChg>
  </pc:docChgLst>
  <pc:docChgLst>
    <pc:chgData name="Dr. Khurram Jadoon khan Asstt. Professor FCS" userId="684a1a15-bea5-4a17-9b67-1313be309245" providerId="ADAL" clId="{FA6A18CD-8C91-481B-AB6B-8B2BF6D0213A}"/>
    <pc:docChg chg="undo custSel addSld delSld modSld">
      <pc:chgData name="Dr. Khurram Jadoon khan Asstt. Professor FCS" userId="684a1a15-bea5-4a17-9b67-1313be309245" providerId="ADAL" clId="{FA6A18CD-8C91-481B-AB6B-8B2BF6D0213A}" dt="2025-10-08T05:29:21.786" v="248" actId="403"/>
      <pc:docMkLst>
        <pc:docMk/>
      </pc:docMkLst>
      <pc:sldChg chg="del">
        <pc:chgData name="Dr. Khurram Jadoon khan Asstt. Professor FCS" userId="684a1a15-bea5-4a17-9b67-1313be309245" providerId="ADAL" clId="{FA6A18CD-8C91-481B-AB6B-8B2BF6D0213A}" dt="2025-10-08T04:56:49.093" v="92" actId="47"/>
        <pc:sldMkLst>
          <pc:docMk/>
          <pc:sldMk cId="471553578" sldId="314"/>
        </pc:sldMkLst>
      </pc:sldChg>
      <pc:sldChg chg="modSp mod">
        <pc:chgData name="Dr. Khurram Jadoon khan Asstt. Professor FCS" userId="684a1a15-bea5-4a17-9b67-1313be309245" providerId="ADAL" clId="{FA6A18CD-8C91-481B-AB6B-8B2BF6D0213A}" dt="2025-10-08T05:00:50.646" v="117" actId="1076"/>
        <pc:sldMkLst>
          <pc:docMk/>
          <pc:sldMk cId="1365939468" sldId="328"/>
        </pc:sldMkLst>
        <pc:spChg chg="mod">
          <ac:chgData name="Dr. Khurram Jadoon khan Asstt. Professor FCS" userId="684a1a15-bea5-4a17-9b67-1313be309245" providerId="ADAL" clId="{FA6A18CD-8C91-481B-AB6B-8B2BF6D0213A}" dt="2025-10-08T05:00:50.646" v="117" actId="1076"/>
          <ac:spMkLst>
            <pc:docMk/>
            <pc:sldMk cId="1365939468" sldId="328"/>
            <ac:spMk id="2" creationId="{00000000-0000-0000-0000-000000000000}"/>
          </ac:spMkLst>
        </pc:spChg>
      </pc:sldChg>
      <pc:sldChg chg="del">
        <pc:chgData name="Dr. Khurram Jadoon khan Asstt. Professor FCS" userId="684a1a15-bea5-4a17-9b67-1313be309245" providerId="ADAL" clId="{FA6A18CD-8C91-481B-AB6B-8B2BF6D0213A}" dt="2025-10-08T04:57:11.337" v="93" actId="47"/>
        <pc:sldMkLst>
          <pc:docMk/>
          <pc:sldMk cId="758460302" sldId="334"/>
        </pc:sldMkLst>
      </pc:sldChg>
      <pc:sldChg chg="delSp modSp mod modNotesTx">
        <pc:chgData name="Dr. Khurram Jadoon khan Asstt. Professor FCS" userId="684a1a15-bea5-4a17-9b67-1313be309245" providerId="ADAL" clId="{FA6A18CD-8C91-481B-AB6B-8B2BF6D0213A}" dt="2025-10-08T03:57:28.560" v="5" actId="6549"/>
        <pc:sldMkLst>
          <pc:docMk/>
          <pc:sldMk cId="1764186257" sldId="335"/>
        </pc:sldMkLst>
        <pc:spChg chg="mod">
          <ac:chgData name="Dr. Khurram Jadoon khan Asstt. Professor FCS" userId="684a1a15-bea5-4a17-9b67-1313be309245" providerId="ADAL" clId="{FA6A18CD-8C91-481B-AB6B-8B2BF6D0213A}" dt="2025-10-08T03:57:25.174" v="4" actId="1076"/>
          <ac:spMkLst>
            <pc:docMk/>
            <pc:sldMk cId="1764186257" sldId="335"/>
            <ac:spMk id="5122" creationId="{00000000-0000-0000-0000-000000000000}"/>
          </ac:spMkLst>
        </pc:spChg>
        <pc:picChg chg="del">
          <ac:chgData name="Dr. Khurram Jadoon khan Asstt. Professor FCS" userId="684a1a15-bea5-4a17-9b67-1313be309245" providerId="ADAL" clId="{FA6A18CD-8C91-481B-AB6B-8B2BF6D0213A}" dt="2025-10-08T03:57:17.671" v="0" actId="478"/>
          <ac:picMkLst>
            <pc:docMk/>
            <pc:sldMk cId="1764186257" sldId="335"/>
            <ac:picMk id="2051" creationId="{00000000-0000-0000-0000-000000000000}"/>
          </ac:picMkLst>
        </pc:picChg>
      </pc:sldChg>
      <pc:sldChg chg="delSp modSp mod delAnim modNotesTx">
        <pc:chgData name="Dr. Khurram Jadoon khan Asstt. Professor FCS" userId="684a1a15-bea5-4a17-9b67-1313be309245" providerId="ADAL" clId="{FA6A18CD-8C91-481B-AB6B-8B2BF6D0213A}" dt="2025-10-08T05:26:51.746" v="213" actId="6549"/>
        <pc:sldMkLst>
          <pc:docMk/>
          <pc:sldMk cId="254157767" sldId="336"/>
        </pc:sldMkLst>
        <pc:spChg chg="mod">
          <ac:chgData name="Dr. Khurram Jadoon khan Asstt. Professor FCS" userId="684a1a15-bea5-4a17-9b67-1313be309245" providerId="ADAL" clId="{FA6A18CD-8C91-481B-AB6B-8B2BF6D0213A}" dt="2025-10-08T04:58:42.698" v="115" actId="20577"/>
          <ac:spMkLst>
            <pc:docMk/>
            <pc:sldMk cId="254157767" sldId="336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01:03.915" v="21" actId="20577"/>
          <ac:spMkLst>
            <pc:docMk/>
            <pc:sldMk cId="254157767" sldId="336"/>
            <ac:spMk id="96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3:59:33.188" v="12" actId="478"/>
          <ac:spMkLst>
            <pc:docMk/>
            <pc:sldMk cId="254157767" sldId="336"/>
            <ac:spMk id="9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3:57:34.112" v="6" actId="1076"/>
          <ac:spMkLst>
            <pc:docMk/>
            <pc:sldMk cId="254157767" sldId="336"/>
            <ac:spMk id="16386" creationId="{00000000-0000-0000-0000-000000000000}"/>
          </ac:spMkLst>
        </pc:spChg>
        <pc:picChg chg="del">
          <ac:chgData name="Dr. Khurram Jadoon khan Asstt. Professor FCS" userId="684a1a15-bea5-4a17-9b67-1313be309245" providerId="ADAL" clId="{FA6A18CD-8C91-481B-AB6B-8B2BF6D0213A}" dt="2025-10-08T03:59:09.592" v="11" actId="478"/>
          <ac:picMkLst>
            <pc:docMk/>
            <pc:sldMk cId="254157767" sldId="336"/>
            <ac:picMk id="93" creationId="{00000000-0000-0000-0000-000000000000}"/>
          </ac:picMkLst>
        </pc:picChg>
      </pc:sldChg>
      <pc:sldChg chg="modSp del mod">
        <pc:chgData name="Dr. Khurram Jadoon khan Asstt. Professor FCS" userId="684a1a15-bea5-4a17-9b67-1313be309245" providerId="ADAL" clId="{FA6A18CD-8C91-481B-AB6B-8B2BF6D0213A}" dt="2025-10-08T04:02:22.304" v="28" actId="47"/>
        <pc:sldMkLst>
          <pc:docMk/>
          <pc:sldMk cId="1096475533" sldId="337"/>
        </pc:sldMkLst>
        <pc:spChg chg="mod">
          <ac:chgData name="Dr. Khurram Jadoon khan Asstt. Professor FCS" userId="684a1a15-bea5-4a17-9b67-1313be309245" providerId="ADAL" clId="{FA6A18CD-8C91-481B-AB6B-8B2BF6D0213A}" dt="2025-10-08T03:58:01.176" v="7" actId="1076"/>
          <ac:spMkLst>
            <pc:docMk/>
            <pc:sldMk cId="1096475533" sldId="337"/>
            <ac:spMk id="13314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10-08T04:03:20.833" v="42" actId="1076"/>
        <pc:sldMkLst>
          <pc:docMk/>
          <pc:sldMk cId="781510715" sldId="338"/>
        </pc:sldMkLst>
        <pc:spChg chg="del">
          <ac:chgData name="Dr. Khurram Jadoon khan Asstt. Professor FCS" userId="684a1a15-bea5-4a17-9b67-1313be309245" providerId="ADAL" clId="{FA6A18CD-8C91-481B-AB6B-8B2BF6D0213A}" dt="2025-10-08T04:03:06.042" v="35" actId="478"/>
          <ac:spMkLst>
            <pc:docMk/>
            <pc:sldMk cId="781510715" sldId="338"/>
            <ac:spMk id="15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4:03:04.925" v="34" actId="478"/>
          <ac:spMkLst>
            <pc:docMk/>
            <pc:sldMk cId="781510715" sldId="338"/>
            <ac:spMk id="16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4:03:03.142" v="33" actId="478"/>
          <ac:spMkLst>
            <pc:docMk/>
            <pc:sldMk cId="781510715" sldId="338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03:19.116" v="41" actId="1076"/>
          <ac:spMkLst>
            <pc:docMk/>
            <pc:sldMk cId="781510715" sldId="338"/>
            <ac:spMk id="13314" creationId="{00000000-0000-0000-0000-000000000000}"/>
          </ac:spMkLst>
        </pc:spChg>
        <pc:grpChg chg="del">
          <ac:chgData name="Dr. Khurram Jadoon khan Asstt. Professor FCS" userId="684a1a15-bea5-4a17-9b67-1313be309245" providerId="ADAL" clId="{FA6A18CD-8C91-481B-AB6B-8B2BF6D0213A}" dt="2025-10-08T04:03:03.142" v="33" actId="478"/>
          <ac:grpSpMkLst>
            <pc:docMk/>
            <pc:sldMk cId="781510715" sldId="338"/>
            <ac:grpSpMk id="3" creationId="{00000000-0000-0000-0000-000000000000}"/>
          </ac:grpSpMkLst>
        </pc:grpChg>
        <pc:picChg chg="add mod">
          <ac:chgData name="Dr. Khurram Jadoon khan Asstt. Professor FCS" userId="684a1a15-bea5-4a17-9b67-1313be309245" providerId="ADAL" clId="{FA6A18CD-8C91-481B-AB6B-8B2BF6D0213A}" dt="2025-10-08T04:03:20.833" v="42" actId="1076"/>
          <ac:picMkLst>
            <pc:docMk/>
            <pc:sldMk cId="781510715" sldId="338"/>
            <ac:picMk id="4" creationId="{8210A5FC-F796-8016-2386-6D686AC389ED}"/>
          </ac:picMkLst>
        </pc:picChg>
      </pc:sldChg>
      <pc:sldChg chg="modSp del mod">
        <pc:chgData name="Dr. Khurram Jadoon khan Asstt. Professor FCS" userId="684a1a15-bea5-4a17-9b67-1313be309245" providerId="ADAL" clId="{FA6A18CD-8C91-481B-AB6B-8B2BF6D0213A}" dt="2025-10-08T04:04:26.448" v="47" actId="47"/>
        <pc:sldMkLst>
          <pc:docMk/>
          <pc:sldMk cId="1849594105" sldId="339"/>
        </pc:sldMkLst>
        <pc:spChg chg="mod">
          <ac:chgData name="Dr. Khurram Jadoon khan Asstt. Professor FCS" userId="684a1a15-bea5-4a17-9b67-1313be309245" providerId="ADAL" clId="{FA6A18CD-8C91-481B-AB6B-8B2BF6D0213A}" dt="2025-10-08T04:04:05.004" v="45" actId="1076"/>
          <ac:spMkLst>
            <pc:docMk/>
            <pc:sldMk cId="1849594105" sldId="339"/>
            <ac:spMk id="2" creationId="{00000000-0000-0000-0000-000000000000}"/>
          </ac:spMkLst>
        </pc:spChg>
      </pc:sldChg>
      <pc:sldChg chg="delSp modSp mod delAnim">
        <pc:chgData name="Dr. Khurram Jadoon khan Asstt. Professor FCS" userId="684a1a15-bea5-4a17-9b67-1313be309245" providerId="ADAL" clId="{FA6A18CD-8C91-481B-AB6B-8B2BF6D0213A}" dt="2025-10-08T05:27:45.905" v="216" actId="478"/>
        <pc:sldMkLst>
          <pc:docMk/>
          <pc:sldMk cId="1302332410" sldId="340"/>
        </pc:sldMkLst>
        <pc:spChg chg="mod">
          <ac:chgData name="Dr. Khurram Jadoon khan Asstt. Professor FCS" userId="684a1a15-bea5-4a17-9b67-1313be309245" providerId="ADAL" clId="{FA6A18CD-8C91-481B-AB6B-8B2BF6D0213A}" dt="2025-10-08T04:04:34.953" v="49" actId="14100"/>
          <ac:spMkLst>
            <pc:docMk/>
            <pc:sldMk cId="1302332410" sldId="340"/>
            <ac:spMk id="1331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05:09.086" v="52" actId="14100"/>
          <ac:spMkLst>
            <pc:docMk/>
            <pc:sldMk cId="1302332410" sldId="340"/>
            <ac:spMk id="16387" creationId="{00000000-0000-0000-0000-000000000000}"/>
          </ac:spMkLst>
        </pc:spChg>
        <pc:picChg chg="del">
          <ac:chgData name="Dr. Khurram Jadoon khan Asstt. Professor FCS" userId="684a1a15-bea5-4a17-9b67-1313be309245" providerId="ADAL" clId="{FA6A18CD-8C91-481B-AB6B-8B2BF6D0213A}" dt="2025-10-08T05:27:45.206" v="215" actId="478"/>
          <ac:picMkLst>
            <pc:docMk/>
            <pc:sldMk cId="1302332410" sldId="340"/>
            <ac:picMk id="26" creationId="{00000000-0000-0000-0000-000000000000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5:27:44.188" v="214" actId="478"/>
          <ac:picMkLst>
            <pc:docMk/>
            <pc:sldMk cId="1302332410" sldId="340"/>
            <ac:picMk id="30" creationId="{00000000-0000-0000-0000-000000000000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5:27:45.905" v="216" actId="478"/>
          <ac:picMkLst>
            <pc:docMk/>
            <pc:sldMk cId="1302332410" sldId="340"/>
            <ac:picMk id="31" creationId="{00000000-0000-0000-0000-000000000000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4:04:56.485" v="50" actId="478"/>
          <ac:picMkLst>
            <pc:docMk/>
            <pc:sldMk cId="1302332410" sldId="340"/>
            <ac:picMk id="7172" creationId="{00000000-0000-0000-0000-000000000000}"/>
          </ac:picMkLst>
        </pc:picChg>
      </pc:sldChg>
      <pc:sldChg chg="addSp delSp modSp mod delAnim">
        <pc:chgData name="Dr. Khurram Jadoon khan Asstt. Professor FCS" userId="684a1a15-bea5-4a17-9b67-1313be309245" providerId="ADAL" clId="{FA6A18CD-8C91-481B-AB6B-8B2BF6D0213A}" dt="2025-10-08T04:07:39.344" v="59" actId="14100"/>
        <pc:sldMkLst>
          <pc:docMk/>
          <pc:sldMk cId="1371295262" sldId="341"/>
        </pc:sldMkLst>
        <pc:spChg chg="mod">
          <ac:chgData name="Dr. Khurram Jadoon khan Asstt. Professor FCS" userId="684a1a15-bea5-4a17-9b67-1313be309245" providerId="ADAL" clId="{FA6A18CD-8C91-481B-AB6B-8B2BF6D0213A}" dt="2025-10-08T04:07:30.289" v="54" actId="1076"/>
          <ac:spMkLst>
            <pc:docMk/>
            <pc:sldMk cId="1371295262" sldId="341"/>
            <ac:spMk id="2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4:07:32.040" v="55" actId="478"/>
          <ac:spMkLst>
            <pc:docMk/>
            <pc:sldMk cId="1371295262" sldId="341"/>
            <ac:spMk id="4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4:07:33.640" v="56" actId="478"/>
          <ac:spMkLst>
            <pc:docMk/>
            <pc:sldMk cId="1371295262" sldId="341"/>
            <ac:spMk id="5" creationId="{00000000-0000-0000-0000-000000000000}"/>
          </ac:spMkLst>
        </pc:spChg>
        <pc:picChg chg="add mod">
          <ac:chgData name="Dr. Khurram Jadoon khan Asstt. Professor FCS" userId="684a1a15-bea5-4a17-9b67-1313be309245" providerId="ADAL" clId="{FA6A18CD-8C91-481B-AB6B-8B2BF6D0213A}" dt="2025-10-08T04:07:39.344" v="59" actId="14100"/>
          <ac:picMkLst>
            <pc:docMk/>
            <pc:sldMk cId="1371295262" sldId="341"/>
            <ac:picMk id="15" creationId="{64199AE1-45B8-9D87-A103-FCD383596E57}"/>
          </ac:picMkLst>
        </pc:picChg>
      </pc:sldChg>
      <pc:sldChg chg="addSp delSp modSp mod delAnim">
        <pc:chgData name="Dr. Khurram Jadoon khan Asstt. Professor FCS" userId="684a1a15-bea5-4a17-9b67-1313be309245" providerId="ADAL" clId="{FA6A18CD-8C91-481B-AB6B-8B2BF6D0213A}" dt="2025-10-08T05:07:44.265" v="201" actId="1076"/>
        <pc:sldMkLst>
          <pc:docMk/>
          <pc:sldMk cId="47277360" sldId="343"/>
        </pc:sldMkLst>
        <pc:spChg chg="add del mod">
          <ac:chgData name="Dr. Khurram Jadoon khan Asstt. Professor FCS" userId="684a1a15-bea5-4a17-9b67-1313be309245" providerId="ADAL" clId="{FA6A18CD-8C91-481B-AB6B-8B2BF6D0213A}" dt="2025-10-08T05:07:39.305" v="197" actId="478"/>
          <ac:spMkLst>
            <pc:docMk/>
            <pc:sldMk cId="47277360" sldId="343"/>
            <ac:spMk id="4" creationId="{2A25654C-BE28-F7C0-549D-8DCBEE42EB6F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8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9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20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21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40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55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63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64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6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5:07:25.573" v="194" actId="20577"/>
          <ac:spMkLst>
            <pc:docMk/>
            <pc:sldMk cId="47277360" sldId="343"/>
            <ac:spMk id="10242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30.542" v="196" actId="478"/>
          <ac:spMkLst>
            <pc:docMk/>
            <pc:sldMk cId="47277360" sldId="343"/>
            <ac:spMk id="10243" creationId="{00000000-0000-0000-0000-000000000000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7:28.674" v="195" actId="478"/>
          <ac:spMkLst>
            <pc:docMk/>
            <pc:sldMk cId="47277360" sldId="343"/>
            <ac:spMk id="10272" creationId="{00000000-0000-0000-0000-000000000000}"/>
          </ac:spMkLst>
        </pc:spChg>
        <pc:picChg chg="add mod">
          <ac:chgData name="Dr. Khurram Jadoon khan Asstt. Professor FCS" userId="684a1a15-bea5-4a17-9b67-1313be309245" providerId="ADAL" clId="{FA6A18CD-8C91-481B-AB6B-8B2BF6D0213A}" dt="2025-10-08T05:07:44.265" v="201" actId="1076"/>
          <ac:picMkLst>
            <pc:docMk/>
            <pc:sldMk cId="47277360" sldId="343"/>
            <ac:picMk id="6" creationId="{3F9F95F9-08E9-08F0-12E8-BFF6ABB749E5}"/>
          </ac:picMkLst>
        </pc:picChg>
      </pc:sldChg>
      <pc:sldChg chg="modSp mod modAnim">
        <pc:chgData name="Dr. Khurram Jadoon khan Asstt. Professor FCS" userId="684a1a15-bea5-4a17-9b67-1313be309245" providerId="ADAL" clId="{FA6A18CD-8C91-481B-AB6B-8B2BF6D0213A}" dt="2025-10-08T05:16:45.268" v="211" actId="20577"/>
        <pc:sldMkLst>
          <pc:docMk/>
          <pc:sldMk cId="21640130" sldId="344"/>
        </pc:sldMkLst>
        <pc:spChg chg="mod">
          <ac:chgData name="Dr. Khurram Jadoon khan Asstt. Professor FCS" userId="684a1a15-bea5-4a17-9b67-1313be309245" providerId="ADAL" clId="{FA6A18CD-8C91-481B-AB6B-8B2BF6D0213A}" dt="2025-10-08T05:16:26.755" v="209" actId="1076"/>
          <ac:spMkLst>
            <pc:docMk/>
            <pc:sldMk cId="21640130" sldId="34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10-08T05:16:45.268" v="211" actId="20577"/>
          <ac:spMkLst>
            <pc:docMk/>
            <pc:sldMk cId="21640130" sldId="344"/>
            <ac:spMk id="3" creationId="{00000000-0000-0000-0000-000000000000}"/>
          </ac:spMkLst>
        </pc:spChg>
      </pc:sldChg>
      <pc:sldChg chg="addSp delSp modSp add mod delAnim">
        <pc:chgData name="Dr. Khurram Jadoon khan Asstt. Professor FCS" userId="684a1a15-bea5-4a17-9b67-1313be309245" providerId="ADAL" clId="{FA6A18CD-8C91-481B-AB6B-8B2BF6D0213A}" dt="2025-10-08T04:01:23.427" v="27" actId="207"/>
        <pc:sldMkLst>
          <pc:docMk/>
          <pc:sldMk cId="1498441075" sldId="352"/>
        </pc:sldMkLst>
        <pc:spChg chg="del">
          <ac:chgData name="Dr. Khurram Jadoon khan Asstt. Professor FCS" userId="684a1a15-bea5-4a17-9b67-1313be309245" providerId="ADAL" clId="{FA6A18CD-8C91-481B-AB6B-8B2BF6D0213A}" dt="2025-10-08T04:00:13.908" v="14" actId="478"/>
          <ac:spMkLst>
            <pc:docMk/>
            <pc:sldMk cId="1498441075" sldId="352"/>
            <ac:spMk id="17" creationId="{4DD336DA-8E5C-9BA7-8F05-1FA7C8ABBC4C}"/>
          </ac:spMkLst>
        </pc:spChg>
        <pc:spChg chg="del">
          <ac:chgData name="Dr. Khurram Jadoon khan Asstt. Professor FCS" userId="684a1a15-bea5-4a17-9b67-1313be309245" providerId="ADAL" clId="{FA6A18CD-8C91-481B-AB6B-8B2BF6D0213A}" dt="2025-10-08T04:00:13.908" v="14" actId="478"/>
          <ac:spMkLst>
            <pc:docMk/>
            <pc:sldMk cId="1498441075" sldId="352"/>
            <ac:spMk id="96" creationId="{0ED0B64F-E81B-4018-D260-1A01074AE338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01:23.427" v="27" actId="207"/>
          <ac:spMkLst>
            <pc:docMk/>
            <pc:sldMk cId="1498441075" sldId="352"/>
            <ac:spMk id="16386" creationId="{DA300C2B-0142-2B15-FAEE-3585C1BB5192}"/>
          </ac:spMkLst>
        </pc:spChg>
        <pc:grpChg chg="del">
          <ac:chgData name="Dr. Khurram Jadoon khan Asstt. Professor FCS" userId="684a1a15-bea5-4a17-9b67-1313be309245" providerId="ADAL" clId="{FA6A18CD-8C91-481B-AB6B-8B2BF6D0213A}" dt="2025-10-08T04:00:13.908" v="14" actId="478"/>
          <ac:grpSpMkLst>
            <pc:docMk/>
            <pc:sldMk cId="1498441075" sldId="352"/>
            <ac:grpSpMk id="6" creationId="{F249B64C-3510-DA54-EE7C-F54DC5BEA713}"/>
          </ac:grpSpMkLst>
        </pc:grpChg>
        <pc:grpChg chg="del">
          <ac:chgData name="Dr. Khurram Jadoon khan Asstt. Professor FCS" userId="684a1a15-bea5-4a17-9b67-1313be309245" providerId="ADAL" clId="{FA6A18CD-8C91-481B-AB6B-8B2BF6D0213A}" dt="2025-10-08T04:00:13.908" v="14" actId="478"/>
          <ac:grpSpMkLst>
            <pc:docMk/>
            <pc:sldMk cId="1498441075" sldId="352"/>
            <ac:grpSpMk id="16" creationId="{47AB793E-367C-B57F-9E6D-89DD7CB27D08}"/>
          </ac:grpSpMkLst>
        </pc:grpChg>
        <pc:grpChg chg="del">
          <ac:chgData name="Dr. Khurram Jadoon khan Asstt. Professor FCS" userId="684a1a15-bea5-4a17-9b67-1313be309245" providerId="ADAL" clId="{FA6A18CD-8C91-481B-AB6B-8B2BF6D0213A}" dt="2025-10-08T04:00:13.908" v="14" actId="478"/>
          <ac:grpSpMkLst>
            <pc:docMk/>
            <pc:sldMk cId="1498441075" sldId="352"/>
            <ac:grpSpMk id="18" creationId="{17A626B8-A037-BB20-EFFE-E7332BCC49D8}"/>
          </ac:grpSpMkLst>
        </pc:grpChg>
        <pc:picChg chg="add mod">
          <ac:chgData name="Dr. Khurram Jadoon khan Asstt. Professor FCS" userId="684a1a15-bea5-4a17-9b67-1313be309245" providerId="ADAL" clId="{FA6A18CD-8C91-481B-AB6B-8B2BF6D0213A}" dt="2025-10-08T04:00:40.770" v="20" actId="14100"/>
          <ac:picMkLst>
            <pc:docMk/>
            <pc:sldMk cId="1498441075" sldId="352"/>
            <ac:picMk id="3" creationId="{D5C8DD9B-50AA-8025-ECC1-E9EBC9C1B2E8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4:00:13.908" v="14" actId="478"/>
          <ac:picMkLst>
            <pc:docMk/>
            <pc:sldMk cId="1498441075" sldId="352"/>
            <ac:picMk id="2050" creationId="{51087E2B-7FA9-BCED-87D8-31D97994987D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4:00:13.908" v="14" actId="478"/>
          <ac:picMkLst>
            <pc:docMk/>
            <pc:sldMk cId="1498441075" sldId="352"/>
            <ac:picMk id="4100" creationId="{1B22F8D5-58EF-0A69-13B7-CF5CBEC4963D}"/>
          </ac:picMkLst>
        </pc:picChg>
        <pc:cxnChg chg="mod">
          <ac:chgData name="Dr. Khurram Jadoon khan Asstt. Professor FCS" userId="684a1a15-bea5-4a17-9b67-1313be309245" providerId="ADAL" clId="{FA6A18CD-8C91-481B-AB6B-8B2BF6D0213A}" dt="2025-10-08T04:00:13.908" v="14" actId="478"/>
          <ac:cxnSpMkLst>
            <pc:docMk/>
            <pc:sldMk cId="1498441075" sldId="352"/>
            <ac:cxnSpMk id="35" creationId="{F9F1B493-9E35-BE36-D398-9DAD1CE8168B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0:13.908" v="14" actId="478"/>
          <ac:cxnSpMkLst>
            <pc:docMk/>
            <pc:sldMk cId="1498441075" sldId="352"/>
            <ac:cxnSpMk id="61" creationId="{0C43F761-C090-2326-2DE5-4474E702D3E4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0:13.908" v="14" actId="478"/>
          <ac:cxnSpMkLst>
            <pc:docMk/>
            <pc:sldMk cId="1498441075" sldId="352"/>
            <ac:cxnSpMk id="62" creationId="{6EC4DD6A-3818-1A7A-D6A4-4715AE385E9A}"/>
          </ac:cxnSpMkLst>
        </pc:cxnChg>
      </pc:sldChg>
      <pc:sldChg chg="addSp delSp modSp add mod">
        <pc:chgData name="Dr. Khurram Jadoon khan Asstt. Professor FCS" userId="684a1a15-bea5-4a17-9b67-1313be309245" providerId="ADAL" clId="{FA6A18CD-8C91-481B-AB6B-8B2BF6D0213A}" dt="2025-10-08T04:10:00.479" v="81" actId="20577"/>
        <pc:sldMkLst>
          <pc:docMk/>
          <pc:sldMk cId="1743857489" sldId="353"/>
        </pc:sldMkLst>
        <pc:spChg chg="add mod">
          <ac:chgData name="Dr. Khurram Jadoon khan Asstt. Professor FCS" userId="684a1a15-bea5-4a17-9b67-1313be309245" providerId="ADAL" clId="{FA6A18CD-8C91-481B-AB6B-8B2BF6D0213A}" dt="2025-10-08T04:09:14.940" v="74" actId="207"/>
          <ac:spMkLst>
            <pc:docMk/>
            <pc:sldMk cId="1743857489" sldId="353"/>
            <ac:spMk id="5" creationId="{8F5D69DA-9D6F-F47F-60FD-A7EEC93857B5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10:00.479" v="81" actId="20577"/>
          <ac:spMkLst>
            <pc:docMk/>
            <pc:sldMk cId="1743857489" sldId="353"/>
            <ac:spMk id="6146" creationId="{A9429BF3-B5D9-54C0-047D-B1825FC5C658}"/>
          </ac:spMkLst>
        </pc:spChg>
        <pc:grpChg chg="del">
          <ac:chgData name="Dr. Khurram Jadoon khan Asstt. Professor FCS" userId="684a1a15-bea5-4a17-9b67-1313be309245" providerId="ADAL" clId="{FA6A18CD-8C91-481B-AB6B-8B2BF6D0213A}" dt="2025-10-08T04:08:46.693" v="63" actId="478"/>
          <ac:grpSpMkLst>
            <pc:docMk/>
            <pc:sldMk cId="1743857489" sldId="353"/>
            <ac:grpSpMk id="51" creationId="{A8504F3B-CE09-CB70-D9E8-EF21A7758ADC}"/>
          </ac:grpSpMkLst>
        </pc:grpChg>
        <pc:picChg chg="add mod">
          <ac:chgData name="Dr. Khurram Jadoon khan Asstt. Professor FCS" userId="684a1a15-bea5-4a17-9b67-1313be309245" providerId="ADAL" clId="{FA6A18CD-8C91-481B-AB6B-8B2BF6D0213A}" dt="2025-10-08T04:09:00.984" v="67" actId="1076"/>
          <ac:picMkLst>
            <pc:docMk/>
            <pc:sldMk cId="1743857489" sldId="353"/>
            <ac:picMk id="3" creationId="{9152775C-CAF2-942C-9880-74BB0FC641CF}"/>
          </ac:picMkLst>
        </pc:pic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55" creationId="{EDF6C50A-AF9D-A317-A942-024A576E4498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76" creationId="{7193D716-EDCF-5DD1-A5D5-CB7A5CC5FCC6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81" creationId="{08AE82A3-7289-6052-66B3-6DE13B341573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83" creationId="{9EBFEC04-10BC-2165-65A1-C3941C69AFDB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88" creationId="{0F10A7B1-599D-17E8-CC73-0D28D528703A}"/>
          </ac:cxnSpMkLst>
        </pc:cxnChg>
        <pc:cxnChg chg="mod">
          <ac:chgData name="Dr. Khurram Jadoon khan Asstt. Professor FCS" userId="684a1a15-bea5-4a17-9b67-1313be309245" providerId="ADAL" clId="{FA6A18CD-8C91-481B-AB6B-8B2BF6D0213A}" dt="2025-10-08T04:08:46.693" v="63" actId="478"/>
          <ac:cxnSpMkLst>
            <pc:docMk/>
            <pc:sldMk cId="1743857489" sldId="353"/>
            <ac:cxnSpMk id="6190" creationId="{A942A775-C55F-EA27-C8B8-C277121DE8EA}"/>
          </ac:cxnSpMkLst>
        </pc:cxnChg>
      </pc:sldChg>
      <pc:sldChg chg="addSp delSp modSp add mod">
        <pc:chgData name="Dr. Khurram Jadoon khan Asstt. Professor FCS" userId="684a1a15-bea5-4a17-9b67-1313be309245" providerId="ADAL" clId="{FA6A18CD-8C91-481B-AB6B-8B2BF6D0213A}" dt="2025-10-08T04:10:35.697" v="91" actId="1076"/>
        <pc:sldMkLst>
          <pc:docMk/>
          <pc:sldMk cId="3106804343" sldId="354"/>
        </pc:sldMkLst>
        <pc:spChg chg="del">
          <ac:chgData name="Dr. Khurram Jadoon khan Asstt. Professor FCS" userId="684a1a15-bea5-4a17-9b67-1313be309245" providerId="ADAL" clId="{FA6A18CD-8C91-481B-AB6B-8B2BF6D0213A}" dt="2025-10-08T04:10:10.418" v="84" actId="478"/>
          <ac:spMkLst>
            <pc:docMk/>
            <pc:sldMk cId="3106804343" sldId="354"/>
            <ac:spMk id="5" creationId="{7EB467A2-9328-7477-391C-50410A3865EE}"/>
          </ac:spMkLst>
        </pc:spChg>
        <pc:spChg chg="mod">
          <ac:chgData name="Dr. Khurram Jadoon khan Asstt. Professor FCS" userId="684a1a15-bea5-4a17-9b67-1313be309245" providerId="ADAL" clId="{FA6A18CD-8C91-481B-AB6B-8B2BF6D0213A}" dt="2025-10-08T04:10:31.161" v="88" actId="1076"/>
          <ac:spMkLst>
            <pc:docMk/>
            <pc:sldMk cId="3106804343" sldId="354"/>
            <ac:spMk id="6146" creationId="{2433F986-30D2-486F-B218-C82C6F3CDD41}"/>
          </ac:spMkLst>
        </pc:spChg>
        <pc:picChg chg="del">
          <ac:chgData name="Dr. Khurram Jadoon khan Asstt. Professor FCS" userId="684a1a15-bea5-4a17-9b67-1313be309245" providerId="ADAL" clId="{FA6A18CD-8C91-481B-AB6B-8B2BF6D0213A}" dt="2025-10-08T04:10:08.549" v="83" actId="478"/>
          <ac:picMkLst>
            <pc:docMk/>
            <pc:sldMk cId="3106804343" sldId="354"/>
            <ac:picMk id="3" creationId="{01C2113D-7761-7943-83FC-9CB0C77FE342}"/>
          </ac:picMkLst>
        </pc:picChg>
        <pc:picChg chg="add mod">
          <ac:chgData name="Dr. Khurram Jadoon khan Asstt. Professor FCS" userId="684a1a15-bea5-4a17-9b67-1313be309245" providerId="ADAL" clId="{FA6A18CD-8C91-481B-AB6B-8B2BF6D0213A}" dt="2025-10-08T04:10:35.697" v="91" actId="1076"/>
          <ac:picMkLst>
            <pc:docMk/>
            <pc:sldMk cId="3106804343" sldId="354"/>
            <ac:picMk id="4" creationId="{75FFE30B-4EB4-9E4D-D5D5-BEC8B0BC39EA}"/>
          </ac:picMkLst>
        </pc:picChg>
      </pc:sldChg>
      <pc:sldChg chg="addSp delSp modSp new mod">
        <pc:chgData name="Dr. Khurram Jadoon khan Asstt. Professor FCS" userId="684a1a15-bea5-4a17-9b67-1313be309245" providerId="ADAL" clId="{FA6A18CD-8C91-481B-AB6B-8B2BF6D0213A}" dt="2025-10-08T05:19:49.571" v="212" actId="1076"/>
        <pc:sldMkLst>
          <pc:docMk/>
          <pc:sldMk cId="1155099349" sldId="355"/>
        </pc:sldMkLst>
        <pc:spChg chg="del">
          <ac:chgData name="Dr. Khurram Jadoon khan Asstt. Professor FCS" userId="684a1a15-bea5-4a17-9b67-1313be309245" providerId="ADAL" clId="{FA6A18CD-8C91-481B-AB6B-8B2BF6D0213A}" dt="2025-10-08T05:01:11.122" v="119" actId="478"/>
          <ac:spMkLst>
            <pc:docMk/>
            <pc:sldMk cId="1155099349" sldId="355"/>
            <ac:spMk id="2" creationId="{9638E570-B7F0-14FD-E6FA-13A1F30FAA4B}"/>
          </ac:spMkLst>
        </pc:spChg>
        <pc:spChg chg="del">
          <ac:chgData name="Dr. Khurram Jadoon khan Asstt. Professor FCS" userId="684a1a15-bea5-4a17-9b67-1313be309245" providerId="ADAL" clId="{FA6A18CD-8C91-481B-AB6B-8B2BF6D0213A}" dt="2025-10-08T05:01:12.073" v="120" actId="478"/>
          <ac:spMkLst>
            <pc:docMk/>
            <pc:sldMk cId="1155099349" sldId="355"/>
            <ac:spMk id="3" creationId="{82AB1829-9704-C34B-CB25-D4EF67E5B304}"/>
          </ac:spMkLst>
        </pc:spChg>
        <pc:picChg chg="add mod">
          <ac:chgData name="Dr. Khurram Jadoon khan Asstt. Professor FCS" userId="684a1a15-bea5-4a17-9b67-1313be309245" providerId="ADAL" clId="{FA6A18CD-8C91-481B-AB6B-8B2BF6D0213A}" dt="2025-10-08T05:19:49.571" v="212" actId="1076"/>
          <ac:picMkLst>
            <pc:docMk/>
            <pc:sldMk cId="1155099349" sldId="355"/>
            <ac:picMk id="5" creationId="{348B53B4-6010-C55C-4B9D-3D19292B5EC2}"/>
          </ac:picMkLst>
        </pc:picChg>
      </pc:sldChg>
      <pc:sldChg chg="addSp delSp modSp add mod modAnim">
        <pc:chgData name="Dr. Khurram Jadoon khan Asstt. Professor FCS" userId="684a1a15-bea5-4a17-9b67-1313be309245" providerId="ADAL" clId="{FA6A18CD-8C91-481B-AB6B-8B2BF6D0213A}" dt="2025-10-08T05:02:20.005" v="142"/>
        <pc:sldMkLst>
          <pc:docMk/>
          <pc:sldMk cId="539864368" sldId="356"/>
        </pc:sldMkLst>
        <pc:spChg chg="add mod">
          <ac:chgData name="Dr. Khurram Jadoon khan Asstt. Professor FCS" userId="684a1a15-bea5-4a17-9b67-1313be309245" providerId="ADAL" clId="{FA6A18CD-8C91-481B-AB6B-8B2BF6D0213A}" dt="2025-10-08T05:02:17.872" v="141" actId="1076"/>
          <ac:spMkLst>
            <pc:docMk/>
            <pc:sldMk cId="539864368" sldId="356"/>
            <ac:spMk id="6" creationId="{6B68F62F-500E-7F18-A539-07B08D9B75E8}"/>
          </ac:spMkLst>
        </pc:spChg>
        <pc:picChg chg="add mod">
          <ac:chgData name="Dr. Khurram Jadoon khan Asstt. Professor FCS" userId="684a1a15-bea5-4a17-9b67-1313be309245" providerId="ADAL" clId="{FA6A18CD-8C91-481B-AB6B-8B2BF6D0213A}" dt="2025-10-08T05:02:06.449" v="133" actId="1076"/>
          <ac:picMkLst>
            <pc:docMk/>
            <pc:sldMk cId="539864368" sldId="356"/>
            <ac:picMk id="3" creationId="{C277750F-0594-F136-C210-5C4EBAE804E7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5:01:37.801" v="129" actId="478"/>
          <ac:picMkLst>
            <pc:docMk/>
            <pc:sldMk cId="539864368" sldId="356"/>
            <ac:picMk id="5" creationId="{8205AA9E-C16D-17F1-A36F-D78102100B81}"/>
          </ac:picMkLst>
        </pc:picChg>
      </pc:sldChg>
      <pc:sldChg chg="add del">
        <pc:chgData name="Dr. Khurram Jadoon khan Asstt. Professor FCS" userId="684a1a15-bea5-4a17-9b67-1313be309245" providerId="ADAL" clId="{FA6A18CD-8C91-481B-AB6B-8B2BF6D0213A}" dt="2025-10-08T05:02:35.970" v="144" actId="2890"/>
        <pc:sldMkLst>
          <pc:docMk/>
          <pc:sldMk cId="814231653" sldId="357"/>
        </pc:sldMkLst>
      </pc:sldChg>
      <pc:sldChg chg="modSp new mod">
        <pc:chgData name="Dr. Khurram Jadoon khan Asstt. Professor FCS" userId="684a1a15-bea5-4a17-9b67-1313be309245" providerId="ADAL" clId="{FA6A18CD-8C91-481B-AB6B-8B2BF6D0213A}" dt="2025-10-08T05:04:36.355" v="174" actId="1076"/>
        <pc:sldMkLst>
          <pc:docMk/>
          <pc:sldMk cId="1442633752" sldId="357"/>
        </pc:sldMkLst>
        <pc:spChg chg="mod">
          <ac:chgData name="Dr. Khurram Jadoon khan Asstt. Professor FCS" userId="684a1a15-bea5-4a17-9b67-1313be309245" providerId="ADAL" clId="{FA6A18CD-8C91-481B-AB6B-8B2BF6D0213A}" dt="2025-10-08T05:04:36.355" v="174" actId="1076"/>
          <ac:spMkLst>
            <pc:docMk/>
            <pc:sldMk cId="1442633752" sldId="357"/>
            <ac:spMk id="2" creationId="{7776B22E-A158-8DBF-E6ED-E869666EA3D9}"/>
          </ac:spMkLst>
        </pc:spChg>
        <pc:spChg chg="mod">
          <ac:chgData name="Dr. Khurram Jadoon khan Asstt. Professor FCS" userId="684a1a15-bea5-4a17-9b67-1313be309245" providerId="ADAL" clId="{FA6A18CD-8C91-481B-AB6B-8B2BF6D0213A}" dt="2025-10-08T05:04:29.102" v="171" actId="403"/>
          <ac:spMkLst>
            <pc:docMk/>
            <pc:sldMk cId="1442633752" sldId="357"/>
            <ac:spMk id="3" creationId="{D79C94F7-7D55-9625-9E10-CA209CD3450C}"/>
          </ac:spMkLst>
        </pc:spChg>
      </pc:sldChg>
      <pc:sldChg chg="addSp delSp modSp add mod">
        <pc:chgData name="Dr. Khurram Jadoon khan Asstt. Professor FCS" userId="684a1a15-bea5-4a17-9b67-1313be309245" providerId="ADAL" clId="{FA6A18CD-8C91-481B-AB6B-8B2BF6D0213A}" dt="2025-10-08T05:08:05.509" v="206" actId="14100"/>
        <pc:sldMkLst>
          <pc:docMk/>
          <pc:sldMk cId="4022351809" sldId="358"/>
        </pc:sldMkLst>
        <pc:picChg chg="add mod">
          <ac:chgData name="Dr. Khurram Jadoon khan Asstt. Professor FCS" userId="684a1a15-bea5-4a17-9b67-1313be309245" providerId="ADAL" clId="{FA6A18CD-8C91-481B-AB6B-8B2BF6D0213A}" dt="2025-10-08T05:08:05.509" v="206" actId="14100"/>
          <ac:picMkLst>
            <pc:docMk/>
            <pc:sldMk cId="4022351809" sldId="358"/>
            <ac:picMk id="3" creationId="{8A70D02D-DAB5-5412-E09C-364666F1BD53}"/>
          </ac:picMkLst>
        </pc:picChg>
        <pc:picChg chg="del">
          <ac:chgData name="Dr. Khurram Jadoon khan Asstt. Professor FCS" userId="684a1a15-bea5-4a17-9b67-1313be309245" providerId="ADAL" clId="{FA6A18CD-8C91-481B-AB6B-8B2BF6D0213A}" dt="2025-10-08T05:07:51.002" v="203" actId="478"/>
          <ac:picMkLst>
            <pc:docMk/>
            <pc:sldMk cId="4022351809" sldId="358"/>
            <ac:picMk id="6" creationId="{F2BA90D8-5FCA-B489-8075-1C1E6E989878}"/>
          </ac:picMkLst>
        </pc:picChg>
      </pc:sldChg>
      <pc:sldChg chg="modSp new mod">
        <pc:chgData name="Dr. Khurram Jadoon khan Asstt. Professor FCS" userId="684a1a15-bea5-4a17-9b67-1313be309245" providerId="ADAL" clId="{FA6A18CD-8C91-481B-AB6B-8B2BF6D0213A}" dt="2025-10-08T05:29:21.786" v="248" actId="403"/>
        <pc:sldMkLst>
          <pc:docMk/>
          <pc:sldMk cId="847992223" sldId="359"/>
        </pc:sldMkLst>
        <pc:spChg chg="mod">
          <ac:chgData name="Dr. Khurram Jadoon khan Asstt. Professor FCS" userId="684a1a15-bea5-4a17-9b67-1313be309245" providerId="ADAL" clId="{FA6A18CD-8C91-481B-AB6B-8B2BF6D0213A}" dt="2025-10-08T05:29:21.786" v="248" actId="403"/>
          <ac:spMkLst>
            <pc:docMk/>
            <pc:sldMk cId="847992223" sldId="359"/>
            <ac:spMk id="3" creationId="{2E6DB5B6-6971-DC16-A206-3DB96EEE4B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3C52B-A81C-8046-89A0-72E9908278D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89CB3-440F-8F45-97DF-66F2EF1A31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1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points for eating</a:t>
            </a:r>
            <a:r>
              <a:rPr lang="en-US" baseline="0" dirty="0"/>
              <a:t> dot; -1 for each time step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36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104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324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62BC8-C3F2-47A7-AF2C-13A94AF36327}" type="slidenum">
              <a:rPr lang="en-US" smtClean="0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Add values by hand if on tablet, or add by animation steps</a:t>
            </a:r>
          </a:p>
        </p:txBody>
      </p:sp>
    </p:spTree>
    <p:extLst>
      <p:ext uri="{BB962C8B-B14F-4D97-AF65-F5344CB8AC3E}">
        <p14:creationId xmlns:p14="http://schemas.microsoft.com/office/powerpoint/2010/main" val="2104227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21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both ghosts go the same way, </a:t>
            </a:r>
            <a:r>
              <a:rPr lang="en-US" dirty="0" err="1"/>
              <a:t>pacman</a:t>
            </a:r>
            <a:r>
              <a:rPr lang="en-US" dirty="0"/>
              <a:t> wins; if they go different ways, </a:t>
            </a:r>
            <a:r>
              <a:rPr lang="en-US" dirty="0" err="1"/>
              <a:t>pacman</a:t>
            </a:r>
            <a:r>
              <a:rPr lang="en-US" dirty="0"/>
              <a:t> loses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15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62BC8-C3F2-47A7-AF2C-13A94AF36327}" type="slidenum">
              <a:rPr lang="en-US" smtClean="0">
                <a:latin typeface="Arial" charset="0"/>
              </a:rPr>
              <a:pPr/>
              <a:t>29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Add values by hand if on tablet, or add by animation steps</a:t>
            </a:r>
          </a:p>
        </p:txBody>
      </p:sp>
    </p:spTree>
    <p:extLst>
      <p:ext uri="{BB962C8B-B14F-4D97-AF65-F5344CB8AC3E}">
        <p14:creationId xmlns:p14="http://schemas.microsoft.com/office/powerpoint/2010/main" val="1680051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62BC8-C3F2-47A7-AF2C-13A94AF36327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Add values by hand if on tablet, or add by animation steps</a:t>
            </a:r>
          </a:p>
        </p:txBody>
      </p:sp>
    </p:spTree>
    <p:extLst>
      <p:ext uri="{BB962C8B-B14F-4D97-AF65-F5344CB8AC3E}">
        <p14:creationId xmlns:p14="http://schemas.microsoft.com/office/powerpoint/2010/main" val="726483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Pick an order for two reasons: sequential processor and pruning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846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1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2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63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27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7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14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13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62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1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545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14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50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248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2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399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not evaluated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52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7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0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137F-FA2F-EB93-5482-B8C3306D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22CD1-667E-C160-2CB9-B0F7C60E5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F0C13-237F-12DB-A5D3-48FAC44FF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</a:t>
            </a:r>
            <a:r>
              <a:rPr lang="en-US" baseline="0" dirty="0"/>
              <a:t> least 10, or otherwise just rather dead; or just 100, or otherwise rather dead; that’s yet something different than minimax or </a:t>
            </a:r>
            <a:r>
              <a:rPr lang="en-US" baseline="0" dirty="0" err="1"/>
              <a:t>expectimax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B341B-02B4-8F36-E9FC-AE302E6A18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3ED746-492E-4D0C-832A-ACED5D621C80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18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latin typeface="Arial" charset="0"/>
              </a:rPr>
              <a:t>Note that “minimax-decision” has become just “decision”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54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6019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6832FB-2179-4C80-8AB1-E690711A109F}" type="slidenum">
              <a:rPr lang="en-US" smtClean="0">
                <a:latin typeface="Arial" charset="0"/>
              </a:rPr>
              <a:pPr/>
              <a:t>55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48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05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8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8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0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1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5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2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3E049-1ECD-814F-8D4A-5159AE9F2432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C8460-164A-4C41-B053-69798F733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936978" y="2861733"/>
            <a:ext cx="10318044" cy="1524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5400" dirty="0"/>
              <a:t>Adversarial Search</a:t>
            </a:r>
          </a:p>
        </p:txBody>
      </p:sp>
    </p:spTree>
    <p:extLst>
      <p:ext uri="{BB962C8B-B14F-4D97-AF65-F5344CB8AC3E}">
        <p14:creationId xmlns:p14="http://schemas.microsoft.com/office/powerpoint/2010/main" val="135262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is Tic Tac Toe different from maze search?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13" y="2564607"/>
            <a:ext cx="2457450" cy="245745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l="12075" t="81687" r="57572" b="7122"/>
          <a:stretch/>
        </p:blipFill>
        <p:spPr bwMode="auto">
          <a:xfrm>
            <a:off x="628651" y="2957513"/>
            <a:ext cx="6261306" cy="167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65191" y="4629151"/>
            <a:ext cx="49882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Multi-Agent, Adversarial, Zero Sum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3083" y="5188745"/>
            <a:ext cx="18605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/>
              <a:t>Single Agent</a:t>
            </a:r>
          </a:p>
        </p:txBody>
      </p:sp>
    </p:spTree>
    <p:extLst>
      <p:ext uri="{BB962C8B-B14F-4D97-AF65-F5344CB8AC3E}">
        <p14:creationId xmlns:p14="http://schemas.microsoft.com/office/powerpoint/2010/main" val="15819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 of a State</a:t>
            </a:r>
            <a:endParaRPr lang="en-US" dirty="0"/>
          </a:p>
        </p:txBody>
      </p:sp>
      <p:grpSp>
        <p:nvGrpSpPr>
          <p:cNvPr id="100" name="Group 99"/>
          <p:cNvGrpSpPr/>
          <p:nvPr/>
        </p:nvGrpSpPr>
        <p:grpSpPr>
          <a:xfrm>
            <a:off x="3124200" y="2362200"/>
            <a:ext cx="6324600" cy="3560121"/>
            <a:chOff x="1828800" y="1447800"/>
            <a:chExt cx="8458200" cy="4761126"/>
          </a:xfrm>
        </p:grpSpPr>
        <p:sp>
          <p:nvSpPr>
            <p:cNvPr id="41" name="Rectangle 40"/>
            <p:cNvSpPr/>
            <p:nvPr/>
          </p:nvSpPr>
          <p:spPr>
            <a:xfrm>
              <a:off x="5257800" y="14478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5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5867400" y="15128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655320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cxnSp>
          <p:nvCxnSpPr>
            <p:cNvPr id="65" name="Straight Connector 64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/>
            <p:cNvSpPr/>
            <p:nvPr/>
          </p:nvSpPr>
          <p:spPr>
            <a:xfrm>
              <a:off x="2895600" y="23622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2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3200400" y="24272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" name="Oval 72"/>
            <p:cNvSpPr/>
            <p:nvPr/>
          </p:nvSpPr>
          <p:spPr>
            <a:xfrm>
              <a:off x="419100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543800" y="23622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8458200" y="24272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" name="Oval 75"/>
            <p:cNvSpPr/>
            <p:nvPr/>
          </p:nvSpPr>
          <p:spPr>
            <a:xfrm>
              <a:off x="883920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4770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8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70866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9" name="Oval 78"/>
            <p:cNvSpPr/>
            <p:nvPr/>
          </p:nvSpPr>
          <p:spPr>
            <a:xfrm>
              <a:off x="77724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7630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99822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Rectangle 81"/>
            <p:cNvSpPr/>
            <p:nvPr/>
          </p:nvSpPr>
          <p:spPr>
            <a:xfrm>
              <a:off x="18288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18288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4" name="Oval 83"/>
            <p:cNvSpPr/>
            <p:nvPr/>
          </p:nvSpPr>
          <p:spPr>
            <a:xfrm>
              <a:off x="31242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41148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6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47244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7" name="Oval 86"/>
            <p:cNvSpPr/>
            <p:nvPr/>
          </p:nvSpPr>
          <p:spPr>
            <a:xfrm>
              <a:off x="54102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8288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41148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0" name="Isosceles Triangle 89"/>
            <p:cNvSpPr/>
            <p:nvPr/>
          </p:nvSpPr>
          <p:spPr>
            <a:xfrm>
              <a:off x="64770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345975" y="3733800"/>
              <a:ext cx="5334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8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060155" y="5715000"/>
              <a:ext cx="685799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644048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353499" y="5715000"/>
              <a:ext cx="8382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987887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697338" y="5715000"/>
              <a:ext cx="8382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391401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581400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…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867400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…</a:t>
              </a:r>
            </a:p>
          </p:txBody>
        </p:sp>
      </p:grpSp>
      <p:sp>
        <p:nvSpPr>
          <p:cNvPr id="110" name="Right Arrow 109"/>
          <p:cNvSpPr/>
          <p:nvPr/>
        </p:nvSpPr>
        <p:spPr>
          <a:xfrm rot="9900000">
            <a:off x="8860469" y="2647461"/>
            <a:ext cx="1066800" cy="304800"/>
          </a:xfrm>
          <a:prstGeom prst="rightArrow">
            <a:avLst/>
          </a:prstGeom>
          <a:solidFill>
            <a:srgbClr val="BEE39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Arrow 110"/>
          <p:cNvSpPr/>
          <p:nvPr/>
        </p:nvSpPr>
        <p:spPr>
          <a:xfrm rot="14100089">
            <a:off x="8965176" y="4791553"/>
            <a:ext cx="1066800" cy="304800"/>
          </a:xfrm>
          <a:prstGeom prst="rightArrow">
            <a:avLst/>
          </a:prstGeom>
          <a:solidFill>
            <a:srgbClr val="BEE39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457200" y="2017838"/>
            <a:ext cx="266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itchFamily="34" charset="0"/>
              </a:rPr>
              <a:t>Value of a state: The best achievable outcome (utility) from that state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04800" y="1924054"/>
            <a:ext cx="2971800" cy="1752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9220200" y="5634335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Terminal States:</a:t>
            </a:r>
          </a:p>
          <a:p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V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(</a:t>
            </a:r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s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) = </a:t>
            </a:r>
            <a:r>
              <a:rPr lang="en-US" sz="2400" dirty="0">
                <a:latin typeface="Calibri" pitchFamily="34" charset="0"/>
              </a:rPr>
              <a:t>known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8915400" y="1521023"/>
            <a:ext cx="2819400" cy="993577"/>
            <a:chOff x="8534400" y="1447800"/>
            <a:chExt cx="2819400" cy="993577"/>
          </a:xfrm>
        </p:grpSpPr>
        <p:sp>
          <p:nvSpPr>
            <p:cNvPr id="52" name="TextBox 51"/>
            <p:cNvSpPr txBox="1"/>
            <p:nvPr/>
          </p:nvSpPr>
          <p:spPr>
            <a:xfrm>
              <a:off x="8534400" y="1447800"/>
              <a:ext cx="2819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Non-Terminal States: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321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3" grpId="0"/>
      <p:bldP spid="114" grpId="0" animBg="1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 Applications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2143124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443163" y="2143124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452684" y="1938340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52651" y="5254619"/>
            <a:ext cx="4093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Collaborative Maze Solving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7702391" y="4881559"/>
            <a:ext cx="38027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Team: Collaborative</a:t>
            </a:r>
          </a:p>
          <a:p>
            <a:r>
              <a:rPr lang="en-US" sz="2800" dirty="0"/>
              <a:t>Competition: Adversarial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l="12075" t="81687" r="77813" b="7122"/>
          <a:stretch/>
        </p:blipFill>
        <p:spPr bwMode="auto">
          <a:xfrm>
            <a:off x="4314825" y="2432047"/>
            <a:ext cx="3084390" cy="247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003379" y="4779041"/>
            <a:ext cx="1810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Adversarial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8743950" y="3071813"/>
            <a:ext cx="108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(Football)</a:t>
            </a:r>
          </a:p>
        </p:txBody>
      </p:sp>
    </p:spTree>
    <p:extLst>
      <p:ext uri="{BB962C8B-B14F-4D97-AF65-F5344CB8AC3E}">
        <p14:creationId xmlns:p14="http://schemas.microsoft.com/office/powerpoint/2010/main" val="101157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5113"/>
          </a:xfrm>
        </p:spPr>
        <p:txBody>
          <a:bodyPr/>
          <a:lstStyle/>
          <a:p>
            <a:r>
              <a:rPr lang="en-US" dirty="0"/>
              <a:t>How could we model </a:t>
            </a:r>
            <a:r>
              <a:rPr lang="en-US"/>
              <a:t>multi-agent collaborative problems</a:t>
            </a:r>
            <a:r>
              <a:rPr lang="en-US" dirty="0"/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29376" y="2968709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38897" y="2763925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14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could we model multi-agent problems?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29376" y="2968709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38897" y="2763925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6325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Simplest idea: each agent plans their own actions separately from others. </a:t>
            </a:r>
          </a:p>
        </p:txBody>
      </p:sp>
    </p:spTree>
    <p:extLst>
      <p:ext uri="{BB962C8B-B14F-4D97-AF65-F5344CB8AC3E}">
        <p14:creationId xmlns:p14="http://schemas.microsoft.com/office/powerpoint/2010/main" val="16350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Single-Agent Trees</a:t>
            </a:r>
          </a:p>
        </p:txBody>
      </p:sp>
      <p:sp>
        <p:nvSpPr>
          <p:cNvPr id="12" name="Oval 11"/>
          <p:cNvSpPr/>
          <p:nvPr/>
        </p:nvSpPr>
        <p:spPr>
          <a:xfrm>
            <a:off x="6553200" y="1971687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 rot="10800000" flipV="1">
            <a:off x="3657600" y="2276487"/>
            <a:ext cx="23622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019800" y="2276487"/>
            <a:ext cx="22860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10800000" flipV="1">
            <a:off x="7239000" y="3190887"/>
            <a:ext cx="10668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305800" y="3190887"/>
            <a:ext cx="12192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 flipV="1">
            <a:off x="2590801" y="3190887"/>
            <a:ext cx="10668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657601" y="3190887"/>
            <a:ext cx="12192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839200" y="2886087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7772400" y="3800487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3124200" y="3800487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5410200" y="3800487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" name="Isosceles Triangle 59"/>
          <p:cNvSpPr/>
          <p:nvPr/>
        </p:nvSpPr>
        <p:spPr>
          <a:xfrm>
            <a:off x="1828800" y="4257687"/>
            <a:ext cx="1524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Isosceles Triangle 60"/>
          <p:cNvSpPr/>
          <p:nvPr/>
        </p:nvSpPr>
        <p:spPr>
          <a:xfrm>
            <a:off x="4114800" y="4257687"/>
            <a:ext cx="1524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Isosceles Triangle 61"/>
          <p:cNvSpPr/>
          <p:nvPr/>
        </p:nvSpPr>
        <p:spPr>
          <a:xfrm>
            <a:off x="6477000" y="4257687"/>
            <a:ext cx="1524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9372600" y="4105287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608648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608648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19600" y="6086487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608648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05600" y="6086487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67600" y="608648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81400" y="608648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67400" y="6086487"/>
            <a:ext cx="76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…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012" y="1564495"/>
            <a:ext cx="663575" cy="663575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5988367" y="1614977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234814" y="2912279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626" y="2505087"/>
            <a:ext cx="663575" cy="663575"/>
          </a:xfrm>
          <a:prstGeom prst="rect">
            <a:avLst/>
          </a:prstGeom>
        </p:spPr>
      </p:pic>
      <p:sp>
        <p:nvSpPr>
          <p:cNvPr id="74" name="Oval 73"/>
          <p:cNvSpPr/>
          <p:nvPr/>
        </p:nvSpPr>
        <p:spPr>
          <a:xfrm>
            <a:off x="3555679" y="2569857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8814753" y="2912279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6" name="Picture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565" y="2505087"/>
            <a:ext cx="663575" cy="663575"/>
          </a:xfrm>
          <a:prstGeom prst="rect">
            <a:avLst/>
          </a:prstGeom>
        </p:spPr>
      </p:pic>
      <p:sp>
        <p:nvSpPr>
          <p:cNvPr id="77" name="Oval 76"/>
          <p:cNvSpPr/>
          <p:nvPr/>
        </p:nvSpPr>
        <p:spPr>
          <a:xfrm>
            <a:off x="8392798" y="2698445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124200" y="3963204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012" y="3556012"/>
            <a:ext cx="663575" cy="663575"/>
          </a:xfrm>
          <a:prstGeom prst="rect">
            <a:avLst/>
          </a:prstGeom>
        </p:spPr>
      </p:pic>
      <p:sp>
        <p:nvSpPr>
          <p:cNvPr id="80" name="Oval 79"/>
          <p:cNvSpPr/>
          <p:nvPr/>
        </p:nvSpPr>
        <p:spPr>
          <a:xfrm>
            <a:off x="2345050" y="3977976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5465762" y="3990191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4" y="3582999"/>
            <a:ext cx="663575" cy="663575"/>
          </a:xfrm>
          <a:prstGeom prst="rect">
            <a:avLst/>
          </a:prstGeom>
        </p:spPr>
      </p:pic>
      <p:sp>
        <p:nvSpPr>
          <p:cNvPr id="83" name="Oval 82"/>
          <p:cNvSpPr/>
          <p:nvPr/>
        </p:nvSpPr>
        <p:spPr>
          <a:xfrm>
            <a:off x="4686614" y="3862084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7764461" y="3974316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5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73" y="3567124"/>
            <a:ext cx="663575" cy="663575"/>
          </a:xfrm>
          <a:prstGeom prst="rect">
            <a:avLst/>
          </a:prstGeom>
        </p:spPr>
      </p:pic>
      <p:sp>
        <p:nvSpPr>
          <p:cNvPr id="86" name="Oval 85"/>
          <p:cNvSpPr/>
          <p:nvPr/>
        </p:nvSpPr>
        <p:spPr>
          <a:xfrm>
            <a:off x="7199628" y="3846209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10063160" y="3968282"/>
            <a:ext cx="7620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7972" y="3561090"/>
            <a:ext cx="663575" cy="663575"/>
          </a:xfrm>
          <a:prstGeom prst="rect">
            <a:avLst/>
          </a:prstGeom>
        </p:spPr>
      </p:pic>
      <p:sp>
        <p:nvSpPr>
          <p:cNvPr id="89" name="Oval 88"/>
          <p:cNvSpPr/>
          <p:nvPr/>
        </p:nvSpPr>
        <p:spPr>
          <a:xfrm>
            <a:off x="9726932" y="4054488"/>
            <a:ext cx="137160" cy="137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/>
          <p:cNvGrpSpPr/>
          <p:nvPr/>
        </p:nvGrpSpPr>
        <p:grpSpPr>
          <a:xfrm>
            <a:off x="8915400" y="1892510"/>
            <a:ext cx="2819400" cy="993577"/>
            <a:chOff x="8534400" y="1447800"/>
            <a:chExt cx="2819400" cy="993577"/>
          </a:xfrm>
        </p:grpSpPr>
        <p:sp>
          <p:nvSpPr>
            <p:cNvPr id="91" name="TextBox 90"/>
            <p:cNvSpPr txBox="1"/>
            <p:nvPr/>
          </p:nvSpPr>
          <p:spPr>
            <a:xfrm>
              <a:off x="8534400" y="1447800"/>
              <a:ext cx="2819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Non-Terminal States: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57199" y="1993116"/>
            <a:ext cx="2758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Choose the best action for each </a:t>
            </a:r>
            <a:r>
              <a:rPr lang="en-US" sz="2400"/>
              <a:t>agent independently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5928" y="1867399"/>
            <a:ext cx="2728016" cy="15073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2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9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Joint State/Action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Combine the states and actions of the N agents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972055" y="2457451"/>
                <a:ext cx="1561966" cy="376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055" y="2457451"/>
                <a:ext cx="1561966" cy="376321"/>
              </a:xfrm>
              <a:prstGeom prst="rect">
                <a:avLst/>
              </a:prstGeom>
              <a:blipFill rotWithShape="0"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29376" y="2968709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38897" y="2763925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3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Joint State/Action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Combine the states and actions of the N agents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300917" y="5269010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38774" y="4992787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10089" y="4305341"/>
                <a:ext cx="1591077" cy="374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89" y="4305341"/>
                <a:ext cx="1591077" cy="374718"/>
              </a:xfrm>
              <a:prstGeom prst="rect">
                <a:avLst/>
              </a:prstGeom>
              <a:blipFill rotWithShape="0"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9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Joint State/Action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Search looks through all combinations of all agents’ states and actions</a:t>
            </a:r>
          </a:p>
          <a:p>
            <a:pPr marL="0" indent="0">
              <a:buNone/>
            </a:pPr>
            <a:r>
              <a:rPr lang="en-US" dirty="0"/>
              <a:t>Think of one brain controlling many agents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00917" y="5269010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538774" y="4992787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10089" y="4305341"/>
                <a:ext cx="1591077" cy="374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=(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𝐴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𝐾</m:t>
                          </m:r>
                        </m:sub>
                        <m:sup>
                          <m:r>
                            <a:rPr lang="en-US" b="0" i="1" smtClean="0">
                              <a:latin typeface="Cambria Math" charset="0"/>
                            </a:rPr>
                            <m:t>𝐵</m:t>
                          </m:r>
                        </m:sup>
                      </m:sSubSup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089" y="4305341"/>
                <a:ext cx="1591077" cy="374718"/>
              </a:xfrm>
              <a:prstGeom prst="rect">
                <a:avLst/>
              </a:prstGeom>
              <a:blipFill rotWithShape="0"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01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2: Joint State/Action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Search looks through all combinations of all agents’ states and actions</a:t>
            </a:r>
          </a:p>
          <a:p>
            <a:pPr marL="0" indent="0">
              <a:buNone/>
            </a:pPr>
            <a:r>
              <a:rPr lang="en-US" dirty="0"/>
              <a:t>Think of one brain controlling many agents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425" y="2968709"/>
            <a:ext cx="3049587" cy="304958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300917" y="5269010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38774" y="4992787"/>
            <a:ext cx="146842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6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/>
              <a:t>Idea 3: Alternate Searching One Agent at a 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3692" y="3086105"/>
            <a:ext cx="90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4578" y="4357948"/>
            <a:ext cx="90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0923" y="5517385"/>
            <a:ext cx="90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 1</a:t>
            </a:r>
          </a:p>
        </p:txBody>
      </p:sp>
      <p:sp>
        <p:nvSpPr>
          <p:cNvPr id="7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Search one agent’s actions from a state, search the next agent’s actions from those resulting states , </a:t>
            </a:r>
            <a:r>
              <a:rPr lang="en-US" dirty="0" err="1"/>
              <a:t>etc</a:t>
            </a:r>
            <a:r>
              <a:rPr lang="mr-IN" dirty="0"/>
              <a:t>…</a:t>
            </a:r>
            <a:endParaRPr lang="en-US" dirty="0"/>
          </a:p>
        </p:txBody>
      </p:sp>
      <p:grpSp>
        <p:nvGrpSpPr>
          <p:cNvPr id="74" name="Group 73"/>
          <p:cNvGrpSpPr/>
          <p:nvPr/>
        </p:nvGrpSpPr>
        <p:grpSpPr>
          <a:xfrm>
            <a:off x="4423911" y="3014663"/>
            <a:ext cx="7091821" cy="2957512"/>
            <a:chOff x="2466517" y="2757488"/>
            <a:chExt cx="8606296" cy="3910478"/>
          </a:xfrm>
        </p:grpSpPr>
        <p:sp>
          <p:nvSpPr>
            <p:cNvPr id="75" name="Triangle 74"/>
            <p:cNvSpPr/>
            <p:nvPr/>
          </p:nvSpPr>
          <p:spPr>
            <a:xfrm>
              <a:off x="2466517" y="5972174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riangle 75"/>
            <p:cNvSpPr/>
            <p:nvPr/>
          </p:nvSpPr>
          <p:spPr>
            <a:xfrm>
              <a:off x="4222659" y="5972174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Triangle 76"/>
            <p:cNvSpPr/>
            <p:nvPr/>
          </p:nvSpPr>
          <p:spPr>
            <a:xfrm>
              <a:off x="5657753" y="5972173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riangle 77"/>
            <p:cNvSpPr/>
            <p:nvPr/>
          </p:nvSpPr>
          <p:spPr>
            <a:xfrm>
              <a:off x="7206992" y="5972173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riangle 78"/>
            <p:cNvSpPr/>
            <p:nvPr/>
          </p:nvSpPr>
          <p:spPr>
            <a:xfrm>
              <a:off x="8938623" y="5977913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riangle 79"/>
            <p:cNvSpPr/>
            <p:nvPr/>
          </p:nvSpPr>
          <p:spPr>
            <a:xfrm>
              <a:off x="10398228" y="5972172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riangle 80"/>
            <p:cNvSpPr/>
            <p:nvPr/>
          </p:nvSpPr>
          <p:spPr>
            <a:xfrm>
              <a:off x="6425962" y="2757488"/>
              <a:ext cx="674585" cy="690053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/>
            <p:cNvCxnSpPr/>
            <p:nvPr/>
          </p:nvCxnSpPr>
          <p:spPr>
            <a:xfrm flipH="1">
              <a:off x="3778494" y="3447541"/>
              <a:ext cx="2984760" cy="968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6763254" y="3447541"/>
              <a:ext cx="1" cy="968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6763254" y="3447541"/>
              <a:ext cx="3168153" cy="968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>
              <a:off x="2803810" y="5105897"/>
              <a:ext cx="974685" cy="866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3778494" y="5105897"/>
              <a:ext cx="781458" cy="866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>
              <a:off x="5995046" y="5105896"/>
              <a:ext cx="774620" cy="866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6769665" y="5105896"/>
              <a:ext cx="781458" cy="866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9275916" y="5105896"/>
              <a:ext cx="655494" cy="8720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9931408" y="5105896"/>
              <a:ext cx="781458" cy="8662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/>
            <p:cNvSpPr/>
            <p:nvPr/>
          </p:nvSpPr>
          <p:spPr>
            <a:xfrm>
              <a:off x="3407004" y="4415844"/>
              <a:ext cx="762219" cy="6900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382144" y="4424141"/>
              <a:ext cx="762219" cy="6900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9506483" y="4424141"/>
              <a:ext cx="762219" cy="6900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8886067" y="2740531"/>
            <a:ext cx="2819400" cy="993577"/>
            <a:chOff x="8534400" y="1447800"/>
            <a:chExt cx="2819400" cy="993577"/>
          </a:xfrm>
        </p:grpSpPr>
        <p:sp>
          <p:nvSpPr>
            <p:cNvPr id="95" name="TextBox 94"/>
            <p:cNvSpPr txBox="1"/>
            <p:nvPr/>
          </p:nvSpPr>
          <p:spPr>
            <a:xfrm>
              <a:off x="8534400" y="1447800"/>
              <a:ext cx="28194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Non-Terminal States: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427866" y="2841137"/>
            <a:ext cx="30831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Choose the best cascading combination of actions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4006" y="2668746"/>
            <a:ext cx="3136981" cy="15073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Deterministic or stochastic?</a:t>
            </a:r>
          </a:p>
          <a:p>
            <a:r>
              <a:rPr lang="en-US" dirty="0"/>
              <a:t>Perfect information (fully observable)?</a:t>
            </a:r>
          </a:p>
          <a:p>
            <a:r>
              <a:rPr lang="en-US" dirty="0"/>
              <a:t>One, two, or more players?</a:t>
            </a:r>
          </a:p>
          <a:p>
            <a:r>
              <a:rPr lang="en-US" dirty="0"/>
              <a:t>Turn-taking or simultaneous?</a:t>
            </a:r>
          </a:p>
          <a:p>
            <a:r>
              <a:rPr lang="en-US" dirty="0"/>
              <a:t>Zero sum?</a:t>
            </a:r>
          </a:p>
        </p:txBody>
      </p:sp>
    </p:spTree>
    <p:extLst>
      <p:ext uri="{BB962C8B-B14F-4D97-AF65-F5344CB8AC3E}">
        <p14:creationId xmlns:p14="http://schemas.microsoft.com/office/powerpoint/2010/main" val="120116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867" y="173214"/>
            <a:ext cx="10515600" cy="6508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Standard Games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867" y="1057980"/>
            <a:ext cx="10515600" cy="562680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Standard games are deterministic, observable, two-player, turn-taking, zero-sum</a:t>
            </a:r>
          </a:p>
          <a:p>
            <a:pPr>
              <a:spcAft>
                <a:spcPts val="1200"/>
              </a:spcAft>
            </a:pPr>
            <a:r>
              <a:rPr lang="en-US" dirty="0"/>
              <a:t>Game formulation: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Initial state: </a:t>
            </a:r>
            <a:r>
              <a:rPr lang="en-US" dirty="0">
                <a:solidFill>
                  <a:srgbClr val="BD00B0"/>
                </a:solidFill>
              </a:rPr>
              <a:t>s</a:t>
            </a:r>
            <a:r>
              <a:rPr lang="en-US" baseline="-25000" dirty="0">
                <a:solidFill>
                  <a:srgbClr val="BD00B0"/>
                </a:solidFill>
              </a:rPr>
              <a:t>0</a:t>
            </a:r>
            <a:endParaRPr lang="en-US" dirty="0">
              <a:solidFill>
                <a:srgbClr val="BD00B0"/>
              </a:solidFill>
            </a:endParaRPr>
          </a:p>
          <a:p>
            <a:pPr lvl="1">
              <a:spcAft>
                <a:spcPts val="1200"/>
              </a:spcAft>
            </a:pPr>
            <a:r>
              <a:rPr lang="en-US" dirty="0"/>
              <a:t>Players: </a:t>
            </a:r>
            <a:r>
              <a:rPr lang="en-US" dirty="0">
                <a:solidFill>
                  <a:srgbClr val="BD00B0"/>
                </a:solidFill>
              </a:rPr>
              <a:t>Player(s) </a:t>
            </a:r>
            <a:r>
              <a:rPr lang="en-US" dirty="0"/>
              <a:t>indicates whose move it is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Actions: </a:t>
            </a:r>
            <a:r>
              <a:rPr lang="en-US" dirty="0">
                <a:solidFill>
                  <a:srgbClr val="BD00B0"/>
                </a:solidFill>
              </a:rPr>
              <a:t>Actions(s) </a:t>
            </a:r>
            <a:r>
              <a:rPr lang="en-US" dirty="0"/>
              <a:t>for player on move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Transition model: </a:t>
            </a:r>
            <a:r>
              <a:rPr lang="en-US" dirty="0">
                <a:solidFill>
                  <a:srgbClr val="BD00B0"/>
                </a:solidFill>
              </a:rPr>
              <a:t>Result(</a:t>
            </a:r>
            <a:r>
              <a:rPr lang="en-US" dirty="0" err="1">
                <a:solidFill>
                  <a:srgbClr val="BD00B0"/>
                </a:solidFill>
              </a:rPr>
              <a:t>s,a</a:t>
            </a:r>
            <a:r>
              <a:rPr lang="en-US" dirty="0">
                <a:solidFill>
                  <a:srgbClr val="BD00B0"/>
                </a:solidFill>
              </a:rPr>
              <a:t>)</a:t>
            </a:r>
            <a:endParaRPr lang="en-US" dirty="0">
              <a:solidFill>
                <a:srgbClr val="BD00B0"/>
              </a:solidFill>
              <a:sym typeface="Symbol" pitchFamily="18" charset="2"/>
            </a:endParaRPr>
          </a:p>
          <a:p>
            <a:pPr lvl="1">
              <a:spcAft>
                <a:spcPts val="1200"/>
              </a:spcAft>
            </a:pPr>
            <a:r>
              <a:rPr lang="en-US" dirty="0">
                <a:sym typeface="Symbol" pitchFamily="18" charset="2"/>
              </a:rPr>
              <a:t>Terminal test: </a:t>
            </a:r>
            <a:r>
              <a:rPr lang="en-US" dirty="0">
                <a:solidFill>
                  <a:srgbClr val="BD00B0"/>
                </a:solidFill>
                <a:sym typeface="Symbol" pitchFamily="18" charset="2"/>
              </a:rPr>
              <a:t>Terminal-Test(s)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sym typeface="Symbol" pitchFamily="18" charset="2"/>
              </a:rPr>
              <a:t>Terminal values: </a:t>
            </a:r>
            <a:r>
              <a:rPr lang="en-US" dirty="0">
                <a:solidFill>
                  <a:srgbClr val="BD00B0"/>
                </a:solidFill>
                <a:sym typeface="Symbol" pitchFamily="18" charset="2"/>
              </a:rPr>
              <a:t>Utility(</a:t>
            </a:r>
            <a:r>
              <a:rPr lang="en-US" dirty="0" err="1">
                <a:solidFill>
                  <a:srgbClr val="BD00B0"/>
                </a:solidFill>
                <a:sym typeface="Symbol" pitchFamily="18" charset="2"/>
              </a:rPr>
              <a:t>s,p</a:t>
            </a:r>
            <a:r>
              <a:rPr lang="en-US" dirty="0">
                <a:solidFill>
                  <a:srgbClr val="BD00B0"/>
                </a:solidFill>
                <a:sym typeface="Symbol" pitchFamily="18" charset="2"/>
              </a:rPr>
              <a:t>) </a:t>
            </a:r>
            <a:r>
              <a:rPr lang="en-US" dirty="0">
                <a:sym typeface="Symbol" pitchFamily="18" charset="2"/>
              </a:rPr>
              <a:t>for player </a:t>
            </a:r>
            <a:r>
              <a:rPr lang="en-US" dirty="0">
                <a:solidFill>
                  <a:srgbClr val="BD00B0"/>
                </a:solidFill>
                <a:sym typeface="Symbol" pitchFamily="18" charset="2"/>
              </a:rPr>
              <a:t>p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sym typeface="Symbol" pitchFamily="18" charset="2"/>
              </a:rPr>
              <a:t>Or just </a:t>
            </a:r>
            <a:r>
              <a:rPr lang="en-US" dirty="0">
                <a:solidFill>
                  <a:srgbClr val="BD00B0"/>
                </a:solidFill>
                <a:sym typeface="Symbol" pitchFamily="18" charset="2"/>
              </a:rPr>
              <a:t>Utility(s) </a:t>
            </a:r>
            <a:r>
              <a:rPr lang="en-US" dirty="0">
                <a:solidFill>
                  <a:srgbClr val="000000"/>
                </a:solidFill>
                <a:sym typeface="Symbol" pitchFamily="18" charset="2"/>
              </a:rPr>
              <a:t>for player making the decision at root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5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Zero-Sum Games</a:t>
            </a:r>
          </a:p>
        </p:txBody>
      </p:sp>
      <p:sp>
        <p:nvSpPr>
          <p:cNvPr id="5" name="Content Placeholder 7"/>
          <p:cNvSpPr>
            <a:spLocks noGrp="1"/>
          </p:cNvSpPr>
          <p:nvPr>
            <p:ph sz="half" idx="1"/>
          </p:nvPr>
        </p:nvSpPr>
        <p:spPr>
          <a:xfrm>
            <a:off x="381000" y="2180518"/>
            <a:ext cx="5715000" cy="170656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Zero-Sum Games</a:t>
            </a:r>
          </a:p>
          <a:p>
            <a:pPr lvl="1"/>
            <a:r>
              <a:rPr lang="en-US" sz="2000" dirty="0"/>
              <a:t>Agents have </a:t>
            </a:r>
            <a:r>
              <a:rPr lang="en-US" sz="2000" b="1" i="1" dirty="0">
                <a:solidFill>
                  <a:srgbClr val="0000FF"/>
                </a:solidFill>
              </a:rPr>
              <a:t>opposite</a:t>
            </a:r>
            <a:r>
              <a:rPr lang="en-US" sz="2000" dirty="0"/>
              <a:t> utilities </a:t>
            </a:r>
          </a:p>
          <a:p>
            <a:pPr lvl="1"/>
            <a:r>
              <a:rPr lang="en-US" sz="2000" dirty="0"/>
              <a:t>Pure competition: </a:t>
            </a:r>
          </a:p>
          <a:p>
            <a:pPr lvl="2"/>
            <a:r>
              <a:rPr lang="en-US" sz="1600" dirty="0"/>
              <a:t>One</a:t>
            </a:r>
            <a:r>
              <a:rPr lang="en-US" sz="1600" b="1" i="1" dirty="0">
                <a:solidFill>
                  <a:srgbClr val="0000FF"/>
                </a:solidFill>
              </a:rPr>
              <a:t> maximizes</a:t>
            </a:r>
            <a:r>
              <a:rPr lang="en-US" sz="1600" dirty="0"/>
              <a:t>, the other </a:t>
            </a:r>
            <a:r>
              <a:rPr lang="en-US" sz="1600" b="1" i="1" dirty="0">
                <a:solidFill>
                  <a:srgbClr val="FF0000"/>
                </a:solidFill>
              </a:rPr>
              <a:t>minimizes</a:t>
            </a:r>
          </a:p>
        </p:txBody>
      </p:sp>
      <p:sp>
        <p:nvSpPr>
          <p:cNvPr id="7" name="Content Placeholder 8"/>
          <p:cNvSpPr txBox="1">
            <a:spLocks/>
          </p:cNvSpPr>
          <p:nvPr/>
        </p:nvSpPr>
        <p:spPr>
          <a:xfrm>
            <a:off x="6544733" y="2087386"/>
            <a:ext cx="5562600" cy="17065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General Games</a:t>
            </a:r>
          </a:p>
          <a:p>
            <a:pPr lvl="1"/>
            <a:r>
              <a:rPr lang="en-US" sz="2000" dirty="0"/>
              <a:t>Agents have </a:t>
            </a:r>
            <a:r>
              <a:rPr lang="en-US" sz="2000" b="1" i="1" dirty="0">
                <a:solidFill>
                  <a:srgbClr val="0000FF"/>
                </a:solidFill>
              </a:rPr>
              <a:t>independent</a:t>
            </a:r>
            <a:r>
              <a:rPr lang="en-US" sz="2000" dirty="0"/>
              <a:t> utilities</a:t>
            </a:r>
          </a:p>
          <a:p>
            <a:pPr lvl="1"/>
            <a:r>
              <a:rPr lang="en-US" sz="2000" dirty="0"/>
              <a:t>Cooperation, indifference, competition, shifting alliances, and more are all possible</a:t>
            </a:r>
          </a:p>
        </p:txBody>
      </p:sp>
    </p:spTree>
    <p:extLst>
      <p:ext uri="{BB962C8B-B14F-4D97-AF65-F5344CB8AC3E}">
        <p14:creationId xmlns:p14="http://schemas.microsoft.com/office/powerpoint/2010/main" val="89311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86744"/>
            <a:ext cx="10515600" cy="504119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dirty="0"/>
              <a:t>Tic-</a:t>
            </a:r>
            <a:r>
              <a:rPr lang="en-US" dirty="0" err="1"/>
              <a:t>Tac</a:t>
            </a:r>
            <a:r>
              <a:rPr lang="en-US" dirty="0"/>
              <a:t>-Toe Game Tree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918710-5E20-6CB4-0F56-4FF8017FF31C}"/>
              </a:ext>
            </a:extLst>
          </p:cNvPr>
          <p:cNvGrpSpPr/>
          <p:nvPr/>
        </p:nvGrpSpPr>
        <p:grpSpPr>
          <a:xfrm>
            <a:off x="4017257" y="1270000"/>
            <a:ext cx="7672387" cy="5283200"/>
            <a:chOff x="1928813" y="1270000"/>
            <a:chExt cx="7672387" cy="5283200"/>
          </a:xfrm>
        </p:grpSpPr>
        <p:pic>
          <p:nvPicPr>
            <p:cNvPr id="1536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05050" y="1270000"/>
              <a:ext cx="7296150" cy="5283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" name="Rounded Rectangle 1"/>
            <p:cNvSpPr/>
            <p:nvPr/>
          </p:nvSpPr>
          <p:spPr>
            <a:xfrm>
              <a:off x="2286000" y="5486400"/>
              <a:ext cx="4114800" cy="990600"/>
            </a:xfrm>
            <a:prstGeom prst="roundRect">
              <a:avLst/>
            </a:prstGeom>
            <a:solidFill>
              <a:srgbClr val="C39BE1">
                <a:alpha val="30000"/>
              </a:srgb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1928813" y="1270000"/>
              <a:ext cx="1185862" cy="3687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0DF608D-E787-FCF9-5864-B15B4903E24C}"/>
              </a:ext>
            </a:extLst>
          </p:cNvPr>
          <p:cNvSpPr txBox="1"/>
          <p:nvPr/>
        </p:nvSpPr>
        <p:spPr>
          <a:xfrm>
            <a:off x="335844" y="770975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Search one agent’s actions from a state, search the competitor’s actions from those resulting states , </a:t>
            </a:r>
            <a:r>
              <a:rPr lang="en-US" sz="2800" dirty="0" err="1"/>
              <a:t>etc</a:t>
            </a:r>
            <a:r>
              <a:rPr lang="mr-IN" sz="2800" dirty="0"/>
              <a:t>…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28701" y="2318991"/>
            <a:ext cx="350043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This is a zero-sum game, </a:t>
            </a:r>
          </a:p>
          <a:p>
            <a:r>
              <a:rPr lang="en-US" sz="2600" dirty="0"/>
              <a:t>the best action for X is the worst action for O </a:t>
            </a:r>
          </a:p>
          <a:p>
            <a:r>
              <a:rPr lang="en-US" sz="2600" dirty="0"/>
              <a:t>and vice versa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8991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95325" y="6350"/>
            <a:ext cx="10515600" cy="977587"/>
          </a:xfrm>
        </p:spPr>
        <p:txBody>
          <a:bodyPr/>
          <a:lstStyle/>
          <a:p>
            <a:pPr algn="ctr" eaLnBrk="1" hangingPunct="1"/>
            <a:r>
              <a:rPr lang="en-US" dirty="0"/>
              <a:t>Tic-</a:t>
            </a:r>
            <a:r>
              <a:rPr lang="en-US" dirty="0" err="1"/>
              <a:t>Tac</a:t>
            </a:r>
            <a:r>
              <a:rPr lang="en-US" dirty="0"/>
              <a:t>-Toe Game Tree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5050" y="1270000"/>
            <a:ext cx="729615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1066800"/>
            <a:ext cx="1045620" cy="1033462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1981884"/>
            <a:ext cx="928884" cy="1032093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2895600"/>
            <a:ext cx="1045620" cy="1033462"/>
          </a:xfrm>
          <a:prstGeom prst="rect">
            <a:avLst/>
          </a:prstGeom>
          <a:noFill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3810684"/>
            <a:ext cx="928884" cy="1032093"/>
          </a:xfrm>
          <a:prstGeom prst="rect">
            <a:avLst/>
          </a:prstGeom>
          <a:noFill/>
        </p:spPr>
      </p:pic>
      <p:sp>
        <p:nvSpPr>
          <p:cNvPr id="2" name="Rounded Rectangle 1"/>
          <p:cNvSpPr/>
          <p:nvPr/>
        </p:nvSpPr>
        <p:spPr>
          <a:xfrm>
            <a:off x="2286000" y="5486400"/>
            <a:ext cx="4114800" cy="990600"/>
          </a:xfrm>
          <a:prstGeom prst="roundRect">
            <a:avLst/>
          </a:prstGeom>
          <a:solidFill>
            <a:srgbClr val="C39BE1">
              <a:alpha val="30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937428" y="638710"/>
            <a:ext cx="30831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Instead of taking the max utility at every level, alternate max and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3568" y="535779"/>
            <a:ext cx="3136981" cy="1742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68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Tic-Tac-Toe Minimax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5050" y="1270000"/>
            <a:ext cx="729615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1066800"/>
            <a:ext cx="1045620" cy="1033462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1981884"/>
            <a:ext cx="928884" cy="1032093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0265" y="2895600"/>
            <a:ext cx="1045620" cy="1033462"/>
          </a:xfrm>
          <a:prstGeom prst="rect">
            <a:avLst/>
          </a:prstGeom>
          <a:noFill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8066" y="3810684"/>
            <a:ext cx="928884" cy="1032093"/>
          </a:xfrm>
          <a:prstGeom prst="rect">
            <a:avLst/>
          </a:prstGeom>
          <a:noFill/>
        </p:spPr>
      </p:pic>
      <p:sp>
        <p:nvSpPr>
          <p:cNvPr id="2" name="Rounded Rectangle 1"/>
          <p:cNvSpPr/>
          <p:nvPr/>
        </p:nvSpPr>
        <p:spPr>
          <a:xfrm>
            <a:off x="2286000" y="5486400"/>
            <a:ext cx="4114800" cy="990600"/>
          </a:xfrm>
          <a:prstGeom prst="roundRect">
            <a:avLst/>
          </a:prstGeom>
          <a:solidFill>
            <a:srgbClr val="C39BE1">
              <a:alpha val="3000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14531858">
            <a:off x="6196387" y="2541981"/>
            <a:ext cx="1706429" cy="304800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1248107">
            <a:off x="5260872" y="4352562"/>
            <a:ext cx="1235734" cy="268231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7367592" y="3433701"/>
            <a:ext cx="4648200" cy="993577"/>
            <a:chOff x="8534400" y="1447800"/>
            <a:chExt cx="4648200" cy="993577"/>
          </a:xfrm>
        </p:grpSpPr>
        <p:sp>
          <p:nvSpPr>
            <p:cNvPr id="17" name="TextBox 16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MAX nodes: under Agent’s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638925" y="4345988"/>
            <a:ext cx="5181600" cy="993577"/>
            <a:chOff x="8534400" y="1447800"/>
            <a:chExt cx="4648200" cy="993577"/>
          </a:xfrm>
        </p:grpSpPr>
        <p:sp>
          <p:nvSpPr>
            <p:cNvPr id="20" name="TextBox 19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alibri" pitchFamily="34" charset="0"/>
                </a:rPr>
                <a:t>MIN nodes: under Opponent’s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min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sp>
        <p:nvSpPr>
          <p:cNvPr id="22" name="Right Arrow 21"/>
          <p:cNvSpPr/>
          <p:nvPr/>
        </p:nvSpPr>
        <p:spPr>
          <a:xfrm rot="11195472">
            <a:off x="5341062" y="3468759"/>
            <a:ext cx="1869181" cy="304097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/>
          <p:cNvSpPr/>
          <p:nvPr/>
        </p:nvSpPr>
        <p:spPr>
          <a:xfrm rot="14784547">
            <a:off x="5855360" y="3472261"/>
            <a:ext cx="1409528" cy="337635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Pacman Example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2743200" y="3124200"/>
            <a:ext cx="6781800" cy="2230830"/>
            <a:chOff x="1676400" y="1447800"/>
            <a:chExt cx="8763000" cy="2882533"/>
          </a:xfrm>
        </p:grpSpPr>
        <p:sp>
          <p:nvSpPr>
            <p:cNvPr id="6" name="Rectangle 5"/>
            <p:cNvSpPr/>
            <p:nvPr/>
          </p:nvSpPr>
          <p:spPr>
            <a:xfrm>
              <a:off x="5105400" y="14478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5410200" y="15240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612726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24600" y="15005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27432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2774460" y="24227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Oval 51"/>
            <p:cNvSpPr/>
            <p:nvPr/>
          </p:nvSpPr>
          <p:spPr>
            <a:xfrm>
              <a:off x="37650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624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Rectangle 53"/>
            <p:cNvSpPr/>
            <p:nvPr/>
          </p:nvSpPr>
          <p:spPr>
            <a:xfrm>
              <a:off x="73914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8001000" y="24384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Oval 55"/>
            <p:cNvSpPr/>
            <p:nvPr/>
          </p:nvSpPr>
          <p:spPr>
            <a:xfrm>
              <a:off x="84132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106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Rectangle 57"/>
            <p:cNvSpPr/>
            <p:nvPr/>
          </p:nvSpPr>
          <p:spPr>
            <a:xfrm>
              <a:off x="1676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9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1707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Oval 59"/>
            <p:cNvSpPr/>
            <p:nvPr/>
          </p:nvSpPr>
          <p:spPr>
            <a:xfrm>
              <a:off x="2698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908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3962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3993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4984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253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Rectangle 65"/>
            <p:cNvSpPr/>
            <p:nvPr/>
          </p:nvSpPr>
          <p:spPr>
            <a:xfrm>
              <a:off x="6324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6934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Oval 67"/>
            <p:cNvSpPr/>
            <p:nvPr/>
          </p:nvSpPr>
          <p:spPr>
            <a:xfrm>
              <a:off x="7346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390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8610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9220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Oval 71"/>
            <p:cNvSpPr/>
            <p:nvPr/>
          </p:nvSpPr>
          <p:spPr>
            <a:xfrm>
              <a:off x="9632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735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" name="TextBox 76"/>
            <p:cNvSpPr txBox="1"/>
            <p:nvPr/>
          </p:nvSpPr>
          <p:spPr>
            <a:xfrm>
              <a:off x="9207357" y="3733800"/>
              <a:ext cx="838200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+8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94816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-10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630220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67164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-8</a:t>
              </a:r>
            </a:p>
          </p:txBody>
        </p:sp>
      </p:grpSp>
      <p:sp>
        <p:nvSpPr>
          <p:cNvPr id="86" name="Right Arrow 85"/>
          <p:cNvSpPr/>
          <p:nvPr/>
        </p:nvSpPr>
        <p:spPr>
          <a:xfrm rot="1353018">
            <a:off x="3919234" y="2377227"/>
            <a:ext cx="1706429" cy="304800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Arrow 89"/>
          <p:cNvSpPr/>
          <p:nvPr/>
        </p:nvSpPr>
        <p:spPr>
          <a:xfrm rot="8255959">
            <a:off x="8148387" y="2949051"/>
            <a:ext cx="1406806" cy="304800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2895600" y="3733800"/>
            <a:ext cx="64869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0" y="3733800"/>
            <a:ext cx="64869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24400" y="2995511"/>
            <a:ext cx="648694" cy="461665"/>
          </a:xfrm>
          <a:prstGeom prst="rect">
            <a:avLst/>
          </a:prstGeom>
          <a:solidFill>
            <a:srgbClr val="3366FF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-8</a:t>
            </a:r>
          </a:p>
        </p:txBody>
      </p:sp>
      <p:sp>
        <p:nvSpPr>
          <p:cNvPr id="3" name="Right Arrow 2"/>
          <p:cNvSpPr/>
          <p:nvPr/>
        </p:nvSpPr>
        <p:spPr>
          <a:xfrm rot="10313695">
            <a:off x="4936841" y="3426482"/>
            <a:ext cx="1066800" cy="304800"/>
          </a:xfrm>
          <a:prstGeom prst="rightArrow">
            <a:avLst/>
          </a:prstGeom>
          <a:solidFill>
            <a:srgbClr val="3366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457200" y="1695454"/>
            <a:ext cx="4648200" cy="993577"/>
            <a:chOff x="8534400" y="1447800"/>
            <a:chExt cx="4648200" cy="993577"/>
          </a:xfrm>
        </p:grpSpPr>
        <p:sp>
          <p:nvSpPr>
            <p:cNvPr id="88" name="TextBox 87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MAX nodes: under Agent’s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4800600" y="563880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Terminal States:</a:t>
            </a:r>
          </a:p>
          <a:p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V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(</a:t>
            </a:r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s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) = </a:t>
            </a:r>
            <a:r>
              <a:rPr lang="en-US" sz="2400" dirty="0">
                <a:latin typeface="Calibri" pitchFamily="34" charset="0"/>
              </a:rPr>
              <a:t>known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7010400" y="1695454"/>
            <a:ext cx="5181600" cy="993577"/>
            <a:chOff x="8534400" y="1447800"/>
            <a:chExt cx="4648200" cy="993577"/>
          </a:xfrm>
        </p:grpSpPr>
        <p:sp>
          <p:nvSpPr>
            <p:cNvPr id="95" name="TextBox 94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alibri" pitchFamily="34" charset="0"/>
                </a:rPr>
                <a:t>MIN nodes: under Opponent’s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min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191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90" grpId="0" animBg="1"/>
      <p:bldP spid="74" grpId="0" animBg="1"/>
      <p:bldP spid="75" grpId="0" animBg="1"/>
      <p:bldP spid="76" grpId="0" animBg="1"/>
      <p:bldP spid="3" grpId="0" animBg="1"/>
      <p:bldP spid="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Minimax Example</a:t>
            </a: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  <a:solidFill>
            <a:srgbClr val="C198E0"/>
          </a:solidFill>
        </p:grpSpPr>
        <p:cxnSp>
          <p:nvCxnSpPr>
            <p:cNvPr id="14382" name="AutoShape 13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3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  <a:solidFill>
            <a:srgbClr val="C198E0"/>
          </a:solidFill>
        </p:grpSpPr>
        <p:cxnSp>
          <p:nvCxnSpPr>
            <p:cNvPr id="14380" name="AutoShape 17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763586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1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  <a:solidFill>
            <a:srgbClr val="C198E0"/>
          </a:solidFill>
        </p:grpSpPr>
        <p:cxnSp>
          <p:nvCxnSpPr>
            <p:cNvPr id="1437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  <a:solidFill>
            <a:srgbClr val="C198E0"/>
          </a:solidFill>
        </p:grpSpPr>
        <p:cxnSp>
          <p:nvCxnSpPr>
            <p:cNvPr id="1437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45833" y="2514600"/>
            <a:ext cx="3302000" cy="1250950"/>
            <a:chOff x="2645833" y="2514600"/>
            <a:chExt cx="3302000" cy="1250950"/>
          </a:xfrm>
        </p:grpSpPr>
        <p:sp>
          <p:nvSpPr>
            <p:cNvPr id="14374" name="AutoShape 6"/>
            <p:cNvSpPr>
              <a:spLocks noChangeArrowheads="1"/>
            </p:cNvSpPr>
            <p:nvPr/>
          </p:nvSpPr>
          <p:spPr bwMode="auto">
            <a:xfrm flipV="1">
              <a:off x="2645833" y="3460750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5" name="AutoShape 7"/>
            <p:cNvCxnSpPr>
              <a:cxnSpLocks noChangeShapeType="1"/>
              <a:stCxn id="14339" idx="3"/>
              <a:endCxn id="14374" idx="3"/>
            </p:cNvCxnSpPr>
            <p:nvPr/>
          </p:nvCxnSpPr>
          <p:spPr bwMode="auto">
            <a:xfrm flipH="1">
              <a:off x="2897717" y="2514600"/>
              <a:ext cx="3050116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14374" idx="0"/>
          </p:cNvCxnSpPr>
          <p:nvPr/>
        </p:nvCxnSpPr>
        <p:spPr bwMode="auto">
          <a:xfrm flipH="1">
            <a:off x="1883835" y="3765553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198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3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14339" idx="3"/>
          </p:cNvCxnSpPr>
          <p:nvPr/>
        </p:nvCxnSpPr>
        <p:spPr bwMode="auto">
          <a:xfrm rot="16200000" flipH="1">
            <a:off x="6212417" y="2250019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14374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4" name="Group 13"/>
          <p:cNvGrpSpPr/>
          <p:nvPr/>
        </p:nvGrpSpPr>
        <p:grpSpPr>
          <a:xfrm>
            <a:off x="5693833" y="2514603"/>
            <a:ext cx="508000" cy="1235075"/>
            <a:chOff x="5693833" y="2514603"/>
            <a:chExt cx="508000" cy="1235075"/>
          </a:xfrm>
        </p:grpSpPr>
        <p:sp>
          <p:nvSpPr>
            <p:cNvPr id="14372" name="AutoShape 20"/>
            <p:cNvSpPr>
              <a:spLocks noChangeArrowheads="1"/>
            </p:cNvSpPr>
            <p:nvPr/>
          </p:nvSpPr>
          <p:spPr bwMode="auto">
            <a:xfrm flipV="1">
              <a:off x="5693833" y="3444878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3" name="AutoShape 21"/>
            <p:cNvCxnSpPr>
              <a:cxnSpLocks noChangeShapeType="1"/>
              <a:stCxn id="14339" idx="3"/>
              <a:endCxn id="14372" idx="3"/>
            </p:cNvCxnSpPr>
            <p:nvPr/>
          </p:nvCxnSpPr>
          <p:spPr bwMode="auto">
            <a:xfrm flipH="1">
              <a:off x="5945717" y="2514603"/>
              <a:ext cx="2117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5"/>
            <a:ext cx="1524000" cy="1190625"/>
            <a:chOff x="3505200" y="3762375"/>
            <a:chExt cx="1142999" cy="1190625"/>
          </a:xfrm>
          <a:solidFill>
            <a:srgbClr val="C198E0"/>
          </a:solidFill>
        </p:grpSpPr>
        <p:cxnSp>
          <p:nvCxnSpPr>
            <p:cNvPr id="14368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9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14370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7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5"/>
            <a:ext cx="1524000" cy="1190625"/>
            <a:chOff x="5791200" y="3762375"/>
            <a:chExt cx="1142999" cy="1190625"/>
          </a:xfrm>
          <a:solidFill>
            <a:srgbClr val="C198E0"/>
          </a:solidFill>
        </p:grpSpPr>
        <p:cxnSp>
          <p:nvCxnSpPr>
            <p:cNvPr id="14362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3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14364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65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5689600" y="3765550"/>
            <a:ext cx="508000" cy="1187450"/>
            <a:chOff x="6553200" y="3765550"/>
            <a:chExt cx="381000" cy="1187450"/>
          </a:xfrm>
          <a:solidFill>
            <a:srgbClr val="C198E0"/>
          </a:solidFill>
        </p:grpSpPr>
        <p:cxnSp>
          <p:nvCxnSpPr>
            <p:cNvPr id="14360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1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5945717" y="3765550"/>
            <a:ext cx="1267883" cy="1187450"/>
            <a:chOff x="6745288" y="3765550"/>
            <a:chExt cx="950912" cy="1187450"/>
          </a:xfrm>
          <a:solidFill>
            <a:srgbClr val="C198E0"/>
          </a:solidFill>
        </p:grpSpPr>
        <p:cxnSp>
          <p:nvCxnSpPr>
            <p:cNvPr id="14358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59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250142" y="32721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2721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6142" y="3272135"/>
            <a:ext cx="34065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4000" y="19767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1998" cy="1250950"/>
            <a:chOff x="4460876" y="2514600"/>
            <a:chExt cx="2476499" cy="1250950"/>
          </a:xfrm>
        </p:grpSpPr>
        <p:sp>
          <p:nvSpPr>
            <p:cNvPr id="14366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67" name="AutoShape 27"/>
            <p:cNvCxnSpPr>
              <a:cxnSpLocks noChangeShapeType="1"/>
              <a:stCxn id="14339" idx="3"/>
              <a:endCxn id="14366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525699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7" grpId="0"/>
      <p:bldP spid="48" grpId="0"/>
      <p:bldP spid="49" grpId="0" animBg="1"/>
      <p:bldP spid="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Implementation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2400" y="3429000"/>
            <a:ext cx="5562600" cy="2590800"/>
            <a:chOff x="0" y="1981200"/>
            <a:chExt cx="5562600" cy="2590800"/>
          </a:xfrm>
        </p:grpSpPr>
        <p:sp>
          <p:nvSpPr>
            <p:cNvPr id="11" name="Rounded Rectangle 10"/>
            <p:cNvSpPr/>
            <p:nvPr/>
          </p:nvSpPr>
          <p:spPr>
            <a:xfrm>
              <a:off x="0" y="1981200"/>
              <a:ext cx="5429250" cy="2590800"/>
            </a:xfrm>
            <a:prstGeom prst="roundRect">
              <a:avLst/>
            </a:prstGeom>
            <a:solidFill>
              <a:srgbClr val="0066CC">
                <a:alpha val="16000"/>
              </a:srgb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ontent Placeholder 2"/>
            <p:cNvSpPr txBox="1">
              <a:spLocks/>
            </p:cNvSpPr>
            <p:nvPr/>
          </p:nvSpPr>
          <p:spPr bwMode="auto">
            <a:xfrm>
              <a:off x="0" y="2209800"/>
              <a:ext cx="5562600" cy="2209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36" tIns="45718" rIns="91436" bIns="45718" numCol="1" anchor="t" anchorCtr="0" compatLnSpc="1">
              <a:prstTxWarp prst="textNoShape">
                <a:avLst/>
              </a:prstTxWarp>
            </a:bodyPr>
            <a:lstStyle/>
            <a:p>
              <a:pPr marL="342882" marR="0" lvl="0" indent="-342882" algn="l" defTabSz="914400" rtl="0" eaLnBrk="1" fontAlgn="base" latinLnBrk="0" hangingPunct="1">
                <a:lnSpc>
                  <a:spcPct val="80000"/>
                </a:lnSpc>
                <a:spcBef>
                  <a:spcPts val="12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en-US" sz="2400" kern="0" dirty="0">
                  <a:solidFill>
                    <a:srgbClr val="BD00B0"/>
                  </a:solidFill>
                  <a:latin typeface="Calibri"/>
                  <a:cs typeface="Calibri"/>
                </a:rPr>
                <a:t>function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cs typeface="Calibri"/>
                </a:rPr>
                <a:t>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cs typeface="Calibri"/>
                </a:rPr>
                <a:t>max-value(s)</a:t>
              </a:r>
              <a:r>
                <a:rPr lang="en-US" sz="2400" kern="0" dirty="0">
                  <a:solidFill>
                    <a:srgbClr val="0000FF"/>
                  </a:solidFill>
                  <a:latin typeface="Calibri"/>
                  <a:cs typeface="Calibri"/>
                </a:rPr>
                <a:t> </a:t>
              </a:r>
              <a:r>
                <a:rPr lang="en-US" sz="2400" kern="0" dirty="0">
                  <a:solidFill>
                    <a:srgbClr val="BD00B0"/>
                  </a:solidFill>
                  <a:latin typeface="Calibri"/>
                  <a:cs typeface="Calibri"/>
                </a:rPr>
                <a:t>returns</a:t>
              </a:r>
              <a:r>
                <a:rPr lang="en-US" sz="2400" kern="0" dirty="0">
                  <a:solidFill>
                    <a:srgbClr val="0070C0"/>
                  </a:solidFill>
                  <a:latin typeface="Calibri"/>
                  <a:cs typeface="Calibri"/>
                </a:rPr>
                <a:t> </a:t>
              </a:r>
              <a:r>
                <a:rPr lang="en-US" sz="2400" kern="0" dirty="0">
                  <a:solidFill>
                    <a:srgbClr val="0000FF"/>
                  </a:solidFill>
                  <a:latin typeface="Calibri"/>
                  <a:cs typeface="Calibri"/>
                </a:rPr>
                <a:t>value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endParaRPr>
            </a:p>
            <a:p>
              <a:pPr marL="742913" marR="0" lvl="1" indent="-285737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en-US" sz="2400" kern="0" dirty="0">
                  <a:latin typeface="Calibri"/>
                  <a:cs typeface="Calibri"/>
                </a:rPr>
                <a:t>i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f Terminal-Test(s) then return Utility(s)</a:t>
              </a:r>
            </a:p>
            <a:p>
              <a:pPr marL="742913" lvl="1" indent="-285737">
                <a:lnSpc>
                  <a:spcPct val="80000"/>
                </a:lnSpc>
                <a:spcBef>
                  <a:spcPct val="20000"/>
                </a:spcBef>
                <a:buClr>
                  <a:schemeClr val="tx1"/>
                </a:buClr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initialize v = </a:t>
              </a:r>
              <a:r>
                <a:rPr lang="en-US" sz="2400" kern="0" noProof="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US" sz="2400" kern="0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∞</a:t>
              </a:r>
            </a:p>
            <a:p>
              <a:pPr marL="742913" lvl="1" indent="-285737">
                <a:lnSpc>
                  <a:spcPct val="80000"/>
                </a:lnSpc>
                <a:spcBef>
                  <a:spcPct val="20000"/>
                </a:spcBef>
                <a:buClr>
                  <a:schemeClr val="tx1"/>
                </a:buClr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for each </a:t>
              </a:r>
              <a:r>
                <a:rPr lang="en-US" sz="2400" kern="0" dirty="0">
                  <a:latin typeface="Calibri"/>
                  <a:cs typeface="Calibri"/>
                </a:rPr>
                <a:t>a in Actions(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s):</a:t>
              </a:r>
            </a:p>
            <a:p>
              <a:pPr marL="1142942" marR="0" lvl="2" indent="-228589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v =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/>
                  <a:cs typeface="Calibri"/>
                </a:rPr>
                <a:t>max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(v,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cs typeface="Calibri"/>
                </a:rPr>
                <a:t>min-value(</a:t>
              </a:r>
              <a:r>
                <a:rPr lang="en-US" sz="2400" kern="0" dirty="0">
                  <a:solidFill>
                    <a:srgbClr val="C00000"/>
                  </a:solidFill>
                  <a:latin typeface="Calibri"/>
                  <a:cs typeface="Calibri"/>
                </a:rPr>
                <a:t>Successor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  <a:cs typeface="Calibri"/>
                </a:rPr>
                <a:t>)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cs typeface="Calibri"/>
                </a:rPr>
                <a:t>)</a:t>
              </a:r>
            </a:p>
            <a:p>
              <a:pPr marL="742913" marR="0" lvl="1" indent="-285737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cs typeface="Calibri"/>
                </a:rPr>
                <a:t>return v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629400" y="3429000"/>
            <a:ext cx="5562600" cy="2590800"/>
            <a:chOff x="6477000" y="1981200"/>
            <a:chExt cx="5562600" cy="2590800"/>
          </a:xfrm>
        </p:grpSpPr>
        <p:sp>
          <p:nvSpPr>
            <p:cNvPr id="12" name="Rounded Rectangle 11"/>
            <p:cNvSpPr/>
            <p:nvPr/>
          </p:nvSpPr>
          <p:spPr>
            <a:xfrm>
              <a:off x="6477000" y="1981200"/>
              <a:ext cx="5467351" cy="2590800"/>
            </a:xfrm>
            <a:prstGeom prst="roundRect">
              <a:avLst/>
            </a:prstGeom>
            <a:solidFill>
              <a:srgbClr val="C00000">
                <a:alpha val="16000"/>
              </a:srgb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ntent Placeholder 2"/>
            <p:cNvSpPr txBox="1">
              <a:spLocks/>
            </p:cNvSpPr>
            <p:nvPr/>
          </p:nvSpPr>
          <p:spPr bwMode="auto">
            <a:xfrm>
              <a:off x="6477000" y="2209800"/>
              <a:ext cx="5562600" cy="228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36" tIns="45718" rIns="91436" bIns="45718" numCol="1" anchor="t" anchorCtr="0" compatLnSpc="1">
              <a:prstTxWarp prst="textNoShape">
                <a:avLst/>
              </a:prstTxWarp>
            </a:bodyPr>
            <a:lstStyle/>
            <a:p>
              <a:pPr marL="342882" marR="0" lvl="0" indent="-342882" algn="l" defTabSz="914400" rtl="0" eaLnBrk="1" fontAlgn="base" latinLnBrk="0" hangingPunct="1">
                <a:lnSpc>
                  <a:spcPct val="80000"/>
                </a:lnSpc>
                <a:spcBef>
                  <a:spcPts val="12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en-US" sz="2400" kern="0" dirty="0">
                  <a:solidFill>
                    <a:srgbClr val="BD00B0"/>
                  </a:solidFill>
                  <a:latin typeface="Calibri" pitchFamily="34" charset="0"/>
                </a:rPr>
                <a:t>function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min-value(s)</a:t>
              </a:r>
              <a:r>
                <a:rPr kumimoji="0" lang="en-US" sz="2400" b="0" i="0" u="none" strike="noStrike" kern="0" cap="none" spc="0" normalizeH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</a:t>
              </a:r>
              <a:r>
                <a:rPr kumimoji="0" lang="en-US" sz="2400" b="0" i="0" u="none" strike="noStrike" kern="0" cap="none" spc="0" normalizeH="0" noProof="0" dirty="0">
                  <a:ln>
                    <a:noFill/>
                  </a:ln>
                  <a:solidFill>
                    <a:srgbClr val="BD00B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returns</a:t>
              </a:r>
              <a:r>
                <a:rPr kumimoji="0" lang="en-US" sz="2400" b="0" i="0" u="none" strike="noStrike" kern="0" cap="none" spc="0" normalizeH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 value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  <a:p>
              <a:pPr marL="742913" lvl="1" indent="-285737">
                <a:lnSpc>
                  <a:spcPct val="80000"/>
                </a:lnSpc>
                <a:spcBef>
                  <a:spcPct val="20000"/>
                </a:spcBef>
                <a:buClr>
                  <a:schemeClr val="tx1"/>
                </a:buClr>
                <a:defRPr/>
              </a:pPr>
              <a:r>
                <a:rPr lang="en-US" sz="2400" kern="0" dirty="0">
                  <a:latin typeface="Calibri"/>
                  <a:cs typeface="Calibri"/>
                </a:rPr>
                <a:t>if Terminal-Test(s) then return Utility(s)</a:t>
              </a:r>
            </a:p>
            <a:p>
              <a:pPr marL="742913" marR="0" lvl="1" indent="-285737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itchFamily="34" charset="0"/>
                </a:rPr>
                <a:t>initialize v = </a:t>
              </a:r>
              <a:r>
                <a:rPr lang="en-US" sz="2400" kern="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∞</a:t>
              </a:r>
            </a:p>
            <a:p>
              <a:pPr marL="742913" lvl="1" indent="-285737">
                <a:lnSpc>
                  <a:spcPct val="80000"/>
                </a:lnSpc>
                <a:spcBef>
                  <a:spcPct val="20000"/>
                </a:spcBef>
                <a:buClr>
                  <a:schemeClr val="tx1"/>
                </a:buClr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itchFamily="34" charset="0"/>
                </a:rPr>
                <a:t>for each </a:t>
              </a:r>
              <a:r>
                <a:rPr lang="en-US" sz="2400" kern="0" dirty="0">
                  <a:latin typeface="Calibri" pitchFamily="34" charset="0"/>
                </a:rPr>
                <a:t>a in Actions(state):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endParaRPr>
            </a:p>
            <a:p>
              <a:pPr marL="1142942" lvl="2" indent="-228589" fontAlgn="base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defRPr/>
              </a:pPr>
              <a:r>
                <a:rPr lang="en-US" sz="2400" kern="0" noProof="0" dirty="0">
                  <a:latin typeface="Calibri" pitchFamily="34" charset="0"/>
                </a:rPr>
                <a:t>v = </a:t>
              </a:r>
              <a:r>
                <a:rPr lang="en-US" sz="2400" kern="0" noProof="0" dirty="0">
                  <a:solidFill>
                    <a:srgbClr val="FF0000"/>
                  </a:solidFill>
                  <a:latin typeface="Calibri" pitchFamily="34" charset="0"/>
                </a:rPr>
                <a:t>min</a:t>
              </a:r>
              <a:r>
                <a:rPr lang="en-US" sz="2400" kern="0" noProof="0" dirty="0">
                  <a:latin typeface="Calibri" pitchFamily="34" charset="0"/>
                </a:rPr>
                <a:t>(v, 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itchFamily="34" charset="0"/>
                </a:rPr>
                <a:t>max-value(</a:t>
              </a:r>
              <a:r>
                <a:rPr lang="en-US" sz="2400" kern="0" dirty="0">
                  <a:solidFill>
                    <a:srgbClr val="0070C0"/>
                  </a:solidFill>
                  <a:latin typeface="Calibri" pitchFamily="34" charset="0"/>
                </a:rPr>
                <a:t>Successor</a:t>
              </a: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itchFamily="34" charset="0"/>
                </a:rPr>
                <a:t>)</a:t>
              </a:r>
            </a:p>
            <a:p>
              <a:pPr marL="742913" marR="0" lvl="1" indent="-285737" algn="l" defTabSz="914400" rtl="0" eaLnBrk="1" fontAlgn="base" latinLnBrk="0" hangingPunct="1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itchFamily="34" charset="0"/>
                </a:rPr>
                <a:t>return v</a:t>
              </a:r>
            </a:p>
          </p:txBody>
        </p:sp>
      </p:grpSp>
      <p:sp>
        <p:nvSpPr>
          <p:cNvPr id="6" name="Left-Right Arrow 5"/>
          <p:cNvSpPr/>
          <p:nvPr/>
        </p:nvSpPr>
        <p:spPr>
          <a:xfrm>
            <a:off x="5715000" y="4724400"/>
            <a:ext cx="838200" cy="304800"/>
          </a:xfrm>
          <a:prstGeom prst="leftRightArrow">
            <a:avLst/>
          </a:prstGeom>
          <a:solidFill>
            <a:srgbClr val="BD0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2438400" y="1509715"/>
            <a:ext cx="6934200" cy="16764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2514600" y="1585915"/>
            <a:ext cx="6629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400" kern="0" dirty="0">
                <a:solidFill>
                  <a:srgbClr val="BD00B0"/>
                </a:solidFill>
                <a:latin typeface="Calibri"/>
                <a:cs typeface="Calibri"/>
              </a:rPr>
              <a:t>function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cs typeface="Calibri"/>
              </a:rPr>
              <a:t>minimax-decision(s)</a:t>
            </a:r>
            <a:r>
              <a:rPr lang="en-US" sz="2400" kern="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BD00B0"/>
                </a:solidFill>
                <a:latin typeface="Calibri"/>
                <a:cs typeface="Calibri"/>
              </a:rPr>
              <a:t>returns</a:t>
            </a:r>
            <a:r>
              <a:rPr lang="en-US" sz="2400" kern="0" dirty="0"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0000FF"/>
                </a:solidFill>
                <a:latin typeface="Calibri"/>
                <a:cs typeface="Calibri"/>
              </a:rPr>
              <a:t>action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400" kern="0" dirty="0">
                <a:latin typeface="Calibri"/>
                <a:cs typeface="Calibri"/>
              </a:rPr>
              <a:t>    </a:t>
            </a:r>
            <a:r>
              <a:rPr lang="en-US" sz="2400" kern="0" dirty="0">
                <a:solidFill>
                  <a:srgbClr val="BD00B0"/>
                </a:solidFill>
                <a:latin typeface="Calibri"/>
                <a:cs typeface="Calibri"/>
              </a:rPr>
              <a:t>return</a:t>
            </a:r>
            <a:r>
              <a:rPr lang="en-US" sz="2400" kern="0" dirty="0">
                <a:latin typeface="Calibri"/>
                <a:cs typeface="Calibri"/>
              </a:rPr>
              <a:t> the action </a:t>
            </a:r>
            <a:r>
              <a:rPr lang="en-US" sz="2400" kern="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lang="en-US" sz="2400" kern="0" dirty="0">
                <a:latin typeface="Calibri"/>
                <a:cs typeface="Calibri"/>
              </a:rPr>
              <a:t> in Actions(</a:t>
            </a:r>
            <a:r>
              <a:rPr lang="en-US" sz="2400" kern="0" dirty="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lang="en-US" sz="2400" kern="0" dirty="0">
                <a:latin typeface="Calibri"/>
                <a:cs typeface="Calibri"/>
              </a:rPr>
              <a:t>) with the highest </a:t>
            </a:r>
            <a:r>
              <a:rPr lang="en-US" sz="2400" kern="0" dirty="0">
                <a:solidFill>
                  <a:srgbClr val="FF0000"/>
                </a:solidFill>
                <a:latin typeface="Calibri"/>
                <a:cs typeface="Calibri"/>
              </a:rPr>
              <a:t>min-value(Result(</a:t>
            </a:r>
            <a:r>
              <a:rPr lang="en-US" sz="2400" kern="0" dirty="0" err="1">
                <a:solidFill>
                  <a:srgbClr val="FF0000"/>
                </a:solidFill>
                <a:latin typeface="Calibri"/>
                <a:cs typeface="Calibri"/>
              </a:rPr>
              <a:t>s,a</a:t>
            </a:r>
            <a:r>
              <a:rPr lang="en-US" sz="2400" kern="0" dirty="0">
                <a:solidFill>
                  <a:srgbClr val="FF0000"/>
                </a:solidFill>
                <a:latin typeface="Calibri"/>
                <a:cs typeface="Calibri"/>
              </a:rPr>
              <a:t>))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cs typeface="Calibri"/>
              </a:rPr>
              <a:t>    </a:t>
            </a:r>
          </a:p>
        </p:txBody>
      </p:sp>
      <p:sp>
        <p:nvSpPr>
          <p:cNvPr id="17" name="Left-Right Arrow 16"/>
          <p:cNvSpPr/>
          <p:nvPr/>
        </p:nvSpPr>
        <p:spPr>
          <a:xfrm rot="3861907">
            <a:off x="7105542" y="3194998"/>
            <a:ext cx="409432" cy="258216"/>
          </a:xfrm>
          <a:prstGeom prst="leftRightArrow">
            <a:avLst/>
          </a:prstGeom>
          <a:solidFill>
            <a:srgbClr val="BD0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677400" y="2057400"/>
            <a:ext cx="1981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kern="0" dirty="0">
                <a:latin typeface="Calibri"/>
                <a:cs typeface="Calibri"/>
              </a:rPr>
              <a:t>Result(</a:t>
            </a:r>
            <a:r>
              <a:rPr lang="en-US" sz="2400" kern="0" dirty="0" err="1">
                <a:latin typeface="Calibri"/>
                <a:cs typeface="Calibri"/>
              </a:rPr>
              <a:t>s,a</a:t>
            </a:r>
            <a:r>
              <a:rPr lang="en-US" sz="2400" kern="0" dirty="0">
                <a:latin typeface="Calibri"/>
                <a:cs typeface="Calibri"/>
              </a:rPr>
              <a:t>)</a:t>
            </a:r>
            <a:r>
              <a:rPr lang="en-US" sz="2400" kern="0" dirty="0">
                <a:latin typeface="Calibri"/>
                <a:cs typeface="Calibri"/>
                <a:sym typeface="Wingdings"/>
              </a:rPr>
              <a:t>s’</a:t>
            </a:r>
            <a:endParaRPr lang="en-US" sz="24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1143000" y="6090046"/>
            <a:ext cx="4648200" cy="615554"/>
            <a:chOff x="8534400" y="1447800"/>
            <a:chExt cx="4648200" cy="615554"/>
          </a:xfrm>
        </p:grpSpPr>
        <p:sp>
          <p:nvSpPr>
            <p:cNvPr id="23" name="TextBox 22"/>
            <p:cNvSpPr txBox="1"/>
            <p:nvPr/>
          </p:nvSpPr>
          <p:spPr>
            <a:xfrm>
              <a:off x="8534400" y="1447800"/>
              <a:ext cx="4648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144000" y="1755577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696200" y="6090046"/>
            <a:ext cx="5181600" cy="615554"/>
            <a:chOff x="8534400" y="1447800"/>
            <a:chExt cx="4648200" cy="615554"/>
          </a:xfrm>
        </p:grpSpPr>
        <p:sp>
          <p:nvSpPr>
            <p:cNvPr id="26" name="TextBox 25"/>
            <p:cNvSpPr txBox="1"/>
            <p:nvPr/>
          </p:nvSpPr>
          <p:spPr>
            <a:xfrm>
              <a:off x="8534400" y="1447800"/>
              <a:ext cx="4648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min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081247" y="1755577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982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kind of search is Minimax Search?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r>
              <a:rPr lang="en-US" dirty="0"/>
              <a:t>BFS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r>
              <a:rPr lang="en-US" dirty="0"/>
              <a:t>DFS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r>
              <a:rPr lang="en-US" dirty="0"/>
              <a:t>UCS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arenR"/>
              <a:tabLst/>
              <a:defRPr/>
            </a:pPr>
            <a:r>
              <a:rPr lang="en-US" dirty="0"/>
              <a:t>A*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BC31AC-588D-A581-9CF7-FD4390F7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98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is Depth-First Search</a:t>
            </a:r>
          </a:p>
        </p:txBody>
      </p:sp>
      <p:grpSp>
        <p:nvGrpSpPr>
          <p:cNvPr id="81" name="Group 80"/>
          <p:cNvGrpSpPr/>
          <p:nvPr/>
        </p:nvGrpSpPr>
        <p:grpSpPr>
          <a:xfrm>
            <a:off x="2743200" y="3124200"/>
            <a:ext cx="6781800" cy="2230830"/>
            <a:chOff x="1676400" y="1447800"/>
            <a:chExt cx="8763000" cy="2882533"/>
          </a:xfrm>
        </p:grpSpPr>
        <p:sp>
          <p:nvSpPr>
            <p:cNvPr id="6" name="Rectangle 5"/>
            <p:cNvSpPr/>
            <p:nvPr/>
          </p:nvSpPr>
          <p:spPr>
            <a:xfrm>
              <a:off x="5105400" y="14478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5410200" y="15240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612726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24600" y="15005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27432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2774460" y="24227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Oval 51"/>
            <p:cNvSpPr/>
            <p:nvPr/>
          </p:nvSpPr>
          <p:spPr>
            <a:xfrm>
              <a:off x="37650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624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Rectangle 53"/>
            <p:cNvSpPr/>
            <p:nvPr/>
          </p:nvSpPr>
          <p:spPr>
            <a:xfrm>
              <a:off x="73914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8001000" y="24384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Oval 55"/>
            <p:cNvSpPr/>
            <p:nvPr/>
          </p:nvSpPr>
          <p:spPr>
            <a:xfrm>
              <a:off x="84132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106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Rectangle 57"/>
            <p:cNvSpPr/>
            <p:nvPr/>
          </p:nvSpPr>
          <p:spPr>
            <a:xfrm>
              <a:off x="1676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9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1707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Oval 59"/>
            <p:cNvSpPr/>
            <p:nvPr/>
          </p:nvSpPr>
          <p:spPr>
            <a:xfrm>
              <a:off x="2698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908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3962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3993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4984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253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Rectangle 65"/>
            <p:cNvSpPr/>
            <p:nvPr/>
          </p:nvSpPr>
          <p:spPr>
            <a:xfrm>
              <a:off x="6324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6934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Oval 67"/>
            <p:cNvSpPr/>
            <p:nvPr/>
          </p:nvSpPr>
          <p:spPr>
            <a:xfrm>
              <a:off x="7346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390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8610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9220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Oval 71"/>
            <p:cNvSpPr/>
            <p:nvPr/>
          </p:nvSpPr>
          <p:spPr>
            <a:xfrm>
              <a:off x="9632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735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" name="TextBox 76"/>
            <p:cNvSpPr txBox="1"/>
            <p:nvPr/>
          </p:nvSpPr>
          <p:spPr>
            <a:xfrm>
              <a:off x="9207357" y="3733800"/>
              <a:ext cx="838200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+8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894816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-10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630220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67164" y="3733800"/>
              <a:ext cx="838200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-8</a:t>
              </a:r>
            </a:p>
          </p:txBody>
        </p:sp>
      </p:grpSp>
      <p:sp>
        <p:nvSpPr>
          <p:cNvPr id="86" name="Right Arrow 85"/>
          <p:cNvSpPr/>
          <p:nvPr/>
        </p:nvSpPr>
        <p:spPr>
          <a:xfrm rot="1353018">
            <a:off x="3919234" y="2377227"/>
            <a:ext cx="1706429" cy="304800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ight Arrow 89"/>
          <p:cNvSpPr/>
          <p:nvPr/>
        </p:nvSpPr>
        <p:spPr>
          <a:xfrm rot="8255959">
            <a:off x="8148387" y="2949051"/>
            <a:ext cx="1406806" cy="304800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2895600" y="3733800"/>
            <a:ext cx="64869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7000" y="3733800"/>
            <a:ext cx="648694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24400" y="2995511"/>
            <a:ext cx="648694" cy="461665"/>
          </a:xfrm>
          <a:prstGeom prst="rect">
            <a:avLst/>
          </a:prstGeom>
          <a:solidFill>
            <a:srgbClr val="3366FF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itchFamily="34" charset="0"/>
              </a:rPr>
              <a:t>-8</a:t>
            </a:r>
          </a:p>
        </p:txBody>
      </p:sp>
      <p:sp>
        <p:nvSpPr>
          <p:cNvPr id="3" name="Right Arrow 2"/>
          <p:cNvSpPr/>
          <p:nvPr/>
        </p:nvSpPr>
        <p:spPr>
          <a:xfrm rot="10313695">
            <a:off x="4936841" y="3426482"/>
            <a:ext cx="1066800" cy="304800"/>
          </a:xfrm>
          <a:prstGeom prst="rightArrow">
            <a:avLst/>
          </a:prstGeom>
          <a:solidFill>
            <a:srgbClr val="3366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457200" y="1695454"/>
            <a:ext cx="4648200" cy="993577"/>
            <a:chOff x="8534400" y="1447800"/>
            <a:chExt cx="4648200" cy="993577"/>
          </a:xfrm>
        </p:grpSpPr>
        <p:sp>
          <p:nvSpPr>
            <p:cNvPr id="88" name="TextBox 87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FF"/>
                  </a:solidFill>
                  <a:latin typeface="Calibri" pitchFamily="34" charset="0"/>
                </a:rPr>
                <a:t>MAX nodes: under Agent’s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max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4800600" y="563880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Terminal States:</a:t>
            </a:r>
          </a:p>
          <a:p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V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(</a:t>
            </a:r>
            <a:r>
              <a:rPr lang="en-US" sz="2400" i="1" dirty="0">
                <a:solidFill>
                  <a:srgbClr val="D303CA"/>
                </a:solidFill>
                <a:latin typeface="Calibri" pitchFamily="34" charset="0"/>
              </a:rPr>
              <a:t>s</a:t>
            </a:r>
            <a:r>
              <a:rPr lang="en-US" sz="2400" dirty="0">
                <a:solidFill>
                  <a:srgbClr val="D303CA"/>
                </a:solidFill>
                <a:latin typeface="Calibri" pitchFamily="34" charset="0"/>
              </a:rPr>
              <a:t>) = </a:t>
            </a:r>
            <a:r>
              <a:rPr lang="en-US" sz="2400" dirty="0">
                <a:latin typeface="Calibri" pitchFamily="34" charset="0"/>
              </a:rPr>
              <a:t>known</a:t>
            </a:r>
          </a:p>
        </p:txBody>
      </p:sp>
      <p:grpSp>
        <p:nvGrpSpPr>
          <p:cNvPr id="94" name="Group 93"/>
          <p:cNvGrpSpPr/>
          <p:nvPr/>
        </p:nvGrpSpPr>
        <p:grpSpPr>
          <a:xfrm>
            <a:off x="7010400" y="1695454"/>
            <a:ext cx="5181600" cy="993577"/>
            <a:chOff x="8534400" y="1447800"/>
            <a:chExt cx="4648200" cy="993577"/>
          </a:xfrm>
        </p:grpSpPr>
        <p:sp>
          <p:nvSpPr>
            <p:cNvPr id="95" name="TextBox 94"/>
            <p:cNvSpPr txBox="1"/>
            <p:nvPr/>
          </p:nvSpPr>
          <p:spPr>
            <a:xfrm>
              <a:off x="8534400" y="1447800"/>
              <a:ext cx="4648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  <a:latin typeface="Calibri" pitchFamily="34" charset="0"/>
                </a:rPr>
                <a:t>MIN nodes: under Opponent’s control</a:t>
              </a:r>
            </a:p>
            <a:p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 =      min      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V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(</a:t>
              </a:r>
              <a:r>
                <a:rPr lang="en-US" sz="2400" i="1" dirty="0">
                  <a:solidFill>
                    <a:srgbClr val="D303CA"/>
                  </a:solidFill>
                  <a:latin typeface="Calibri" pitchFamily="34" charset="0"/>
                </a:rPr>
                <a:t>s’</a:t>
              </a:r>
              <a:r>
                <a:rPr lang="en-US" sz="2400" dirty="0">
                  <a:solidFill>
                    <a:srgbClr val="D303CA"/>
                  </a:solidFill>
                  <a:latin typeface="Calibri" pitchFamily="34" charset="0"/>
                </a:rPr>
                <a:t>)</a:t>
              </a:r>
              <a:endParaRPr lang="en-US" sz="2400" dirty="0">
                <a:latin typeface="Calibri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9348991" y="2133600"/>
              <a:ext cx="1700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’ </a:t>
              </a:r>
              <a:r>
                <a:rPr lang="en-US" sz="1400" dirty="0">
                  <a:solidFill>
                    <a:srgbClr val="D303CA"/>
                  </a:solidFill>
                  <a:sym typeface="Symbol"/>
                </a:rPr>
                <a:t></a:t>
              </a:r>
              <a:r>
                <a:rPr lang="en-US" sz="1400" dirty="0">
                  <a:solidFill>
                    <a:srgbClr val="D303CA"/>
                  </a:solidFill>
                </a:rPr>
                <a:t>  successors(</a:t>
              </a:r>
              <a:r>
                <a:rPr lang="en-US" sz="1400" i="1" dirty="0">
                  <a:solidFill>
                    <a:srgbClr val="D303CA"/>
                  </a:solidFill>
                </a:rPr>
                <a:t>s</a:t>
              </a:r>
              <a:r>
                <a:rPr lang="en-US" sz="1400" dirty="0">
                  <a:solidFill>
                    <a:srgbClr val="D303CA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429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519236"/>
            <a:ext cx="5918200" cy="4729164"/>
          </a:xfrm>
        </p:spPr>
        <p:txBody>
          <a:bodyPr/>
          <a:lstStyle/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sz="2800" dirty="0">
                <a:solidFill>
                  <a:srgbClr val="333399"/>
                </a:solidFill>
              </a:rPr>
              <a:t>How efficient is minimax?</a:t>
            </a:r>
          </a:p>
          <a:p>
            <a:pPr lvl="1">
              <a:lnSpc>
                <a:spcPct val="90000"/>
              </a:lnSpc>
              <a:buClr>
                <a:srgbClr val="333399"/>
              </a:buClr>
            </a:pPr>
            <a:r>
              <a:rPr lang="en-US" sz="2400" dirty="0"/>
              <a:t>Just like (exhaustive) DFS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Time: O(</a:t>
            </a:r>
            <a:r>
              <a:rPr lang="en-US" sz="2400" dirty="0" err="1">
                <a:solidFill>
                  <a:srgbClr val="000000"/>
                </a:solidFill>
                <a:ea typeface="+mn-ea"/>
                <a:cs typeface="+mn-cs"/>
              </a:rPr>
              <a:t>b</a:t>
            </a:r>
            <a:r>
              <a:rPr lang="en-US" sz="2400" baseline="30000" dirty="0" err="1">
                <a:solidFill>
                  <a:srgbClr val="000000"/>
                </a:solidFill>
                <a:ea typeface="+mn-ea"/>
                <a:cs typeface="+mn-cs"/>
              </a:rPr>
              <a:t>m</a:t>
            </a: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)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Space: O(</a:t>
            </a:r>
            <a:r>
              <a:rPr lang="en-US" sz="2400" dirty="0" err="1">
                <a:solidFill>
                  <a:srgbClr val="000000"/>
                </a:solidFill>
                <a:ea typeface="+mn-ea"/>
                <a:cs typeface="+mn-cs"/>
              </a:rPr>
              <a:t>bm</a:t>
            </a: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)</a:t>
            </a:r>
          </a:p>
          <a:p>
            <a:pPr lvl="0">
              <a:lnSpc>
                <a:spcPct val="90000"/>
              </a:lnSpc>
              <a:buClr>
                <a:srgbClr val="333399"/>
              </a:buClr>
            </a:pPr>
            <a:endParaRPr lang="en-US" sz="2800" dirty="0">
              <a:solidFill>
                <a:srgbClr val="333399"/>
              </a:solidFill>
            </a:endParaRPr>
          </a:p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sz="2800" dirty="0">
                <a:solidFill>
                  <a:srgbClr val="333399"/>
                </a:solidFill>
              </a:rPr>
              <a:t>Example: For </a:t>
            </a:r>
            <a:r>
              <a:rPr lang="en-US" sz="2800" kern="1200" dirty="0">
                <a:solidFill>
                  <a:srgbClr val="333399"/>
                </a:solidFill>
              </a:rPr>
              <a:t>chess, b </a:t>
            </a:r>
            <a:r>
              <a:rPr lang="en-US" sz="2800" kern="1200" dirty="0">
                <a:solidFill>
                  <a:srgbClr val="333399"/>
                </a:solidFill>
                <a:sym typeface="Symbol" pitchFamily="18" charset="2"/>
              </a:rPr>
              <a:t> 35, m  100</a:t>
            </a:r>
            <a:endParaRPr lang="en-US" sz="2800" dirty="0">
              <a:solidFill>
                <a:srgbClr val="333399"/>
              </a:solidFill>
            </a:endParaRPr>
          </a:p>
          <a:p>
            <a:pPr marL="800082" lvl="1" indent="-342882">
              <a:lnSpc>
                <a:spcPct val="90000"/>
              </a:lnSpc>
              <a:buClrTx/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Exact solution is completely infeasible</a:t>
            </a:r>
          </a:p>
          <a:p>
            <a:pPr marL="800082" lvl="1" indent="-342882">
              <a:lnSpc>
                <a:spcPct val="90000"/>
              </a:lnSpc>
              <a:buClrTx/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Humans can’t do this either, so how do we play chess?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9766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861" y="201057"/>
            <a:ext cx="10515600" cy="712661"/>
          </a:xfrm>
        </p:spPr>
        <p:txBody>
          <a:bodyPr/>
          <a:lstStyle/>
          <a:p>
            <a:r>
              <a:rPr lang="en-US" dirty="0"/>
              <a:t>Generalized minimax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61060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What if the game is not zero-sum, or has multiple players?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2400" dirty="0"/>
              <a:t>Generalization of minimax: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Terminals have </a:t>
            </a:r>
            <a:r>
              <a:rPr lang="en-US" sz="2000" b="1" i="1" dirty="0">
                <a:solidFill>
                  <a:srgbClr val="FF0000"/>
                </a:solidFill>
              </a:rPr>
              <a:t>utility </a:t>
            </a:r>
            <a:r>
              <a:rPr lang="en-US" sz="2000" b="1" i="1" dirty="0" err="1">
                <a:solidFill>
                  <a:srgbClr val="FF0000"/>
                </a:solidFill>
              </a:rPr>
              <a:t>tuples</a:t>
            </a:r>
            <a:endParaRPr lang="en-US" sz="2000" b="1" i="1" dirty="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sz="2000" dirty="0"/>
              <a:t>Node values are also utility </a:t>
            </a:r>
            <a:r>
              <a:rPr lang="en-US" sz="2000" dirty="0" err="1"/>
              <a:t>tuples</a:t>
            </a:r>
            <a:endParaRPr lang="en-US" sz="2000" dirty="0"/>
          </a:p>
          <a:p>
            <a:pPr lvl="1">
              <a:lnSpc>
                <a:spcPct val="80000"/>
              </a:lnSpc>
            </a:pPr>
            <a:r>
              <a:rPr lang="en-US" sz="2000" b="1" i="1" dirty="0">
                <a:solidFill>
                  <a:srgbClr val="0000FF"/>
                </a:solidFill>
              </a:rPr>
              <a:t>Each player maximizes its own component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Can give rise to cooperation and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	competition dynamically…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572000" y="1972273"/>
            <a:ext cx="6934200" cy="3742727"/>
            <a:chOff x="3200400" y="2057400"/>
            <a:chExt cx="5638800" cy="3043536"/>
          </a:xfrm>
        </p:grpSpPr>
        <p:sp>
          <p:nvSpPr>
            <p:cNvPr id="18436" name="Text Box 25"/>
            <p:cNvSpPr txBox="1">
              <a:spLocks noChangeArrowheads="1"/>
            </p:cNvSpPr>
            <p:nvPr/>
          </p:nvSpPr>
          <p:spPr bwMode="auto">
            <a:xfrm>
              <a:off x="32004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1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1,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6</a:t>
              </a:r>
            </a:p>
          </p:txBody>
        </p:sp>
        <p:sp>
          <p:nvSpPr>
            <p:cNvPr id="18437" name="Text Box 26"/>
            <p:cNvSpPr txBox="1">
              <a:spLocks noChangeArrowheads="1"/>
            </p:cNvSpPr>
            <p:nvPr/>
          </p:nvSpPr>
          <p:spPr bwMode="auto">
            <a:xfrm>
              <a:off x="38862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sp>
          <p:nvSpPr>
            <p:cNvPr id="18438" name="Text Box 27"/>
            <p:cNvSpPr txBox="1">
              <a:spLocks noChangeArrowheads="1"/>
            </p:cNvSpPr>
            <p:nvPr/>
          </p:nvSpPr>
          <p:spPr bwMode="auto">
            <a:xfrm>
              <a:off x="46482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8439" name="Text Box 28"/>
            <p:cNvSpPr txBox="1">
              <a:spLocks noChangeArrowheads="1"/>
            </p:cNvSpPr>
            <p:nvPr/>
          </p:nvSpPr>
          <p:spPr bwMode="auto">
            <a:xfrm>
              <a:off x="53340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8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8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1</a:t>
              </a:r>
            </a:p>
          </p:txBody>
        </p:sp>
        <p:sp>
          <p:nvSpPr>
            <p:cNvPr id="18440" name="Text Box 29"/>
            <p:cNvSpPr txBox="1">
              <a:spLocks noChangeArrowheads="1"/>
            </p:cNvSpPr>
            <p:nvPr/>
          </p:nvSpPr>
          <p:spPr bwMode="auto">
            <a:xfrm>
              <a:off x="60960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9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0</a:t>
              </a:r>
            </a:p>
          </p:txBody>
        </p:sp>
        <p:sp>
          <p:nvSpPr>
            <p:cNvPr id="18441" name="Text Box 30"/>
            <p:cNvSpPr txBox="1">
              <a:spLocks noChangeArrowheads="1"/>
            </p:cNvSpPr>
            <p:nvPr/>
          </p:nvSpPr>
          <p:spPr bwMode="auto">
            <a:xfrm>
              <a:off x="67818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7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7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2</a:t>
              </a:r>
            </a:p>
          </p:txBody>
        </p:sp>
        <p:sp>
          <p:nvSpPr>
            <p:cNvPr id="18442" name="Text Box 31"/>
            <p:cNvSpPr txBox="1">
              <a:spLocks noChangeArrowheads="1"/>
            </p:cNvSpPr>
            <p:nvPr/>
          </p:nvSpPr>
          <p:spPr bwMode="auto">
            <a:xfrm>
              <a:off x="75438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8</a:t>
              </a:r>
            </a:p>
          </p:txBody>
        </p:sp>
        <p:sp>
          <p:nvSpPr>
            <p:cNvPr id="18443" name="Text Box 32"/>
            <p:cNvSpPr txBox="1">
              <a:spLocks noChangeArrowheads="1"/>
            </p:cNvSpPr>
            <p:nvPr/>
          </p:nvSpPr>
          <p:spPr bwMode="auto">
            <a:xfrm>
              <a:off x="8229600" y="4800600"/>
              <a:ext cx="609600" cy="3003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solidFill>
                    <a:srgbClr val="CC0000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3333FF"/>
                  </a:solidFill>
                  <a:latin typeface="Calibri"/>
                  <a:cs typeface="Calibri"/>
                </a:rPr>
                <a:t>0</a:t>
              </a:r>
              <a:r>
                <a:rPr lang="en-US" dirty="0">
                  <a:latin typeface="Calibri"/>
                  <a:cs typeface="Calibri"/>
                </a:rPr>
                <a:t>,</a:t>
              </a: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7</a:t>
              </a:r>
            </a:p>
          </p:txBody>
        </p:sp>
        <p:cxnSp>
          <p:nvCxnSpPr>
            <p:cNvPr id="18445" name="AutoShape 11"/>
            <p:cNvCxnSpPr>
              <a:cxnSpLocks noChangeShapeType="1"/>
            </p:cNvCxnSpPr>
            <p:nvPr/>
          </p:nvCxnSpPr>
          <p:spPr bwMode="auto">
            <a:xfrm flipH="1">
              <a:off x="4686300" y="2362200"/>
              <a:ext cx="12954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6" name="AutoShape 12"/>
            <p:cNvCxnSpPr>
              <a:cxnSpLocks noChangeShapeType="1"/>
            </p:cNvCxnSpPr>
            <p:nvPr/>
          </p:nvCxnSpPr>
          <p:spPr bwMode="auto">
            <a:xfrm>
              <a:off x="5981700" y="2362200"/>
              <a:ext cx="1447800" cy="4572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7" name="AutoShape 13"/>
            <p:cNvCxnSpPr>
              <a:cxnSpLocks noChangeShapeType="1"/>
            </p:cNvCxnSpPr>
            <p:nvPr/>
          </p:nvCxnSpPr>
          <p:spPr bwMode="auto">
            <a:xfrm flipH="1">
              <a:off x="4000500" y="3124200"/>
              <a:ext cx="6858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8" name="AutoShape 14"/>
            <p:cNvCxnSpPr>
              <a:cxnSpLocks noChangeShapeType="1"/>
            </p:cNvCxnSpPr>
            <p:nvPr/>
          </p:nvCxnSpPr>
          <p:spPr bwMode="auto">
            <a:xfrm>
              <a:off x="46863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49" name="AutoShape 15"/>
            <p:cNvCxnSpPr>
              <a:cxnSpLocks noChangeShapeType="1"/>
            </p:cNvCxnSpPr>
            <p:nvPr/>
          </p:nvCxnSpPr>
          <p:spPr bwMode="auto">
            <a:xfrm flipH="1">
              <a:off x="68199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0" name="AutoShape 16"/>
            <p:cNvCxnSpPr>
              <a:cxnSpLocks noChangeShapeType="1"/>
            </p:cNvCxnSpPr>
            <p:nvPr/>
          </p:nvCxnSpPr>
          <p:spPr bwMode="auto">
            <a:xfrm>
              <a:off x="7429500" y="3124200"/>
              <a:ext cx="609600" cy="6096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1" name="AutoShape 17"/>
            <p:cNvCxnSpPr>
              <a:cxnSpLocks noChangeShapeType="1"/>
            </p:cNvCxnSpPr>
            <p:nvPr/>
          </p:nvCxnSpPr>
          <p:spPr bwMode="auto">
            <a:xfrm flipH="1">
              <a:off x="37338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2" name="AutoShape 18"/>
            <p:cNvCxnSpPr>
              <a:cxnSpLocks noChangeShapeType="1"/>
            </p:cNvCxnSpPr>
            <p:nvPr/>
          </p:nvCxnSpPr>
          <p:spPr bwMode="auto">
            <a:xfrm>
              <a:off x="40005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3" name="AutoShape 19"/>
            <p:cNvCxnSpPr>
              <a:cxnSpLocks noChangeShapeType="1"/>
            </p:cNvCxnSpPr>
            <p:nvPr/>
          </p:nvCxnSpPr>
          <p:spPr bwMode="auto">
            <a:xfrm flipH="1">
              <a:off x="5029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4" name="AutoShape 20"/>
            <p:cNvCxnSpPr>
              <a:cxnSpLocks noChangeShapeType="1"/>
            </p:cNvCxnSpPr>
            <p:nvPr/>
          </p:nvCxnSpPr>
          <p:spPr bwMode="auto">
            <a:xfrm>
              <a:off x="52959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5" name="AutoShape 21"/>
            <p:cNvCxnSpPr>
              <a:cxnSpLocks noChangeShapeType="1"/>
            </p:cNvCxnSpPr>
            <p:nvPr/>
          </p:nvCxnSpPr>
          <p:spPr bwMode="auto">
            <a:xfrm flipH="1">
              <a:off x="65532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6" name="AutoShape 22"/>
            <p:cNvCxnSpPr>
              <a:cxnSpLocks noChangeShapeType="1"/>
            </p:cNvCxnSpPr>
            <p:nvPr/>
          </p:nvCxnSpPr>
          <p:spPr bwMode="auto">
            <a:xfrm>
              <a:off x="6819900" y="4038600"/>
              <a:ext cx="1905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7" name="AutoShape 23"/>
            <p:cNvCxnSpPr>
              <a:cxnSpLocks noChangeShapeType="1"/>
            </p:cNvCxnSpPr>
            <p:nvPr/>
          </p:nvCxnSpPr>
          <p:spPr bwMode="auto">
            <a:xfrm flipH="1">
              <a:off x="77724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8458" name="AutoShape 24"/>
            <p:cNvCxnSpPr>
              <a:cxnSpLocks noChangeShapeType="1"/>
            </p:cNvCxnSpPr>
            <p:nvPr/>
          </p:nvCxnSpPr>
          <p:spPr bwMode="auto">
            <a:xfrm>
              <a:off x="8039100" y="4038600"/>
              <a:ext cx="266700" cy="68580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18459" name="AutoShape 27"/>
            <p:cNvSpPr>
              <a:spLocks noChangeArrowheads="1"/>
            </p:cNvSpPr>
            <p:nvPr/>
          </p:nvSpPr>
          <p:spPr bwMode="auto">
            <a:xfrm>
              <a:off x="5762625" y="2057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CC0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0" name="AutoShape 27"/>
            <p:cNvSpPr>
              <a:spLocks noChangeArrowheads="1"/>
            </p:cNvSpPr>
            <p:nvPr/>
          </p:nvSpPr>
          <p:spPr bwMode="auto">
            <a:xfrm>
              <a:off x="4481513" y="28194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1" name="AutoShape 27"/>
            <p:cNvSpPr>
              <a:spLocks noChangeArrowheads="1"/>
            </p:cNvSpPr>
            <p:nvPr/>
          </p:nvSpPr>
          <p:spPr bwMode="auto">
            <a:xfrm>
              <a:off x="7799388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2" name="AutoShape 27"/>
            <p:cNvSpPr>
              <a:spLocks noChangeArrowheads="1"/>
            </p:cNvSpPr>
            <p:nvPr/>
          </p:nvSpPr>
          <p:spPr bwMode="auto">
            <a:xfrm>
              <a:off x="7210425" y="2819400"/>
              <a:ext cx="436563" cy="304800"/>
            </a:xfrm>
            <a:prstGeom prst="triangle">
              <a:avLst>
                <a:gd name="adj" fmla="val 50000"/>
              </a:avLst>
            </a:prstGeom>
            <a:solidFill>
              <a:srgbClr val="3333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3" name="AutoShape 27"/>
            <p:cNvSpPr>
              <a:spLocks noChangeArrowheads="1"/>
            </p:cNvSpPr>
            <p:nvPr/>
          </p:nvSpPr>
          <p:spPr bwMode="auto">
            <a:xfrm>
              <a:off x="66024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4" name="AutoShape 27"/>
            <p:cNvSpPr>
              <a:spLocks noChangeArrowheads="1"/>
            </p:cNvSpPr>
            <p:nvPr/>
          </p:nvSpPr>
          <p:spPr bwMode="auto">
            <a:xfrm>
              <a:off x="50911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18465" name="AutoShape 27"/>
            <p:cNvSpPr>
              <a:spLocks noChangeArrowheads="1"/>
            </p:cNvSpPr>
            <p:nvPr/>
          </p:nvSpPr>
          <p:spPr bwMode="auto">
            <a:xfrm>
              <a:off x="3795713" y="3733800"/>
              <a:ext cx="436562" cy="304800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</p:grp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5803557" y="4038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0,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7479957" y="4038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9308757" y="4038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0908957" y="4038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8</a:t>
            </a:r>
          </a:p>
        </p:txBody>
      </p:sp>
      <p:pic>
        <p:nvPicPr>
          <p:cNvPr id="40" name="Picture 7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2057400"/>
            <a:ext cx="312737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7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2971800"/>
            <a:ext cx="3429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2"/>
          <p:cNvGrpSpPr/>
          <p:nvPr/>
        </p:nvGrpSpPr>
        <p:grpSpPr>
          <a:xfrm>
            <a:off x="4610100" y="4038600"/>
            <a:ext cx="342900" cy="304800"/>
            <a:chOff x="4610100" y="4038600"/>
            <a:chExt cx="342900" cy="304800"/>
          </a:xfrm>
        </p:grpSpPr>
        <p:sp>
          <p:nvSpPr>
            <p:cNvPr id="2" name="Rectangle 1"/>
            <p:cNvSpPr/>
            <p:nvPr/>
          </p:nvSpPr>
          <p:spPr>
            <a:xfrm>
              <a:off x="4629150" y="4038600"/>
              <a:ext cx="304800" cy="304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74"/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610100" y="4038600"/>
              <a:ext cx="342900" cy="2968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3"/>
          <p:cNvGrpSpPr/>
          <p:nvPr/>
        </p:nvGrpSpPr>
        <p:grpSpPr>
          <a:xfrm>
            <a:off x="4572000" y="5943600"/>
            <a:ext cx="901700" cy="304800"/>
            <a:chOff x="4572000" y="5943600"/>
            <a:chExt cx="901700" cy="304800"/>
          </a:xfrm>
        </p:grpSpPr>
        <p:pic>
          <p:nvPicPr>
            <p:cNvPr id="43" name="Picture 7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0" y="5965825"/>
              <a:ext cx="312737" cy="28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4" name="Picture 7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851400" y="5981700"/>
              <a:ext cx="342900" cy="26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8" name="Group 47"/>
            <p:cNvGrpSpPr/>
            <p:nvPr/>
          </p:nvGrpSpPr>
          <p:grpSpPr>
            <a:xfrm>
              <a:off x="5130800" y="5943600"/>
              <a:ext cx="342900" cy="304800"/>
              <a:chOff x="4610100" y="4038600"/>
              <a:chExt cx="342900" cy="30480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4629150" y="4038600"/>
                <a:ext cx="304800" cy="3048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0" name="Picture 74"/>
              <p:cNvPicPr>
                <a:picLocks noChangeAspect="1" noChangeArrowheads="1"/>
              </p:cNvPicPr>
              <p:nvPr/>
            </p:nvPicPr>
            <p:blipFill>
              <a:blip r:embed="rId5" cstate="print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610100" y="4038600"/>
                <a:ext cx="342900" cy="296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6629400" y="2895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2" name="Text Box 29"/>
          <p:cNvSpPr txBox="1">
            <a:spLocks noChangeArrowheads="1"/>
          </p:cNvSpPr>
          <p:nvPr/>
        </p:nvSpPr>
        <p:spPr bwMode="auto">
          <a:xfrm>
            <a:off x="10070757" y="28956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7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8318157" y="1981200"/>
            <a:ext cx="749643" cy="36933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3333FF"/>
                </a:solidFill>
                <a:latin typeface="Calibri"/>
                <a:cs typeface="Calibri"/>
              </a:rPr>
              <a:t>8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4" name="Right Arrow 53"/>
          <p:cNvSpPr/>
          <p:nvPr/>
        </p:nvSpPr>
        <p:spPr>
          <a:xfrm rot="9723016">
            <a:off x="6721758" y="2435881"/>
            <a:ext cx="1066800" cy="304800"/>
          </a:xfrm>
          <a:prstGeom prst="rightArrow">
            <a:avLst/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2673699">
            <a:off x="6369971" y="3539009"/>
            <a:ext cx="876353" cy="313382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161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-11180"/>
            <a:ext cx="10515600" cy="7921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dirty="0"/>
              <a:t>Resource Limits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38125" y="730149"/>
            <a:ext cx="7762875" cy="561201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200" dirty="0"/>
              <a:t>Problem: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dirty="0"/>
              <a:t> In realistic games, cannot search to leaves!</a:t>
            </a:r>
          </a:p>
          <a:p>
            <a:r>
              <a:rPr lang="en-US" sz="2200" dirty="0"/>
              <a:t>The minimax algorithm generates the entire game search space </a:t>
            </a:r>
          </a:p>
          <a:p>
            <a:pPr eaLnBrk="1" hangingPunct="1">
              <a:lnSpc>
                <a:spcPct val="80000"/>
              </a:lnSpc>
            </a:pPr>
            <a:endParaRPr lang="en-US" sz="2200" dirty="0"/>
          </a:p>
          <a:p>
            <a:pPr eaLnBrk="1" hangingPunct="1">
              <a:lnSpc>
                <a:spcPct val="80000"/>
              </a:lnSpc>
            </a:pPr>
            <a:r>
              <a:rPr lang="en-US" sz="2200" dirty="0"/>
              <a:t>Solution 1: Bounded lookahead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/>
              <a:t>Search only to a preset </a:t>
            </a:r>
            <a:r>
              <a:rPr lang="en-US" sz="2200" b="1" i="1" dirty="0">
                <a:solidFill>
                  <a:srgbClr val="FF0000"/>
                </a:solidFill>
              </a:rPr>
              <a:t>depth limit</a:t>
            </a:r>
            <a:r>
              <a:rPr lang="en-US" sz="2200" dirty="0">
                <a:solidFill>
                  <a:srgbClr val="000090"/>
                </a:solidFill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dirty="0"/>
              <a:t>Use an </a:t>
            </a:r>
            <a:r>
              <a:rPr lang="en-US" sz="2200" b="1" i="1" dirty="0">
                <a:solidFill>
                  <a:srgbClr val="FF0000"/>
                </a:solidFill>
              </a:rPr>
              <a:t>evaluation function </a:t>
            </a:r>
            <a:r>
              <a:rPr lang="en-US" sz="2200" dirty="0"/>
              <a:t>for non-terminal positions</a:t>
            </a:r>
          </a:p>
          <a:p>
            <a:pPr lvl="1" eaLnBrk="1" hangingPunct="1">
              <a:lnSpc>
                <a:spcPct val="80000"/>
              </a:lnSpc>
            </a:pPr>
            <a:endParaRPr lang="en-US" sz="2200" dirty="0"/>
          </a:p>
          <a:p>
            <a:pPr>
              <a:lnSpc>
                <a:spcPct val="80000"/>
              </a:lnSpc>
            </a:pPr>
            <a:r>
              <a:rPr lang="en-US" sz="2200" dirty="0"/>
              <a:t>Guarantee of optimal play is gone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dirty="0"/>
              <a:t>Evaluation functions are widely employed in depth-limited minimax. </a:t>
            </a:r>
          </a:p>
          <a:p>
            <a:pPr marL="225425" indent="-225425">
              <a:buNone/>
            </a:pPr>
            <a:r>
              <a:rPr lang="en-US" sz="2200" dirty="0"/>
              <a:t>• where we treat non-terminal nodes located at our maximum    solvable depth as terminal nodes. </a:t>
            </a:r>
          </a:p>
          <a:p>
            <a:pPr marL="169863" indent="-169863">
              <a:buNone/>
            </a:pPr>
            <a:r>
              <a:rPr lang="en-US" sz="2200" dirty="0"/>
              <a:t>• Assigning mock terminal utilities as determined by a carefully selected evaluation function. </a:t>
            </a:r>
          </a:p>
          <a:p>
            <a:pPr lvl="1">
              <a:lnSpc>
                <a:spcPct val="80000"/>
              </a:lnSpc>
            </a:pPr>
            <a:endParaRPr lang="en-US" sz="2200" dirty="0"/>
          </a:p>
          <a:p>
            <a:pPr eaLnBrk="1" hangingPunct="1">
              <a:lnSpc>
                <a:spcPct val="80000"/>
              </a:lnSpc>
            </a:pPr>
            <a:endParaRPr lang="en-US" sz="2200" dirty="0"/>
          </a:p>
        </p:txBody>
      </p:sp>
      <p:sp>
        <p:nvSpPr>
          <p:cNvPr id="17412" name="AutoShape 22"/>
          <p:cNvSpPr>
            <a:spLocks noChangeArrowheads="1"/>
          </p:cNvSpPr>
          <p:nvPr/>
        </p:nvSpPr>
        <p:spPr bwMode="auto">
          <a:xfrm>
            <a:off x="9601200" y="14025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17413" name="AutoShape 23"/>
          <p:cNvSpPr>
            <a:spLocks noChangeArrowheads="1"/>
          </p:cNvSpPr>
          <p:nvPr/>
        </p:nvSpPr>
        <p:spPr bwMode="auto">
          <a:xfrm rot="10800000">
            <a:off x="8763000" y="18597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14" name="AutoShape 24"/>
          <p:cNvSpPr>
            <a:spLocks noChangeArrowheads="1"/>
          </p:cNvSpPr>
          <p:nvPr/>
        </p:nvSpPr>
        <p:spPr bwMode="auto">
          <a:xfrm rot="10800000">
            <a:off x="10439400" y="18597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cxnSp>
        <p:nvCxnSpPr>
          <p:cNvPr id="17415" name="AutoShape 25"/>
          <p:cNvCxnSpPr>
            <a:cxnSpLocks noChangeShapeType="1"/>
            <a:stCxn id="17412" idx="3"/>
            <a:endCxn id="17413" idx="3"/>
          </p:cNvCxnSpPr>
          <p:nvPr/>
        </p:nvCxnSpPr>
        <p:spPr bwMode="auto">
          <a:xfrm flipH="1">
            <a:off x="8953500" y="1707356"/>
            <a:ext cx="8382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6" name="AutoShape 26"/>
          <p:cNvCxnSpPr>
            <a:cxnSpLocks noChangeShapeType="1"/>
            <a:stCxn id="17412" idx="3"/>
            <a:endCxn id="17414" idx="3"/>
          </p:cNvCxnSpPr>
          <p:nvPr/>
        </p:nvCxnSpPr>
        <p:spPr bwMode="auto">
          <a:xfrm>
            <a:off x="9791700" y="1707356"/>
            <a:ext cx="8382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7" name="AutoShape 27"/>
          <p:cNvCxnSpPr>
            <a:cxnSpLocks noChangeShapeType="1"/>
            <a:stCxn id="17413" idx="0"/>
            <a:endCxn id="1085499" idx="0"/>
          </p:cNvCxnSpPr>
          <p:nvPr/>
        </p:nvCxnSpPr>
        <p:spPr bwMode="auto">
          <a:xfrm flipH="1">
            <a:off x="8610600" y="2164556"/>
            <a:ext cx="3429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8" name="AutoShape 28"/>
          <p:cNvCxnSpPr>
            <a:cxnSpLocks noChangeShapeType="1"/>
            <a:stCxn id="17413" idx="0"/>
            <a:endCxn id="1085500" idx="0"/>
          </p:cNvCxnSpPr>
          <p:nvPr/>
        </p:nvCxnSpPr>
        <p:spPr bwMode="auto">
          <a:xfrm>
            <a:off x="8953500" y="2164556"/>
            <a:ext cx="3429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9" name="AutoShape 29"/>
          <p:cNvCxnSpPr>
            <a:cxnSpLocks noChangeShapeType="1"/>
            <a:stCxn id="17424" idx="3"/>
            <a:endCxn id="17427" idx="0"/>
          </p:cNvCxnSpPr>
          <p:nvPr/>
        </p:nvCxnSpPr>
        <p:spPr bwMode="auto">
          <a:xfrm flipH="1">
            <a:off x="10629900" y="26217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20" name="AutoShape 30"/>
          <p:cNvCxnSpPr>
            <a:cxnSpLocks noChangeShapeType="1"/>
            <a:stCxn id="17424" idx="3"/>
            <a:endCxn id="17428" idx="0"/>
          </p:cNvCxnSpPr>
          <p:nvPr/>
        </p:nvCxnSpPr>
        <p:spPr bwMode="auto">
          <a:xfrm>
            <a:off x="10934700" y="26217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21" name="AutoShape 31"/>
          <p:cNvSpPr>
            <a:spLocks noChangeArrowheads="1"/>
          </p:cNvSpPr>
          <p:nvPr/>
        </p:nvSpPr>
        <p:spPr bwMode="auto">
          <a:xfrm>
            <a:off x="8458200" y="23169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2" name="AutoShape 32"/>
          <p:cNvSpPr>
            <a:spLocks noChangeArrowheads="1"/>
          </p:cNvSpPr>
          <p:nvPr/>
        </p:nvSpPr>
        <p:spPr bwMode="auto">
          <a:xfrm>
            <a:off x="9067800" y="23169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3" name="AutoShape 33"/>
          <p:cNvSpPr>
            <a:spLocks noChangeArrowheads="1"/>
          </p:cNvSpPr>
          <p:nvPr/>
        </p:nvSpPr>
        <p:spPr bwMode="auto">
          <a:xfrm>
            <a:off x="10134600" y="23169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4" name="AutoShape 34"/>
          <p:cNvSpPr>
            <a:spLocks noChangeArrowheads="1"/>
          </p:cNvSpPr>
          <p:nvPr/>
        </p:nvSpPr>
        <p:spPr bwMode="auto">
          <a:xfrm>
            <a:off x="10744200" y="23169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5" name="AutoShape 35"/>
          <p:cNvSpPr>
            <a:spLocks noChangeArrowheads="1"/>
          </p:cNvSpPr>
          <p:nvPr/>
        </p:nvSpPr>
        <p:spPr bwMode="auto">
          <a:xfrm>
            <a:off x="8763000" y="27741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6" name="AutoShape 36"/>
          <p:cNvSpPr>
            <a:spLocks noChangeArrowheads="1"/>
          </p:cNvSpPr>
          <p:nvPr/>
        </p:nvSpPr>
        <p:spPr bwMode="auto">
          <a:xfrm>
            <a:off x="8763000" y="36885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AutoShape 37"/>
          <p:cNvSpPr>
            <a:spLocks noChangeArrowheads="1"/>
          </p:cNvSpPr>
          <p:nvPr/>
        </p:nvSpPr>
        <p:spPr bwMode="auto">
          <a:xfrm>
            <a:off x="10439400" y="27741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8" name="AutoShape 38"/>
          <p:cNvSpPr>
            <a:spLocks noChangeArrowheads="1"/>
          </p:cNvSpPr>
          <p:nvPr/>
        </p:nvSpPr>
        <p:spPr bwMode="auto">
          <a:xfrm>
            <a:off x="11049000" y="27741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9" name="AutoShape 39"/>
          <p:cNvSpPr>
            <a:spLocks noChangeArrowheads="1"/>
          </p:cNvSpPr>
          <p:nvPr/>
        </p:nvSpPr>
        <p:spPr bwMode="auto">
          <a:xfrm>
            <a:off x="8458200" y="32313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AutoShape 40"/>
          <p:cNvSpPr>
            <a:spLocks noChangeArrowheads="1"/>
          </p:cNvSpPr>
          <p:nvPr/>
        </p:nvSpPr>
        <p:spPr bwMode="auto">
          <a:xfrm>
            <a:off x="9067800" y="32313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31" name="AutoShape 41"/>
          <p:cNvCxnSpPr>
            <a:cxnSpLocks noChangeShapeType="1"/>
            <a:stCxn id="17414" idx="0"/>
            <a:endCxn id="17423" idx="0"/>
          </p:cNvCxnSpPr>
          <p:nvPr/>
        </p:nvCxnSpPr>
        <p:spPr bwMode="auto">
          <a:xfrm flipH="1">
            <a:off x="10325100" y="21645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2" name="AutoShape 42"/>
          <p:cNvCxnSpPr>
            <a:cxnSpLocks noChangeShapeType="1"/>
            <a:stCxn id="17414" idx="0"/>
            <a:endCxn id="17424" idx="0"/>
          </p:cNvCxnSpPr>
          <p:nvPr/>
        </p:nvCxnSpPr>
        <p:spPr bwMode="auto">
          <a:xfrm>
            <a:off x="10629900" y="21645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3" name="AutoShape 43"/>
          <p:cNvCxnSpPr>
            <a:cxnSpLocks noChangeShapeType="1"/>
            <a:stCxn id="17422" idx="3"/>
            <a:endCxn id="17425" idx="0"/>
          </p:cNvCxnSpPr>
          <p:nvPr/>
        </p:nvCxnSpPr>
        <p:spPr bwMode="auto">
          <a:xfrm flipH="1">
            <a:off x="8953500" y="26217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34" name="AutoShape 44"/>
          <p:cNvSpPr>
            <a:spLocks noChangeArrowheads="1"/>
          </p:cNvSpPr>
          <p:nvPr/>
        </p:nvSpPr>
        <p:spPr bwMode="auto">
          <a:xfrm>
            <a:off x="9372600" y="36885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35" name="AutoShape 45"/>
          <p:cNvCxnSpPr>
            <a:cxnSpLocks noChangeShapeType="1"/>
            <a:stCxn id="17425" idx="3"/>
            <a:endCxn id="17429" idx="0"/>
          </p:cNvCxnSpPr>
          <p:nvPr/>
        </p:nvCxnSpPr>
        <p:spPr bwMode="auto">
          <a:xfrm flipH="1">
            <a:off x="8648700" y="30789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6" name="AutoShape 46"/>
          <p:cNvCxnSpPr>
            <a:cxnSpLocks noChangeShapeType="1"/>
            <a:stCxn id="17425" idx="3"/>
            <a:endCxn id="17430" idx="0"/>
          </p:cNvCxnSpPr>
          <p:nvPr/>
        </p:nvCxnSpPr>
        <p:spPr bwMode="auto">
          <a:xfrm>
            <a:off x="8953500" y="30789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7" name="AutoShape 47"/>
          <p:cNvCxnSpPr>
            <a:cxnSpLocks noChangeShapeType="1"/>
            <a:stCxn id="17430" idx="3"/>
            <a:endCxn id="17426" idx="0"/>
          </p:cNvCxnSpPr>
          <p:nvPr/>
        </p:nvCxnSpPr>
        <p:spPr bwMode="auto">
          <a:xfrm flipH="1">
            <a:off x="8953500" y="35361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8" name="AutoShape 48"/>
          <p:cNvCxnSpPr>
            <a:cxnSpLocks noChangeShapeType="1"/>
            <a:stCxn id="17430" idx="3"/>
            <a:endCxn id="17434" idx="0"/>
          </p:cNvCxnSpPr>
          <p:nvPr/>
        </p:nvCxnSpPr>
        <p:spPr bwMode="auto">
          <a:xfrm>
            <a:off x="9258300" y="35361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39" name="Rectangle 49"/>
          <p:cNvSpPr>
            <a:spLocks noChangeArrowheads="1"/>
          </p:cNvSpPr>
          <p:nvPr/>
        </p:nvSpPr>
        <p:spPr bwMode="auto">
          <a:xfrm>
            <a:off x="8229600" y="5669756"/>
            <a:ext cx="533400" cy="304800"/>
          </a:xfrm>
          <a:prstGeom prst="rect">
            <a:avLst/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0" name="Rectangle 50"/>
          <p:cNvSpPr>
            <a:spLocks noChangeArrowheads="1"/>
          </p:cNvSpPr>
          <p:nvPr/>
        </p:nvSpPr>
        <p:spPr bwMode="auto">
          <a:xfrm>
            <a:off x="9067800" y="5669756"/>
            <a:ext cx="533400" cy="304800"/>
          </a:xfrm>
          <a:prstGeom prst="rect">
            <a:avLst/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1" name="Rectangle 51"/>
          <p:cNvSpPr>
            <a:spLocks noChangeArrowheads="1"/>
          </p:cNvSpPr>
          <p:nvPr/>
        </p:nvSpPr>
        <p:spPr bwMode="auto">
          <a:xfrm>
            <a:off x="10058400" y="5669756"/>
            <a:ext cx="533400" cy="304800"/>
          </a:xfrm>
          <a:prstGeom prst="rect">
            <a:avLst/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2" name="Rectangle 52"/>
          <p:cNvSpPr>
            <a:spLocks noChangeArrowheads="1"/>
          </p:cNvSpPr>
          <p:nvPr/>
        </p:nvSpPr>
        <p:spPr bwMode="auto">
          <a:xfrm>
            <a:off x="10896600" y="5669756"/>
            <a:ext cx="533400" cy="304800"/>
          </a:xfrm>
          <a:prstGeom prst="rect">
            <a:avLst/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3" name="Freeform 53"/>
          <p:cNvSpPr>
            <a:spLocks/>
          </p:cNvSpPr>
          <p:nvPr/>
        </p:nvSpPr>
        <p:spPr bwMode="auto">
          <a:xfrm>
            <a:off x="8407400" y="3993356"/>
            <a:ext cx="508000" cy="1676400"/>
          </a:xfrm>
          <a:custGeom>
            <a:avLst/>
            <a:gdLst>
              <a:gd name="T0" fmla="*/ 2147483647 w 320"/>
              <a:gd name="T1" fmla="*/ 0 h 1440"/>
              <a:gd name="T2" fmla="*/ 2147483647 w 320"/>
              <a:gd name="T3" fmla="*/ 2147483647 h 1440"/>
              <a:gd name="T4" fmla="*/ 2147483647 w 320"/>
              <a:gd name="T5" fmla="*/ 2147483647 h 1440"/>
              <a:gd name="T6" fmla="*/ 2147483647 w 320"/>
              <a:gd name="T7" fmla="*/ 2147483647 h 1440"/>
              <a:gd name="T8" fmla="*/ 2147483647 w 320"/>
              <a:gd name="T9" fmla="*/ 2147483647 h 1440"/>
              <a:gd name="T10" fmla="*/ 2147483647 w 320"/>
              <a:gd name="T11" fmla="*/ 2147483647 h 1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1440"/>
              <a:gd name="T20" fmla="*/ 320 w 320"/>
              <a:gd name="T21" fmla="*/ 1440 h 1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1440">
                <a:moveTo>
                  <a:pt x="320" y="0"/>
                </a:moveTo>
                <a:cubicBezTo>
                  <a:pt x="232" y="72"/>
                  <a:pt x="144" y="144"/>
                  <a:pt x="128" y="240"/>
                </a:cubicBezTo>
                <a:cubicBezTo>
                  <a:pt x="112" y="336"/>
                  <a:pt x="240" y="480"/>
                  <a:pt x="224" y="576"/>
                </a:cubicBezTo>
                <a:cubicBezTo>
                  <a:pt x="208" y="672"/>
                  <a:pt x="64" y="736"/>
                  <a:pt x="32" y="816"/>
                </a:cubicBezTo>
                <a:cubicBezTo>
                  <a:pt x="0" y="896"/>
                  <a:pt x="32" y="952"/>
                  <a:pt x="32" y="1056"/>
                </a:cubicBezTo>
                <a:cubicBezTo>
                  <a:pt x="32" y="1160"/>
                  <a:pt x="32" y="1300"/>
                  <a:pt x="32" y="144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Freeform 54"/>
          <p:cNvSpPr>
            <a:spLocks/>
          </p:cNvSpPr>
          <p:nvPr/>
        </p:nvSpPr>
        <p:spPr bwMode="auto">
          <a:xfrm>
            <a:off x="9194800" y="3993356"/>
            <a:ext cx="406400" cy="1676400"/>
          </a:xfrm>
          <a:custGeom>
            <a:avLst/>
            <a:gdLst>
              <a:gd name="T0" fmla="*/ 2147483647 w 256"/>
              <a:gd name="T1" fmla="*/ 0 h 1056"/>
              <a:gd name="T2" fmla="*/ 2147483647 w 256"/>
              <a:gd name="T3" fmla="*/ 2147483647 h 1056"/>
              <a:gd name="T4" fmla="*/ 2147483647 w 256"/>
              <a:gd name="T5" fmla="*/ 2147483647 h 1056"/>
              <a:gd name="T6" fmla="*/ 2147483647 w 256"/>
              <a:gd name="T7" fmla="*/ 2147483647 h 1056"/>
              <a:gd name="T8" fmla="*/ 2147483647 w 256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1056"/>
              <a:gd name="T17" fmla="*/ 256 w 256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1056">
                <a:moveTo>
                  <a:pt x="256" y="0"/>
                </a:moveTo>
                <a:cubicBezTo>
                  <a:pt x="140" y="148"/>
                  <a:pt x="24" y="296"/>
                  <a:pt x="16" y="384"/>
                </a:cubicBezTo>
                <a:cubicBezTo>
                  <a:pt x="8" y="472"/>
                  <a:pt x="208" y="456"/>
                  <a:pt x="208" y="528"/>
                </a:cubicBezTo>
                <a:cubicBezTo>
                  <a:pt x="208" y="600"/>
                  <a:pt x="32" y="728"/>
                  <a:pt x="16" y="816"/>
                </a:cubicBezTo>
                <a:cubicBezTo>
                  <a:pt x="0" y="904"/>
                  <a:pt x="56" y="980"/>
                  <a:pt x="112" y="105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Freeform 55"/>
          <p:cNvSpPr>
            <a:spLocks/>
          </p:cNvSpPr>
          <p:nvPr/>
        </p:nvSpPr>
        <p:spPr bwMode="auto">
          <a:xfrm>
            <a:off x="10820400" y="3078956"/>
            <a:ext cx="457200" cy="2590800"/>
          </a:xfrm>
          <a:custGeom>
            <a:avLst/>
            <a:gdLst>
              <a:gd name="T0" fmla="*/ 2147483647 w 256"/>
              <a:gd name="T1" fmla="*/ 0 h 1056"/>
              <a:gd name="T2" fmla="*/ 2147483647 w 256"/>
              <a:gd name="T3" fmla="*/ 2147483647 h 1056"/>
              <a:gd name="T4" fmla="*/ 2147483647 w 256"/>
              <a:gd name="T5" fmla="*/ 2147483647 h 1056"/>
              <a:gd name="T6" fmla="*/ 2147483647 w 256"/>
              <a:gd name="T7" fmla="*/ 2147483647 h 1056"/>
              <a:gd name="T8" fmla="*/ 2147483647 w 256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1056"/>
              <a:gd name="T17" fmla="*/ 256 w 256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1056">
                <a:moveTo>
                  <a:pt x="256" y="0"/>
                </a:moveTo>
                <a:cubicBezTo>
                  <a:pt x="140" y="148"/>
                  <a:pt x="24" y="296"/>
                  <a:pt x="16" y="384"/>
                </a:cubicBezTo>
                <a:cubicBezTo>
                  <a:pt x="8" y="472"/>
                  <a:pt x="208" y="456"/>
                  <a:pt x="208" y="528"/>
                </a:cubicBezTo>
                <a:cubicBezTo>
                  <a:pt x="208" y="600"/>
                  <a:pt x="32" y="728"/>
                  <a:pt x="16" y="816"/>
                </a:cubicBezTo>
                <a:cubicBezTo>
                  <a:pt x="0" y="904"/>
                  <a:pt x="56" y="980"/>
                  <a:pt x="112" y="105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6" name="Freeform 56"/>
          <p:cNvSpPr>
            <a:spLocks/>
          </p:cNvSpPr>
          <p:nvPr/>
        </p:nvSpPr>
        <p:spPr bwMode="auto">
          <a:xfrm>
            <a:off x="10248900" y="3078956"/>
            <a:ext cx="508000" cy="2590800"/>
          </a:xfrm>
          <a:custGeom>
            <a:avLst/>
            <a:gdLst>
              <a:gd name="T0" fmla="*/ 2147483647 w 320"/>
              <a:gd name="T1" fmla="*/ 0 h 1632"/>
              <a:gd name="T2" fmla="*/ 2147483647 w 320"/>
              <a:gd name="T3" fmla="*/ 2147483647 h 1632"/>
              <a:gd name="T4" fmla="*/ 2147483647 w 320"/>
              <a:gd name="T5" fmla="*/ 2147483647 h 1632"/>
              <a:gd name="T6" fmla="*/ 2147483647 w 320"/>
              <a:gd name="T7" fmla="*/ 2147483647 h 1632"/>
              <a:gd name="T8" fmla="*/ 2147483647 w 320"/>
              <a:gd name="T9" fmla="*/ 2147483647 h 1632"/>
              <a:gd name="T10" fmla="*/ 2147483647 w 320"/>
              <a:gd name="T11" fmla="*/ 2147483647 h 16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1632"/>
              <a:gd name="T20" fmla="*/ 320 w 320"/>
              <a:gd name="T21" fmla="*/ 1632 h 16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1632">
                <a:moveTo>
                  <a:pt x="216" y="0"/>
                </a:moveTo>
                <a:cubicBezTo>
                  <a:pt x="268" y="108"/>
                  <a:pt x="320" y="216"/>
                  <a:pt x="312" y="336"/>
                </a:cubicBezTo>
                <a:cubicBezTo>
                  <a:pt x="304" y="456"/>
                  <a:pt x="192" y="576"/>
                  <a:pt x="168" y="720"/>
                </a:cubicBezTo>
                <a:cubicBezTo>
                  <a:pt x="144" y="864"/>
                  <a:pt x="192" y="1104"/>
                  <a:pt x="168" y="1200"/>
                </a:cubicBezTo>
                <a:cubicBezTo>
                  <a:pt x="144" y="1296"/>
                  <a:pt x="48" y="1224"/>
                  <a:pt x="24" y="1296"/>
                </a:cubicBezTo>
                <a:cubicBezTo>
                  <a:pt x="0" y="1368"/>
                  <a:pt x="12" y="1500"/>
                  <a:pt x="24" y="163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47" name="AutoShape 57"/>
          <p:cNvCxnSpPr>
            <a:cxnSpLocks noChangeShapeType="1"/>
            <a:stCxn id="17422" idx="3"/>
            <a:endCxn id="17448" idx="0"/>
          </p:cNvCxnSpPr>
          <p:nvPr/>
        </p:nvCxnSpPr>
        <p:spPr bwMode="auto">
          <a:xfrm>
            <a:off x="9258300" y="2621756"/>
            <a:ext cx="3048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48" name="AutoShape 58"/>
          <p:cNvSpPr>
            <a:spLocks noChangeArrowheads="1"/>
          </p:cNvSpPr>
          <p:nvPr/>
        </p:nvSpPr>
        <p:spPr bwMode="auto">
          <a:xfrm>
            <a:off x="9372600" y="27741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85499" name="Rectangle 59"/>
          <p:cNvSpPr>
            <a:spLocks noChangeArrowheads="1"/>
          </p:cNvSpPr>
          <p:nvPr/>
        </p:nvSpPr>
        <p:spPr bwMode="auto">
          <a:xfrm>
            <a:off x="8382000" y="2316956"/>
            <a:ext cx="457200" cy="304800"/>
          </a:xfrm>
          <a:prstGeom prst="rect">
            <a:avLst/>
          </a:prstGeom>
          <a:solidFill>
            <a:srgbClr val="00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-1</a:t>
            </a:r>
          </a:p>
        </p:txBody>
      </p:sp>
      <p:sp>
        <p:nvSpPr>
          <p:cNvPr id="1085500" name="Rectangle 60"/>
          <p:cNvSpPr>
            <a:spLocks noChangeArrowheads="1"/>
          </p:cNvSpPr>
          <p:nvPr/>
        </p:nvSpPr>
        <p:spPr bwMode="auto">
          <a:xfrm>
            <a:off x="9067800" y="2316956"/>
            <a:ext cx="457200" cy="304800"/>
          </a:xfrm>
          <a:prstGeom prst="rect">
            <a:avLst/>
          </a:prstGeom>
          <a:solidFill>
            <a:srgbClr val="00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-2</a:t>
            </a:r>
          </a:p>
        </p:txBody>
      </p:sp>
      <p:sp>
        <p:nvSpPr>
          <p:cNvPr id="1085501" name="Rectangle 61"/>
          <p:cNvSpPr>
            <a:spLocks noChangeArrowheads="1"/>
          </p:cNvSpPr>
          <p:nvPr/>
        </p:nvSpPr>
        <p:spPr bwMode="auto">
          <a:xfrm>
            <a:off x="10058400" y="2316956"/>
            <a:ext cx="457200" cy="304800"/>
          </a:xfrm>
          <a:prstGeom prst="rect">
            <a:avLst/>
          </a:prstGeom>
          <a:solidFill>
            <a:srgbClr val="00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4</a:t>
            </a:r>
          </a:p>
        </p:txBody>
      </p:sp>
      <p:sp>
        <p:nvSpPr>
          <p:cNvPr id="1085502" name="Rectangle 62"/>
          <p:cNvSpPr>
            <a:spLocks noChangeArrowheads="1"/>
          </p:cNvSpPr>
          <p:nvPr/>
        </p:nvSpPr>
        <p:spPr bwMode="auto">
          <a:xfrm>
            <a:off x="10744200" y="2316956"/>
            <a:ext cx="457200" cy="304800"/>
          </a:xfrm>
          <a:prstGeom prst="rect">
            <a:avLst/>
          </a:prstGeom>
          <a:solidFill>
            <a:srgbClr val="0099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9</a:t>
            </a:r>
          </a:p>
        </p:txBody>
      </p:sp>
      <p:sp>
        <p:nvSpPr>
          <p:cNvPr id="1085505" name="AutoShape 65"/>
          <p:cNvSpPr>
            <a:spLocks noChangeArrowheads="1"/>
          </p:cNvSpPr>
          <p:nvPr/>
        </p:nvSpPr>
        <p:spPr bwMode="auto">
          <a:xfrm>
            <a:off x="9601200" y="14025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182880" anchor="b" anchorCtr="0"/>
          <a:lstStyle/>
          <a:p>
            <a:pPr algn="ctr"/>
            <a:r>
              <a:rPr lang="en-US" dirty="0">
                <a:latin typeface="Calibri" pitchFamily="34" charset="0"/>
              </a:rPr>
              <a:t>4</a:t>
            </a:r>
          </a:p>
        </p:txBody>
      </p:sp>
      <p:sp>
        <p:nvSpPr>
          <p:cNvPr id="1085507" name="Text Box 67"/>
          <p:cNvSpPr txBox="1">
            <a:spLocks noChangeArrowheads="1"/>
          </p:cNvSpPr>
          <p:nvPr/>
        </p:nvSpPr>
        <p:spPr bwMode="auto">
          <a:xfrm>
            <a:off x="11528425" y="1797844"/>
            <a:ext cx="6635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min</a:t>
            </a:r>
          </a:p>
        </p:txBody>
      </p:sp>
      <p:sp>
        <p:nvSpPr>
          <p:cNvPr id="1085508" name="Text Box 68"/>
          <p:cNvSpPr txBox="1">
            <a:spLocks noChangeArrowheads="1"/>
          </p:cNvSpPr>
          <p:nvPr/>
        </p:nvSpPr>
        <p:spPr bwMode="auto">
          <a:xfrm>
            <a:off x="11528425" y="1340644"/>
            <a:ext cx="66357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max</a:t>
            </a:r>
          </a:p>
        </p:txBody>
      </p:sp>
      <p:sp>
        <p:nvSpPr>
          <p:cNvPr id="1085509" name="AutoShape 69"/>
          <p:cNvSpPr>
            <a:spLocks noChangeArrowheads="1"/>
          </p:cNvSpPr>
          <p:nvPr/>
        </p:nvSpPr>
        <p:spPr bwMode="auto">
          <a:xfrm rot="10800000">
            <a:off x="8763000" y="18597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757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 anchorCtr="1"/>
          <a:lstStyle/>
          <a:p>
            <a:pPr algn="ctr"/>
            <a:r>
              <a:rPr lang="en-US" dirty="0">
                <a:latin typeface="Calibri" pitchFamily="34" charset="0"/>
              </a:rPr>
              <a:t>-2</a:t>
            </a:r>
          </a:p>
        </p:txBody>
      </p:sp>
      <p:sp>
        <p:nvSpPr>
          <p:cNvPr id="1085510" name="AutoShape 70"/>
          <p:cNvSpPr>
            <a:spLocks noChangeArrowheads="1"/>
          </p:cNvSpPr>
          <p:nvPr/>
        </p:nvSpPr>
        <p:spPr bwMode="auto">
          <a:xfrm rot="10800000">
            <a:off x="10439400" y="1859756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757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 anchorCtr="1"/>
          <a:lstStyle/>
          <a:p>
            <a:pPr algn="ctr"/>
            <a:r>
              <a:rPr lang="en-US" dirty="0">
                <a:latin typeface="Calibri" pitchFamily="34" charset="0"/>
              </a:rPr>
              <a:t>4</a:t>
            </a:r>
          </a:p>
        </p:txBody>
      </p:sp>
      <p:sp>
        <p:nvSpPr>
          <p:cNvPr id="2" name="Cloud 1"/>
          <p:cNvSpPr/>
          <p:nvPr/>
        </p:nvSpPr>
        <p:spPr>
          <a:xfrm rot="505837">
            <a:off x="7809376" y="2621756"/>
            <a:ext cx="4191000" cy="3962400"/>
          </a:xfrm>
          <a:prstGeom prst="cloud">
            <a:avLst/>
          </a:prstGeom>
          <a:gradFill>
            <a:gsLst>
              <a:gs pos="0">
                <a:schemeClr val="accent1">
                  <a:shade val="51000"/>
                  <a:satMod val="130000"/>
                  <a:alpha val="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Evaluation Functions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136650" y="1594644"/>
            <a:ext cx="11506200" cy="49530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Evaluation functions score non-terminals in depth-limited search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Ideal function: returns the actual minimax value of the position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In practice: typically weighted linear sum of features: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EVAL(s) =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baseline="-25000" dirty="0">
                <a:solidFill>
                  <a:srgbClr val="BD00B0"/>
                </a:solidFill>
              </a:rPr>
              <a:t>1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-25000" dirty="0">
                <a:solidFill>
                  <a:srgbClr val="BD00B0"/>
                </a:solidFill>
              </a:rPr>
              <a:t>1</a:t>
            </a:r>
            <a:r>
              <a:rPr lang="en-US" sz="2000" dirty="0">
                <a:solidFill>
                  <a:srgbClr val="BD00B0"/>
                </a:solidFill>
              </a:rPr>
              <a:t>(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BD00B0"/>
                </a:solidFill>
              </a:rPr>
              <a:t>) +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baseline="-25000" dirty="0">
                <a:solidFill>
                  <a:srgbClr val="BD00B0"/>
                </a:solidFill>
                <a:cs typeface="Times New Roman" pitchFamily="18" charset="0"/>
              </a:rPr>
              <a:t>2</a:t>
            </a:r>
            <a:r>
              <a:rPr lang="en-US" sz="2000" baseline="-25000" dirty="0">
                <a:solidFill>
                  <a:srgbClr val="BD00B0"/>
                </a:solidFill>
              </a:rPr>
              <a:t>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-25000" dirty="0">
                <a:solidFill>
                  <a:srgbClr val="BD00B0"/>
                </a:solidFill>
                <a:cs typeface="Times New Roman" pitchFamily="18" charset="0"/>
              </a:rPr>
              <a:t>2</a:t>
            </a:r>
            <a:r>
              <a:rPr lang="en-US" sz="2000" dirty="0">
                <a:solidFill>
                  <a:srgbClr val="BD00B0"/>
                </a:solidFill>
              </a:rPr>
              <a:t>(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BD00B0"/>
                </a:solidFill>
              </a:rPr>
              <a:t>) + …. + </a:t>
            </a:r>
            <a:r>
              <a:rPr lang="en-US" sz="2000" i="1" dirty="0" err="1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i="1" baseline="-25000" dirty="0" err="1">
                <a:solidFill>
                  <a:srgbClr val="BD00B0"/>
                </a:solidFill>
                <a:cs typeface="Times New Roman" pitchFamily="18" charset="0"/>
              </a:rPr>
              <a:t>n</a:t>
            </a:r>
            <a:r>
              <a:rPr lang="en-US" sz="2000" baseline="-25000" dirty="0">
                <a:solidFill>
                  <a:srgbClr val="BD00B0"/>
                </a:solidFill>
                <a:cs typeface="Times New Roman" pitchFamily="18" charset="0"/>
              </a:rPr>
              <a:t>  </a:t>
            </a:r>
            <a:r>
              <a:rPr lang="en-US" sz="2000" i="1" dirty="0" err="1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i="1" baseline="-25000" dirty="0" err="1">
                <a:solidFill>
                  <a:srgbClr val="BD00B0"/>
                </a:solidFill>
                <a:cs typeface="Times New Roman" pitchFamily="18" charset="0"/>
              </a:rPr>
              <a:t>n</a:t>
            </a:r>
            <a:r>
              <a:rPr lang="en-US" sz="2000" dirty="0">
                <a:solidFill>
                  <a:srgbClr val="BD00B0"/>
                </a:solidFill>
              </a:rPr>
              <a:t>(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BD00B0"/>
                </a:solidFill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E.g.,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000" baseline="-25000" dirty="0">
                <a:solidFill>
                  <a:srgbClr val="BD00B0"/>
                </a:solidFill>
              </a:rPr>
              <a:t>1</a:t>
            </a:r>
            <a:r>
              <a:rPr lang="en-US" sz="2000" dirty="0">
                <a:solidFill>
                  <a:srgbClr val="BD00B0"/>
                </a:solidFill>
              </a:rPr>
              <a:t> = 9,  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baseline="-25000" dirty="0">
                <a:solidFill>
                  <a:srgbClr val="BD00B0"/>
                </a:solidFill>
              </a:rPr>
              <a:t>1</a:t>
            </a:r>
            <a:r>
              <a:rPr lang="en-US" sz="2000" dirty="0">
                <a:solidFill>
                  <a:srgbClr val="BD00B0"/>
                </a:solidFill>
              </a:rPr>
              <a:t>(</a:t>
            </a:r>
            <a:r>
              <a:rPr lang="en-US" sz="2000" i="1" dirty="0">
                <a:solidFill>
                  <a:srgbClr val="BD00B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BD00B0"/>
                </a:solidFill>
              </a:rPr>
              <a:t>) = (num white queens – num black queens)</a:t>
            </a:r>
            <a:r>
              <a:rPr lang="en-US" sz="2000" dirty="0"/>
              <a:t>, etc.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Terminate search only in </a:t>
            </a:r>
            <a:r>
              <a:rPr lang="en-US" sz="2400" b="1" i="1" dirty="0">
                <a:solidFill>
                  <a:srgbClr val="FF0000"/>
                </a:solidFill>
              </a:rPr>
              <a:t>quiescent</a:t>
            </a:r>
            <a:r>
              <a:rPr lang="en-US" sz="2400" dirty="0"/>
              <a:t> positions, i.e., no major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/>
              <a:t>      changes expected in feature values</a:t>
            </a:r>
          </a:p>
        </p:txBody>
      </p:sp>
      <p:pic>
        <p:nvPicPr>
          <p:cNvPr id="19460" name="Picture 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828800"/>
            <a:ext cx="2438400" cy="273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2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7175" y="1828800"/>
            <a:ext cx="2519916" cy="2746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AutoShape 27"/>
          <p:cNvSpPr>
            <a:spLocks noChangeArrowheads="1"/>
          </p:cNvSpPr>
          <p:nvPr/>
        </p:nvSpPr>
        <p:spPr bwMode="auto">
          <a:xfrm>
            <a:off x="5967413" y="2349500"/>
            <a:ext cx="16668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AutoShape 28"/>
          <p:cNvSpPr>
            <a:spLocks noChangeArrowheads="1"/>
          </p:cNvSpPr>
          <p:nvPr/>
        </p:nvSpPr>
        <p:spPr bwMode="auto">
          <a:xfrm rot="10800000">
            <a:off x="5380038" y="2743200"/>
            <a:ext cx="168275" cy="168275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AutoShape 29"/>
          <p:cNvSpPr>
            <a:spLocks noChangeArrowheads="1"/>
          </p:cNvSpPr>
          <p:nvPr/>
        </p:nvSpPr>
        <p:spPr bwMode="auto">
          <a:xfrm rot="10800000">
            <a:off x="6469063" y="2743200"/>
            <a:ext cx="168275" cy="168275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AutoShape 30"/>
          <p:cNvSpPr>
            <a:spLocks noChangeArrowheads="1"/>
          </p:cNvSpPr>
          <p:nvPr/>
        </p:nvSpPr>
        <p:spPr bwMode="auto">
          <a:xfrm>
            <a:off x="5089525" y="3032125"/>
            <a:ext cx="168275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AutoShape 31"/>
          <p:cNvSpPr>
            <a:spLocks noChangeArrowheads="1"/>
          </p:cNvSpPr>
          <p:nvPr/>
        </p:nvSpPr>
        <p:spPr bwMode="auto">
          <a:xfrm>
            <a:off x="5699125" y="3032125"/>
            <a:ext cx="168275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AutoShape 32"/>
          <p:cNvSpPr>
            <a:spLocks noChangeArrowheads="1"/>
          </p:cNvSpPr>
          <p:nvPr/>
        </p:nvSpPr>
        <p:spPr bwMode="auto">
          <a:xfrm>
            <a:off x="6156325" y="3032125"/>
            <a:ext cx="168275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AutoShape 33"/>
          <p:cNvSpPr>
            <a:spLocks noChangeArrowheads="1"/>
          </p:cNvSpPr>
          <p:nvPr/>
        </p:nvSpPr>
        <p:spPr bwMode="auto">
          <a:xfrm>
            <a:off x="6805613" y="3032125"/>
            <a:ext cx="168275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70" name="AutoShape 34"/>
          <p:cNvCxnSpPr>
            <a:cxnSpLocks noChangeShapeType="1"/>
            <a:stCxn id="19463" idx="3"/>
            <a:endCxn id="19464" idx="3"/>
          </p:cNvCxnSpPr>
          <p:nvPr/>
        </p:nvCxnSpPr>
        <p:spPr bwMode="auto">
          <a:xfrm flipH="1">
            <a:off x="5462588" y="2517775"/>
            <a:ext cx="588962" cy="223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1" name="AutoShape 35"/>
          <p:cNvCxnSpPr>
            <a:cxnSpLocks noChangeShapeType="1"/>
            <a:stCxn id="19463" idx="3"/>
            <a:endCxn id="19465" idx="3"/>
          </p:cNvCxnSpPr>
          <p:nvPr/>
        </p:nvCxnSpPr>
        <p:spPr bwMode="auto">
          <a:xfrm>
            <a:off x="6051550" y="2517775"/>
            <a:ext cx="500063" cy="223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2" name="AutoShape 36"/>
          <p:cNvCxnSpPr>
            <a:cxnSpLocks noChangeShapeType="1"/>
            <a:stCxn id="19464" idx="0"/>
            <a:endCxn id="19466" idx="0"/>
          </p:cNvCxnSpPr>
          <p:nvPr/>
        </p:nvCxnSpPr>
        <p:spPr bwMode="auto">
          <a:xfrm flipH="1">
            <a:off x="5173663" y="2909888"/>
            <a:ext cx="290512" cy="122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3" name="AutoShape 37"/>
          <p:cNvCxnSpPr>
            <a:cxnSpLocks noChangeShapeType="1"/>
            <a:stCxn id="19464" idx="0"/>
            <a:endCxn id="19467" idx="0"/>
          </p:cNvCxnSpPr>
          <p:nvPr/>
        </p:nvCxnSpPr>
        <p:spPr bwMode="auto">
          <a:xfrm>
            <a:off x="5464175" y="2909888"/>
            <a:ext cx="319088" cy="122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4" name="AutoShape 38"/>
          <p:cNvCxnSpPr>
            <a:cxnSpLocks noChangeShapeType="1"/>
            <a:stCxn id="19465" idx="0"/>
            <a:endCxn id="19468" idx="0"/>
          </p:cNvCxnSpPr>
          <p:nvPr/>
        </p:nvCxnSpPr>
        <p:spPr bwMode="auto">
          <a:xfrm flipH="1">
            <a:off x="6240463" y="2909888"/>
            <a:ext cx="312737" cy="122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5" name="AutoShape 39"/>
          <p:cNvCxnSpPr>
            <a:cxnSpLocks noChangeShapeType="1"/>
            <a:stCxn id="19465" idx="0"/>
            <a:endCxn id="19469" idx="0"/>
          </p:cNvCxnSpPr>
          <p:nvPr/>
        </p:nvCxnSpPr>
        <p:spPr bwMode="auto">
          <a:xfrm>
            <a:off x="6553200" y="2909888"/>
            <a:ext cx="336550" cy="122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9476" name="AutoShape 40"/>
          <p:cNvSpPr>
            <a:spLocks noChangeArrowheads="1"/>
          </p:cNvSpPr>
          <p:nvPr/>
        </p:nvSpPr>
        <p:spPr bwMode="auto">
          <a:xfrm>
            <a:off x="6629400" y="3690938"/>
            <a:ext cx="609600" cy="271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77" name="AutoShape 41"/>
          <p:cNvCxnSpPr>
            <a:cxnSpLocks noChangeShapeType="1"/>
            <a:endCxn id="32" idx="3"/>
          </p:cNvCxnSpPr>
          <p:nvPr/>
        </p:nvCxnSpPr>
        <p:spPr bwMode="auto">
          <a:xfrm>
            <a:off x="4470400" y="3054350"/>
            <a:ext cx="1000125" cy="76358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9478" name="AutoShape 42"/>
          <p:cNvCxnSpPr>
            <a:cxnSpLocks noChangeShapeType="1"/>
            <a:endCxn id="19482" idx="1"/>
          </p:cNvCxnSpPr>
          <p:nvPr/>
        </p:nvCxnSpPr>
        <p:spPr bwMode="auto">
          <a:xfrm flipH="1">
            <a:off x="7010400" y="3059113"/>
            <a:ext cx="866775" cy="530225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19479" name="Rectangle 43"/>
          <p:cNvSpPr>
            <a:spLocks noChangeArrowheads="1"/>
          </p:cNvSpPr>
          <p:nvPr/>
        </p:nvSpPr>
        <p:spPr bwMode="auto">
          <a:xfrm rot="10800000">
            <a:off x="6156325" y="3489325"/>
            <a:ext cx="168275" cy="168275"/>
          </a:xfrm>
          <a:prstGeom prst="rect">
            <a:avLst/>
          </a:prstGeom>
          <a:solidFill>
            <a:srgbClr val="9B0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80" name="AutoShape 44"/>
          <p:cNvCxnSpPr>
            <a:cxnSpLocks noChangeShapeType="1"/>
            <a:stCxn id="19468" idx="3"/>
            <a:endCxn id="19479" idx="2"/>
          </p:cNvCxnSpPr>
          <p:nvPr/>
        </p:nvCxnSpPr>
        <p:spPr bwMode="auto">
          <a:xfrm flipH="1">
            <a:off x="6238875" y="3200400"/>
            <a:ext cx="1588" cy="2873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81" name="AutoShape 45"/>
          <p:cNvCxnSpPr>
            <a:cxnSpLocks noChangeShapeType="1"/>
            <a:stCxn id="19468" idx="4"/>
            <a:endCxn id="19482" idx="2"/>
          </p:cNvCxnSpPr>
          <p:nvPr/>
        </p:nvCxnSpPr>
        <p:spPr bwMode="auto">
          <a:xfrm>
            <a:off x="6324600" y="3200400"/>
            <a:ext cx="600075" cy="303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9482" name="Rectangle 46"/>
          <p:cNvSpPr>
            <a:spLocks noChangeArrowheads="1"/>
          </p:cNvSpPr>
          <p:nvPr/>
        </p:nvSpPr>
        <p:spPr bwMode="auto">
          <a:xfrm rot="10800000">
            <a:off x="6842125" y="3505200"/>
            <a:ext cx="168275" cy="168275"/>
          </a:xfrm>
          <a:prstGeom prst="rect">
            <a:avLst/>
          </a:prstGeom>
          <a:solidFill>
            <a:srgbClr val="9B0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AutoShape 47"/>
          <p:cNvSpPr>
            <a:spLocks noChangeArrowheads="1"/>
          </p:cNvSpPr>
          <p:nvPr/>
        </p:nvSpPr>
        <p:spPr bwMode="auto">
          <a:xfrm>
            <a:off x="5943600" y="3690938"/>
            <a:ext cx="609600" cy="271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28"/>
          <p:cNvSpPr>
            <a:spLocks noChangeArrowheads="1"/>
          </p:cNvSpPr>
          <p:nvPr/>
        </p:nvSpPr>
        <p:spPr bwMode="auto">
          <a:xfrm rot="10800000">
            <a:off x="5105400" y="3444875"/>
            <a:ext cx="168275" cy="168275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0" name="AutoShape 34"/>
          <p:cNvCxnSpPr>
            <a:cxnSpLocks noChangeShapeType="1"/>
            <a:endCxn id="29" idx="3"/>
          </p:cNvCxnSpPr>
          <p:nvPr/>
        </p:nvCxnSpPr>
        <p:spPr bwMode="auto">
          <a:xfrm flipH="1">
            <a:off x="5187950" y="3219450"/>
            <a:ext cx="588962" cy="223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1" name="AutoShape 37"/>
          <p:cNvCxnSpPr>
            <a:cxnSpLocks noChangeShapeType="1"/>
            <a:stCxn id="29" idx="0"/>
          </p:cNvCxnSpPr>
          <p:nvPr/>
        </p:nvCxnSpPr>
        <p:spPr bwMode="auto">
          <a:xfrm>
            <a:off x="5189537" y="3611563"/>
            <a:ext cx="319088" cy="1222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Rectangle 43"/>
          <p:cNvSpPr>
            <a:spLocks noChangeArrowheads="1"/>
          </p:cNvSpPr>
          <p:nvPr/>
        </p:nvSpPr>
        <p:spPr bwMode="auto">
          <a:xfrm rot="10800000">
            <a:off x="5470525" y="3733800"/>
            <a:ext cx="168275" cy="168275"/>
          </a:xfrm>
          <a:prstGeom prst="rect">
            <a:avLst/>
          </a:prstGeom>
          <a:solidFill>
            <a:srgbClr val="9B0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5257800" y="3935413"/>
            <a:ext cx="609600" cy="271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79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9400" y="1448322"/>
            <a:ext cx="6723063" cy="441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2: Game Tree Pruning</a:t>
            </a:r>
          </a:p>
        </p:txBody>
      </p:sp>
    </p:spTree>
    <p:extLst>
      <p:ext uri="{BB962C8B-B14F-4D97-AF65-F5344CB8AC3E}">
        <p14:creationId xmlns:p14="http://schemas.microsoft.com/office/powerpoint/2010/main" val="1346669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14375" y="365125"/>
            <a:ext cx="11477625" cy="1325563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Intuition</a:t>
            </a:r>
            <a:r>
              <a:rPr lang="en-US">
                <a:sym typeface="Symbol" pitchFamily="18" charset="2"/>
              </a:rPr>
              <a:t>: prune the branches that can’t be chosen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  <a:solidFill>
            <a:srgbClr val="C198E0"/>
          </a:solidFill>
        </p:grpSpPr>
        <p:cxnSp>
          <p:nvCxnSpPr>
            <p:cNvPr id="14382" name="AutoShape 13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3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  <a:solidFill>
            <a:srgbClr val="C198E0"/>
          </a:solidFill>
        </p:grpSpPr>
        <p:cxnSp>
          <p:nvCxnSpPr>
            <p:cNvPr id="14380" name="AutoShape 17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763586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1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  <a:solidFill>
            <a:srgbClr val="C198E0"/>
          </a:solidFill>
        </p:grpSpPr>
        <p:cxnSp>
          <p:nvCxnSpPr>
            <p:cNvPr id="1437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  <a:solidFill>
            <a:srgbClr val="C198E0"/>
          </a:solidFill>
        </p:grpSpPr>
        <p:cxnSp>
          <p:nvCxnSpPr>
            <p:cNvPr id="1437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45833" y="2514600"/>
            <a:ext cx="3302000" cy="1250950"/>
            <a:chOff x="2645833" y="2514600"/>
            <a:chExt cx="3302000" cy="1250950"/>
          </a:xfrm>
        </p:grpSpPr>
        <p:sp>
          <p:nvSpPr>
            <p:cNvPr id="14374" name="AutoShape 6"/>
            <p:cNvSpPr>
              <a:spLocks noChangeArrowheads="1"/>
            </p:cNvSpPr>
            <p:nvPr/>
          </p:nvSpPr>
          <p:spPr bwMode="auto">
            <a:xfrm flipV="1">
              <a:off x="2645833" y="3460750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5" name="AutoShape 7"/>
            <p:cNvCxnSpPr>
              <a:cxnSpLocks noChangeShapeType="1"/>
              <a:stCxn id="14339" idx="3"/>
              <a:endCxn id="14374" idx="3"/>
            </p:cNvCxnSpPr>
            <p:nvPr/>
          </p:nvCxnSpPr>
          <p:spPr bwMode="auto">
            <a:xfrm flipH="1">
              <a:off x="2897717" y="2514600"/>
              <a:ext cx="3050116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14374" idx="0"/>
          </p:cNvCxnSpPr>
          <p:nvPr/>
        </p:nvCxnSpPr>
        <p:spPr bwMode="auto">
          <a:xfrm flipH="1">
            <a:off x="1883835" y="3765553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198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3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14339" idx="3"/>
          </p:cNvCxnSpPr>
          <p:nvPr/>
        </p:nvCxnSpPr>
        <p:spPr bwMode="auto">
          <a:xfrm rot="16200000" flipH="1">
            <a:off x="6212417" y="2250019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14374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4" name="Group 13"/>
          <p:cNvGrpSpPr/>
          <p:nvPr/>
        </p:nvGrpSpPr>
        <p:grpSpPr>
          <a:xfrm>
            <a:off x="5693833" y="2514603"/>
            <a:ext cx="508000" cy="1235075"/>
            <a:chOff x="5693833" y="2514603"/>
            <a:chExt cx="508000" cy="1235075"/>
          </a:xfrm>
        </p:grpSpPr>
        <p:sp>
          <p:nvSpPr>
            <p:cNvPr id="14372" name="AutoShape 20"/>
            <p:cNvSpPr>
              <a:spLocks noChangeArrowheads="1"/>
            </p:cNvSpPr>
            <p:nvPr/>
          </p:nvSpPr>
          <p:spPr bwMode="auto">
            <a:xfrm flipV="1">
              <a:off x="5693833" y="3444878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3" name="AutoShape 21"/>
            <p:cNvCxnSpPr>
              <a:cxnSpLocks noChangeShapeType="1"/>
              <a:stCxn id="14339" idx="3"/>
              <a:endCxn id="14372" idx="3"/>
            </p:cNvCxnSpPr>
            <p:nvPr/>
          </p:nvCxnSpPr>
          <p:spPr bwMode="auto">
            <a:xfrm flipH="1">
              <a:off x="5945717" y="2514603"/>
              <a:ext cx="2117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5"/>
            <a:ext cx="1524000" cy="1190625"/>
            <a:chOff x="3505200" y="3762375"/>
            <a:chExt cx="1142999" cy="1190625"/>
          </a:xfrm>
          <a:solidFill>
            <a:srgbClr val="C198E0"/>
          </a:solidFill>
        </p:grpSpPr>
        <p:cxnSp>
          <p:nvCxnSpPr>
            <p:cNvPr id="14368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9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14370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7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5"/>
            <a:ext cx="1524000" cy="1190625"/>
            <a:chOff x="5791200" y="3762375"/>
            <a:chExt cx="1142999" cy="1190625"/>
          </a:xfrm>
          <a:solidFill>
            <a:srgbClr val="C198E0"/>
          </a:solidFill>
        </p:grpSpPr>
        <p:cxnSp>
          <p:nvCxnSpPr>
            <p:cNvPr id="14362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3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14364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65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5689600" y="3765550"/>
            <a:ext cx="508000" cy="1187450"/>
            <a:chOff x="6553200" y="3765550"/>
            <a:chExt cx="381000" cy="1187450"/>
          </a:xfrm>
          <a:solidFill>
            <a:srgbClr val="C198E0"/>
          </a:solidFill>
        </p:grpSpPr>
        <p:cxnSp>
          <p:nvCxnSpPr>
            <p:cNvPr id="14360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1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5945717" y="3765550"/>
            <a:ext cx="1267883" cy="1187450"/>
            <a:chOff x="6745288" y="3765550"/>
            <a:chExt cx="950912" cy="1187450"/>
          </a:xfrm>
          <a:solidFill>
            <a:srgbClr val="C198E0"/>
          </a:solidFill>
        </p:grpSpPr>
        <p:cxnSp>
          <p:nvCxnSpPr>
            <p:cNvPr id="14358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59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250142" y="32721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2721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6142" y="3272135"/>
            <a:ext cx="34065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4000" y="19767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1998" cy="1250950"/>
            <a:chOff x="4460876" y="2514600"/>
            <a:chExt cx="2476499" cy="1250950"/>
          </a:xfrm>
        </p:grpSpPr>
        <p:sp>
          <p:nvSpPr>
            <p:cNvPr id="14366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67" name="AutoShape 27"/>
            <p:cNvCxnSpPr>
              <a:cxnSpLocks noChangeShapeType="1"/>
              <a:stCxn id="14339" idx="3"/>
              <a:endCxn id="14366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802593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Alpha-Beta Pruning Example</a:t>
            </a: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  <a:solidFill>
            <a:srgbClr val="C198E0"/>
          </a:solidFill>
        </p:grpSpPr>
        <p:cxnSp>
          <p:nvCxnSpPr>
            <p:cNvPr id="14382" name="AutoShape 13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3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  <a:solidFill>
            <a:srgbClr val="C198E0"/>
          </a:solidFill>
        </p:grpSpPr>
        <p:cxnSp>
          <p:nvCxnSpPr>
            <p:cNvPr id="14380" name="AutoShape 17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763586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1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  <a:solidFill>
            <a:srgbClr val="C198E0"/>
          </a:solidFill>
        </p:grpSpPr>
        <p:cxnSp>
          <p:nvCxnSpPr>
            <p:cNvPr id="1437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  <a:solidFill>
            <a:srgbClr val="C198E0"/>
          </a:solidFill>
        </p:grpSpPr>
        <p:cxnSp>
          <p:nvCxnSpPr>
            <p:cNvPr id="1437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645833" y="2514600"/>
            <a:ext cx="3302000" cy="1250950"/>
            <a:chOff x="2645833" y="2514600"/>
            <a:chExt cx="3302000" cy="1250950"/>
          </a:xfrm>
        </p:grpSpPr>
        <p:sp>
          <p:nvSpPr>
            <p:cNvPr id="14374" name="AutoShape 6"/>
            <p:cNvSpPr>
              <a:spLocks noChangeArrowheads="1"/>
            </p:cNvSpPr>
            <p:nvPr/>
          </p:nvSpPr>
          <p:spPr bwMode="auto">
            <a:xfrm flipV="1">
              <a:off x="2645833" y="3460750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5" name="AutoShape 7"/>
            <p:cNvCxnSpPr>
              <a:cxnSpLocks noChangeShapeType="1"/>
              <a:stCxn id="14339" idx="3"/>
              <a:endCxn id="14374" idx="3"/>
            </p:cNvCxnSpPr>
            <p:nvPr/>
          </p:nvCxnSpPr>
          <p:spPr bwMode="auto">
            <a:xfrm flipH="1">
              <a:off x="2897717" y="2514600"/>
              <a:ext cx="3050116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14374" idx="0"/>
          </p:cNvCxnSpPr>
          <p:nvPr/>
        </p:nvCxnSpPr>
        <p:spPr bwMode="auto">
          <a:xfrm flipH="1">
            <a:off x="1883835" y="3765553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198E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3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14339" idx="3"/>
          </p:cNvCxnSpPr>
          <p:nvPr/>
        </p:nvCxnSpPr>
        <p:spPr bwMode="auto">
          <a:xfrm rot="16200000" flipH="1">
            <a:off x="6212417" y="2250019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14374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4" name="Group 13"/>
          <p:cNvGrpSpPr/>
          <p:nvPr/>
        </p:nvGrpSpPr>
        <p:grpSpPr>
          <a:xfrm>
            <a:off x="5693833" y="2514603"/>
            <a:ext cx="508000" cy="1235075"/>
            <a:chOff x="5693833" y="2514603"/>
            <a:chExt cx="508000" cy="1235075"/>
          </a:xfrm>
        </p:grpSpPr>
        <p:sp>
          <p:nvSpPr>
            <p:cNvPr id="14372" name="AutoShape 20"/>
            <p:cNvSpPr>
              <a:spLocks noChangeArrowheads="1"/>
            </p:cNvSpPr>
            <p:nvPr/>
          </p:nvSpPr>
          <p:spPr bwMode="auto">
            <a:xfrm flipV="1">
              <a:off x="5693833" y="3444878"/>
              <a:ext cx="508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3" name="AutoShape 21"/>
            <p:cNvCxnSpPr>
              <a:cxnSpLocks noChangeShapeType="1"/>
              <a:stCxn id="14339" idx="3"/>
              <a:endCxn id="14372" idx="3"/>
            </p:cNvCxnSpPr>
            <p:nvPr/>
          </p:nvCxnSpPr>
          <p:spPr bwMode="auto">
            <a:xfrm flipH="1">
              <a:off x="5945717" y="2514603"/>
              <a:ext cx="2117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5"/>
            <a:ext cx="1524000" cy="1190625"/>
            <a:chOff x="3505200" y="3762375"/>
            <a:chExt cx="1142999" cy="1190625"/>
          </a:xfrm>
          <a:solidFill>
            <a:srgbClr val="C198E0"/>
          </a:solidFill>
        </p:grpSpPr>
        <p:cxnSp>
          <p:nvCxnSpPr>
            <p:cNvPr id="14368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9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14370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7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1998" cy="1250950"/>
            <a:chOff x="4460876" y="2514600"/>
            <a:chExt cx="2476499" cy="1250950"/>
          </a:xfrm>
        </p:grpSpPr>
        <p:sp>
          <p:nvSpPr>
            <p:cNvPr id="14366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67" name="AutoShape 27"/>
            <p:cNvCxnSpPr>
              <a:cxnSpLocks noChangeShapeType="1"/>
              <a:stCxn id="14339" idx="3"/>
              <a:endCxn id="14366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5"/>
            <a:ext cx="1524000" cy="1190625"/>
            <a:chOff x="5791200" y="3762375"/>
            <a:chExt cx="1142999" cy="1190625"/>
          </a:xfrm>
          <a:solidFill>
            <a:srgbClr val="C198E0"/>
          </a:solidFill>
        </p:grpSpPr>
        <p:cxnSp>
          <p:nvCxnSpPr>
            <p:cNvPr id="14362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3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14364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65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6" name="TextBox 5"/>
          <p:cNvSpPr txBox="1"/>
          <p:nvPr/>
        </p:nvSpPr>
        <p:spPr>
          <a:xfrm>
            <a:off x="5257800" y="2895600"/>
            <a:ext cx="71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itchFamily="18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α</a:t>
            </a:r>
            <a:r>
              <a:rPr lang="en-US" dirty="0"/>
              <a:t> =3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345" y="2895600"/>
            <a:ext cx="71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itchFamily="18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α</a:t>
            </a:r>
            <a:r>
              <a:rPr lang="en-US" dirty="0"/>
              <a:t> =3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6800" y="1295400"/>
            <a:ext cx="3390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itchFamily="18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α</a:t>
            </a:r>
            <a:r>
              <a:rPr lang="en-US" dirty="0"/>
              <a:t> = best option so far from any </a:t>
            </a:r>
          </a:p>
          <a:p>
            <a:r>
              <a:rPr lang="en-US" dirty="0"/>
              <a:t>MAX node on this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5486400"/>
            <a:ext cx="5161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The order of generation matters</a:t>
            </a:r>
            <a:r>
              <a:rPr lang="en-US" dirty="0"/>
              <a:t>: more pruning</a:t>
            </a:r>
          </a:p>
          <a:p>
            <a:r>
              <a:rPr lang="en-US" dirty="0"/>
              <a:t>is possible if good moves come first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0142" y="32721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4000" y="1976735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libri"/>
                <a:cs typeface="Calibri"/>
              </a:rPr>
              <a:t>3</a:t>
            </a:r>
          </a:p>
        </p:txBody>
      </p:sp>
      <p:pic>
        <p:nvPicPr>
          <p:cNvPr id="47" name="Picture 46" descr="BU005292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429000"/>
            <a:ext cx="1230511" cy="129235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49575" y="5488367"/>
            <a:ext cx="4015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We can prune when: </a:t>
            </a:r>
            <a:r>
              <a:rPr lang="en-US" dirty="0"/>
              <a:t>min node won’t be higher than 2, while parent max has seen something larger in another branch</a:t>
            </a:r>
          </a:p>
        </p:txBody>
      </p:sp>
    </p:spTree>
    <p:extLst>
      <p:ext uri="{BB962C8B-B14F-4D97-AF65-F5344CB8AC3E}">
        <p14:creationId xmlns:p14="http://schemas.microsoft.com/office/powerpoint/2010/main" val="1506872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6" grpId="0"/>
      <p:bldP spid="48" grpId="0"/>
      <p:bldP spid="48" grpId="1"/>
      <p:bldP spid="50" grpId="0"/>
      <p:bldP spid="15" grpId="0"/>
      <p:bldP spid="45" grpId="0"/>
      <p:bldP spid="46" grpId="0"/>
      <p:bldP spid="5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324600" y="3048000"/>
            <a:ext cx="5410200" cy="3429000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57200" y="3048000"/>
            <a:ext cx="5410200" cy="34290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Implementation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477000" y="3352800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min-value(state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400" kern="0" dirty="0">
                <a:latin typeface="Calibri" pitchFamily="34" charset="0"/>
              </a:rPr>
              <a:t>v = min(v,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400" kern="0" dirty="0">
                <a:latin typeface="Calibri" pitchFamily="34" charset="0"/>
              </a:rPr>
              <a:t>if v ≤ </a:t>
            </a:r>
            <a:r>
              <a:rPr lang="el-GR" sz="2400" kern="0" dirty="0">
                <a:latin typeface="Calibri" pitchFamily="34" charset="0"/>
              </a:rPr>
              <a:t>α</a:t>
            </a:r>
            <a:r>
              <a:rPr lang="en-US" sz="2400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2400" kern="0" dirty="0">
                <a:latin typeface="Calibri" pitchFamily="34" charset="0"/>
              </a:rPr>
              <a:t>        return v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400" kern="0" dirty="0">
                <a:latin typeface="Calibri" pitchFamily="34" charset="0"/>
              </a:rPr>
              <a:t>β </a:t>
            </a:r>
            <a:r>
              <a:rPr lang="en-US" sz="2400" kern="0" dirty="0">
                <a:latin typeface="Calibri" pitchFamily="34" charset="0"/>
              </a:rPr>
              <a:t>= min(</a:t>
            </a:r>
            <a:r>
              <a:rPr lang="el-GR" sz="2400" kern="0" dirty="0">
                <a:latin typeface="Calibri" pitchFamily="34" charset="0"/>
              </a:rPr>
              <a:t>β</a:t>
            </a:r>
            <a:r>
              <a:rPr lang="en-US" sz="2400" kern="0" dirty="0">
                <a:latin typeface="Calibri" pitchFamily="34" charset="0"/>
              </a:rPr>
              <a:t>, v)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9600" y="3048000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max-value(state, </a:t>
            </a:r>
            <a:r>
              <a:rPr lang="el-GR" sz="2400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sz="2400" kern="0" noProof="0" dirty="0">
                <a:latin typeface="Calibri" pitchFamily="34" charset="0"/>
              </a:rPr>
              <a:t>max(v,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sz="2400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sz="2400" kern="0" dirty="0">
                <a:latin typeface="Calibri" pitchFamily="34" charset="0"/>
              </a:rPr>
              <a:t>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400" kern="0" baseline="0" dirty="0">
                <a:latin typeface="Calibri" pitchFamily="34" charset="0"/>
              </a:rPr>
              <a:t>if</a:t>
            </a:r>
            <a:r>
              <a:rPr lang="en-US" sz="2400" kern="0" dirty="0">
                <a:latin typeface="Calibri" pitchFamily="34" charset="0"/>
              </a:rPr>
              <a:t> v ≥ </a:t>
            </a:r>
            <a:r>
              <a:rPr lang="el-GR" sz="2400" kern="0" dirty="0">
                <a:latin typeface="Calibri" pitchFamily="34" charset="0"/>
              </a:rPr>
              <a:t>β</a:t>
            </a:r>
            <a:r>
              <a:rPr lang="en-US" sz="2400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2400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sz="2400" kern="0" dirty="0">
                <a:latin typeface="Calibri" pitchFamily="34" charset="0"/>
              </a:rPr>
              <a:t>α</a:t>
            </a:r>
            <a:r>
              <a:rPr lang="en-US" sz="2400" kern="0" dirty="0">
                <a:latin typeface="Calibri" pitchFamily="34" charset="0"/>
              </a:rPr>
              <a:t> = max(</a:t>
            </a:r>
            <a:r>
              <a:rPr lang="el-GR" sz="2400" kern="0" dirty="0">
                <a:latin typeface="Calibri" pitchFamily="34" charset="0"/>
              </a:rPr>
              <a:t>α</a:t>
            </a:r>
            <a:r>
              <a:rPr lang="en-US" sz="2400" kern="0" dirty="0">
                <a:latin typeface="Calibri" pitchFamily="34" charset="0"/>
              </a:rPr>
              <a:t>, v)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200" y="1524000"/>
            <a:ext cx="5105400" cy="1066800"/>
          </a:xfrm>
          <a:prstGeom prst="roundRect">
            <a:avLst/>
          </a:prstGeom>
          <a:solidFill>
            <a:srgbClr val="7030A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11734800" cy="1447800"/>
          </a:xfrm>
        </p:spPr>
        <p:txBody>
          <a:bodyPr/>
          <a:lstStyle/>
          <a:p>
            <a:pPr lvl="1" algn="ctr">
              <a:lnSpc>
                <a:spcPct val="80000"/>
              </a:lnSpc>
              <a:buNone/>
            </a:pPr>
            <a:r>
              <a:rPr lang="el-GR" sz="2400" dirty="0">
                <a:solidFill>
                  <a:srgbClr val="0066CC"/>
                </a:solidFill>
              </a:rPr>
              <a:t>α</a:t>
            </a:r>
            <a:r>
              <a:rPr lang="en-US" sz="2400" dirty="0">
                <a:solidFill>
                  <a:srgbClr val="0066CC"/>
                </a:solidFill>
              </a:rPr>
              <a:t>: </a:t>
            </a:r>
            <a:r>
              <a:rPr lang="en-US" sz="2400" dirty="0">
                <a:solidFill>
                  <a:srgbClr val="0070C0"/>
                </a:solidFill>
              </a:rPr>
              <a:t>MAX’s best option on path to root</a:t>
            </a:r>
          </a:p>
          <a:p>
            <a:pPr lvl="1" algn="ctr">
              <a:lnSpc>
                <a:spcPct val="80000"/>
              </a:lnSpc>
              <a:buNone/>
            </a:pPr>
            <a:r>
              <a:rPr lang="el-GR" sz="2400" dirty="0">
                <a:solidFill>
                  <a:srgbClr val="C00000"/>
                </a:solidFill>
              </a:rPr>
              <a:t>β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  <a:r>
              <a:rPr lang="el-GR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MIN’s best option on path to root</a:t>
            </a:r>
          </a:p>
        </p:txBody>
      </p:sp>
    </p:spTree>
    <p:extLst>
      <p:ext uri="{BB962C8B-B14F-4D97-AF65-F5344CB8AC3E}">
        <p14:creationId xmlns:p14="http://schemas.microsoft.com/office/powerpoint/2010/main" val="204427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</p:spTree>
    <p:extLst>
      <p:ext uri="{BB962C8B-B14F-4D97-AF65-F5344CB8AC3E}">
        <p14:creationId xmlns:p14="http://schemas.microsoft.com/office/powerpoint/2010/main" val="17546064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196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v = min(v,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95088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v = min(v,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7161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b="1" kern="0" dirty="0">
                <a:latin typeface="Calibri" pitchFamily="34" charset="0"/>
              </a:rPr>
              <a:t>β </a:t>
            </a:r>
            <a:r>
              <a:rPr lang="en-US" b="1" kern="0" dirty="0">
                <a:latin typeface="Calibri" pitchFamily="34" charset="0"/>
              </a:rPr>
              <a:t>= min(</a:t>
            </a:r>
            <a:r>
              <a:rPr lang="el-GR" b="1" kern="0" dirty="0">
                <a:latin typeface="Calibri" pitchFamily="34" charset="0"/>
              </a:rPr>
              <a:t>β</a:t>
            </a:r>
            <a:r>
              <a:rPr lang="en-US" b="1" kern="0" dirty="0">
                <a:latin typeface="Calibri" pitchFamily="34" charset="0"/>
              </a:rPr>
              <a:t>, v)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642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v = min(v,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=10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578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b="1" kern="0" dirty="0">
                <a:latin typeface="Calibri" pitchFamily="34" charset="0"/>
              </a:rPr>
              <a:t>β </a:t>
            </a:r>
            <a:r>
              <a:rPr lang="en-US" b="1" kern="0" dirty="0">
                <a:latin typeface="Calibri" pitchFamily="34" charset="0"/>
              </a:rPr>
              <a:t>= min(</a:t>
            </a:r>
            <a:r>
              <a:rPr lang="el-GR" b="1" kern="0" dirty="0">
                <a:latin typeface="Calibri" pitchFamily="34" charset="0"/>
              </a:rPr>
              <a:t>β</a:t>
            </a:r>
            <a:r>
              <a:rPr lang="en-US" b="1" kern="0" dirty="0">
                <a:latin typeface="Calibri" pitchFamily="34" charset="0"/>
              </a:rPr>
              <a:t>, v)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27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56616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8678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3521" t="-15441" r="-3521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b="1" kern="0" noProof="0" dirty="0">
                <a:latin typeface="Calibri" pitchFamily="34" charset="0"/>
              </a:rPr>
              <a:t>max(v,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b="1" kern="0" dirty="0">
                <a:latin typeface="Calibri" pitchFamily="34" charset="0"/>
              </a:rPr>
              <a:t>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145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b="1" kern="0" dirty="0">
                <a:latin typeface="Calibri" pitchFamily="34" charset="0"/>
              </a:rPr>
              <a:t>α</a:t>
            </a:r>
            <a:r>
              <a:rPr lang="en-US" b="1" kern="0" dirty="0">
                <a:latin typeface="Calibri" pitchFamily="34" charset="0"/>
              </a:rPr>
              <a:t> = max(</a:t>
            </a:r>
            <a:r>
              <a:rPr lang="el-GR" b="1" kern="0" dirty="0">
                <a:latin typeface="Calibri" pitchFamily="34" charset="0"/>
              </a:rPr>
              <a:t>α</a:t>
            </a:r>
            <a:r>
              <a:rPr lang="en-US" b="1" kern="0" dirty="0">
                <a:latin typeface="Calibri" pitchFamily="34" charset="0"/>
              </a:rPr>
              <a:t>, v)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01887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v = min(v,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2760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v = min(v,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485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if v ≤ </a:t>
            </a:r>
            <a:r>
              <a:rPr lang="el-GR" b="1" kern="0" dirty="0">
                <a:latin typeface="Calibri" pitchFamily="34" charset="0"/>
              </a:rPr>
              <a:t>α</a:t>
            </a:r>
            <a:r>
              <a:rPr lang="en-US" b="1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b="1" kern="0" dirty="0">
                <a:latin typeface="Calibri" pitchFamily="34" charset="0"/>
              </a:rPr>
              <a:t>        return v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886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374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b="1" kern="0" noProof="0" dirty="0">
                <a:latin typeface="Calibri" pitchFamily="34" charset="0"/>
              </a:rPr>
              <a:t>max(v, 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b="1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b="1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b="1" kern="0" dirty="0">
                <a:latin typeface="Calibri" pitchFamily="34" charset="0"/>
              </a:rPr>
              <a:t>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886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84774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b="1" kern="0" dirty="0">
                <a:latin typeface="Calibri" pitchFamily="34" charset="0"/>
              </a:rPr>
              <a:t>α</a:t>
            </a:r>
            <a:r>
              <a:rPr lang="en-US" b="1" kern="0" dirty="0">
                <a:latin typeface="Calibri" pitchFamily="34" charset="0"/>
              </a:rPr>
              <a:t> = max(</a:t>
            </a:r>
            <a:r>
              <a:rPr lang="el-GR" b="1" kern="0" dirty="0">
                <a:latin typeface="Calibri" pitchFamily="34" charset="0"/>
              </a:rPr>
              <a:t>α</a:t>
            </a:r>
            <a:r>
              <a:rPr lang="en-US" b="1" kern="0" dirty="0">
                <a:latin typeface="Calibri" pitchFamily="34" charset="0"/>
              </a:rPr>
              <a:t>, v)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886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70879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880" y="174597"/>
            <a:ext cx="10515600" cy="787725"/>
          </a:xfrm>
        </p:spPr>
        <p:txBody>
          <a:bodyPr/>
          <a:lstStyle/>
          <a:p>
            <a:r>
              <a:rPr lang="en-US" dirty="0"/>
              <a:t>Alpha-Beta Small Example</a:t>
            </a:r>
          </a:p>
        </p:txBody>
      </p:sp>
      <p:pic>
        <p:nvPicPr>
          <p:cNvPr id="6" name="Picture 5" descr="alpha-beta-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0188"/>
            <a:ext cx="6502400" cy="482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781" y="1413689"/>
                <a:ext cx="747577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569" t="-15441" r="-3252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7696200" y="3913188"/>
            <a:ext cx="533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def min-value(state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 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C0000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C00000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lang="en-US" kern="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v = min(v,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)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if v ≤ 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kern="0" dirty="0">
                <a:latin typeface="Calibri" pitchFamily="34" charset="0"/>
              </a:rPr>
              <a:t>        return v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β </a:t>
            </a:r>
            <a:r>
              <a:rPr lang="en-US" kern="0" dirty="0">
                <a:latin typeface="Calibri" pitchFamily="34" charset="0"/>
              </a:rPr>
              <a:t>= min(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620000" y="1027906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lvl="0" indent="-342882">
              <a:lnSpc>
                <a:spcPct val="80000"/>
              </a:lnSpc>
              <a:spcBef>
                <a:spcPts val="1200"/>
              </a:spcBef>
              <a:buClr>
                <a:schemeClr val="accent2"/>
              </a:buClr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def max-value(state,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0066CC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0066CC"/>
                </a:solidFill>
                <a:latin typeface="Calibri" pitchFamily="34" charset="0"/>
              </a:rPr>
              <a:t>β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Calibri" pitchFamily="34" charset="0"/>
              </a:rPr>
              <a:t>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initialize v =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v = </a:t>
            </a:r>
            <a:r>
              <a:rPr lang="en-US" kern="0" noProof="0" dirty="0">
                <a:latin typeface="Calibri" pitchFamily="34" charset="0"/>
              </a:rPr>
              <a:t>max(v, 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value(successor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α</a:t>
            </a:r>
            <a:r>
              <a:rPr lang="en-US" kern="0" dirty="0">
                <a:solidFill>
                  <a:srgbClr val="7030A0"/>
                </a:solidFill>
                <a:latin typeface="Calibri" pitchFamily="34" charset="0"/>
              </a:rPr>
              <a:t>, </a:t>
            </a:r>
            <a:r>
              <a:rPr lang="el-GR" kern="0" dirty="0">
                <a:solidFill>
                  <a:srgbClr val="7030A0"/>
                </a:solidFill>
                <a:latin typeface="Calibri" pitchFamily="34" charset="0"/>
              </a:rPr>
              <a:t>β</a:t>
            </a:r>
            <a:r>
              <a:rPr kumimoji="0" lang="en-US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</a:rPr>
              <a:t>)</a:t>
            </a:r>
            <a:r>
              <a:rPr lang="en-US" kern="0" dirty="0">
                <a:latin typeface="Calibri" pitchFamily="34" charset="0"/>
              </a:rPr>
              <a:t>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 pitchFamily="34" charset="0"/>
            </a:endParaRP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baseline="0" dirty="0">
                <a:latin typeface="Calibri" pitchFamily="34" charset="0"/>
              </a:rPr>
              <a:t>if</a:t>
            </a:r>
            <a:r>
              <a:rPr lang="en-US" kern="0" dirty="0">
                <a:latin typeface="Calibri" pitchFamily="34" charset="0"/>
              </a:rPr>
              <a:t> v ≥ </a:t>
            </a:r>
            <a:r>
              <a:rPr lang="el-GR" kern="0" dirty="0">
                <a:latin typeface="Calibri" pitchFamily="34" charset="0"/>
              </a:rPr>
              <a:t>β</a:t>
            </a:r>
            <a:r>
              <a:rPr lang="en-US" kern="0" dirty="0">
                <a:latin typeface="Calibri" pitchFamily="34" charset="0"/>
              </a:rPr>
              <a:t> </a:t>
            </a:r>
          </a:p>
          <a:p>
            <a:pPr marL="1142942" marR="0" lvl="2" indent="-228589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kern="0" dirty="0">
                <a:latin typeface="Calibri" pitchFamily="34" charset="0"/>
              </a:rPr>
              <a:t>        return v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 = max(</a:t>
            </a:r>
            <a:r>
              <a:rPr lang="el-GR" kern="0" dirty="0">
                <a:latin typeface="Calibri" pitchFamily="34" charset="0"/>
              </a:rPr>
              <a:t>α</a:t>
            </a:r>
            <a:r>
              <a:rPr lang="en-US" kern="0" dirty="0">
                <a:latin typeface="Calibri" pitchFamily="34" charset="0"/>
              </a:rPr>
              <a:t>, v)</a:t>
            </a:r>
            <a:endParaRPr kumimoji="0" lang="en-US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return 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=−∞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3" y="3237706"/>
                <a:ext cx="867802" cy="830997"/>
              </a:xfrm>
              <a:prstGeom prst="rect">
                <a:avLst/>
              </a:prstGeom>
              <a:blipFill rotWithShape="0">
                <a:blip r:embed="rId5"/>
                <a:stretch>
                  <a:fillRect l="-3521" r="-3521" b="-2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𝛼</m:t>
                      </m:r>
                      <m:r>
                        <a:rPr lang="en-US" b="0" i="1" smtClean="0">
                          <a:latin typeface="Cambria Math" charset="0"/>
                        </a:rPr>
                        <m:t>=8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𝛽</m:t>
                      </m:r>
                      <m:r>
                        <a:rPr lang="en-US" b="0" i="1" smtClean="0">
                          <a:latin typeface="Cambria Math" charset="0"/>
                        </a:rPr>
                        <m:t>= ∞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𝑣</m:t>
                      </m:r>
                      <m:r>
                        <a:rPr lang="en-US" b="0" i="1" smtClean="0">
                          <a:latin typeface="Cambria Math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819" y="3237706"/>
                <a:ext cx="747577" cy="830997"/>
              </a:xfrm>
              <a:prstGeom prst="rect">
                <a:avLst/>
              </a:prstGeom>
              <a:blipFill rotWithShape="0">
                <a:blip r:embed="rId6"/>
                <a:stretch>
                  <a:fillRect l="-10569" t="-15441" r="-4065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97309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886" y="34201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2532" y="182833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65939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8B53B4-6010-C55C-4B9D-3D19292B5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2" y="706531"/>
            <a:ext cx="11303929" cy="499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99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FE3B-6175-F978-B91B-0084F8E8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7750F-0594-F136-C210-5C4EBAE80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7" y="563418"/>
            <a:ext cx="9965468" cy="4871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68F62F-500E-7F18-A539-07B08D9B75E8}"/>
              </a:ext>
            </a:extLst>
          </p:cNvPr>
          <p:cNvSpPr txBox="1"/>
          <p:nvPr/>
        </p:nvSpPr>
        <p:spPr>
          <a:xfrm>
            <a:off x="425571" y="5648251"/>
            <a:ext cx="117664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 this tree, the moves ARE optimally ordered, so we are able to prune four nodes (out of nine).</a:t>
            </a:r>
          </a:p>
        </p:txBody>
      </p:sp>
    </p:spTree>
    <p:extLst>
      <p:ext uri="{BB962C8B-B14F-4D97-AF65-F5344CB8AC3E}">
        <p14:creationId xmlns:p14="http://schemas.microsoft.com/office/powerpoint/2010/main" val="53986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B22E-A158-8DBF-E6ED-E869666EA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342" y="47355"/>
            <a:ext cx="10515600" cy="6355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Optimal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C94F7-7D55-9625-9E10-CA209CD3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286" y="1394304"/>
            <a:ext cx="11967713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Minimum computational complexity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sz="3600" dirty="0"/>
              <a:t>The children of a MAX node are evaluated, in order, starting with the highest-value child. 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The children of a MIN node are evaluated, in order, starting with the lowest-value child.</a:t>
            </a:r>
          </a:p>
        </p:txBody>
      </p:sp>
    </p:spTree>
    <p:extLst>
      <p:ext uri="{BB962C8B-B14F-4D97-AF65-F5344CB8AC3E}">
        <p14:creationId xmlns:p14="http://schemas.microsoft.com/office/powerpoint/2010/main" val="14426337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89162" y="2693987"/>
            <a:ext cx="10213676" cy="1470025"/>
          </a:xfrm>
        </p:spPr>
        <p:txBody>
          <a:bodyPr/>
          <a:lstStyle/>
          <a:p>
            <a:pPr eaLnBrk="1" hangingPunct="1"/>
            <a:r>
              <a:rPr lang="en-US" dirty="0"/>
              <a:t>Games with uncertain outcomes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862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76800" y="1146175"/>
            <a:ext cx="2362200" cy="167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" y="1143000"/>
            <a:ext cx="2789861" cy="149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51532" y="-98970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/>
              <a:t>Chance outcomes in trees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648200" y="2743200"/>
            <a:ext cx="2667000" cy="2391238"/>
            <a:chOff x="4648200" y="2743200"/>
            <a:chExt cx="2667000" cy="2391238"/>
          </a:xfrm>
        </p:grpSpPr>
        <p:grpSp>
          <p:nvGrpSpPr>
            <p:cNvPr id="46" name="Group 45"/>
            <p:cNvGrpSpPr/>
            <p:nvPr/>
          </p:nvGrpSpPr>
          <p:grpSpPr>
            <a:xfrm>
              <a:off x="4838701" y="4056742"/>
              <a:ext cx="763815" cy="774700"/>
              <a:chOff x="1865085" y="4038600"/>
              <a:chExt cx="763815" cy="774700"/>
            </a:xfrm>
          </p:grpSpPr>
          <p:cxnSp>
            <p:nvCxnSpPr>
              <p:cNvPr id="47" name="AutoShape 17"/>
              <p:cNvCxnSpPr>
                <a:cxnSpLocks noChangeShapeType="1"/>
              </p:cNvCxnSpPr>
              <p:nvPr/>
            </p:nvCxnSpPr>
            <p:spPr bwMode="auto">
              <a:xfrm>
                <a:off x="2247900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8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1865085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sp>
          <p:nvSpPr>
            <p:cNvPr id="28" name="AutoShape 5"/>
            <p:cNvSpPr>
              <a:spLocks noChangeArrowheads="1"/>
            </p:cNvSpPr>
            <p:nvPr/>
          </p:nvSpPr>
          <p:spPr bwMode="auto">
            <a:xfrm>
              <a:off x="5791200" y="2743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46482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5379355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10</a:t>
              </a:r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61722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9</a:t>
              </a: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69342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100</a:t>
              </a:r>
            </a:p>
          </p:txBody>
        </p:sp>
        <p:cxnSp>
          <p:nvCxnSpPr>
            <p:cNvPr id="35" name="AutoShape 12"/>
            <p:cNvCxnSpPr>
              <a:cxnSpLocks noChangeShapeType="1"/>
              <a:stCxn id="28" idx="3"/>
            </p:cNvCxnSpPr>
            <p:nvPr/>
          </p:nvCxnSpPr>
          <p:spPr bwMode="auto">
            <a:xfrm flipH="1">
              <a:off x="5219700" y="3048000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6" name="AutoShape 13"/>
            <p:cNvCxnSpPr>
              <a:cxnSpLocks noChangeShapeType="1"/>
              <a:stCxn id="28" idx="3"/>
            </p:cNvCxnSpPr>
            <p:nvPr/>
          </p:nvCxnSpPr>
          <p:spPr bwMode="auto">
            <a:xfrm>
              <a:off x="5981700" y="3048000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4" name="Oval 15"/>
            <p:cNvSpPr>
              <a:spLocks noChangeAspect="1" noChangeArrowheads="1"/>
            </p:cNvSpPr>
            <p:nvPr/>
          </p:nvSpPr>
          <p:spPr bwMode="auto">
            <a:xfrm>
              <a:off x="5054600" y="3733800"/>
              <a:ext cx="323850" cy="3238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25" name="Oval 16"/>
            <p:cNvSpPr>
              <a:spLocks noChangeAspect="1" noChangeArrowheads="1"/>
            </p:cNvSpPr>
            <p:nvPr/>
          </p:nvSpPr>
          <p:spPr bwMode="auto">
            <a:xfrm>
              <a:off x="6578600" y="3733800"/>
              <a:ext cx="323850" cy="3238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6362701" y="4056742"/>
              <a:ext cx="763815" cy="774700"/>
              <a:chOff x="1865085" y="4038600"/>
              <a:chExt cx="763815" cy="774700"/>
            </a:xfrm>
          </p:grpSpPr>
          <p:cxnSp>
            <p:nvCxnSpPr>
              <p:cNvPr id="44" name="AutoShape 17"/>
              <p:cNvCxnSpPr>
                <a:cxnSpLocks noChangeShapeType="1"/>
              </p:cNvCxnSpPr>
              <p:nvPr/>
            </p:nvCxnSpPr>
            <p:spPr bwMode="auto">
              <a:xfrm>
                <a:off x="2247900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5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1865085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</p:grpSp>
      <p:grpSp>
        <p:nvGrpSpPr>
          <p:cNvPr id="18" name="Group 17"/>
          <p:cNvGrpSpPr/>
          <p:nvPr/>
        </p:nvGrpSpPr>
        <p:grpSpPr>
          <a:xfrm>
            <a:off x="152400" y="2743200"/>
            <a:ext cx="2667000" cy="2391238"/>
            <a:chOff x="152400" y="2743200"/>
            <a:chExt cx="2667000" cy="2391238"/>
          </a:xfrm>
        </p:grpSpPr>
        <p:sp>
          <p:nvSpPr>
            <p:cNvPr id="16388" name="AutoShape 5"/>
            <p:cNvSpPr>
              <a:spLocks noChangeArrowheads="1"/>
            </p:cNvSpPr>
            <p:nvPr/>
          </p:nvSpPr>
          <p:spPr bwMode="auto">
            <a:xfrm>
              <a:off x="1295400" y="2743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389" name="AutoShape 6"/>
            <p:cNvSpPr>
              <a:spLocks noChangeArrowheads="1"/>
            </p:cNvSpPr>
            <p:nvPr/>
          </p:nvSpPr>
          <p:spPr bwMode="auto">
            <a:xfrm rot="10800000">
              <a:off x="533400" y="3733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390" name="AutoShape 7"/>
            <p:cNvSpPr>
              <a:spLocks noChangeArrowheads="1"/>
            </p:cNvSpPr>
            <p:nvPr/>
          </p:nvSpPr>
          <p:spPr bwMode="auto">
            <a:xfrm rot="10800000">
              <a:off x="2057400" y="3733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16391" name="Rectangle 8"/>
            <p:cNvSpPr>
              <a:spLocks noChangeArrowheads="1"/>
            </p:cNvSpPr>
            <p:nvPr/>
          </p:nvSpPr>
          <p:spPr bwMode="auto">
            <a:xfrm>
              <a:off x="1524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16392" name="Rectangle 9"/>
            <p:cNvSpPr>
              <a:spLocks noChangeArrowheads="1"/>
            </p:cNvSpPr>
            <p:nvPr/>
          </p:nvSpPr>
          <p:spPr bwMode="auto">
            <a:xfrm>
              <a:off x="883555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16393" name="Rectangle 10"/>
            <p:cNvSpPr>
              <a:spLocks noChangeArrowheads="1"/>
            </p:cNvSpPr>
            <p:nvPr/>
          </p:nvSpPr>
          <p:spPr bwMode="auto">
            <a:xfrm>
              <a:off x="16764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9</a:t>
              </a:r>
            </a:p>
          </p:txBody>
        </p:sp>
        <p:sp>
          <p:nvSpPr>
            <p:cNvPr id="16394" name="Rectangle 11"/>
            <p:cNvSpPr>
              <a:spLocks noChangeArrowheads="1"/>
            </p:cNvSpPr>
            <p:nvPr/>
          </p:nvSpPr>
          <p:spPr bwMode="auto">
            <a:xfrm>
              <a:off x="2438400" y="482963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100</a:t>
              </a:r>
            </a:p>
          </p:txBody>
        </p:sp>
        <p:cxnSp>
          <p:nvCxnSpPr>
            <p:cNvPr id="16395" name="AutoShape 12"/>
            <p:cNvCxnSpPr>
              <a:cxnSpLocks noChangeShapeType="1"/>
              <a:stCxn id="16388" idx="3"/>
              <a:endCxn id="16389" idx="3"/>
            </p:cNvCxnSpPr>
            <p:nvPr/>
          </p:nvCxnSpPr>
          <p:spPr bwMode="auto">
            <a:xfrm flipH="1">
              <a:off x="723900" y="3048000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6" name="AutoShape 13"/>
            <p:cNvCxnSpPr>
              <a:cxnSpLocks noChangeShapeType="1"/>
              <a:stCxn id="16388" idx="3"/>
              <a:endCxn id="16390" idx="3"/>
            </p:cNvCxnSpPr>
            <p:nvPr/>
          </p:nvCxnSpPr>
          <p:spPr bwMode="auto">
            <a:xfrm>
              <a:off x="1485900" y="3048000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5" name="Group 4"/>
            <p:cNvGrpSpPr/>
            <p:nvPr/>
          </p:nvGrpSpPr>
          <p:grpSpPr>
            <a:xfrm>
              <a:off x="1865085" y="4038600"/>
              <a:ext cx="763815" cy="774700"/>
              <a:chOff x="1865085" y="4038600"/>
              <a:chExt cx="763815" cy="774700"/>
            </a:xfrm>
          </p:grpSpPr>
          <p:cxnSp>
            <p:nvCxnSpPr>
              <p:cNvPr id="16400" name="AutoShape 17"/>
              <p:cNvCxnSpPr>
                <a:cxnSpLocks noChangeShapeType="1"/>
                <a:stCxn id="16390" idx="0"/>
              </p:cNvCxnSpPr>
              <p:nvPr/>
            </p:nvCxnSpPr>
            <p:spPr bwMode="auto">
              <a:xfrm>
                <a:off x="2247900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41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1865085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49" name="Group 48"/>
            <p:cNvGrpSpPr/>
            <p:nvPr/>
          </p:nvGrpSpPr>
          <p:grpSpPr>
            <a:xfrm>
              <a:off x="341084" y="4038600"/>
              <a:ext cx="763815" cy="774700"/>
              <a:chOff x="1865085" y="4038600"/>
              <a:chExt cx="763815" cy="774700"/>
            </a:xfrm>
          </p:grpSpPr>
          <p:cxnSp>
            <p:nvCxnSpPr>
              <p:cNvPr id="50" name="AutoShape 17"/>
              <p:cNvCxnSpPr>
                <a:cxnSpLocks noChangeShapeType="1"/>
              </p:cNvCxnSpPr>
              <p:nvPr/>
            </p:nvCxnSpPr>
            <p:spPr bwMode="auto">
              <a:xfrm>
                <a:off x="2247900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51" name="AutoShape 17"/>
              <p:cNvCxnSpPr>
                <a:cxnSpLocks noChangeShapeType="1"/>
              </p:cNvCxnSpPr>
              <p:nvPr/>
            </p:nvCxnSpPr>
            <p:spPr bwMode="auto">
              <a:xfrm flipH="1">
                <a:off x="1865085" y="4038600"/>
                <a:ext cx="381000" cy="77470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</p:grpSp>
      <p:grpSp>
        <p:nvGrpSpPr>
          <p:cNvPr id="16" name="Group 15"/>
          <p:cNvGrpSpPr/>
          <p:nvPr/>
        </p:nvGrpSpPr>
        <p:grpSpPr>
          <a:xfrm>
            <a:off x="8508988" y="2735184"/>
            <a:ext cx="3121553" cy="3318977"/>
            <a:chOff x="8508988" y="2735184"/>
            <a:chExt cx="3121553" cy="3318977"/>
          </a:xfrm>
        </p:grpSpPr>
        <p:cxnSp>
          <p:nvCxnSpPr>
            <p:cNvPr id="68" name="AutoShape 17"/>
            <p:cNvCxnSpPr>
              <a:cxnSpLocks noChangeShapeType="1"/>
            </p:cNvCxnSpPr>
            <p:nvPr/>
          </p:nvCxnSpPr>
          <p:spPr bwMode="auto">
            <a:xfrm>
              <a:off x="9317600" y="4048726"/>
              <a:ext cx="381000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9" name="AutoShape 17"/>
            <p:cNvCxnSpPr>
              <a:cxnSpLocks noChangeShapeType="1"/>
            </p:cNvCxnSpPr>
            <p:nvPr/>
          </p:nvCxnSpPr>
          <p:spPr bwMode="auto">
            <a:xfrm flipH="1">
              <a:off x="8934785" y="4048726"/>
              <a:ext cx="381000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6" name="AutoShape 5"/>
            <p:cNvSpPr>
              <a:spLocks noChangeArrowheads="1"/>
            </p:cNvSpPr>
            <p:nvPr/>
          </p:nvSpPr>
          <p:spPr bwMode="auto">
            <a:xfrm>
              <a:off x="9887284" y="2735184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8984908" y="5744014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9</a:t>
              </a:r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9515543" y="5744014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10</a:t>
              </a:r>
            </a:p>
          </p:txBody>
        </p:sp>
        <p:sp>
          <p:nvSpPr>
            <p:cNvPr id="59" name="Rectangle 10"/>
            <p:cNvSpPr>
              <a:spLocks noChangeArrowheads="1"/>
            </p:cNvSpPr>
            <p:nvPr/>
          </p:nvSpPr>
          <p:spPr bwMode="auto">
            <a:xfrm>
              <a:off x="10295020" y="5744014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Calibri" pitchFamily="34" charset="0"/>
                </a:rPr>
                <a:t>9</a:t>
              </a:r>
            </a:p>
          </p:txBody>
        </p:sp>
        <p:sp>
          <p:nvSpPr>
            <p:cNvPr id="60" name="Rectangle 11"/>
            <p:cNvSpPr>
              <a:spLocks noChangeArrowheads="1"/>
            </p:cNvSpPr>
            <p:nvPr/>
          </p:nvSpPr>
          <p:spPr bwMode="auto">
            <a:xfrm>
              <a:off x="10789660" y="5744014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</a:t>
              </a:r>
            </a:p>
          </p:txBody>
        </p:sp>
        <p:cxnSp>
          <p:nvCxnSpPr>
            <p:cNvPr id="61" name="AutoShape 12"/>
            <p:cNvCxnSpPr>
              <a:cxnSpLocks noChangeShapeType="1"/>
              <a:stCxn id="56" idx="3"/>
            </p:cNvCxnSpPr>
            <p:nvPr/>
          </p:nvCxnSpPr>
          <p:spPr bwMode="auto">
            <a:xfrm flipH="1">
              <a:off x="9315784" y="3039984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2" name="AutoShape 13"/>
            <p:cNvCxnSpPr>
              <a:cxnSpLocks noChangeShapeType="1"/>
              <a:stCxn id="56" idx="3"/>
            </p:cNvCxnSpPr>
            <p:nvPr/>
          </p:nvCxnSpPr>
          <p:spPr bwMode="auto">
            <a:xfrm>
              <a:off x="10077784" y="3039984"/>
              <a:ext cx="762000" cy="685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3" name="Oval 15"/>
            <p:cNvSpPr>
              <a:spLocks noChangeAspect="1" noChangeArrowheads="1"/>
            </p:cNvSpPr>
            <p:nvPr/>
          </p:nvSpPr>
          <p:spPr bwMode="auto">
            <a:xfrm>
              <a:off x="9150684" y="3725784"/>
              <a:ext cx="323850" cy="3238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4" name="Oval 16"/>
            <p:cNvSpPr>
              <a:spLocks noChangeAspect="1" noChangeArrowheads="1"/>
            </p:cNvSpPr>
            <p:nvPr/>
          </p:nvSpPr>
          <p:spPr bwMode="auto">
            <a:xfrm>
              <a:off x="10674684" y="3725784"/>
              <a:ext cx="323850" cy="323850"/>
            </a:xfrm>
            <a:prstGeom prst="ellipse">
              <a:avLst/>
            </a:prstGeom>
            <a:solidFill>
              <a:srgbClr val="B5EDC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cxnSp>
          <p:nvCxnSpPr>
            <p:cNvPr id="66" name="AutoShape 17"/>
            <p:cNvCxnSpPr>
              <a:cxnSpLocks noChangeShapeType="1"/>
            </p:cNvCxnSpPr>
            <p:nvPr/>
          </p:nvCxnSpPr>
          <p:spPr bwMode="auto">
            <a:xfrm>
              <a:off x="10841600" y="4048726"/>
              <a:ext cx="381000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67" name="AutoShape 17"/>
            <p:cNvCxnSpPr>
              <a:cxnSpLocks noChangeShapeType="1"/>
            </p:cNvCxnSpPr>
            <p:nvPr/>
          </p:nvCxnSpPr>
          <p:spPr bwMode="auto">
            <a:xfrm flipH="1">
              <a:off x="10458785" y="4048726"/>
              <a:ext cx="381000" cy="7747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70" name="AutoShape 6"/>
            <p:cNvSpPr>
              <a:spLocks noChangeArrowheads="1"/>
            </p:cNvSpPr>
            <p:nvPr/>
          </p:nvSpPr>
          <p:spPr bwMode="auto">
            <a:xfrm rot="10800000">
              <a:off x="8760326" y="4835358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1" name="AutoShape 7"/>
            <p:cNvSpPr>
              <a:spLocks noChangeArrowheads="1"/>
            </p:cNvSpPr>
            <p:nvPr/>
          </p:nvSpPr>
          <p:spPr bwMode="auto">
            <a:xfrm rot="10800000">
              <a:off x="10284326" y="4835358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2" name="AutoShape 6"/>
            <p:cNvSpPr>
              <a:spLocks noChangeArrowheads="1"/>
            </p:cNvSpPr>
            <p:nvPr/>
          </p:nvSpPr>
          <p:spPr bwMode="auto">
            <a:xfrm rot="10800000">
              <a:off x="9500937" y="4840706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3" name="AutoShape 7"/>
            <p:cNvSpPr>
              <a:spLocks noChangeArrowheads="1"/>
            </p:cNvSpPr>
            <p:nvPr/>
          </p:nvSpPr>
          <p:spPr bwMode="auto">
            <a:xfrm rot="10800000">
              <a:off x="11024937" y="4840706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6" name="Rectangle 8"/>
            <p:cNvSpPr>
              <a:spLocks noChangeArrowheads="1"/>
            </p:cNvSpPr>
            <p:nvPr/>
          </p:nvSpPr>
          <p:spPr bwMode="auto">
            <a:xfrm>
              <a:off x="8508988" y="5735998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</a:t>
              </a:r>
            </a:p>
          </p:txBody>
        </p:sp>
        <p:sp>
          <p:nvSpPr>
            <p:cNvPr id="77" name="Rectangle 11"/>
            <p:cNvSpPr>
              <a:spLocks noChangeArrowheads="1"/>
            </p:cNvSpPr>
            <p:nvPr/>
          </p:nvSpPr>
          <p:spPr bwMode="auto">
            <a:xfrm>
              <a:off x="11249541" y="5749361"/>
              <a:ext cx="381000" cy="304800"/>
            </a:xfrm>
            <a:prstGeom prst="rect">
              <a:avLst/>
            </a:prstGeom>
            <a:solidFill>
              <a:srgbClr val="BD92DE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latin typeface="Calibri" pitchFamily="34" charset="0"/>
                </a:rPr>
                <a:t>100</a:t>
              </a:r>
            </a:p>
          </p:txBody>
        </p:sp>
        <p:cxnSp>
          <p:nvCxnSpPr>
            <p:cNvPr id="79" name="AutoShape 17"/>
            <p:cNvCxnSpPr>
              <a:cxnSpLocks noChangeShapeType="1"/>
              <a:stCxn id="70" idx="0"/>
              <a:endCxn id="57" idx="0"/>
            </p:cNvCxnSpPr>
            <p:nvPr/>
          </p:nvCxnSpPr>
          <p:spPr bwMode="auto">
            <a:xfrm>
              <a:off x="8950826" y="5140158"/>
              <a:ext cx="224582" cy="6038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0" name="AutoShape 17"/>
            <p:cNvCxnSpPr>
              <a:cxnSpLocks noChangeShapeType="1"/>
              <a:stCxn id="70" idx="0"/>
              <a:endCxn id="76" idx="0"/>
            </p:cNvCxnSpPr>
            <p:nvPr/>
          </p:nvCxnSpPr>
          <p:spPr bwMode="auto">
            <a:xfrm flipH="1">
              <a:off x="8699488" y="5140158"/>
              <a:ext cx="251338" cy="5958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2" name="AutoShape 17"/>
            <p:cNvCxnSpPr>
              <a:cxnSpLocks noChangeShapeType="1"/>
              <a:stCxn id="72" idx="0"/>
              <a:endCxn id="58" idx="0"/>
            </p:cNvCxnSpPr>
            <p:nvPr/>
          </p:nvCxnSpPr>
          <p:spPr bwMode="auto">
            <a:xfrm>
              <a:off x="9691437" y="5145506"/>
              <a:ext cx="14606" cy="59850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88" name="AutoShape 17"/>
            <p:cNvCxnSpPr>
              <a:cxnSpLocks noChangeShapeType="1"/>
              <a:stCxn id="71" idx="0"/>
              <a:endCxn id="59" idx="0"/>
            </p:cNvCxnSpPr>
            <p:nvPr/>
          </p:nvCxnSpPr>
          <p:spPr bwMode="auto">
            <a:xfrm>
              <a:off x="10474826" y="5140158"/>
              <a:ext cx="10694" cy="6038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1" name="AutoShape 17"/>
            <p:cNvCxnSpPr>
              <a:cxnSpLocks noChangeShapeType="1"/>
            </p:cNvCxnSpPr>
            <p:nvPr/>
          </p:nvCxnSpPr>
          <p:spPr bwMode="auto">
            <a:xfrm>
              <a:off x="11215436" y="5145505"/>
              <a:ext cx="224582" cy="6038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92" name="AutoShape 17"/>
            <p:cNvCxnSpPr>
              <a:cxnSpLocks noChangeShapeType="1"/>
            </p:cNvCxnSpPr>
            <p:nvPr/>
          </p:nvCxnSpPr>
          <p:spPr bwMode="auto">
            <a:xfrm flipH="1">
              <a:off x="10964098" y="5145505"/>
              <a:ext cx="251338" cy="5958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" name="TextBox 16"/>
          <p:cNvSpPr txBox="1"/>
          <p:nvPr/>
        </p:nvSpPr>
        <p:spPr>
          <a:xfrm>
            <a:off x="534737" y="5267157"/>
            <a:ext cx="2890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Minimax</a:t>
            </a:r>
          </a:p>
          <a:p>
            <a:endParaRPr lang="en-US" sz="2400" b="1" i="1" dirty="0">
              <a:solidFill>
                <a:srgbClr val="FF0000"/>
              </a:solidFill>
            </a:endParaRPr>
          </a:p>
          <a:p>
            <a:r>
              <a:rPr lang="en-US" sz="2400" b="1" i="1" dirty="0">
                <a:solidFill>
                  <a:srgbClr val="FF0000"/>
                </a:solidFill>
              </a:rPr>
              <a:t>Worst Case Scenarios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25718" y="5257800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Expectimax</a:t>
            </a:r>
          </a:p>
        </p:txBody>
      </p:sp>
    </p:spTree>
    <p:extLst>
      <p:ext uri="{BB962C8B-B14F-4D97-AF65-F5344CB8AC3E}">
        <p14:creationId xmlns:p14="http://schemas.microsoft.com/office/powerpoint/2010/main" val="25415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4576-3847-E5DB-CA54-8B4AC3E9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A300C2B-0142-2B15-FAEE-3585C1BB5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1532" y="145341"/>
            <a:ext cx="10515600" cy="822459"/>
          </a:xfrm>
        </p:spPr>
        <p:txBody>
          <a:bodyPr/>
          <a:lstStyle/>
          <a:p>
            <a:r>
              <a:rPr lang="en-US" b="1" i="1" dirty="0"/>
              <a:t>Expectimax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8DD9B-50AA-8025-ECC1-E9EBC9C1B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050" y="1105822"/>
            <a:ext cx="10515600" cy="546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410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97029" y="119199"/>
            <a:ext cx="10515600" cy="6140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Expectimax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10A5FC-F796-8016-2386-6D686AC38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85" y="1003943"/>
            <a:ext cx="10631629" cy="48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107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11178396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600" dirty="0"/>
              <a:t>The expected value of a random variable is the average, weighted by the probability distribution over outcomes</a:t>
            </a:r>
          </a:p>
          <a:p>
            <a:pPr lvl="4"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2600" dirty="0"/>
              <a:t>Example: How long to get to the airport?</a:t>
            </a:r>
          </a:p>
          <a:p>
            <a:pPr lvl="1">
              <a:lnSpc>
                <a:spcPct val="90000"/>
              </a:lnSpc>
            </a:pPr>
            <a:endParaRPr lang="en-US" sz="2000" dirty="0"/>
          </a:p>
          <a:p>
            <a:pPr lvl="2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8194"/>
            <a:ext cx="10515600" cy="806094"/>
          </a:xfrm>
        </p:spPr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7824" y="42298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0.25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3824" y="42298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9824" y="42298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0.25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824" y="4229833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Probability: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7824" y="35440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20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3824" y="35440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9824" y="3544033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60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824" y="3544033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Time: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91600" y="3686253"/>
            <a:ext cx="838200" cy="914400"/>
          </a:xfrm>
          <a:prstGeom prst="rightArrow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10800" y="3848833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35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6600" y="391485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2600" y="391485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8600" y="391485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3762453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762453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/>
                <a:cs typeface="Calibri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302332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7322"/>
            <a:ext cx="10515600" cy="823595"/>
          </a:xfrm>
        </p:spPr>
        <p:txBody>
          <a:bodyPr/>
          <a:lstStyle/>
          <a:p>
            <a:r>
              <a:rPr lang="en-US" dirty="0" err="1"/>
              <a:t>Expectimax</a:t>
            </a:r>
            <a:r>
              <a:rPr lang="en-US" dirty="0"/>
              <a:t> </a:t>
            </a:r>
            <a:r>
              <a:rPr lang="en-US" dirty="0" err="1"/>
              <a:t>Pseudocode</a:t>
            </a:r>
            <a:endParaRPr lang="en-US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162800" y="3581400"/>
            <a:ext cx="655320" cy="524256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Calibri"/>
                <a:cs typeface="Calibri"/>
              </a:rPr>
              <a:t>5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8473440" y="3581400"/>
            <a:ext cx="655320" cy="524256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Calibri"/>
                <a:cs typeface="Calibri"/>
              </a:rPr>
              <a:t>7</a:t>
            </a:r>
          </a:p>
        </p:txBody>
      </p:sp>
      <p:cxnSp>
        <p:nvCxnSpPr>
          <p:cNvPr id="8" name="AutoShape 13"/>
          <p:cNvCxnSpPr>
            <a:cxnSpLocks noChangeShapeType="1"/>
            <a:stCxn id="10" idx="4"/>
            <a:endCxn id="11" idx="0"/>
          </p:cNvCxnSpPr>
          <p:nvPr/>
        </p:nvCxnSpPr>
        <p:spPr bwMode="auto">
          <a:xfrm flipH="1">
            <a:off x="7490460" y="2407920"/>
            <a:ext cx="1310640" cy="11734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9" name="AutoShape 14"/>
          <p:cNvCxnSpPr>
            <a:cxnSpLocks noChangeShapeType="1"/>
            <a:stCxn id="10" idx="4"/>
            <a:endCxn id="12" idx="0"/>
          </p:cNvCxnSpPr>
          <p:nvPr/>
        </p:nvCxnSpPr>
        <p:spPr bwMode="auto">
          <a:xfrm>
            <a:off x="8801100" y="2407920"/>
            <a:ext cx="0" cy="11734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0" name="Oval 16"/>
          <p:cNvSpPr>
            <a:spLocks noChangeArrowheads="1"/>
          </p:cNvSpPr>
          <p:nvPr/>
        </p:nvSpPr>
        <p:spPr bwMode="auto">
          <a:xfrm>
            <a:off x="8473440" y="1752600"/>
            <a:ext cx="655320" cy="655320"/>
          </a:xfrm>
          <a:prstGeom prst="ellipse">
            <a:avLst/>
          </a:prstGeom>
          <a:solidFill>
            <a:srgbClr val="B5EDC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400">
              <a:latin typeface="Calibri"/>
              <a:cs typeface="Calibri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162800" y="3581400"/>
            <a:ext cx="655320" cy="524256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Calibri"/>
                <a:cs typeface="Calibri"/>
              </a:rPr>
              <a:t>8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473440" y="3581400"/>
            <a:ext cx="655320" cy="524256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Calibri"/>
                <a:cs typeface="Calibri"/>
              </a:rPr>
              <a:t>24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9784080" y="3581400"/>
            <a:ext cx="655320" cy="524256"/>
          </a:xfrm>
          <a:prstGeom prst="rect">
            <a:avLst/>
          </a:prstGeom>
          <a:solidFill>
            <a:srgbClr val="E8D1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dirty="0">
                <a:latin typeface="Calibri"/>
                <a:cs typeface="Calibri"/>
              </a:rPr>
              <a:t>-12</a:t>
            </a:r>
          </a:p>
        </p:txBody>
      </p:sp>
      <p:cxnSp>
        <p:nvCxnSpPr>
          <p:cNvPr id="14" name="AutoShape 14"/>
          <p:cNvCxnSpPr>
            <a:cxnSpLocks noChangeShapeType="1"/>
            <a:stCxn id="10" idx="4"/>
            <a:endCxn id="13" idx="0"/>
          </p:cNvCxnSpPr>
          <p:nvPr/>
        </p:nvCxnSpPr>
        <p:spPr bwMode="auto">
          <a:xfrm>
            <a:off x="8801100" y="2407920"/>
            <a:ext cx="1310640" cy="117348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19" name="TextBox 18"/>
          <p:cNvSpPr txBox="1"/>
          <p:nvPr/>
        </p:nvSpPr>
        <p:spPr>
          <a:xfrm>
            <a:off x="7543800" y="26670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1/2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956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1/3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26670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1/6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3600" y="4953000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v = (1/2) (8) + (1/3) (24) + (1/6) (-12) = 10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199AE1-45B8-9D87-A103-FCD383596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400175"/>
            <a:ext cx="4945766" cy="270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9" grpId="0"/>
      <p:bldP spid="20" grpId="0"/>
      <p:bldP spid="21" grpId="0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Expectimax Example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752600" y="1539240"/>
            <a:ext cx="8636000" cy="3947160"/>
            <a:chOff x="1219200" y="1992630"/>
            <a:chExt cx="6477000" cy="2960370"/>
          </a:xfrm>
        </p:grpSpPr>
        <p:sp>
          <p:nvSpPr>
            <p:cNvPr id="6149" name="AutoShape 4"/>
            <p:cNvSpPr>
              <a:spLocks noChangeArrowheads="1"/>
            </p:cNvSpPr>
            <p:nvPr/>
          </p:nvSpPr>
          <p:spPr bwMode="auto">
            <a:xfrm>
              <a:off x="4133850" y="1992630"/>
              <a:ext cx="652463" cy="52197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50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6190" name="AutoShape 13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91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6151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6188" name="AutoShape 17"/>
              <p:cNvCxnSpPr>
                <a:cxnSpLocks noChangeShapeType="1"/>
                <a:stCxn id="6182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9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9</a:t>
                </a:r>
              </a:p>
            </p:txBody>
          </p:sp>
        </p:grpSp>
        <p:grpSp>
          <p:nvGrpSpPr>
            <p:cNvPr id="6152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86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7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</p:grpSp>
        <p:grpSp>
          <p:nvGrpSpPr>
            <p:cNvPr id="6153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84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85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</p:grpSp>
        <p:grpSp>
          <p:nvGrpSpPr>
            <p:cNvPr id="6154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5707" cy="1250950"/>
              <a:chOff x="1984375" y="2514601"/>
              <a:chExt cx="2475709" cy="1250949"/>
            </a:xfrm>
          </p:grpSpPr>
          <p:sp>
            <p:nvSpPr>
              <p:cNvPr id="6182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6183" name="AutoShape 7"/>
              <p:cNvCxnSpPr>
                <a:cxnSpLocks noChangeShapeType="1"/>
                <a:stCxn id="6149" idx="3"/>
                <a:endCxn id="6167" idx="0"/>
              </p:cNvCxnSpPr>
              <p:nvPr/>
            </p:nvCxnSpPr>
            <p:spPr bwMode="auto">
              <a:xfrm flipH="1">
                <a:off x="2171700" y="2514601"/>
                <a:ext cx="2288384" cy="8381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cxnSp>
          <p:nvCxnSpPr>
            <p:cNvPr id="6155" name="AutoShape 9"/>
            <p:cNvCxnSpPr>
              <a:cxnSpLocks noChangeShapeType="1"/>
              <a:stCxn id="6182" idx="0"/>
            </p:cNvCxnSpPr>
            <p:nvPr/>
          </p:nvCxnSpPr>
          <p:spPr bwMode="auto">
            <a:xfrm flipH="1">
              <a:off x="1412875" y="3765550"/>
              <a:ext cx="760413" cy="822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sp>
          <p:nvSpPr>
            <p:cNvPr id="6156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rgbClr val="C2C2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615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6"/>
              <a:ext cx="304800" cy="158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6158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1"/>
              <a:ext cx="304800" cy="15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6159" name="Group 59"/>
            <p:cNvGrpSpPr>
              <a:grpSpLocks/>
            </p:cNvGrpSpPr>
            <p:nvPr/>
          </p:nvGrpSpPr>
          <p:grpSpPr bwMode="auto">
            <a:xfrm>
              <a:off x="4270375" y="2514600"/>
              <a:ext cx="381000" cy="1235075"/>
              <a:chOff x="4270375" y="2514601"/>
              <a:chExt cx="381000" cy="1235074"/>
            </a:xfrm>
          </p:grpSpPr>
          <p:sp>
            <p:nvSpPr>
              <p:cNvPr id="6180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6181" name="AutoShape 21"/>
              <p:cNvCxnSpPr>
                <a:cxnSpLocks noChangeShapeType="1"/>
                <a:stCxn id="6149" idx="3"/>
                <a:endCxn id="6165" idx="0"/>
              </p:cNvCxnSpPr>
              <p:nvPr/>
            </p:nvCxnSpPr>
            <p:spPr bwMode="auto">
              <a:xfrm flipH="1">
                <a:off x="4457700" y="2514601"/>
                <a:ext cx="2382" cy="761999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0" name="Group 58"/>
            <p:cNvGrpSpPr>
              <a:grpSpLocks/>
            </p:cNvGrpSpPr>
            <p:nvPr/>
          </p:nvGrpSpPr>
          <p:grpSpPr bwMode="auto">
            <a:xfrm>
              <a:off x="3505200" y="3762375"/>
              <a:ext cx="954088" cy="1190625"/>
              <a:chOff x="3505200" y="3762375"/>
              <a:chExt cx="954088" cy="1190625"/>
            </a:xfrm>
          </p:grpSpPr>
          <p:cxnSp>
            <p:nvCxnSpPr>
              <p:cNvPr id="6177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8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6179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1" name="Group 61"/>
            <p:cNvGrpSpPr>
              <a:grpSpLocks/>
            </p:cNvGrpSpPr>
            <p:nvPr/>
          </p:nvGrpSpPr>
          <p:grpSpPr bwMode="auto">
            <a:xfrm>
              <a:off x="4460082" y="2514600"/>
              <a:ext cx="2477296" cy="1250950"/>
              <a:chOff x="4460079" y="2514600"/>
              <a:chExt cx="2477296" cy="1250950"/>
            </a:xfrm>
          </p:grpSpPr>
          <p:sp>
            <p:nvSpPr>
              <p:cNvPr id="6175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6176" name="AutoShape 27"/>
              <p:cNvCxnSpPr>
                <a:cxnSpLocks noChangeShapeType="1"/>
                <a:stCxn id="6149" idx="3"/>
                <a:endCxn id="6166" idx="0"/>
              </p:cNvCxnSpPr>
              <p:nvPr/>
            </p:nvCxnSpPr>
            <p:spPr bwMode="auto">
              <a:xfrm>
                <a:off x="4460079" y="2514600"/>
                <a:ext cx="2283618" cy="838200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</p:grpSp>
        <p:grpSp>
          <p:nvGrpSpPr>
            <p:cNvPr id="6162" name="Group 60"/>
            <p:cNvGrpSpPr>
              <a:grpSpLocks/>
            </p:cNvGrpSpPr>
            <p:nvPr/>
          </p:nvGrpSpPr>
          <p:grpSpPr bwMode="auto">
            <a:xfrm>
              <a:off x="5791200" y="3762375"/>
              <a:ext cx="954088" cy="1190625"/>
              <a:chOff x="5791200" y="3762375"/>
              <a:chExt cx="954088" cy="1190625"/>
            </a:xfrm>
          </p:grpSpPr>
          <p:cxnSp>
            <p:nvCxnSpPr>
              <p:cNvPr id="6172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3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15</a:t>
                </a:r>
              </a:p>
            </p:txBody>
          </p:sp>
          <p:cxnSp>
            <p:nvCxnSpPr>
              <p:cNvPr id="6174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6163" name="Group 64"/>
            <p:cNvGrpSpPr>
              <a:grpSpLocks/>
            </p:cNvGrpSpPr>
            <p:nvPr/>
          </p:nvGrpSpPr>
          <p:grpSpPr bwMode="auto">
            <a:xfrm>
              <a:off x="4267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6170" name="AutoShape 33"/>
              <p:cNvCxnSpPr>
                <a:cxnSpLocks noChangeShapeType="1"/>
              </p:cNvCxnSpPr>
              <p:nvPr/>
            </p:nvCxnSpPr>
            <p:spPr bwMode="auto">
              <a:xfrm flipH="1">
                <a:off x="6745288" y="3765550"/>
                <a:ext cx="1" cy="818173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71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</p:grpSp>
        <p:grpSp>
          <p:nvGrpSpPr>
            <p:cNvPr id="6164" name="Group 65"/>
            <p:cNvGrpSpPr>
              <a:grpSpLocks/>
            </p:cNvGrpSpPr>
            <p:nvPr/>
          </p:nvGrpSpPr>
          <p:grpSpPr bwMode="auto">
            <a:xfrm>
              <a:off x="4459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6168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lg" len="lg"/>
              </a:ln>
            </p:spPr>
          </p:cxnSp>
          <p:sp>
            <p:nvSpPr>
              <p:cNvPr id="6169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C2C2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</p:grpSp>
        <p:sp>
          <p:nvSpPr>
            <p:cNvPr id="6165" name="Oval 11"/>
            <p:cNvSpPr>
              <a:spLocks noChangeArrowheads="1"/>
            </p:cNvSpPr>
            <p:nvPr/>
          </p:nvSpPr>
          <p:spPr bwMode="auto">
            <a:xfrm>
              <a:off x="4191000" y="32766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Oval 11"/>
            <p:cNvSpPr>
              <a:spLocks noChangeArrowheads="1"/>
            </p:cNvSpPr>
            <p:nvPr/>
          </p:nvSpPr>
          <p:spPr bwMode="auto">
            <a:xfrm>
              <a:off x="6477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7" name="Oval 11"/>
            <p:cNvSpPr>
              <a:spLocks noChangeArrowheads="1"/>
            </p:cNvSpPr>
            <p:nvPr/>
          </p:nvSpPr>
          <p:spPr bwMode="auto">
            <a:xfrm>
              <a:off x="1905000" y="3352800"/>
              <a:ext cx="533400" cy="533400"/>
            </a:xfrm>
            <a:prstGeom prst="ellipse">
              <a:avLst/>
            </a:prstGeom>
            <a:solidFill>
              <a:srgbClr val="B5EDC2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49688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C311-7E1D-F3BA-351B-1CF16919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9429BF3-B5D9-54C0-047D-B1825FC5C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218438"/>
            <a:ext cx="10515600" cy="711201"/>
          </a:xfrm>
        </p:spPr>
        <p:txBody>
          <a:bodyPr/>
          <a:lstStyle/>
          <a:p>
            <a:r>
              <a:rPr lang="en-US" dirty="0"/>
              <a:t>Expectimax Pruning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2775C-CAF2-942C-9880-74BB0FC64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5" y="1273576"/>
            <a:ext cx="6360483" cy="4310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5D69DA-9D6F-F47F-60FD-A7EEC93857B5}"/>
              </a:ext>
            </a:extLst>
          </p:cNvPr>
          <p:cNvSpPr txBox="1"/>
          <p:nvPr/>
        </p:nvSpPr>
        <p:spPr>
          <a:xfrm>
            <a:off x="3046563" y="5928360"/>
            <a:ext cx="6098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Can we Prune ?</a:t>
            </a:r>
          </a:p>
        </p:txBody>
      </p:sp>
    </p:spTree>
    <p:extLst>
      <p:ext uri="{BB962C8B-B14F-4D97-AF65-F5344CB8AC3E}">
        <p14:creationId xmlns:p14="http://schemas.microsoft.com/office/powerpoint/2010/main" val="17438574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3896B-64B0-36C2-C6B8-88AD0BF6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433F986-30D2-486F-B218-C82C6F3CD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924" y="130160"/>
            <a:ext cx="10515600" cy="711201"/>
          </a:xfrm>
        </p:spPr>
        <p:txBody>
          <a:bodyPr/>
          <a:lstStyle/>
          <a:p>
            <a:r>
              <a:rPr lang="en-US" dirty="0"/>
              <a:t>Expectimax Pruning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FFE30B-4EB4-9E4D-D5D5-BEC8B0BC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038" y="915152"/>
            <a:ext cx="4322540" cy="545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043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3039"/>
            <a:ext cx="10515600" cy="796926"/>
          </a:xfrm>
        </p:spPr>
        <p:txBody>
          <a:bodyPr/>
          <a:lstStyle/>
          <a:p>
            <a:r>
              <a:rPr lang="en-US" dirty="0"/>
              <a:t>What Utilities to use?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F95F9-08E9-08F0-12E8-BFF6ABB74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92" y="1094206"/>
            <a:ext cx="9523868" cy="516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73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AC72-59B9-4A9A-0621-6E912B63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4A575FC-0404-75CB-67DD-9C32EB434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03039"/>
            <a:ext cx="10515600" cy="796926"/>
          </a:xfrm>
        </p:spPr>
        <p:txBody>
          <a:bodyPr/>
          <a:lstStyle/>
          <a:p>
            <a:r>
              <a:rPr lang="en-US" dirty="0"/>
              <a:t>What Utilities to use?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0D02D-DAB5-5412-E09C-364666F1B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41" y="1398556"/>
            <a:ext cx="10847268" cy="450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518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937F-062E-4852-780E-3563228F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B5B6-6971-DC16-A206-3DB96EEE4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 err="1"/>
              <a:t>Expectiminimax</a:t>
            </a:r>
            <a:r>
              <a:rPr lang="en-US" sz="5400" dirty="0"/>
              <a:t> self Study</a:t>
            </a:r>
          </a:p>
        </p:txBody>
      </p:sp>
    </p:spTree>
    <p:extLst>
      <p:ext uri="{BB962C8B-B14F-4D97-AF65-F5344CB8AC3E}">
        <p14:creationId xmlns:p14="http://schemas.microsoft.com/office/powerpoint/2010/main" val="8479922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62" y="208772"/>
            <a:ext cx="10515600" cy="63553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901" y="1152763"/>
            <a:ext cx="10515600" cy="486092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Multi-agent problems can require more space or deeper trees to search</a:t>
            </a:r>
          </a:p>
          <a:p>
            <a:r>
              <a:rPr lang="en-US" sz="2800" dirty="0"/>
              <a:t>Games require decisions when optimality is impossible</a:t>
            </a:r>
          </a:p>
          <a:p>
            <a:pPr lvl="1"/>
            <a:r>
              <a:rPr lang="en-US" sz="2400" dirty="0"/>
              <a:t>Bounded-depth search and approximate evaluation functions</a:t>
            </a:r>
          </a:p>
          <a:p>
            <a:r>
              <a:rPr lang="en-US" sz="2800" dirty="0"/>
              <a:t>Games force efficient use of computation</a:t>
            </a:r>
          </a:p>
          <a:p>
            <a:pPr lvl="1"/>
            <a:r>
              <a:rPr lang="en-US" sz="2400" dirty="0"/>
              <a:t>Alpha-beta pruning</a:t>
            </a:r>
          </a:p>
          <a:p>
            <a:r>
              <a:rPr lang="en-US" sz="2800" dirty="0"/>
              <a:t>Game playing has produced important research ideas</a:t>
            </a:r>
          </a:p>
          <a:p>
            <a:pPr lvl="1"/>
            <a:r>
              <a:rPr lang="en-US" sz="2400" dirty="0"/>
              <a:t>Reinforcement learning (checkers)</a:t>
            </a:r>
          </a:p>
          <a:p>
            <a:pPr lvl="1"/>
            <a:r>
              <a:rPr lang="en-US" sz="2400" dirty="0"/>
              <a:t>Iterative deepening (chess)</a:t>
            </a:r>
          </a:p>
          <a:p>
            <a:pPr lvl="1"/>
            <a:r>
              <a:rPr lang="en-US" sz="2400" dirty="0"/>
              <a:t>Rational metareasoning (Othello)</a:t>
            </a:r>
          </a:p>
          <a:p>
            <a:pPr lvl="1"/>
            <a:r>
              <a:rPr lang="en-US" sz="2400" dirty="0"/>
              <a:t>Monte Carlo tree search (Go)</a:t>
            </a:r>
          </a:p>
          <a:p>
            <a:pPr lvl="1"/>
            <a:r>
              <a:rPr lang="en-US" sz="2400" dirty="0"/>
              <a:t>Solution methods for partial-information games in economics (poker)</a:t>
            </a:r>
          </a:p>
          <a:p>
            <a:r>
              <a:rPr lang="en-US" sz="2800" dirty="0"/>
              <a:t>Video games present much greater challenges – lots to do!</a:t>
            </a:r>
          </a:p>
        </p:txBody>
      </p:sp>
    </p:spTree>
    <p:extLst>
      <p:ext uri="{BB962C8B-B14F-4D97-AF65-F5344CB8AC3E}">
        <p14:creationId xmlns:p14="http://schemas.microsoft.com/office/powerpoint/2010/main" val="216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81E118-C4D9-4729-AE90-D4C70A9B302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8322294-433E-46A5-8A07-30937B0B9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15077-4e46-4e3a-99a0-3fd5e4d406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D968C8-B955-4D0A-BC0B-AA41C1BEA4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3989</Words>
  <Application>Microsoft Office PowerPoint</Application>
  <PresentationFormat>Widescreen</PresentationFormat>
  <Paragraphs>859</Paragraphs>
  <Slides>63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PowerPoint Presentation</vt:lpstr>
      <vt:lpstr>PowerPoint Presentation</vt:lpstr>
      <vt:lpstr>Value of a State</vt:lpstr>
      <vt:lpstr>Multi-Agent Applications</vt:lpstr>
      <vt:lpstr>How could we model multi-agent collaborative problems?</vt:lpstr>
      <vt:lpstr>How could we model multi-agent problems?</vt:lpstr>
      <vt:lpstr>Many Single-Agent Trees</vt:lpstr>
      <vt:lpstr>Idea 2: Joint State/Action Spaces</vt:lpstr>
      <vt:lpstr>Idea 2: Joint State/Action Spaces</vt:lpstr>
      <vt:lpstr>Idea 2: Joint State/Action Spaces</vt:lpstr>
      <vt:lpstr>Idea 2: Joint State/Action Spaces</vt:lpstr>
      <vt:lpstr>Idea 3: Alternate Searching One Agent at a Time</vt:lpstr>
      <vt:lpstr>Types of Games</vt:lpstr>
      <vt:lpstr>Standard Games</vt:lpstr>
      <vt:lpstr>Zero-Sum Games</vt:lpstr>
      <vt:lpstr>Tic-Tac-Toe Game Tree</vt:lpstr>
      <vt:lpstr>Tic-Tac-Toe Game Tree</vt:lpstr>
      <vt:lpstr>Tic-Tac-Toe Minimax</vt:lpstr>
      <vt:lpstr>Small Pacman Example</vt:lpstr>
      <vt:lpstr>Minimax Example</vt:lpstr>
      <vt:lpstr>Minimax Implementation</vt:lpstr>
      <vt:lpstr>PowerPoint Presentation</vt:lpstr>
      <vt:lpstr>Minimax is Depth-First Search</vt:lpstr>
      <vt:lpstr>Minimax Efficiency</vt:lpstr>
      <vt:lpstr>Generalized minimax</vt:lpstr>
      <vt:lpstr>Resource Limits</vt:lpstr>
      <vt:lpstr>Evaluation Functions</vt:lpstr>
      <vt:lpstr>Solution 2: Game Tree Pruning</vt:lpstr>
      <vt:lpstr>Intuition: prune the branches that can’t be chosen</vt:lpstr>
      <vt:lpstr>Alpha-Beta Pruning Example</vt:lpstr>
      <vt:lpstr>Alpha-Beta Implementation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Alpha-Beta Small Example</vt:lpstr>
      <vt:lpstr>PowerPoint Presentation</vt:lpstr>
      <vt:lpstr>PowerPoint Presentation</vt:lpstr>
      <vt:lpstr>Optimal ordering</vt:lpstr>
      <vt:lpstr>Games with uncertain outcomes </vt:lpstr>
      <vt:lpstr>Chance outcomes in trees</vt:lpstr>
      <vt:lpstr>Expectimax</vt:lpstr>
      <vt:lpstr>Expectimax</vt:lpstr>
      <vt:lpstr>Expectations</vt:lpstr>
      <vt:lpstr>Expectimax Pseudocode</vt:lpstr>
      <vt:lpstr>Expectimax Example</vt:lpstr>
      <vt:lpstr>Expectimax Pruning</vt:lpstr>
      <vt:lpstr>Expectimax Pruning</vt:lpstr>
      <vt:lpstr>What Utilities to use?</vt:lpstr>
      <vt:lpstr>What Utilities to use?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</dc:title>
  <dc:creator>Rosenthal, Stephanie</dc:creator>
  <cp:lastModifiedBy>Dr. Khurram Jadoon khan Asstt. Professor FCS</cp:lastModifiedBy>
  <cp:revision>132</cp:revision>
  <dcterms:created xsi:type="dcterms:W3CDTF">2019-01-23T20:26:51Z</dcterms:created>
  <dcterms:modified xsi:type="dcterms:W3CDTF">2025-10-08T20:00:52Z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