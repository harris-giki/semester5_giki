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8" r:id="rId2"/>
    <p:sldId id="259" r:id="rId3"/>
    <p:sldId id="260" r:id="rId4"/>
    <p:sldId id="277" r:id="rId5"/>
    <p:sldId id="276" r:id="rId6"/>
    <p:sldId id="263" r:id="rId7"/>
    <p:sldId id="264" r:id="rId8"/>
    <p:sldId id="267" r:id="rId9"/>
    <p:sldId id="268" r:id="rId10"/>
    <p:sldId id="265" r:id="rId11"/>
    <p:sldId id="266" r:id="rId12"/>
    <p:sldId id="269" r:id="rId13"/>
    <p:sldId id="270" r:id="rId14"/>
    <p:sldId id="273" r:id="rId15"/>
    <p:sldId id="345" r:id="rId16"/>
    <p:sldId id="346" r:id="rId17"/>
    <p:sldId id="275" r:id="rId18"/>
    <p:sldId id="287" r:id="rId19"/>
    <p:sldId id="288" r:id="rId20"/>
    <p:sldId id="289" r:id="rId21"/>
    <p:sldId id="292" r:id="rId22"/>
    <p:sldId id="293" r:id="rId23"/>
    <p:sldId id="294" r:id="rId24"/>
    <p:sldId id="29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105"/>
  </p:normalViewPr>
  <p:slideViewPr>
    <p:cSldViewPr snapToGrid="0" snapToObjects="1">
      <p:cViewPr varScale="1">
        <p:scale>
          <a:sx n="66" d="100"/>
          <a:sy n="66" d="100"/>
        </p:scale>
        <p:origin x="122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23B6D20C-6764-44D9-9B7B-98EEF745D19B}"/>
    <pc:docChg chg="delSld">
      <pc:chgData name="Dr. Khurram Jadoon khan Asstt. Professor FCS" userId="684a1a15-bea5-4a17-9b67-1313be309245" providerId="ADAL" clId="{23B6D20C-6764-44D9-9B7B-98EEF745D19B}" dt="2025-10-11T07:14:57.300" v="0" actId="47"/>
      <pc:docMkLst>
        <pc:docMk/>
      </pc:docMkLst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665456407" sldId="296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55071899" sldId="298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592627291" sldId="301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050703629" sldId="302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262069579" sldId="304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643999562" sldId="309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176036232" sldId="310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12383520" sldId="312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563751263" sldId="313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571837481" sldId="314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515464842" sldId="315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644639485" sldId="316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10320236" sldId="317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491505811" sldId="318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249506971" sldId="319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289499736" sldId="320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2130433183" sldId="321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046092084" sldId="322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598369868" sldId="323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711548436" sldId="324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517869933" sldId="325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244649890" sldId="326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722141658" sldId="327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750133770" sldId="328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422165876" sldId="329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30439109" sldId="330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010659150" sldId="331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433336431" sldId="332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70971150" sldId="333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958693965" sldId="334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868062963" sldId="335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573424330" sldId="336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604996999" sldId="337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399556779" sldId="338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2034242313" sldId="339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570894351" sldId="340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857401039" sldId="341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723991103" sldId="342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695680011" sldId="343"/>
        </pc:sldMkLst>
      </pc:sldChg>
      <pc:sldChg chg="del">
        <pc:chgData name="Dr. Khurram Jadoon khan Asstt. Professor FCS" userId="684a1a15-bea5-4a17-9b67-1313be309245" providerId="ADAL" clId="{23B6D20C-6764-44D9-9B7B-98EEF745D19B}" dt="2025-10-11T07:14:57.300" v="0" actId="47"/>
        <pc:sldMkLst>
          <pc:docMk/>
          <pc:sldMk cId="1205419110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51213-782B-6740-9159-A15F1071FA5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73B70-394B-D341-8F66-A712FCAEE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0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75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test has structure, it ‘s more like a manual describing a</a:t>
            </a:r>
            <a:r>
              <a:rPr lang="en-US" baseline="0" dirty="0"/>
              <a:t> set of constraints that have to hold true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20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charset="0"/>
              </a:rPr>
              <a:t>0=7, R=4, W=6, U=2, T=8, F=1; 867 + 867 = 1734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D9CA2C-7D38-4F9B-A2C1-D1432DE939B2}" type="slidenum">
              <a:rPr lang="en-US" smtClean="0">
                <a:latin typeface="Arial" charset="0"/>
              </a:rPr>
              <a:pPr>
                <a:defRPr/>
              </a:pPr>
              <a:t>12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41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73B70-394B-D341-8F66-A712FCAEE1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32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0E8BA-344F-E7C3-515E-862D02C1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BEBDF-79A6-72BF-A205-101CCC5B2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2DEF2-FE4B-64F7-AFA7-ACB334D0D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CC5D8-8961-ECA0-3A25-67F6FFB6F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73B70-394B-D341-8F66-A712FCAEE1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79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7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99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61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44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5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6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2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0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4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0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2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3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0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D9230-0FD9-D24F-9958-2CDCC51990C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8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wmf"/><Relationship Id="rId12" Type="http://schemas.openxmlformats.org/officeDocument/2006/relationships/image" Target="../media/image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6.png"/><Relationship Id="rId5" Type="http://schemas.openxmlformats.org/officeDocument/2006/relationships/tags" Target="../tags/tag5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8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tags" Target="../tags/tag10.xml"/><Relationship Id="rId10" Type="http://schemas.openxmlformats.org/officeDocument/2006/relationships/image" Target="../media/image12.png"/><Relationship Id="rId4" Type="http://schemas.openxmlformats.org/officeDocument/2006/relationships/tags" Target="../tags/tag9.xml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9.png"/><Relationship Id="rId18" Type="http://schemas.openxmlformats.org/officeDocument/2006/relationships/image" Target="../media/image22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" Type="http://schemas.openxmlformats.org/officeDocument/2006/relationships/tags" Target="../tags/tag12.xml"/><Relationship Id="rId16" Type="http://schemas.openxmlformats.org/officeDocument/2006/relationships/image" Target="../media/image20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16.png"/><Relationship Id="rId5" Type="http://schemas.openxmlformats.org/officeDocument/2006/relationships/tags" Target="../tags/tag15.xml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8.png"/><Relationship Id="rId3" Type="http://schemas.openxmlformats.org/officeDocument/2006/relationships/tags" Target="../tags/tag21.xml"/><Relationship Id="rId7" Type="http://schemas.openxmlformats.org/officeDocument/2006/relationships/notesSlide" Target="../notesSlides/notesSlide5.xml"/><Relationship Id="rId12" Type="http://schemas.openxmlformats.org/officeDocument/2006/relationships/image" Target="../media/image27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tags" Target="../tags/tag23.xml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tags" Target="../tags/tag22.xml"/><Relationship Id="rId9" Type="http://schemas.openxmlformats.org/officeDocument/2006/relationships/image" Target="../media/image24.wmf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2778369" y="2667000"/>
            <a:ext cx="5908431" cy="1524000"/>
          </a:xfrm>
        </p:spPr>
        <p:txBody>
          <a:bodyPr/>
          <a:lstStyle/>
          <a:p>
            <a:pPr eaLnBrk="1" hangingPunct="1"/>
            <a:r>
              <a:rPr lang="en-US" sz="4267" dirty="0"/>
              <a:t>Constraint Satisfaction Problems (CSPs)</a:t>
            </a:r>
          </a:p>
        </p:txBody>
      </p:sp>
    </p:spTree>
    <p:extLst>
      <p:ext uri="{BB962C8B-B14F-4D97-AF65-F5344CB8AC3E}">
        <p14:creationId xmlns:p14="http://schemas.microsoft.com/office/powerpoint/2010/main" val="89236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CSP Warm-up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514600"/>
            <a:ext cx="2628900" cy="2549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7696200" y="2057400"/>
            <a:ext cx="3200400" cy="3074850"/>
            <a:chOff x="6248400" y="1443036"/>
            <a:chExt cx="4648200" cy="4348164"/>
          </a:xfrm>
        </p:grpSpPr>
        <p:sp>
          <p:nvSpPr>
            <p:cNvPr id="2" name="Rectangle 1"/>
            <p:cNvSpPr/>
            <p:nvPr/>
          </p:nvSpPr>
          <p:spPr>
            <a:xfrm>
              <a:off x="6248400" y="1443037"/>
              <a:ext cx="4648200" cy="434816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/>
            <p:cNvCxnSpPr>
              <a:stCxn id="2" idx="0"/>
              <a:endCxn id="2" idx="2"/>
            </p:cNvCxnSpPr>
            <p:nvPr/>
          </p:nvCxnSpPr>
          <p:spPr>
            <a:xfrm>
              <a:off x="8572500" y="1443037"/>
              <a:ext cx="0" cy="434816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2" idx="1"/>
            </p:cNvCxnSpPr>
            <p:nvPr/>
          </p:nvCxnSpPr>
          <p:spPr>
            <a:xfrm flipV="1">
              <a:off x="6248400" y="3617118"/>
              <a:ext cx="4648200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7467600" y="1443037"/>
              <a:ext cx="0" cy="43481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9753600" y="1443036"/>
              <a:ext cx="0" cy="43481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6248400" y="4724400"/>
              <a:ext cx="4648200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248400" y="2514600"/>
              <a:ext cx="4648200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7696200" y="2527322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53200" y="1600200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39201" y="3651269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82200" y="4728817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4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39201" y="2527322"/>
              <a:ext cx="685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1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57200" y="1374812"/>
            <a:ext cx="510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</a:rPr>
              <a:t>Assign Red, Green, or Blue</a:t>
            </a:r>
          </a:p>
          <a:p>
            <a:pPr algn="ctr"/>
            <a:r>
              <a:rPr lang="en-US" sz="3200" dirty="0">
                <a:latin typeface="Calibri" panose="020F0502020204030204" pitchFamily="34" charset="0"/>
              </a:rPr>
              <a:t>Neighbors must be different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0" y="1371600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 panose="020F0502020204030204" pitchFamily="34" charset="0"/>
              </a:rPr>
              <a:t>Sudoku</a:t>
            </a:r>
          </a:p>
        </p:txBody>
      </p:sp>
    </p:spTree>
    <p:extLst>
      <p:ext uri="{BB962C8B-B14F-4D97-AF65-F5344CB8AC3E}">
        <p14:creationId xmlns:p14="http://schemas.microsoft.com/office/powerpoint/2010/main" val="701438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838200" y="237586"/>
            <a:ext cx="10515600" cy="65478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What is Search For?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06400" y="1222093"/>
            <a:ext cx="11379200" cy="4729164"/>
          </a:xfrm>
        </p:spPr>
        <p:txBody>
          <a:bodyPr/>
          <a:lstStyle/>
          <a:p>
            <a:pPr lvl="1"/>
            <a:endParaRPr lang="en-US" sz="2000" dirty="0"/>
          </a:p>
          <a:p>
            <a:pPr eaLnBrk="1" hangingPunct="1"/>
            <a:r>
              <a:rPr lang="en-US" sz="3200" dirty="0"/>
              <a:t>Planning: sequences of actions</a:t>
            </a:r>
          </a:p>
          <a:p>
            <a:pPr lvl="1" eaLnBrk="1" hangingPunct="1"/>
            <a:r>
              <a:rPr lang="en-US" sz="2800" dirty="0"/>
              <a:t>The path to the goal is the important thing</a:t>
            </a:r>
          </a:p>
          <a:p>
            <a:pPr lvl="1" eaLnBrk="1" hangingPunct="1"/>
            <a:r>
              <a:rPr lang="en-US" sz="2800" dirty="0"/>
              <a:t>Paths have various costs, depths</a:t>
            </a:r>
          </a:p>
          <a:p>
            <a:pPr lvl="1" eaLnBrk="1" hangingPunct="1"/>
            <a:r>
              <a:rPr lang="en-US" sz="2800" dirty="0"/>
              <a:t>Heuristics give problem-specific guidance</a:t>
            </a:r>
          </a:p>
          <a:p>
            <a:pPr lvl="1" eaLnBrk="1" hangingPunct="1"/>
            <a:endParaRPr lang="en-US" sz="2800" dirty="0"/>
          </a:p>
          <a:p>
            <a:pPr eaLnBrk="1" hangingPunct="1"/>
            <a:r>
              <a:rPr lang="en-US" sz="3200" dirty="0"/>
              <a:t>Identification: assignments to variables</a:t>
            </a:r>
          </a:p>
          <a:p>
            <a:pPr lvl="1" eaLnBrk="1" hangingPunct="1"/>
            <a:r>
              <a:rPr lang="en-US" sz="2800" dirty="0"/>
              <a:t>The goal itself is important, not the path</a:t>
            </a:r>
          </a:p>
          <a:p>
            <a:pPr lvl="1" eaLnBrk="1" hangingPunct="1"/>
            <a:r>
              <a:rPr lang="en-US" sz="2800" dirty="0"/>
              <a:t>All paths at the same depth (for some formulations)</a:t>
            </a:r>
          </a:p>
          <a:p>
            <a:pPr lvl="1" eaLnBrk="1" hangingPunct="1"/>
            <a:r>
              <a:rPr lang="en-US" sz="2800" dirty="0"/>
              <a:t>CSPs are specialized for identification problems</a:t>
            </a:r>
          </a:p>
        </p:txBody>
      </p:sp>
    </p:spTree>
    <p:extLst>
      <p:ext uri="{BB962C8B-B14F-4D97-AF65-F5344CB8AC3E}">
        <p14:creationId xmlns:p14="http://schemas.microsoft.com/office/powerpoint/2010/main" val="17526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657"/>
            <a:ext cx="10515600" cy="54043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Constraint Satisfaction Problems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70B22E4-9A0C-ED4F-E56C-8BA3B24237E0}"/>
              </a:ext>
            </a:extLst>
          </p:cNvPr>
          <p:cNvSpPr txBox="1"/>
          <p:nvPr/>
        </p:nvSpPr>
        <p:spPr>
          <a:xfrm>
            <a:off x="228600" y="1011719"/>
            <a:ext cx="11734800" cy="551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</a:pP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3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800" dirty="0">
              <a:latin typeface="Calibri"/>
              <a:cs typeface="Calibri"/>
            </a:endParaRPr>
          </a:p>
          <a:p>
            <a:pPr marL="755650" lvl="1" indent="-285750">
              <a:lnSpc>
                <a:spcPts val="223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800" b="1" i="1" dirty="0">
                <a:solidFill>
                  <a:srgbClr val="CC0000"/>
                </a:solidFill>
                <a:latin typeface="Times New Roman"/>
                <a:cs typeface="Times New Roman"/>
              </a:rPr>
              <a:t>Variables </a:t>
            </a:r>
            <a:r>
              <a:rPr lang="en-US" sz="2400" dirty="0"/>
              <a:t>- CSPs possess a set of N variables X</a:t>
            </a:r>
            <a:r>
              <a:rPr lang="en-US" sz="2400" baseline="-25000" dirty="0"/>
              <a:t>1</a:t>
            </a:r>
            <a:r>
              <a:rPr lang="en-US" sz="2400" dirty="0"/>
              <a:t>,...,X</a:t>
            </a:r>
            <a:r>
              <a:rPr lang="en-US" sz="2400" baseline="-25000" dirty="0"/>
              <a:t>N</a:t>
            </a:r>
            <a:r>
              <a:rPr lang="en-US" sz="2400" dirty="0"/>
              <a:t> that can each take on a single value from some defined set of values.</a:t>
            </a:r>
          </a:p>
          <a:p>
            <a:pPr marL="755650" lvl="1" indent="-285750">
              <a:lnSpc>
                <a:spcPts val="223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755650" marR="102870" lvl="1" indent="-285750">
              <a:spcBef>
                <a:spcPts val="34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800" b="1" i="1" dirty="0">
                <a:solidFill>
                  <a:srgbClr val="CC0000"/>
                </a:solidFill>
                <a:latin typeface="Times New Roman"/>
                <a:cs typeface="Times New Roman"/>
              </a:rPr>
              <a:t>Domain</a:t>
            </a:r>
            <a:r>
              <a:rPr lang="en-US" sz="2400" dirty="0"/>
              <a:t> - A set {x</a:t>
            </a:r>
            <a:r>
              <a:rPr lang="en-US" sz="2400" baseline="-25000" dirty="0"/>
              <a:t>1</a:t>
            </a:r>
            <a:r>
              <a:rPr lang="en-US" sz="2400" dirty="0"/>
              <a:t>,..., </a:t>
            </a:r>
            <a:r>
              <a:rPr lang="en-US" sz="2400" dirty="0" err="1"/>
              <a:t>x</a:t>
            </a:r>
            <a:r>
              <a:rPr lang="en-US" sz="2400" baseline="-25000" dirty="0" err="1"/>
              <a:t>d</a:t>
            </a:r>
            <a:r>
              <a:rPr lang="en-US" sz="2400" dirty="0"/>
              <a:t>} representing all possible values that a CSP variable can take on.</a:t>
            </a:r>
          </a:p>
          <a:p>
            <a:pPr marL="755650" marR="102870" lvl="1" indent="-285750">
              <a:spcBef>
                <a:spcPts val="34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endParaRPr lang="en-US" sz="2400" dirty="0"/>
          </a:p>
          <a:p>
            <a:pPr marL="755650" lvl="1" indent="-285750"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800" b="1" i="1" dirty="0">
                <a:solidFill>
                  <a:srgbClr val="CC0000"/>
                </a:solidFill>
                <a:latin typeface="Times New Roman"/>
                <a:cs typeface="Times New Roman"/>
              </a:rPr>
              <a:t>Constraints </a:t>
            </a:r>
            <a:r>
              <a:rPr lang="en-US" sz="2400" dirty="0"/>
              <a:t>define restrictions on the values of variables, potentially with regard to other variables. </a:t>
            </a:r>
          </a:p>
          <a:p>
            <a:pPr marL="755650" lvl="1" indent="-285750"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400" dirty="0"/>
              <a:t>or</a:t>
            </a:r>
          </a:p>
          <a:p>
            <a:pPr marL="469900" lvl="1">
              <a:tabLst>
                <a:tab pos="755015" algn="l"/>
                <a:tab pos="755650" algn="l"/>
              </a:tabLst>
            </a:pPr>
            <a:r>
              <a:rPr lang="en-US" sz="2400" dirty="0"/>
              <a:t>	A goal test is a </a:t>
            </a:r>
            <a:r>
              <a:rPr lang="en-US" sz="2400" dirty="0">
                <a:solidFill>
                  <a:srgbClr val="FF0000"/>
                </a:solidFill>
              </a:rPr>
              <a:t>set of constraints </a:t>
            </a:r>
            <a:r>
              <a:rPr lang="en-US" sz="2400" dirty="0"/>
              <a:t>specifying allowable combinations of  values for subsets of variables</a:t>
            </a:r>
          </a:p>
          <a:p>
            <a:pPr marL="755650" marR="102870" lvl="1" indent="-285750">
              <a:spcBef>
                <a:spcPts val="34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Malgun Gothic"/>
              <a:buChar char="▪"/>
            </a:pPr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325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1661" y="28803"/>
            <a:ext cx="10515600" cy="652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Real-World CSPs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39969" y="740965"/>
            <a:ext cx="10515600" cy="537606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Assignment problems: e.g., who teaches what class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Timetabling problems: e.g., which class is offered when and where?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Hardware configuration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Transportation scheduling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Factory scheduling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Circuit layout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Fault diagnosis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… lots more!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Many real-world problems involve real-valued variables…</a:t>
            </a:r>
          </a:p>
        </p:txBody>
      </p:sp>
    </p:spTree>
    <p:extLst>
      <p:ext uri="{BB962C8B-B14F-4D97-AF65-F5344CB8AC3E}">
        <p14:creationId xmlns:p14="http://schemas.microsoft.com/office/powerpoint/2010/main" val="1325307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21677" y="188424"/>
            <a:ext cx="10515600" cy="68995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CSP Examples</a:t>
            </a: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 cstate="print"/>
          <a:srcRect l="1140" t="1105"/>
          <a:stretch>
            <a:fillRect/>
          </a:stretch>
        </p:blipFill>
        <p:spPr bwMode="auto">
          <a:xfrm>
            <a:off x="2702170" y="932658"/>
            <a:ext cx="6529754" cy="5415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1546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92" y="118462"/>
            <a:ext cx="10515600" cy="957304"/>
          </a:xfrm>
        </p:spPr>
        <p:txBody>
          <a:bodyPr/>
          <a:lstStyle/>
          <a:p>
            <a:pPr eaLnBrk="1" hangingPunct="1"/>
            <a:r>
              <a:rPr lang="en-US" dirty="0"/>
              <a:t>Example: Map Coloring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6705600" cy="4724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Variables: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Domains: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Constraints: adjacent regions must have different colors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Solutions are assignments satisfying all constraints, e.g.: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7" cstate="print"/>
          <a:srcRect l="1140" t="1105"/>
          <a:stretch>
            <a:fillRect/>
          </a:stretch>
        </p:blipFill>
        <p:spPr bwMode="auto">
          <a:xfrm>
            <a:off x="8408893" y="1228165"/>
            <a:ext cx="3021107" cy="2505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2202609" y="1417801"/>
            <a:ext cx="4281583" cy="258601"/>
          </a:xfrm>
          <a:prstGeom prst="rect">
            <a:avLst/>
          </a:prstGeom>
          <a:noFill/>
          <a:ln/>
          <a:effectLst/>
        </p:spPr>
      </p:pic>
      <p:pic>
        <p:nvPicPr>
          <p:cNvPr id="14" name="Picture 1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2234281" y="2141729"/>
            <a:ext cx="3023521" cy="296673"/>
          </a:xfrm>
          <a:prstGeom prst="rect">
            <a:avLst/>
          </a:prstGeom>
          <a:noFill/>
          <a:ln/>
          <a:effectLst/>
        </p:spPr>
      </p:pic>
      <p:pic>
        <p:nvPicPr>
          <p:cNvPr id="22" name="Picture 2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1331725" y="5695209"/>
            <a:ext cx="5983475" cy="629393"/>
          </a:xfrm>
          <a:prstGeom prst="rect">
            <a:avLst/>
          </a:prstGeom>
          <a:noFill/>
          <a:ln/>
          <a:effectLst/>
        </p:spPr>
      </p:pic>
      <p:pic>
        <p:nvPicPr>
          <p:cNvPr id="15" name="Picture 14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2380322" y="3675531"/>
            <a:ext cx="1201079" cy="223965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2358455" y="4217897"/>
            <a:ext cx="4759520" cy="259431"/>
          </a:xfrm>
          <a:prstGeom prst="rect">
            <a:avLst/>
          </a:prstGeom>
          <a:noFill/>
          <a:ln/>
          <a:effectLst/>
        </p:spPr>
      </p:pic>
      <p:sp>
        <p:nvSpPr>
          <p:cNvPr id="17" name="TextBox 19"/>
          <p:cNvSpPr txBox="1">
            <a:spLocks noChangeArrowheads="1"/>
          </p:cNvSpPr>
          <p:nvPr/>
        </p:nvSpPr>
        <p:spPr bwMode="auto">
          <a:xfrm>
            <a:off x="1219200" y="3562293"/>
            <a:ext cx="1905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Implicit:</a:t>
            </a:r>
          </a:p>
        </p:txBody>
      </p:sp>
      <p:sp>
        <p:nvSpPr>
          <p:cNvPr id="18" name="TextBox 20"/>
          <p:cNvSpPr txBox="1">
            <a:spLocks noChangeArrowheads="1"/>
          </p:cNvSpPr>
          <p:nvPr/>
        </p:nvSpPr>
        <p:spPr bwMode="auto">
          <a:xfrm>
            <a:off x="1219200" y="4114801"/>
            <a:ext cx="13716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Explicit:</a:t>
            </a:r>
          </a:p>
        </p:txBody>
      </p:sp>
    </p:spTree>
    <p:extLst>
      <p:ext uri="{BB962C8B-B14F-4D97-AF65-F5344CB8AC3E}">
        <p14:creationId xmlns:p14="http://schemas.microsoft.com/office/powerpoint/2010/main" val="93709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Constraint Graphs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1" y="1600200"/>
            <a:ext cx="4802809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9676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90637"/>
            <a:ext cx="10515600" cy="813044"/>
          </a:xfrm>
        </p:spPr>
        <p:txBody>
          <a:bodyPr/>
          <a:lstStyle/>
          <a:p>
            <a:pPr eaLnBrk="1" hangingPunct="1"/>
            <a:r>
              <a:rPr lang="en-US" dirty="0"/>
              <a:t>Constraint Graphs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7010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Binary CSP: each constraint relates (at most) two variables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Binary constraint graph: nodes are variables, arcs show constraints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General-purpose CSP algorithms use the graph structure to speed up search. E.g., Tasmania is an independent </a:t>
            </a:r>
            <a:r>
              <a:rPr lang="en-US" sz="2400" dirty="0" err="1"/>
              <a:t>subproblem</a:t>
            </a:r>
            <a:r>
              <a:rPr lang="en-US" sz="2400" dirty="0"/>
              <a:t>!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8600" y="1600201"/>
            <a:ext cx="3327400" cy="290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89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3672" y="1139449"/>
            <a:ext cx="10515600" cy="6588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Example: N-Queens</a:t>
            </a:r>
          </a:p>
        </p:txBody>
      </p:sp>
      <p:sp>
        <p:nvSpPr>
          <p:cNvPr id="902147" name="Rectangle 3"/>
          <p:cNvSpPr>
            <a:spLocks noGrp="1" noChangeArrowheads="1"/>
          </p:cNvSpPr>
          <p:nvPr>
            <p:ph idx="1"/>
          </p:nvPr>
        </p:nvSpPr>
        <p:spPr>
          <a:xfrm>
            <a:off x="926734" y="2457833"/>
            <a:ext cx="10515600" cy="4351338"/>
          </a:xfrm>
        </p:spPr>
        <p:txBody>
          <a:bodyPr/>
          <a:lstStyle/>
          <a:p>
            <a:pPr eaLnBrk="1" hangingPunct="1"/>
            <a:r>
              <a:rPr lang="en-US" dirty="0"/>
              <a:t>Formulation 1:</a:t>
            </a:r>
          </a:p>
          <a:p>
            <a:pPr lvl="1" eaLnBrk="1" hangingPunct="1"/>
            <a:r>
              <a:rPr lang="en-US" dirty="0"/>
              <a:t>Variables:</a:t>
            </a:r>
          </a:p>
          <a:p>
            <a:pPr lvl="1" eaLnBrk="1" hangingPunct="1"/>
            <a:r>
              <a:rPr lang="en-US" dirty="0"/>
              <a:t>Domains:</a:t>
            </a:r>
          </a:p>
          <a:p>
            <a:pPr lvl="1" eaLnBrk="1" hangingPunct="1"/>
            <a:r>
              <a:rPr lang="en-US" dirty="0"/>
              <a:t>Constraints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7" cstate="print"/>
          <a:srcRect l="75101" b="14342"/>
          <a:stretch>
            <a:fillRect/>
          </a:stretch>
        </p:blipFill>
        <p:spPr bwMode="auto">
          <a:xfrm>
            <a:off x="5346334" y="2156208"/>
            <a:ext cx="204628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3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11774" y="3386587"/>
            <a:ext cx="85407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4" name="Picture 1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32569" y="2993402"/>
            <a:ext cx="490537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7" name="Picture 1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861122" y="6104320"/>
            <a:ext cx="1763712" cy="70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1449023" y="4764765"/>
            <a:ext cx="6148585" cy="363244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1449022" y="5204210"/>
            <a:ext cx="7002160" cy="1264239"/>
          </a:xfrm>
          <a:prstGeom prst="rect">
            <a:avLst/>
          </a:prstGeom>
          <a:noFill/>
          <a:ln/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847B6E-5373-F8DB-7FF7-559BCF1D56FB}"/>
              </a:ext>
            </a:extLst>
          </p:cNvPr>
          <p:cNvSpPr txBox="1"/>
          <p:nvPr/>
        </p:nvSpPr>
        <p:spPr>
          <a:xfrm>
            <a:off x="621934" y="237787"/>
            <a:ext cx="90516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Varieties of CSPs and Constraints</a:t>
            </a:r>
          </a:p>
        </p:txBody>
      </p:sp>
    </p:spTree>
    <p:extLst>
      <p:ext uri="{BB962C8B-B14F-4D97-AF65-F5344CB8AC3E}">
        <p14:creationId xmlns:p14="http://schemas.microsoft.com/office/powerpoint/2010/main" val="5323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24205" y="65090"/>
            <a:ext cx="10515600" cy="735010"/>
          </a:xfrm>
        </p:spPr>
        <p:txBody>
          <a:bodyPr/>
          <a:lstStyle/>
          <a:p>
            <a:pPr eaLnBrk="1" hangingPunct="1"/>
            <a:r>
              <a:rPr lang="en-US" dirty="0"/>
              <a:t>Example: N-Queens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17637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Formulation 2:</a:t>
            </a:r>
          </a:p>
          <a:p>
            <a:pPr lvl="1" eaLnBrk="1" hangingPunct="1"/>
            <a:r>
              <a:rPr lang="en-US" dirty="0"/>
              <a:t>Variables:</a:t>
            </a:r>
          </a:p>
          <a:p>
            <a:pPr lvl="4"/>
            <a:endParaRPr lang="en-US" dirty="0"/>
          </a:p>
          <a:p>
            <a:pPr lvl="1" eaLnBrk="1" hangingPunct="1"/>
            <a:r>
              <a:rPr lang="en-US" dirty="0"/>
              <a:t>Domains:</a:t>
            </a:r>
          </a:p>
          <a:p>
            <a:pPr lvl="4"/>
            <a:endParaRPr lang="en-US" dirty="0"/>
          </a:p>
          <a:p>
            <a:pPr lvl="1" eaLnBrk="1" hangingPunct="1"/>
            <a:r>
              <a:rPr lang="en-US" dirty="0"/>
              <a:t>Constraints:</a:t>
            </a:r>
          </a:p>
        </p:txBody>
      </p:sp>
      <p:pic>
        <p:nvPicPr>
          <p:cNvPr id="922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29656" y="1955830"/>
            <a:ext cx="395288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276600" y="5410202"/>
            <a:ext cx="43942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9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329656" y="2640042"/>
            <a:ext cx="1970087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4" name="Picture 22"/>
          <p:cNvPicPr>
            <a:picLocks noChangeAspect="1" noChangeArrowheads="1"/>
          </p:cNvPicPr>
          <p:nvPr/>
        </p:nvPicPr>
        <p:blipFill>
          <a:blip r:embed="rId13" cstate="print"/>
          <a:srcRect l="75101" b="14342"/>
          <a:stretch>
            <a:fillRect/>
          </a:stretch>
        </p:blipFill>
        <p:spPr bwMode="auto">
          <a:xfrm>
            <a:off x="8389937" y="1600200"/>
            <a:ext cx="204628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5" name="Picture 1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932737" y="1752602"/>
            <a:ext cx="395288" cy="3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6" name="Picture 13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924801" y="2209802"/>
            <a:ext cx="411163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15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932739" y="2667002"/>
            <a:ext cx="411163" cy="3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17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932739" y="3128964"/>
            <a:ext cx="411163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0" name="TextBox 20"/>
          <p:cNvSpPr txBox="1">
            <a:spLocks noChangeArrowheads="1"/>
          </p:cNvSpPr>
          <p:nvPr/>
        </p:nvSpPr>
        <p:spPr bwMode="auto">
          <a:xfrm>
            <a:off x="1752600" y="5345114"/>
            <a:ext cx="1371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dirty="0">
                <a:latin typeface="Calibri" pitchFamily="34" charset="0"/>
              </a:rPr>
              <a:t>Explicit:</a:t>
            </a:r>
          </a:p>
        </p:txBody>
      </p:sp>
      <p:pic>
        <p:nvPicPr>
          <p:cNvPr id="23" name="Picture 22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327400" y="6019800"/>
            <a:ext cx="558800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771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21679" y="243967"/>
            <a:ext cx="10515600" cy="703262"/>
          </a:xfrm>
        </p:spPr>
        <p:txBody>
          <a:bodyPr/>
          <a:lstStyle/>
          <a:p>
            <a:pPr eaLnBrk="1" hangingPunct="1"/>
            <a:r>
              <a:rPr lang="en-US" dirty="0"/>
              <a:t>Example: Cryptarithmetic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4876800" cy="4525963"/>
          </a:xfrm>
        </p:spPr>
        <p:txBody>
          <a:bodyPr/>
          <a:lstStyle/>
          <a:p>
            <a:pPr eaLnBrk="1" hangingPunct="1"/>
            <a:r>
              <a:rPr lang="en-US" sz="2800" dirty="0"/>
              <a:t>Variables: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Domains: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Constraints:</a:t>
            </a:r>
          </a:p>
          <a:p>
            <a:pPr eaLnBrk="1" hangingPunct="1"/>
            <a:endParaRPr lang="en-US" sz="2800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8" cstate="print"/>
          <a:srcRect l="1343" t="1076"/>
          <a:stretch>
            <a:fillRect/>
          </a:stretch>
        </p:blipFill>
        <p:spPr bwMode="auto">
          <a:xfrm>
            <a:off x="6598024" y="3684495"/>
            <a:ext cx="3993776" cy="2473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9" cstate="print"/>
          <a:srcRect l="2014" t="2845"/>
          <a:stretch>
            <a:fillRect/>
          </a:stretch>
        </p:blipFill>
        <p:spPr bwMode="auto">
          <a:xfrm>
            <a:off x="6069106" y="1864661"/>
            <a:ext cx="1703295" cy="122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66800" y="2281237"/>
            <a:ext cx="41148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001715" y="3238502"/>
            <a:ext cx="372268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8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28702" y="5021264"/>
            <a:ext cx="33147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1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66800" y="5715000"/>
            <a:ext cx="547688" cy="7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0" name="Picture 12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17590" y="4344990"/>
            <a:ext cx="3478212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8200" y="1359186"/>
            <a:ext cx="3378200" cy="205763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0AF2C4-24A2-3362-2A43-B47B883E2222}"/>
              </a:ext>
            </a:extLst>
          </p:cNvPr>
          <p:cNvSpPr txBox="1"/>
          <p:nvPr/>
        </p:nvSpPr>
        <p:spPr>
          <a:xfrm>
            <a:off x="1641148" y="6370917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charset="0"/>
              </a:rPr>
              <a:t>0=7, R=4, W=6, U=2, T=8, F=1; 867 + 867 = 1734</a:t>
            </a:r>
          </a:p>
        </p:txBody>
      </p:sp>
    </p:spTree>
    <p:extLst>
      <p:ext uri="{BB962C8B-B14F-4D97-AF65-F5344CB8AC3E}">
        <p14:creationId xmlns:p14="http://schemas.microsoft.com/office/powerpoint/2010/main" val="868482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Sudoku</a:t>
            </a:r>
          </a:p>
        </p:txBody>
      </p:sp>
      <p:pic>
        <p:nvPicPr>
          <p:cNvPr id="12291" name="Picture 2" descr="C:\Documents and Settings\Administrator\My Documents\My Pictures\Sudoku_Board_Fig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2702" y="2227859"/>
            <a:ext cx="40513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477000" y="1524000"/>
            <a:ext cx="4114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/>
          <a:lstStyle/>
          <a:p>
            <a:pPr marL="342882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Variables:</a:t>
            </a:r>
          </a:p>
          <a:p>
            <a:pPr marL="800060" lvl="1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Each (open) square</a:t>
            </a:r>
          </a:p>
          <a:p>
            <a:pPr marL="342882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Domains:</a:t>
            </a:r>
          </a:p>
          <a:p>
            <a:pPr marL="800060" lvl="1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{1,2,…,9}</a:t>
            </a:r>
          </a:p>
          <a:p>
            <a:pPr marL="342882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kern="0" dirty="0">
                <a:solidFill>
                  <a:schemeClr val="accent2"/>
                </a:solidFill>
                <a:latin typeface="Calibri" pitchFamily="34" charset="0"/>
                <a:cs typeface="+mn-cs"/>
              </a:rPr>
              <a:t>Constraints:</a:t>
            </a:r>
          </a:p>
          <a:p>
            <a:pPr marL="800060" lvl="1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kern="0" dirty="0">
              <a:solidFill>
                <a:schemeClr val="accent2"/>
              </a:solidFill>
              <a:latin typeface="Calibri" pitchFamily="34" charset="0"/>
              <a:cs typeface="+mn-cs"/>
            </a:endParaRPr>
          </a:p>
          <a:p>
            <a:pPr marL="342882" indent="-342882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kern="0" dirty="0">
              <a:solidFill>
                <a:schemeClr val="accent2"/>
              </a:solidFill>
              <a:latin typeface="Calibri" pitchFamily="34" charset="0"/>
              <a:cs typeface="+mn-cs"/>
            </a:endParaRP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752600" y="1503959"/>
            <a:ext cx="2743200" cy="1144588"/>
            <a:chOff x="838200" y="1600200"/>
            <a:chExt cx="2743200" cy="1143794"/>
          </a:xfrm>
        </p:grpSpPr>
        <p:sp>
          <p:nvSpPr>
            <p:cNvPr id="6" name="Rectangle 5"/>
            <p:cNvSpPr/>
            <p:nvPr/>
          </p:nvSpPr>
          <p:spPr>
            <a:xfrm>
              <a:off x="2209800" y="1600200"/>
              <a:ext cx="457200" cy="3807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8" name="Straight Connector 7"/>
            <p:cNvCxnSpPr>
              <a:stCxn id="6" idx="2"/>
            </p:cNvCxnSpPr>
            <p:nvPr/>
          </p:nvCxnSpPr>
          <p:spPr>
            <a:xfrm rot="5400000">
              <a:off x="1257564" y="1561571"/>
              <a:ext cx="761471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6" idx="2"/>
            </p:cNvCxnSpPr>
            <p:nvPr/>
          </p:nvCxnSpPr>
          <p:spPr>
            <a:xfrm rot="5400000">
              <a:off x="1448064" y="1752071"/>
              <a:ext cx="761471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6" idx="2"/>
            </p:cNvCxnSpPr>
            <p:nvPr/>
          </p:nvCxnSpPr>
          <p:spPr>
            <a:xfrm rot="5400000">
              <a:off x="1638564" y="1942571"/>
              <a:ext cx="761471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6" idx="2"/>
            </p:cNvCxnSpPr>
            <p:nvPr/>
          </p:nvCxnSpPr>
          <p:spPr>
            <a:xfrm rot="5400000">
              <a:off x="1829064" y="2133071"/>
              <a:ext cx="761471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6" idx="2"/>
            </p:cNvCxnSpPr>
            <p:nvPr/>
          </p:nvCxnSpPr>
          <p:spPr>
            <a:xfrm rot="5400000">
              <a:off x="2057665" y="2361670"/>
              <a:ext cx="761471" cy="31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6" idx="2"/>
            </p:cNvCxnSpPr>
            <p:nvPr/>
          </p:nvCxnSpPr>
          <p:spPr>
            <a:xfrm rot="16200000" flipH="1">
              <a:off x="2438664" y="1980671"/>
              <a:ext cx="761471" cy="76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6" idx="2"/>
            </p:cNvCxnSpPr>
            <p:nvPr/>
          </p:nvCxnSpPr>
          <p:spPr>
            <a:xfrm rot="16200000" flipH="1">
              <a:off x="2629164" y="1790171"/>
              <a:ext cx="761471" cy="1143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4951413" y="3104159"/>
            <a:ext cx="915987" cy="2819400"/>
            <a:chOff x="4037806" y="3200400"/>
            <a:chExt cx="915194" cy="2819400"/>
          </a:xfrm>
        </p:grpSpPr>
        <p:sp>
          <p:nvSpPr>
            <p:cNvPr id="21" name="Rectangle 20"/>
            <p:cNvSpPr/>
            <p:nvPr/>
          </p:nvSpPr>
          <p:spPr>
            <a:xfrm rot="5400000">
              <a:off x="4534065" y="4229265"/>
              <a:ext cx="457200" cy="3806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3" name="Straight Connector 22"/>
            <p:cNvCxnSpPr>
              <a:stCxn id="21" idx="2"/>
            </p:cNvCxnSpPr>
            <p:nvPr/>
          </p:nvCxnSpPr>
          <p:spPr>
            <a:xfrm rot="10800000">
              <a:off x="4037806" y="3200400"/>
              <a:ext cx="534524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21" idx="2"/>
            </p:cNvCxnSpPr>
            <p:nvPr/>
          </p:nvCxnSpPr>
          <p:spPr>
            <a:xfrm rot="10800000">
              <a:off x="4037806" y="3581400"/>
              <a:ext cx="534524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21" idx="2"/>
            </p:cNvCxnSpPr>
            <p:nvPr/>
          </p:nvCxnSpPr>
          <p:spPr>
            <a:xfrm rot="10800000">
              <a:off x="4037806" y="3962400"/>
              <a:ext cx="534524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21" idx="2"/>
            </p:cNvCxnSpPr>
            <p:nvPr/>
          </p:nvCxnSpPr>
          <p:spPr>
            <a:xfrm rot="10800000" flipV="1">
              <a:off x="4037806" y="4419600"/>
              <a:ext cx="534524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1" idx="2"/>
            </p:cNvCxnSpPr>
            <p:nvPr/>
          </p:nvCxnSpPr>
          <p:spPr>
            <a:xfrm flipH="1">
              <a:off x="4037806" y="4419600"/>
              <a:ext cx="534524" cy="76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21" idx="2"/>
            </p:cNvCxnSpPr>
            <p:nvPr/>
          </p:nvCxnSpPr>
          <p:spPr>
            <a:xfrm rot="10800000" flipV="1">
              <a:off x="4037806" y="4419600"/>
              <a:ext cx="534524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4191000" y="1580159"/>
            <a:ext cx="1524000" cy="1828800"/>
            <a:chOff x="3276600" y="1676400"/>
            <a:chExt cx="1524000" cy="1828800"/>
          </a:xfrm>
        </p:grpSpPr>
        <p:sp>
          <p:nvSpPr>
            <p:cNvPr id="33" name="Rectangle 32"/>
            <p:cNvSpPr/>
            <p:nvPr/>
          </p:nvSpPr>
          <p:spPr>
            <a:xfrm rot="5400000">
              <a:off x="4419600" y="1676400"/>
              <a:ext cx="381000" cy="381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4" name="Straight Connector 33"/>
            <p:cNvCxnSpPr>
              <a:stCxn id="33" idx="3"/>
            </p:cNvCxnSpPr>
            <p:nvPr/>
          </p:nvCxnSpPr>
          <p:spPr>
            <a:xfrm rot="5400000">
              <a:off x="3600450" y="1733550"/>
              <a:ext cx="685800" cy="1333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0800000" flipV="1">
              <a:off x="3581400" y="2057400"/>
              <a:ext cx="1028700" cy="685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 flipV="1">
              <a:off x="3276600" y="2057400"/>
              <a:ext cx="1333500" cy="1066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3600450" y="2114550"/>
              <a:ext cx="1066800" cy="952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3829050" y="2266950"/>
              <a:ext cx="990600" cy="571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3429000" y="2362200"/>
              <a:ext cx="1371600" cy="914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3600450" y="2495550"/>
              <a:ext cx="1447800" cy="571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7166495" y="4261247"/>
            <a:ext cx="2823399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9-way </a:t>
            </a:r>
            <a:r>
              <a:rPr lang="en-US" sz="2000" dirty="0" err="1">
                <a:latin typeface="Calibri" pitchFamily="34" charset="0"/>
              </a:rPr>
              <a:t>alldiff</a:t>
            </a:r>
            <a:r>
              <a:rPr lang="en-US" sz="2000" dirty="0">
                <a:latin typeface="Calibri" pitchFamily="34" charset="0"/>
              </a:rPr>
              <a:t> for each row</a:t>
            </a: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7166497" y="3784006"/>
            <a:ext cx="3196705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000">
                <a:latin typeface="Calibri" pitchFamily="34" charset="0"/>
              </a:rPr>
              <a:t>9-way alldiff for each column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7166498" y="4718447"/>
            <a:ext cx="3084815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000">
                <a:latin typeface="Calibri" pitchFamily="34" charset="0"/>
              </a:rPr>
              <a:t>9-way alldiff for each region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166495" y="5175647"/>
            <a:ext cx="2971800" cy="1015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r>
              <a:rPr lang="en-US" sz="2000">
                <a:latin typeface="Calibri" pitchFamily="34" charset="0"/>
              </a:rPr>
              <a:t>(or can have a bunch of pairwise inequality constraints)</a:t>
            </a:r>
          </a:p>
        </p:txBody>
      </p:sp>
    </p:spTree>
    <p:extLst>
      <p:ext uri="{BB962C8B-B14F-4D97-AF65-F5344CB8AC3E}">
        <p14:creationId xmlns:p14="http://schemas.microsoft.com/office/powerpoint/2010/main" val="190790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984" y="126613"/>
            <a:ext cx="10515600" cy="52271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Varieties of Constraints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69984" y="952500"/>
            <a:ext cx="11412415" cy="4953000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7400" dirty="0"/>
              <a:t>Varieties of Constraints</a:t>
            </a:r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7400" dirty="0"/>
              <a:t>Unary constraints involve a single variable (equivalent to reducing domains), e.g.:</a:t>
            </a:r>
          </a:p>
          <a:p>
            <a:pPr eaLnBrk="1" hangingPunct="1">
              <a:lnSpc>
                <a:spcPct val="80000"/>
              </a:lnSpc>
              <a:spcAft>
                <a:spcPts val="1200"/>
              </a:spcAft>
              <a:buFont typeface="Wingdings" pitchFamily="2" charset="2"/>
              <a:buNone/>
            </a:pPr>
            <a:r>
              <a:rPr lang="en-US" sz="7400" dirty="0"/>
              <a:t>	</a:t>
            </a:r>
          </a:p>
          <a:p>
            <a:pPr eaLnBrk="1" hangingPunct="1">
              <a:lnSpc>
                <a:spcPct val="80000"/>
              </a:lnSpc>
              <a:spcAft>
                <a:spcPts val="1200"/>
              </a:spcAft>
              <a:buFont typeface="Wingdings" pitchFamily="2" charset="2"/>
              <a:buNone/>
            </a:pPr>
            <a:endParaRPr lang="en-US" sz="7400" dirty="0"/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7400" dirty="0"/>
              <a:t>Binary constraints involve pairs of variables, e.g.:</a:t>
            </a:r>
          </a:p>
          <a:p>
            <a:pPr marL="0" indent="0" eaLnBrk="1" hangingPunct="1">
              <a:lnSpc>
                <a:spcPct val="80000"/>
              </a:lnSpc>
              <a:spcAft>
                <a:spcPts val="1200"/>
              </a:spcAft>
              <a:buNone/>
            </a:pPr>
            <a:endParaRPr lang="en-US" sz="7400" dirty="0"/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7400" dirty="0"/>
              <a:t>Higher-order constraints involve 3 or more variables:</a:t>
            </a:r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  <a:buFont typeface="Wingdings" pitchFamily="2" charset="2"/>
              <a:buNone/>
            </a:pPr>
            <a:r>
              <a:rPr lang="en-US" sz="7400" dirty="0"/>
              <a:t>	   e.g., </a:t>
            </a:r>
            <a:r>
              <a:rPr lang="en-US" sz="7400" dirty="0" err="1"/>
              <a:t>cryptarithmetic</a:t>
            </a:r>
            <a:r>
              <a:rPr lang="en-US" sz="7400" dirty="0"/>
              <a:t> column constraints</a:t>
            </a:r>
          </a:p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endParaRPr lang="en-US" sz="7400" dirty="0"/>
          </a:p>
          <a:p>
            <a:pPr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7400" dirty="0"/>
              <a:t>Preferences (soft constraints):</a:t>
            </a:r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7400" dirty="0"/>
              <a:t>E.g., red is better than green</a:t>
            </a:r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7400" dirty="0"/>
              <a:t>Often </a:t>
            </a:r>
            <a:r>
              <a:rPr lang="en-US" sz="7400" dirty="0" err="1"/>
              <a:t>representable</a:t>
            </a:r>
            <a:r>
              <a:rPr lang="en-US" sz="7400" dirty="0"/>
              <a:t> by a cost for each variable assignment</a:t>
            </a:r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</a:pPr>
            <a:r>
              <a:rPr lang="en-US" sz="7400" dirty="0"/>
              <a:t>Gives constrained optimization problems</a:t>
            </a:r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</a:pPr>
            <a:endParaRPr lang="en-US" sz="19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900" dirty="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</p:txBody>
      </p:sp>
      <p:pic>
        <p:nvPicPr>
          <p:cNvPr id="8" name="Picture 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3589221" y="1793677"/>
            <a:ext cx="1665615" cy="277895"/>
          </a:xfrm>
          <a:prstGeom prst="rect">
            <a:avLst/>
          </a:prstGeom>
          <a:noFill/>
          <a:ln/>
          <a:effectLst/>
        </p:spPr>
      </p:pic>
      <p:pic>
        <p:nvPicPr>
          <p:cNvPr id="9" name="Picture 8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3713382" y="3050129"/>
            <a:ext cx="1417292" cy="277848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886415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65245" y="0"/>
            <a:ext cx="10515600" cy="56292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Varieties of CSPs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81890" y="562923"/>
            <a:ext cx="11828219" cy="5914831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Discrete Variables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sz="2400" b="1" dirty="0"/>
              <a:t>Finite domains</a:t>
            </a:r>
          </a:p>
          <a:p>
            <a:pPr marL="690563" algn="l" rtl="0">
              <a:buFont typeface="Arial" panose="020B0604020202020204" pitchFamily="34" charset="0"/>
              <a:buChar char="•"/>
            </a:pPr>
            <a:r>
              <a:rPr lang="en-US" b="1" dirty="0"/>
              <a:t>	</a:t>
            </a: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Variables: Each region on the map is a variable.</a:t>
            </a:r>
          </a:p>
          <a:p>
            <a:pPr marL="690563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	Domains: Each variable can have a finite number of possible values ( red, green, blue) .</a:t>
            </a:r>
          </a:p>
          <a:p>
            <a:pPr marL="690563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	Constraints: Two neighboring regions cannot have the same color.</a:t>
            </a:r>
          </a:p>
          <a:p>
            <a:pPr marL="690563" algn="l" rtl="0">
              <a:buFont typeface="Arial" panose="020B0604020202020204" pitchFamily="34" charset="0"/>
              <a:buChar char="•"/>
            </a:pPr>
            <a:endParaRPr lang="en-US" sz="2300" kern="1200" dirty="0">
              <a:solidFill>
                <a:srgbClr val="1F1F1F"/>
              </a:solidFill>
              <a:latin typeface="Google Sans"/>
              <a:cs typeface="+mn-c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Solving such a problem involves finding "coloring" where neighboring regions differ in color.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300" kern="1200" dirty="0">
              <a:solidFill>
                <a:srgbClr val="1F1F1F"/>
              </a:solidFill>
              <a:latin typeface="Google Sans"/>
              <a:cs typeface="+mn-c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This CSP problem with finite domains can be solved efficiently, similar to checking all possible combinations in a small puzzle.</a:t>
            </a:r>
          </a:p>
          <a:p>
            <a:pPr marL="342900" indent="-342900" algn="l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2300" kern="1200" dirty="0">
              <a:solidFill>
                <a:srgbClr val="1F1F1F"/>
              </a:solidFill>
              <a:latin typeface="Google Sans"/>
              <a:cs typeface="+mn-c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CSP is complete in O(</a:t>
            </a:r>
            <a:r>
              <a:rPr lang="en-US" sz="2300" kern="1200" dirty="0" err="1">
                <a:solidFill>
                  <a:srgbClr val="1F1F1F"/>
                </a:solidFill>
                <a:latin typeface="Google Sans"/>
                <a:cs typeface="+mn-cs"/>
              </a:rPr>
              <a:t>d</a:t>
            </a:r>
            <a:r>
              <a:rPr lang="en-US" sz="2300" kern="1200" baseline="30000" dirty="0" err="1">
                <a:solidFill>
                  <a:srgbClr val="1F1F1F"/>
                </a:solidFill>
                <a:latin typeface="Google Sans"/>
                <a:cs typeface="+mn-cs"/>
              </a:rPr>
              <a:t>n</a:t>
            </a: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) time, where </a:t>
            </a:r>
            <a:r>
              <a:rPr lang="en-US" sz="2300" kern="1200" dirty="0">
                <a:solidFill>
                  <a:srgbClr val="FF0000"/>
                </a:solidFill>
                <a:latin typeface="Google Sans"/>
                <a:cs typeface="+mn-cs"/>
              </a:rPr>
              <a:t>d = size of the domain </a:t>
            </a: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and </a:t>
            </a:r>
            <a:r>
              <a:rPr lang="en-US" sz="2300" kern="1200" dirty="0">
                <a:solidFill>
                  <a:srgbClr val="FF0000"/>
                </a:solidFill>
                <a:latin typeface="Google Sans"/>
                <a:cs typeface="+mn-cs"/>
              </a:rPr>
              <a:t>n = number of variables</a:t>
            </a: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300" kern="1200" dirty="0">
              <a:solidFill>
                <a:srgbClr val="1F1F1F"/>
              </a:solidFill>
              <a:latin typeface="Google Sans"/>
              <a:cs typeface="+mn-c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.</a:t>
            </a:r>
          </a:p>
          <a:p>
            <a:pPr lvl="2" eaLnBrk="1" hangingPunct="1">
              <a:lnSpc>
                <a:spcPct val="90000"/>
              </a:lnSpc>
            </a:pPr>
            <a:endParaRPr lang="en-US" sz="2000" dirty="0"/>
          </a:p>
          <a:p>
            <a:pPr lvl="2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1313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A1D2-B9A1-A832-7FAF-ED077F77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7B7A3E8-8E55-7E85-826C-03DA51882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4176" y="136525"/>
            <a:ext cx="10515600" cy="67210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Varieties of CSPs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892FFAE-9C3B-4CDF-8719-C0F7B7EEC9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321876"/>
            <a:ext cx="9057640" cy="2031998"/>
          </a:xfrm>
        </p:spPr>
        <p:txBody>
          <a:bodyPr>
            <a:noAutofit/>
          </a:bodyPr>
          <a:lstStyle/>
          <a:p>
            <a:pPr lvl="1" eaLnBrk="1" hangingPunct="1">
              <a:lnSpc>
                <a:spcPct val="90000"/>
              </a:lnSpc>
            </a:pPr>
            <a:r>
              <a:rPr lang="en-US" sz="2800" dirty="0"/>
              <a:t>Infinite domains (integers, strings, etc.)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400" dirty="0"/>
              <a:t>E.g., job scheduling, variables are start/end times for each job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BE03C1-31A3-8CFC-327D-EB6648A0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B84970-942D-C344-9E05-4058AA48B4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0BE91-1CCB-BEB7-B917-660753B46E1E}"/>
              </a:ext>
            </a:extLst>
          </p:cNvPr>
          <p:cNvSpPr txBox="1"/>
          <p:nvPr/>
        </p:nvSpPr>
        <p:spPr>
          <a:xfrm>
            <a:off x="193040" y="2108177"/>
            <a:ext cx="1180592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  <a:t> Variables: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 Each meeting is a variable.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  <a:t> Domains: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 Each meeting can be scheduled at any time within a day (infinite possibilities).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F1F1F"/>
                </a:solidFill>
                <a:effectLst/>
                <a:latin typeface="Google Sans"/>
              </a:rPr>
              <a:t> Constraints: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 Two meetings for the same person cannot overlap.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This problem involves scheduling meetings for everyone without causing conflicts.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F1F1F"/>
              </a:solidFill>
              <a:latin typeface="Google San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While the domain might be infinite (any time within a day), the constraint can be represented linearly (e.g., meeting A cannot end before meeting B starts). </a:t>
            </a:r>
          </a:p>
        </p:txBody>
      </p:sp>
    </p:spTree>
    <p:extLst>
      <p:ext uri="{BB962C8B-B14F-4D97-AF65-F5344CB8AC3E}">
        <p14:creationId xmlns:p14="http://schemas.microsoft.com/office/powerpoint/2010/main" val="269098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3068" y="172719"/>
            <a:ext cx="372491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Search</a:t>
            </a:r>
            <a:r>
              <a:rPr spc="-80"/>
              <a:t> </a:t>
            </a:r>
            <a:r>
              <a:rPr spc="-5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306" y="5700422"/>
            <a:ext cx="335915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>
                <a:solidFill>
                  <a:srgbClr val="333399"/>
                </a:solidFill>
                <a:latin typeface="Calibri"/>
                <a:cs typeface="Calibri"/>
              </a:rPr>
              <a:t>What would BFS</a:t>
            </a:r>
            <a:r>
              <a:rPr sz="2800" spc="-4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95">
                <a:solidFill>
                  <a:srgbClr val="333399"/>
                </a:solidFill>
                <a:latin typeface="Calibri"/>
                <a:cs typeface="Calibri"/>
              </a:rPr>
              <a:t>do?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983615"/>
            <a:ext cx="338455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>
                <a:solidFill>
                  <a:srgbClr val="333399"/>
                </a:solidFill>
                <a:latin typeface="Calibri"/>
                <a:cs typeface="Calibri"/>
              </a:rPr>
              <a:t>What would DFS</a:t>
            </a:r>
            <a:r>
              <a:rPr sz="2800" spc="-4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95">
                <a:solidFill>
                  <a:srgbClr val="333399"/>
                </a:solidFill>
                <a:latin typeface="Calibri"/>
                <a:cs typeface="Calibri"/>
              </a:rPr>
              <a:t>do?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03831" y="3352121"/>
            <a:ext cx="3584448" cy="312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8DB49B-54DC-AAD7-3A60-BCB9925BE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" y="1474738"/>
            <a:ext cx="3143250" cy="36195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3BAF9A6-9F5F-1179-6213-575D222A1E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l="578" t="520" b="57003"/>
          <a:stretch/>
        </p:blipFill>
        <p:spPr bwMode="auto">
          <a:xfrm>
            <a:off x="4725847" y="983615"/>
            <a:ext cx="6155968" cy="2279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10661" y="221697"/>
            <a:ext cx="10515600" cy="6947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Backtracking Search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9829800" cy="495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Backtracking search is the basic uninformed algorithm for solving CSPs</a:t>
            </a:r>
          </a:p>
          <a:p>
            <a:pPr lvl="3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Idea 1: One variable at a time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Variable assignments are commutative, so fix ordering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I.e., [WA = red then NT = green] same as [NT = green then WA = red]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Only need to consider assignments to a single variable at each step</a:t>
            </a:r>
          </a:p>
          <a:p>
            <a:pPr lvl="3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Idea 2: Check constraints as you go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I.e. consider only values which do not conflict previous assignments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Might have to do some computation to check the constraints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“Incremental goal test”</a:t>
            </a:r>
          </a:p>
          <a:p>
            <a:pPr lvl="3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Depth-first search with these two improvements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dirty="0"/>
              <a:t>	is called </a:t>
            </a:r>
            <a:r>
              <a:rPr lang="en-US" sz="2400" i="1" dirty="0"/>
              <a:t>backtracking search </a:t>
            </a:r>
            <a:r>
              <a:rPr lang="en-US" sz="2400" dirty="0"/>
              <a:t>(not the best name)</a:t>
            </a:r>
            <a:endParaRPr lang="en-US" sz="2400" i="1" dirty="0"/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Can solve n-queens for n </a:t>
            </a:r>
            <a:r>
              <a:rPr lang="en-US" sz="2400" dirty="0">
                <a:sym typeface="Symbol" pitchFamily="18" charset="2"/>
              </a:rPr>
              <a:t></a:t>
            </a:r>
            <a:r>
              <a:rPr lang="en-US" sz="2400" dirty="0"/>
              <a:t> 25</a:t>
            </a:r>
          </a:p>
        </p:txBody>
      </p:sp>
    </p:spTree>
    <p:extLst>
      <p:ext uri="{BB962C8B-B14F-4D97-AF65-F5344CB8AC3E}">
        <p14:creationId xmlns:p14="http://schemas.microsoft.com/office/powerpoint/2010/main" val="112682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Example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30981" y="1447800"/>
            <a:ext cx="1165225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5" name="Picture 5"/>
          <p:cNvPicPr>
            <a:picLocks noChangeAspect="1" noChangeArrowheads="1"/>
          </p:cNvPicPr>
          <p:nvPr/>
        </p:nvPicPr>
        <p:blipFill>
          <a:blip r:embed="rId3" cstate="print"/>
          <a:srcRect l="983" t="1931"/>
          <a:stretch>
            <a:fillRect/>
          </a:stretch>
        </p:blipFill>
        <p:spPr bwMode="auto">
          <a:xfrm>
            <a:off x="4535581" y="1474413"/>
            <a:ext cx="3846420" cy="2048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6" name="Picture 6"/>
          <p:cNvPicPr>
            <a:picLocks noChangeAspect="1" noChangeArrowheads="1"/>
          </p:cNvPicPr>
          <p:nvPr/>
        </p:nvPicPr>
        <p:blipFill>
          <a:blip r:embed="rId4" cstate="print"/>
          <a:srcRect l="645" t="615"/>
          <a:stretch>
            <a:fillRect/>
          </a:stretch>
        </p:blipFill>
        <p:spPr bwMode="auto">
          <a:xfrm>
            <a:off x="3692899" y="1474413"/>
            <a:ext cx="4534647" cy="3365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7" name="Picture 7"/>
          <p:cNvPicPr>
            <a:picLocks noChangeAspect="1" noChangeArrowheads="1"/>
          </p:cNvPicPr>
          <p:nvPr/>
        </p:nvPicPr>
        <p:blipFill>
          <a:blip r:embed="rId5" cstate="print"/>
          <a:srcRect l="578" t="520"/>
          <a:stretch>
            <a:fillRect/>
          </a:stretch>
        </p:blipFill>
        <p:spPr bwMode="auto">
          <a:xfrm>
            <a:off x="2823322" y="1483377"/>
            <a:ext cx="5401049" cy="4684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4206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Search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5335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Search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438400" y="2540000"/>
            <a:ext cx="5210629" cy="319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61472" y="2237992"/>
            <a:ext cx="2175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Search checks consistency on full assignment</a:t>
            </a:r>
          </a:p>
        </p:txBody>
      </p:sp>
    </p:spTree>
    <p:extLst>
      <p:ext uri="{BB962C8B-B14F-4D97-AF65-F5344CB8AC3E}">
        <p14:creationId xmlns:p14="http://schemas.microsoft.com/office/powerpoint/2010/main" val="329079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Search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438400" y="3367315"/>
            <a:ext cx="7039429" cy="3338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61471" y="3065308"/>
            <a:ext cx="2048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Backtracking Search checks consistency at each assignment</a:t>
            </a:r>
          </a:p>
        </p:txBody>
      </p:sp>
    </p:spTree>
    <p:extLst>
      <p:ext uri="{BB962C8B-B14F-4D97-AF65-F5344CB8AC3E}">
        <p14:creationId xmlns:p14="http://schemas.microsoft.com/office/powerpoint/2010/main" val="37122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Search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06D58-0016-88E5-3082-8AF9A16B3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40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Backtracking Search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5363029"/>
            <a:ext cx="8229600" cy="6397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/>
              <a:t>Backtracking = DFS + variable-ordering + fail-on-violation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438400" y="2825753"/>
            <a:ext cx="7184571" cy="5996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625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WA}$, $\mathrm{NT}$, $\mathrm{Q}$, $\mathrm{NSW}$, $\mathrm{V}$, $\mathrm{SA}$, $\mathrm{T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98"/>
  <p:tag name="PICTUREFILESIZE" val="136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D} = \{\mathrm{red},\mathrm{green},\mathrm{blue}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14"/>
  <p:tag name="PICTUREFILESIZE" val="93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def\eq{=}&#10;$\{\mathrm{WA}$=$\mathrm{red}$, $\mathrm{NT}$=$\mathrm{green}$, $\mathrm{Q}$=$\mathrm{red}$, $\mathrm{NSW}$=$\mathrm{green}$, $\mathrm{V}$=$\mathrm{red}$, $\mathrm{SA}$=$\mathrm{blue}$, $\mathrm{T}$=$\mathrm{green}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66"/>
  <p:tag name="PICTUREFILESIZE" val="3346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WA}\neq \mathrm{NT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02"/>
  <p:tag name="PICTUREFILESIZE" val="485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(\mathrm{WA},\mathrm{NT}) \in \{(\mathrm{red},\mathrm{green}),(\mathrm{red},\mathrm{blue}),\ldots\}$&#10;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04"/>
  <p:tag name="PICTUREFILESIZE" val="198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54"/>
  <p:tag name="PICTUREFILESIZE" val="23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_{ij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1"/>
  <p:tag name="PICTUREFILESIZE" val="237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sum_{i,j} X_{ij} = 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10"/>
  <p:tag name="PICTUREFILESIZE" val="765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i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9"/>
  <p:tag name="PICTUREFILESIZE" val="2144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kj}) \in \{(0,0), (0,1), (1,0)\}$\\&#10;$\forall i,j,k \;\; (X_{ij}, X_{i+k,j+k}) \in \{(0,0), (0,1), (1,0)\}$\\&#10;$\forall i,j,k \;\; (X_{ij}, X_{i+k,j-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43"/>
  <p:tag name="PICTUREFILESIZE" val="6969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Q_{k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"/>
  <p:tag name="PICTUREFILESIZE" val="219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(Q_1, Q_2) \in \{(1, 3), (1, 4), \ldots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78"/>
  <p:tag name="PICTUREFILESIZE" val="1404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{1, 2, 3, \ldots N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32"/>
  <p:tag name="PICTUREFILESIZE" val="563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1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5"/>
  <p:tag name="PICTUREFILESIZE" val="174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2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215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3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218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4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190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ldots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2"/>
  <p:tag name="PICTUREFILESIZE" val="30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\ T\ U\ W\ R\ O\ X_1\ X_2\ X_3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2"/>
  <p:tag name="PICTUREFILESIZE" val="1177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,2,3,4,5,6,7,8,9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8"/>
  <p:tag name="PICTUREFILESIZE" val="1051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O + O = R + 10\cdot X_1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3"/>
  <p:tag name="PICTUREFILESIZE" val="735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ldots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mbox{alldiff}(F,T,U,W,R,O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13"/>
  <p:tag name="PICTUREFILESIZE" val="1087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SA}\neq \mathrm{green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4"/>
  <p:tag name="PICTUREFILESIZE" val="57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SA}\neq \mathrm{WA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97"/>
  <p:tag name="PICTUREFILESIZE" val="57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34ED8A-9615-406A-A4CC-BC1EDC01EA03}"/>
</file>

<file path=customXml/itemProps2.xml><?xml version="1.0" encoding="utf-8"?>
<ds:datastoreItem xmlns:ds="http://schemas.openxmlformats.org/officeDocument/2006/customXml" ds:itemID="{2626472D-7900-4A69-855B-510841805755}"/>
</file>

<file path=customXml/itemProps3.xml><?xml version="1.0" encoding="utf-8"?>
<ds:datastoreItem xmlns:ds="http://schemas.openxmlformats.org/officeDocument/2006/customXml" ds:itemID="{BFFB963A-3EA1-4D89-8951-20D6C3E3B7EB}"/>
</file>

<file path=docProps/app.xml><?xml version="1.0" encoding="utf-8"?>
<Properties xmlns="http://schemas.openxmlformats.org/officeDocument/2006/extended-properties" xmlns:vt="http://schemas.openxmlformats.org/officeDocument/2006/docPropsVTypes">
  <TotalTime>13523</TotalTime>
  <Words>1082</Words>
  <Application>Microsoft Office PowerPoint</Application>
  <PresentationFormat>Widescreen</PresentationFormat>
  <Paragraphs>221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Malgun Gothic</vt:lpstr>
      <vt:lpstr>Arial</vt:lpstr>
      <vt:lpstr>Calibri</vt:lpstr>
      <vt:lpstr>Calibri Light</vt:lpstr>
      <vt:lpstr>Google Sans</vt:lpstr>
      <vt:lpstr>Symbol</vt:lpstr>
      <vt:lpstr>Times New Roman</vt:lpstr>
      <vt:lpstr>Wingdings</vt:lpstr>
      <vt:lpstr>Office Theme</vt:lpstr>
      <vt:lpstr>PowerPoint Presentation</vt:lpstr>
      <vt:lpstr>CSP Warm-up</vt:lpstr>
      <vt:lpstr>What is Search For?</vt:lpstr>
      <vt:lpstr>Constraint Satisfaction Problems</vt:lpstr>
      <vt:lpstr>Real-World CSPs</vt:lpstr>
      <vt:lpstr>CSP Examples</vt:lpstr>
      <vt:lpstr>Example: Map Coloring</vt:lpstr>
      <vt:lpstr>Constraint Graphs</vt:lpstr>
      <vt:lpstr>Constraint Graphs</vt:lpstr>
      <vt:lpstr>Example: N-Queens</vt:lpstr>
      <vt:lpstr>Example: N-Queens</vt:lpstr>
      <vt:lpstr>Example: Cryptarithmetic</vt:lpstr>
      <vt:lpstr>Example: Sudoku</vt:lpstr>
      <vt:lpstr>Varieties of Constraints</vt:lpstr>
      <vt:lpstr>Varieties of CSPs</vt:lpstr>
      <vt:lpstr>Varieties of CSPs</vt:lpstr>
      <vt:lpstr>Search Methods</vt:lpstr>
      <vt:lpstr>Backtracking Search</vt:lpstr>
      <vt:lpstr>Backtracking Example</vt:lpstr>
      <vt:lpstr>Backtracking Search</vt:lpstr>
      <vt:lpstr>Backtracking Search</vt:lpstr>
      <vt:lpstr>Backtracking Search</vt:lpstr>
      <vt:lpstr>Backtracking Search</vt:lpstr>
      <vt:lpstr>Backtracking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AI: Representation and Problem Solving </dc:title>
  <dc:creator>Rosenthal, Stephanie</dc:creator>
  <cp:lastModifiedBy>Dr. Khurram Jadoon khan Asstt. Professor FCS</cp:lastModifiedBy>
  <cp:revision>93</cp:revision>
  <dcterms:created xsi:type="dcterms:W3CDTF">2019-01-24T20:17:39Z</dcterms:created>
  <dcterms:modified xsi:type="dcterms:W3CDTF">2025-10-11T07:14:59Z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0x0101006E4823951FA9BF42B980A03718EB0B18</vt:lpwstr>
  </property>
</Properties>
</file>