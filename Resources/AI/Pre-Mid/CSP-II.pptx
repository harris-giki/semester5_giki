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8" r:id="rId2"/>
    <p:sldId id="296" r:id="rId3"/>
    <p:sldId id="298" r:id="rId4"/>
    <p:sldId id="312" r:id="rId5"/>
    <p:sldId id="313" r:id="rId6"/>
    <p:sldId id="314" r:id="rId7"/>
    <p:sldId id="315" r:id="rId8"/>
    <p:sldId id="316" r:id="rId9"/>
    <p:sldId id="318" r:id="rId10"/>
    <p:sldId id="317" r:id="rId11"/>
    <p:sldId id="301" r:id="rId12"/>
    <p:sldId id="285" r:id="rId13"/>
    <p:sldId id="286" r:id="rId14"/>
    <p:sldId id="347" r:id="rId15"/>
    <p:sldId id="348" r:id="rId16"/>
    <p:sldId id="349" r:id="rId17"/>
    <p:sldId id="290" r:id="rId18"/>
    <p:sldId id="336" r:id="rId19"/>
    <p:sldId id="304" r:id="rId20"/>
    <p:sldId id="309" r:id="rId21"/>
    <p:sldId id="310" r:id="rId22"/>
    <p:sldId id="350" r:id="rId23"/>
    <p:sldId id="342" r:id="rId24"/>
    <p:sldId id="351" r:id="rId25"/>
    <p:sldId id="299" r:id="rId26"/>
    <p:sldId id="695" r:id="rId27"/>
    <p:sldId id="302" r:id="rId28"/>
    <p:sldId id="303" r:id="rId29"/>
    <p:sldId id="281" r:id="rId30"/>
    <p:sldId id="307" r:id="rId31"/>
    <p:sldId id="306" r:id="rId32"/>
    <p:sldId id="398" r:id="rId33"/>
    <p:sldId id="701" r:id="rId34"/>
    <p:sldId id="702" r:id="rId35"/>
    <p:sldId id="308" r:id="rId36"/>
    <p:sldId id="699" r:id="rId37"/>
    <p:sldId id="700" r:id="rId38"/>
    <p:sldId id="397" r:id="rId39"/>
    <p:sldId id="370" r:id="rId40"/>
    <p:sldId id="399" r:id="rId41"/>
    <p:sldId id="706" r:id="rId42"/>
    <p:sldId id="33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F8BF8E-1573-4F4E-A770-D4636842EB6E}" v="47" dt="2025-10-17T05:35:40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105"/>
  </p:normalViewPr>
  <p:slideViewPr>
    <p:cSldViewPr snapToGrid="0" snapToObjects="1">
      <p:cViewPr varScale="1">
        <p:scale>
          <a:sx n="55" d="100"/>
          <a:sy n="55" d="100"/>
        </p:scale>
        <p:origin x="123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FA6A18CD-8C91-481B-AB6B-8B2BF6D0213A}"/>
    <pc:docChg chg="undo custSel addSld delSld modSld sldOrd">
      <pc:chgData name="Dr. Khurram Jadoon khan Asstt. Professor FCS" userId="684a1a15-bea5-4a17-9b67-1313be309245" providerId="ADAL" clId="{FA6A18CD-8C91-481B-AB6B-8B2BF6D0213A}" dt="2025-10-17T13:23:46.711" v="356" actId="47"/>
      <pc:docMkLst>
        <pc:docMk/>
      </pc:docMkLst>
      <pc:sldChg chg="del">
        <pc:chgData name="Dr. Khurram Jadoon khan Asstt. Professor FCS" userId="684a1a15-bea5-4a17-9b67-1313be309245" providerId="ADAL" clId="{FA6A18CD-8C91-481B-AB6B-8B2BF6D0213A}" dt="2025-10-10T04:37:54.921" v="16" actId="47"/>
        <pc:sldMkLst>
          <pc:docMk/>
          <pc:sldMk cId="419532408" sldId="257"/>
        </pc:sldMkLst>
      </pc:sldChg>
      <pc:sldChg chg="addSp delSp modSp mod ord">
        <pc:chgData name="Dr. Khurram Jadoon khan Asstt. Professor FCS" userId="684a1a15-bea5-4a17-9b67-1313be309245" providerId="ADAL" clId="{FA6A18CD-8C91-481B-AB6B-8B2BF6D0213A}" dt="2025-10-10T04:37:50.584" v="15" actId="1076"/>
        <pc:sldMkLst>
          <pc:docMk/>
          <pc:sldMk cId="892368155" sldId="258"/>
        </pc:sldMkLst>
        <pc:spChg chg="mod">
          <ac:chgData name="Dr. Khurram Jadoon khan Asstt. Professor FCS" userId="684a1a15-bea5-4a17-9b67-1313be309245" providerId="ADAL" clId="{FA6A18CD-8C91-481B-AB6B-8B2BF6D0213A}" dt="2025-10-10T04:37:50.584" v="15" actId="1076"/>
          <ac:spMkLst>
            <pc:docMk/>
            <pc:sldMk cId="892368155" sldId="258"/>
            <ac:spMk id="5123" creationId="{00000000-0000-0000-0000-000000000000}"/>
          </ac:spMkLst>
        </pc:spChg>
      </pc:sldChg>
      <pc:sldChg chg="delSp modSp del mod modNotesTx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701438461" sldId="259"/>
        </pc:sldMkLst>
      </pc:sldChg>
      <pc:sldChg chg="delSp modSp del mod del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75263873" sldId="260"/>
        </pc:sldMkLst>
      </pc:sldChg>
      <pc:sldChg chg="del">
        <pc:chgData name="Dr. Khurram Jadoon khan Asstt. Professor FCS" userId="684a1a15-bea5-4a17-9b67-1313be309245" providerId="ADAL" clId="{FA6A18CD-8C91-481B-AB6B-8B2BF6D0213A}" dt="2025-10-10T04:38:37.042" v="26" actId="47"/>
        <pc:sldMkLst>
          <pc:docMk/>
          <pc:sldMk cId="1459833474" sldId="261"/>
        </pc:sldMkLst>
      </pc:sldChg>
      <pc:sldChg chg="del">
        <pc:chgData name="Dr. Khurram Jadoon khan Asstt. Professor FCS" userId="684a1a15-bea5-4a17-9b67-1313be309245" providerId="ADAL" clId="{FA6A18CD-8C91-481B-AB6B-8B2BF6D0213A}" dt="2025-10-10T04:38:45.453" v="27" actId="47"/>
        <pc:sldMkLst>
          <pc:docMk/>
          <pc:sldMk cId="420530543" sldId="262"/>
        </pc:sldMkLst>
      </pc:sldChg>
      <pc:sldChg chg="modSp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015469128" sldId="263"/>
        </pc:sldMkLst>
      </pc:sldChg>
      <pc:sldChg chg="delSp modSp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937091587" sldId="264"/>
        </pc:sldMkLst>
      </pc:sldChg>
      <pc:sldChg chg="addSp delSp modSp del mod delAnim mod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53235611" sldId="265"/>
        </pc:sldMkLst>
      </pc:sldChg>
      <pc:sldChg chg="delSp modSp del mod del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377716925" sldId="266"/>
        </pc:sldMkLst>
      </pc:sldChg>
      <pc:sldChg chg="del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119676521" sldId="267"/>
        </pc:sldMkLst>
      </pc:sldChg>
      <pc:sldChg chg="delSp modSp del mod modNotesTx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4089786" sldId="268"/>
        </pc:sldMkLst>
      </pc:sldChg>
      <pc:sldChg chg="addSp modSp del mod mod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868482947" sldId="269"/>
        </pc:sldMkLst>
      </pc:sldChg>
      <pc:sldChg chg="del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907907528" sldId="270"/>
        </pc:sldMkLst>
      </pc:sldChg>
      <pc:sldChg chg="modSp add del mod">
        <pc:chgData name="Dr. Khurram Jadoon khan Asstt. Professor FCS" userId="684a1a15-bea5-4a17-9b67-1313be309245" providerId="ADAL" clId="{FA6A18CD-8C91-481B-AB6B-8B2BF6D0213A}" dt="2025-10-10T04:52:19.389" v="90" actId="47"/>
        <pc:sldMkLst>
          <pc:docMk/>
          <pc:sldMk cId="2123489739" sldId="271"/>
        </pc:sldMkLst>
      </pc:sldChg>
      <pc:sldChg chg="delSp modSp del mod delAnim">
        <pc:chgData name="Dr. Khurram Jadoon khan Asstt. Professor FCS" userId="684a1a15-bea5-4a17-9b67-1313be309245" providerId="ADAL" clId="{FA6A18CD-8C91-481B-AB6B-8B2BF6D0213A}" dt="2025-10-10T05:43:46.232" v="214" actId="47"/>
        <pc:sldMkLst>
          <pc:docMk/>
          <pc:sldMk cId="461313880" sldId="272"/>
        </pc:sldMkLst>
      </pc:sldChg>
      <pc:sldChg chg="delSp modSp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886415490" sldId="273"/>
        </pc:sldMkLst>
      </pc:sldChg>
      <pc:sldChg chg="addSp delSp modSp add del mod mod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0" sldId="275"/>
        </pc:sldMkLst>
      </pc:sldChg>
      <pc:sldChg chg="add del">
        <pc:chgData name="Dr. Khurram Jadoon khan Asstt. Professor FCS" userId="684a1a15-bea5-4a17-9b67-1313be309245" providerId="ADAL" clId="{FA6A18CD-8C91-481B-AB6B-8B2BF6D0213A}" dt="2025-10-10T05:04:44.017" v="139" actId="47"/>
        <pc:sldMkLst>
          <pc:docMk/>
          <pc:sldMk cId="1998106606" sldId="275"/>
        </pc:sldMkLst>
      </pc:sldChg>
      <pc:sldChg chg="delSp modSp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325307472" sldId="276"/>
        </pc:sldMkLst>
      </pc:sldChg>
      <pc:sldChg chg="addSp delSp modSp del mod del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023257117" sldId="277"/>
        </pc:sldMkLst>
      </pc:sldChg>
      <pc:sldChg chg="modSp del mod">
        <pc:chgData name="Dr. Khurram Jadoon khan Asstt. Professor FCS" userId="684a1a15-bea5-4a17-9b67-1313be309245" providerId="ADAL" clId="{FA6A18CD-8C91-481B-AB6B-8B2BF6D0213A}" dt="2025-10-10T04:49:05.599" v="58" actId="47"/>
        <pc:sldMkLst>
          <pc:docMk/>
          <pc:sldMk cId="869418452" sldId="278"/>
        </pc:sldMkLst>
      </pc:sldChg>
      <pc:sldChg chg="modSp del mod">
        <pc:chgData name="Dr. Khurram Jadoon khan Asstt. Professor FCS" userId="684a1a15-bea5-4a17-9b67-1313be309245" providerId="ADAL" clId="{FA6A18CD-8C91-481B-AB6B-8B2BF6D0213A}" dt="2025-10-10T05:44:11.865" v="219" actId="47"/>
        <pc:sldMkLst>
          <pc:docMk/>
          <pc:sldMk cId="711869497" sldId="279"/>
        </pc:sldMkLst>
      </pc:sldChg>
      <pc:sldChg chg="del ord">
        <pc:chgData name="Dr. Khurram Jadoon khan Asstt. Professor FCS" userId="684a1a15-bea5-4a17-9b67-1313be309245" providerId="ADAL" clId="{FA6A18CD-8C91-481B-AB6B-8B2BF6D0213A}" dt="2025-10-10T05:50:00.529" v="248" actId="47"/>
        <pc:sldMkLst>
          <pc:docMk/>
          <pc:sldMk cId="1792949029" sldId="280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0" sldId="281"/>
        </pc:sldMkLst>
      </pc:sldChg>
      <pc:sldChg chg="del">
        <pc:chgData name="Dr. Khurram Jadoon khan Asstt. Professor FCS" userId="684a1a15-bea5-4a17-9b67-1313be309245" providerId="ADAL" clId="{FA6A18CD-8C91-481B-AB6B-8B2BF6D0213A}" dt="2025-10-10T05:50:17.122" v="249" actId="47"/>
        <pc:sldMkLst>
          <pc:docMk/>
          <pc:sldMk cId="1862527236" sldId="281"/>
        </pc:sldMkLst>
      </pc:sldChg>
      <pc:sldChg chg="del">
        <pc:chgData name="Dr. Khurram Jadoon khan Asstt. Professor FCS" userId="684a1a15-bea5-4a17-9b67-1313be309245" providerId="ADAL" clId="{FA6A18CD-8C91-481B-AB6B-8B2BF6D0213A}" dt="2025-10-10T05:50:17.122" v="249" actId="47"/>
        <pc:sldMkLst>
          <pc:docMk/>
          <pc:sldMk cId="1560517680" sldId="282"/>
        </pc:sldMkLst>
      </pc:sldChg>
      <pc:sldChg chg="addSp modSp del mod">
        <pc:chgData name="Dr. Khurram Jadoon khan Asstt. Professor FCS" userId="684a1a15-bea5-4a17-9b67-1313be309245" providerId="ADAL" clId="{FA6A18CD-8C91-481B-AB6B-8B2BF6D0213A}" dt="2025-10-10T05:50:17.122" v="249" actId="47"/>
        <pc:sldMkLst>
          <pc:docMk/>
          <pc:sldMk cId="1679758193" sldId="283"/>
        </pc:sldMkLst>
      </pc:sldChg>
      <pc:sldChg chg="del">
        <pc:chgData name="Dr. Khurram Jadoon khan Asstt. Professor FCS" userId="684a1a15-bea5-4a17-9b67-1313be309245" providerId="ADAL" clId="{FA6A18CD-8C91-481B-AB6B-8B2BF6D0213A}" dt="2025-10-10T05:50:17.122" v="249" actId="47"/>
        <pc:sldMkLst>
          <pc:docMk/>
          <pc:sldMk cId="2098326478" sldId="284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285"/>
        </pc:sldMkLst>
      </pc:sldChg>
      <pc:sldChg chg="del">
        <pc:chgData name="Dr. Khurram Jadoon khan Asstt. Professor FCS" userId="684a1a15-bea5-4a17-9b67-1313be309245" providerId="ADAL" clId="{FA6A18CD-8C91-481B-AB6B-8B2BF6D0213A}" dt="2025-10-10T05:10:46.096" v="146" actId="47"/>
        <pc:sldMkLst>
          <pc:docMk/>
          <pc:sldMk cId="1541574417" sldId="285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286"/>
        </pc:sldMkLst>
      </pc:sldChg>
      <pc:sldChg chg="del">
        <pc:chgData name="Dr. Khurram Jadoon khan Asstt. Professor FCS" userId="684a1a15-bea5-4a17-9b67-1313be309245" providerId="ADAL" clId="{FA6A18CD-8C91-481B-AB6B-8B2BF6D0213A}" dt="2025-10-10T05:11:53.659" v="148" actId="47"/>
        <pc:sldMkLst>
          <pc:docMk/>
          <pc:sldMk cId="287812221" sldId="286"/>
        </pc:sldMkLst>
      </pc:sldChg>
      <pc:sldChg chg="delSp modSp del mod del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126825303" sldId="287"/>
        </pc:sldMkLst>
      </pc:sldChg>
      <pc:sldChg chg="delSp del mod delAnim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2042068275" sldId="288"/>
        </pc:sldMkLst>
      </pc:sldChg>
      <pc:sldChg chg="del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2105335218" sldId="289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290"/>
        </pc:sldMkLst>
      </pc:sldChg>
      <pc:sldChg chg="del">
        <pc:chgData name="Dr. Khurram Jadoon khan Asstt. Professor FCS" userId="684a1a15-bea5-4a17-9b67-1313be309245" providerId="ADAL" clId="{FA6A18CD-8C91-481B-AB6B-8B2BF6D0213A}" dt="2025-10-10T05:13:17.235" v="155" actId="47"/>
        <pc:sldMkLst>
          <pc:docMk/>
          <pc:sldMk cId="1880402643" sldId="290"/>
        </pc:sldMkLst>
      </pc:sldChg>
      <pc:sldChg chg="del">
        <pc:chgData name="Dr. Khurram Jadoon khan Asstt. Professor FCS" userId="684a1a15-bea5-4a17-9b67-1313be309245" providerId="ADAL" clId="{FA6A18CD-8C91-481B-AB6B-8B2BF6D0213A}" dt="2025-10-10T05:11:52.524" v="147" actId="47"/>
        <pc:sldMkLst>
          <pc:docMk/>
          <pc:sldMk cId="1435894252" sldId="291"/>
        </pc:sldMkLst>
      </pc:sldChg>
      <pc:sldChg chg="del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329079264" sldId="292"/>
        </pc:sldMkLst>
      </pc:sldChg>
      <pc:sldChg chg="del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371227480" sldId="293"/>
        </pc:sldMkLst>
      </pc:sldChg>
      <pc:sldChg chg="addSp delSp modSp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455540593" sldId="294"/>
        </pc:sldMkLst>
      </pc:sldChg>
      <pc:sldChg chg="modSp del mod modNotesTx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1999162523" sldId="295"/>
        </pc:sldMkLst>
      </pc:sldChg>
      <pc:sldChg chg="delSp modSp mod">
        <pc:chgData name="Dr. Khurram Jadoon khan Asstt. Professor FCS" userId="684a1a15-bea5-4a17-9b67-1313be309245" providerId="ADAL" clId="{FA6A18CD-8C91-481B-AB6B-8B2BF6D0213A}" dt="2025-10-10T05:13:32.619" v="158" actId="478"/>
        <pc:sldMkLst>
          <pc:docMk/>
          <pc:sldMk cId="1665456407" sldId="296"/>
        </pc:sldMkLst>
        <pc:spChg chg="mod">
          <ac:chgData name="Dr. Khurram Jadoon khan Asstt. Professor FCS" userId="684a1a15-bea5-4a17-9b67-1313be309245" providerId="ADAL" clId="{FA6A18CD-8C91-481B-AB6B-8B2BF6D0213A}" dt="2025-10-10T05:13:23.587" v="157" actId="1076"/>
          <ac:spMkLst>
            <pc:docMk/>
            <pc:sldMk cId="1665456407" sldId="296"/>
            <ac:spMk id="22530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FA6A18CD-8C91-481B-AB6B-8B2BF6D0213A}" dt="2025-10-10T05:13:41.519" v="159" actId="47"/>
        <pc:sldMkLst>
          <pc:docMk/>
          <pc:sldMk cId="1023977451" sldId="297"/>
        </pc:sldMkLst>
      </pc:sldChg>
      <pc:sldChg chg="modSp mod">
        <pc:chgData name="Dr. Khurram Jadoon khan Asstt. Professor FCS" userId="684a1a15-bea5-4a17-9b67-1313be309245" providerId="ADAL" clId="{FA6A18CD-8C91-481B-AB6B-8B2BF6D0213A}" dt="2025-10-10T05:14:08.892" v="171" actId="1076"/>
        <pc:sldMkLst>
          <pc:docMk/>
          <pc:sldMk cId="55071899" sldId="298"/>
        </pc:sldMkLst>
        <pc:spChg chg="mod">
          <ac:chgData name="Dr. Khurram Jadoon khan Asstt. Professor FCS" userId="684a1a15-bea5-4a17-9b67-1313be309245" providerId="ADAL" clId="{FA6A18CD-8C91-481B-AB6B-8B2BF6D0213A}" dt="2025-10-10T05:14:08.892" v="171" actId="1076"/>
          <ac:spMkLst>
            <pc:docMk/>
            <pc:sldMk cId="55071899" sldId="298"/>
            <ac:spMk id="2662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0T05:14:03.638" v="168" actId="1076"/>
          <ac:spMkLst>
            <pc:docMk/>
            <pc:sldMk cId="55071899" sldId="298"/>
            <ac:spMk id="925725" creationId="{00000000-0000-0000-0000-000000000000}"/>
          </ac:spMkLst>
        </pc:spChg>
        <pc:grpChg chg="mod">
          <ac:chgData name="Dr. Khurram Jadoon khan Asstt. Professor FCS" userId="684a1a15-bea5-4a17-9b67-1313be309245" providerId="ADAL" clId="{FA6A18CD-8C91-481B-AB6B-8B2BF6D0213A}" dt="2025-10-10T05:14:05.312" v="169" actId="1076"/>
          <ac:grpSpMkLst>
            <pc:docMk/>
            <pc:sldMk cId="55071899" sldId="298"/>
            <ac:grpSpMk id="3" creationId="{00000000-0000-0000-0000-000000000000}"/>
          </ac:grpSpMkLst>
        </pc:grpChg>
        <pc:picChg chg="mod">
          <ac:chgData name="Dr. Khurram Jadoon khan Asstt. Professor FCS" userId="684a1a15-bea5-4a17-9b67-1313be309245" providerId="ADAL" clId="{FA6A18CD-8C91-481B-AB6B-8B2BF6D0213A}" dt="2025-10-10T05:14:03.638" v="168" actId="1076"/>
          <ac:picMkLst>
            <pc:docMk/>
            <pc:sldMk cId="55071899" sldId="298"/>
            <ac:picMk id="26628" creationId="{00000000-0000-0000-0000-000000000000}"/>
          </ac:picMkLst>
        </pc:picChg>
      </pc:sldChg>
      <pc:sldChg chg="add">
        <pc:chgData name="Dr. Khurram Jadoon khan Asstt. Professor FCS" userId="684a1a15-bea5-4a17-9b67-1313be309245" providerId="ADAL" clId="{FA6A18CD-8C91-481B-AB6B-8B2BF6D0213A}" dt="2025-10-17T05:33:18.215" v="346"/>
        <pc:sldMkLst>
          <pc:docMk/>
          <pc:sldMk cId="0" sldId="299"/>
        </pc:sldMkLst>
      </pc:sldChg>
      <pc:sldChg chg="del">
        <pc:chgData name="Dr. Khurram Jadoon khan Asstt. Professor FCS" userId="684a1a15-bea5-4a17-9b67-1313be309245" providerId="ADAL" clId="{FA6A18CD-8C91-481B-AB6B-8B2BF6D0213A}" dt="2025-10-10T05:14:21.095" v="172" actId="47"/>
        <pc:sldMkLst>
          <pc:docMk/>
          <pc:sldMk cId="1682132206" sldId="299"/>
        </pc:sldMkLst>
      </pc:sldChg>
      <pc:sldChg chg="modSp mod">
        <pc:chgData name="Dr. Khurram Jadoon khan Asstt. Professor FCS" userId="684a1a15-bea5-4a17-9b67-1313be309245" providerId="ADAL" clId="{FA6A18CD-8C91-481B-AB6B-8B2BF6D0213A}" dt="2025-10-15T05:02:10.020" v="262" actId="1076"/>
        <pc:sldMkLst>
          <pc:docMk/>
          <pc:sldMk cId="1592627291" sldId="301"/>
        </pc:sldMkLst>
        <pc:spChg chg="mod">
          <ac:chgData name="Dr. Khurram Jadoon khan Asstt. Professor FCS" userId="684a1a15-bea5-4a17-9b67-1313be309245" providerId="ADAL" clId="{FA6A18CD-8C91-481B-AB6B-8B2BF6D0213A}" dt="2025-10-15T05:02:10.020" v="262" actId="1076"/>
          <ac:spMkLst>
            <pc:docMk/>
            <pc:sldMk cId="1592627291" sldId="301"/>
            <ac:spMk id="28674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10-17T05:41:39.547" v="355" actId="1076"/>
        <pc:sldMkLst>
          <pc:docMk/>
          <pc:sldMk cId="0" sldId="302"/>
        </pc:sldMkLst>
        <pc:spChg chg="mod">
          <ac:chgData name="Dr. Khurram Jadoon khan Asstt. Professor FCS" userId="684a1a15-bea5-4a17-9b67-1313be309245" providerId="ADAL" clId="{FA6A18CD-8C91-481B-AB6B-8B2BF6D0213A}" dt="2025-10-17T05:41:39.547" v="355" actId="1076"/>
          <ac:spMkLst>
            <pc:docMk/>
            <pc:sldMk cId="0" sldId="30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7T05:41:38.127" v="354" actId="1076"/>
          <ac:spMkLst>
            <pc:docMk/>
            <pc:sldMk cId="0" sldId="302"/>
            <ac:spMk id="4" creationId="{00000000-0000-0000-0000-000000000000}"/>
          </ac:spMkLst>
        </pc:spChg>
      </pc:sldChg>
      <pc:sldChg chg="add del">
        <pc:chgData name="Dr. Khurram Jadoon khan Asstt. Professor FCS" userId="684a1a15-bea5-4a17-9b67-1313be309245" providerId="ADAL" clId="{FA6A18CD-8C91-481B-AB6B-8B2BF6D0213A}" dt="2025-10-15T04:35:21.350" v="257" actId="47"/>
        <pc:sldMkLst>
          <pc:docMk/>
          <pc:sldMk cId="1050703629" sldId="302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0" sldId="303"/>
        </pc:sldMkLst>
      </pc:sldChg>
      <pc:sldChg chg="delSp mod">
        <pc:chgData name="Dr. Khurram Jadoon khan Asstt. Professor FCS" userId="684a1a15-bea5-4a17-9b67-1313be309245" providerId="ADAL" clId="{FA6A18CD-8C91-481B-AB6B-8B2BF6D0213A}" dt="2025-10-15T05:24:36.058" v="301" actId="478"/>
        <pc:sldMkLst>
          <pc:docMk/>
          <pc:sldMk cId="262069579" sldId="304"/>
        </pc:sldMkLst>
      </pc:sldChg>
      <pc:sldChg chg="del">
        <pc:chgData name="Dr. Khurram Jadoon khan Asstt. Professor FCS" userId="684a1a15-bea5-4a17-9b67-1313be309245" providerId="ADAL" clId="{FA6A18CD-8C91-481B-AB6B-8B2BF6D0213A}" dt="2025-10-10T05:16:06.566" v="173" actId="47"/>
        <pc:sldMkLst>
          <pc:docMk/>
          <pc:sldMk cId="1634816527" sldId="305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0" sldId="306"/>
        </pc:sldMkLst>
      </pc:sldChg>
      <pc:sldChg chg="del">
        <pc:chgData name="Dr. Khurram Jadoon khan Asstt. Professor FCS" userId="684a1a15-bea5-4a17-9b67-1313be309245" providerId="ADAL" clId="{FA6A18CD-8C91-481B-AB6B-8B2BF6D0213A}" dt="2025-10-10T05:16:07.817" v="174" actId="47"/>
        <pc:sldMkLst>
          <pc:docMk/>
          <pc:sldMk cId="1455589571" sldId="306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0" sldId="307"/>
        </pc:sldMkLst>
      </pc:sldChg>
      <pc:sldChg chg="del">
        <pc:chgData name="Dr. Khurram Jadoon khan Asstt. Professor FCS" userId="684a1a15-bea5-4a17-9b67-1313be309245" providerId="ADAL" clId="{FA6A18CD-8C91-481B-AB6B-8B2BF6D0213A}" dt="2025-10-10T05:16:10.780" v="175" actId="47"/>
        <pc:sldMkLst>
          <pc:docMk/>
          <pc:sldMk cId="2107696820" sldId="307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0" sldId="308"/>
        </pc:sldMkLst>
      </pc:sldChg>
      <pc:sldChg chg="del">
        <pc:chgData name="Dr. Khurram Jadoon khan Asstt. Professor FCS" userId="684a1a15-bea5-4a17-9b67-1313be309245" providerId="ADAL" clId="{FA6A18CD-8C91-481B-AB6B-8B2BF6D0213A}" dt="2025-10-10T05:16:11.829" v="176" actId="47"/>
        <pc:sldMkLst>
          <pc:docMk/>
          <pc:sldMk cId="1317696475" sldId="308"/>
        </pc:sldMkLst>
      </pc:sldChg>
      <pc:sldChg chg="delSp modSp mod delAnim modAnim">
        <pc:chgData name="Dr. Khurram Jadoon khan Asstt. Professor FCS" userId="684a1a15-bea5-4a17-9b67-1313be309245" providerId="ADAL" clId="{FA6A18CD-8C91-481B-AB6B-8B2BF6D0213A}" dt="2025-10-15T05:16:18.399" v="280"/>
        <pc:sldMkLst>
          <pc:docMk/>
          <pc:sldMk cId="1643999562" sldId="309"/>
        </pc:sldMkLst>
        <pc:spChg chg="mod">
          <ac:chgData name="Dr. Khurram Jadoon khan Asstt. Professor FCS" userId="684a1a15-bea5-4a17-9b67-1313be309245" providerId="ADAL" clId="{FA6A18CD-8C91-481B-AB6B-8B2BF6D0213A}" dt="2025-10-15T05:15:58.910" v="277"/>
          <ac:spMkLst>
            <pc:docMk/>
            <pc:sldMk cId="1643999562" sldId="309"/>
            <ac:spMk id="2355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5T05:16:05.980" v="279" actId="15"/>
          <ac:spMkLst>
            <pc:docMk/>
            <pc:sldMk cId="1643999562" sldId="309"/>
            <ac:spMk id="923651" creationId="{00000000-0000-0000-0000-000000000000}"/>
          </ac:spMkLst>
        </pc:spChg>
      </pc:sldChg>
      <pc:sldChg chg="delSp modSp mod delAnim modAnim">
        <pc:chgData name="Dr. Khurram Jadoon khan Asstt. Professor FCS" userId="684a1a15-bea5-4a17-9b67-1313be309245" providerId="ADAL" clId="{FA6A18CD-8C91-481B-AB6B-8B2BF6D0213A}" dt="2025-10-15T05:18:19.857" v="296"/>
        <pc:sldMkLst>
          <pc:docMk/>
          <pc:sldMk cId="1176036232" sldId="310"/>
        </pc:sldMkLst>
        <pc:spChg chg="mod">
          <ac:chgData name="Dr. Khurram Jadoon khan Asstt. Professor FCS" userId="684a1a15-bea5-4a17-9b67-1313be309245" providerId="ADAL" clId="{FA6A18CD-8C91-481B-AB6B-8B2BF6D0213A}" dt="2025-10-15T05:18:07.774" v="292" actId="1076"/>
          <ac:spMkLst>
            <pc:docMk/>
            <pc:sldMk cId="1176036232" sldId="310"/>
            <ac:spMk id="2560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5T05:18:16.951" v="295"/>
          <ac:spMkLst>
            <pc:docMk/>
            <pc:sldMk cId="1176036232" sldId="310"/>
            <ac:spMk id="25603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FA6A18CD-8C91-481B-AB6B-8B2BF6D0213A}" dt="2025-10-10T05:16:15.895" v="177" actId="47"/>
        <pc:sldMkLst>
          <pc:docMk/>
          <pc:sldMk cId="201464236" sldId="311"/>
        </pc:sldMkLst>
      </pc:sldChg>
      <pc:sldChg chg="addSp delSp modSp del mod delAnim modAnim">
        <pc:chgData name="Dr. Khurram Jadoon khan Asstt. Professor FCS" userId="684a1a15-bea5-4a17-9b67-1313be309245" providerId="ADAL" clId="{FA6A18CD-8C91-481B-AB6B-8B2BF6D0213A}" dt="2025-10-15T05:24:17.869" v="300" actId="47"/>
        <pc:sldMkLst>
          <pc:docMk/>
          <pc:sldMk cId="1249506971" sldId="319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289499736" sldId="320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2130433183" sldId="321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046092084" sldId="322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598369868" sldId="323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711548436" sldId="324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517869933" sldId="325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244649890" sldId="326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722141658" sldId="327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750133770" sldId="328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422165876" sldId="329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30439109" sldId="330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010659150" sldId="331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433336431" sldId="332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70971150" sldId="333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958693965" sldId="334"/>
        </pc:sldMkLst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868062963" sldId="335"/>
        </pc:sldMkLst>
      </pc:sldChg>
      <pc:sldChg chg="del">
        <pc:chgData name="Dr. Khurram Jadoon khan Asstt. Professor FCS" userId="684a1a15-bea5-4a17-9b67-1313be309245" providerId="ADAL" clId="{FA6A18CD-8C91-481B-AB6B-8B2BF6D0213A}" dt="2025-10-15T05:02:28.099" v="263" actId="47"/>
        <pc:sldMkLst>
          <pc:docMk/>
          <pc:sldMk cId="1604996999" sldId="337"/>
        </pc:sldMkLst>
      </pc:sldChg>
      <pc:sldChg chg="del">
        <pc:chgData name="Dr. Khurram Jadoon khan Asstt. Professor FCS" userId="684a1a15-bea5-4a17-9b67-1313be309245" providerId="ADAL" clId="{FA6A18CD-8C91-481B-AB6B-8B2BF6D0213A}" dt="2025-10-15T05:18:31.761" v="297" actId="47"/>
        <pc:sldMkLst>
          <pc:docMk/>
          <pc:sldMk cId="2034242313" sldId="339"/>
        </pc:sldMkLst>
      </pc:sldChg>
      <pc:sldChg chg="del">
        <pc:chgData name="Dr. Khurram Jadoon khan Asstt. Professor FCS" userId="684a1a15-bea5-4a17-9b67-1313be309245" providerId="ADAL" clId="{FA6A18CD-8C91-481B-AB6B-8B2BF6D0213A}" dt="2025-10-15T05:18:57.227" v="299" actId="47"/>
        <pc:sldMkLst>
          <pc:docMk/>
          <pc:sldMk cId="1570894351" sldId="340"/>
        </pc:sldMkLst>
      </pc:sldChg>
      <pc:sldChg chg="modSp del mod">
        <pc:chgData name="Dr. Khurram Jadoon khan Asstt. Professor FCS" userId="684a1a15-bea5-4a17-9b67-1313be309245" providerId="ADAL" clId="{FA6A18CD-8C91-481B-AB6B-8B2BF6D0213A}" dt="2025-10-17T04:44:49.395" v="318" actId="47"/>
        <pc:sldMkLst>
          <pc:docMk/>
          <pc:sldMk cId="857401039" sldId="341"/>
        </pc:sldMkLst>
        <pc:spChg chg="mod">
          <ac:chgData name="Dr. Khurram Jadoon khan Asstt. Professor FCS" userId="684a1a15-bea5-4a17-9b67-1313be309245" providerId="ADAL" clId="{FA6A18CD-8C91-481B-AB6B-8B2BF6D0213A}" dt="2025-10-17T04:44:32.722" v="314" actId="1076"/>
          <ac:spMkLst>
            <pc:docMk/>
            <pc:sldMk cId="857401039" sldId="341"/>
            <ac:spMk id="17410" creationId="{00000000-0000-0000-0000-000000000000}"/>
          </ac:spMkLst>
        </pc:spChg>
      </pc:sldChg>
      <pc:sldChg chg="delSp modSp mod delAnim modAnim">
        <pc:chgData name="Dr. Khurram Jadoon khan Asstt. Professor FCS" userId="684a1a15-bea5-4a17-9b67-1313be309245" providerId="ADAL" clId="{FA6A18CD-8C91-481B-AB6B-8B2BF6D0213A}" dt="2025-10-17T04:54:45.402" v="344" actId="113"/>
        <pc:sldMkLst>
          <pc:docMk/>
          <pc:sldMk cId="723991103" sldId="342"/>
        </pc:sldMkLst>
        <pc:spChg chg="mod">
          <ac:chgData name="Dr. Khurram Jadoon khan Asstt. Professor FCS" userId="684a1a15-bea5-4a17-9b67-1313be309245" providerId="ADAL" clId="{FA6A18CD-8C91-481B-AB6B-8B2BF6D0213A}" dt="2025-10-17T04:44:46.034" v="316" actId="1076"/>
          <ac:spMkLst>
            <pc:docMk/>
            <pc:sldMk cId="723991103" sldId="342"/>
            <ac:spMk id="1843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7T04:54:45.402" v="344" actId="113"/>
          <ac:spMkLst>
            <pc:docMk/>
            <pc:sldMk cId="723991103" sldId="342"/>
            <ac:spMk id="22531" creationId="{00000000-0000-0000-0000-000000000000}"/>
          </ac:spMkLst>
        </pc:spChg>
        <pc:picChg chg="del">
          <ac:chgData name="Dr. Khurram Jadoon khan Asstt. Professor FCS" userId="684a1a15-bea5-4a17-9b67-1313be309245" providerId="ADAL" clId="{FA6A18CD-8C91-481B-AB6B-8B2BF6D0213A}" dt="2025-10-17T04:44:47.854" v="317" actId="478"/>
          <ac:picMkLst>
            <pc:docMk/>
            <pc:sldMk cId="723991103" sldId="342"/>
            <ac:picMk id="4098" creationId="{00000000-0000-0000-0000-000000000000}"/>
          </ac:picMkLst>
        </pc:picChg>
      </pc:sldChg>
      <pc:sldChg chg="modSp del mod">
        <pc:chgData name="Dr. Khurram Jadoon khan Asstt. Professor FCS" userId="684a1a15-bea5-4a17-9b67-1313be309245" providerId="ADAL" clId="{FA6A18CD-8C91-481B-AB6B-8B2BF6D0213A}" dt="2025-10-17T05:33:07.009" v="345" actId="47"/>
        <pc:sldMkLst>
          <pc:docMk/>
          <pc:sldMk cId="695680011" sldId="343"/>
        </pc:sldMkLst>
        <pc:spChg chg="mod">
          <ac:chgData name="Dr. Khurram Jadoon khan Asstt. Professor FCS" userId="684a1a15-bea5-4a17-9b67-1313be309245" providerId="ADAL" clId="{FA6A18CD-8C91-481B-AB6B-8B2BF6D0213A}" dt="2025-10-17T04:44:59.088" v="322" actId="1076"/>
          <ac:spMkLst>
            <pc:docMk/>
            <pc:sldMk cId="695680011" sldId="343"/>
            <ac:spMk id="1945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17T04:45:20.664" v="323" actId="20577"/>
          <ac:spMkLst>
            <pc:docMk/>
            <pc:sldMk cId="695680011" sldId="343"/>
            <ac:spMk id="19459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FA6A18CD-8C91-481B-AB6B-8B2BF6D0213A}" dt="2025-10-15T05:01:48.119" v="258" actId="47"/>
        <pc:sldMkLst>
          <pc:docMk/>
          <pc:sldMk cId="1205419110" sldId="344"/>
        </pc:sldMkLst>
      </pc:sldChg>
      <pc:sldChg chg="modSp add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461313880" sldId="345"/>
        </pc:sldMkLst>
      </pc:sldChg>
      <pc:sldChg chg="modSp add del mod">
        <pc:chgData name="Dr. Khurram Jadoon khan Asstt. Professor FCS" userId="684a1a15-bea5-4a17-9b67-1313be309245" providerId="ADAL" clId="{FA6A18CD-8C91-481B-AB6B-8B2BF6D0213A}" dt="2025-10-17T13:23:46.711" v="356" actId="47"/>
        <pc:sldMkLst>
          <pc:docMk/>
          <pc:sldMk cId="2690984993" sldId="346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347"/>
        </pc:sldMkLst>
      </pc:sldChg>
      <pc:sldChg chg="add del">
        <pc:chgData name="Dr. Khurram Jadoon khan Asstt. Professor FCS" userId="684a1a15-bea5-4a17-9b67-1313be309245" providerId="ADAL" clId="{FA6A18CD-8C91-481B-AB6B-8B2BF6D0213A}" dt="2025-10-10T05:47:55.557" v="232" actId="2890"/>
        <pc:sldMkLst>
          <pc:docMk/>
          <pc:sldMk cId="3551017611" sldId="347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348"/>
        </pc:sldMkLst>
      </pc:sldChg>
      <pc:sldChg chg="add">
        <pc:chgData name="Dr. Khurram Jadoon khan Asstt. Professor FCS" userId="684a1a15-bea5-4a17-9b67-1313be309245" providerId="ADAL" clId="{FA6A18CD-8C91-481B-AB6B-8B2BF6D0213A}" dt="2025-10-15T05:01:52.762" v="259"/>
        <pc:sldMkLst>
          <pc:docMk/>
          <pc:sldMk cId="0" sldId="349"/>
        </pc:sldMkLst>
      </pc:sldChg>
      <pc:sldChg chg="modSp add del mod">
        <pc:chgData name="Dr. Khurram Jadoon khan Asstt. Professor FCS" userId="684a1a15-bea5-4a17-9b67-1313be309245" providerId="ADAL" clId="{FA6A18CD-8C91-481B-AB6B-8B2BF6D0213A}" dt="2025-10-17T04:54:09.375" v="335" actId="1076"/>
        <pc:sldMkLst>
          <pc:docMk/>
          <pc:sldMk cId="0" sldId="350"/>
        </pc:sldMkLst>
        <pc:spChg chg="mod">
          <ac:chgData name="Dr. Khurram Jadoon khan Asstt. Professor FCS" userId="684a1a15-bea5-4a17-9b67-1313be309245" providerId="ADAL" clId="{FA6A18CD-8C91-481B-AB6B-8B2BF6D0213A}" dt="2025-10-17T04:54:09.375" v="335" actId="1076"/>
          <ac:spMkLst>
            <pc:docMk/>
            <pc:sldMk cId="0" sldId="350"/>
            <ac:spMk id="6" creationId="{BE410CAA-1D6C-961F-DEA0-A7878BFC51F6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10-17T05:33:25.547" v="348" actId="1076"/>
        <pc:sldMkLst>
          <pc:docMk/>
          <pc:sldMk cId="0" sldId="351"/>
        </pc:sldMkLst>
        <pc:spChg chg="mod">
          <ac:chgData name="Dr. Khurram Jadoon khan Asstt. Professor FCS" userId="684a1a15-bea5-4a17-9b67-1313be309245" providerId="ADAL" clId="{FA6A18CD-8C91-481B-AB6B-8B2BF6D0213A}" dt="2025-10-17T05:33:25.547" v="348" actId="1076"/>
          <ac:spMkLst>
            <pc:docMk/>
            <pc:sldMk cId="0" sldId="351"/>
            <ac:spMk id="3" creationId="{00000000-0000-0000-0000-000000000000}"/>
          </ac:spMkLst>
        </pc:spChg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2096078105" sldId="370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718446603" sldId="397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4207246547" sldId="398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1629699018" sldId="399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273104591" sldId="695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3098436341" sldId="699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3991722738" sldId="700"/>
        </pc:sldMkLst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3753020604" sldId="701"/>
        </pc:sldMkLst>
      </pc:sldChg>
      <pc:sldChg chg="modSp add mod">
        <pc:chgData name="Dr. Khurram Jadoon khan Asstt. Professor FCS" userId="684a1a15-bea5-4a17-9b67-1313be309245" providerId="ADAL" clId="{FA6A18CD-8C91-481B-AB6B-8B2BF6D0213A}" dt="2025-10-17T05:35:40.108" v="351" actId="27636"/>
        <pc:sldMkLst>
          <pc:docMk/>
          <pc:sldMk cId="2643945293" sldId="702"/>
        </pc:sldMkLst>
        <pc:spChg chg="mod">
          <ac:chgData name="Dr. Khurram Jadoon khan Asstt. Professor FCS" userId="684a1a15-bea5-4a17-9b67-1313be309245" providerId="ADAL" clId="{FA6A18CD-8C91-481B-AB6B-8B2BF6D0213A}" dt="2025-10-17T05:35:40.108" v="350" actId="27636"/>
          <ac:spMkLst>
            <pc:docMk/>
            <pc:sldMk cId="2643945293" sldId="702"/>
            <ac:spMk id="5" creationId="{3591148A-A6F9-25EB-8386-B59D5F36F581}"/>
          </ac:spMkLst>
        </pc:spChg>
        <pc:spChg chg="mod">
          <ac:chgData name="Dr. Khurram Jadoon khan Asstt. Professor FCS" userId="684a1a15-bea5-4a17-9b67-1313be309245" providerId="ADAL" clId="{FA6A18CD-8C91-481B-AB6B-8B2BF6D0213A}" dt="2025-10-17T05:35:40.108" v="351" actId="27636"/>
          <ac:spMkLst>
            <pc:docMk/>
            <pc:sldMk cId="2643945293" sldId="702"/>
            <ac:spMk id="6" creationId="{8B76F3BD-4E31-2D7E-8282-C84C6E8AD31B}"/>
          </ac:spMkLst>
        </pc:spChg>
      </pc:sldChg>
      <pc:sldChg chg="add">
        <pc:chgData name="Dr. Khurram Jadoon khan Asstt. Professor FCS" userId="684a1a15-bea5-4a17-9b67-1313be309245" providerId="ADAL" clId="{FA6A18CD-8C91-481B-AB6B-8B2BF6D0213A}" dt="2025-10-17T05:35:40.030" v="349"/>
        <pc:sldMkLst>
          <pc:docMk/>
          <pc:sldMk cId="2681211717" sldId="7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51213-782B-6740-9159-A15F1071FA5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73B70-394B-D341-8F66-A712FCAEE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0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22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4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5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59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19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Auto-consistency (note</a:t>
            </a:r>
            <a:r>
              <a:rPr lang="en-US" baseline="0" dirty="0"/>
              <a:t> initially nothing gets deleted/pruned since there are consistent options for all constraints for initial variable domains)</a:t>
            </a:r>
          </a:p>
          <a:p>
            <a:endParaRPr lang="en-US" baseline="0" dirty="0"/>
          </a:p>
          <a:p>
            <a:r>
              <a:rPr lang="en-US" baseline="0" dirty="0"/>
              <a:t>Flashes whenever something needs to be re-checked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5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Complex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  (first) / Arc Consistency (second)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581376-9A36-40B0-85E2-52E3358E90D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2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5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6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2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0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4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2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04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187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D9230-0FD9-D24F-9958-2CDCC51990C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778369" y="2667000"/>
            <a:ext cx="5908431" cy="1524000"/>
          </a:xfrm>
        </p:spPr>
        <p:txBody>
          <a:bodyPr/>
          <a:lstStyle/>
          <a:p>
            <a:pPr eaLnBrk="1" hangingPunct="1"/>
            <a:r>
              <a:rPr lang="en-US" sz="4267" dirty="0"/>
              <a:t>Constraint Satisfaction Problems (CSPs)</a:t>
            </a:r>
          </a:p>
        </p:txBody>
      </p:sp>
    </p:spTree>
    <p:extLst>
      <p:ext uri="{BB962C8B-B14F-4D97-AF65-F5344CB8AC3E}">
        <p14:creationId xmlns:p14="http://schemas.microsoft.com/office/powerpoint/2010/main" val="89236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7377"/>
            <a:ext cx="10515600" cy="760290"/>
          </a:xfrm>
        </p:spPr>
        <p:txBody>
          <a:bodyPr/>
          <a:lstStyle/>
          <a:p>
            <a:pPr eaLnBrk="1" hangingPunct="1"/>
            <a:r>
              <a:rPr lang="en-US" dirty="0"/>
              <a:t>Improving Backtracking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46237"/>
            <a:ext cx="82296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General-purpose ideas give huge gains in speed</a:t>
            </a:r>
          </a:p>
          <a:p>
            <a:pPr lvl="1" eaLnBrk="1" hangingPunct="1"/>
            <a:endParaRPr lang="en-US" sz="2400" dirty="0"/>
          </a:p>
          <a:p>
            <a:r>
              <a:rPr lang="en-US" dirty="0"/>
              <a:t>Filtering: Can we detect inevitable failure early?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Ordering:</a:t>
            </a:r>
          </a:p>
          <a:p>
            <a:pPr lvl="1" eaLnBrk="1" hangingPunct="1"/>
            <a:r>
              <a:rPr lang="en-US" sz="2400" dirty="0"/>
              <a:t>Which variable should be assigned next?</a:t>
            </a:r>
          </a:p>
          <a:p>
            <a:pPr lvl="1" eaLnBrk="1" hangingPunct="1"/>
            <a:r>
              <a:rPr lang="en-US" sz="2400" dirty="0"/>
              <a:t>In what order should its values be tried?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Structure: Can we exploit the problem structure?</a:t>
            </a:r>
          </a:p>
          <a:p>
            <a:pPr lvl="1" eaLnBrk="1"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6545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01998"/>
            <a:ext cx="10515600" cy="814111"/>
          </a:xfrm>
        </p:spPr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4109569" y="3232196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167528" y="3276600"/>
            <a:ext cx="3497357" cy="1828800"/>
            <a:chOff x="1813860" y="2438401"/>
            <a:chExt cx="2331571" cy="1219200"/>
          </a:xfrm>
        </p:grpSpPr>
        <p:pic>
          <p:nvPicPr>
            <p:cNvPr id="23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r="74444" b="67024"/>
            <a:stretch/>
          </p:blipFill>
          <p:spPr bwMode="auto">
            <a:xfrm>
              <a:off x="1813860" y="2438401"/>
              <a:ext cx="2130335" cy="1219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914871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>
                  <a:latin typeface="Calibri" pitchFamily="34" charset="0"/>
                </a:rPr>
                <a:t> SA</a:t>
              </a:r>
              <a:endParaRPr lang="en-US" sz="1500" dirty="0">
                <a:latin typeface="Calibri" pitchFamily="34" charset="0"/>
              </a:endParaRP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3016920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</p:grpSp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3880968" y="4230964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105400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726142" y="3371155"/>
            <a:ext cx="2123514" cy="1824960"/>
            <a:chOff x="2729755" y="2502325"/>
            <a:chExt cx="1415676" cy="1104981"/>
          </a:xfrm>
        </p:grpSpPr>
        <p:pic>
          <p:nvPicPr>
            <p:cNvPr id="23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2365" t="1377" r="52589" b="65647"/>
            <a:stretch/>
          </p:blipFill>
          <p:spPr bwMode="auto">
            <a:xfrm>
              <a:off x="2729756" y="2502325"/>
              <a:ext cx="1254159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</p:grpSp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2895558" y="4818741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105400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 flipV="1">
            <a:off x="961901" y="5272646"/>
            <a:ext cx="436594" cy="2106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61901" y="5595356"/>
            <a:ext cx="508882" cy="16001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97114" y="3369159"/>
            <a:ext cx="2123514" cy="1824960"/>
            <a:chOff x="2729755" y="25011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629" t="1377" r="31535" b="65647"/>
            <a:stretch/>
          </p:blipFill>
          <p:spPr bwMode="auto">
            <a:xfrm>
              <a:off x="2760328" y="2501117"/>
              <a:ext cx="1236687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657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Connector 16"/>
          <p:cNvCxnSpPr/>
          <p:nvPr/>
        </p:nvCxnSpPr>
        <p:spPr>
          <a:xfrm>
            <a:off x="1650565" y="5249362"/>
            <a:ext cx="499850" cy="72555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696796" y="5429224"/>
            <a:ext cx="482648" cy="339952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313559" y="5490299"/>
            <a:ext cx="123085" cy="237696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5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24544" y="3360835"/>
            <a:ext cx="2123514" cy="1824960"/>
            <a:chOff x="2729755" y="25400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74526" t="1377" r="10406" b="65647"/>
            <a:stretch/>
          </p:blipFill>
          <p:spPr bwMode="auto">
            <a:xfrm>
              <a:off x="2790946" y="2540017"/>
              <a:ext cx="1256039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5729" name="Rectangle 33"/>
          <p:cNvSpPr>
            <a:spLocks noChangeArrowheads="1"/>
          </p:cNvSpPr>
          <p:nvPr/>
        </p:nvSpPr>
        <p:spPr bwMode="auto">
          <a:xfrm>
            <a:off x="5715000" y="2286000"/>
            <a:ext cx="38862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30" name="Rectangle 34"/>
          <p:cNvSpPr>
            <a:spLocks noChangeArrowheads="1"/>
          </p:cNvSpPr>
          <p:nvPr/>
        </p:nvSpPr>
        <p:spPr bwMode="auto">
          <a:xfrm>
            <a:off x="7485531" y="2286000"/>
            <a:ext cx="22860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Connector 17"/>
          <p:cNvCxnSpPr/>
          <p:nvPr/>
        </p:nvCxnSpPr>
        <p:spPr>
          <a:xfrm flipH="1">
            <a:off x="2263150" y="5923085"/>
            <a:ext cx="153093" cy="161615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721525" y="5899966"/>
            <a:ext cx="341806" cy="213762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83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24544" y="3360835"/>
            <a:ext cx="2123514" cy="1824960"/>
            <a:chOff x="2729755" y="25400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74526" t="1377" r="10406" b="65647"/>
            <a:stretch/>
          </p:blipFill>
          <p:spPr bwMode="auto">
            <a:xfrm>
              <a:off x="2790946" y="2540017"/>
              <a:ext cx="1256039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extBox 1"/>
          <p:cNvSpPr txBox="1"/>
          <p:nvPr/>
        </p:nvSpPr>
        <p:spPr>
          <a:xfrm>
            <a:off x="6443240" y="5728376"/>
            <a:ext cx="53423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FAIL </a:t>
            </a:r>
            <a:r>
              <a:rPr lang="mr-IN" sz="2600" dirty="0"/>
              <a:t>–</a:t>
            </a:r>
            <a:r>
              <a:rPr lang="en-US" sz="2600" dirty="0"/>
              <a:t> variable with no possible values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Connector 15"/>
          <p:cNvCxnSpPr/>
          <p:nvPr/>
        </p:nvCxnSpPr>
        <p:spPr>
          <a:xfrm flipH="1">
            <a:off x="2263150" y="5923085"/>
            <a:ext cx="153093" cy="161615"/>
          </a:xfrm>
          <a:prstGeom prst="line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721525" y="5899966"/>
            <a:ext cx="341806" cy="213762"/>
          </a:xfrm>
          <a:prstGeom prst="line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46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r>
              <a:rPr lang="en-US" sz="2400" dirty="0"/>
              <a:t>Forward checking propagates information from assigned to unassigned variables, but doesn't provide early detection for all failures</a:t>
            </a:r>
          </a:p>
          <a:p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Constraint Propagation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97114" y="3369159"/>
            <a:ext cx="2123514" cy="1824960"/>
            <a:chOff x="2729755" y="25011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629" t="1377" r="31535" b="65647"/>
            <a:stretch/>
          </p:blipFill>
          <p:spPr bwMode="auto">
            <a:xfrm>
              <a:off x="2760328" y="2501117"/>
              <a:ext cx="1236687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657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r>
              <a:rPr lang="en-US" sz="2400" dirty="0"/>
              <a:t>Forward checking propagates information from assigned to unassigned variables, but doesn't provide early detection for all failures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NT and SA cannot both be blue! </a:t>
            </a:r>
            <a:r>
              <a:rPr lang="en-US" sz="2400" dirty="0"/>
              <a:t>Why didn’t we detect this yet?</a:t>
            </a:r>
          </a:p>
          <a:p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Constraint Propagation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97114" y="3369159"/>
            <a:ext cx="2123514" cy="1824960"/>
            <a:chOff x="2729755" y="25011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629" t="1377" r="31535" b="65647"/>
            <a:stretch/>
          </p:blipFill>
          <p:spPr bwMode="auto">
            <a:xfrm>
              <a:off x="2760328" y="2501117"/>
              <a:ext cx="1236687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657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0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r>
              <a:rPr lang="en-US" sz="2400" dirty="0"/>
              <a:t>Forward checking propagates information from assigned to unassigned variables, but doesn't provide early detection for all failures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NT and SA cannot both be blue! </a:t>
            </a:r>
            <a:r>
              <a:rPr lang="en-US" sz="2400" dirty="0"/>
              <a:t>Why didn’t we detect this yet?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Constraint propagation: </a:t>
            </a:r>
            <a:r>
              <a:rPr lang="en-US" sz="2400" dirty="0"/>
              <a:t>reason from constraint to constraint</a:t>
            </a:r>
          </a:p>
          <a:p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Constraint Propagation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697114" y="3369159"/>
            <a:ext cx="2123514" cy="1824960"/>
            <a:chOff x="2729755" y="2501117"/>
            <a:chExt cx="1415676" cy="1104981"/>
          </a:xfrm>
        </p:grpSpPr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6643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644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629" t="1377" r="31535" b="65647"/>
            <a:stretch/>
          </p:blipFill>
          <p:spPr bwMode="auto">
            <a:xfrm>
              <a:off x="2760328" y="2501117"/>
              <a:ext cx="1236687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657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83649"/>
            <a:ext cx="10515600" cy="661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Consistency of A Single Arc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89316"/>
            <a:ext cx="11379200" cy="4729164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400" dirty="0"/>
              <a:t>An arc X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en-US" sz="2400" dirty="0"/>
              <a:t>Y is </a:t>
            </a:r>
            <a:r>
              <a:rPr lang="en-US" sz="2400" dirty="0">
                <a:solidFill>
                  <a:srgbClr val="C00000"/>
                </a:solidFill>
              </a:rPr>
              <a:t>consistent</a:t>
            </a:r>
            <a:r>
              <a:rPr lang="en-US" sz="2400" i="1" dirty="0"/>
              <a:t> </a:t>
            </a:r>
            <a:r>
              <a:rPr lang="en-US" sz="2400" dirty="0" err="1"/>
              <a:t>iff</a:t>
            </a:r>
            <a:r>
              <a:rPr lang="en-US" sz="2400" dirty="0"/>
              <a:t> for </a:t>
            </a:r>
            <a:r>
              <a:rPr lang="en-US" sz="2400" i="1" dirty="0"/>
              <a:t>every </a:t>
            </a:r>
            <a:r>
              <a:rPr lang="en-US" sz="2400" dirty="0"/>
              <a:t>x in the tail there is </a:t>
            </a:r>
            <a:r>
              <a:rPr lang="en-US" sz="2400" i="1" dirty="0"/>
              <a:t>some </a:t>
            </a:r>
            <a:r>
              <a:rPr lang="en-US" sz="2400" dirty="0"/>
              <a:t>y in the head which could be assigned without violating a constraint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Remove values in the domain of X if there isn’t a corresponding legal Y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Forward checking: Enforcing consistency of arcs pointing to each new assignment</a:t>
            </a:r>
          </a:p>
        </p:txBody>
      </p:sp>
      <p:sp>
        <p:nvSpPr>
          <p:cNvPr id="927757" name="Freeform 13"/>
          <p:cNvSpPr>
            <a:spLocks/>
          </p:cNvSpPr>
          <p:nvPr/>
        </p:nvSpPr>
        <p:spPr bwMode="auto">
          <a:xfrm>
            <a:off x="3757101" y="5335365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3757101" y="5325443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t="35036" r="14557" b="37324"/>
          <a:stretch/>
        </p:blipFill>
        <p:spPr bwMode="auto">
          <a:xfrm>
            <a:off x="3124159" y="4284432"/>
            <a:ext cx="7122459" cy="1021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4"/>
          <p:cNvPicPr>
            <a:picLocks noChangeAspect="1" noChangeArrowheads="1"/>
          </p:cNvPicPr>
          <p:nvPr/>
        </p:nvPicPr>
        <p:blipFill>
          <a:blip r:embed="rId3" cstate="print"/>
          <a:srcRect l="2042" t="89345" r="86736" b="2664"/>
          <a:stretch>
            <a:fillRect/>
          </a:stretch>
        </p:blipFill>
        <p:spPr bwMode="auto">
          <a:xfrm>
            <a:off x="3279733" y="4934521"/>
            <a:ext cx="943923" cy="257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5"/>
          <p:cNvGrpSpPr/>
          <p:nvPr/>
        </p:nvGrpSpPr>
        <p:grpSpPr>
          <a:xfrm>
            <a:off x="797759" y="3592578"/>
            <a:ext cx="2123514" cy="1824960"/>
            <a:chOff x="2729755" y="2502325"/>
            <a:chExt cx="1415676" cy="1104981"/>
          </a:xfrm>
        </p:grpSpPr>
        <p:pic>
          <p:nvPicPr>
            <p:cNvPr id="18" name="Picture 4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2365" t="1377" r="52589" b="65647"/>
            <a:stretch/>
          </p:blipFill>
          <p:spPr bwMode="auto">
            <a:xfrm>
              <a:off x="2729756" y="2502325"/>
              <a:ext cx="1254159" cy="110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Text Box 23"/>
            <p:cNvSpPr txBox="1">
              <a:spLocks noChangeArrowheads="1"/>
            </p:cNvSpPr>
            <p:nvPr/>
          </p:nvSpPr>
          <p:spPr bwMode="auto">
            <a:xfrm>
              <a:off x="2729755" y="2756649"/>
              <a:ext cx="5921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3177990" y="2891120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3119721" y="264346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30" name="Text Box 26"/>
            <p:cNvSpPr txBox="1">
              <a:spLocks noChangeArrowheads="1"/>
            </p:cNvSpPr>
            <p:nvPr/>
          </p:nvSpPr>
          <p:spPr bwMode="auto">
            <a:xfrm>
              <a:off x="3491755" y="2680449"/>
              <a:ext cx="452439" cy="215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31" name="Text Box 27"/>
            <p:cNvSpPr txBox="1">
              <a:spLocks noChangeArrowheads="1"/>
            </p:cNvSpPr>
            <p:nvPr/>
          </p:nvSpPr>
          <p:spPr bwMode="auto">
            <a:xfrm>
              <a:off x="3496235" y="2985252"/>
              <a:ext cx="622300" cy="184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3523131" y="3177989"/>
              <a:ext cx="622300" cy="3238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</p:grp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" name="Straight Connector 33"/>
          <p:cNvCxnSpPr/>
          <p:nvPr/>
        </p:nvCxnSpPr>
        <p:spPr>
          <a:xfrm flipV="1">
            <a:off x="961901" y="5272646"/>
            <a:ext cx="436594" cy="2106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961901" y="5595356"/>
            <a:ext cx="508882" cy="16001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62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60" grpId="0" animBg="1"/>
      <p:bldP spid="92776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(1/6)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520680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V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NSW is consistent: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every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tail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head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which  could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assigned without violating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56337" y="3437920"/>
            <a:ext cx="1225550" cy="216535"/>
          </a:xfrm>
          <a:custGeom>
            <a:avLst/>
            <a:gdLst/>
            <a:ahLst/>
            <a:cxnLst/>
            <a:rect l="l" t="t" r="r" b="b"/>
            <a:pathLst>
              <a:path w="1225550" h="216535">
                <a:moveTo>
                  <a:pt x="113037" y="70435"/>
                </a:moveTo>
                <a:lnTo>
                  <a:pt x="130846" y="118685"/>
                </a:lnTo>
                <a:lnTo>
                  <a:pt x="200853" y="144668"/>
                </a:lnTo>
                <a:lnTo>
                  <a:pt x="271815" y="168012"/>
                </a:lnTo>
                <a:lnTo>
                  <a:pt x="343658" y="187718"/>
                </a:lnTo>
                <a:lnTo>
                  <a:pt x="417192" y="203004"/>
                </a:lnTo>
                <a:lnTo>
                  <a:pt x="492378" y="212850"/>
                </a:lnTo>
                <a:lnTo>
                  <a:pt x="530654" y="215437"/>
                </a:lnTo>
                <a:lnTo>
                  <a:pt x="569394" y="216312"/>
                </a:lnTo>
                <a:lnTo>
                  <a:pt x="608543" y="215402"/>
                </a:lnTo>
                <a:lnTo>
                  <a:pt x="648060" y="212791"/>
                </a:lnTo>
                <a:lnTo>
                  <a:pt x="687920" y="208597"/>
                </a:lnTo>
                <a:lnTo>
                  <a:pt x="728097" y="202942"/>
                </a:lnTo>
                <a:lnTo>
                  <a:pt x="768563" y="195941"/>
                </a:lnTo>
                <a:lnTo>
                  <a:pt x="809499" y="187665"/>
                </a:lnTo>
                <a:lnTo>
                  <a:pt x="848893" y="178222"/>
                </a:lnTo>
                <a:lnTo>
                  <a:pt x="568525" y="178222"/>
                </a:lnTo>
                <a:lnTo>
                  <a:pt x="531533" y="177347"/>
                </a:lnTo>
                <a:lnTo>
                  <a:pt x="458773" y="170799"/>
                </a:lnTo>
                <a:lnTo>
                  <a:pt x="387355" y="158554"/>
                </a:lnTo>
                <a:lnTo>
                  <a:pt x="281904" y="131272"/>
                </a:lnTo>
                <a:lnTo>
                  <a:pt x="212770" y="108479"/>
                </a:lnTo>
                <a:lnTo>
                  <a:pt x="144109" y="82967"/>
                </a:lnTo>
                <a:lnTo>
                  <a:pt x="113037" y="70435"/>
                </a:lnTo>
                <a:close/>
              </a:path>
              <a:path w="1225550" h="216535">
                <a:moveTo>
                  <a:pt x="1213079" y="26827"/>
                </a:moveTo>
                <a:lnTo>
                  <a:pt x="1045914" y="82734"/>
                </a:lnTo>
                <a:lnTo>
                  <a:pt x="963171" y="108377"/>
                </a:lnTo>
                <a:lnTo>
                  <a:pt x="881321" y="131298"/>
                </a:lnTo>
                <a:lnTo>
                  <a:pt x="800624" y="150613"/>
                </a:lnTo>
                <a:lnTo>
                  <a:pt x="761023" y="158595"/>
                </a:lnTo>
                <a:lnTo>
                  <a:pt x="721608" y="165398"/>
                </a:lnTo>
                <a:lnTo>
                  <a:pt x="682618" y="170868"/>
                </a:lnTo>
                <a:lnTo>
                  <a:pt x="644085" y="174898"/>
                </a:lnTo>
                <a:lnTo>
                  <a:pt x="606044" y="177383"/>
                </a:lnTo>
                <a:lnTo>
                  <a:pt x="568525" y="178222"/>
                </a:lnTo>
                <a:lnTo>
                  <a:pt x="848893" y="178222"/>
                </a:lnTo>
                <a:lnTo>
                  <a:pt x="891598" y="167986"/>
                </a:lnTo>
                <a:lnTo>
                  <a:pt x="974451" y="144769"/>
                </a:lnTo>
                <a:lnTo>
                  <a:pt x="1057841" y="118918"/>
                </a:lnTo>
                <a:lnTo>
                  <a:pt x="1225321" y="62906"/>
                </a:lnTo>
                <a:lnTo>
                  <a:pt x="1213079" y="26827"/>
                </a:lnTo>
                <a:close/>
              </a:path>
              <a:path w="1225550" h="216535">
                <a:moveTo>
                  <a:pt x="141859" y="0"/>
                </a:moveTo>
                <a:lnTo>
                  <a:pt x="0" y="44867"/>
                </a:lnTo>
                <a:lnTo>
                  <a:pt x="69714" y="176310"/>
                </a:lnTo>
                <a:lnTo>
                  <a:pt x="98610" y="105692"/>
                </a:lnTo>
                <a:lnTo>
                  <a:pt x="81032" y="98607"/>
                </a:lnTo>
                <a:lnTo>
                  <a:pt x="95279" y="63272"/>
                </a:lnTo>
                <a:lnTo>
                  <a:pt x="115968" y="63272"/>
                </a:lnTo>
                <a:lnTo>
                  <a:pt x="141859" y="0"/>
                </a:lnTo>
                <a:close/>
              </a:path>
              <a:path w="1225550" h="216535">
                <a:moveTo>
                  <a:pt x="95279" y="63272"/>
                </a:moveTo>
                <a:lnTo>
                  <a:pt x="81032" y="98607"/>
                </a:lnTo>
                <a:lnTo>
                  <a:pt x="98610" y="105692"/>
                </a:lnTo>
                <a:lnTo>
                  <a:pt x="113037" y="70435"/>
                </a:lnTo>
                <a:lnTo>
                  <a:pt x="95279" y="63272"/>
                </a:lnTo>
                <a:close/>
              </a:path>
              <a:path w="1225550" h="216535">
                <a:moveTo>
                  <a:pt x="115968" y="63272"/>
                </a:moveTo>
                <a:lnTo>
                  <a:pt x="95279" y="63272"/>
                </a:lnTo>
                <a:lnTo>
                  <a:pt x="113037" y="70435"/>
                </a:lnTo>
                <a:lnTo>
                  <a:pt x="115968" y="6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(2/6)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663555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SA to NSW is consistent: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every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tail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head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which  could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assigned without violating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441861"/>
            <a:ext cx="2292985" cy="365125"/>
          </a:xfrm>
          <a:custGeom>
            <a:avLst/>
            <a:gdLst/>
            <a:ahLst/>
            <a:cxnLst/>
            <a:rect l="l" t="t" r="r" b="b"/>
            <a:pathLst>
              <a:path w="2292984" h="365125">
                <a:moveTo>
                  <a:pt x="112248" y="69700"/>
                </a:moveTo>
                <a:lnTo>
                  <a:pt x="121188" y="115302"/>
                </a:lnTo>
                <a:lnTo>
                  <a:pt x="250611" y="170498"/>
                </a:lnTo>
                <a:lnTo>
                  <a:pt x="315761" y="196918"/>
                </a:lnTo>
                <a:lnTo>
                  <a:pt x="381252" y="222239"/>
                </a:lnTo>
                <a:lnTo>
                  <a:pt x="447141" y="246233"/>
                </a:lnTo>
                <a:lnTo>
                  <a:pt x="513486" y="268676"/>
                </a:lnTo>
                <a:lnTo>
                  <a:pt x="580344" y="289337"/>
                </a:lnTo>
                <a:lnTo>
                  <a:pt x="647771" y="307987"/>
                </a:lnTo>
                <a:lnTo>
                  <a:pt x="715821" y="324398"/>
                </a:lnTo>
                <a:lnTo>
                  <a:pt x="784551" y="338338"/>
                </a:lnTo>
                <a:lnTo>
                  <a:pt x="854012" y="349575"/>
                </a:lnTo>
                <a:lnTo>
                  <a:pt x="924256" y="357880"/>
                </a:lnTo>
                <a:lnTo>
                  <a:pt x="995330" y="363021"/>
                </a:lnTo>
                <a:lnTo>
                  <a:pt x="1067263" y="364770"/>
                </a:lnTo>
                <a:lnTo>
                  <a:pt x="1140007" y="362981"/>
                </a:lnTo>
                <a:lnTo>
                  <a:pt x="1213505" y="357812"/>
                </a:lnTo>
                <a:lnTo>
                  <a:pt x="1287703" y="349497"/>
                </a:lnTo>
                <a:lnTo>
                  <a:pt x="1362552" y="338267"/>
                </a:lnTo>
                <a:lnTo>
                  <a:pt x="1425363" y="326682"/>
                </a:lnTo>
                <a:lnTo>
                  <a:pt x="1066337" y="326682"/>
                </a:lnTo>
                <a:lnTo>
                  <a:pt x="996269" y="324933"/>
                </a:lnTo>
                <a:lnTo>
                  <a:pt x="927017" y="319879"/>
                </a:lnTo>
                <a:lnTo>
                  <a:pt x="858497" y="311740"/>
                </a:lnTo>
                <a:lnTo>
                  <a:pt x="790646" y="300728"/>
                </a:lnTo>
                <a:lnTo>
                  <a:pt x="723403" y="287059"/>
                </a:lnTo>
                <a:lnTo>
                  <a:pt x="656709" y="270950"/>
                </a:lnTo>
                <a:lnTo>
                  <a:pt x="590506" y="252618"/>
                </a:lnTo>
                <a:lnTo>
                  <a:pt x="524739" y="232276"/>
                </a:lnTo>
                <a:lnTo>
                  <a:pt x="459352" y="210144"/>
                </a:lnTo>
                <a:lnTo>
                  <a:pt x="394291" y="186439"/>
                </a:lnTo>
                <a:lnTo>
                  <a:pt x="329502" y="161382"/>
                </a:lnTo>
                <a:lnTo>
                  <a:pt x="264930" y="135191"/>
                </a:lnTo>
                <a:lnTo>
                  <a:pt x="136136" y="80256"/>
                </a:lnTo>
                <a:lnTo>
                  <a:pt x="112248" y="69700"/>
                </a:lnTo>
                <a:close/>
              </a:path>
              <a:path w="2292984" h="365125">
                <a:moveTo>
                  <a:pt x="2279517" y="23013"/>
                </a:moveTo>
                <a:lnTo>
                  <a:pt x="2122429" y="79866"/>
                </a:lnTo>
                <a:lnTo>
                  <a:pt x="1965952" y="134874"/>
                </a:lnTo>
                <a:lnTo>
                  <a:pt x="1888169" y="161099"/>
                </a:lnTo>
                <a:lnTo>
                  <a:pt x="1810649" y="186217"/>
                </a:lnTo>
                <a:lnTo>
                  <a:pt x="1733511" y="209984"/>
                </a:lnTo>
                <a:lnTo>
                  <a:pt x="1656816" y="232177"/>
                </a:lnTo>
                <a:lnTo>
                  <a:pt x="1580622" y="252576"/>
                </a:lnTo>
                <a:lnTo>
                  <a:pt x="1504989" y="270958"/>
                </a:lnTo>
                <a:lnTo>
                  <a:pt x="1429976" y="287106"/>
                </a:lnTo>
                <a:lnTo>
                  <a:pt x="1355646" y="300798"/>
                </a:lnTo>
                <a:lnTo>
                  <a:pt x="1282056" y="311818"/>
                </a:lnTo>
                <a:lnTo>
                  <a:pt x="1209268" y="319948"/>
                </a:lnTo>
                <a:lnTo>
                  <a:pt x="1137343" y="324973"/>
                </a:lnTo>
                <a:lnTo>
                  <a:pt x="1066337" y="326682"/>
                </a:lnTo>
                <a:lnTo>
                  <a:pt x="1425363" y="326682"/>
                </a:lnTo>
                <a:lnTo>
                  <a:pt x="1513989" y="307980"/>
                </a:lnTo>
                <a:lnTo>
                  <a:pt x="1590478" y="289379"/>
                </a:lnTo>
                <a:lnTo>
                  <a:pt x="1667408" y="268775"/>
                </a:lnTo>
                <a:lnTo>
                  <a:pt x="1744732" y="246395"/>
                </a:lnTo>
                <a:lnTo>
                  <a:pt x="1822394" y="222462"/>
                </a:lnTo>
                <a:lnTo>
                  <a:pt x="1900344" y="197201"/>
                </a:lnTo>
                <a:lnTo>
                  <a:pt x="1978588" y="170817"/>
                </a:lnTo>
                <a:lnTo>
                  <a:pt x="2135395" y="115691"/>
                </a:lnTo>
                <a:lnTo>
                  <a:pt x="2292483" y="58839"/>
                </a:lnTo>
                <a:lnTo>
                  <a:pt x="2279517" y="23013"/>
                </a:lnTo>
                <a:close/>
              </a:path>
              <a:path w="2292984" h="365125">
                <a:moveTo>
                  <a:pt x="143046" y="0"/>
                </a:moveTo>
                <a:lnTo>
                  <a:pt x="0" y="40927"/>
                </a:lnTo>
                <a:lnTo>
                  <a:pt x="66051" y="174247"/>
                </a:lnTo>
                <a:lnTo>
                  <a:pt x="96849" y="104548"/>
                </a:lnTo>
                <a:lnTo>
                  <a:pt x="79424" y="96848"/>
                </a:lnTo>
                <a:lnTo>
                  <a:pt x="94823" y="62000"/>
                </a:lnTo>
                <a:lnTo>
                  <a:pt x="115650" y="62000"/>
                </a:lnTo>
                <a:lnTo>
                  <a:pt x="143046" y="0"/>
                </a:lnTo>
                <a:close/>
              </a:path>
              <a:path w="2292984" h="365125">
                <a:moveTo>
                  <a:pt x="94823" y="62000"/>
                </a:moveTo>
                <a:lnTo>
                  <a:pt x="79424" y="96848"/>
                </a:lnTo>
                <a:lnTo>
                  <a:pt x="96849" y="104548"/>
                </a:lnTo>
                <a:lnTo>
                  <a:pt x="112248" y="69700"/>
                </a:lnTo>
                <a:lnTo>
                  <a:pt x="94823" y="62000"/>
                </a:lnTo>
                <a:close/>
              </a:path>
              <a:path w="2292984" h="365125">
                <a:moveTo>
                  <a:pt x="115650" y="62000"/>
                </a:moveTo>
                <a:lnTo>
                  <a:pt x="94823" y="62000"/>
                </a:lnTo>
                <a:lnTo>
                  <a:pt x="112248" y="69700"/>
                </a:lnTo>
                <a:lnTo>
                  <a:pt x="115650" y="62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(3/6)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943590" cy="988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NSW to SA is not consistent: if we assign 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 blue, 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valid assignment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left for</a:t>
            </a:r>
            <a:r>
              <a:rPr sz="24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SA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make this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consistent, we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delete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tail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48638" y="3432120"/>
            <a:ext cx="2294255" cy="374650"/>
          </a:xfrm>
          <a:custGeom>
            <a:avLst/>
            <a:gdLst/>
            <a:ahLst/>
            <a:cxnLst/>
            <a:rect l="l" t="t" r="r" b="b"/>
            <a:pathLst>
              <a:path w="2294254" h="374650">
                <a:moveTo>
                  <a:pt x="15398" y="33242"/>
                </a:moveTo>
                <a:lnTo>
                  <a:pt x="0" y="68092"/>
                </a:lnTo>
                <a:lnTo>
                  <a:pt x="128887" y="125042"/>
                </a:lnTo>
                <a:lnTo>
                  <a:pt x="258310" y="180239"/>
                </a:lnTo>
                <a:lnTo>
                  <a:pt x="323460" y="206659"/>
                </a:lnTo>
                <a:lnTo>
                  <a:pt x="388951" y="231980"/>
                </a:lnTo>
                <a:lnTo>
                  <a:pt x="454840" y="255974"/>
                </a:lnTo>
                <a:lnTo>
                  <a:pt x="521185" y="278417"/>
                </a:lnTo>
                <a:lnTo>
                  <a:pt x="588043" y="299078"/>
                </a:lnTo>
                <a:lnTo>
                  <a:pt x="655469" y="317728"/>
                </a:lnTo>
                <a:lnTo>
                  <a:pt x="723520" y="334139"/>
                </a:lnTo>
                <a:lnTo>
                  <a:pt x="792250" y="348079"/>
                </a:lnTo>
                <a:lnTo>
                  <a:pt x="861711" y="359316"/>
                </a:lnTo>
                <a:lnTo>
                  <a:pt x="931955" y="367621"/>
                </a:lnTo>
                <a:lnTo>
                  <a:pt x="1003029" y="372762"/>
                </a:lnTo>
                <a:lnTo>
                  <a:pt x="1074962" y="374511"/>
                </a:lnTo>
                <a:lnTo>
                  <a:pt x="1147706" y="372722"/>
                </a:lnTo>
                <a:lnTo>
                  <a:pt x="1221204" y="367553"/>
                </a:lnTo>
                <a:lnTo>
                  <a:pt x="1295402" y="359238"/>
                </a:lnTo>
                <a:lnTo>
                  <a:pt x="1370251" y="348007"/>
                </a:lnTo>
                <a:lnTo>
                  <a:pt x="1433061" y="336423"/>
                </a:lnTo>
                <a:lnTo>
                  <a:pt x="1074036" y="336423"/>
                </a:lnTo>
                <a:lnTo>
                  <a:pt x="1003968" y="334674"/>
                </a:lnTo>
                <a:lnTo>
                  <a:pt x="934716" y="329620"/>
                </a:lnTo>
                <a:lnTo>
                  <a:pt x="866195" y="321481"/>
                </a:lnTo>
                <a:lnTo>
                  <a:pt x="798344" y="310469"/>
                </a:lnTo>
                <a:lnTo>
                  <a:pt x="731102" y="296800"/>
                </a:lnTo>
                <a:lnTo>
                  <a:pt x="664408" y="280691"/>
                </a:lnTo>
                <a:lnTo>
                  <a:pt x="598205" y="262359"/>
                </a:lnTo>
                <a:lnTo>
                  <a:pt x="532438" y="242017"/>
                </a:lnTo>
                <a:lnTo>
                  <a:pt x="467051" y="219885"/>
                </a:lnTo>
                <a:lnTo>
                  <a:pt x="401990" y="196180"/>
                </a:lnTo>
                <a:lnTo>
                  <a:pt x="337201" y="171123"/>
                </a:lnTo>
                <a:lnTo>
                  <a:pt x="272629" y="144932"/>
                </a:lnTo>
                <a:lnTo>
                  <a:pt x="143835" y="89997"/>
                </a:lnTo>
                <a:lnTo>
                  <a:pt x="15398" y="33242"/>
                </a:lnTo>
                <a:close/>
              </a:path>
              <a:path w="2294254" h="374650">
                <a:moveTo>
                  <a:pt x="2179738" y="71651"/>
                </a:moveTo>
                <a:lnTo>
                  <a:pt x="2130127" y="89607"/>
                </a:lnTo>
                <a:lnTo>
                  <a:pt x="1973651" y="144614"/>
                </a:lnTo>
                <a:lnTo>
                  <a:pt x="1895868" y="170840"/>
                </a:lnTo>
                <a:lnTo>
                  <a:pt x="1818347" y="195958"/>
                </a:lnTo>
                <a:lnTo>
                  <a:pt x="1741210" y="219725"/>
                </a:lnTo>
                <a:lnTo>
                  <a:pt x="1664515" y="241918"/>
                </a:lnTo>
                <a:lnTo>
                  <a:pt x="1588321" y="262317"/>
                </a:lnTo>
                <a:lnTo>
                  <a:pt x="1512688" y="280699"/>
                </a:lnTo>
                <a:lnTo>
                  <a:pt x="1437675" y="296847"/>
                </a:lnTo>
                <a:lnTo>
                  <a:pt x="1363345" y="310539"/>
                </a:lnTo>
                <a:lnTo>
                  <a:pt x="1289754" y="321558"/>
                </a:lnTo>
                <a:lnTo>
                  <a:pt x="1216967" y="329689"/>
                </a:lnTo>
                <a:lnTo>
                  <a:pt x="1145042" y="334714"/>
                </a:lnTo>
                <a:lnTo>
                  <a:pt x="1074036" y="336423"/>
                </a:lnTo>
                <a:lnTo>
                  <a:pt x="1433061" y="336423"/>
                </a:lnTo>
                <a:lnTo>
                  <a:pt x="1521688" y="317720"/>
                </a:lnTo>
                <a:lnTo>
                  <a:pt x="1598176" y="299120"/>
                </a:lnTo>
                <a:lnTo>
                  <a:pt x="1675107" y="278516"/>
                </a:lnTo>
                <a:lnTo>
                  <a:pt x="1752431" y="256136"/>
                </a:lnTo>
                <a:lnTo>
                  <a:pt x="1830092" y="232202"/>
                </a:lnTo>
                <a:lnTo>
                  <a:pt x="1908042" y="206942"/>
                </a:lnTo>
                <a:lnTo>
                  <a:pt x="1986287" y="180558"/>
                </a:lnTo>
                <a:lnTo>
                  <a:pt x="2143094" y="125432"/>
                </a:lnTo>
                <a:lnTo>
                  <a:pt x="2192704" y="107478"/>
                </a:lnTo>
                <a:lnTo>
                  <a:pt x="2179738" y="71651"/>
                </a:lnTo>
                <a:close/>
              </a:path>
              <a:path w="2294254" h="374650">
                <a:moveTo>
                  <a:pt x="2285225" y="65168"/>
                </a:moveTo>
                <a:lnTo>
                  <a:pt x="2197651" y="65168"/>
                </a:lnTo>
                <a:lnTo>
                  <a:pt x="2210617" y="100995"/>
                </a:lnTo>
                <a:lnTo>
                  <a:pt x="2192704" y="107478"/>
                </a:lnTo>
                <a:lnTo>
                  <a:pt x="2218636" y="179129"/>
                </a:lnTo>
                <a:lnTo>
                  <a:pt x="2285225" y="65168"/>
                </a:lnTo>
                <a:close/>
              </a:path>
              <a:path w="2294254" h="374650">
                <a:moveTo>
                  <a:pt x="2197651" y="65168"/>
                </a:moveTo>
                <a:lnTo>
                  <a:pt x="2179738" y="71651"/>
                </a:lnTo>
                <a:lnTo>
                  <a:pt x="2192704" y="107478"/>
                </a:lnTo>
                <a:lnTo>
                  <a:pt x="2210617" y="100995"/>
                </a:lnTo>
                <a:lnTo>
                  <a:pt x="2197651" y="65168"/>
                </a:lnTo>
                <a:close/>
              </a:path>
              <a:path w="2294254" h="374650">
                <a:moveTo>
                  <a:pt x="2153806" y="0"/>
                </a:moveTo>
                <a:lnTo>
                  <a:pt x="2179738" y="71651"/>
                </a:lnTo>
                <a:lnTo>
                  <a:pt x="2197651" y="65168"/>
                </a:lnTo>
                <a:lnTo>
                  <a:pt x="2285225" y="65168"/>
                </a:lnTo>
                <a:lnTo>
                  <a:pt x="2293698" y="50667"/>
                </a:lnTo>
                <a:lnTo>
                  <a:pt x="21538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(4/6)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1033760" cy="163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90575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Remember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that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V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NSW was consistent,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when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had red and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 in its  domain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After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removing blue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NSW, this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might not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consistent anymore!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We need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recheck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400" spc="-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78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Important: If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loses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value,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neighbors of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need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rechecked!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56337" y="3437920"/>
            <a:ext cx="1225550" cy="216535"/>
          </a:xfrm>
          <a:custGeom>
            <a:avLst/>
            <a:gdLst/>
            <a:ahLst/>
            <a:cxnLst/>
            <a:rect l="l" t="t" r="r" b="b"/>
            <a:pathLst>
              <a:path w="1225550" h="216535">
                <a:moveTo>
                  <a:pt x="113037" y="70435"/>
                </a:moveTo>
                <a:lnTo>
                  <a:pt x="130846" y="118685"/>
                </a:lnTo>
                <a:lnTo>
                  <a:pt x="200853" y="144668"/>
                </a:lnTo>
                <a:lnTo>
                  <a:pt x="271815" y="168012"/>
                </a:lnTo>
                <a:lnTo>
                  <a:pt x="343658" y="187718"/>
                </a:lnTo>
                <a:lnTo>
                  <a:pt x="417192" y="203004"/>
                </a:lnTo>
                <a:lnTo>
                  <a:pt x="492378" y="212850"/>
                </a:lnTo>
                <a:lnTo>
                  <a:pt x="530654" y="215437"/>
                </a:lnTo>
                <a:lnTo>
                  <a:pt x="569394" y="216312"/>
                </a:lnTo>
                <a:lnTo>
                  <a:pt x="608543" y="215402"/>
                </a:lnTo>
                <a:lnTo>
                  <a:pt x="648060" y="212791"/>
                </a:lnTo>
                <a:lnTo>
                  <a:pt x="687920" y="208597"/>
                </a:lnTo>
                <a:lnTo>
                  <a:pt x="728097" y="202942"/>
                </a:lnTo>
                <a:lnTo>
                  <a:pt x="768563" y="195941"/>
                </a:lnTo>
                <a:lnTo>
                  <a:pt x="809499" y="187665"/>
                </a:lnTo>
                <a:lnTo>
                  <a:pt x="848893" y="178222"/>
                </a:lnTo>
                <a:lnTo>
                  <a:pt x="568525" y="178222"/>
                </a:lnTo>
                <a:lnTo>
                  <a:pt x="531533" y="177347"/>
                </a:lnTo>
                <a:lnTo>
                  <a:pt x="458773" y="170799"/>
                </a:lnTo>
                <a:lnTo>
                  <a:pt x="387355" y="158554"/>
                </a:lnTo>
                <a:lnTo>
                  <a:pt x="281904" y="131272"/>
                </a:lnTo>
                <a:lnTo>
                  <a:pt x="212770" y="108479"/>
                </a:lnTo>
                <a:lnTo>
                  <a:pt x="144109" y="82967"/>
                </a:lnTo>
                <a:lnTo>
                  <a:pt x="113037" y="70435"/>
                </a:lnTo>
                <a:close/>
              </a:path>
              <a:path w="1225550" h="216535">
                <a:moveTo>
                  <a:pt x="1213079" y="26827"/>
                </a:moveTo>
                <a:lnTo>
                  <a:pt x="1045914" y="82734"/>
                </a:lnTo>
                <a:lnTo>
                  <a:pt x="963171" y="108377"/>
                </a:lnTo>
                <a:lnTo>
                  <a:pt x="881321" y="131298"/>
                </a:lnTo>
                <a:lnTo>
                  <a:pt x="800624" y="150613"/>
                </a:lnTo>
                <a:lnTo>
                  <a:pt x="761023" y="158595"/>
                </a:lnTo>
                <a:lnTo>
                  <a:pt x="721608" y="165398"/>
                </a:lnTo>
                <a:lnTo>
                  <a:pt x="682618" y="170868"/>
                </a:lnTo>
                <a:lnTo>
                  <a:pt x="644085" y="174898"/>
                </a:lnTo>
                <a:lnTo>
                  <a:pt x="606044" y="177383"/>
                </a:lnTo>
                <a:lnTo>
                  <a:pt x="568525" y="178222"/>
                </a:lnTo>
                <a:lnTo>
                  <a:pt x="848893" y="178222"/>
                </a:lnTo>
                <a:lnTo>
                  <a:pt x="891598" y="167986"/>
                </a:lnTo>
                <a:lnTo>
                  <a:pt x="974451" y="144769"/>
                </a:lnTo>
                <a:lnTo>
                  <a:pt x="1057841" y="118918"/>
                </a:lnTo>
                <a:lnTo>
                  <a:pt x="1225321" y="62906"/>
                </a:lnTo>
                <a:lnTo>
                  <a:pt x="1213079" y="26827"/>
                </a:lnTo>
                <a:close/>
              </a:path>
              <a:path w="1225550" h="216535">
                <a:moveTo>
                  <a:pt x="141859" y="0"/>
                </a:moveTo>
                <a:lnTo>
                  <a:pt x="0" y="44867"/>
                </a:lnTo>
                <a:lnTo>
                  <a:pt x="69714" y="176310"/>
                </a:lnTo>
                <a:lnTo>
                  <a:pt x="98610" y="105692"/>
                </a:lnTo>
                <a:lnTo>
                  <a:pt x="81032" y="98607"/>
                </a:lnTo>
                <a:lnTo>
                  <a:pt x="95279" y="63272"/>
                </a:lnTo>
                <a:lnTo>
                  <a:pt x="115968" y="63272"/>
                </a:lnTo>
                <a:lnTo>
                  <a:pt x="141859" y="0"/>
                </a:lnTo>
                <a:close/>
              </a:path>
              <a:path w="1225550" h="216535">
                <a:moveTo>
                  <a:pt x="95279" y="63272"/>
                </a:moveTo>
                <a:lnTo>
                  <a:pt x="81032" y="98607"/>
                </a:lnTo>
                <a:lnTo>
                  <a:pt x="98610" y="105692"/>
                </a:lnTo>
                <a:lnTo>
                  <a:pt x="113037" y="70435"/>
                </a:lnTo>
                <a:lnTo>
                  <a:pt x="95279" y="63272"/>
                </a:lnTo>
                <a:close/>
              </a:path>
              <a:path w="1225550" h="216535">
                <a:moveTo>
                  <a:pt x="115968" y="63272"/>
                </a:moveTo>
                <a:lnTo>
                  <a:pt x="95279" y="63272"/>
                </a:lnTo>
                <a:lnTo>
                  <a:pt x="113037" y="70435"/>
                </a:lnTo>
                <a:lnTo>
                  <a:pt x="115968" y="6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3" name="object 13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(5/6)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184904"/>
            <a:ext cx="111658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SA to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NT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inconsistent.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make it consistent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deleting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the tail (SA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400" spc="1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897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94138" y="3420831"/>
            <a:ext cx="4652645" cy="462280"/>
          </a:xfrm>
          <a:custGeom>
            <a:avLst/>
            <a:gdLst/>
            <a:ahLst/>
            <a:cxnLst/>
            <a:rect l="l" t="t" r="r" b="b"/>
            <a:pathLst>
              <a:path w="4652645" h="462279">
                <a:moveTo>
                  <a:pt x="115296" y="73535"/>
                </a:moveTo>
                <a:lnTo>
                  <a:pt x="519523" y="220338"/>
                </a:lnTo>
                <a:lnTo>
                  <a:pt x="651611" y="253269"/>
                </a:lnTo>
                <a:lnTo>
                  <a:pt x="784306" y="284812"/>
                </a:lnTo>
                <a:lnTo>
                  <a:pt x="917722" y="314685"/>
                </a:lnTo>
                <a:lnTo>
                  <a:pt x="1051971" y="342609"/>
                </a:lnTo>
                <a:lnTo>
                  <a:pt x="1187272" y="368317"/>
                </a:lnTo>
                <a:lnTo>
                  <a:pt x="1323423" y="391478"/>
                </a:lnTo>
                <a:lnTo>
                  <a:pt x="1460850" y="411862"/>
                </a:lnTo>
                <a:lnTo>
                  <a:pt x="1599561" y="429171"/>
                </a:lnTo>
                <a:lnTo>
                  <a:pt x="1739666" y="443119"/>
                </a:lnTo>
                <a:lnTo>
                  <a:pt x="1881277" y="453429"/>
                </a:lnTo>
                <a:lnTo>
                  <a:pt x="2024504" y="459818"/>
                </a:lnTo>
                <a:lnTo>
                  <a:pt x="2169444" y="462004"/>
                </a:lnTo>
                <a:lnTo>
                  <a:pt x="2316125" y="459803"/>
                </a:lnTo>
                <a:lnTo>
                  <a:pt x="2464459" y="453403"/>
                </a:lnTo>
                <a:lnTo>
                  <a:pt x="2614336" y="443090"/>
                </a:lnTo>
                <a:lnTo>
                  <a:pt x="2765644" y="429143"/>
                </a:lnTo>
                <a:lnTo>
                  <a:pt x="2811833" y="423908"/>
                </a:lnTo>
                <a:lnTo>
                  <a:pt x="2168874" y="423908"/>
                </a:lnTo>
                <a:lnTo>
                  <a:pt x="2025081" y="421722"/>
                </a:lnTo>
                <a:lnTo>
                  <a:pt x="1882976" y="415367"/>
                </a:lnTo>
                <a:lnTo>
                  <a:pt x="1742434" y="405121"/>
                </a:lnTo>
                <a:lnTo>
                  <a:pt x="1603338" y="391257"/>
                </a:lnTo>
                <a:lnTo>
                  <a:pt x="1465569" y="374056"/>
                </a:lnTo>
                <a:lnTo>
                  <a:pt x="1329015" y="353791"/>
                </a:lnTo>
                <a:lnTo>
                  <a:pt x="1193471" y="330723"/>
                </a:lnTo>
                <a:lnTo>
                  <a:pt x="1059084" y="305178"/>
                </a:lnTo>
                <a:lnTo>
                  <a:pt x="925480" y="277384"/>
                </a:lnTo>
                <a:lnTo>
                  <a:pt x="792631" y="247633"/>
                </a:lnTo>
                <a:lnTo>
                  <a:pt x="660422" y="216203"/>
                </a:lnTo>
                <a:lnTo>
                  <a:pt x="528741" y="183370"/>
                </a:lnTo>
                <a:lnTo>
                  <a:pt x="115296" y="73535"/>
                </a:lnTo>
                <a:close/>
              </a:path>
              <a:path w="4652645" h="462279">
                <a:moveTo>
                  <a:pt x="4644062" y="43361"/>
                </a:moveTo>
                <a:lnTo>
                  <a:pt x="3847787" y="216082"/>
                </a:lnTo>
                <a:lnTo>
                  <a:pt x="3532668" y="277318"/>
                </a:lnTo>
                <a:lnTo>
                  <a:pt x="3376291" y="305139"/>
                </a:lnTo>
                <a:lnTo>
                  <a:pt x="3220745" y="330739"/>
                </a:lnTo>
                <a:lnTo>
                  <a:pt x="3066478" y="353794"/>
                </a:lnTo>
                <a:lnTo>
                  <a:pt x="2913272" y="374074"/>
                </a:lnTo>
                <a:lnTo>
                  <a:pt x="2761354" y="391285"/>
                </a:lnTo>
                <a:lnTo>
                  <a:pt x="2610840" y="405150"/>
                </a:lnTo>
                <a:lnTo>
                  <a:pt x="2461845" y="415394"/>
                </a:lnTo>
                <a:lnTo>
                  <a:pt x="2314484" y="421737"/>
                </a:lnTo>
                <a:lnTo>
                  <a:pt x="2168874" y="423908"/>
                </a:lnTo>
                <a:lnTo>
                  <a:pt x="2811833" y="423908"/>
                </a:lnTo>
                <a:lnTo>
                  <a:pt x="2918273" y="411844"/>
                </a:lnTo>
                <a:lnTo>
                  <a:pt x="3072110" y="391476"/>
                </a:lnTo>
                <a:lnTo>
                  <a:pt x="3227152" y="368299"/>
                </a:lnTo>
                <a:lnTo>
                  <a:pt x="3382965" y="342649"/>
                </a:lnTo>
                <a:lnTo>
                  <a:pt x="3539759" y="314752"/>
                </a:lnTo>
                <a:lnTo>
                  <a:pt x="3855520" y="253390"/>
                </a:lnTo>
                <a:lnTo>
                  <a:pt x="4652336" y="80552"/>
                </a:lnTo>
                <a:lnTo>
                  <a:pt x="4644062" y="43361"/>
                </a:lnTo>
                <a:close/>
              </a:path>
              <a:path w="4652645" h="462279">
                <a:moveTo>
                  <a:pt x="135271" y="0"/>
                </a:moveTo>
                <a:lnTo>
                  <a:pt x="0" y="61956"/>
                </a:lnTo>
                <a:lnTo>
                  <a:pt x="85333" y="183838"/>
                </a:lnTo>
                <a:lnTo>
                  <a:pt x="105308" y="110303"/>
                </a:lnTo>
                <a:lnTo>
                  <a:pt x="86925" y="105309"/>
                </a:lnTo>
                <a:lnTo>
                  <a:pt x="96912" y="68541"/>
                </a:lnTo>
                <a:lnTo>
                  <a:pt x="116652" y="68541"/>
                </a:lnTo>
                <a:lnTo>
                  <a:pt x="135271" y="0"/>
                </a:lnTo>
                <a:close/>
              </a:path>
              <a:path w="4652645" h="462279">
                <a:moveTo>
                  <a:pt x="96912" y="68541"/>
                </a:moveTo>
                <a:lnTo>
                  <a:pt x="86925" y="105309"/>
                </a:lnTo>
                <a:lnTo>
                  <a:pt x="105308" y="110303"/>
                </a:lnTo>
                <a:lnTo>
                  <a:pt x="115296" y="73535"/>
                </a:lnTo>
                <a:lnTo>
                  <a:pt x="96912" y="68541"/>
                </a:lnTo>
                <a:close/>
              </a:path>
              <a:path w="4652645" h="462279">
                <a:moveTo>
                  <a:pt x="116652" y="68541"/>
                </a:moveTo>
                <a:lnTo>
                  <a:pt x="96912" y="68541"/>
                </a:lnTo>
                <a:lnTo>
                  <a:pt x="115296" y="73535"/>
                </a:lnTo>
                <a:lnTo>
                  <a:pt x="116652" y="685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(6/6)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801350" cy="134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SA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has an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empty domain, so we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detect failure. 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way to solve this CSP with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WA = red and Q = green,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so we</a:t>
            </a:r>
            <a:r>
              <a:rPr sz="24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backtrack.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consistency detects failure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earlier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than forward</a:t>
            </a:r>
            <a:r>
              <a:rPr sz="240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checking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Can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run as 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preprocessor or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after each</a:t>
            </a:r>
            <a:r>
              <a:rPr sz="24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897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185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Enforcing Arc Consistency in a CSP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371601"/>
            <a:ext cx="6883400" cy="409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3424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Limitations of Arc Consistency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1"/>
            <a:ext cx="5562600" cy="4525963"/>
          </a:xfrm>
        </p:spPr>
        <p:txBody>
          <a:bodyPr/>
          <a:lstStyle/>
          <a:p>
            <a:pPr eaLnBrk="1" hangingPunct="1"/>
            <a:r>
              <a:rPr lang="en-US" dirty="0"/>
              <a:t>After enforcing arc consistency:</a:t>
            </a:r>
          </a:p>
          <a:p>
            <a:pPr lvl="1" eaLnBrk="1" hangingPunct="1"/>
            <a:r>
              <a:rPr lang="en-US" dirty="0"/>
              <a:t>Can have one solution left</a:t>
            </a:r>
          </a:p>
          <a:p>
            <a:pPr lvl="1" eaLnBrk="1" hangingPunct="1"/>
            <a:r>
              <a:rPr lang="en-US" dirty="0"/>
              <a:t>Can have multiple solutions left</a:t>
            </a:r>
          </a:p>
          <a:p>
            <a:pPr lvl="1" eaLnBrk="1" hangingPunct="1"/>
            <a:r>
              <a:rPr lang="en-US" dirty="0"/>
              <a:t>Can have no solutions left (and not know it)</a:t>
            </a:r>
          </a:p>
          <a:p>
            <a:pPr lvl="1"/>
            <a:endParaRPr lang="en-US" dirty="0"/>
          </a:p>
          <a:p>
            <a:r>
              <a:rPr lang="en-US" dirty="0"/>
              <a:t>Arc consistency still runs inside a backtracking search!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7543800" y="1524000"/>
            <a:ext cx="3124200" cy="1524000"/>
            <a:chOff x="3552" y="1056"/>
            <a:chExt cx="2016" cy="1056"/>
          </a:xfrm>
        </p:grpSpPr>
        <p:grpSp>
          <p:nvGrpSpPr>
            <p:cNvPr id="31775" name="Group 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85" name="Oval 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6" name="Group 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83" name="Oval 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1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7" name="Group 1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81" name="Oval 1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1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1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1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9" name="Rectangle 18"/>
          <p:cNvSpPr>
            <a:spLocks noChangeArrowheads="1"/>
          </p:cNvSpPr>
          <p:nvPr/>
        </p:nvSpPr>
        <p:spPr bwMode="auto">
          <a:xfrm>
            <a:off x="80010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0" name="Rectangle 19"/>
          <p:cNvSpPr>
            <a:spLocks noChangeArrowheads="1"/>
          </p:cNvSpPr>
          <p:nvPr/>
        </p:nvSpPr>
        <p:spPr bwMode="auto">
          <a:xfrm>
            <a:off x="83058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1" name="Rectangle 21"/>
          <p:cNvSpPr>
            <a:spLocks noChangeArrowheads="1"/>
          </p:cNvSpPr>
          <p:nvPr/>
        </p:nvSpPr>
        <p:spPr bwMode="auto">
          <a:xfrm>
            <a:off x="99822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2" name="Rectangle 22"/>
          <p:cNvSpPr>
            <a:spLocks noChangeArrowheads="1"/>
          </p:cNvSpPr>
          <p:nvPr/>
        </p:nvSpPr>
        <p:spPr bwMode="auto">
          <a:xfrm>
            <a:off x="8686800" y="1676400"/>
            <a:ext cx="8382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3" name="Rectangle 23"/>
          <p:cNvSpPr>
            <a:spLocks noChangeArrowheads="1"/>
          </p:cNvSpPr>
          <p:nvPr/>
        </p:nvSpPr>
        <p:spPr bwMode="auto">
          <a:xfrm>
            <a:off x="102870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31754" name="Group 24"/>
          <p:cNvGrpSpPr>
            <a:grpSpLocks/>
          </p:cNvGrpSpPr>
          <p:nvPr/>
        </p:nvGrpSpPr>
        <p:grpSpPr bwMode="auto">
          <a:xfrm>
            <a:off x="7543800" y="3581400"/>
            <a:ext cx="3124200" cy="1524000"/>
            <a:chOff x="3552" y="1056"/>
            <a:chExt cx="2016" cy="1056"/>
          </a:xfrm>
        </p:grpSpPr>
        <p:grpSp>
          <p:nvGrpSpPr>
            <p:cNvPr id="31763" name="Group 2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73" name="Oval 2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4" name="Text Box 2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4" name="Group 2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71" name="Oval 2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Text Box 3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5" name="Group 3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69" name="Oval 3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0" name="Text Box 3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66" name="Line 3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Line 3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3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55" name="Rectangle 37"/>
          <p:cNvSpPr>
            <a:spLocks noChangeArrowheads="1"/>
          </p:cNvSpPr>
          <p:nvPr/>
        </p:nvSpPr>
        <p:spPr bwMode="auto">
          <a:xfrm>
            <a:off x="76962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6" name="Rectangle 40"/>
          <p:cNvSpPr>
            <a:spLocks noChangeArrowheads="1"/>
          </p:cNvSpPr>
          <p:nvPr/>
        </p:nvSpPr>
        <p:spPr bwMode="auto">
          <a:xfrm>
            <a:off x="96774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7" name="Rectangle 43"/>
          <p:cNvSpPr>
            <a:spLocks noChangeArrowheads="1"/>
          </p:cNvSpPr>
          <p:nvPr/>
        </p:nvSpPr>
        <p:spPr bwMode="auto">
          <a:xfrm>
            <a:off x="8686800" y="37338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8" name="Rectangle 45"/>
          <p:cNvSpPr>
            <a:spLocks noChangeArrowheads="1"/>
          </p:cNvSpPr>
          <p:nvPr/>
        </p:nvSpPr>
        <p:spPr bwMode="auto">
          <a:xfrm>
            <a:off x="9296400" y="37338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9" name="Rectangle 46"/>
          <p:cNvSpPr>
            <a:spLocks noChangeArrowheads="1"/>
          </p:cNvSpPr>
          <p:nvPr/>
        </p:nvSpPr>
        <p:spPr bwMode="auto">
          <a:xfrm>
            <a:off x="83058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60" name="Rectangle 47"/>
          <p:cNvSpPr>
            <a:spLocks noChangeArrowheads="1"/>
          </p:cNvSpPr>
          <p:nvPr/>
        </p:nvSpPr>
        <p:spPr bwMode="auto">
          <a:xfrm>
            <a:off x="102870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9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1018"/>
            <a:ext cx="10515600" cy="813044"/>
          </a:xfrm>
        </p:spPr>
        <p:txBody>
          <a:bodyPr/>
          <a:lstStyle/>
          <a:p>
            <a:pPr eaLnBrk="1" hangingPunct="1"/>
            <a:r>
              <a:rPr lang="en-US"/>
              <a:t>Ordering: Minimum Remaining Values</a:t>
            </a:r>
            <a:endParaRPr lang="en-US" dirty="0"/>
          </a:p>
        </p:txBody>
      </p:sp>
      <p:sp>
        <p:nvSpPr>
          <p:cNvPr id="923651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371600"/>
            <a:ext cx="11379200" cy="5486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Variable Ordering: Minimum remaining values (MRV):</a:t>
            </a:r>
          </a:p>
          <a:p>
            <a:pPr lvl="1" eaLnBrk="1" hangingPunct="1"/>
            <a:r>
              <a:rPr lang="en-US" sz="2400" dirty="0"/>
              <a:t>Choose the variable with the fewest legal left values in its domain</a:t>
            </a:r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Why min rather than max?</a:t>
            </a:r>
          </a:p>
          <a:p>
            <a:pPr lvl="1"/>
            <a:r>
              <a:rPr lang="en-US" dirty="0"/>
              <a:t>Increased Chance of Early Failure:</a:t>
            </a:r>
          </a:p>
          <a:p>
            <a:pPr eaLnBrk="1" hangingPunct="1"/>
            <a:r>
              <a:rPr lang="en-US" sz="2800" dirty="0"/>
              <a:t>Also called “most constrained variable”</a:t>
            </a:r>
          </a:p>
          <a:p>
            <a:pPr eaLnBrk="1" hangingPunct="1"/>
            <a:r>
              <a:rPr lang="en-US" sz="2800" dirty="0"/>
              <a:t>“Fail-fast” ordering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 cstate="print"/>
          <a:srcRect l="476" t="2130"/>
          <a:stretch>
            <a:fillRect/>
          </a:stretch>
        </p:blipFill>
        <p:spPr bwMode="auto">
          <a:xfrm>
            <a:off x="1970741" y="2672975"/>
            <a:ext cx="8435323" cy="144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606800" y="2641599"/>
            <a:ext cx="2209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16600" y="2565399"/>
            <a:ext cx="22860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02600" y="2489198"/>
            <a:ext cx="2286000" cy="162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1" y="0"/>
            <a:ext cx="10515600" cy="830629"/>
          </a:xfrm>
        </p:spPr>
        <p:txBody>
          <a:bodyPr/>
          <a:lstStyle/>
          <a:p>
            <a:pPr eaLnBrk="1" hangingPunct="1"/>
            <a:r>
              <a:rPr lang="en-US" dirty="0"/>
              <a:t>Ordering: Least Constraining Value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799"/>
            <a:ext cx="7198660" cy="50450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Value Ordering: Least Constraining Value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Given a choice of variable, choose the </a:t>
            </a:r>
            <a:r>
              <a:rPr lang="en-US" sz="2400" i="1" dirty="0"/>
              <a:t>least constraining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I.e., the one that rules out the fewest values in the remaining variables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Why least rather than most?</a:t>
            </a:r>
          </a:p>
          <a:p>
            <a:pPr lvl="1"/>
            <a:r>
              <a:rPr lang="en-US" dirty="0"/>
              <a:t>the algorithm keeps the domains of those future variables as large as possible.</a:t>
            </a:r>
          </a:p>
          <a:p>
            <a:pPr lvl="1"/>
            <a:r>
              <a:rPr lang="en-US" dirty="0"/>
              <a:t>"Fail-Safe" Strategy: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Combining these ordering ideas makes</a:t>
            </a:r>
          </a:p>
          <a:p>
            <a:pPr>
              <a:lnSpc>
                <a:spcPct val="90000"/>
              </a:lnSpc>
              <a:spcBef>
                <a:spcPts val="272"/>
              </a:spcBef>
              <a:buNone/>
            </a:pPr>
            <a:r>
              <a:rPr lang="en-US" sz="2800" dirty="0"/>
              <a:t>	1000 queens feasible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 l="288" t="900"/>
          <a:stretch>
            <a:fillRect/>
          </a:stretch>
        </p:blipFill>
        <p:spPr bwMode="auto">
          <a:xfrm>
            <a:off x="7655860" y="1470212"/>
            <a:ext cx="3621741" cy="246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603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800" y="0"/>
            <a:ext cx="21494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10CAA-1D6C-961F-DEA0-A7878BFC51F6}"/>
              </a:ext>
            </a:extLst>
          </p:cNvPr>
          <p:cNvSpPr txBox="1"/>
          <p:nvPr/>
        </p:nvSpPr>
        <p:spPr>
          <a:xfrm>
            <a:off x="193431" y="768882"/>
            <a:ext cx="11834445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A final class of improvements to solving constraint satisfaction problems are those that exploit their </a:t>
            </a:r>
            <a:r>
              <a:rPr lang="en-US" sz="2800" b="1" dirty="0">
                <a:latin typeface="+mj-lt"/>
              </a:rPr>
              <a:t>structure</a:t>
            </a:r>
            <a:r>
              <a:rPr lang="en-US" sz="2800" dirty="0">
                <a:latin typeface="+mj-lt"/>
              </a:rPr>
              <a:t>. In particular, if we’re trying to solve a tree-structured CSP (one that has no loops in its constraint graph).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First, pick an arbitrary node in the constraint graph for the CSP to serve as the root of the tree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+mj-lt"/>
              </a:rPr>
              <a:t>Convert all undirected edges in the graph to directed edges pointing away from the root node (designated as node A).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+mj-lt"/>
              </a:rPr>
              <a:t>Linearize (or topologically sort) the resulting directed acyclic graph by ordering the nodes such that all edges point rightwards, representing a consistent direction of traversal away from the root node.</a:t>
            </a:r>
          </a:p>
          <a:p>
            <a:endParaRPr lang="en-US" sz="2400" dirty="0">
              <a:latin typeface="Google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3390" y="2897165"/>
            <a:ext cx="2849180" cy="3209971"/>
          </a:xfrm>
          <a:prstGeom prst="rect">
            <a:avLst/>
          </a:prstGeom>
          <a:noFill/>
        </p:spPr>
      </p:pic>
      <p:sp>
        <p:nvSpPr>
          <p:cNvPr id="35" name="Rectangle 34"/>
          <p:cNvSpPr/>
          <p:nvPr/>
        </p:nvSpPr>
        <p:spPr>
          <a:xfrm>
            <a:off x="4191000" y="2286000"/>
            <a:ext cx="3505200" cy="426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0511" y="115885"/>
            <a:ext cx="10515600" cy="701676"/>
          </a:xfrm>
        </p:spPr>
        <p:txBody>
          <a:bodyPr/>
          <a:lstStyle/>
          <a:p>
            <a:pPr eaLnBrk="1" hangingPunct="1"/>
            <a:r>
              <a:rPr lang="en-US" dirty="0"/>
              <a:t>Tree-Structured CSPs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90511" y="911223"/>
            <a:ext cx="11561520" cy="5830891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2600" dirty="0"/>
              <a:t>Algorithm for tree-structured CSPs:</a:t>
            </a:r>
          </a:p>
          <a:p>
            <a:pPr lvl="1">
              <a:lnSpc>
                <a:spcPct val="80000"/>
              </a:lnSpc>
              <a:spcAft>
                <a:spcPts val="1200"/>
              </a:spcAft>
            </a:pPr>
            <a:r>
              <a:rPr lang="en-US" sz="2600" dirty="0"/>
              <a:t>Order: Choose a root variable, order variables so that parents precede children</a:t>
            </a:r>
          </a:p>
          <a:p>
            <a:pPr lvl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  <a:p>
            <a:pPr marL="0" indent="0" eaLnBrk="1" hangingPunct="1">
              <a:lnSpc>
                <a:spcPct val="80000"/>
              </a:lnSpc>
              <a:spcAft>
                <a:spcPts val="1200"/>
              </a:spcAft>
              <a:buNone/>
            </a:pPr>
            <a:endParaRPr lang="en-US" sz="2600" dirty="0"/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  <a:p>
            <a:pPr lvl="1">
              <a:lnSpc>
                <a:spcPct val="80000"/>
              </a:lnSpc>
              <a:spcAft>
                <a:spcPts val="1200"/>
              </a:spcAft>
            </a:pPr>
            <a:r>
              <a:rPr lang="en-US" sz="2600" dirty="0"/>
              <a:t>Remove backward: For </a:t>
            </a:r>
            <a:r>
              <a:rPr lang="en-US" sz="2600" dirty="0" err="1"/>
              <a:t>i</a:t>
            </a:r>
            <a:r>
              <a:rPr lang="en-US" sz="2600" dirty="0"/>
              <a:t> = n : 2, apply </a:t>
            </a:r>
            <a:r>
              <a:rPr lang="en-US" sz="2600" b="1" i="1" dirty="0" err="1"/>
              <a:t>RemoveInconsistent</a:t>
            </a:r>
            <a:r>
              <a:rPr lang="en-US" sz="2600" b="1" i="1" dirty="0"/>
              <a:t>(Parent(X</a:t>
            </a:r>
            <a:r>
              <a:rPr lang="en-US" sz="2600" b="1" i="1" baseline="-25000" dirty="0"/>
              <a:t>i</a:t>
            </a:r>
            <a:r>
              <a:rPr lang="en-US" sz="2600" b="1" i="1" dirty="0"/>
              <a:t>),X</a:t>
            </a:r>
            <a:r>
              <a:rPr lang="en-US" sz="2600" b="1" i="1" baseline="-25000" dirty="0"/>
              <a:t>i</a:t>
            </a:r>
            <a:r>
              <a:rPr lang="en-US" sz="2600" b="1" i="1" dirty="0"/>
              <a:t>)</a:t>
            </a:r>
          </a:p>
          <a:p>
            <a:pPr lvl="1">
              <a:lnSpc>
                <a:spcPct val="80000"/>
              </a:lnSpc>
              <a:spcAft>
                <a:spcPts val="1200"/>
              </a:spcAft>
            </a:pPr>
            <a:r>
              <a:rPr lang="en-US" sz="2600" dirty="0"/>
              <a:t>Assign forward: For </a:t>
            </a:r>
            <a:r>
              <a:rPr lang="en-US" sz="2600" dirty="0" err="1"/>
              <a:t>i</a:t>
            </a:r>
            <a:r>
              <a:rPr lang="en-US" sz="2600" dirty="0"/>
              <a:t> = 1 : n, assign X</a:t>
            </a:r>
            <a:r>
              <a:rPr lang="en-US" sz="2600" baseline="-25000" dirty="0"/>
              <a:t>i</a:t>
            </a:r>
            <a:r>
              <a:rPr lang="en-US" sz="2600" dirty="0"/>
              <a:t> consistently with Parent(X</a:t>
            </a:r>
            <a:r>
              <a:rPr lang="en-US" sz="2600" baseline="-25000" dirty="0"/>
              <a:t>i</a:t>
            </a:r>
            <a:r>
              <a:rPr lang="en-US" sz="2600" dirty="0"/>
              <a:t>)</a:t>
            </a:r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2600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15013" y="2286000"/>
            <a:ext cx="5386388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0601" y="2473325"/>
            <a:ext cx="2544763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61198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70342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6" name="Rectangle 11"/>
          <p:cNvSpPr>
            <a:spLocks noChangeArrowheads="1"/>
          </p:cNvSpPr>
          <p:nvPr/>
        </p:nvSpPr>
        <p:spPr bwMode="auto">
          <a:xfrm>
            <a:off x="70342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79486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8" name="Rectangle 15"/>
          <p:cNvSpPr>
            <a:spLocks noChangeArrowheads="1"/>
          </p:cNvSpPr>
          <p:nvPr/>
        </p:nvSpPr>
        <p:spPr bwMode="auto">
          <a:xfrm>
            <a:off x="88630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9" name="Rectangle 16"/>
          <p:cNvSpPr>
            <a:spLocks noChangeArrowheads="1"/>
          </p:cNvSpPr>
          <p:nvPr/>
        </p:nvSpPr>
        <p:spPr bwMode="auto">
          <a:xfrm>
            <a:off x="88630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0" name="Rectangle 17"/>
          <p:cNvSpPr>
            <a:spLocks noChangeArrowheads="1"/>
          </p:cNvSpPr>
          <p:nvPr/>
        </p:nvSpPr>
        <p:spPr bwMode="auto">
          <a:xfrm>
            <a:off x="88630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1" name="Rectangle 19"/>
          <p:cNvSpPr>
            <a:spLocks noChangeArrowheads="1"/>
          </p:cNvSpPr>
          <p:nvPr/>
        </p:nvSpPr>
        <p:spPr bwMode="auto">
          <a:xfrm>
            <a:off x="97774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2" name="Rectangle 20"/>
          <p:cNvSpPr>
            <a:spLocks noChangeArrowheads="1"/>
          </p:cNvSpPr>
          <p:nvPr/>
        </p:nvSpPr>
        <p:spPr bwMode="auto">
          <a:xfrm>
            <a:off x="97774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3" name="Rectangle 23"/>
          <p:cNvSpPr>
            <a:spLocks noChangeArrowheads="1"/>
          </p:cNvSpPr>
          <p:nvPr/>
        </p:nvSpPr>
        <p:spPr bwMode="auto">
          <a:xfrm>
            <a:off x="106918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4" name="Rectangle 24"/>
          <p:cNvSpPr>
            <a:spLocks noChangeArrowheads="1"/>
          </p:cNvSpPr>
          <p:nvPr/>
        </p:nvSpPr>
        <p:spPr bwMode="auto">
          <a:xfrm>
            <a:off x="61198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173163" y="3022599"/>
            <a:ext cx="2209800" cy="1004888"/>
            <a:chOff x="6553200" y="1981200"/>
            <a:chExt cx="2209800" cy="1004637"/>
          </a:xfrm>
        </p:grpSpPr>
        <p:sp>
          <p:nvSpPr>
            <p:cNvPr id="18451" name="Rectangle 6"/>
            <p:cNvSpPr>
              <a:spLocks noChangeArrowheads="1"/>
            </p:cNvSpPr>
            <p:nvPr/>
          </p:nvSpPr>
          <p:spPr bwMode="auto">
            <a:xfrm>
              <a:off x="6553200" y="1981200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Rectangle 24"/>
            <p:cNvSpPr>
              <a:spLocks noChangeArrowheads="1"/>
            </p:cNvSpPr>
            <p:nvPr/>
          </p:nvSpPr>
          <p:spPr bwMode="auto">
            <a:xfrm>
              <a:off x="6643437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10"/>
            <p:cNvSpPr>
              <a:spLocks noChangeArrowheads="1"/>
            </p:cNvSpPr>
            <p:nvPr/>
          </p:nvSpPr>
          <p:spPr bwMode="auto">
            <a:xfrm>
              <a:off x="8672763" y="19812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Rectangle 11"/>
            <p:cNvSpPr>
              <a:spLocks noChangeArrowheads="1"/>
            </p:cNvSpPr>
            <p:nvPr/>
          </p:nvSpPr>
          <p:spPr bwMode="auto">
            <a:xfrm>
              <a:off x="8582526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13"/>
            <p:cNvSpPr>
              <a:spLocks noChangeArrowheads="1"/>
            </p:cNvSpPr>
            <p:nvPr/>
          </p:nvSpPr>
          <p:spPr bwMode="auto">
            <a:xfrm>
              <a:off x="6553200" y="28956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Rectangle 15"/>
            <p:cNvSpPr>
              <a:spLocks noChangeArrowheads="1"/>
            </p:cNvSpPr>
            <p:nvPr/>
          </p:nvSpPr>
          <p:spPr bwMode="auto">
            <a:xfrm>
              <a:off x="7882690" y="2424363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Rectangle 16"/>
            <p:cNvSpPr>
              <a:spLocks noChangeArrowheads="1"/>
            </p:cNvSpPr>
            <p:nvPr/>
          </p:nvSpPr>
          <p:spPr bwMode="auto">
            <a:xfrm>
              <a:off x="7972927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Rectangle 17"/>
            <p:cNvSpPr>
              <a:spLocks noChangeArrowheads="1"/>
            </p:cNvSpPr>
            <p:nvPr/>
          </p:nvSpPr>
          <p:spPr bwMode="auto">
            <a:xfrm>
              <a:off x="8063163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19"/>
            <p:cNvSpPr>
              <a:spLocks noChangeArrowheads="1"/>
            </p:cNvSpPr>
            <p:nvPr/>
          </p:nvSpPr>
          <p:spPr bwMode="auto">
            <a:xfrm>
              <a:off x="7148763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Rectangle 20"/>
            <p:cNvSpPr>
              <a:spLocks noChangeArrowheads="1"/>
            </p:cNvSpPr>
            <p:nvPr/>
          </p:nvSpPr>
          <p:spPr bwMode="auto">
            <a:xfrm>
              <a:off x="7239000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Rectangle 23"/>
            <p:cNvSpPr>
              <a:spLocks noChangeArrowheads="1"/>
            </p:cNvSpPr>
            <p:nvPr/>
          </p:nvSpPr>
          <p:spPr bwMode="auto">
            <a:xfrm>
              <a:off x="8610600" y="28956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Right Arrow 30"/>
          <p:cNvSpPr/>
          <p:nvPr/>
        </p:nvSpPr>
        <p:spPr>
          <a:xfrm>
            <a:off x="4191000" y="2778124"/>
            <a:ext cx="990600" cy="1066800"/>
          </a:xfrm>
          <a:prstGeom prst="rightArrow">
            <a:avLst/>
          </a:prstGeom>
          <a:solidFill>
            <a:srgbClr val="6699FF"/>
          </a:solidFill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2534" grpId="0" animBg="1"/>
      <p:bldP spid="22535" grpId="0" animBg="1"/>
      <p:bldP spid="22536" grpId="0" animBg="1"/>
      <p:bldP spid="22537" grpId="0" animBg="1"/>
      <p:bldP spid="22538" grpId="0" animBg="1"/>
      <p:bldP spid="22539" grpId="0" animBg="1"/>
      <p:bldP spid="22540" grpId="0" animBg="1"/>
      <p:bldP spid="22541" grpId="0" animBg="1"/>
      <p:bldP spid="22542" grpId="0" animBg="1"/>
      <p:bldP spid="22543" grpId="0" animBg="1"/>
      <p:bldP spid="22544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6550" y="0"/>
            <a:ext cx="643890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Nearly Tree-Structured</a:t>
            </a:r>
            <a:r>
              <a:rPr spc="5" dirty="0"/>
              <a:t> </a:t>
            </a:r>
            <a:r>
              <a:rPr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4" y="4485534"/>
            <a:ext cx="10633075" cy="1465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Conditioning: instantiate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variable, prune its neighbors'</a:t>
            </a:r>
            <a:r>
              <a:rPr sz="280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domains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710"/>
              </a:lnSpc>
              <a:spcBef>
                <a:spcPts val="2575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Cutset conditioning: instantiate (in all ways)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set of variables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such </a:t>
            </a:r>
            <a:r>
              <a:rPr sz="2800" spc="-140" dirty="0">
                <a:solidFill>
                  <a:srgbClr val="333399"/>
                </a:solidFill>
                <a:latin typeface="Calibri"/>
                <a:cs typeface="Calibri"/>
              </a:rPr>
              <a:t>that 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remaining constraint graph is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3187" y="1371600"/>
            <a:ext cx="7030756" cy="2782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75" y="43270"/>
            <a:ext cx="451485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Cutset</a:t>
            </a:r>
            <a:r>
              <a:rPr spc="-35" dirty="0"/>
              <a:t> </a:t>
            </a:r>
            <a:r>
              <a:rPr spc="-5" dirty="0"/>
              <a:t>Conditioning</a:t>
            </a:r>
          </a:p>
        </p:txBody>
      </p:sp>
      <p:sp>
        <p:nvSpPr>
          <p:cNvPr id="3" name="object 3"/>
          <p:cNvSpPr/>
          <p:nvPr/>
        </p:nvSpPr>
        <p:spPr>
          <a:xfrm>
            <a:off x="6787660" y="1538198"/>
            <a:ext cx="1746738" cy="1128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71898" y="2090560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60" y="9837"/>
                </a:lnTo>
                <a:lnTo>
                  <a:pt x="36667" y="36666"/>
                </a:lnTo>
                <a:lnTo>
                  <a:pt x="9838" y="76459"/>
                </a:lnTo>
                <a:lnTo>
                  <a:pt x="0" y="125188"/>
                </a:lnTo>
                <a:lnTo>
                  <a:pt x="9838" y="173918"/>
                </a:lnTo>
                <a:lnTo>
                  <a:pt x="36667" y="213710"/>
                </a:lnTo>
                <a:lnTo>
                  <a:pt x="76460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71898" y="2090560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17174" y="21188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70752" y="2983701"/>
            <a:ext cx="1744248" cy="1131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52502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66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52502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7776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91613" y="2981196"/>
            <a:ext cx="1742744" cy="1133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1858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71858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17132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12473" y="2983701"/>
            <a:ext cx="1741326" cy="1131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91301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91301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336576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18140" y="4744859"/>
            <a:ext cx="1718730" cy="11225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16663" y="4734836"/>
            <a:ext cx="1715808" cy="11325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12473" y="4739850"/>
            <a:ext cx="1720493" cy="11275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10156" y="2429363"/>
            <a:ext cx="1374775" cy="486409"/>
          </a:xfrm>
          <a:custGeom>
            <a:avLst/>
            <a:gdLst/>
            <a:ahLst/>
            <a:cxnLst/>
            <a:rect l="l" t="t" r="r" b="b"/>
            <a:pathLst>
              <a:path w="1374775" h="486410">
                <a:moveTo>
                  <a:pt x="100402" y="365833"/>
                </a:moveTo>
                <a:lnTo>
                  <a:pt x="0" y="466236"/>
                </a:lnTo>
                <a:lnTo>
                  <a:pt x="140563" y="486316"/>
                </a:lnTo>
                <a:lnTo>
                  <a:pt x="124833" y="439126"/>
                </a:lnTo>
                <a:lnTo>
                  <a:pt x="111448" y="439126"/>
                </a:lnTo>
                <a:lnTo>
                  <a:pt x="105423" y="421054"/>
                </a:lnTo>
                <a:lnTo>
                  <a:pt x="117470" y="417038"/>
                </a:lnTo>
                <a:lnTo>
                  <a:pt x="100402" y="365833"/>
                </a:lnTo>
                <a:close/>
              </a:path>
              <a:path w="1374775" h="486410">
                <a:moveTo>
                  <a:pt x="117470" y="417038"/>
                </a:moveTo>
                <a:lnTo>
                  <a:pt x="105423" y="421054"/>
                </a:lnTo>
                <a:lnTo>
                  <a:pt x="111448" y="439126"/>
                </a:lnTo>
                <a:lnTo>
                  <a:pt x="123495" y="435111"/>
                </a:lnTo>
                <a:lnTo>
                  <a:pt x="117470" y="417038"/>
                </a:lnTo>
                <a:close/>
              </a:path>
              <a:path w="1374775" h="486410">
                <a:moveTo>
                  <a:pt x="123495" y="435111"/>
                </a:moveTo>
                <a:lnTo>
                  <a:pt x="111448" y="439126"/>
                </a:lnTo>
                <a:lnTo>
                  <a:pt x="124833" y="439126"/>
                </a:lnTo>
                <a:lnTo>
                  <a:pt x="123495" y="435111"/>
                </a:lnTo>
                <a:close/>
              </a:path>
              <a:path w="1374775" h="486410">
                <a:moveTo>
                  <a:pt x="1368587" y="0"/>
                </a:moveTo>
                <a:lnTo>
                  <a:pt x="117470" y="417038"/>
                </a:lnTo>
                <a:lnTo>
                  <a:pt x="123495" y="435111"/>
                </a:lnTo>
                <a:lnTo>
                  <a:pt x="1374612" y="18072"/>
                </a:lnTo>
                <a:lnTo>
                  <a:pt x="1368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83463" y="2353262"/>
            <a:ext cx="1375410" cy="530225"/>
          </a:xfrm>
          <a:custGeom>
            <a:avLst/>
            <a:gdLst/>
            <a:ahLst/>
            <a:cxnLst/>
            <a:rect l="l" t="t" r="r" b="b"/>
            <a:pathLst>
              <a:path w="1375409" h="530225">
                <a:moveTo>
                  <a:pt x="1252430" y="479297"/>
                </a:moveTo>
                <a:lnTo>
                  <a:pt x="1233770" y="529945"/>
                </a:lnTo>
                <a:lnTo>
                  <a:pt x="1374893" y="514264"/>
                </a:lnTo>
                <a:lnTo>
                  <a:pt x="1346168" y="483687"/>
                </a:lnTo>
                <a:lnTo>
                  <a:pt x="1264344" y="483687"/>
                </a:lnTo>
                <a:lnTo>
                  <a:pt x="1252430" y="479297"/>
                </a:lnTo>
                <a:close/>
              </a:path>
              <a:path w="1375409" h="530225">
                <a:moveTo>
                  <a:pt x="1259016" y="461422"/>
                </a:moveTo>
                <a:lnTo>
                  <a:pt x="1252430" y="479297"/>
                </a:lnTo>
                <a:lnTo>
                  <a:pt x="1264344" y="483687"/>
                </a:lnTo>
                <a:lnTo>
                  <a:pt x="1270930" y="465811"/>
                </a:lnTo>
                <a:lnTo>
                  <a:pt x="1259016" y="461422"/>
                </a:lnTo>
                <a:close/>
              </a:path>
              <a:path w="1375409" h="530225">
                <a:moveTo>
                  <a:pt x="1277675" y="410775"/>
                </a:moveTo>
                <a:lnTo>
                  <a:pt x="1259016" y="461422"/>
                </a:lnTo>
                <a:lnTo>
                  <a:pt x="1270930" y="465811"/>
                </a:lnTo>
                <a:lnTo>
                  <a:pt x="1264344" y="483687"/>
                </a:lnTo>
                <a:lnTo>
                  <a:pt x="1346168" y="483687"/>
                </a:lnTo>
                <a:lnTo>
                  <a:pt x="1277675" y="410775"/>
                </a:lnTo>
                <a:close/>
              </a:path>
              <a:path w="1375409" h="530225">
                <a:moveTo>
                  <a:pt x="6586" y="0"/>
                </a:moveTo>
                <a:lnTo>
                  <a:pt x="0" y="17875"/>
                </a:lnTo>
                <a:lnTo>
                  <a:pt x="1252430" y="479297"/>
                </a:lnTo>
                <a:lnTo>
                  <a:pt x="1259016" y="461422"/>
                </a:lnTo>
                <a:lnTo>
                  <a:pt x="65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56456" y="24384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2000" y="2743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79741" y="2812288"/>
            <a:ext cx="200342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5080" indent="-152400">
              <a:lnSpc>
                <a:spcPts val="2110"/>
              </a:lnSpc>
            </a:pPr>
            <a:r>
              <a:rPr sz="1800" spc="-15" dirty="0">
                <a:latin typeface="Calibri"/>
                <a:cs typeface="Calibri"/>
              </a:rPr>
              <a:t>Instantiate </a:t>
            </a:r>
            <a:r>
              <a:rPr sz="1800" spc="-5" dirty="0">
                <a:latin typeface="Calibri"/>
                <a:cs typeface="Calibri"/>
              </a:rPr>
              <a:t>the cutset  </a:t>
            </a:r>
            <a:r>
              <a:rPr sz="1800" dirty="0">
                <a:latin typeface="Calibri"/>
                <a:cs typeface="Calibri"/>
              </a:rPr>
              <a:t>(all </a:t>
            </a:r>
            <a:r>
              <a:rPr sz="1800" spc="-5" dirty="0">
                <a:latin typeface="Calibri"/>
                <a:cs typeface="Calibri"/>
              </a:rPr>
              <a:t>possible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2000" y="3886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48880" y="3955288"/>
            <a:ext cx="206502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520" marR="5080" indent="-84455">
              <a:lnSpc>
                <a:spcPts val="2110"/>
              </a:lnSpc>
            </a:pPr>
            <a:r>
              <a:rPr sz="1800" spc="-5" dirty="0">
                <a:latin typeface="Calibri"/>
                <a:cs typeface="Calibri"/>
              </a:rPr>
              <a:t>Compute </a:t>
            </a:r>
            <a:r>
              <a:rPr sz="1800" spc="-10" dirty="0">
                <a:latin typeface="Calibri"/>
                <a:cs typeface="Calibri"/>
              </a:rPr>
              <a:t>residual </a:t>
            </a:r>
            <a:r>
              <a:rPr sz="1800" spc="-5" dirty="0">
                <a:latin typeface="Calibri"/>
                <a:cs typeface="Calibri"/>
              </a:rPr>
              <a:t>CSP 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assignment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2000" y="5029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05287" y="5098288"/>
            <a:ext cx="215328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5435" marR="5080" indent="-293370">
              <a:lnSpc>
                <a:spcPts val="2110"/>
              </a:lnSpc>
            </a:pPr>
            <a:r>
              <a:rPr sz="1800" spc="-10" dirty="0">
                <a:latin typeface="Calibri"/>
                <a:cs typeface="Calibri"/>
              </a:rPr>
              <a:t>Solve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residual </a:t>
            </a:r>
            <a:r>
              <a:rPr sz="1800" spc="-10" dirty="0">
                <a:latin typeface="Calibri"/>
                <a:cs typeface="Calibri"/>
              </a:rPr>
              <a:t>CSPs  (tree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2000" y="1600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231709" y="1792223"/>
            <a:ext cx="14998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cutset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371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6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6" y="342900"/>
                </a:lnTo>
                <a:lnTo>
                  <a:pt x="53976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6" y="342900"/>
                </a:lnTo>
                <a:lnTo>
                  <a:pt x="73026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6" y="330200"/>
                </a:lnTo>
                <a:lnTo>
                  <a:pt x="73026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565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3759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DD04E-FC52-9A46-73D9-FCCBEFCB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8D2B27-6D2D-1EFE-A359-A91212826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2100" y="557"/>
            <a:ext cx="65278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/>
              <a:t>Iterative Algorithms for</a:t>
            </a:r>
            <a:r>
              <a:rPr lang="en-US" spc="10" dirty="0"/>
              <a:t> </a:t>
            </a:r>
            <a:r>
              <a:rPr lang="en-US" dirty="0"/>
              <a:t>CSPs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6424DB-7409-CF0B-4B02-E938406EFA86}"/>
              </a:ext>
            </a:extLst>
          </p:cNvPr>
          <p:cNvSpPr txBox="1">
            <a:spLocks/>
          </p:cNvSpPr>
          <p:nvPr/>
        </p:nvSpPr>
        <p:spPr>
          <a:xfrm>
            <a:off x="237506" y="783295"/>
            <a:ext cx="11174130" cy="533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Backtracking search is not the only algorithm that exists for solving constraint satisfaction problems. </a:t>
            </a: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endParaRPr lang="en-US" sz="2800" spc="-5" dirty="0">
              <a:solidFill>
                <a:srgbClr val="333399"/>
              </a:solidFill>
              <a:latin typeface="Google Sans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 Another widely used algorithm is local search, for which the idea </a:t>
            </a:r>
            <a:r>
              <a:rPr lang="en-US" sz="2800" spc="-5">
                <a:solidFill>
                  <a:srgbClr val="333399"/>
                </a:solidFill>
                <a:latin typeface="Google Sans"/>
                <a:cs typeface="Calibri"/>
              </a:rPr>
              <a:t>is simple </a:t>
            </a: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but remarkably useful. </a:t>
            </a: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endParaRPr lang="en-US" sz="2800" spc="-5" dirty="0">
              <a:solidFill>
                <a:srgbClr val="333399"/>
              </a:solidFill>
              <a:latin typeface="Google Sans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 Local search works by iterative improvement </a:t>
            </a:r>
          </a:p>
          <a:p>
            <a:pPr lvl="1" algn="just">
              <a:spcBef>
                <a:spcPts val="50"/>
              </a:spcBef>
              <a:buClr>
                <a:srgbClr val="333399"/>
              </a:buClr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- Start with some random assignment to values</a:t>
            </a:r>
          </a:p>
          <a:p>
            <a:pPr marL="12700">
              <a:lnSpc>
                <a:spcPct val="100000"/>
              </a:lnSpc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		  - Algorithm: While not solved,</a:t>
            </a:r>
          </a:p>
          <a:p>
            <a:pPr marL="1212850" lvl="2" indent="-285750">
              <a:spcBef>
                <a:spcPts val="25"/>
              </a:spcBef>
              <a:buFont typeface="Malgun Gothic"/>
              <a:buChar char="▪"/>
              <a:tabLst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Variable </a:t>
            </a:r>
            <a:r>
              <a:rPr lang="en-US" sz="2400" dirty="0">
                <a:latin typeface="Calibri"/>
                <a:cs typeface="Calibri"/>
              </a:rPr>
              <a:t>selection: </a:t>
            </a:r>
            <a:r>
              <a:rPr lang="en-US" sz="2400" spc="-5" dirty="0">
                <a:latin typeface="Calibri"/>
                <a:cs typeface="Calibri"/>
              </a:rPr>
              <a:t>randomly </a:t>
            </a:r>
            <a:r>
              <a:rPr lang="en-US" sz="2400" dirty="0">
                <a:latin typeface="Calibri"/>
                <a:cs typeface="Calibri"/>
              </a:rPr>
              <a:t>select </a:t>
            </a:r>
            <a:r>
              <a:rPr lang="en-US" sz="2400" spc="-5" dirty="0">
                <a:latin typeface="Calibri"/>
                <a:cs typeface="Calibri"/>
              </a:rPr>
              <a:t>any conflicted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variable</a:t>
            </a:r>
            <a:endParaRPr lang="en-US" sz="2400" dirty="0">
              <a:latin typeface="Calibri"/>
              <a:cs typeface="Calibri"/>
            </a:endParaRPr>
          </a:p>
          <a:p>
            <a:pPr marL="1212850" lvl="2" indent="-285750">
              <a:lnSpc>
                <a:spcPts val="2730"/>
              </a:lnSpc>
              <a:spcBef>
                <a:spcPts val="20"/>
              </a:spcBef>
              <a:buFont typeface="Malgun Gothic"/>
              <a:buChar char="▪"/>
              <a:tabLst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Value </a:t>
            </a:r>
            <a:r>
              <a:rPr lang="en-US" sz="2400" dirty="0">
                <a:latin typeface="Calibri"/>
                <a:cs typeface="Calibri"/>
              </a:rPr>
              <a:t>selection: </a:t>
            </a:r>
            <a:r>
              <a:rPr lang="en-US" sz="2400" spc="-5" dirty="0">
                <a:latin typeface="Calibri"/>
                <a:cs typeface="Calibri"/>
              </a:rPr>
              <a:t>min-conflicts heuristic:</a:t>
            </a:r>
            <a:endParaRPr lang="en-US" sz="2400" dirty="0">
              <a:latin typeface="Calibri"/>
              <a:cs typeface="Calibri"/>
            </a:endParaRPr>
          </a:p>
          <a:p>
            <a:pPr marL="1612900" lvl="3" indent="-228600">
              <a:lnSpc>
                <a:spcPts val="2370"/>
              </a:lnSpc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lang="en-US" sz="2400" spc="-5" dirty="0">
                <a:latin typeface="Calibri"/>
                <a:cs typeface="Calibri"/>
              </a:rPr>
              <a:t>Choose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5" dirty="0">
                <a:latin typeface="Calibri"/>
                <a:cs typeface="Calibri"/>
              </a:rPr>
              <a:t>value </a:t>
            </a:r>
            <a:r>
              <a:rPr lang="en-US" sz="2400" dirty="0">
                <a:latin typeface="Calibri"/>
                <a:cs typeface="Calibri"/>
              </a:rPr>
              <a:t>that </a:t>
            </a:r>
            <a:r>
              <a:rPr lang="en-US" sz="2400" spc="-5" dirty="0">
                <a:latin typeface="Calibri"/>
                <a:cs typeface="Calibri"/>
              </a:rPr>
              <a:t>violates </a:t>
            </a:r>
            <a:r>
              <a:rPr lang="en-US" sz="2400" dirty="0">
                <a:latin typeface="Calibri"/>
                <a:cs typeface="Calibri"/>
              </a:rPr>
              <a:t>the fewest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constraints</a:t>
            </a:r>
          </a:p>
          <a:p>
            <a:pPr marL="1612900" lvl="3" indent="-228600"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lang="en-US" sz="2400" spc="-5" dirty="0">
                <a:latin typeface="Calibri"/>
                <a:cs typeface="Calibri"/>
              </a:rPr>
              <a:t>I.e., hill </a:t>
            </a:r>
            <a:r>
              <a:rPr lang="en-US" sz="2400" dirty="0">
                <a:latin typeface="Calibri"/>
                <a:cs typeface="Calibri"/>
              </a:rPr>
              <a:t>climb with </a:t>
            </a:r>
            <a:r>
              <a:rPr lang="en-US" sz="2400" spc="-5" dirty="0">
                <a:latin typeface="Calibri"/>
                <a:cs typeface="Calibri"/>
              </a:rPr>
              <a:t>h(n) </a:t>
            </a:r>
            <a:r>
              <a:rPr lang="en-US" sz="2400" dirty="0">
                <a:latin typeface="Calibri"/>
                <a:cs typeface="Calibri"/>
              </a:rPr>
              <a:t>= total </a:t>
            </a:r>
            <a:r>
              <a:rPr lang="en-US" sz="2400" spc="-5" dirty="0">
                <a:latin typeface="Calibri"/>
                <a:cs typeface="Calibri"/>
              </a:rPr>
              <a:t>number of violated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73104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5092" y="32005"/>
            <a:ext cx="442214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65" dirty="0"/>
              <a:t> </a:t>
            </a:r>
            <a:r>
              <a:rPr spc="-5" dirty="0"/>
              <a:t>4-Queens</a:t>
            </a:r>
          </a:p>
        </p:txBody>
      </p:sp>
      <p:sp>
        <p:nvSpPr>
          <p:cNvPr id="3" name="object 3"/>
          <p:cNvSpPr/>
          <p:nvPr/>
        </p:nvSpPr>
        <p:spPr>
          <a:xfrm>
            <a:off x="1277814" y="1163526"/>
            <a:ext cx="9009380" cy="29336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06471" y="4769022"/>
            <a:ext cx="9009380" cy="2056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States: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4 queens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4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columns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(4</a:t>
            </a:r>
            <a:r>
              <a:rPr sz="2400" spc="-15" baseline="24305" dirty="0">
                <a:solidFill>
                  <a:srgbClr val="333399"/>
                </a:solidFill>
                <a:latin typeface="Calibri"/>
                <a:cs typeface="Calibri"/>
              </a:rPr>
              <a:t>4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256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states)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Operators: move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queen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column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Goal test: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</a:t>
            </a:r>
            <a:r>
              <a:rPr sz="24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attacks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Evaluation: c(n)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 number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attacks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7167" y="40138"/>
            <a:ext cx="671766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Performance </a:t>
            </a:r>
            <a:r>
              <a:rPr dirty="0"/>
              <a:t>of</a:t>
            </a:r>
            <a:r>
              <a:rPr spc="-5" dirty="0"/>
              <a:t> Min-Conflicts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106" y="686698"/>
            <a:ext cx="11604972" cy="3667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Given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random initial state, can solve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n-queens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almost constant time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arbitrary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with high probability (e.g.,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 =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10,000,000)!</a:t>
            </a: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sz="2400" dirty="0"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same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appears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true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any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randomly generated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CSP </a:t>
            </a: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except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narrow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range of the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ratio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.</a:t>
            </a: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However, local search is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both incomplete and suboptimal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and so won’t necessarily converge to an optimal solution. </a:t>
            </a: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Additionally, there is a critical ratio around which using local search becomes extremely expensive:</a:t>
            </a:r>
            <a:endParaRPr sz="2400" spc="-5" dirty="0">
              <a:solidFill>
                <a:srgbClr val="333399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08702" y="4210113"/>
            <a:ext cx="3724835" cy="2126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7144" y="4732027"/>
            <a:ext cx="3352800" cy="541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DF7E1-CB27-2889-9148-7AA45CD93206}"/>
              </a:ext>
            </a:extLst>
          </p:cNvPr>
          <p:cNvSpPr txBox="1"/>
          <p:nvPr/>
        </p:nvSpPr>
        <p:spPr>
          <a:xfrm>
            <a:off x="4215740" y="4633364"/>
            <a:ext cx="4036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time needed by iterative algo to get to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264AF-E3F5-F1F1-FB85-5F3738DB8673}"/>
              </a:ext>
            </a:extLst>
          </p:cNvPr>
          <p:cNvSpPr txBox="1"/>
          <p:nvPr/>
        </p:nvSpPr>
        <p:spPr>
          <a:xfrm>
            <a:off x="666902" y="5434786"/>
            <a:ext cx="6546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very small i.e. Number of Constraints is less and variables are a 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very large  i.e. Number of Constraints are lot and few variables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3600" y="172719"/>
            <a:ext cx="284734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Local</a:t>
            </a:r>
            <a:r>
              <a:rPr lang="en-US" spc="-80" dirty="0"/>
              <a:t> </a:t>
            </a:r>
            <a:r>
              <a:rPr lang="en-US" dirty="0"/>
              <a:t>Search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485134" y="978301"/>
            <a:ext cx="10290810" cy="2164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Tree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search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keeps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unexplored alternatives on the fringe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(ensures</a:t>
            </a:r>
            <a:r>
              <a:rPr lang="en-US" sz="2400" spc="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completeness)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99"/>
              </a:buClr>
              <a:buFont typeface="Malgun Gothic"/>
              <a:buChar char="▪"/>
            </a:pPr>
            <a:endParaRPr lang="en-US" sz="35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Local search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: improve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single option until you can’t make it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better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(no</a:t>
            </a:r>
            <a:r>
              <a:rPr lang="en-US" sz="24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fringe!)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lang="en-US" sz="3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New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successor function: local</a:t>
            </a:r>
            <a:r>
              <a:rPr lang="en-US"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changes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484" y="3517154"/>
            <a:ext cx="4687989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Generally,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much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faster 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more memory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efficient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(but incomplete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4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suboptimal)</a:t>
            </a: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Methodology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393653" y="3339765"/>
            <a:ext cx="119652" cy="170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19A976-B4E4-0CD9-11E3-C2CA0EFFBACA}"/>
              </a:ext>
            </a:extLst>
          </p:cNvPr>
          <p:cNvGrpSpPr/>
          <p:nvPr/>
        </p:nvGrpSpPr>
        <p:grpSpPr>
          <a:xfrm>
            <a:off x="6023421" y="2827292"/>
            <a:ext cx="6860116" cy="2471583"/>
            <a:chOff x="5296395" y="2862918"/>
            <a:chExt cx="6860116" cy="2471583"/>
          </a:xfrm>
        </p:grpSpPr>
        <p:sp>
          <p:nvSpPr>
            <p:cNvPr id="5" name="object 5"/>
            <p:cNvSpPr/>
            <p:nvPr/>
          </p:nvSpPr>
          <p:spPr>
            <a:xfrm>
              <a:off x="6172200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39" y="332464"/>
                  </a:lnTo>
                  <a:lnTo>
                    <a:pt x="388284" y="294487"/>
                  </a:lnTo>
                  <a:lnTo>
                    <a:pt x="403671" y="251435"/>
                  </a:lnTo>
                  <a:lnTo>
                    <a:pt x="409073" y="204537"/>
                  </a:lnTo>
                  <a:lnTo>
                    <a:pt x="403671" y="157638"/>
                  </a:lnTo>
                  <a:lnTo>
                    <a:pt x="388284" y="114587"/>
                  </a:lnTo>
                  <a:lnTo>
                    <a:pt x="364139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72200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90346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90346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81274" y="4362450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675" y="4106778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31178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31178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9325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49325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40253" y="4106778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93653" y="3851107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31178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39"/>
                  </a:lnTo>
                  <a:lnTo>
                    <a:pt x="114587" y="388284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4"/>
                  </a:lnTo>
                  <a:lnTo>
                    <a:pt x="332464" y="364139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31178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49325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39"/>
                  </a:lnTo>
                  <a:lnTo>
                    <a:pt x="114587" y="388284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4"/>
                  </a:lnTo>
                  <a:lnTo>
                    <a:pt x="332464" y="364139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49325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40253" y="4618121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93653" y="4362450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31178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31178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49325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49325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40253" y="5129462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93653" y="4873792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1646" y="4075976"/>
              <a:ext cx="1025525" cy="295910"/>
            </a:xfrm>
            <a:custGeom>
              <a:avLst/>
              <a:gdLst/>
              <a:ahLst/>
              <a:cxnLst/>
              <a:rect l="l" t="t" r="r" b="b"/>
              <a:pathLst>
                <a:path w="1025525" h="295910">
                  <a:moveTo>
                    <a:pt x="899476" y="52363"/>
                  </a:moveTo>
                  <a:lnTo>
                    <a:pt x="0" y="277232"/>
                  </a:lnTo>
                  <a:lnTo>
                    <a:pt x="4620" y="295713"/>
                  </a:lnTo>
                  <a:lnTo>
                    <a:pt x="904096" y="70844"/>
                  </a:lnTo>
                  <a:lnTo>
                    <a:pt x="899476" y="52363"/>
                  </a:lnTo>
                  <a:close/>
                </a:path>
                <a:path w="1025525" h="295910">
                  <a:moveTo>
                    <a:pt x="1003431" y="49283"/>
                  </a:moveTo>
                  <a:lnTo>
                    <a:pt x="911796" y="49283"/>
                  </a:lnTo>
                  <a:lnTo>
                    <a:pt x="916416" y="67764"/>
                  </a:lnTo>
                  <a:lnTo>
                    <a:pt x="904096" y="70844"/>
                  </a:lnTo>
                  <a:lnTo>
                    <a:pt x="917187" y="123207"/>
                  </a:lnTo>
                  <a:lnTo>
                    <a:pt x="1003431" y="49283"/>
                  </a:lnTo>
                  <a:close/>
                </a:path>
                <a:path w="1025525" h="295910">
                  <a:moveTo>
                    <a:pt x="911796" y="49283"/>
                  </a:moveTo>
                  <a:lnTo>
                    <a:pt x="899476" y="52363"/>
                  </a:lnTo>
                  <a:lnTo>
                    <a:pt x="904096" y="70844"/>
                  </a:lnTo>
                  <a:lnTo>
                    <a:pt x="916416" y="67764"/>
                  </a:lnTo>
                  <a:lnTo>
                    <a:pt x="911796" y="49283"/>
                  </a:lnTo>
                  <a:close/>
                </a:path>
                <a:path w="1025525" h="295910">
                  <a:moveTo>
                    <a:pt x="886385" y="0"/>
                  </a:moveTo>
                  <a:lnTo>
                    <a:pt x="899476" y="52363"/>
                  </a:lnTo>
                  <a:lnTo>
                    <a:pt x="911796" y="49283"/>
                  </a:lnTo>
                  <a:lnTo>
                    <a:pt x="1003431" y="49283"/>
                  </a:lnTo>
                  <a:lnTo>
                    <a:pt x="1024994" y="30801"/>
                  </a:lnTo>
                  <a:lnTo>
                    <a:pt x="8863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98242" y="3595435"/>
              <a:ext cx="1028700" cy="774700"/>
            </a:xfrm>
            <a:custGeom>
              <a:avLst/>
              <a:gdLst/>
              <a:ahLst/>
              <a:cxnLst/>
              <a:rect l="l" t="t" r="r" b="b"/>
              <a:pathLst>
                <a:path w="1028700" h="774700">
                  <a:moveTo>
                    <a:pt x="921084" y="68579"/>
                  </a:moveTo>
                  <a:lnTo>
                    <a:pt x="0" y="759392"/>
                  </a:lnTo>
                  <a:lnTo>
                    <a:pt x="11429" y="774632"/>
                  </a:lnTo>
                  <a:lnTo>
                    <a:pt x="932514" y="83819"/>
                  </a:lnTo>
                  <a:lnTo>
                    <a:pt x="921084" y="68579"/>
                  </a:lnTo>
                  <a:close/>
                </a:path>
                <a:path w="1028700" h="774700">
                  <a:moveTo>
                    <a:pt x="997919" y="60959"/>
                  </a:moveTo>
                  <a:lnTo>
                    <a:pt x="931244" y="60959"/>
                  </a:lnTo>
                  <a:lnTo>
                    <a:pt x="942674" y="76199"/>
                  </a:lnTo>
                  <a:lnTo>
                    <a:pt x="932514" y="83819"/>
                  </a:lnTo>
                  <a:lnTo>
                    <a:pt x="964899" y="126999"/>
                  </a:lnTo>
                  <a:lnTo>
                    <a:pt x="997919" y="60959"/>
                  </a:lnTo>
                  <a:close/>
                </a:path>
                <a:path w="1028700" h="774700">
                  <a:moveTo>
                    <a:pt x="931244" y="60959"/>
                  </a:moveTo>
                  <a:lnTo>
                    <a:pt x="921084" y="68579"/>
                  </a:lnTo>
                  <a:lnTo>
                    <a:pt x="932514" y="83819"/>
                  </a:lnTo>
                  <a:lnTo>
                    <a:pt x="942674" y="76199"/>
                  </a:lnTo>
                  <a:lnTo>
                    <a:pt x="931244" y="60959"/>
                  </a:lnTo>
                  <a:close/>
                </a:path>
                <a:path w="1028700" h="774700">
                  <a:moveTo>
                    <a:pt x="1028399" y="0"/>
                  </a:moveTo>
                  <a:lnTo>
                    <a:pt x="888699" y="25399"/>
                  </a:lnTo>
                  <a:lnTo>
                    <a:pt x="921084" y="68579"/>
                  </a:lnTo>
                  <a:lnTo>
                    <a:pt x="931244" y="60959"/>
                  </a:lnTo>
                  <a:lnTo>
                    <a:pt x="997919" y="60959"/>
                  </a:lnTo>
                  <a:lnTo>
                    <a:pt x="1028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98242" y="4354829"/>
              <a:ext cx="1028700" cy="774700"/>
            </a:xfrm>
            <a:custGeom>
              <a:avLst/>
              <a:gdLst/>
              <a:ahLst/>
              <a:cxnLst/>
              <a:rect l="l" t="t" r="r" b="b"/>
              <a:pathLst>
                <a:path w="1028700" h="774700">
                  <a:moveTo>
                    <a:pt x="921084" y="706052"/>
                  </a:moveTo>
                  <a:lnTo>
                    <a:pt x="888699" y="749232"/>
                  </a:lnTo>
                  <a:lnTo>
                    <a:pt x="1028399" y="774632"/>
                  </a:lnTo>
                  <a:lnTo>
                    <a:pt x="997919" y="713672"/>
                  </a:lnTo>
                  <a:lnTo>
                    <a:pt x="931244" y="713672"/>
                  </a:lnTo>
                  <a:lnTo>
                    <a:pt x="921084" y="706052"/>
                  </a:lnTo>
                  <a:close/>
                </a:path>
                <a:path w="1028700" h="774700">
                  <a:moveTo>
                    <a:pt x="932514" y="690812"/>
                  </a:moveTo>
                  <a:lnTo>
                    <a:pt x="921084" y="706052"/>
                  </a:lnTo>
                  <a:lnTo>
                    <a:pt x="931244" y="713672"/>
                  </a:lnTo>
                  <a:lnTo>
                    <a:pt x="942674" y="698432"/>
                  </a:lnTo>
                  <a:lnTo>
                    <a:pt x="932514" y="690812"/>
                  </a:lnTo>
                  <a:close/>
                </a:path>
                <a:path w="1028700" h="774700">
                  <a:moveTo>
                    <a:pt x="964899" y="647632"/>
                  </a:moveTo>
                  <a:lnTo>
                    <a:pt x="932514" y="690812"/>
                  </a:lnTo>
                  <a:lnTo>
                    <a:pt x="942674" y="698432"/>
                  </a:lnTo>
                  <a:lnTo>
                    <a:pt x="931244" y="713672"/>
                  </a:lnTo>
                  <a:lnTo>
                    <a:pt x="997919" y="713672"/>
                  </a:lnTo>
                  <a:lnTo>
                    <a:pt x="964899" y="647632"/>
                  </a:lnTo>
                  <a:close/>
                </a:path>
                <a:path w="1028700" h="774700">
                  <a:moveTo>
                    <a:pt x="11429" y="0"/>
                  </a:moveTo>
                  <a:lnTo>
                    <a:pt x="0" y="15240"/>
                  </a:lnTo>
                  <a:lnTo>
                    <a:pt x="921084" y="706052"/>
                  </a:lnTo>
                  <a:lnTo>
                    <a:pt x="932514" y="690812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31178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831178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49325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49325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40253" y="3595435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01646" y="4353209"/>
              <a:ext cx="1025525" cy="295910"/>
            </a:xfrm>
            <a:custGeom>
              <a:avLst/>
              <a:gdLst/>
              <a:ahLst/>
              <a:cxnLst/>
              <a:rect l="l" t="t" r="r" b="b"/>
              <a:pathLst>
                <a:path w="1025525" h="295910">
                  <a:moveTo>
                    <a:pt x="899476" y="243349"/>
                  </a:moveTo>
                  <a:lnTo>
                    <a:pt x="886385" y="295713"/>
                  </a:lnTo>
                  <a:lnTo>
                    <a:pt x="1024994" y="264911"/>
                  </a:lnTo>
                  <a:lnTo>
                    <a:pt x="1003431" y="246429"/>
                  </a:lnTo>
                  <a:lnTo>
                    <a:pt x="911796" y="246429"/>
                  </a:lnTo>
                  <a:lnTo>
                    <a:pt x="899476" y="243349"/>
                  </a:lnTo>
                  <a:close/>
                </a:path>
                <a:path w="1025525" h="295910">
                  <a:moveTo>
                    <a:pt x="904096" y="224868"/>
                  </a:moveTo>
                  <a:lnTo>
                    <a:pt x="899476" y="243349"/>
                  </a:lnTo>
                  <a:lnTo>
                    <a:pt x="911796" y="246429"/>
                  </a:lnTo>
                  <a:lnTo>
                    <a:pt x="916416" y="227948"/>
                  </a:lnTo>
                  <a:lnTo>
                    <a:pt x="904096" y="224868"/>
                  </a:lnTo>
                  <a:close/>
                </a:path>
                <a:path w="1025525" h="295910">
                  <a:moveTo>
                    <a:pt x="917187" y="172505"/>
                  </a:moveTo>
                  <a:lnTo>
                    <a:pt x="904096" y="224868"/>
                  </a:lnTo>
                  <a:lnTo>
                    <a:pt x="916416" y="227948"/>
                  </a:lnTo>
                  <a:lnTo>
                    <a:pt x="911796" y="246429"/>
                  </a:lnTo>
                  <a:lnTo>
                    <a:pt x="1003431" y="246429"/>
                  </a:lnTo>
                  <a:lnTo>
                    <a:pt x="917187" y="172505"/>
                  </a:lnTo>
                  <a:close/>
                </a:path>
                <a:path w="1025525" h="295910">
                  <a:moveTo>
                    <a:pt x="4620" y="0"/>
                  </a:moveTo>
                  <a:lnTo>
                    <a:pt x="0" y="18481"/>
                  </a:lnTo>
                  <a:lnTo>
                    <a:pt x="899476" y="243349"/>
                  </a:lnTo>
                  <a:lnTo>
                    <a:pt x="904096" y="224868"/>
                  </a:lnTo>
                  <a:lnTo>
                    <a:pt x="4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7208B8-65BB-292B-B1E5-9CF374AD6C2A}"/>
                </a:ext>
              </a:extLst>
            </p:cNvPr>
            <p:cNvSpPr txBox="1"/>
            <p:nvPr/>
          </p:nvSpPr>
          <p:spPr>
            <a:xfrm>
              <a:off x="5296395" y="3582035"/>
              <a:ext cx="2097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Initial assignment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4B687CA-26CE-499D-F217-08746F4F2EAD}"/>
                </a:ext>
              </a:extLst>
            </p:cNvPr>
            <p:cNvSpPr txBox="1"/>
            <p:nvPr/>
          </p:nvSpPr>
          <p:spPr>
            <a:xfrm>
              <a:off x="10058900" y="2862918"/>
              <a:ext cx="2097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Possible local Changes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AB3A75D-6B5C-B8DE-5534-E615940118D8}"/>
              </a:ext>
            </a:extLst>
          </p:cNvPr>
          <p:cNvSpPr txBox="1"/>
          <p:nvPr/>
        </p:nvSpPr>
        <p:spPr>
          <a:xfrm>
            <a:off x="1019339" y="5298875"/>
            <a:ext cx="6442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Hill Climbing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Simulated Annealing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1725" y="172719"/>
            <a:ext cx="490855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 Climbing</a:t>
            </a:r>
            <a:r>
              <a:rPr spc="-35" dirty="0"/>
              <a:t> </a:t>
            </a:r>
            <a:r>
              <a:rPr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1295401"/>
            <a:ext cx="9601200" cy="5215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4401" y="1677139"/>
            <a:ext cx="7467598" cy="4714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7569" y="172719"/>
            <a:ext cx="783771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</a:t>
            </a:r>
            <a:r>
              <a:rPr spc="-55" dirty="0"/>
              <a:t> </a:t>
            </a:r>
            <a:r>
              <a:rPr spc="-5" dirty="0"/>
              <a:t>Climbing</a:t>
            </a:r>
            <a:r>
              <a:rPr lang="en-US" spc="-5" dirty="0"/>
              <a:t> </a:t>
            </a:r>
            <a:r>
              <a:rPr lang="en-US" dirty="0"/>
              <a:t>Greedy Local Search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90261" y="1003016"/>
            <a:ext cx="6146165" cy="404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Simple,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general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idea: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Start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wherever</a:t>
            </a:r>
          </a:p>
          <a:p>
            <a:pPr marL="755650" lvl="1" indent="-285750">
              <a:lnSpc>
                <a:spcPct val="100000"/>
              </a:lnSpc>
              <a:spcBef>
                <a:spcPts val="21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Repeat: </a:t>
            </a:r>
            <a:r>
              <a:rPr sz="2400" spc="-5" dirty="0">
                <a:latin typeface="Calibri"/>
                <a:cs typeface="Calibri"/>
              </a:rPr>
              <a:t>move to the </a:t>
            </a:r>
            <a:r>
              <a:rPr sz="2400" dirty="0">
                <a:latin typeface="Calibri"/>
                <a:cs typeface="Calibri"/>
              </a:rPr>
              <a:t>best </a:t>
            </a:r>
            <a:r>
              <a:rPr sz="2400" spc="-5" dirty="0">
                <a:latin typeface="Calibri"/>
                <a:cs typeface="Calibri"/>
              </a:rPr>
              <a:t>neighboring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dirty="0">
                <a:latin typeface="Calibri"/>
                <a:cs typeface="Calibri"/>
              </a:rPr>
              <a:t>no </a:t>
            </a:r>
            <a:r>
              <a:rPr sz="2400" spc="-5" dirty="0">
                <a:latin typeface="Calibri"/>
                <a:cs typeface="Calibri"/>
              </a:rPr>
              <a:t>neighbors </a:t>
            </a:r>
            <a:r>
              <a:rPr sz="2400" dirty="0">
                <a:latin typeface="Calibri"/>
                <a:cs typeface="Calibri"/>
              </a:rPr>
              <a:t>better </a:t>
            </a:r>
            <a:r>
              <a:rPr sz="2400" spc="-5" dirty="0">
                <a:latin typeface="Calibri"/>
                <a:cs typeface="Calibri"/>
              </a:rPr>
              <a:t>than current,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quit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What’s bad about this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approach?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Complete?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Optimal?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What’s good about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it?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56312" y="181263"/>
            <a:ext cx="10515600" cy="6455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Hill Climbing (Greedy Local Search)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53" y="694607"/>
            <a:ext cx="10515600" cy="27343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25545" y="2141388"/>
            <a:ext cx="5327151" cy="32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23096" y="1567400"/>
            <a:ext cx="2861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if there is a tie?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4619" y="1992490"/>
            <a:ext cx="3798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Typically break ties randomly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652696" y="1768611"/>
            <a:ext cx="570400" cy="37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791378" y="2457797"/>
            <a:ext cx="2448675" cy="32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496334" y="2793599"/>
            <a:ext cx="382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if we do not stop 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30092" y="2788757"/>
                <a:ext cx="37199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Make a sideway move if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”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092" y="2788757"/>
                <a:ext cx="3719993" cy="461665"/>
              </a:xfrm>
              <a:prstGeom prst="rect">
                <a:avLst/>
              </a:prstGeom>
              <a:blipFill>
                <a:blip r:embed="rId3"/>
                <a:stretch>
                  <a:fillRect l="-2459" t="-10526" r="-163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C8ACED0-0C7C-EFC9-6145-D621B76CB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78" y="3574147"/>
            <a:ext cx="6106307" cy="32344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E90272-4D10-A4B6-6177-EE810683B808}"/>
              </a:ext>
            </a:extLst>
          </p:cNvPr>
          <p:cNvCxnSpPr>
            <a:cxnSpLocks/>
          </p:cNvCxnSpPr>
          <p:nvPr/>
        </p:nvCxnSpPr>
        <p:spPr>
          <a:xfrm flipH="1" flipV="1">
            <a:off x="8270842" y="2141388"/>
            <a:ext cx="1282232" cy="3381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24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4" grpId="0" animBg="1"/>
      <p:bldP spid="15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8B2033-4B65-76DD-2846-09068B0D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60" y="607945"/>
            <a:ext cx="10515600" cy="597401"/>
          </a:xfrm>
        </p:spPr>
        <p:txBody>
          <a:bodyPr>
            <a:normAutofit fontScale="90000"/>
          </a:bodyPr>
          <a:lstStyle/>
          <a:p>
            <a:r>
              <a:rPr lang="en-US" dirty="0"/>
              <a:t>Hill-climbing on 8-Queens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6E029A-1B17-8426-3EC8-81D3AF08F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213" y="1524664"/>
            <a:ext cx="10889672" cy="4056738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Randomly generated 8-queens starting states.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14% the time it solves the 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86% of the time it get stuck at a local minimum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However…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Takes only 4 steps on average when it succeeds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And 3 on average when it gets stuck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(for a state space with 8^8 =~17 million states)</a:t>
            </a:r>
          </a:p>
        </p:txBody>
      </p:sp>
    </p:spTree>
    <p:extLst>
      <p:ext uri="{BB962C8B-B14F-4D97-AF65-F5344CB8AC3E}">
        <p14:creationId xmlns:p14="http://schemas.microsoft.com/office/powerpoint/2010/main" val="3753020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1148A-A6F9-25EB-8386-B59D5F36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99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US" dirty="0"/>
              <a:t>Escaping Shoulders: Sideways Move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6F3BD-4E31-2D7E-8282-C84C6E8A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66" y="1091964"/>
            <a:ext cx="10515600" cy="484235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If no downhill (uphill) moves, allow sideways moves in hope that algorithm can escape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</a:rPr>
              <a:t>Must limit the number of possible sideways moves to avoid infinite loops </a:t>
            </a:r>
          </a:p>
          <a:p>
            <a:pPr lvl="1"/>
            <a:endParaRPr lang="en-US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For 8-queens 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Allow sideways moves with limit of 100 </a:t>
            </a:r>
          </a:p>
          <a:p>
            <a:pPr marL="795338" indent="-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  Raises percentage of problems solved from 14 to 94% </a:t>
            </a:r>
          </a:p>
          <a:p>
            <a:pPr marL="0" indent="0">
              <a:buNone/>
            </a:pPr>
            <a:endParaRPr lang="en-US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However…. </a:t>
            </a:r>
          </a:p>
          <a:p>
            <a:pPr marL="973138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21 steps for every successful solution </a:t>
            </a:r>
          </a:p>
          <a:p>
            <a:pPr marL="973138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 64 for each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945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9400" y="172719"/>
            <a:ext cx="40132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 Climbing</a:t>
            </a:r>
          </a:p>
        </p:txBody>
      </p:sp>
      <p:sp>
        <p:nvSpPr>
          <p:cNvPr id="3" name="object 3"/>
          <p:cNvSpPr/>
          <p:nvPr/>
        </p:nvSpPr>
        <p:spPr>
          <a:xfrm>
            <a:off x="3581400" y="1371601"/>
            <a:ext cx="5435600" cy="3238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69738" y="5061711"/>
            <a:ext cx="4062095" cy="155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5" dirty="0">
                <a:latin typeface="Calibri"/>
                <a:cs typeface="Calibri"/>
              </a:rPr>
              <a:t>X,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 </a:t>
            </a: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700" marR="17145">
              <a:lnSpc>
                <a:spcPct val="200000"/>
              </a:lnSpc>
            </a:pP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125" dirty="0">
                <a:latin typeface="Calibri"/>
                <a:cs typeface="Calibri"/>
              </a:rPr>
              <a:t>Y,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 </a:t>
            </a:r>
            <a:r>
              <a:rPr sz="2000" dirty="0">
                <a:latin typeface="Calibri"/>
                <a:cs typeface="Calibri"/>
              </a:rPr>
              <a:t>?  </a:t>
            </a: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Z,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49795-0D82-C9FE-AFE4-CDE0D8870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305216"/>
            <a:ext cx="10699192" cy="592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36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9A435-C427-AEBE-B278-D7FA395A5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81" y="553454"/>
            <a:ext cx="9515819" cy="517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22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2"/>
            <a:ext cx="10515600" cy="700923"/>
          </a:xfrm>
        </p:spPr>
        <p:txBody>
          <a:bodyPr/>
          <a:lstStyle/>
          <a:p>
            <a:r>
              <a:rPr lang="en-US" dirty="0"/>
              <a:t>Variants of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474" y="882398"/>
            <a:ext cx="10515600" cy="586313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Stochastic hill climbing </a:t>
            </a:r>
            <a:r>
              <a:rPr lang="en-US" dirty="0"/>
              <a:t>chooses at random from among the uphill moves.</a:t>
            </a:r>
          </a:p>
          <a:p>
            <a:pPr marL="854075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At each step do one of the following</a:t>
            </a:r>
            <a:r>
              <a:rPr lang="en-US" sz="2800" dirty="0"/>
              <a:t>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Greedy:</a:t>
            </a:r>
            <a:r>
              <a:rPr lang="en-US" sz="2800" dirty="0"/>
              <a:t> With prob p move to the neighbor with largest value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Random: </a:t>
            </a:r>
            <a:r>
              <a:rPr lang="en-US" sz="2800" dirty="0"/>
              <a:t>With prob 1-p move to a random neighbor</a:t>
            </a:r>
          </a:p>
          <a:p>
            <a:pPr marL="457200" lvl="1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Random-restart hill climbing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CC289-BBD5-B03B-B3B7-7ACE6917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04" y="3428529"/>
            <a:ext cx="7010400" cy="152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729BF-C82D-0F03-10B6-87B3352364C6}"/>
              </a:ext>
            </a:extLst>
          </p:cNvPr>
          <p:cNvSpPr txBox="1"/>
          <p:nvPr/>
        </p:nvSpPr>
        <p:spPr>
          <a:xfrm>
            <a:off x="6667760" y="3359516"/>
            <a:ext cx="3485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With random restart values</a:t>
            </a:r>
          </a:p>
        </p:txBody>
      </p:sp>
    </p:spTree>
    <p:extLst>
      <p:ext uri="{BB962C8B-B14F-4D97-AF65-F5344CB8AC3E}">
        <p14:creationId xmlns:p14="http://schemas.microsoft.com/office/powerpoint/2010/main" val="718446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7935" y="23687"/>
            <a:ext cx="5763577" cy="721994"/>
          </a:xfrm>
        </p:spPr>
        <p:txBody>
          <a:bodyPr/>
          <a:lstStyle/>
          <a:p>
            <a:r>
              <a:rPr lang="en-US" dirty="0"/>
              <a:t>Variants of Hill Climbing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32025" y="781717"/>
                <a:ext cx="10614897" cy="5324178"/>
              </a:xfrm>
            </p:spPr>
            <p:txBody>
              <a:bodyPr>
                <a:normAutofit/>
              </a:bodyPr>
              <a:lstStyle/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if variables are continuous, e.g.,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2400" dirty="0"/>
                  <a:t> that maximizes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0" dirty="0"/>
                  <a:t>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Gradient ascent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gradient to find best direction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the magnitude of the gradient to determine how big a step you move</a:t>
                </a:r>
              </a:p>
              <a:p>
                <a:pPr lvl="1">
                  <a:lnSpc>
                    <a:spcPct val="9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025" y="781717"/>
                <a:ext cx="10614897" cy="5324178"/>
              </a:xfrm>
              <a:blipFill>
                <a:blip r:embed="rId2"/>
                <a:stretch>
                  <a:fillRect l="-1666" t="-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3665" y="3254437"/>
            <a:ext cx="6364265" cy="345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7910624" y="6105895"/>
            <a:ext cx="24254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Value space of variables</a:t>
            </a:r>
          </a:p>
        </p:txBody>
      </p:sp>
    </p:spTree>
    <p:extLst>
      <p:ext uri="{BB962C8B-B14F-4D97-AF65-F5344CB8AC3E}">
        <p14:creationId xmlns:p14="http://schemas.microsoft.com/office/powerpoint/2010/main" val="2096078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413" y="130628"/>
            <a:ext cx="8526483" cy="1107996"/>
          </a:xfrm>
        </p:spPr>
        <p:txBody>
          <a:bodyPr/>
          <a:lstStyle/>
          <a:p>
            <a:pPr algn="ctr"/>
            <a:r>
              <a:rPr lang="en-US" sz="3600" dirty="0"/>
              <a:t>Hill-Climbing with Both Random Walk &amp; Random Sampling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962" y="1550995"/>
            <a:ext cx="11389351" cy="369331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At each step do one of the three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– </a:t>
            </a:r>
            <a:r>
              <a:rPr lang="en-US" sz="2400" dirty="0"/>
              <a:t>Greedy: move to the neighbor with largest value 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– Random Walk: move to a random neighbor 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– Random Restart: Start over from a new, random state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99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F7C993-423B-1BBE-3577-B5CA8232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6" y="378931"/>
            <a:ext cx="10365243" cy="58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11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Summary: CSPs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42686" y="1690688"/>
            <a:ext cx="8305800" cy="45259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sz="2800" dirty="0"/>
              <a:t>CSPs are a special kind of search problem:</a:t>
            </a:r>
          </a:p>
          <a:p>
            <a:pPr lvl="1">
              <a:spcBef>
                <a:spcPct val="0"/>
              </a:spcBef>
              <a:spcAft>
                <a:spcPts val="0"/>
              </a:spcAft>
            </a:pPr>
            <a:r>
              <a:rPr lang="en-US" dirty="0"/>
              <a:t>States are partial assignments</a:t>
            </a:r>
          </a:p>
          <a:p>
            <a:pPr lvl="1">
              <a:spcBef>
                <a:spcPct val="0"/>
              </a:spcBef>
              <a:spcAft>
                <a:spcPts val="0"/>
              </a:spcAft>
            </a:pPr>
            <a:r>
              <a:rPr lang="en-US" dirty="0"/>
              <a:t>Goal test defined by constraints</a:t>
            </a:r>
          </a:p>
          <a:p>
            <a:pPr lvl="6">
              <a:spcBef>
                <a:spcPct val="0"/>
              </a:spcBef>
              <a:spcAft>
                <a:spcPts val="0"/>
              </a:spcAft>
            </a:pPr>
            <a:endParaRPr lang="en-US" sz="1200" dirty="0"/>
          </a:p>
          <a:p>
            <a:pPr>
              <a:spcAft>
                <a:spcPts val="0"/>
              </a:spcAft>
            </a:pPr>
            <a:r>
              <a:rPr lang="en-US" sz="2800" dirty="0"/>
              <a:t>Basic solution: backtracking search</a:t>
            </a:r>
          </a:p>
          <a:p>
            <a:pPr lvl="2">
              <a:spcAft>
                <a:spcPts val="0"/>
              </a:spcAft>
            </a:pPr>
            <a:endParaRPr lang="en-US" sz="1500" dirty="0"/>
          </a:p>
          <a:p>
            <a:pPr>
              <a:spcAft>
                <a:spcPts val="0"/>
              </a:spcAft>
            </a:pPr>
            <a:r>
              <a:rPr lang="en-US" sz="2800" dirty="0"/>
              <a:t>Speed-ups: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sz="2400" dirty="0"/>
              <a:t>Ordering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sz="2400" dirty="0"/>
              <a:t>Filtering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sz="2400" dirty="0"/>
              <a:t>Structure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endParaRPr lang="en-US" sz="1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3600" y="2438400"/>
            <a:ext cx="6170351" cy="27429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556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E6141D-220F-46F8-BB25-321C7BCE4EFA}"/>
</file>

<file path=customXml/itemProps2.xml><?xml version="1.0" encoding="utf-8"?>
<ds:datastoreItem xmlns:ds="http://schemas.openxmlformats.org/officeDocument/2006/customXml" ds:itemID="{034313FC-C196-43DC-8FAD-341EC3726858}"/>
</file>

<file path=customXml/itemProps3.xml><?xml version="1.0" encoding="utf-8"?>
<ds:datastoreItem xmlns:ds="http://schemas.openxmlformats.org/officeDocument/2006/customXml" ds:itemID="{E0277678-767C-41B7-8D12-A2EB726296AE}"/>
</file>

<file path=docProps/app.xml><?xml version="1.0" encoding="utf-8"?>
<Properties xmlns="http://schemas.openxmlformats.org/officeDocument/2006/extended-properties" xmlns:vt="http://schemas.openxmlformats.org/officeDocument/2006/docPropsVTypes">
  <TotalTime>13633</TotalTime>
  <Words>2396</Words>
  <Application>Microsoft Office PowerPoint</Application>
  <PresentationFormat>Widescreen</PresentationFormat>
  <Paragraphs>421</Paragraphs>
  <Slides>42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Malgun Gothic</vt:lpstr>
      <vt:lpstr>Arial</vt:lpstr>
      <vt:lpstr>Calibri</vt:lpstr>
      <vt:lpstr>Calibri Light</vt:lpstr>
      <vt:lpstr>Cambria Math</vt:lpstr>
      <vt:lpstr>Google Sans</vt:lpstr>
      <vt:lpstr>Symbol</vt:lpstr>
      <vt:lpstr>Times New Roman</vt:lpstr>
      <vt:lpstr>Office Theme</vt:lpstr>
      <vt:lpstr>PowerPoint Presentation</vt:lpstr>
      <vt:lpstr>Improving Backtracking</vt:lpstr>
      <vt:lpstr>Filtering: Forward Checking</vt:lpstr>
      <vt:lpstr>Filtering: Forward Checking</vt:lpstr>
      <vt:lpstr>Filtering: Forward Checking</vt:lpstr>
      <vt:lpstr>Filtering: Forward Checking</vt:lpstr>
      <vt:lpstr>Filtering: Forward Checking</vt:lpstr>
      <vt:lpstr>Filtering: Constraint Propagation</vt:lpstr>
      <vt:lpstr>Filtering: Constraint Propagation</vt:lpstr>
      <vt:lpstr>Filtering: Constraint Propagation</vt:lpstr>
      <vt:lpstr>Consistency of A Single Arc</vt:lpstr>
      <vt:lpstr>Arc Consistency of an Entire CSP (1/6)</vt:lpstr>
      <vt:lpstr>Arc Consistency of an Entire CSP (2/6)</vt:lpstr>
      <vt:lpstr>Arc Consistency of an Entire CSP (3/6)</vt:lpstr>
      <vt:lpstr>Arc Consistency of an Entire CSP (4/6)</vt:lpstr>
      <vt:lpstr>Arc Consistency of an Entire CSP (5/6)</vt:lpstr>
      <vt:lpstr>Arc Consistency of an Entire CSP (6/6)</vt:lpstr>
      <vt:lpstr>Enforcing Arc Consistency in a CSP</vt:lpstr>
      <vt:lpstr>Limitations of Arc Consistency</vt:lpstr>
      <vt:lpstr>Ordering: Minimum Remaining Values</vt:lpstr>
      <vt:lpstr>Ordering: Least Constraining Value</vt:lpstr>
      <vt:lpstr>Structure</vt:lpstr>
      <vt:lpstr>Tree-Structured CSPs</vt:lpstr>
      <vt:lpstr>Nearly Tree-Structured CSPs</vt:lpstr>
      <vt:lpstr>Cutset Conditioning</vt:lpstr>
      <vt:lpstr>Iterative Algorithms for CSPs</vt:lpstr>
      <vt:lpstr>Example: 4-Queens</vt:lpstr>
      <vt:lpstr>Performance of Min-Conflicts</vt:lpstr>
      <vt:lpstr>Local Search</vt:lpstr>
      <vt:lpstr>Hill Climbing Diagram</vt:lpstr>
      <vt:lpstr>Hill Climbing Greedy Local Search</vt:lpstr>
      <vt:lpstr>Hill Climbing (Greedy Local Search)</vt:lpstr>
      <vt:lpstr>Hill-climbing on 8-Queens</vt:lpstr>
      <vt:lpstr>Escaping Shoulders: Sideways Move</vt:lpstr>
      <vt:lpstr>Hill Climbing</vt:lpstr>
      <vt:lpstr>PowerPoint Presentation</vt:lpstr>
      <vt:lpstr>PowerPoint Presentation</vt:lpstr>
      <vt:lpstr>Variants of Hill Climbing</vt:lpstr>
      <vt:lpstr>Variants of Hill Climbing</vt:lpstr>
      <vt:lpstr>Hill-Climbing with Both Random Walk &amp; Random Sampling </vt:lpstr>
      <vt:lpstr>PowerPoint Presentation</vt:lpstr>
      <vt:lpstr>Summary: CSPs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AI: Representation and Problem Solving </dc:title>
  <dc:creator>Rosenthal, Stephanie</dc:creator>
  <cp:lastModifiedBy>Dr. Khurram Jadoon khan Asstt. Professor FCS</cp:lastModifiedBy>
  <cp:revision>92</cp:revision>
  <dcterms:created xsi:type="dcterms:W3CDTF">2019-01-24T20:17:39Z</dcterms:created>
  <dcterms:modified xsi:type="dcterms:W3CDTF">2025-10-17T13:23:49Z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