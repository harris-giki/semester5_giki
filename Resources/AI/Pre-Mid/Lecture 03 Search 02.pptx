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0"/>
  </p:notesMasterIdLst>
  <p:sldIdLst>
    <p:sldId id="258" r:id="rId5"/>
    <p:sldId id="308" r:id="rId6"/>
    <p:sldId id="259" r:id="rId7"/>
    <p:sldId id="402" r:id="rId8"/>
    <p:sldId id="262" r:id="rId9"/>
    <p:sldId id="263" r:id="rId10"/>
    <p:sldId id="264" r:id="rId11"/>
    <p:sldId id="265" r:id="rId12"/>
    <p:sldId id="266" r:id="rId13"/>
    <p:sldId id="267" r:id="rId14"/>
    <p:sldId id="648" r:id="rId15"/>
    <p:sldId id="406" r:id="rId16"/>
    <p:sldId id="401" r:id="rId17"/>
    <p:sldId id="270" r:id="rId18"/>
    <p:sldId id="271" r:id="rId19"/>
    <p:sldId id="272" r:id="rId20"/>
    <p:sldId id="273" r:id="rId21"/>
    <p:sldId id="274" r:id="rId22"/>
    <p:sldId id="649" r:id="rId23"/>
    <p:sldId id="455" r:id="rId24"/>
    <p:sldId id="309" r:id="rId25"/>
    <p:sldId id="293" r:id="rId26"/>
    <p:sldId id="294" r:id="rId27"/>
    <p:sldId id="295" r:id="rId28"/>
    <p:sldId id="296" r:id="rId29"/>
    <p:sldId id="297" r:id="rId30"/>
    <p:sldId id="424" r:id="rId31"/>
    <p:sldId id="298" r:id="rId32"/>
    <p:sldId id="299" r:id="rId33"/>
    <p:sldId id="310" r:id="rId34"/>
    <p:sldId id="283" r:id="rId35"/>
    <p:sldId id="409" r:id="rId36"/>
    <p:sldId id="311" r:id="rId37"/>
    <p:sldId id="457" r:id="rId38"/>
    <p:sldId id="313" r:id="rId39"/>
  </p:sldIdLst>
  <p:sldSz cx="138176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9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90594C-836C-333A-36BC-876834A90A7E}" v="1" dt="2025-09-30T10:46:33.949"/>
    <p1510:client id="{81890C2C-127D-2204-00D0-7A437E732E44}" v="2" dt="2025-09-28T13:06:54.52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967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2023559" userId="S::u2023559@giki.edu.pk::ef554f95-bba2-4352-aad0-d4ad2178f96e" providerId="AD" clId="Web-{6890594C-836C-333A-36BC-876834A90A7E}"/>
    <pc:docChg chg="delSld">
      <pc:chgData name="u2023559" userId="S::u2023559@giki.edu.pk::ef554f95-bba2-4352-aad0-d4ad2178f96e" providerId="AD" clId="Web-{6890594C-836C-333A-36BC-876834A90A7E}" dt="2025-09-30T10:46:33.949" v="0"/>
      <pc:docMkLst>
        <pc:docMk/>
      </pc:docMkLst>
      <pc:sldChg chg="del">
        <pc:chgData name="u2023559" userId="S::u2023559@giki.edu.pk::ef554f95-bba2-4352-aad0-d4ad2178f96e" providerId="AD" clId="Web-{6890594C-836C-333A-36BC-876834A90A7E}" dt="2025-09-30T10:46:33.949" v="0"/>
        <pc:sldMkLst>
          <pc:docMk/>
          <pc:sldMk cId="0" sldId="261"/>
        </pc:sldMkLst>
      </pc:sldChg>
    </pc:docChg>
  </pc:docChgLst>
  <pc:docChgLst>
    <pc:chgData name="Dr. Khurram Jadoon khan Asstt. Professor FCS" userId="684a1a15-bea5-4a17-9b67-1313be309245" providerId="ADAL" clId="{FA6A18CD-8C91-481B-AB6B-8B2BF6D0213A}"/>
    <pc:docChg chg="undo custSel addSld delSld modSld sldOrd modMainMaster modNotesMaster">
      <pc:chgData name="Dr. Khurram Jadoon khan Asstt. Professor FCS" userId="684a1a15-bea5-4a17-9b67-1313be309245" providerId="ADAL" clId="{FA6A18CD-8C91-481B-AB6B-8B2BF6D0213A}" dt="2025-09-24T05:08:58.404" v="391" actId="403"/>
      <pc:docMkLst>
        <pc:docMk/>
      </pc:docMkLst>
      <pc:sldChg chg="modSp mod">
        <pc:chgData name="Dr. Khurram Jadoon khan Asstt. Professor FCS" userId="684a1a15-bea5-4a17-9b67-1313be309245" providerId="ADAL" clId="{FA6A18CD-8C91-481B-AB6B-8B2BF6D0213A}" dt="2025-09-24T04:11:57.892" v="36" actId="1076"/>
        <pc:sldMkLst>
          <pc:docMk/>
          <pc:sldMk cId="0" sldId="258"/>
        </pc:sldMkLst>
        <pc:spChg chg="mod">
          <ac:chgData name="Dr. Khurram Jadoon khan Asstt. Professor FCS" userId="684a1a15-bea5-4a17-9b67-1313be309245" providerId="ADAL" clId="{FA6A18CD-8C91-481B-AB6B-8B2BF6D0213A}" dt="2025-09-24T04:11:57.892" v="36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11:54.010" v="35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FA6A18CD-8C91-481B-AB6B-8B2BF6D0213A}" dt="2025-09-24T04:21:02.664" v="50" actId="1076"/>
        <pc:sldMkLst>
          <pc:docMk/>
          <pc:sldMk cId="0" sldId="259"/>
        </pc:sldMkLst>
        <pc:spChg chg="mod">
          <ac:chgData name="Dr. Khurram Jadoon khan Asstt. Professor FCS" userId="684a1a15-bea5-4a17-9b67-1313be309245" providerId="ADAL" clId="{FA6A18CD-8C91-481B-AB6B-8B2BF6D0213A}" dt="2025-09-24T04:20:23.820" v="41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20:59.817" v="49" actId="20577"/>
          <ac:spMkLst>
            <pc:docMk/>
            <pc:sldMk cId="0" sldId="259"/>
            <ac:spMk id="3" creationId="{00000000-0000-0000-0000-000000000000}"/>
          </ac:spMkLst>
        </pc:spChg>
        <pc:picChg chg="mod">
          <ac:chgData name="Dr. Khurram Jadoon khan Asstt. Professor FCS" userId="684a1a15-bea5-4a17-9b67-1313be309245" providerId="ADAL" clId="{FA6A18CD-8C91-481B-AB6B-8B2BF6D0213A}" dt="2025-09-24T04:21:02.664" v="50" actId="1076"/>
          <ac:picMkLst>
            <pc:docMk/>
            <pc:sldMk cId="0" sldId="259"/>
            <ac:picMk id="5" creationId="{4F25A86D-7845-9CF6-8537-4DA3D7383551}"/>
          </ac:picMkLst>
        </pc:picChg>
        <pc:picChg chg="mod">
          <ac:chgData name="Dr. Khurram Jadoon khan Asstt. Professor FCS" userId="684a1a15-bea5-4a17-9b67-1313be309245" providerId="ADAL" clId="{FA6A18CD-8C91-481B-AB6B-8B2BF6D0213A}" dt="2025-09-19T05:48:45.627" v="2"/>
          <ac:picMkLst>
            <pc:docMk/>
            <pc:sldMk cId="0" sldId="259"/>
            <ac:picMk id="7" creationId="{E124C1FE-6E2E-3A42-0B93-60D6728842A1}"/>
          </ac:picMkLst>
        </pc:picChg>
      </pc:sldChg>
      <pc:sldChg chg="addSp delSp modSp add del mod">
        <pc:chgData name="Dr. Khurram Jadoon khan Asstt. Professor FCS" userId="684a1a15-bea5-4a17-9b67-1313be309245" providerId="ADAL" clId="{FA6A18CD-8C91-481B-AB6B-8B2BF6D0213A}" dt="2025-09-24T04:32:26.733" v="74" actId="47"/>
        <pc:sldMkLst>
          <pc:docMk/>
          <pc:sldMk cId="0" sldId="260"/>
        </pc:sldMkLst>
        <pc:spChg chg="add del">
          <ac:chgData name="Dr. Khurram Jadoon khan Asstt. Professor FCS" userId="684a1a15-bea5-4a17-9b67-1313be309245" providerId="ADAL" clId="{FA6A18CD-8C91-481B-AB6B-8B2BF6D0213A}" dt="2025-09-24T04:28:47.080" v="53" actId="22"/>
          <ac:spMkLst>
            <pc:docMk/>
            <pc:sldMk cId="0" sldId="260"/>
            <ac:spMk id="3" creationId="{1CD5C945-1686-E364-B6C3-CAC1380D3624}"/>
          </ac:spMkLst>
        </pc:spChg>
        <pc:picChg chg="mod">
          <ac:chgData name="Dr. Khurram Jadoon khan Asstt. Professor FCS" userId="684a1a15-bea5-4a17-9b67-1313be309245" providerId="ADAL" clId="{FA6A18CD-8C91-481B-AB6B-8B2BF6D0213A}" dt="2025-09-24T04:21:19.855" v="51" actId="14100"/>
          <ac:picMkLst>
            <pc:docMk/>
            <pc:sldMk cId="0" sldId="260"/>
            <ac:picMk id="8" creationId="{79DB9CF5-CADA-3992-A8CC-80FE5F20C742}"/>
          </ac:picMkLst>
        </pc:picChg>
      </pc:sldChg>
      <pc:sldChg chg="modSp">
        <pc:chgData name="Dr. Khurram Jadoon khan Asstt. Professor FCS" userId="684a1a15-bea5-4a17-9b67-1313be309245" providerId="ADAL" clId="{FA6A18CD-8C91-481B-AB6B-8B2BF6D0213A}" dt="2025-09-19T05:48:45.627" v="2"/>
        <pc:sldMkLst>
          <pc:docMk/>
          <pc:sldMk cId="0" sldId="261"/>
        </pc:sldMkLst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1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1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1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1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1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1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1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1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1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1"/>
            <ac:spMk id="22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FA6A18CD-8C91-481B-AB6B-8B2BF6D0213A}" dt="2025-09-24T04:32:18.991" v="72" actId="478"/>
        <pc:sldMkLst>
          <pc:docMk/>
          <pc:sldMk cId="0" sldId="262"/>
        </pc:sldMkLst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2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2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2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2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2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2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2"/>
            <ac:spMk id="11" creationId="{00000000-0000-0000-0000-000000000000}"/>
          </ac:spMkLst>
        </pc:spChg>
        <pc:spChg chg="add del mod">
          <ac:chgData name="Dr. Khurram Jadoon khan Asstt. Professor FCS" userId="684a1a15-bea5-4a17-9b67-1313be309245" providerId="ADAL" clId="{FA6A18CD-8C91-481B-AB6B-8B2BF6D0213A}" dt="2025-09-24T04:32:17.841" v="71" actId="478"/>
          <ac:spMkLst>
            <pc:docMk/>
            <pc:sldMk cId="0" sldId="262"/>
            <ac:spMk id="13" creationId="{00000000-0000-0000-0000-000000000000}"/>
          </ac:spMkLst>
        </pc:spChg>
        <pc:spChg chg="add del mod">
          <ac:chgData name="Dr. Khurram Jadoon khan Asstt. Professor FCS" userId="684a1a15-bea5-4a17-9b67-1313be309245" providerId="ADAL" clId="{FA6A18CD-8C91-481B-AB6B-8B2BF6D0213A}" dt="2025-09-24T04:32:18.991" v="72" actId="478"/>
          <ac:spMkLst>
            <pc:docMk/>
            <pc:sldMk cId="0" sldId="262"/>
            <ac:spMk id="14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FA6A18CD-8C91-481B-AB6B-8B2BF6D0213A}" dt="2025-09-24T04:32:17.587" v="70" actId="478"/>
        <pc:sldMkLst>
          <pc:docMk/>
          <pc:sldMk cId="0" sldId="263"/>
        </pc:sldMkLst>
        <pc:spChg chg="add del mod">
          <ac:chgData name="Dr. Khurram Jadoon khan Asstt. Professor FCS" userId="684a1a15-bea5-4a17-9b67-1313be309245" providerId="ADAL" clId="{FA6A18CD-8C91-481B-AB6B-8B2BF6D0213A}" dt="2025-09-24T04:32:17.107" v="69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3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3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3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3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3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3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3"/>
            <ac:spMk id="18" creationId="{00000000-0000-0000-0000-000000000000}"/>
          </ac:spMkLst>
        </pc:spChg>
        <pc:spChg chg="add del mod">
          <ac:chgData name="Dr. Khurram Jadoon khan Asstt. Professor FCS" userId="684a1a15-bea5-4a17-9b67-1313be309245" providerId="ADAL" clId="{FA6A18CD-8C91-481B-AB6B-8B2BF6D0213A}" dt="2025-09-24T04:32:17.587" v="70" actId="478"/>
          <ac:spMkLst>
            <pc:docMk/>
            <pc:sldMk cId="0" sldId="263"/>
            <ac:spMk id="20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FA6A18CD-8C91-481B-AB6B-8B2BF6D0213A}" dt="2025-09-24T04:32:16.119" v="68" actId="478"/>
        <pc:sldMkLst>
          <pc:docMk/>
          <pc:sldMk cId="0" sldId="264"/>
        </pc:sldMkLst>
        <pc:spChg chg="add del">
          <ac:chgData name="Dr. Khurram Jadoon khan Asstt. Professor FCS" userId="684a1a15-bea5-4a17-9b67-1313be309245" providerId="ADAL" clId="{FA6A18CD-8C91-481B-AB6B-8B2BF6D0213A}" dt="2025-09-24T04:32:15.483" v="67" actId="478"/>
          <ac:spMkLst>
            <pc:docMk/>
            <pc:sldMk cId="0" sldId="26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4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4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4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4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4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4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4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4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4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4"/>
            <ac:spMk id="23" creationId="{00000000-0000-0000-0000-000000000000}"/>
          </ac:spMkLst>
        </pc:spChg>
        <pc:spChg chg="add del">
          <ac:chgData name="Dr. Khurram Jadoon khan Asstt. Professor FCS" userId="684a1a15-bea5-4a17-9b67-1313be309245" providerId="ADAL" clId="{FA6A18CD-8C91-481B-AB6B-8B2BF6D0213A}" dt="2025-09-24T04:32:16.119" v="68" actId="478"/>
          <ac:spMkLst>
            <pc:docMk/>
            <pc:sldMk cId="0" sldId="264"/>
            <ac:spMk id="26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FA6A18CD-8C91-481B-AB6B-8B2BF6D0213A}" dt="2025-09-24T04:32:15.133" v="66" actId="478"/>
        <pc:sldMkLst>
          <pc:docMk/>
          <pc:sldMk cId="0" sldId="265"/>
        </pc:sldMkLst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5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5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5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5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5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5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5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5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5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5"/>
            <ac:spMk id="17" creationId="{00000000-0000-0000-0000-000000000000}"/>
          </ac:spMkLst>
        </pc:spChg>
        <pc:spChg chg="add del">
          <ac:chgData name="Dr. Khurram Jadoon khan Asstt. Professor FCS" userId="684a1a15-bea5-4a17-9b67-1313be309245" providerId="ADAL" clId="{FA6A18CD-8C91-481B-AB6B-8B2BF6D0213A}" dt="2025-09-24T04:32:15.133" v="66" actId="478"/>
          <ac:spMkLst>
            <pc:docMk/>
            <pc:sldMk cId="0" sldId="265"/>
            <ac:spMk id="19" creationId="{00000000-0000-0000-0000-000000000000}"/>
          </ac:spMkLst>
        </pc:spChg>
      </pc:sldChg>
      <pc:sldChg chg="delSp modSp mod">
        <pc:chgData name="Dr. Khurram Jadoon khan Asstt. Professor FCS" userId="684a1a15-bea5-4a17-9b67-1313be309245" providerId="ADAL" clId="{FA6A18CD-8C91-481B-AB6B-8B2BF6D0213A}" dt="2025-09-19T05:59:10.667" v="26" actId="478"/>
        <pc:sldMkLst>
          <pc:docMk/>
          <pc:sldMk cId="0" sldId="266"/>
        </pc:sldMkLst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6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6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6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6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6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6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6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6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6"/>
            <ac:spMk id="21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FA6A18CD-8C91-481B-AB6B-8B2BF6D0213A}" dt="2025-09-19T05:48:45.627" v="2"/>
        <pc:sldMkLst>
          <pc:docMk/>
          <pc:sldMk cId="0" sldId="267"/>
        </pc:sldMkLst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7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7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7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7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7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7"/>
            <ac:spMk id="2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7"/>
            <ac:spMk id="2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7"/>
            <ac:spMk id="2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7"/>
            <ac:spMk id="2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67"/>
            <ac:spMk id="29" creationId="{00000000-0000-0000-0000-000000000000}"/>
          </ac:spMkLst>
        </pc:spChg>
      </pc:sldChg>
      <pc:sldChg chg="modSp del ord">
        <pc:chgData name="Dr. Khurram Jadoon khan Asstt. Professor FCS" userId="684a1a15-bea5-4a17-9b67-1313be309245" providerId="ADAL" clId="{FA6A18CD-8C91-481B-AB6B-8B2BF6D0213A}" dt="2025-09-24T04:38:31.506" v="92" actId="47"/>
        <pc:sldMkLst>
          <pc:docMk/>
          <pc:sldMk cId="0" sldId="269"/>
        </pc:sldMkLst>
      </pc:sldChg>
      <pc:sldChg chg="modSp">
        <pc:chgData name="Dr. Khurram Jadoon khan Asstt. Professor FCS" userId="684a1a15-bea5-4a17-9b67-1313be309245" providerId="ADAL" clId="{FA6A18CD-8C91-481B-AB6B-8B2BF6D0213A}" dt="2025-09-19T05:48:45.627" v="2"/>
        <pc:sldMkLst>
          <pc:docMk/>
          <pc:sldMk cId="0" sldId="270"/>
        </pc:sldMkLst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0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0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0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0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0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0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0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0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0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0"/>
            <ac:spMk id="19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FA6A18CD-8C91-481B-AB6B-8B2BF6D0213A}" dt="2025-09-19T05:48:45.627" v="2"/>
        <pc:sldMkLst>
          <pc:docMk/>
          <pc:sldMk cId="0" sldId="271"/>
        </pc:sldMkLst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1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1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1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1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1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1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1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1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1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1"/>
            <ac:spMk id="25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FA6A18CD-8C91-481B-AB6B-8B2BF6D0213A}" dt="2025-09-19T05:48:45.627" v="2"/>
        <pc:sldMkLst>
          <pc:docMk/>
          <pc:sldMk cId="0" sldId="272"/>
        </pc:sldMkLst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2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2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2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2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2"/>
            <ac:spMk id="2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2"/>
            <ac:spMk id="2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2"/>
            <ac:spMk id="2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2"/>
            <ac:spMk id="2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2"/>
            <ac:spMk id="2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2"/>
            <ac:spMk id="31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FA6A18CD-8C91-481B-AB6B-8B2BF6D0213A}" dt="2025-09-19T05:48:45.627" v="2"/>
        <pc:sldMkLst>
          <pc:docMk/>
          <pc:sldMk cId="0" sldId="273"/>
        </pc:sldMkLst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3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3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3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3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3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3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3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3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3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3"/>
            <ac:spMk id="22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FA6A18CD-8C91-481B-AB6B-8B2BF6D0213A}" dt="2025-09-19T05:48:45.627" v="2"/>
        <pc:sldMkLst>
          <pc:docMk/>
          <pc:sldMk cId="0" sldId="274"/>
        </pc:sldMkLst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4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4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4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4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4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4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4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4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0" sldId="274"/>
            <ac:spMk id="23" creationId="{00000000-0000-0000-0000-000000000000}"/>
          </ac:spMkLst>
        </pc:spChg>
      </pc:sldChg>
      <pc:sldChg chg="modSp del">
        <pc:chgData name="Dr. Khurram Jadoon khan Asstt. Professor FCS" userId="684a1a15-bea5-4a17-9b67-1313be309245" providerId="ADAL" clId="{FA6A18CD-8C91-481B-AB6B-8B2BF6D0213A}" dt="2025-09-24T04:55:42.147" v="285" actId="47"/>
        <pc:sldMkLst>
          <pc:docMk/>
          <pc:sldMk cId="0" sldId="282"/>
        </pc:sldMkLst>
      </pc:sldChg>
      <pc:sldChg chg="delSp modSp mod">
        <pc:chgData name="Dr. Khurram Jadoon khan Asstt. Professor FCS" userId="684a1a15-bea5-4a17-9b67-1313be309245" providerId="ADAL" clId="{FA6A18CD-8C91-481B-AB6B-8B2BF6D0213A}" dt="2025-09-24T05:01:20.530" v="367" actId="114"/>
        <pc:sldMkLst>
          <pc:docMk/>
          <pc:sldMk cId="0" sldId="283"/>
        </pc:sldMkLst>
        <pc:spChg chg="mod">
          <ac:chgData name="Dr. Khurram Jadoon khan Asstt. Professor FCS" userId="684a1a15-bea5-4a17-9b67-1313be309245" providerId="ADAL" clId="{FA6A18CD-8C91-481B-AB6B-8B2BF6D0213A}" dt="2025-09-24T05:00:56.019" v="357" actId="1076"/>
          <ac:spMkLst>
            <pc:docMk/>
            <pc:sldMk cId="0" sldId="283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5:01:20.530" v="367" actId="114"/>
          <ac:spMkLst>
            <pc:docMk/>
            <pc:sldMk cId="0" sldId="283"/>
            <ac:spMk id="3" creationId="{00000000-0000-0000-0000-000000000000}"/>
          </ac:spMkLst>
        </pc:spChg>
        <pc:spChg chg="del mod">
          <ac:chgData name="Dr. Khurram Jadoon khan Asstt. Professor FCS" userId="684a1a15-bea5-4a17-9b67-1313be309245" providerId="ADAL" clId="{FA6A18CD-8C91-481B-AB6B-8B2BF6D0213A}" dt="2025-09-24T05:00:59.994" v="361"/>
          <ac:spMkLst>
            <pc:docMk/>
            <pc:sldMk cId="0" sldId="283"/>
            <ac:spMk id="4" creationId="{00000000-0000-0000-0000-000000000000}"/>
          </ac:spMkLst>
        </pc:spChg>
      </pc:sldChg>
      <pc:sldChg chg="modSp del">
        <pc:chgData name="Dr. Khurram Jadoon khan Asstt. Professor FCS" userId="684a1a15-bea5-4a17-9b67-1313be309245" providerId="ADAL" clId="{FA6A18CD-8C91-481B-AB6B-8B2BF6D0213A}" dt="2025-09-24T05:02:25.674" v="381" actId="47"/>
        <pc:sldMkLst>
          <pc:docMk/>
          <pc:sldMk cId="0" sldId="284"/>
        </pc:sldMkLst>
      </pc:sldChg>
      <pc:sldChg chg="modSp mod">
        <pc:chgData name="Dr. Khurram Jadoon khan Asstt. Professor FCS" userId="684a1a15-bea5-4a17-9b67-1313be309245" providerId="ADAL" clId="{FA6A18CD-8C91-481B-AB6B-8B2BF6D0213A}" dt="2025-09-24T04:56:56.159" v="309" actId="14100"/>
        <pc:sldMkLst>
          <pc:docMk/>
          <pc:sldMk cId="258584771" sldId="293"/>
        </pc:sldMkLst>
        <pc:spChg chg="mod">
          <ac:chgData name="Dr. Khurram Jadoon khan Asstt. Professor FCS" userId="684a1a15-bea5-4a17-9b67-1313be309245" providerId="ADAL" clId="{FA6A18CD-8C91-481B-AB6B-8B2BF6D0213A}" dt="2025-09-24T04:56:56.159" v="309" actId="14100"/>
          <ac:spMkLst>
            <pc:docMk/>
            <pc:sldMk cId="258584771" sldId="293"/>
            <ac:spMk id="2" creationId="{6426E6C5-E326-0800-1B18-C23CB77AFB54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56:50.800" v="306" actId="20577"/>
          <ac:spMkLst>
            <pc:docMk/>
            <pc:sldMk cId="258584771" sldId="293"/>
            <ac:spMk id="3" creationId="{18878029-918B-E5CE-2ADD-B7EA738C5434}"/>
          </ac:spMkLst>
        </pc:spChg>
      </pc:sldChg>
      <pc:sldChg chg="modSp">
        <pc:chgData name="Dr. Khurram Jadoon khan Asstt. Professor FCS" userId="684a1a15-bea5-4a17-9b67-1313be309245" providerId="ADAL" clId="{FA6A18CD-8C91-481B-AB6B-8B2BF6D0213A}" dt="2025-09-19T05:48:45.627" v="2"/>
        <pc:sldMkLst>
          <pc:docMk/>
          <pc:sldMk cId="326441652" sldId="294"/>
        </pc:sldMkLst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326441652" sldId="294"/>
            <ac:spMk id="2" creationId="{ECE8EBD9-C092-85F3-EEE0-A63D598FAE0F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326441652" sldId="294"/>
            <ac:spMk id="3" creationId="{B7B8735F-AEF0-4058-8221-493EFA486157}"/>
          </ac:spMkLst>
        </pc:spChg>
      </pc:sldChg>
      <pc:sldChg chg="modSp">
        <pc:chgData name="Dr. Khurram Jadoon khan Asstt. Professor FCS" userId="684a1a15-bea5-4a17-9b67-1313be309245" providerId="ADAL" clId="{FA6A18CD-8C91-481B-AB6B-8B2BF6D0213A}" dt="2025-09-19T05:48:45.627" v="2"/>
        <pc:sldMkLst>
          <pc:docMk/>
          <pc:sldMk cId="4222737908" sldId="295"/>
        </pc:sldMkLst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4222737908" sldId="295"/>
            <ac:spMk id="2" creationId="{45CDBD80-E1FA-A920-889F-3ABE61D03658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4222737908" sldId="295"/>
            <ac:spMk id="3" creationId="{10D21120-2F08-4140-1AC7-0D2E67860C5F}"/>
          </ac:spMkLst>
        </pc:spChg>
      </pc:sldChg>
      <pc:sldChg chg="modSp">
        <pc:chgData name="Dr. Khurram Jadoon khan Asstt. Professor FCS" userId="684a1a15-bea5-4a17-9b67-1313be309245" providerId="ADAL" clId="{FA6A18CD-8C91-481B-AB6B-8B2BF6D0213A}" dt="2025-09-19T05:48:45.627" v="2"/>
        <pc:sldMkLst>
          <pc:docMk/>
          <pc:sldMk cId="2146580532" sldId="296"/>
        </pc:sldMkLst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2146580532" sldId="296"/>
            <ac:spMk id="2" creationId="{CE0FF4AF-840B-50A2-FB53-B9C931B84855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2146580532" sldId="296"/>
            <ac:spMk id="3" creationId="{F5CF1511-85E8-275C-6E3E-9928853A21F3}"/>
          </ac:spMkLst>
        </pc:spChg>
      </pc:sldChg>
      <pc:sldChg chg="modSp">
        <pc:chgData name="Dr. Khurram Jadoon khan Asstt. Professor FCS" userId="684a1a15-bea5-4a17-9b67-1313be309245" providerId="ADAL" clId="{FA6A18CD-8C91-481B-AB6B-8B2BF6D0213A}" dt="2025-09-19T05:48:45.627" v="2"/>
        <pc:sldMkLst>
          <pc:docMk/>
          <pc:sldMk cId="3948126100" sldId="297"/>
        </pc:sldMkLst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3948126100" sldId="297"/>
            <ac:spMk id="2" creationId="{612F1E50-F6E8-D0DC-6382-FEAB18D0006C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3948126100" sldId="297"/>
            <ac:spMk id="3" creationId="{C7FCA684-A614-60B6-EB44-9B269CFCF373}"/>
          </ac:spMkLst>
        </pc:spChg>
      </pc:sldChg>
      <pc:sldChg chg="modSp mod">
        <pc:chgData name="Dr. Khurram Jadoon khan Asstt. Professor FCS" userId="684a1a15-bea5-4a17-9b67-1313be309245" providerId="ADAL" clId="{FA6A18CD-8C91-481B-AB6B-8B2BF6D0213A}" dt="2025-09-24T04:59:03.691" v="327" actId="14100"/>
        <pc:sldMkLst>
          <pc:docMk/>
          <pc:sldMk cId="3556515912" sldId="298"/>
        </pc:sldMkLst>
        <pc:spChg chg="mod">
          <ac:chgData name="Dr. Khurram Jadoon khan Asstt. Professor FCS" userId="684a1a15-bea5-4a17-9b67-1313be309245" providerId="ADAL" clId="{FA6A18CD-8C91-481B-AB6B-8B2BF6D0213A}" dt="2025-09-24T04:59:03.691" v="327" actId="14100"/>
          <ac:spMkLst>
            <pc:docMk/>
            <pc:sldMk cId="3556515912" sldId="298"/>
            <ac:spMk id="2" creationId="{F506FBD3-9592-D63C-3720-8394C9AD1DF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59:00.468" v="326" actId="14100"/>
          <ac:spMkLst>
            <pc:docMk/>
            <pc:sldMk cId="3556515912" sldId="298"/>
            <ac:spMk id="3" creationId="{C9B67F0E-481C-6EBF-DBFD-4982C0F89C66}"/>
          </ac:spMkLst>
        </pc:spChg>
      </pc:sldChg>
      <pc:sldChg chg="modSp mod">
        <pc:chgData name="Dr. Khurram Jadoon khan Asstt. Professor FCS" userId="684a1a15-bea5-4a17-9b67-1313be309245" providerId="ADAL" clId="{FA6A18CD-8C91-481B-AB6B-8B2BF6D0213A}" dt="2025-09-24T05:00:11.065" v="344" actId="20577"/>
        <pc:sldMkLst>
          <pc:docMk/>
          <pc:sldMk cId="984891316" sldId="299"/>
        </pc:sldMkLst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984891316" sldId="299"/>
            <ac:spMk id="2" creationId="{484EB285-3F55-8F84-30B2-2878EAD40752}"/>
          </ac:spMkLst>
        </pc:spChg>
        <pc:spChg chg="mod">
          <ac:chgData name="Dr. Khurram Jadoon khan Asstt. Professor FCS" userId="684a1a15-bea5-4a17-9b67-1313be309245" providerId="ADAL" clId="{FA6A18CD-8C91-481B-AB6B-8B2BF6D0213A}" dt="2025-09-24T05:00:11.065" v="344" actId="20577"/>
          <ac:spMkLst>
            <pc:docMk/>
            <pc:sldMk cId="984891316" sldId="299"/>
            <ac:spMk id="3" creationId="{951DB1AA-51D2-1EE9-E097-97457768B30F}"/>
          </ac:spMkLst>
        </pc:spChg>
      </pc:sldChg>
      <pc:sldChg chg="modSp del mod">
        <pc:chgData name="Dr. Khurram Jadoon khan Asstt. Professor FCS" userId="684a1a15-bea5-4a17-9b67-1313be309245" providerId="ADAL" clId="{FA6A18CD-8C91-481B-AB6B-8B2BF6D0213A}" dt="2025-09-24T05:06:31.269" v="389" actId="47"/>
        <pc:sldMkLst>
          <pc:docMk/>
          <pc:sldMk cId="3569539490" sldId="300"/>
        </pc:sldMkLst>
      </pc:sldChg>
      <pc:sldChg chg="modSp del mod">
        <pc:chgData name="Dr. Khurram Jadoon khan Asstt. Professor FCS" userId="684a1a15-bea5-4a17-9b67-1313be309245" providerId="ADAL" clId="{FA6A18CD-8C91-481B-AB6B-8B2BF6D0213A}" dt="2025-09-24T04:37:56.005" v="89" actId="47"/>
        <pc:sldMkLst>
          <pc:docMk/>
          <pc:sldMk cId="228297547" sldId="305"/>
        </pc:sldMkLst>
      </pc:sldChg>
      <pc:sldChg chg="modSp del">
        <pc:chgData name="Dr. Khurram Jadoon khan Asstt. Professor FCS" userId="684a1a15-bea5-4a17-9b67-1313be309245" providerId="ADAL" clId="{FA6A18CD-8C91-481B-AB6B-8B2BF6D0213A}" dt="2025-09-24T04:55:37.550" v="284" actId="47"/>
        <pc:sldMkLst>
          <pc:docMk/>
          <pc:sldMk cId="3000281451" sldId="307"/>
        </pc:sldMkLst>
      </pc:sldChg>
      <pc:sldChg chg="modSp mod">
        <pc:chgData name="Dr. Khurram Jadoon khan Asstt. Professor FCS" userId="684a1a15-bea5-4a17-9b67-1313be309245" providerId="ADAL" clId="{FA6A18CD-8C91-481B-AB6B-8B2BF6D0213A}" dt="2025-09-24T04:20:15.956" v="40" actId="1076"/>
        <pc:sldMkLst>
          <pc:docMk/>
          <pc:sldMk cId="2881912196" sldId="308"/>
        </pc:sldMkLst>
        <pc:spChg chg="mod">
          <ac:chgData name="Dr. Khurram Jadoon khan Asstt. Professor FCS" userId="684a1a15-bea5-4a17-9b67-1313be309245" providerId="ADAL" clId="{FA6A18CD-8C91-481B-AB6B-8B2BF6D0213A}" dt="2025-09-24T04:20:13.902" v="39" actId="1076"/>
          <ac:spMkLst>
            <pc:docMk/>
            <pc:sldMk cId="2881912196" sldId="308"/>
            <ac:spMk id="2" creationId="{3C3D5CEF-7379-5C5A-D657-E726387FFE78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20:15.956" v="40" actId="1076"/>
          <ac:spMkLst>
            <pc:docMk/>
            <pc:sldMk cId="2881912196" sldId="308"/>
            <ac:spMk id="3" creationId="{F5493967-BB16-0D4B-E3D5-8EFCEFA7CFA4}"/>
          </ac:spMkLst>
        </pc:spChg>
      </pc:sldChg>
      <pc:sldChg chg="modSp mod">
        <pc:chgData name="Dr. Khurram Jadoon khan Asstt. Professor FCS" userId="684a1a15-bea5-4a17-9b67-1313be309245" providerId="ADAL" clId="{FA6A18CD-8C91-481B-AB6B-8B2BF6D0213A}" dt="2025-09-24T04:56:08.800" v="295" actId="403"/>
        <pc:sldMkLst>
          <pc:docMk/>
          <pc:sldMk cId="983937369" sldId="309"/>
        </pc:sldMkLst>
        <pc:spChg chg="mod">
          <ac:chgData name="Dr. Khurram Jadoon khan Asstt. Professor FCS" userId="684a1a15-bea5-4a17-9b67-1313be309245" providerId="ADAL" clId="{FA6A18CD-8C91-481B-AB6B-8B2BF6D0213A}" dt="2025-09-24T04:56:08.800" v="295" actId="403"/>
          <ac:spMkLst>
            <pc:docMk/>
            <pc:sldMk cId="983937369" sldId="309"/>
            <ac:spMk id="3" creationId="{E1CA8454-2673-2589-75C5-63DF4EC91488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55:54.970" v="290" actId="207"/>
          <ac:spMkLst>
            <pc:docMk/>
            <pc:sldMk cId="983937369" sldId="309"/>
            <ac:spMk id="4" creationId="{3FE9EAA0-23C6-BE58-58D0-E89021B5DCC9}"/>
          </ac:spMkLst>
        </pc:spChg>
      </pc:sldChg>
      <pc:sldChg chg="modSp mod">
        <pc:chgData name="Dr. Khurram Jadoon khan Asstt. Professor FCS" userId="684a1a15-bea5-4a17-9b67-1313be309245" providerId="ADAL" clId="{FA6A18CD-8C91-481B-AB6B-8B2BF6D0213A}" dt="2025-09-24T05:00:29.310" v="346" actId="14100"/>
        <pc:sldMkLst>
          <pc:docMk/>
          <pc:sldMk cId="2550179115" sldId="310"/>
        </pc:sldMkLst>
        <pc:picChg chg="mod">
          <ac:chgData name="Dr. Khurram Jadoon khan Asstt. Professor FCS" userId="684a1a15-bea5-4a17-9b67-1313be309245" providerId="ADAL" clId="{FA6A18CD-8C91-481B-AB6B-8B2BF6D0213A}" dt="2025-09-24T05:00:29.310" v="346" actId="14100"/>
          <ac:picMkLst>
            <pc:docMk/>
            <pc:sldMk cId="2550179115" sldId="310"/>
            <ac:picMk id="5" creationId="{DB0D66C7-2426-858A-CFB5-1A463F1E9187}"/>
          </ac:picMkLst>
        </pc:picChg>
      </pc:sldChg>
      <pc:sldChg chg="modSp mod ord">
        <pc:chgData name="Dr. Khurram Jadoon khan Asstt. Professor FCS" userId="684a1a15-bea5-4a17-9b67-1313be309245" providerId="ADAL" clId="{FA6A18CD-8C91-481B-AB6B-8B2BF6D0213A}" dt="2025-09-24T05:01:36.748" v="369"/>
        <pc:sldMkLst>
          <pc:docMk/>
          <pc:sldMk cId="3352245330" sldId="311"/>
        </pc:sldMkLst>
        <pc:picChg chg="mod">
          <ac:chgData name="Dr. Khurram Jadoon khan Asstt. Professor FCS" userId="684a1a15-bea5-4a17-9b67-1313be309245" providerId="ADAL" clId="{FA6A18CD-8C91-481B-AB6B-8B2BF6D0213A}" dt="2025-09-23T07:33:36.725" v="34" actId="14100"/>
          <ac:picMkLst>
            <pc:docMk/>
            <pc:sldMk cId="3352245330" sldId="311"/>
            <ac:picMk id="3" creationId="{CD31A014-6195-A9A6-8695-67A6580BB495}"/>
          </ac:picMkLst>
        </pc:picChg>
      </pc:sldChg>
      <pc:sldChg chg="modSp del">
        <pc:chgData name="Dr. Khurram Jadoon khan Asstt. Professor FCS" userId="684a1a15-bea5-4a17-9b67-1313be309245" providerId="ADAL" clId="{FA6A18CD-8C91-481B-AB6B-8B2BF6D0213A}" dt="2025-09-24T05:03:48.670" v="388" actId="47"/>
        <pc:sldMkLst>
          <pc:docMk/>
          <pc:sldMk cId="4108031483" sldId="312"/>
        </pc:sldMkLst>
      </pc:sldChg>
      <pc:sldChg chg="modSp mod">
        <pc:chgData name="Dr. Khurram Jadoon khan Asstt. Professor FCS" userId="684a1a15-bea5-4a17-9b67-1313be309245" providerId="ADAL" clId="{FA6A18CD-8C91-481B-AB6B-8B2BF6D0213A}" dt="2025-09-24T04:59:51.356" v="342" actId="14100"/>
        <pc:sldMkLst>
          <pc:docMk/>
          <pc:sldMk cId="3385349702" sldId="313"/>
        </pc:sldMkLst>
        <pc:picChg chg="mod">
          <ac:chgData name="Dr. Khurram Jadoon khan Asstt. Professor FCS" userId="684a1a15-bea5-4a17-9b67-1313be309245" providerId="ADAL" clId="{FA6A18CD-8C91-481B-AB6B-8B2BF6D0213A}" dt="2025-09-24T04:59:51.356" v="342" actId="14100"/>
          <ac:picMkLst>
            <pc:docMk/>
            <pc:sldMk cId="3385349702" sldId="313"/>
            <ac:picMk id="3" creationId="{005A6FA5-5E8A-2B49-C0BA-FFA3C18BE0FE}"/>
          </ac:picMkLst>
        </pc:picChg>
      </pc:sldChg>
      <pc:sldChg chg="modSp add mod">
        <pc:chgData name="Dr. Khurram Jadoon khan Asstt. Professor FCS" userId="684a1a15-bea5-4a17-9b67-1313be309245" providerId="ADAL" clId="{FA6A18CD-8C91-481B-AB6B-8B2BF6D0213A}" dt="2025-09-24T04:38:10.887" v="91" actId="122"/>
        <pc:sldMkLst>
          <pc:docMk/>
          <pc:sldMk cId="0" sldId="401"/>
        </pc:sldMkLst>
        <pc:spChg chg="mod">
          <ac:chgData name="Dr. Khurram Jadoon khan Asstt. Professor FCS" userId="684a1a15-bea5-4a17-9b67-1313be309245" providerId="ADAL" clId="{FA6A18CD-8C91-481B-AB6B-8B2BF6D0213A}" dt="2025-09-24T04:38:10.887" v="91" actId="122"/>
          <ac:spMkLst>
            <pc:docMk/>
            <pc:sldMk cId="0" sldId="401"/>
            <ac:spMk id="19458" creationId="{00000000-0000-0000-0000-000000000000}"/>
          </ac:spMkLst>
        </pc:spChg>
      </pc:sldChg>
      <pc:sldChg chg="modSp add mod">
        <pc:chgData name="Dr. Khurram Jadoon khan Asstt. Professor FCS" userId="684a1a15-bea5-4a17-9b67-1313be309245" providerId="ADAL" clId="{FA6A18CD-8C91-481B-AB6B-8B2BF6D0213A}" dt="2025-09-24T04:29:01.022" v="57" actId="1076"/>
        <pc:sldMkLst>
          <pc:docMk/>
          <pc:sldMk cId="0" sldId="402"/>
        </pc:sldMkLst>
        <pc:spChg chg="mod">
          <ac:chgData name="Dr. Khurram Jadoon khan Asstt. Professor FCS" userId="684a1a15-bea5-4a17-9b67-1313be309245" providerId="ADAL" clId="{FA6A18CD-8C91-481B-AB6B-8B2BF6D0213A}" dt="2025-09-24T04:29:01.022" v="57" actId="1076"/>
          <ac:spMkLst>
            <pc:docMk/>
            <pc:sldMk cId="0" sldId="402"/>
            <ac:spMk id="20482" creationId="{00000000-0000-0000-0000-000000000000}"/>
          </ac:spMkLst>
        </pc:spChg>
      </pc:sldChg>
      <pc:sldChg chg="modSp add mod">
        <pc:chgData name="Dr. Khurram Jadoon khan Asstt. Professor FCS" userId="684a1a15-bea5-4a17-9b67-1313be309245" providerId="ADAL" clId="{FA6A18CD-8C91-481B-AB6B-8B2BF6D0213A}" dt="2025-09-24T04:37:34.232" v="88" actId="1036"/>
        <pc:sldMkLst>
          <pc:docMk/>
          <pc:sldMk cId="0" sldId="406"/>
        </pc:sldMkLst>
        <pc:spChg chg="mod">
          <ac:chgData name="Dr. Khurram Jadoon khan Asstt. Professor FCS" userId="684a1a15-bea5-4a17-9b67-1313be309245" providerId="ADAL" clId="{FA6A18CD-8C91-481B-AB6B-8B2BF6D0213A}" dt="2025-09-24T04:37:34.232" v="88" actId="1036"/>
          <ac:spMkLst>
            <pc:docMk/>
            <pc:sldMk cId="0" sldId="406"/>
            <ac:spMk id="3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36:50.672" v="85" actId="14100"/>
          <ac:spMkLst>
            <pc:docMk/>
            <pc:sldMk cId="0" sldId="406"/>
            <ac:spMk id="24579" creationId="{00000000-0000-0000-0000-000000000000}"/>
          </ac:spMkLst>
        </pc:spChg>
      </pc:sldChg>
      <pc:sldChg chg="modSp add mod ord">
        <pc:chgData name="Dr. Khurram Jadoon khan Asstt. Professor FCS" userId="684a1a15-bea5-4a17-9b67-1313be309245" providerId="ADAL" clId="{FA6A18CD-8C91-481B-AB6B-8B2BF6D0213A}" dt="2025-09-24T05:02:17.623" v="380" actId="1076"/>
        <pc:sldMkLst>
          <pc:docMk/>
          <pc:sldMk cId="0" sldId="409"/>
        </pc:sldMkLst>
        <pc:spChg chg="mod">
          <ac:chgData name="Dr. Khurram Jadoon khan Asstt. Professor FCS" userId="684a1a15-bea5-4a17-9b67-1313be309245" providerId="ADAL" clId="{FA6A18CD-8C91-481B-AB6B-8B2BF6D0213A}" dt="2025-09-24T05:02:17.623" v="380" actId="1076"/>
          <ac:spMkLst>
            <pc:docMk/>
            <pc:sldMk cId="0" sldId="409"/>
            <ac:spMk id="2867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5:02:12.352" v="377" actId="1076"/>
          <ac:spMkLst>
            <pc:docMk/>
            <pc:sldMk cId="0" sldId="409"/>
            <ac:spMk id="28683" creationId="{00000000-0000-0000-0000-000000000000}"/>
          </ac:spMkLst>
        </pc:spChg>
      </pc:sldChg>
      <pc:sldChg chg="modSp add mod">
        <pc:chgData name="Dr. Khurram Jadoon khan Asstt. Professor FCS" userId="684a1a15-bea5-4a17-9b67-1313be309245" providerId="ADAL" clId="{FA6A18CD-8C91-481B-AB6B-8B2BF6D0213A}" dt="2025-09-24T04:57:35.154" v="317" actId="1076"/>
        <pc:sldMkLst>
          <pc:docMk/>
          <pc:sldMk cId="0" sldId="424"/>
        </pc:sldMkLst>
        <pc:spChg chg="mod">
          <ac:chgData name="Dr. Khurram Jadoon khan Asstt. Professor FCS" userId="684a1a15-bea5-4a17-9b67-1313be309245" providerId="ADAL" clId="{FA6A18CD-8C91-481B-AB6B-8B2BF6D0213A}" dt="2025-09-24T04:57:35.154" v="317" actId="1076"/>
          <ac:spMkLst>
            <pc:docMk/>
            <pc:sldMk cId="0" sldId="424"/>
            <ac:spMk id="3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57:32.386" v="316" actId="403"/>
          <ac:spMkLst>
            <pc:docMk/>
            <pc:sldMk cId="0" sldId="424"/>
            <ac:spMk id="26629" creationId="{00000000-0000-0000-0000-000000000000}"/>
          </ac:spMkLst>
        </pc:spChg>
      </pc:sldChg>
      <pc:sldChg chg="modSp add mod modAnim">
        <pc:chgData name="Dr. Khurram Jadoon khan Asstt. Professor FCS" userId="684a1a15-bea5-4a17-9b67-1313be309245" providerId="ADAL" clId="{FA6A18CD-8C91-481B-AB6B-8B2BF6D0213A}" dt="2025-09-24T04:52:03.478" v="281" actId="20577"/>
        <pc:sldMkLst>
          <pc:docMk/>
          <pc:sldMk cId="0" sldId="455"/>
        </pc:sldMkLst>
        <pc:spChg chg="mod">
          <ac:chgData name="Dr. Khurram Jadoon khan Asstt. Professor FCS" userId="684a1a15-bea5-4a17-9b67-1313be309245" providerId="ADAL" clId="{FA6A18CD-8C91-481B-AB6B-8B2BF6D0213A}" dt="2025-09-24T04:52:03.478" v="281" actId="20577"/>
          <ac:spMkLst>
            <pc:docMk/>
            <pc:sldMk cId="0" sldId="455"/>
            <ac:spMk id="3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49:20.264" v="152" actId="403"/>
          <ac:spMkLst>
            <pc:docMk/>
            <pc:sldMk cId="0" sldId="455"/>
            <ac:spMk id="23554" creationId="{00000000-0000-0000-0000-000000000000}"/>
          </ac:spMkLst>
        </pc:spChg>
      </pc:sldChg>
      <pc:sldChg chg="modSp add mod">
        <pc:chgData name="Dr. Khurram Jadoon khan Asstt. Professor FCS" userId="684a1a15-bea5-4a17-9b67-1313be309245" providerId="ADAL" clId="{FA6A18CD-8C91-481B-AB6B-8B2BF6D0213A}" dt="2025-09-24T05:08:58.404" v="391" actId="403"/>
        <pc:sldMkLst>
          <pc:docMk/>
          <pc:sldMk cId="0" sldId="457"/>
        </pc:sldMkLst>
        <pc:spChg chg="mod">
          <ac:chgData name="Dr. Khurram Jadoon khan Asstt. Professor FCS" userId="684a1a15-bea5-4a17-9b67-1313be309245" providerId="ADAL" clId="{FA6A18CD-8C91-481B-AB6B-8B2BF6D0213A}" dt="2025-09-24T05:03:43.996" v="387" actId="1076"/>
          <ac:spMkLst>
            <pc:docMk/>
            <pc:sldMk cId="0" sldId="457"/>
            <ac:spMk id="3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5:08:58.404" v="391" actId="403"/>
          <ac:spMkLst>
            <pc:docMk/>
            <pc:sldMk cId="0" sldId="457"/>
            <ac:spMk id="24579" creationId="{00000000-0000-0000-0000-000000000000}"/>
          </ac:spMkLst>
        </pc:spChg>
      </pc:sldChg>
      <pc:sldChg chg="modSp del mod modNotes">
        <pc:chgData name="Dr. Khurram Jadoon khan Asstt. Professor FCS" userId="684a1a15-bea5-4a17-9b67-1313be309245" providerId="ADAL" clId="{FA6A18CD-8C91-481B-AB6B-8B2BF6D0213A}" dt="2025-09-24T04:53:19.834" v="282" actId="47"/>
        <pc:sldMkLst>
          <pc:docMk/>
          <pc:sldMk cId="343040445" sldId="624"/>
        </pc:sldMkLst>
      </pc:sldChg>
      <pc:sldChg chg="modSp del mod modNotes">
        <pc:chgData name="Dr. Khurram Jadoon khan Asstt. Professor FCS" userId="684a1a15-bea5-4a17-9b67-1313be309245" providerId="ADAL" clId="{FA6A18CD-8C91-481B-AB6B-8B2BF6D0213A}" dt="2025-09-24T04:55:17.822" v="283" actId="47"/>
        <pc:sldMkLst>
          <pc:docMk/>
          <pc:sldMk cId="3475640473" sldId="645"/>
        </pc:sldMkLst>
      </pc:sldChg>
      <pc:sldChg chg="modSp mod modNotes">
        <pc:chgData name="Dr. Khurram Jadoon khan Asstt. Professor FCS" userId="684a1a15-bea5-4a17-9b67-1313be309245" providerId="ADAL" clId="{FA6A18CD-8C91-481B-AB6B-8B2BF6D0213A}" dt="2025-09-24T04:35:51.894" v="82" actId="14100"/>
        <pc:sldMkLst>
          <pc:docMk/>
          <pc:sldMk cId="3951150965" sldId="648"/>
        </pc:sldMkLst>
        <pc:spChg chg="mod">
          <ac:chgData name="Dr. Khurram Jadoon khan Asstt. Professor FCS" userId="684a1a15-bea5-4a17-9b67-1313be309245" providerId="ADAL" clId="{FA6A18CD-8C91-481B-AB6B-8B2BF6D0213A}" dt="2025-09-24T04:35:48.146" v="80" actId="1076"/>
          <ac:spMkLst>
            <pc:docMk/>
            <pc:sldMk cId="3951150965" sldId="64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3951150965" sldId="648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3951150965" sldId="648"/>
            <ac:spMk id="9" creationId="{00000000-0000-0000-0000-000000000000}"/>
          </ac:spMkLst>
        </pc:spChg>
        <pc:picChg chg="mod">
          <ac:chgData name="Dr. Khurram Jadoon khan Asstt. Professor FCS" userId="684a1a15-bea5-4a17-9b67-1313be309245" providerId="ADAL" clId="{FA6A18CD-8C91-481B-AB6B-8B2BF6D0213A}" dt="2025-09-24T04:35:51.894" v="82" actId="14100"/>
          <ac:picMkLst>
            <pc:docMk/>
            <pc:sldMk cId="3951150965" sldId="648"/>
            <ac:picMk id="3" creationId="{00000000-0000-0000-0000-000000000000}"/>
          </ac:picMkLst>
        </pc:picChg>
      </pc:sldChg>
      <pc:sldChg chg="modSp mod modNotes">
        <pc:chgData name="Dr. Khurram Jadoon khan Asstt. Professor FCS" userId="684a1a15-bea5-4a17-9b67-1313be309245" providerId="ADAL" clId="{FA6A18CD-8C91-481B-AB6B-8B2BF6D0213A}" dt="2025-09-24T04:40:51.839" v="97" actId="14100"/>
        <pc:sldMkLst>
          <pc:docMk/>
          <pc:sldMk cId="1036269247" sldId="649"/>
        </pc:sldMkLst>
        <pc:spChg chg="mod">
          <ac:chgData name="Dr. Khurram Jadoon khan Asstt. Professor FCS" userId="684a1a15-bea5-4a17-9b67-1313be309245" providerId="ADAL" clId="{FA6A18CD-8C91-481B-AB6B-8B2BF6D0213A}" dt="2025-09-24T04:40:48.544" v="96" actId="20577"/>
          <ac:spMkLst>
            <pc:docMk/>
            <pc:sldMk cId="1036269247" sldId="649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1036269247" sldId="649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k cId="1036269247" sldId="649"/>
            <ac:spMk id="9" creationId="{00000000-0000-0000-0000-000000000000}"/>
          </ac:spMkLst>
        </pc:spChg>
        <pc:picChg chg="mod">
          <ac:chgData name="Dr. Khurram Jadoon khan Asstt. Professor FCS" userId="684a1a15-bea5-4a17-9b67-1313be309245" providerId="ADAL" clId="{FA6A18CD-8C91-481B-AB6B-8B2BF6D0213A}" dt="2025-09-24T04:40:51.839" v="97" actId="14100"/>
          <ac:picMkLst>
            <pc:docMk/>
            <pc:sldMk cId="1036269247" sldId="649"/>
            <ac:picMk id="3" creationId="{00000000-0000-0000-0000-000000000000}"/>
          </ac:picMkLst>
        </pc:picChg>
      </pc:sldChg>
      <pc:sldChg chg="modSp add del mod">
        <pc:chgData name="Dr. Khurram Jadoon khan Asstt. Professor FCS" userId="684a1a15-bea5-4a17-9b67-1313be309245" providerId="ADAL" clId="{FA6A18CD-8C91-481B-AB6B-8B2BF6D0213A}" dt="2025-09-24T05:02:03.770" v="373" actId="47"/>
        <pc:sldMkLst>
          <pc:docMk/>
          <pc:sldMk cId="0" sldId="650"/>
        </pc:sldMkLst>
        <pc:spChg chg="mod">
          <ac:chgData name="Dr. Khurram Jadoon khan Asstt. Professor FCS" userId="684a1a15-bea5-4a17-9b67-1313be309245" providerId="ADAL" clId="{FA6A18CD-8C91-481B-AB6B-8B2BF6D0213A}" dt="2025-09-24T05:02:01.882" v="372" actId="6549"/>
          <ac:spMkLst>
            <pc:docMk/>
            <pc:sldMk cId="0" sldId="650"/>
            <ac:spMk id="2048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5:01:48.986" v="371" actId="1076"/>
          <ac:spMkLst>
            <pc:docMk/>
            <pc:sldMk cId="0" sldId="650"/>
            <ac:spMk id="20503" creationId="{00000000-0000-0000-0000-000000000000}"/>
          </ac:spMkLst>
        </pc:spChg>
      </pc:sldChg>
      <pc:sldMasterChg chg="modSp modSldLayout">
        <pc:chgData name="Dr. Khurram Jadoon khan Asstt. Professor FCS" userId="684a1a15-bea5-4a17-9b67-1313be309245" providerId="ADAL" clId="{FA6A18CD-8C91-481B-AB6B-8B2BF6D0213A}" dt="2025-09-19T05:48:45.627" v="2"/>
        <pc:sldMasterMkLst>
          <pc:docMk/>
          <pc:sldMasterMk cId="0" sldId="2147483648"/>
        </pc:sldMasterMkLst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48:45.627" v="2"/>
          <ac:spMkLst>
            <pc:docMk/>
            <pc:sldMasterMk cId="0" sldId="2147483648"/>
            <ac:spMk id="6" creationId="{00000000-0000-0000-0000-000000000000}"/>
          </ac:spMkLst>
        </pc:spChg>
        <pc:sldLayoutChg chg="modSp">
          <pc:chgData name="Dr. Khurram Jadoon khan Asstt. Professor FCS" userId="684a1a15-bea5-4a17-9b67-1313be309245" providerId="ADAL" clId="{FA6A18CD-8C91-481B-AB6B-8B2BF6D0213A}" dt="2025-09-19T05:48:45.627" v="2"/>
          <pc:sldLayoutMkLst>
            <pc:docMk/>
            <pc:sldMasterMk cId="0" sldId="2147483648"/>
            <pc:sldLayoutMk cId="0" sldId="2147483661"/>
          </pc:sldLayoutMkLst>
          <pc:spChg chg="mod">
            <ac:chgData name="Dr. Khurram Jadoon khan Asstt. Professor FCS" userId="684a1a15-bea5-4a17-9b67-1313be309245" providerId="ADAL" clId="{FA6A18CD-8C91-481B-AB6B-8B2BF6D0213A}" dt="2025-09-19T05:48:45.627" v="2"/>
            <ac:spMkLst>
              <pc:docMk/>
              <pc:sldMasterMk cId="0" sldId="2147483648"/>
              <pc:sldLayoutMk cId="0" sldId="2147483661"/>
              <ac:spMk id="2" creationId="{00000000-0000-0000-0000-000000000000}"/>
            </ac:spMkLst>
          </pc:spChg>
          <pc:spChg chg="mod">
            <ac:chgData name="Dr. Khurram Jadoon khan Asstt. Professor FCS" userId="684a1a15-bea5-4a17-9b67-1313be309245" providerId="ADAL" clId="{FA6A18CD-8C91-481B-AB6B-8B2BF6D0213A}" dt="2025-09-19T05:48:45.627" v="2"/>
            <ac:spMkLst>
              <pc:docMk/>
              <pc:sldMasterMk cId="0" sldId="2147483648"/>
              <pc:sldLayoutMk cId="0" sldId="2147483661"/>
              <ac:spMk id="3" creationId="{00000000-0000-0000-0000-000000000000}"/>
            </ac:spMkLst>
          </pc:spChg>
        </pc:sldLayoutChg>
        <pc:sldLayoutChg chg="modSp">
          <pc:chgData name="Dr. Khurram Jadoon khan Asstt. Professor FCS" userId="684a1a15-bea5-4a17-9b67-1313be309245" providerId="ADAL" clId="{FA6A18CD-8C91-481B-AB6B-8B2BF6D0213A}" dt="2025-09-19T05:48:45.627" v="2"/>
          <pc:sldLayoutMkLst>
            <pc:docMk/>
            <pc:sldMasterMk cId="0" sldId="2147483648"/>
            <pc:sldLayoutMk cId="0" sldId="2147483663"/>
          </pc:sldLayoutMkLst>
          <pc:spChg chg="mod">
            <ac:chgData name="Dr. Khurram Jadoon khan Asstt. Professor FCS" userId="684a1a15-bea5-4a17-9b67-1313be309245" providerId="ADAL" clId="{FA6A18CD-8C91-481B-AB6B-8B2BF6D0213A}" dt="2025-09-19T05:48:45.627" v="2"/>
            <ac:spMkLst>
              <pc:docMk/>
              <pc:sldMasterMk cId="0" sldId="2147483648"/>
              <pc:sldLayoutMk cId="0" sldId="2147483663"/>
              <ac:spMk id="3" creationId="{00000000-0000-0000-0000-000000000000}"/>
            </ac:spMkLst>
          </pc:spChg>
          <pc:spChg chg="mod">
            <ac:chgData name="Dr. Khurram Jadoon khan Asstt. Professor FCS" userId="684a1a15-bea5-4a17-9b67-1313be309245" providerId="ADAL" clId="{FA6A18CD-8C91-481B-AB6B-8B2BF6D0213A}" dt="2025-09-19T05:48:45.627" v="2"/>
            <ac:spMkLst>
              <pc:docMk/>
              <pc:sldMasterMk cId="0" sldId="2147483648"/>
              <pc:sldLayoutMk cId="0" sldId="2147483663"/>
              <ac:spMk id="4" creationId="{00000000-0000-0000-0000-000000000000}"/>
            </ac:spMkLst>
          </pc:spChg>
        </pc:sldLayoutChg>
      </pc:sldMasterChg>
    </pc:docChg>
  </pc:docChgLst>
  <pc:docChgLst>
    <pc:chgData name="u2023143" userId="S::u2023143@giki.edu.pk::55260a25-5612-4f1d-b0f0-4983bc597b0e" providerId="AD" clId="Web-{81890C2C-127D-2204-00D0-7A437E732E44}"/>
    <pc:docChg chg="modSld">
      <pc:chgData name="u2023143" userId="S::u2023143@giki.edu.pk::55260a25-5612-4f1d-b0f0-4983bc597b0e" providerId="AD" clId="Web-{81890C2C-127D-2204-00D0-7A437E732E44}" dt="2025-09-28T13:06:54.521" v="1" actId="14100"/>
      <pc:docMkLst>
        <pc:docMk/>
      </pc:docMkLst>
      <pc:sldChg chg="modSp">
        <pc:chgData name="u2023143" userId="S::u2023143@giki.edu.pk::55260a25-5612-4f1d-b0f0-4983bc597b0e" providerId="AD" clId="Web-{81890C2C-127D-2204-00D0-7A437E732E44}" dt="2025-09-28T13:06:54.521" v="1" actId="14100"/>
        <pc:sldMkLst>
          <pc:docMk/>
          <pc:sldMk cId="0" sldId="258"/>
        </pc:sldMkLst>
        <pc:spChg chg="mod">
          <ac:chgData name="u2023143" userId="S::u2023143@giki.edu.pk::55260a25-5612-4f1d-b0f0-4983bc597b0e" providerId="AD" clId="Web-{81890C2C-127D-2204-00D0-7A437E732E44}" dt="2025-09-28T13:06:54.521" v="1" actId="14100"/>
          <ac:spMkLst>
            <pc:docMk/>
            <pc:sldMk cId="0" sldId="258"/>
            <ac:spMk id="4" creationId="{00000000-0000-0000-0000-000000000000}"/>
          </ac:spMkLst>
        </pc:spChg>
      </pc:sldChg>
    </pc:docChg>
  </pc:docChgLst>
  <pc:docChgLst>
    <pc:chgData name="Dr. Khurram Jadoon khan Asstt. Professor FCS" userId="684a1a15-bea5-4a17-9b67-1313be309245" providerId="ADAL" clId="{FA302967-9927-4C9E-8794-EC0720C3EE24}"/>
    <pc:docChg chg="undo custSel addSld delSld modSld">
      <pc:chgData name="Dr. Khurram Jadoon khan Asstt. Professor FCS" userId="684a1a15-bea5-4a17-9b67-1313be309245" providerId="ADAL" clId="{FA302967-9927-4C9E-8794-EC0720C3EE24}" dt="2024-02-15T11:07:33.854" v="158" actId="47"/>
      <pc:docMkLst>
        <pc:docMk/>
      </pc:docMkLst>
      <pc:sldChg chg="modSp mod">
        <pc:chgData name="Dr. Khurram Jadoon khan Asstt. Professor FCS" userId="684a1a15-bea5-4a17-9b67-1313be309245" providerId="ADAL" clId="{FA302967-9927-4C9E-8794-EC0720C3EE24}" dt="2024-02-15T10:56:27.066" v="7" actId="1076"/>
        <pc:sldMkLst>
          <pc:docMk/>
          <pc:sldMk cId="0" sldId="258"/>
        </pc:sldMkLst>
      </pc:sldChg>
      <pc:sldChg chg="addSp delSp modSp del mod">
        <pc:chgData name="Dr. Khurram Jadoon khan Asstt. Professor FCS" userId="684a1a15-bea5-4a17-9b67-1313be309245" providerId="ADAL" clId="{FA302967-9927-4C9E-8794-EC0720C3EE24}" dt="2024-02-15T11:04:53.479" v="144" actId="47"/>
        <pc:sldMkLst>
          <pc:docMk/>
          <pc:sldMk cId="0" sldId="268"/>
        </pc:sldMkLst>
      </pc:sldChg>
      <pc:sldChg chg="modSp mod">
        <pc:chgData name="Dr. Khurram Jadoon khan Asstt. Professor FCS" userId="684a1a15-bea5-4a17-9b67-1313be309245" providerId="ADAL" clId="{FA302967-9927-4C9E-8794-EC0720C3EE24}" dt="2024-02-15T11:06:14.323" v="156" actId="14100"/>
        <pc:sldMkLst>
          <pc:docMk/>
          <pc:sldMk cId="258584771" sldId="293"/>
        </pc:sldMkLst>
      </pc:sldChg>
      <pc:sldChg chg="del">
        <pc:chgData name="Dr. Khurram Jadoon khan Asstt. Professor FCS" userId="684a1a15-bea5-4a17-9b67-1313be309245" providerId="ADAL" clId="{FA302967-9927-4C9E-8794-EC0720C3EE24}" dt="2024-02-15T11:07:32.970" v="157" actId="47"/>
        <pc:sldMkLst>
          <pc:docMk/>
          <pc:sldMk cId="0" sldId="303"/>
        </pc:sldMkLst>
      </pc:sldChg>
      <pc:sldChg chg="del">
        <pc:chgData name="Dr. Khurram Jadoon khan Asstt. Professor FCS" userId="684a1a15-bea5-4a17-9b67-1313be309245" providerId="ADAL" clId="{FA302967-9927-4C9E-8794-EC0720C3EE24}" dt="2024-02-15T11:07:33.854" v="158" actId="47"/>
        <pc:sldMkLst>
          <pc:docMk/>
          <pc:sldMk cId="0" sldId="304"/>
        </pc:sldMkLst>
      </pc:sldChg>
      <pc:sldChg chg="addSp delSp modSp mod">
        <pc:chgData name="Dr. Khurram Jadoon khan Asstt. Professor FCS" userId="684a1a15-bea5-4a17-9b67-1313be309245" providerId="ADAL" clId="{FA302967-9927-4C9E-8794-EC0720C3EE24}" dt="2024-02-15T10:58:56.724" v="95" actId="11529"/>
        <pc:sldMkLst>
          <pc:docMk/>
          <pc:sldMk cId="228297547" sldId="305"/>
        </pc:sldMkLst>
      </pc:sldChg>
      <pc:sldChg chg="del">
        <pc:chgData name="Dr. Khurram Jadoon khan Asstt. Professor FCS" userId="684a1a15-bea5-4a17-9b67-1313be309245" providerId="ADAL" clId="{FA302967-9927-4C9E-8794-EC0720C3EE24}" dt="2024-02-15T11:04:14.613" v="140" actId="47"/>
        <pc:sldMkLst>
          <pc:docMk/>
          <pc:sldMk cId="2917288579" sldId="306"/>
        </pc:sldMkLst>
      </pc:sldChg>
      <pc:sldChg chg="modSp mod">
        <pc:chgData name="Dr. Khurram Jadoon khan Asstt. Professor FCS" userId="684a1a15-bea5-4a17-9b67-1313be309245" providerId="ADAL" clId="{FA302967-9927-4C9E-8794-EC0720C3EE24}" dt="2024-02-15T10:56:49.935" v="21" actId="20577"/>
        <pc:sldMkLst>
          <pc:docMk/>
          <pc:sldMk cId="2881912196" sldId="308"/>
        </pc:sldMkLst>
      </pc:sldChg>
      <pc:sldChg chg="modSp mod">
        <pc:chgData name="Dr. Khurram Jadoon khan Asstt. Professor FCS" userId="684a1a15-bea5-4a17-9b67-1313be309245" providerId="ADAL" clId="{FA302967-9927-4C9E-8794-EC0720C3EE24}" dt="2024-02-15T11:06:03.676" v="153" actId="108"/>
        <pc:sldMkLst>
          <pc:docMk/>
          <pc:sldMk cId="983937369" sldId="309"/>
        </pc:sldMkLst>
      </pc:sldChg>
      <pc:sldChg chg="addSp delSp modSp new del mod modClrScheme chgLayout">
        <pc:chgData name="Dr. Khurram Jadoon khan Asstt. Professor FCS" userId="684a1a15-bea5-4a17-9b67-1313be309245" providerId="ADAL" clId="{FA302967-9927-4C9E-8794-EC0720C3EE24}" dt="2024-02-15T11:03:50.043" v="133" actId="47"/>
        <pc:sldMkLst>
          <pc:docMk/>
          <pc:sldMk cId="3617160090" sldId="314"/>
        </pc:sldMkLst>
      </pc:sldChg>
      <pc:sldChg chg="modSp add mod">
        <pc:chgData name="Dr. Khurram Jadoon khan Asstt. Professor FCS" userId="684a1a15-bea5-4a17-9b67-1313be309245" providerId="ADAL" clId="{FA302967-9927-4C9E-8794-EC0720C3EE24}" dt="2024-02-15T11:04:00.402" v="136" actId="1076"/>
        <pc:sldMkLst>
          <pc:docMk/>
          <pc:sldMk cId="343040445" sldId="624"/>
        </pc:sldMkLst>
      </pc:sldChg>
      <pc:sldChg chg="modSp add mod">
        <pc:chgData name="Dr. Khurram Jadoon khan Asstt. Professor FCS" userId="684a1a15-bea5-4a17-9b67-1313be309245" providerId="ADAL" clId="{FA302967-9927-4C9E-8794-EC0720C3EE24}" dt="2024-02-15T11:04:09.980" v="139"/>
        <pc:sldMkLst>
          <pc:docMk/>
          <pc:sldMk cId="3475640473" sldId="645"/>
        </pc:sldMkLst>
      </pc:sldChg>
      <pc:sldChg chg="modSp add mod">
        <pc:chgData name="Dr. Khurram Jadoon khan Asstt. Professor FCS" userId="684a1a15-bea5-4a17-9b67-1313be309245" providerId="ADAL" clId="{FA302967-9927-4C9E-8794-EC0720C3EE24}" dt="2024-02-15T11:04:51.143" v="143" actId="27636"/>
        <pc:sldMkLst>
          <pc:docMk/>
          <pc:sldMk cId="3951150965" sldId="648"/>
        </pc:sldMkLst>
      </pc:sldChg>
      <pc:sldChg chg="modSp add mod">
        <pc:chgData name="Dr. Khurram Jadoon khan Asstt. Professor FCS" userId="684a1a15-bea5-4a17-9b67-1313be309245" providerId="ADAL" clId="{FA302967-9927-4C9E-8794-EC0720C3EE24}" dt="2024-02-15T11:05:02.220" v="146" actId="27636"/>
        <pc:sldMkLst>
          <pc:docMk/>
          <pc:sldMk cId="1036269247" sldId="6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E8B397-D513-47A2-B5CD-B6F34CBE8700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8750" y="971550"/>
            <a:ext cx="4660900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829B1-B26E-474A-965A-AD265251F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69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750" y="971550"/>
            <a:ext cx="4660900" cy="26225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023AA-878B-4B87-B452-85D8399C2F7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59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750" y="971550"/>
            <a:ext cx="4660900" cy="26225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023AA-878B-4B87-B452-85D8399C2F7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59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36320" y="2409444"/>
            <a:ext cx="1174496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72640" y="4352544"/>
            <a:ext cx="96723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90880" y="1787652"/>
            <a:ext cx="601065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16064" y="1787652"/>
            <a:ext cx="601065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4273" y="1552448"/>
            <a:ext cx="12269052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8525" y="1615440"/>
            <a:ext cx="1090055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697984" y="7228332"/>
            <a:ext cx="44216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90880" y="7228332"/>
            <a:ext cx="31780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48672" y="7228332"/>
            <a:ext cx="31780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81841" y="152400"/>
            <a:ext cx="475932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200" b="1" spc="-5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r>
              <a:rPr sz="3200" b="1" spc="-8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3200" b="1">
                <a:solidFill>
                  <a:srgbClr val="0000FF"/>
                </a:solidFill>
                <a:latin typeface="Verdana"/>
                <a:cs typeface="Verdana"/>
              </a:rPr>
              <a:t>Algorithms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200" y="1143000"/>
            <a:ext cx="7058303" cy="5416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indent="-344170">
              <a:buChar char="•"/>
              <a:tabLst>
                <a:tab pos="356870" algn="l"/>
                <a:tab pos="357505" algn="l"/>
              </a:tabLst>
            </a:pPr>
            <a:r>
              <a:rPr sz="2400" spc="-5">
                <a:latin typeface="Verdana"/>
                <a:cs typeface="Verdana"/>
              </a:rPr>
              <a:t>Uninformed Blind</a:t>
            </a:r>
            <a:r>
              <a:rPr sz="2400" spc="-45">
                <a:latin typeface="Verdana"/>
                <a:cs typeface="Verdana"/>
              </a:rPr>
              <a:t> </a:t>
            </a:r>
            <a:r>
              <a:rPr sz="2400">
                <a:latin typeface="Verdana"/>
                <a:cs typeface="Verdana"/>
              </a:rPr>
              <a:t>search</a:t>
            </a:r>
          </a:p>
          <a:p>
            <a:pPr marL="814069" lvl="1" indent="-344170">
              <a:spcBef>
                <a:spcPts val="800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000">
                <a:latin typeface="Verdana"/>
                <a:cs typeface="Verdana"/>
              </a:rPr>
              <a:t>Breadth-first</a:t>
            </a:r>
          </a:p>
          <a:p>
            <a:pPr marL="814069" lvl="1" indent="-344170">
              <a:spcBef>
                <a:spcPts val="76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000">
                <a:latin typeface="Verdana"/>
                <a:cs typeface="Verdana"/>
              </a:rPr>
              <a:t>uniform</a:t>
            </a:r>
            <a:r>
              <a:rPr sz="2000" spc="-75">
                <a:latin typeface="Verdana"/>
                <a:cs typeface="Verdana"/>
              </a:rPr>
              <a:t> </a:t>
            </a:r>
            <a:r>
              <a:rPr sz="2000">
                <a:latin typeface="Verdana"/>
                <a:cs typeface="Verdana"/>
              </a:rPr>
              <a:t>first</a:t>
            </a:r>
          </a:p>
          <a:p>
            <a:pPr marL="814069" lvl="1" indent="-344170">
              <a:spcBef>
                <a:spcPts val="76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000">
                <a:latin typeface="Verdana"/>
                <a:cs typeface="Verdana"/>
              </a:rPr>
              <a:t>depth-first</a:t>
            </a:r>
          </a:p>
          <a:p>
            <a:pPr marL="814069" lvl="1" indent="-344170">
              <a:spcBef>
                <a:spcPts val="76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000">
                <a:latin typeface="Verdana"/>
                <a:cs typeface="Verdana"/>
              </a:rPr>
              <a:t>Iterative deepening</a:t>
            </a:r>
            <a:r>
              <a:rPr sz="2000" spc="-140">
                <a:latin typeface="Verdana"/>
                <a:cs typeface="Verdana"/>
              </a:rPr>
              <a:t> </a:t>
            </a:r>
            <a:r>
              <a:rPr sz="2000">
                <a:latin typeface="Verdana"/>
                <a:cs typeface="Verdana"/>
              </a:rPr>
              <a:t>depth-first</a:t>
            </a:r>
          </a:p>
          <a:p>
            <a:pPr marL="814069" lvl="1" indent="-344170">
              <a:spcBef>
                <a:spcPts val="76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000">
                <a:latin typeface="Verdana"/>
                <a:cs typeface="Verdana"/>
              </a:rPr>
              <a:t>Bidirectional</a:t>
            </a:r>
          </a:p>
          <a:p>
            <a:pPr marL="356870" indent="-344170">
              <a:spcBef>
                <a:spcPts val="83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>
                <a:latin typeface="Verdana"/>
                <a:cs typeface="Verdana"/>
              </a:rPr>
              <a:t>Informed Heuristic</a:t>
            </a:r>
            <a:r>
              <a:rPr sz="2400" spc="-30">
                <a:latin typeface="Verdana"/>
                <a:cs typeface="Verdana"/>
              </a:rPr>
              <a:t> </a:t>
            </a:r>
            <a:r>
              <a:rPr sz="2400">
                <a:latin typeface="Verdana"/>
                <a:cs typeface="Verdana"/>
              </a:rPr>
              <a:t>search</a:t>
            </a:r>
          </a:p>
          <a:p>
            <a:pPr marL="469900">
              <a:spcBef>
                <a:spcPts val="795"/>
              </a:spcBef>
              <a:tabLst>
                <a:tab pos="756285" algn="l"/>
              </a:tabLst>
            </a:pPr>
            <a:r>
              <a:rPr sz="2000" spc="5">
                <a:latin typeface="Verdana"/>
                <a:cs typeface="Verdana"/>
              </a:rPr>
              <a:t>–	Greedy </a:t>
            </a:r>
            <a:r>
              <a:rPr sz="2000">
                <a:latin typeface="Verdana"/>
                <a:cs typeface="Verdana"/>
              </a:rPr>
              <a:t>search, </a:t>
            </a:r>
            <a:r>
              <a:rPr sz="2000" spc="-5">
                <a:latin typeface="Verdana"/>
                <a:cs typeface="Verdana"/>
              </a:rPr>
              <a:t>hill climbing,</a:t>
            </a:r>
            <a:r>
              <a:rPr sz="2000" spc="-45">
                <a:latin typeface="Verdana"/>
                <a:cs typeface="Verdana"/>
              </a:rPr>
              <a:t> </a:t>
            </a:r>
            <a:r>
              <a:rPr sz="2000" spc="-5">
                <a:latin typeface="Verdana"/>
                <a:cs typeface="Verdana"/>
              </a:rPr>
              <a:t>Heuristics</a:t>
            </a:r>
            <a:endParaRPr sz="2000">
              <a:latin typeface="Verdana"/>
              <a:cs typeface="Verdana"/>
            </a:endParaRPr>
          </a:p>
          <a:p>
            <a:pPr marL="356870" indent="-344170">
              <a:spcBef>
                <a:spcPts val="82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>
                <a:latin typeface="Verdana"/>
                <a:cs typeface="Verdana"/>
              </a:rPr>
              <a:t>Important</a:t>
            </a:r>
            <a:r>
              <a:rPr sz="2400" spc="-55">
                <a:latin typeface="Verdana"/>
                <a:cs typeface="Verdana"/>
              </a:rPr>
              <a:t> </a:t>
            </a:r>
            <a:r>
              <a:rPr sz="2400">
                <a:latin typeface="Verdana"/>
                <a:cs typeface="Verdana"/>
              </a:rPr>
              <a:t>concepts:</a:t>
            </a:r>
          </a:p>
          <a:p>
            <a:pPr marL="814069" lvl="1" indent="-344170">
              <a:spcBef>
                <a:spcPts val="79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000">
                <a:latin typeface="Verdana"/>
                <a:cs typeface="Verdana"/>
              </a:rPr>
              <a:t>Completeness</a:t>
            </a:r>
          </a:p>
          <a:p>
            <a:pPr marL="814069" lvl="1" indent="-344170">
              <a:spcBef>
                <a:spcPts val="76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000" spc="-5">
                <a:latin typeface="Verdana"/>
                <a:cs typeface="Verdana"/>
              </a:rPr>
              <a:t>Time</a:t>
            </a:r>
            <a:r>
              <a:rPr sz="2000" spc="-55">
                <a:latin typeface="Verdana"/>
                <a:cs typeface="Verdana"/>
              </a:rPr>
              <a:t> </a:t>
            </a:r>
            <a:r>
              <a:rPr sz="2000">
                <a:latin typeface="Verdana"/>
                <a:cs typeface="Verdana"/>
              </a:rPr>
              <a:t>complexity</a:t>
            </a:r>
          </a:p>
          <a:p>
            <a:pPr marL="814069" lvl="1" indent="-344170">
              <a:spcBef>
                <a:spcPts val="76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000">
                <a:latin typeface="Verdana"/>
                <a:cs typeface="Verdana"/>
              </a:rPr>
              <a:t>Space</a:t>
            </a:r>
            <a:r>
              <a:rPr sz="2000" spc="-75">
                <a:latin typeface="Verdana"/>
                <a:cs typeface="Verdana"/>
              </a:rPr>
              <a:t> </a:t>
            </a:r>
            <a:r>
              <a:rPr sz="2000">
                <a:latin typeface="Verdana"/>
                <a:cs typeface="Verdana"/>
              </a:rPr>
              <a:t>complexity</a:t>
            </a:r>
          </a:p>
          <a:p>
            <a:pPr marL="814069" lvl="1" indent="-344170">
              <a:spcBef>
                <a:spcPts val="76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000" spc="-5">
                <a:latin typeface="Verdana"/>
                <a:cs typeface="Verdana"/>
              </a:rPr>
              <a:t>Quality </a:t>
            </a:r>
            <a:r>
              <a:rPr sz="2000" spc="5">
                <a:latin typeface="Verdana"/>
                <a:cs typeface="Verdana"/>
              </a:rPr>
              <a:t>of</a:t>
            </a:r>
            <a:r>
              <a:rPr sz="2000" spc="-80">
                <a:latin typeface="Verdana"/>
                <a:cs typeface="Verdana"/>
              </a:rPr>
              <a:t> </a:t>
            </a:r>
            <a:r>
              <a:rPr sz="2000">
                <a:latin typeface="Verdana"/>
                <a:cs typeface="Verdana"/>
              </a:rPr>
              <a:t>solution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86623" y="1572768"/>
            <a:ext cx="3538728" cy="21427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5CEF-7379-5C5A-D657-E726387FF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400" y="13691"/>
            <a:ext cx="8931148" cy="553998"/>
          </a:xfrm>
        </p:spPr>
        <p:txBody>
          <a:bodyPr/>
          <a:lstStyle/>
          <a:p>
            <a:pPr algn="ctr"/>
            <a:r>
              <a:rPr lang="en-US" sz="360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93967-BB16-0D4B-E3D5-8EFCEFA7C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200" y="855344"/>
            <a:ext cx="13030200" cy="606171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>
                <a:latin typeface="+mj-lt"/>
              </a:rPr>
              <a:t>Also called </a:t>
            </a:r>
            <a:r>
              <a:rPr lang="en-US" sz="3200">
                <a:solidFill>
                  <a:srgbClr val="C00000"/>
                </a:solidFill>
                <a:latin typeface="+mj-lt"/>
              </a:rPr>
              <a:t>blind search</a:t>
            </a:r>
            <a:r>
              <a:rPr lang="en-US" sz="3200">
                <a:latin typeface="+mj-lt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latin typeface="+mj-lt"/>
              </a:rPr>
              <a:t>The term means that the </a:t>
            </a:r>
            <a:r>
              <a:rPr lang="en-US" sz="3200">
                <a:solidFill>
                  <a:srgbClr val="C00000"/>
                </a:solidFill>
                <a:latin typeface="+mj-lt"/>
              </a:rPr>
              <a:t>strategies have no additional information </a:t>
            </a:r>
            <a:r>
              <a:rPr lang="en-US" sz="3200">
                <a:latin typeface="+mj-lt"/>
              </a:rPr>
              <a:t>about states beyond that provided in the problem definition.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latin typeface="+mj-lt"/>
              </a:rPr>
              <a:t> All they can do </a:t>
            </a:r>
            <a:r>
              <a:rPr lang="en-US" sz="3200">
                <a:solidFill>
                  <a:srgbClr val="C00000"/>
                </a:solidFill>
                <a:latin typeface="+mj-lt"/>
              </a:rPr>
              <a:t>is generate successors and distinguish a goal state from a non-goal state. </a:t>
            </a:r>
            <a:r>
              <a:rPr lang="en-US" sz="3200">
                <a:latin typeface="+mj-lt"/>
              </a:rPr>
              <a:t> All search strategies are </a:t>
            </a:r>
            <a:r>
              <a:rPr lang="en-US" sz="3200">
                <a:solidFill>
                  <a:srgbClr val="C00000"/>
                </a:solidFill>
                <a:latin typeface="+mj-lt"/>
              </a:rPr>
              <a:t>distinguished by the order in which nodes are expanded</a:t>
            </a:r>
            <a:r>
              <a:rPr lang="en-US" sz="3200">
                <a:latin typeface="+mj-lt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latin typeface="+mj-lt"/>
              </a:rPr>
              <a:t>Strategies that know </a:t>
            </a:r>
            <a:r>
              <a:rPr lang="en-US" sz="3200">
                <a:solidFill>
                  <a:srgbClr val="C00000"/>
                </a:solidFill>
                <a:latin typeface="+mj-lt"/>
              </a:rPr>
              <a:t>whether one non-goal state is “more promising” than another are called informed search or heuristic search strategies</a:t>
            </a:r>
          </a:p>
        </p:txBody>
      </p:sp>
    </p:spTree>
    <p:extLst>
      <p:ext uri="{BB962C8B-B14F-4D97-AF65-F5344CB8AC3E}">
        <p14:creationId xmlns:p14="http://schemas.microsoft.com/office/powerpoint/2010/main" val="2881912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9600" y="119770"/>
            <a:ext cx="305308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r>
              <a:rPr sz="2400" b="1" spc="-5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Strategies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9400" y="762001"/>
            <a:ext cx="11277600" cy="439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marR="523240" indent="-344170">
              <a:buChar char="•"/>
              <a:tabLst>
                <a:tab pos="356870" algn="l"/>
                <a:tab pos="357505" algn="l"/>
              </a:tabLst>
            </a:pPr>
            <a:r>
              <a:rPr>
                <a:latin typeface="Verdana"/>
                <a:cs typeface="Verdana"/>
              </a:rPr>
              <a:t>A </a:t>
            </a:r>
            <a:r>
              <a:rPr>
                <a:solidFill>
                  <a:srgbClr val="FB0027"/>
                </a:solidFill>
                <a:latin typeface="Verdana"/>
                <a:cs typeface="Verdana"/>
              </a:rPr>
              <a:t>search strategy </a:t>
            </a:r>
            <a:r>
              <a:rPr>
                <a:latin typeface="Verdana"/>
                <a:cs typeface="Verdana"/>
              </a:rPr>
              <a:t>is </a:t>
            </a:r>
            <a:r>
              <a:rPr spc="-5">
                <a:latin typeface="Verdana"/>
                <a:cs typeface="Verdana"/>
              </a:rPr>
              <a:t>defined </a:t>
            </a:r>
            <a:r>
              <a:rPr>
                <a:latin typeface="Verdana"/>
                <a:cs typeface="Verdana"/>
              </a:rPr>
              <a:t>by </a:t>
            </a:r>
            <a:r>
              <a:rPr spc="-5">
                <a:latin typeface="Verdana"/>
                <a:cs typeface="Verdana"/>
              </a:rPr>
              <a:t>picking the </a:t>
            </a:r>
            <a:r>
              <a:rPr b="1" spc="-10">
                <a:latin typeface="Verdana"/>
                <a:cs typeface="Verdana"/>
              </a:rPr>
              <a:t>order of node  expansion</a:t>
            </a:r>
            <a:endParaRPr>
              <a:latin typeface="Verdana"/>
              <a:cs typeface="Verdana"/>
            </a:endParaRPr>
          </a:p>
          <a:p>
            <a:pPr>
              <a:spcBef>
                <a:spcPts val="30"/>
              </a:spcBef>
              <a:buFont typeface="Verdana"/>
              <a:buChar char="•"/>
            </a:pPr>
            <a:endParaRPr sz="2600">
              <a:latin typeface="Times New Roman"/>
              <a:cs typeface="Times New Roman"/>
            </a:endParaRPr>
          </a:p>
          <a:p>
            <a:pPr marL="356870" indent="-344170">
              <a:spcBef>
                <a:spcPts val="5"/>
              </a:spcBef>
              <a:buChar char="•"/>
              <a:tabLst>
                <a:tab pos="356870" algn="l"/>
                <a:tab pos="357505" algn="l"/>
              </a:tabLst>
            </a:pPr>
            <a:r>
              <a:rPr>
                <a:latin typeface="Verdana"/>
                <a:cs typeface="Verdana"/>
              </a:rPr>
              <a:t>Strategies are </a:t>
            </a:r>
            <a:r>
              <a:rPr b="1" spc="-5">
                <a:latin typeface="Verdana"/>
                <a:cs typeface="Verdana"/>
              </a:rPr>
              <a:t>evaluated </a:t>
            </a:r>
            <a:r>
              <a:rPr>
                <a:latin typeface="Verdana"/>
                <a:cs typeface="Verdana"/>
              </a:rPr>
              <a:t>along </a:t>
            </a:r>
            <a:r>
              <a:rPr spc="-5">
                <a:latin typeface="Verdana"/>
                <a:cs typeface="Verdana"/>
              </a:rPr>
              <a:t>the </a:t>
            </a:r>
            <a:r>
              <a:rPr>
                <a:latin typeface="Verdana"/>
                <a:cs typeface="Verdana"/>
              </a:rPr>
              <a:t>following </a:t>
            </a:r>
            <a:r>
              <a:rPr spc="-5">
                <a:latin typeface="Verdana"/>
                <a:cs typeface="Verdana"/>
              </a:rPr>
              <a:t>four</a:t>
            </a:r>
            <a:r>
              <a:rPr spc="-30">
                <a:latin typeface="Verdana"/>
                <a:cs typeface="Verdana"/>
              </a:rPr>
              <a:t> </a:t>
            </a:r>
            <a:r>
              <a:rPr>
                <a:latin typeface="Verdana"/>
                <a:cs typeface="Verdana"/>
              </a:rPr>
              <a:t>dimensions:</a:t>
            </a:r>
          </a:p>
          <a:p>
            <a:pPr marL="814069" lvl="1" indent="-344170">
              <a:spcBef>
                <a:spcPts val="1205"/>
              </a:spcBef>
              <a:buAutoNum type="arabicPeriod"/>
              <a:tabLst>
                <a:tab pos="814705" algn="l"/>
              </a:tabLst>
            </a:pPr>
            <a:r>
              <a:rPr sz="1600" b="1">
                <a:latin typeface="Verdana"/>
                <a:cs typeface="Verdana"/>
              </a:rPr>
              <a:t>Completeness</a:t>
            </a:r>
            <a:r>
              <a:rPr sz="1600">
                <a:latin typeface="Verdana"/>
                <a:cs typeface="Verdana"/>
              </a:rPr>
              <a:t>: </a:t>
            </a:r>
            <a:r>
              <a:rPr sz="1600" spc="5">
                <a:latin typeface="Verdana"/>
                <a:cs typeface="Verdana"/>
              </a:rPr>
              <a:t>does </a:t>
            </a:r>
            <a:r>
              <a:rPr sz="1600" spc="-5">
                <a:latin typeface="Verdana"/>
                <a:cs typeface="Verdana"/>
              </a:rPr>
              <a:t>it </a:t>
            </a:r>
            <a:r>
              <a:rPr sz="1600">
                <a:latin typeface="Verdana"/>
                <a:cs typeface="Verdana"/>
              </a:rPr>
              <a:t>always find a solution </a:t>
            </a:r>
            <a:r>
              <a:rPr sz="1600" spc="-5">
                <a:latin typeface="Verdana"/>
                <a:cs typeface="Verdana"/>
              </a:rPr>
              <a:t>if </a:t>
            </a:r>
            <a:r>
              <a:rPr sz="1600">
                <a:latin typeface="Verdana"/>
                <a:cs typeface="Verdana"/>
              </a:rPr>
              <a:t>one</a:t>
            </a:r>
            <a:r>
              <a:rPr sz="1600" spc="-15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exists?</a:t>
            </a:r>
          </a:p>
          <a:p>
            <a:pPr marL="814069" lvl="1" indent="-344170">
              <a:spcBef>
                <a:spcPts val="1195"/>
              </a:spcBef>
              <a:buAutoNum type="arabicPeriod"/>
              <a:tabLst>
                <a:tab pos="814705" algn="l"/>
              </a:tabLst>
            </a:pPr>
            <a:r>
              <a:rPr sz="1600" b="1" spc="5">
                <a:latin typeface="Verdana"/>
                <a:cs typeface="Verdana"/>
              </a:rPr>
              <a:t>Time </a:t>
            </a:r>
            <a:r>
              <a:rPr sz="1600" b="1">
                <a:latin typeface="Verdana"/>
                <a:cs typeface="Verdana"/>
              </a:rPr>
              <a:t>complexity</a:t>
            </a:r>
            <a:r>
              <a:rPr sz="1600">
                <a:latin typeface="Verdana"/>
                <a:cs typeface="Verdana"/>
              </a:rPr>
              <a:t>: number </a:t>
            </a:r>
            <a:r>
              <a:rPr sz="1600" spc="5">
                <a:latin typeface="Verdana"/>
                <a:cs typeface="Verdana"/>
              </a:rPr>
              <a:t>of </a:t>
            </a:r>
            <a:r>
              <a:rPr sz="1600">
                <a:latin typeface="Verdana"/>
                <a:cs typeface="Verdana"/>
              </a:rPr>
              <a:t>nodes</a:t>
            </a:r>
            <a:r>
              <a:rPr sz="1600" spc="-15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generated</a:t>
            </a:r>
            <a:r>
              <a:rPr lang="en-US" sz="1600">
                <a:latin typeface="Verdana"/>
                <a:cs typeface="Verdana"/>
              </a:rPr>
              <a:t>/expanded during execution</a:t>
            </a:r>
            <a:endParaRPr sz="1600">
              <a:latin typeface="Verdana"/>
              <a:cs typeface="Verdana"/>
            </a:endParaRPr>
          </a:p>
          <a:p>
            <a:pPr marL="814069" lvl="1" indent="-344170">
              <a:spcBef>
                <a:spcPts val="1195"/>
              </a:spcBef>
              <a:buAutoNum type="arabicPeriod"/>
              <a:tabLst>
                <a:tab pos="814705" algn="l"/>
              </a:tabLst>
            </a:pPr>
            <a:r>
              <a:rPr sz="1600" b="1">
                <a:latin typeface="Verdana"/>
                <a:cs typeface="Verdana"/>
              </a:rPr>
              <a:t>Space complexity</a:t>
            </a:r>
            <a:r>
              <a:rPr sz="1600">
                <a:latin typeface="Verdana"/>
                <a:cs typeface="Verdana"/>
              </a:rPr>
              <a:t>: maximum number </a:t>
            </a:r>
            <a:r>
              <a:rPr sz="1600" spc="5">
                <a:latin typeface="Verdana"/>
                <a:cs typeface="Verdana"/>
              </a:rPr>
              <a:t>of </a:t>
            </a:r>
            <a:r>
              <a:rPr sz="1600">
                <a:latin typeface="Verdana"/>
                <a:cs typeface="Verdana"/>
              </a:rPr>
              <a:t>nodes </a:t>
            </a:r>
            <a:r>
              <a:rPr lang="en-US" sz="1600" spc="-5">
                <a:latin typeface="Verdana"/>
                <a:cs typeface="Verdana"/>
              </a:rPr>
              <a:t>or </a:t>
            </a:r>
            <a:r>
              <a:rPr sz="1600" spc="5">
                <a:latin typeface="Verdana"/>
                <a:cs typeface="Verdana"/>
              </a:rPr>
              <a:t>memory</a:t>
            </a:r>
            <a:r>
              <a:rPr lang="en-US" sz="1600" spc="5">
                <a:latin typeface="Verdana"/>
                <a:cs typeface="Verdana"/>
              </a:rPr>
              <a:t> required to store the expanded nodes. </a:t>
            </a:r>
            <a:endParaRPr sz="1600">
              <a:latin typeface="Verdana"/>
              <a:cs typeface="Verdana"/>
            </a:endParaRPr>
          </a:p>
          <a:p>
            <a:pPr marL="814069" lvl="1" indent="-344170">
              <a:spcBef>
                <a:spcPts val="1195"/>
              </a:spcBef>
              <a:buAutoNum type="arabicPeriod"/>
              <a:tabLst>
                <a:tab pos="814705" algn="l"/>
              </a:tabLst>
            </a:pPr>
            <a:r>
              <a:rPr sz="1600" b="1" spc="5">
                <a:latin typeface="Verdana"/>
                <a:cs typeface="Verdana"/>
              </a:rPr>
              <a:t>Optimality</a:t>
            </a:r>
            <a:r>
              <a:rPr sz="1600" spc="5">
                <a:latin typeface="Verdana"/>
                <a:cs typeface="Verdana"/>
              </a:rPr>
              <a:t>: does </a:t>
            </a:r>
            <a:r>
              <a:rPr sz="1600" spc="-5">
                <a:latin typeface="Verdana"/>
                <a:cs typeface="Verdana"/>
              </a:rPr>
              <a:t>it </a:t>
            </a:r>
            <a:r>
              <a:rPr sz="1600">
                <a:latin typeface="Verdana"/>
                <a:cs typeface="Verdana"/>
              </a:rPr>
              <a:t>always find a </a:t>
            </a:r>
            <a:r>
              <a:rPr sz="1600" spc="-5">
                <a:latin typeface="Verdana"/>
                <a:cs typeface="Verdana"/>
              </a:rPr>
              <a:t>least-cost</a:t>
            </a:r>
            <a:r>
              <a:rPr sz="1600" spc="-135">
                <a:latin typeface="Verdana"/>
                <a:cs typeface="Verdana"/>
              </a:rPr>
              <a:t> </a:t>
            </a:r>
            <a:r>
              <a:rPr sz="1600" spc="-5">
                <a:latin typeface="Verdana"/>
                <a:cs typeface="Verdana"/>
              </a:rPr>
              <a:t>solution?</a:t>
            </a:r>
            <a:endParaRPr sz="1600">
              <a:latin typeface="Verdana"/>
              <a:cs typeface="Verdana"/>
            </a:endParaRPr>
          </a:p>
          <a:p>
            <a:pPr lvl="1">
              <a:spcBef>
                <a:spcPts val="20"/>
              </a:spcBef>
              <a:buFont typeface="Verdana"/>
              <a:buAutoNum type="arabicPeriod"/>
            </a:pPr>
            <a:endParaRPr sz="2350">
              <a:latin typeface="Times New Roman"/>
              <a:cs typeface="Times New Roman"/>
            </a:endParaRPr>
          </a:p>
          <a:p>
            <a:pPr marL="356870" indent="-344170">
              <a:spcBef>
                <a:spcPts val="5"/>
              </a:spcBef>
              <a:buChar char="•"/>
              <a:tabLst>
                <a:tab pos="356870" algn="l"/>
                <a:tab pos="357505" algn="l"/>
              </a:tabLst>
            </a:pPr>
            <a:r>
              <a:rPr spc="-5">
                <a:latin typeface="Verdana"/>
                <a:cs typeface="Verdana"/>
              </a:rPr>
              <a:t>Time </a:t>
            </a:r>
            <a:r>
              <a:rPr spc="-10">
                <a:latin typeface="Verdana"/>
                <a:cs typeface="Verdana"/>
              </a:rPr>
              <a:t>and </a:t>
            </a:r>
            <a:r>
              <a:rPr spc="-5">
                <a:latin typeface="Verdana"/>
                <a:cs typeface="Verdana"/>
              </a:rPr>
              <a:t>space </a:t>
            </a:r>
            <a:r>
              <a:rPr>
                <a:latin typeface="Verdana"/>
                <a:cs typeface="Verdana"/>
              </a:rPr>
              <a:t>complexity are </a:t>
            </a:r>
            <a:r>
              <a:rPr spc="-5">
                <a:latin typeface="Verdana"/>
                <a:cs typeface="Verdana"/>
              </a:rPr>
              <a:t>measured </a:t>
            </a:r>
            <a:r>
              <a:rPr>
                <a:latin typeface="Verdana"/>
                <a:cs typeface="Verdana"/>
              </a:rPr>
              <a:t>in terms</a:t>
            </a:r>
            <a:r>
              <a:rPr spc="15">
                <a:latin typeface="Verdana"/>
                <a:cs typeface="Verdana"/>
              </a:rPr>
              <a:t> </a:t>
            </a:r>
            <a:r>
              <a:rPr spc="5">
                <a:latin typeface="Verdana"/>
                <a:cs typeface="Verdana"/>
              </a:rPr>
              <a:t>of</a:t>
            </a:r>
            <a:endParaRPr>
              <a:latin typeface="Verdana"/>
              <a:cs typeface="Verdana"/>
            </a:endParaRPr>
          </a:p>
          <a:p>
            <a:pPr marL="756285" indent="-286385">
              <a:spcBef>
                <a:spcPts val="1205"/>
              </a:spcBef>
              <a:buFont typeface="Verdana"/>
              <a:buChar char="–"/>
              <a:tabLst>
                <a:tab pos="756285" algn="l"/>
                <a:tab pos="756920" algn="l"/>
              </a:tabLst>
            </a:pPr>
            <a:r>
              <a:rPr sz="1600" b="1" i="1">
                <a:latin typeface="Verdana"/>
                <a:cs typeface="Verdana"/>
              </a:rPr>
              <a:t>b: </a:t>
            </a:r>
            <a:r>
              <a:rPr sz="1600">
                <a:latin typeface="Verdana"/>
                <a:cs typeface="Verdana"/>
              </a:rPr>
              <a:t>maximum </a:t>
            </a:r>
            <a:r>
              <a:rPr sz="1600" spc="-5">
                <a:latin typeface="Verdana"/>
                <a:cs typeface="Verdana"/>
              </a:rPr>
              <a:t>branching </a:t>
            </a:r>
            <a:r>
              <a:rPr sz="1600">
                <a:latin typeface="Verdana"/>
                <a:cs typeface="Verdana"/>
              </a:rPr>
              <a:t>factor </a:t>
            </a:r>
            <a:r>
              <a:rPr sz="1600" spc="5">
                <a:latin typeface="Verdana"/>
                <a:cs typeface="Verdana"/>
              </a:rPr>
              <a:t>of </a:t>
            </a:r>
            <a:r>
              <a:rPr sz="1600" spc="-5">
                <a:latin typeface="Verdana"/>
                <a:cs typeface="Verdana"/>
              </a:rPr>
              <a:t>the </a:t>
            </a:r>
            <a:r>
              <a:rPr sz="1600">
                <a:latin typeface="Verdana"/>
                <a:cs typeface="Verdana"/>
              </a:rPr>
              <a:t>search</a:t>
            </a:r>
            <a:r>
              <a:rPr sz="1600" spc="-1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tree</a:t>
            </a:r>
          </a:p>
          <a:p>
            <a:pPr marL="756285" indent="-286385">
              <a:spcBef>
                <a:spcPts val="1195"/>
              </a:spcBef>
              <a:buFont typeface="Verdana"/>
              <a:buChar char="–"/>
              <a:tabLst>
                <a:tab pos="756285" algn="l"/>
                <a:tab pos="756920" algn="l"/>
              </a:tabLst>
            </a:pPr>
            <a:r>
              <a:rPr sz="1600" b="1" i="1">
                <a:latin typeface="Verdana"/>
                <a:cs typeface="Verdana"/>
              </a:rPr>
              <a:t>d: </a:t>
            </a:r>
            <a:r>
              <a:rPr sz="1600">
                <a:latin typeface="Verdana"/>
                <a:cs typeface="Verdana"/>
              </a:rPr>
              <a:t>depth </a:t>
            </a:r>
            <a:r>
              <a:rPr sz="1600" spc="5">
                <a:latin typeface="Verdana"/>
                <a:cs typeface="Verdana"/>
              </a:rPr>
              <a:t>of </a:t>
            </a:r>
            <a:r>
              <a:rPr sz="1600" spc="-5">
                <a:latin typeface="Verdana"/>
                <a:cs typeface="Verdana"/>
              </a:rPr>
              <a:t>the </a:t>
            </a:r>
            <a:r>
              <a:rPr sz="1600">
                <a:latin typeface="Verdana"/>
                <a:cs typeface="Verdana"/>
              </a:rPr>
              <a:t>least-cost</a:t>
            </a:r>
            <a:r>
              <a:rPr sz="1600" spc="-114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solution</a:t>
            </a:r>
          </a:p>
          <a:p>
            <a:pPr marL="756285" indent="-286385">
              <a:spcBef>
                <a:spcPts val="1195"/>
              </a:spcBef>
              <a:buFont typeface="Verdana"/>
              <a:buChar char="–"/>
              <a:tabLst>
                <a:tab pos="756285" algn="l"/>
                <a:tab pos="756920" algn="l"/>
              </a:tabLst>
            </a:pPr>
            <a:r>
              <a:rPr sz="1600" b="1" i="1" spc="5">
                <a:latin typeface="Verdana"/>
                <a:cs typeface="Verdana"/>
              </a:rPr>
              <a:t>m</a:t>
            </a:r>
            <a:r>
              <a:rPr sz="1600" b="1" spc="5">
                <a:latin typeface="Verdana"/>
                <a:cs typeface="Verdana"/>
              </a:rPr>
              <a:t>: </a:t>
            </a:r>
            <a:r>
              <a:rPr sz="1600">
                <a:latin typeface="Verdana"/>
                <a:cs typeface="Verdana"/>
              </a:rPr>
              <a:t>maximum depth </a:t>
            </a:r>
            <a:r>
              <a:rPr sz="1600" spc="5">
                <a:latin typeface="Verdana"/>
                <a:cs typeface="Verdana"/>
              </a:rPr>
              <a:t>of </a:t>
            </a:r>
            <a:r>
              <a:rPr sz="1600" spc="-5">
                <a:latin typeface="Verdana"/>
                <a:cs typeface="Verdana"/>
              </a:rPr>
              <a:t>the</a:t>
            </a:r>
            <a:r>
              <a:rPr lang="en-US" sz="1600" spc="-5">
                <a:latin typeface="Verdana"/>
                <a:cs typeface="Verdana"/>
              </a:rPr>
              <a:t> </a:t>
            </a:r>
            <a:r>
              <a:rPr sz="1600" spc="-5">
                <a:latin typeface="Verdana"/>
                <a:cs typeface="Verdana"/>
              </a:rPr>
              <a:t>state </a:t>
            </a:r>
            <a:r>
              <a:rPr sz="1600">
                <a:latin typeface="Verdana"/>
                <a:cs typeface="Verdana"/>
              </a:rPr>
              <a:t>space (may </a:t>
            </a:r>
            <a:r>
              <a:rPr sz="1600" spc="5">
                <a:latin typeface="Verdana"/>
                <a:cs typeface="Verdana"/>
              </a:rPr>
              <a:t>be</a:t>
            </a:r>
            <a:r>
              <a:rPr sz="1600" spc="-95">
                <a:latin typeface="Verdana"/>
                <a:cs typeface="Verdana"/>
              </a:rPr>
              <a:t> </a:t>
            </a:r>
            <a:r>
              <a:rPr sz="1600" spc="5">
                <a:latin typeface="Verdana"/>
                <a:cs typeface="Verdana"/>
              </a:rPr>
              <a:t>∞)</a:t>
            </a:r>
            <a:endParaRPr sz="1600">
              <a:latin typeface="Verdana"/>
              <a:cs typeface="Verdan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5A86D-7845-9CF6-8537-4DA3D7383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200" y="4647409"/>
            <a:ext cx="5709920" cy="30052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24C1FE-6E2E-3A42-0B93-60D672884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6558989"/>
            <a:ext cx="4648200" cy="9028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837055" y="229906"/>
            <a:ext cx="6496300" cy="430887"/>
          </a:xfrm>
        </p:spPr>
        <p:txBody>
          <a:bodyPr/>
          <a:lstStyle/>
          <a:p>
            <a:pPr eaLnBrk="1" hangingPunct="1"/>
            <a:r>
              <a:rPr lang="en-US"/>
              <a:t>Breadth-First (Tree) Search</a:t>
            </a:r>
          </a:p>
        </p:txBody>
      </p:sp>
      <p:grpSp>
        <p:nvGrpSpPr>
          <p:cNvPr id="20483" name="Group 3"/>
          <p:cNvGrpSpPr>
            <a:grpSpLocks/>
          </p:cNvGrpSpPr>
          <p:nvPr/>
        </p:nvGrpSpPr>
        <p:grpSpPr bwMode="auto">
          <a:xfrm>
            <a:off x="3648707" y="3965367"/>
            <a:ext cx="6217920" cy="3790358"/>
            <a:chOff x="48" y="2332"/>
            <a:chExt cx="3456" cy="2398"/>
          </a:xfrm>
        </p:grpSpPr>
        <p:sp>
          <p:nvSpPr>
            <p:cNvPr id="20539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13"/>
                <a:t>S</a:t>
              </a:r>
            </a:p>
          </p:txBody>
        </p:sp>
        <p:sp>
          <p:nvSpPr>
            <p:cNvPr id="20540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a</a:t>
              </a:r>
            </a:p>
          </p:txBody>
        </p:sp>
        <p:sp>
          <p:nvSpPr>
            <p:cNvPr id="20541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b</a:t>
              </a:r>
            </a:p>
          </p:txBody>
        </p:sp>
        <p:sp>
          <p:nvSpPr>
            <p:cNvPr id="20542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d</a:t>
              </a:r>
            </a:p>
          </p:txBody>
        </p:sp>
        <p:sp>
          <p:nvSpPr>
            <p:cNvPr id="20543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p</a:t>
              </a:r>
            </a:p>
          </p:txBody>
        </p:sp>
        <p:sp>
          <p:nvSpPr>
            <p:cNvPr id="20544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a</a:t>
              </a:r>
            </a:p>
          </p:txBody>
        </p:sp>
        <p:sp>
          <p:nvSpPr>
            <p:cNvPr id="20545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c</a:t>
              </a:r>
            </a:p>
          </p:txBody>
        </p:sp>
        <p:cxnSp>
          <p:nvCxnSpPr>
            <p:cNvPr id="20546" name="AutoShape 11"/>
            <p:cNvCxnSpPr>
              <a:cxnSpLocks noChangeShapeType="1"/>
              <a:stCxn id="20542" idx="2"/>
              <a:endCxn id="20541" idx="0"/>
            </p:cNvCxnSpPr>
            <p:nvPr/>
          </p:nvCxnSpPr>
          <p:spPr bwMode="auto">
            <a:xfrm flipH="1">
              <a:off x="168" y="2945"/>
              <a:ext cx="336" cy="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7" name="AutoShape 12"/>
            <p:cNvCxnSpPr>
              <a:cxnSpLocks noChangeShapeType="1"/>
              <a:stCxn id="20542" idx="2"/>
              <a:endCxn id="20545" idx="0"/>
            </p:cNvCxnSpPr>
            <p:nvPr/>
          </p:nvCxnSpPr>
          <p:spPr bwMode="auto">
            <a:xfrm>
              <a:off x="504" y="2945"/>
              <a:ext cx="96" cy="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8" name="AutoShape 13"/>
            <p:cNvCxnSpPr>
              <a:cxnSpLocks noChangeShapeType="1"/>
              <a:stCxn id="20541" idx="2"/>
              <a:endCxn id="20540" idx="0"/>
            </p:cNvCxnSpPr>
            <p:nvPr/>
          </p:nvCxnSpPr>
          <p:spPr bwMode="auto">
            <a:xfrm>
              <a:off x="168" y="3290"/>
              <a:ext cx="0" cy="1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9" name="AutoShape 14"/>
            <p:cNvCxnSpPr>
              <a:cxnSpLocks noChangeShapeType="1"/>
              <a:stCxn id="20545" idx="2"/>
              <a:endCxn id="20544" idx="0"/>
            </p:cNvCxnSpPr>
            <p:nvPr/>
          </p:nvCxnSpPr>
          <p:spPr bwMode="auto">
            <a:xfrm>
              <a:off x="600" y="3290"/>
              <a:ext cx="0" cy="1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0550" name="Group 15"/>
            <p:cNvGrpSpPr>
              <a:grpSpLocks/>
            </p:cNvGrpSpPr>
            <p:nvPr/>
          </p:nvGrpSpPr>
          <p:grpSpPr bwMode="auto">
            <a:xfrm>
              <a:off x="1776" y="2640"/>
              <a:ext cx="1104" cy="1706"/>
              <a:chOff x="1152" y="2640"/>
              <a:chExt cx="1104" cy="1706"/>
            </a:xfrm>
          </p:grpSpPr>
          <p:sp>
            <p:nvSpPr>
              <p:cNvPr id="20577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e</a:t>
                </a:r>
              </a:p>
            </p:txBody>
          </p:sp>
          <p:sp>
            <p:nvSpPr>
              <p:cNvPr id="20578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p</a:t>
                </a:r>
              </a:p>
            </p:txBody>
          </p:sp>
          <p:sp>
            <p:nvSpPr>
              <p:cNvPr id="20579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h</a:t>
                </a:r>
              </a:p>
            </p:txBody>
          </p:sp>
          <p:sp>
            <p:nvSpPr>
              <p:cNvPr id="20580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f</a:t>
                </a:r>
              </a:p>
            </p:txBody>
          </p:sp>
          <p:sp>
            <p:nvSpPr>
              <p:cNvPr id="20581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r</a:t>
                </a:r>
              </a:p>
            </p:txBody>
          </p:sp>
          <p:sp>
            <p:nvSpPr>
              <p:cNvPr id="20582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20583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20584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c</a:t>
                </a:r>
              </a:p>
            </p:txBody>
          </p:sp>
          <p:sp>
            <p:nvSpPr>
              <p:cNvPr id="20585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813"/>
                  <a:t>G</a:t>
                </a:r>
              </a:p>
            </p:txBody>
          </p:sp>
          <p:sp>
            <p:nvSpPr>
              <p:cNvPr id="20586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a</a:t>
                </a:r>
              </a:p>
            </p:txBody>
          </p:sp>
          <p:cxnSp>
            <p:nvCxnSpPr>
              <p:cNvPr id="20587" name="AutoShape 26"/>
              <p:cNvCxnSpPr>
                <a:cxnSpLocks noChangeShapeType="1"/>
                <a:stCxn id="20577" idx="2"/>
                <a:endCxn id="20579" idx="0"/>
              </p:cNvCxnSpPr>
              <p:nvPr/>
            </p:nvCxnSpPr>
            <p:spPr bwMode="auto">
              <a:xfrm flipH="1">
                <a:off x="1416" y="2897"/>
                <a:ext cx="24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88" name="AutoShape 27"/>
              <p:cNvCxnSpPr>
                <a:cxnSpLocks noChangeShapeType="1"/>
                <a:stCxn id="20577" idx="2"/>
                <a:endCxn id="20581" idx="0"/>
              </p:cNvCxnSpPr>
              <p:nvPr/>
            </p:nvCxnSpPr>
            <p:spPr bwMode="auto">
              <a:xfrm>
                <a:off x="1656" y="2897"/>
                <a:ext cx="192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89" name="AutoShape 28"/>
              <p:cNvCxnSpPr>
                <a:cxnSpLocks noChangeShapeType="1"/>
                <a:stCxn id="20579" idx="2"/>
                <a:endCxn id="20578" idx="0"/>
              </p:cNvCxnSpPr>
              <p:nvPr/>
            </p:nvCxnSpPr>
            <p:spPr bwMode="auto">
              <a:xfrm flipH="1">
                <a:off x="1272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0" name="AutoShape 29"/>
              <p:cNvCxnSpPr>
                <a:cxnSpLocks noChangeShapeType="1"/>
                <a:stCxn id="20579" idx="2"/>
                <a:endCxn id="20582" idx="0"/>
              </p:cNvCxnSpPr>
              <p:nvPr/>
            </p:nvCxnSpPr>
            <p:spPr bwMode="auto">
              <a:xfrm>
                <a:off x="1416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1" name="AutoShape 30"/>
              <p:cNvCxnSpPr>
                <a:cxnSpLocks noChangeShapeType="1"/>
                <a:stCxn id="20581" idx="2"/>
                <a:endCxn id="20580" idx="0"/>
              </p:cNvCxnSpPr>
              <p:nvPr/>
            </p:nvCxnSpPr>
            <p:spPr bwMode="auto">
              <a:xfrm>
                <a:off x="1848" y="3281"/>
                <a:ext cx="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2" name="AutoShape 31"/>
              <p:cNvCxnSpPr>
                <a:cxnSpLocks noChangeShapeType="1"/>
                <a:stCxn id="20578" idx="2"/>
                <a:endCxn id="20583" idx="0"/>
              </p:cNvCxnSpPr>
              <p:nvPr/>
            </p:nvCxnSpPr>
            <p:spPr bwMode="auto">
              <a:xfrm>
                <a:off x="1272" y="3665"/>
                <a:ext cx="0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3" name="AutoShape 32"/>
              <p:cNvCxnSpPr>
                <a:cxnSpLocks noChangeShapeType="1"/>
                <a:stCxn id="20580" idx="2"/>
                <a:endCxn id="20584" idx="0"/>
              </p:cNvCxnSpPr>
              <p:nvPr/>
            </p:nvCxnSpPr>
            <p:spPr bwMode="auto">
              <a:xfrm flipH="1">
                <a:off x="1704" y="3665"/>
                <a:ext cx="144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4" name="AutoShape 33"/>
              <p:cNvCxnSpPr>
                <a:cxnSpLocks noChangeShapeType="1"/>
                <a:stCxn id="20580" idx="2"/>
                <a:endCxn id="20585" idx="0"/>
              </p:cNvCxnSpPr>
              <p:nvPr/>
            </p:nvCxnSpPr>
            <p:spPr bwMode="auto">
              <a:xfrm>
                <a:off x="1848" y="3665"/>
                <a:ext cx="168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5" name="AutoShape 34"/>
              <p:cNvCxnSpPr>
                <a:cxnSpLocks noChangeShapeType="1"/>
                <a:stCxn id="20584" idx="2"/>
                <a:endCxn id="20586" idx="0"/>
              </p:cNvCxnSpPr>
              <p:nvPr/>
            </p:nvCxnSpPr>
            <p:spPr bwMode="auto">
              <a:xfrm>
                <a:off x="1704" y="4010"/>
                <a:ext cx="0" cy="7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0551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q</a:t>
              </a:r>
            </a:p>
          </p:txBody>
        </p:sp>
        <p:cxnSp>
          <p:nvCxnSpPr>
            <p:cNvPr id="20552" name="AutoShape 36"/>
            <p:cNvCxnSpPr>
              <a:cxnSpLocks noChangeShapeType="1"/>
              <a:stCxn id="20543" idx="2"/>
              <a:endCxn id="20551" idx="0"/>
            </p:cNvCxnSpPr>
            <p:nvPr/>
          </p:nvCxnSpPr>
          <p:spPr bwMode="auto">
            <a:xfrm>
              <a:off x="3384" y="2897"/>
              <a:ext cx="0" cy="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0553" name="Group 37"/>
            <p:cNvGrpSpPr>
              <a:grpSpLocks/>
            </p:cNvGrpSpPr>
            <p:nvPr/>
          </p:nvGrpSpPr>
          <p:grpSpPr bwMode="auto">
            <a:xfrm>
              <a:off x="624" y="3024"/>
              <a:ext cx="1104" cy="1706"/>
              <a:chOff x="1152" y="2640"/>
              <a:chExt cx="1104" cy="1706"/>
            </a:xfrm>
          </p:grpSpPr>
          <p:sp>
            <p:nvSpPr>
              <p:cNvPr id="20558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e</a:t>
                </a:r>
              </a:p>
            </p:txBody>
          </p:sp>
          <p:sp>
            <p:nvSpPr>
              <p:cNvPr id="20559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p</a:t>
                </a:r>
              </a:p>
            </p:txBody>
          </p:sp>
          <p:sp>
            <p:nvSpPr>
              <p:cNvPr id="20560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h</a:t>
                </a:r>
              </a:p>
            </p:txBody>
          </p:sp>
          <p:sp>
            <p:nvSpPr>
              <p:cNvPr id="20561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f</a:t>
                </a:r>
              </a:p>
            </p:txBody>
          </p:sp>
          <p:sp>
            <p:nvSpPr>
              <p:cNvPr id="20562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r</a:t>
                </a:r>
              </a:p>
            </p:txBody>
          </p:sp>
          <p:sp>
            <p:nvSpPr>
              <p:cNvPr id="20563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20564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20565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c</a:t>
                </a:r>
              </a:p>
            </p:txBody>
          </p:sp>
          <p:sp>
            <p:nvSpPr>
              <p:cNvPr id="20566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813" i="1"/>
                  <a:t>G</a:t>
                </a:r>
              </a:p>
            </p:txBody>
          </p:sp>
          <p:sp>
            <p:nvSpPr>
              <p:cNvPr id="20567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a</a:t>
                </a:r>
              </a:p>
            </p:txBody>
          </p:sp>
          <p:cxnSp>
            <p:nvCxnSpPr>
              <p:cNvPr id="20568" name="AutoShape 48"/>
              <p:cNvCxnSpPr>
                <a:cxnSpLocks noChangeShapeType="1"/>
                <a:stCxn id="20558" idx="2"/>
                <a:endCxn id="20560" idx="0"/>
              </p:cNvCxnSpPr>
              <p:nvPr/>
            </p:nvCxnSpPr>
            <p:spPr bwMode="auto">
              <a:xfrm flipH="1">
                <a:off x="1416" y="2897"/>
                <a:ext cx="24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69" name="AutoShape 49"/>
              <p:cNvCxnSpPr>
                <a:cxnSpLocks noChangeShapeType="1"/>
                <a:stCxn id="20558" idx="2"/>
                <a:endCxn id="20562" idx="0"/>
              </p:cNvCxnSpPr>
              <p:nvPr/>
            </p:nvCxnSpPr>
            <p:spPr bwMode="auto">
              <a:xfrm>
                <a:off x="1656" y="2897"/>
                <a:ext cx="192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0" name="AutoShape 50"/>
              <p:cNvCxnSpPr>
                <a:cxnSpLocks noChangeShapeType="1"/>
                <a:stCxn id="20560" idx="2"/>
                <a:endCxn id="20559" idx="0"/>
              </p:cNvCxnSpPr>
              <p:nvPr/>
            </p:nvCxnSpPr>
            <p:spPr bwMode="auto">
              <a:xfrm flipH="1">
                <a:off x="1272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1" name="AutoShape 51"/>
              <p:cNvCxnSpPr>
                <a:cxnSpLocks noChangeShapeType="1"/>
                <a:stCxn id="20560" idx="2"/>
                <a:endCxn id="20563" idx="0"/>
              </p:cNvCxnSpPr>
              <p:nvPr/>
            </p:nvCxnSpPr>
            <p:spPr bwMode="auto">
              <a:xfrm>
                <a:off x="1416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2" name="AutoShape 52"/>
              <p:cNvCxnSpPr>
                <a:cxnSpLocks noChangeShapeType="1"/>
                <a:stCxn id="20562" idx="2"/>
                <a:endCxn id="20561" idx="0"/>
              </p:cNvCxnSpPr>
              <p:nvPr/>
            </p:nvCxnSpPr>
            <p:spPr bwMode="auto">
              <a:xfrm>
                <a:off x="1848" y="3281"/>
                <a:ext cx="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3" name="AutoShape 53"/>
              <p:cNvCxnSpPr>
                <a:cxnSpLocks noChangeShapeType="1"/>
                <a:stCxn id="20559" idx="2"/>
                <a:endCxn id="20564" idx="0"/>
              </p:cNvCxnSpPr>
              <p:nvPr/>
            </p:nvCxnSpPr>
            <p:spPr bwMode="auto">
              <a:xfrm>
                <a:off x="1272" y="3665"/>
                <a:ext cx="0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4" name="AutoShape 54"/>
              <p:cNvCxnSpPr>
                <a:cxnSpLocks noChangeShapeType="1"/>
                <a:stCxn id="20561" idx="2"/>
                <a:endCxn id="20565" idx="0"/>
              </p:cNvCxnSpPr>
              <p:nvPr/>
            </p:nvCxnSpPr>
            <p:spPr bwMode="auto">
              <a:xfrm flipH="1">
                <a:off x="1704" y="3665"/>
                <a:ext cx="144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5" name="AutoShape 55"/>
              <p:cNvCxnSpPr>
                <a:cxnSpLocks noChangeShapeType="1"/>
                <a:stCxn id="20561" idx="2"/>
                <a:endCxn id="20566" idx="0"/>
              </p:cNvCxnSpPr>
              <p:nvPr/>
            </p:nvCxnSpPr>
            <p:spPr bwMode="auto">
              <a:xfrm>
                <a:off x="1848" y="3665"/>
                <a:ext cx="168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6" name="AutoShape 56"/>
              <p:cNvCxnSpPr>
                <a:cxnSpLocks noChangeShapeType="1"/>
                <a:stCxn id="20565" idx="2"/>
                <a:endCxn id="20567" idx="0"/>
              </p:cNvCxnSpPr>
              <p:nvPr/>
            </p:nvCxnSpPr>
            <p:spPr bwMode="auto">
              <a:xfrm>
                <a:off x="1704" y="4010"/>
                <a:ext cx="0" cy="7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0554" name="AutoShape 57"/>
            <p:cNvCxnSpPr>
              <a:cxnSpLocks noChangeShapeType="1"/>
              <a:stCxn id="20542" idx="2"/>
              <a:endCxn id="20558" idx="0"/>
            </p:cNvCxnSpPr>
            <p:nvPr/>
          </p:nvCxnSpPr>
          <p:spPr bwMode="auto">
            <a:xfrm>
              <a:off x="504" y="2945"/>
              <a:ext cx="624" cy="7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5" name="AutoShape 58"/>
            <p:cNvCxnSpPr>
              <a:cxnSpLocks noChangeShapeType="1"/>
              <a:stCxn id="20539" idx="2"/>
              <a:endCxn id="20542" idx="0"/>
            </p:cNvCxnSpPr>
            <p:nvPr/>
          </p:nvCxnSpPr>
          <p:spPr bwMode="auto">
            <a:xfrm flipH="1">
              <a:off x="504" y="2567"/>
              <a:ext cx="1536" cy="1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6" name="AutoShape 59"/>
            <p:cNvCxnSpPr>
              <a:cxnSpLocks noChangeShapeType="1"/>
              <a:stCxn id="20539" idx="2"/>
              <a:endCxn id="20577" idx="0"/>
            </p:cNvCxnSpPr>
            <p:nvPr/>
          </p:nvCxnSpPr>
          <p:spPr bwMode="auto">
            <a:xfrm>
              <a:off x="2040" y="2567"/>
              <a:ext cx="240" cy="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7" name="AutoShape 60"/>
            <p:cNvCxnSpPr>
              <a:cxnSpLocks noChangeShapeType="1"/>
              <a:stCxn id="20539" idx="2"/>
              <a:endCxn id="20543" idx="0"/>
            </p:cNvCxnSpPr>
            <p:nvPr/>
          </p:nvCxnSpPr>
          <p:spPr bwMode="auto">
            <a:xfrm>
              <a:off x="2040" y="2567"/>
              <a:ext cx="1344" cy="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0484" name="Group 61"/>
          <p:cNvGrpSpPr>
            <a:grpSpLocks/>
          </p:cNvGrpSpPr>
          <p:nvPr/>
        </p:nvGrpSpPr>
        <p:grpSpPr bwMode="auto">
          <a:xfrm>
            <a:off x="5201390" y="1540090"/>
            <a:ext cx="3434611" cy="2000673"/>
            <a:chOff x="624" y="1134"/>
            <a:chExt cx="4368" cy="2544"/>
          </a:xfrm>
        </p:grpSpPr>
        <p:sp>
          <p:nvSpPr>
            <p:cNvPr id="20511" name="AutoShape 62"/>
            <p:cNvSpPr>
              <a:spLocks noChangeArrowheads="1"/>
            </p:cNvSpPr>
            <p:nvPr/>
          </p:nvSpPr>
          <p:spPr bwMode="auto">
            <a:xfrm>
              <a:off x="624" y="262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13"/>
                <a:t>S</a:t>
              </a:r>
            </a:p>
          </p:txBody>
        </p:sp>
        <p:sp>
          <p:nvSpPr>
            <p:cNvPr id="20512" name="AutoShape 63"/>
            <p:cNvSpPr>
              <a:spLocks noChangeArrowheads="1"/>
            </p:cNvSpPr>
            <p:nvPr/>
          </p:nvSpPr>
          <p:spPr bwMode="auto">
            <a:xfrm>
              <a:off x="4560" y="1134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/>
                <a:t>G</a:t>
              </a:r>
            </a:p>
          </p:txBody>
        </p:sp>
        <p:sp>
          <p:nvSpPr>
            <p:cNvPr id="20513" name="AutoShape 64"/>
            <p:cNvSpPr>
              <a:spLocks noChangeArrowheads="1"/>
            </p:cNvSpPr>
            <p:nvPr/>
          </p:nvSpPr>
          <p:spPr bwMode="auto">
            <a:xfrm>
              <a:off x="1878" y="2231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d</a:t>
              </a:r>
            </a:p>
          </p:txBody>
        </p:sp>
        <p:sp>
          <p:nvSpPr>
            <p:cNvPr id="20514" name="AutoShape 65"/>
            <p:cNvSpPr>
              <a:spLocks noChangeArrowheads="1"/>
            </p:cNvSpPr>
            <p:nvPr/>
          </p:nvSpPr>
          <p:spPr bwMode="auto">
            <a:xfrm>
              <a:off x="970" y="1573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b</a:t>
              </a:r>
            </a:p>
          </p:txBody>
        </p:sp>
        <p:sp>
          <p:nvSpPr>
            <p:cNvPr id="20515" name="AutoShape 66"/>
            <p:cNvSpPr>
              <a:spLocks noChangeArrowheads="1"/>
            </p:cNvSpPr>
            <p:nvPr/>
          </p:nvSpPr>
          <p:spPr bwMode="auto">
            <a:xfrm>
              <a:off x="1402" y="310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p</a:t>
              </a:r>
            </a:p>
          </p:txBody>
        </p:sp>
        <p:sp>
          <p:nvSpPr>
            <p:cNvPr id="20516" name="AutoShape 67"/>
            <p:cNvSpPr>
              <a:spLocks noChangeArrowheads="1"/>
            </p:cNvSpPr>
            <p:nvPr/>
          </p:nvSpPr>
          <p:spPr bwMode="auto">
            <a:xfrm>
              <a:off x="2440" y="3239"/>
              <a:ext cx="433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q</a:t>
              </a:r>
            </a:p>
          </p:txBody>
        </p:sp>
        <p:sp>
          <p:nvSpPr>
            <p:cNvPr id="20517" name="AutoShape 68"/>
            <p:cNvSpPr>
              <a:spLocks noChangeArrowheads="1"/>
            </p:cNvSpPr>
            <p:nvPr/>
          </p:nvSpPr>
          <p:spPr bwMode="auto">
            <a:xfrm>
              <a:off x="2916" y="1529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c</a:t>
              </a:r>
            </a:p>
          </p:txBody>
        </p:sp>
        <p:sp>
          <p:nvSpPr>
            <p:cNvPr id="20518" name="AutoShape 69"/>
            <p:cNvSpPr>
              <a:spLocks noChangeArrowheads="1"/>
            </p:cNvSpPr>
            <p:nvPr/>
          </p:nvSpPr>
          <p:spPr bwMode="auto">
            <a:xfrm>
              <a:off x="3522" y="205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e</a:t>
              </a:r>
            </a:p>
          </p:txBody>
        </p:sp>
        <p:sp>
          <p:nvSpPr>
            <p:cNvPr id="20519" name="AutoShape 70"/>
            <p:cNvSpPr>
              <a:spLocks noChangeArrowheads="1"/>
            </p:cNvSpPr>
            <p:nvPr/>
          </p:nvSpPr>
          <p:spPr bwMode="auto">
            <a:xfrm>
              <a:off x="3176" y="2669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h</a:t>
              </a:r>
            </a:p>
          </p:txBody>
        </p:sp>
        <p:sp>
          <p:nvSpPr>
            <p:cNvPr id="20520" name="AutoShape 71"/>
            <p:cNvSpPr>
              <a:spLocks noChangeArrowheads="1"/>
            </p:cNvSpPr>
            <p:nvPr/>
          </p:nvSpPr>
          <p:spPr bwMode="auto">
            <a:xfrm>
              <a:off x="1748" y="117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a</a:t>
              </a:r>
            </a:p>
          </p:txBody>
        </p:sp>
        <p:sp>
          <p:nvSpPr>
            <p:cNvPr id="20521" name="AutoShape 72"/>
            <p:cNvSpPr>
              <a:spLocks noChangeArrowheads="1"/>
            </p:cNvSpPr>
            <p:nvPr/>
          </p:nvSpPr>
          <p:spPr bwMode="auto">
            <a:xfrm>
              <a:off x="4430" y="2318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f</a:t>
              </a:r>
            </a:p>
          </p:txBody>
        </p:sp>
        <p:sp>
          <p:nvSpPr>
            <p:cNvPr id="20522" name="AutoShape 73"/>
            <p:cNvSpPr>
              <a:spLocks noChangeArrowheads="1"/>
            </p:cNvSpPr>
            <p:nvPr/>
          </p:nvSpPr>
          <p:spPr bwMode="auto">
            <a:xfrm>
              <a:off x="4257" y="3108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r</a:t>
              </a:r>
            </a:p>
          </p:txBody>
        </p:sp>
        <p:cxnSp>
          <p:nvCxnSpPr>
            <p:cNvPr id="20523" name="AutoShape 74"/>
            <p:cNvCxnSpPr>
              <a:cxnSpLocks noChangeShapeType="1"/>
              <a:stCxn id="20511" idx="5"/>
              <a:endCxn id="20515" idx="2"/>
            </p:cNvCxnSpPr>
            <p:nvPr/>
          </p:nvCxnSpPr>
          <p:spPr bwMode="auto">
            <a:xfrm>
              <a:off x="993" y="3012"/>
              <a:ext cx="397" cy="3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4" name="AutoShape 75"/>
            <p:cNvCxnSpPr>
              <a:cxnSpLocks noChangeShapeType="1"/>
              <a:stCxn id="20515" idx="5"/>
              <a:endCxn id="20516" idx="2"/>
            </p:cNvCxnSpPr>
            <p:nvPr/>
          </p:nvCxnSpPr>
          <p:spPr bwMode="auto">
            <a:xfrm flipV="1">
              <a:off x="1772" y="3459"/>
              <a:ext cx="656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5" name="AutoShape 76"/>
            <p:cNvCxnSpPr>
              <a:cxnSpLocks noChangeShapeType="1"/>
              <a:stCxn id="20519" idx="3"/>
              <a:endCxn id="20516" idx="7"/>
            </p:cNvCxnSpPr>
            <p:nvPr/>
          </p:nvCxnSpPr>
          <p:spPr bwMode="auto">
            <a:xfrm flipH="1">
              <a:off x="2810" y="3056"/>
              <a:ext cx="429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6" name="AutoShape 77"/>
            <p:cNvCxnSpPr>
              <a:cxnSpLocks noChangeShapeType="1"/>
              <a:stCxn id="20519" idx="2"/>
              <a:endCxn id="20515" idx="6"/>
            </p:cNvCxnSpPr>
            <p:nvPr/>
          </p:nvCxnSpPr>
          <p:spPr bwMode="auto">
            <a:xfrm flipH="1">
              <a:off x="1847" y="2889"/>
              <a:ext cx="1317" cy="4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7" name="AutoShape 78"/>
            <p:cNvCxnSpPr>
              <a:cxnSpLocks noChangeShapeType="1"/>
              <a:stCxn id="20518" idx="4"/>
              <a:endCxn id="20519" idx="7"/>
            </p:cNvCxnSpPr>
            <p:nvPr/>
          </p:nvCxnSpPr>
          <p:spPr bwMode="auto">
            <a:xfrm flipH="1">
              <a:off x="3545" y="2506"/>
              <a:ext cx="193" cy="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8" name="AutoShape 79"/>
            <p:cNvCxnSpPr>
              <a:cxnSpLocks noChangeShapeType="1"/>
              <a:stCxn id="20518" idx="5"/>
              <a:endCxn id="20522" idx="1"/>
            </p:cNvCxnSpPr>
            <p:nvPr/>
          </p:nvCxnSpPr>
          <p:spPr bwMode="auto">
            <a:xfrm>
              <a:off x="3891" y="2442"/>
              <a:ext cx="429" cy="7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9" name="AutoShape 80"/>
            <p:cNvCxnSpPr>
              <a:cxnSpLocks noChangeShapeType="1"/>
              <a:stCxn id="20522" idx="0"/>
              <a:endCxn id="20521" idx="4"/>
            </p:cNvCxnSpPr>
            <p:nvPr/>
          </p:nvCxnSpPr>
          <p:spPr bwMode="auto">
            <a:xfrm flipV="1">
              <a:off x="4473" y="2769"/>
              <a:ext cx="173" cy="32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0" name="AutoShape 81"/>
            <p:cNvCxnSpPr>
              <a:cxnSpLocks noChangeShapeType="1"/>
              <a:stCxn id="20521" idx="0"/>
              <a:endCxn id="20512" idx="4"/>
            </p:cNvCxnSpPr>
            <p:nvPr/>
          </p:nvCxnSpPr>
          <p:spPr bwMode="auto">
            <a:xfrm flipV="1">
              <a:off x="4646" y="1585"/>
              <a:ext cx="130" cy="7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1" name="AutoShape 82"/>
            <p:cNvCxnSpPr>
              <a:cxnSpLocks noChangeShapeType="1"/>
              <a:stCxn id="20511" idx="7"/>
            </p:cNvCxnSpPr>
            <p:nvPr/>
          </p:nvCxnSpPr>
          <p:spPr bwMode="auto">
            <a:xfrm flipV="1">
              <a:off x="993" y="2438"/>
              <a:ext cx="885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2" name="AutoShape 83"/>
            <p:cNvCxnSpPr>
              <a:cxnSpLocks noChangeShapeType="1"/>
              <a:stCxn id="20513" idx="1"/>
              <a:endCxn id="20514" idx="5"/>
            </p:cNvCxnSpPr>
            <p:nvPr/>
          </p:nvCxnSpPr>
          <p:spPr bwMode="auto">
            <a:xfrm flipH="1" flipV="1">
              <a:off x="1339" y="1959"/>
              <a:ext cx="602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3" name="AutoShape 84"/>
            <p:cNvCxnSpPr>
              <a:cxnSpLocks noChangeShapeType="1"/>
              <a:endCxn id="20520" idx="2"/>
            </p:cNvCxnSpPr>
            <p:nvPr/>
          </p:nvCxnSpPr>
          <p:spPr bwMode="auto">
            <a:xfrm flipV="1">
              <a:off x="1347" y="1397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4" name="AutoShape 85"/>
            <p:cNvCxnSpPr>
              <a:cxnSpLocks noChangeShapeType="1"/>
              <a:stCxn id="20517" idx="2"/>
              <a:endCxn id="20520" idx="6"/>
            </p:cNvCxnSpPr>
            <p:nvPr/>
          </p:nvCxnSpPr>
          <p:spPr bwMode="auto">
            <a:xfrm flipH="1" flipV="1">
              <a:off x="2193" y="1397"/>
              <a:ext cx="711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5" name="AutoShape 86"/>
            <p:cNvCxnSpPr>
              <a:cxnSpLocks noChangeShapeType="1"/>
              <a:stCxn id="20513" idx="7"/>
              <a:endCxn id="20517" idx="3"/>
            </p:cNvCxnSpPr>
            <p:nvPr/>
          </p:nvCxnSpPr>
          <p:spPr bwMode="auto">
            <a:xfrm flipV="1">
              <a:off x="2248" y="1915"/>
              <a:ext cx="731" cy="36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6" name="AutoShape 87"/>
            <p:cNvCxnSpPr>
              <a:cxnSpLocks noChangeShapeType="1"/>
              <a:stCxn id="20513" idx="6"/>
              <a:endCxn id="20518" idx="2"/>
            </p:cNvCxnSpPr>
            <p:nvPr/>
          </p:nvCxnSpPr>
          <p:spPr bwMode="auto">
            <a:xfrm flipV="1">
              <a:off x="2323" y="2275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7" name="AutoShape 88"/>
            <p:cNvCxnSpPr>
              <a:cxnSpLocks noChangeShapeType="1"/>
              <a:stCxn id="20521" idx="1"/>
              <a:endCxn id="20517" idx="6"/>
            </p:cNvCxnSpPr>
            <p:nvPr/>
          </p:nvCxnSpPr>
          <p:spPr bwMode="auto">
            <a:xfrm rot="5400000" flipH="1">
              <a:off x="3616" y="1493"/>
              <a:ext cx="622" cy="113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8" name="AutoShape 89"/>
            <p:cNvCxnSpPr>
              <a:cxnSpLocks noChangeShapeType="1"/>
              <a:stCxn id="20511" idx="6"/>
              <a:endCxn id="20518" idx="3"/>
            </p:cNvCxnSpPr>
            <p:nvPr/>
          </p:nvCxnSpPr>
          <p:spPr bwMode="auto">
            <a:xfrm flipV="1">
              <a:off x="1068" y="2442"/>
              <a:ext cx="2517" cy="40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6" name="Group 90"/>
          <p:cNvGrpSpPr>
            <a:grpSpLocks/>
          </p:cNvGrpSpPr>
          <p:nvPr/>
        </p:nvGrpSpPr>
        <p:grpSpPr bwMode="auto">
          <a:xfrm>
            <a:off x="1640850" y="4003159"/>
            <a:ext cx="8315748" cy="2635779"/>
            <a:chOff x="132" y="2225"/>
            <a:chExt cx="4622" cy="1465"/>
          </a:xfrm>
        </p:grpSpPr>
        <p:sp>
          <p:nvSpPr>
            <p:cNvPr id="20504" name="Rectangle 91"/>
            <p:cNvSpPr>
              <a:spLocks noChangeArrowheads="1"/>
            </p:cNvSpPr>
            <p:nvPr/>
          </p:nvSpPr>
          <p:spPr bwMode="auto">
            <a:xfrm>
              <a:off x="1142" y="2225"/>
              <a:ext cx="3611" cy="17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40"/>
            </a:p>
          </p:txBody>
        </p:sp>
        <p:sp>
          <p:nvSpPr>
            <p:cNvPr id="20505" name="Rectangle 92"/>
            <p:cNvSpPr>
              <a:spLocks noChangeArrowheads="1"/>
            </p:cNvSpPr>
            <p:nvPr/>
          </p:nvSpPr>
          <p:spPr bwMode="auto">
            <a:xfrm>
              <a:off x="1138" y="2516"/>
              <a:ext cx="3611" cy="172"/>
            </a:xfrm>
            <a:prstGeom prst="rect">
              <a:avLst/>
            </a:prstGeom>
            <a:solidFill>
              <a:srgbClr val="FF66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40"/>
            </a:p>
          </p:txBody>
        </p:sp>
        <p:sp>
          <p:nvSpPr>
            <p:cNvPr id="20506" name="Rectangle 93"/>
            <p:cNvSpPr>
              <a:spLocks noChangeArrowheads="1"/>
            </p:cNvSpPr>
            <p:nvPr/>
          </p:nvSpPr>
          <p:spPr bwMode="auto">
            <a:xfrm>
              <a:off x="1143" y="2844"/>
              <a:ext cx="3611" cy="172"/>
            </a:xfrm>
            <a:prstGeom prst="rect">
              <a:avLst/>
            </a:prstGeom>
            <a:solidFill>
              <a:srgbClr val="008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40"/>
            </a:p>
          </p:txBody>
        </p:sp>
        <p:sp>
          <p:nvSpPr>
            <p:cNvPr id="20507" name="Rectangle 94"/>
            <p:cNvSpPr>
              <a:spLocks noChangeArrowheads="1"/>
            </p:cNvSpPr>
            <p:nvPr/>
          </p:nvSpPr>
          <p:spPr bwMode="auto">
            <a:xfrm>
              <a:off x="1139" y="3188"/>
              <a:ext cx="3607" cy="172"/>
            </a:xfrm>
            <a:prstGeom prst="rect">
              <a:avLst/>
            </a:prstGeom>
            <a:solidFill>
              <a:srgbClr val="0000FF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40"/>
            </a:p>
          </p:txBody>
        </p:sp>
        <p:sp>
          <p:nvSpPr>
            <p:cNvPr id="20508" name="AutoShape 95"/>
            <p:cNvSpPr>
              <a:spLocks/>
            </p:cNvSpPr>
            <p:nvPr/>
          </p:nvSpPr>
          <p:spPr bwMode="auto">
            <a:xfrm>
              <a:off x="807" y="2236"/>
              <a:ext cx="178" cy="1450"/>
            </a:xfrm>
            <a:prstGeom prst="leftBrace">
              <a:avLst>
                <a:gd name="adj1" fmla="val 6788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040"/>
            </a:p>
          </p:txBody>
        </p:sp>
        <p:sp>
          <p:nvSpPr>
            <p:cNvPr id="20509" name="Text Box 96"/>
            <p:cNvSpPr txBox="1">
              <a:spLocks noChangeArrowheads="1"/>
            </p:cNvSpPr>
            <p:nvPr/>
          </p:nvSpPr>
          <p:spPr bwMode="auto">
            <a:xfrm>
              <a:off x="132" y="2693"/>
              <a:ext cx="602" cy="4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/>
                <a:t>Search</a:t>
              </a:r>
            </a:p>
            <a:p>
              <a:pPr algn="ctr">
                <a:spcBef>
                  <a:spcPct val="50000"/>
                </a:spcBef>
              </a:pPr>
              <a:r>
                <a:rPr lang="en-US" sz="2040"/>
                <a:t>Tiers</a:t>
              </a:r>
            </a:p>
          </p:txBody>
        </p:sp>
        <p:sp>
          <p:nvSpPr>
            <p:cNvPr id="20510" name="Rectangle 97"/>
            <p:cNvSpPr>
              <a:spLocks noChangeArrowheads="1"/>
            </p:cNvSpPr>
            <p:nvPr/>
          </p:nvSpPr>
          <p:spPr bwMode="auto">
            <a:xfrm>
              <a:off x="1143" y="3518"/>
              <a:ext cx="3607" cy="172"/>
            </a:xfrm>
            <a:prstGeom prst="rect">
              <a:avLst/>
            </a:prstGeom>
            <a:solidFill>
              <a:srgbClr val="CC00CC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40"/>
            </a:p>
          </p:txBody>
        </p:sp>
      </p:grpSp>
      <p:sp>
        <p:nvSpPr>
          <p:cNvPr id="798818" name="Oval 98"/>
          <p:cNvSpPr>
            <a:spLocks noChangeArrowheads="1"/>
          </p:cNvSpPr>
          <p:nvPr/>
        </p:nvSpPr>
        <p:spPr bwMode="auto">
          <a:xfrm>
            <a:off x="7068925" y="3995951"/>
            <a:ext cx="329247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20487" name="Oval 99"/>
          <p:cNvSpPr>
            <a:spLocks noChangeArrowheads="1"/>
          </p:cNvSpPr>
          <p:nvPr/>
        </p:nvSpPr>
        <p:spPr bwMode="auto">
          <a:xfrm>
            <a:off x="7068925" y="3995951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0" name="Oval 100"/>
          <p:cNvSpPr>
            <a:spLocks noChangeArrowheads="1"/>
          </p:cNvSpPr>
          <p:nvPr/>
        </p:nvSpPr>
        <p:spPr bwMode="auto">
          <a:xfrm>
            <a:off x="4316199" y="4557291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1" name="Oval 101"/>
          <p:cNvSpPr>
            <a:spLocks noChangeArrowheads="1"/>
          </p:cNvSpPr>
          <p:nvPr/>
        </p:nvSpPr>
        <p:spPr bwMode="auto">
          <a:xfrm>
            <a:off x="7513330" y="4506913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2" name="Oval 102"/>
          <p:cNvSpPr>
            <a:spLocks noChangeArrowheads="1"/>
          </p:cNvSpPr>
          <p:nvPr/>
        </p:nvSpPr>
        <p:spPr bwMode="auto">
          <a:xfrm>
            <a:off x="9497799" y="4523115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3" name="Oval 103"/>
          <p:cNvSpPr>
            <a:spLocks noChangeArrowheads="1"/>
          </p:cNvSpPr>
          <p:nvPr/>
        </p:nvSpPr>
        <p:spPr bwMode="auto">
          <a:xfrm>
            <a:off x="3715275" y="5124039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4" name="Oval 104"/>
          <p:cNvSpPr>
            <a:spLocks noChangeArrowheads="1"/>
          </p:cNvSpPr>
          <p:nvPr/>
        </p:nvSpPr>
        <p:spPr bwMode="auto">
          <a:xfrm>
            <a:off x="4479936" y="5115032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5" name="Oval 105"/>
          <p:cNvSpPr>
            <a:spLocks noChangeArrowheads="1"/>
          </p:cNvSpPr>
          <p:nvPr/>
        </p:nvSpPr>
        <p:spPr bwMode="auto">
          <a:xfrm>
            <a:off x="5438879" y="5115032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6" name="Oval 106"/>
          <p:cNvSpPr>
            <a:spLocks noChangeArrowheads="1"/>
          </p:cNvSpPr>
          <p:nvPr/>
        </p:nvSpPr>
        <p:spPr bwMode="auto">
          <a:xfrm>
            <a:off x="7076120" y="5106048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7" name="Oval 107"/>
          <p:cNvSpPr>
            <a:spLocks noChangeArrowheads="1"/>
          </p:cNvSpPr>
          <p:nvPr/>
        </p:nvSpPr>
        <p:spPr bwMode="auto">
          <a:xfrm>
            <a:off x="7871352" y="5106048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8" name="Oval 108"/>
          <p:cNvSpPr>
            <a:spLocks noChangeArrowheads="1"/>
          </p:cNvSpPr>
          <p:nvPr/>
        </p:nvSpPr>
        <p:spPr bwMode="auto">
          <a:xfrm>
            <a:off x="9496011" y="5106048"/>
            <a:ext cx="329248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9" name="Oval 109"/>
          <p:cNvSpPr>
            <a:spLocks noChangeArrowheads="1"/>
          </p:cNvSpPr>
          <p:nvPr/>
        </p:nvSpPr>
        <p:spPr bwMode="auto">
          <a:xfrm>
            <a:off x="3704481" y="5724962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30" name="Oval 110"/>
          <p:cNvSpPr>
            <a:spLocks noChangeArrowheads="1"/>
          </p:cNvSpPr>
          <p:nvPr/>
        </p:nvSpPr>
        <p:spPr bwMode="auto">
          <a:xfrm>
            <a:off x="4316199" y="4555503"/>
            <a:ext cx="329247" cy="300461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31" name="Oval 111"/>
          <p:cNvSpPr>
            <a:spLocks noChangeArrowheads="1"/>
          </p:cNvSpPr>
          <p:nvPr/>
        </p:nvSpPr>
        <p:spPr bwMode="auto">
          <a:xfrm>
            <a:off x="7516928" y="4508725"/>
            <a:ext cx="329248" cy="300461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32" name="Oval 112"/>
          <p:cNvSpPr>
            <a:spLocks noChangeArrowheads="1"/>
          </p:cNvSpPr>
          <p:nvPr/>
        </p:nvSpPr>
        <p:spPr bwMode="auto">
          <a:xfrm>
            <a:off x="9499610" y="4528504"/>
            <a:ext cx="329248" cy="300460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33" name="Oval 113"/>
          <p:cNvSpPr>
            <a:spLocks noChangeArrowheads="1"/>
          </p:cNvSpPr>
          <p:nvPr/>
        </p:nvSpPr>
        <p:spPr bwMode="auto">
          <a:xfrm>
            <a:off x="3718875" y="5118631"/>
            <a:ext cx="329247" cy="300460"/>
          </a:xfrm>
          <a:prstGeom prst="ellipse">
            <a:avLst/>
          </a:prstGeom>
          <a:solidFill>
            <a:srgbClr val="0080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20502" name="Line 114"/>
          <p:cNvSpPr>
            <a:spLocks noChangeShapeType="1"/>
          </p:cNvSpPr>
          <p:nvPr/>
        </p:nvSpPr>
        <p:spPr bwMode="auto">
          <a:xfrm>
            <a:off x="9" y="3821431"/>
            <a:ext cx="138176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20503" name="Text Box 115"/>
          <p:cNvSpPr txBox="1">
            <a:spLocks noChangeArrowheads="1"/>
          </p:cNvSpPr>
          <p:nvPr/>
        </p:nvSpPr>
        <p:spPr bwMode="auto">
          <a:xfrm>
            <a:off x="426403" y="1554484"/>
            <a:ext cx="2855278" cy="1517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 i="1">
                <a:latin typeface="Calibri" pitchFamily="34" charset="0"/>
              </a:rPr>
              <a:t>Strategy: expand a shallowest node first</a:t>
            </a:r>
          </a:p>
          <a:p>
            <a:pPr>
              <a:spcBef>
                <a:spcPct val="50000"/>
              </a:spcBef>
            </a:pPr>
            <a:r>
              <a:rPr lang="en-US" sz="2040" i="1">
                <a:latin typeface="Calibri" pitchFamily="34" charset="0"/>
              </a:rPr>
              <a:t>Implementation: </a:t>
            </a:r>
            <a:r>
              <a:rPr lang="en-US" sz="2040" b="1" i="1">
                <a:solidFill>
                  <a:srgbClr val="CC0000"/>
                </a:solidFill>
                <a:latin typeface="Calibri" pitchFamily="34" charset="0"/>
              </a:rPr>
              <a:t>Frontier is a FIFO queue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18" grpId="0" animBg="1"/>
      <p:bldP spid="798820" grpId="0" animBg="1"/>
      <p:bldP spid="798821" grpId="0" animBg="1"/>
      <p:bldP spid="798822" grpId="0" animBg="1"/>
      <p:bldP spid="798823" grpId="0" animBg="1"/>
      <p:bldP spid="798824" grpId="0" animBg="1"/>
      <p:bldP spid="798825" grpId="0" animBg="1"/>
      <p:bldP spid="798826" grpId="0" animBg="1"/>
      <p:bldP spid="798827" grpId="0" animBg="1"/>
      <p:bldP spid="798828" grpId="0" animBg="1"/>
      <p:bldP spid="798829" grpId="0" animBg="1"/>
      <p:bldP spid="798830" grpId="0" animBg="1"/>
      <p:bldP spid="798831" grpId="0" animBg="1"/>
      <p:bldP spid="798832" grpId="0" animBg="1"/>
      <p:bldP spid="7988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939" y="880872"/>
            <a:ext cx="281559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BFS Search</a:t>
            </a:r>
            <a:r>
              <a:rPr sz="2400" b="1" spc="-5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63464" y="2060448"/>
            <a:ext cx="402590" cy="317500"/>
          </a:xfrm>
          <a:custGeom>
            <a:avLst/>
            <a:gdLst/>
            <a:ahLst/>
            <a:cxnLst/>
            <a:rect l="l" t="t" r="r" b="b"/>
            <a:pathLst>
              <a:path w="402589" h="317500">
                <a:moveTo>
                  <a:pt x="201168" y="0"/>
                </a:moveTo>
                <a:lnTo>
                  <a:pt x="147108" y="5602"/>
                </a:lnTo>
                <a:lnTo>
                  <a:pt x="98890" y="21448"/>
                </a:lnTo>
                <a:lnTo>
                  <a:pt x="58292" y="46100"/>
                </a:lnTo>
                <a:lnTo>
                  <a:pt x="27093" y="78119"/>
                </a:lnTo>
                <a:lnTo>
                  <a:pt x="7069" y="116063"/>
                </a:lnTo>
                <a:lnTo>
                  <a:pt x="0" y="158496"/>
                </a:lnTo>
                <a:lnTo>
                  <a:pt x="7069" y="199869"/>
                </a:lnTo>
                <a:lnTo>
                  <a:pt x="27093" y="237518"/>
                </a:lnTo>
                <a:lnTo>
                  <a:pt x="58293" y="269748"/>
                </a:lnTo>
                <a:lnTo>
                  <a:pt x="98890" y="294865"/>
                </a:lnTo>
                <a:lnTo>
                  <a:pt x="147108" y="311178"/>
                </a:lnTo>
                <a:lnTo>
                  <a:pt x="201168" y="316991"/>
                </a:lnTo>
                <a:lnTo>
                  <a:pt x="255227" y="311178"/>
                </a:lnTo>
                <a:lnTo>
                  <a:pt x="303445" y="294865"/>
                </a:lnTo>
                <a:lnTo>
                  <a:pt x="344043" y="269748"/>
                </a:lnTo>
                <a:lnTo>
                  <a:pt x="375242" y="237518"/>
                </a:lnTo>
                <a:lnTo>
                  <a:pt x="395266" y="199869"/>
                </a:lnTo>
                <a:lnTo>
                  <a:pt x="402336" y="158496"/>
                </a:lnTo>
                <a:lnTo>
                  <a:pt x="395266" y="116063"/>
                </a:lnTo>
                <a:lnTo>
                  <a:pt x="375242" y="78119"/>
                </a:lnTo>
                <a:lnTo>
                  <a:pt x="344043" y="46101"/>
                </a:lnTo>
                <a:lnTo>
                  <a:pt x="303445" y="21448"/>
                </a:lnTo>
                <a:lnTo>
                  <a:pt x="255227" y="5602"/>
                </a:lnTo>
                <a:lnTo>
                  <a:pt x="20116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57367" y="205435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2"/>
                </a:lnTo>
                <a:lnTo>
                  <a:pt x="76200" y="36575"/>
                </a:lnTo>
                <a:lnTo>
                  <a:pt x="60960" y="48768"/>
                </a:lnTo>
                <a:lnTo>
                  <a:pt x="45720" y="57912"/>
                </a:lnTo>
                <a:lnTo>
                  <a:pt x="15240" y="100584"/>
                </a:lnTo>
                <a:lnTo>
                  <a:pt x="0" y="146303"/>
                </a:lnTo>
                <a:lnTo>
                  <a:pt x="0" y="182880"/>
                </a:lnTo>
                <a:lnTo>
                  <a:pt x="3048" y="198120"/>
                </a:lnTo>
                <a:lnTo>
                  <a:pt x="15240" y="228600"/>
                </a:lnTo>
                <a:lnTo>
                  <a:pt x="24384" y="243839"/>
                </a:lnTo>
                <a:lnTo>
                  <a:pt x="36576" y="256032"/>
                </a:lnTo>
                <a:lnTo>
                  <a:pt x="45720" y="268224"/>
                </a:lnTo>
                <a:lnTo>
                  <a:pt x="76200" y="292608"/>
                </a:lnTo>
                <a:lnTo>
                  <a:pt x="91440" y="301751"/>
                </a:lnTo>
                <a:lnTo>
                  <a:pt x="109728" y="307848"/>
                </a:lnTo>
                <a:lnTo>
                  <a:pt x="128016" y="316992"/>
                </a:lnTo>
                <a:lnTo>
                  <a:pt x="146304" y="320039"/>
                </a:lnTo>
                <a:lnTo>
                  <a:pt x="164592" y="326136"/>
                </a:lnTo>
                <a:lnTo>
                  <a:pt x="185928" y="329184"/>
                </a:lnTo>
                <a:lnTo>
                  <a:pt x="207264" y="329184"/>
                </a:lnTo>
                <a:lnTo>
                  <a:pt x="228600" y="326136"/>
                </a:lnTo>
                <a:lnTo>
                  <a:pt x="249936" y="326136"/>
                </a:lnTo>
                <a:lnTo>
                  <a:pt x="268224" y="320039"/>
                </a:lnTo>
                <a:lnTo>
                  <a:pt x="289560" y="316992"/>
                </a:lnTo>
                <a:lnTo>
                  <a:pt x="207264" y="316992"/>
                </a:lnTo>
                <a:lnTo>
                  <a:pt x="185928" y="313944"/>
                </a:lnTo>
                <a:lnTo>
                  <a:pt x="167640" y="313944"/>
                </a:lnTo>
                <a:lnTo>
                  <a:pt x="149352" y="307848"/>
                </a:lnTo>
                <a:lnTo>
                  <a:pt x="131064" y="304800"/>
                </a:lnTo>
                <a:lnTo>
                  <a:pt x="112776" y="295656"/>
                </a:lnTo>
                <a:lnTo>
                  <a:pt x="97536" y="289560"/>
                </a:lnTo>
                <a:lnTo>
                  <a:pt x="67056" y="271272"/>
                </a:lnTo>
                <a:lnTo>
                  <a:pt x="54864" y="259080"/>
                </a:lnTo>
                <a:lnTo>
                  <a:pt x="45720" y="246887"/>
                </a:lnTo>
                <a:lnTo>
                  <a:pt x="33528" y="234696"/>
                </a:lnTo>
                <a:lnTo>
                  <a:pt x="27432" y="222503"/>
                </a:lnTo>
                <a:lnTo>
                  <a:pt x="21336" y="207263"/>
                </a:lnTo>
                <a:lnTo>
                  <a:pt x="15240" y="195072"/>
                </a:lnTo>
                <a:lnTo>
                  <a:pt x="12192" y="179832"/>
                </a:lnTo>
                <a:lnTo>
                  <a:pt x="12192" y="149351"/>
                </a:lnTo>
                <a:lnTo>
                  <a:pt x="15240" y="134112"/>
                </a:lnTo>
                <a:lnTo>
                  <a:pt x="21336" y="118872"/>
                </a:lnTo>
                <a:lnTo>
                  <a:pt x="27432" y="106680"/>
                </a:lnTo>
                <a:lnTo>
                  <a:pt x="33528" y="91439"/>
                </a:lnTo>
                <a:lnTo>
                  <a:pt x="45720" y="79248"/>
                </a:lnTo>
                <a:lnTo>
                  <a:pt x="54864" y="67056"/>
                </a:lnTo>
                <a:lnTo>
                  <a:pt x="67056" y="57912"/>
                </a:lnTo>
                <a:lnTo>
                  <a:pt x="112776" y="30480"/>
                </a:lnTo>
                <a:lnTo>
                  <a:pt x="149352" y="18287"/>
                </a:lnTo>
                <a:lnTo>
                  <a:pt x="167640" y="15239"/>
                </a:lnTo>
                <a:lnTo>
                  <a:pt x="188976" y="12192"/>
                </a:lnTo>
                <a:lnTo>
                  <a:pt x="289560" y="12192"/>
                </a:lnTo>
                <a:lnTo>
                  <a:pt x="268224" y="6096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29" h="329564">
                <a:moveTo>
                  <a:pt x="289560" y="12192"/>
                </a:moveTo>
                <a:lnTo>
                  <a:pt x="228600" y="12192"/>
                </a:lnTo>
                <a:lnTo>
                  <a:pt x="265176" y="18287"/>
                </a:lnTo>
                <a:lnTo>
                  <a:pt x="301752" y="30480"/>
                </a:lnTo>
                <a:lnTo>
                  <a:pt x="347472" y="57912"/>
                </a:lnTo>
                <a:lnTo>
                  <a:pt x="381000" y="91439"/>
                </a:lnTo>
                <a:lnTo>
                  <a:pt x="402336" y="149351"/>
                </a:lnTo>
                <a:lnTo>
                  <a:pt x="402336" y="179832"/>
                </a:lnTo>
                <a:lnTo>
                  <a:pt x="381000" y="234696"/>
                </a:lnTo>
                <a:lnTo>
                  <a:pt x="359664" y="259080"/>
                </a:lnTo>
                <a:lnTo>
                  <a:pt x="347472" y="271272"/>
                </a:lnTo>
                <a:lnTo>
                  <a:pt x="301752" y="298703"/>
                </a:lnTo>
                <a:lnTo>
                  <a:pt x="283464" y="304800"/>
                </a:lnTo>
                <a:lnTo>
                  <a:pt x="265176" y="307848"/>
                </a:lnTo>
                <a:lnTo>
                  <a:pt x="246887" y="313944"/>
                </a:lnTo>
                <a:lnTo>
                  <a:pt x="228600" y="313944"/>
                </a:lnTo>
                <a:lnTo>
                  <a:pt x="207264" y="316992"/>
                </a:lnTo>
                <a:lnTo>
                  <a:pt x="289560" y="316992"/>
                </a:lnTo>
                <a:lnTo>
                  <a:pt x="307848" y="307848"/>
                </a:lnTo>
                <a:lnTo>
                  <a:pt x="323088" y="301751"/>
                </a:lnTo>
                <a:lnTo>
                  <a:pt x="341376" y="292608"/>
                </a:lnTo>
                <a:lnTo>
                  <a:pt x="353568" y="280415"/>
                </a:lnTo>
                <a:lnTo>
                  <a:pt x="368808" y="268224"/>
                </a:lnTo>
                <a:lnTo>
                  <a:pt x="399288" y="228600"/>
                </a:lnTo>
                <a:lnTo>
                  <a:pt x="414528" y="182880"/>
                </a:lnTo>
                <a:lnTo>
                  <a:pt x="414528" y="179832"/>
                </a:lnTo>
                <a:lnTo>
                  <a:pt x="417576" y="164592"/>
                </a:lnTo>
                <a:lnTo>
                  <a:pt x="399288" y="100584"/>
                </a:lnTo>
                <a:lnTo>
                  <a:pt x="368808" y="57912"/>
                </a:lnTo>
                <a:lnTo>
                  <a:pt x="323088" y="27432"/>
                </a:lnTo>
                <a:lnTo>
                  <a:pt x="304800" y="18287"/>
                </a:lnTo>
                <a:lnTo>
                  <a:pt x="289560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542020" y="2548129"/>
            <a:ext cx="240220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061085" algn="l"/>
                <a:tab pos="2261870" algn="l"/>
              </a:tabLst>
            </a:pPr>
            <a:r>
              <a:rPr sz="2700" spc="-7" baseline="1543">
                <a:latin typeface="Times New Roman"/>
                <a:cs typeface="Times New Roman"/>
              </a:rPr>
              <a:t>D	</a:t>
            </a:r>
            <a:r>
              <a:rPr spc="-5">
                <a:latin typeface="Times New Roman"/>
                <a:cs typeface="Times New Roman"/>
              </a:rPr>
              <a:t>E	</a:t>
            </a:r>
            <a:r>
              <a:rPr sz="2700" spc="-7" baseline="1543">
                <a:latin typeface="Times New Roman"/>
                <a:cs typeface="Times New Roman"/>
              </a:rPr>
              <a:t>F</a:t>
            </a:r>
            <a:endParaRPr sz="2700" baseline="154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646160" y="3215640"/>
            <a:ext cx="2426335" cy="2707005"/>
          </a:xfrm>
          <a:custGeom>
            <a:avLst/>
            <a:gdLst/>
            <a:ahLst/>
            <a:cxnLst/>
            <a:rect l="l" t="t" r="r" b="b"/>
            <a:pathLst>
              <a:path w="2426334" h="2707004">
                <a:moveTo>
                  <a:pt x="2426208" y="0"/>
                </a:moveTo>
                <a:lnTo>
                  <a:pt x="0" y="0"/>
                </a:lnTo>
                <a:lnTo>
                  <a:pt x="0" y="2706624"/>
                </a:lnTo>
                <a:lnTo>
                  <a:pt x="2426208" y="2706624"/>
                </a:lnTo>
                <a:lnTo>
                  <a:pt x="2426208" y="2700528"/>
                </a:lnTo>
                <a:lnTo>
                  <a:pt x="12192" y="2700528"/>
                </a:lnTo>
                <a:lnTo>
                  <a:pt x="6096" y="2694432"/>
                </a:lnTo>
                <a:lnTo>
                  <a:pt x="12192" y="2694432"/>
                </a:lnTo>
                <a:lnTo>
                  <a:pt x="12192" y="12192"/>
                </a:lnTo>
                <a:lnTo>
                  <a:pt x="6096" y="12192"/>
                </a:lnTo>
                <a:lnTo>
                  <a:pt x="12192" y="6096"/>
                </a:lnTo>
                <a:lnTo>
                  <a:pt x="2426208" y="6096"/>
                </a:lnTo>
                <a:lnTo>
                  <a:pt x="2426208" y="0"/>
                </a:lnTo>
                <a:close/>
              </a:path>
              <a:path w="2426334" h="2707004">
                <a:moveTo>
                  <a:pt x="12192" y="2694432"/>
                </a:moveTo>
                <a:lnTo>
                  <a:pt x="6096" y="2694432"/>
                </a:lnTo>
                <a:lnTo>
                  <a:pt x="12192" y="2700528"/>
                </a:lnTo>
                <a:lnTo>
                  <a:pt x="12192" y="2694432"/>
                </a:lnTo>
                <a:close/>
              </a:path>
              <a:path w="2426334" h="2707004">
                <a:moveTo>
                  <a:pt x="2410968" y="2694432"/>
                </a:moveTo>
                <a:lnTo>
                  <a:pt x="12192" y="2694432"/>
                </a:lnTo>
                <a:lnTo>
                  <a:pt x="12192" y="2700528"/>
                </a:lnTo>
                <a:lnTo>
                  <a:pt x="2410968" y="2700528"/>
                </a:lnTo>
                <a:lnTo>
                  <a:pt x="2410968" y="2694432"/>
                </a:lnTo>
                <a:close/>
              </a:path>
              <a:path w="2426334" h="2707004">
                <a:moveTo>
                  <a:pt x="2410968" y="6096"/>
                </a:moveTo>
                <a:lnTo>
                  <a:pt x="2410968" y="2700528"/>
                </a:lnTo>
                <a:lnTo>
                  <a:pt x="2417064" y="2694432"/>
                </a:lnTo>
                <a:lnTo>
                  <a:pt x="2426208" y="2694432"/>
                </a:lnTo>
                <a:lnTo>
                  <a:pt x="2426208" y="12192"/>
                </a:lnTo>
                <a:lnTo>
                  <a:pt x="2417064" y="12192"/>
                </a:lnTo>
                <a:lnTo>
                  <a:pt x="2410968" y="6096"/>
                </a:lnTo>
                <a:close/>
              </a:path>
              <a:path w="2426334" h="2707004">
                <a:moveTo>
                  <a:pt x="2426208" y="2694432"/>
                </a:moveTo>
                <a:lnTo>
                  <a:pt x="2417064" y="2694432"/>
                </a:lnTo>
                <a:lnTo>
                  <a:pt x="2410968" y="2700528"/>
                </a:lnTo>
                <a:lnTo>
                  <a:pt x="2426208" y="2700528"/>
                </a:lnTo>
                <a:lnTo>
                  <a:pt x="2426208" y="2694432"/>
                </a:lnTo>
                <a:close/>
              </a:path>
              <a:path w="2426334" h="2707004">
                <a:moveTo>
                  <a:pt x="12192" y="6096"/>
                </a:moveTo>
                <a:lnTo>
                  <a:pt x="6096" y="12192"/>
                </a:lnTo>
                <a:lnTo>
                  <a:pt x="12192" y="12192"/>
                </a:lnTo>
                <a:lnTo>
                  <a:pt x="12192" y="6096"/>
                </a:lnTo>
                <a:close/>
              </a:path>
              <a:path w="2426334" h="2707004">
                <a:moveTo>
                  <a:pt x="2410968" y="6096"/>
                </a:moveTo>
                <a:lnTo>
                  <a:pt x="12192" y="6096"/>
                </a:lnTo>
                <a:lnTo>
                  <a:pt x="12192" y="12192"/>
                </a:lnTo>
                <a:lnTo>
                  <a:pt x="2410968" y="12192"/>
                </a:lnTo>
                <a:lnTo>
                  <a:pt x="2410968" y="6096"/>
                </a:lnTo>
                <a:close/>
              </a:path>
              <a:path w="2426334" h="2707004">
                <a:moveTo>
                  <a:pt x="2426208" y="6096"/>
                </a:moveTo>
                <a:lnTo>
                  <a:pt x="2410968" y="6096"/>
                </a:lnTo>
                <a:lnTo>
                  <a:pt x="2417064" y="12192"/>
                </a:lnTo>
                <a:lnTo>
                  <a:pt x="2426208" y="12192"/>
                </a:lnTo>
                <a:lnTo>
                  <a:pt x="2426208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652257" y="3221735"/>
            <a:ext cx="2411095" cy="2274982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40640" rIns="0" bIns="0" rtlCol="0">
            <a:spAutoFit/>
          </a:bodyPr>
          <a:lstStyle/>
          <a:p>
            <a:pPr marL="237490" marR="544830">
              <a:lnSpc>
                <a:spcPct val="200000"/>
              </a:lnSpc>
              <a:spcBef>
                <a:spcPts val="320"/>
              </a:spcBef>
            </a:pPr>
            <a:r>
              <a:rPr sz="1600">
                <a:latin typeface="Verdana"/>
                <a:cs typeface="Verdana"/>
              </a:rPr>
              <a:t>Queue </a:t>
            </a:r>
            <a:r>
              <a:rPr sz="1600" spc="5">
                <a:latin typeface="Verdana"/>
                <a:cs typeface="Verdana"/>
              </a:rPr>
              <a:t>= {S}  </a:t>
            </a:r>
            <a:r>
              <a:rPr sz="1600">
                <a:latin typeface="Verdana"/>
                <a:cs typeface="Verdana"/>
              </a:rPr>
              <a:t>Select </a:t>
            </a:r>
            <a:r>
              <a:rPr sz="1600" spc="5">
                <a:latin typeface="Verdana"/>
                <a:cs typeface="Verdana"/>
              </a:rPr>
              <a:t>S  </a:t>
            </a:r>
            <a:r>
              <a:rPr sz="1600">
                <a:latin typeface="Verdana"/>
                <a:cs typeface="Verdana"/>
              </a:rPr>
              <a:t>Goal(S) </a:t>
            </a:r>
            <a:r>
              <a:rPr sz="1600" spc="5">
                <a:latin typeface="Verdana"/>
                <a:cs typeface="Verdana"/>
              </a:rPr>
              <a:t>=</a:t>
            </a:r>
            <a:r>
              <a:rPr sz="1600" spc="-114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true?</a:t>
            </a: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237490">
              <a:spcBef>
                <a:spcPts val="1655"/>
              </a:spcBef>
            </a:pPr>
            <a:r>
              <a:rPr sz="1600" spc="10">
                <a:latin typeface="Verdana"/>
                <a:cs typeface="Verdana"/>
              </a:rPr>
              <a:t>If </a:t>
            </a:r>
            <a:r>
              <a:rPr sz="1600">
                <a:latin typeface="Verdana"/>
                <a:cs typeface="Verdana"/>
              </a:rPr>
              <a:t>not,</a:t>
            </a:r>
            <a:r>
              <a:rPr sz="1600" spc="-12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Expand(S)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46160" y="3215640"/>
            <a:ext cx="2426335" cy="2707005"/>
          </a:xfrm>
          <a:custGeom>
            <a:avLst/>
            <a:gdLst/>
            <a:ahLst/>
            <a:cxnLst/>
            <a:rect l="l" t="t" r="r" b="b"/>
            <a:pathLst>
              <a:path w="2426334" h="2707004">
                <a:moveTo>
                  <a:pt x="2426208" y="0"/>
                </a:moveTo>
                <a:lnTo>
                  <a:pt x="0" y="0"/>
                </a:lnTo>
                <a:lnTo>
                  <a:pt x="0" y="2706624"/>
                </a:lnTo>
                <a:lnTo>
                  <a:pt x="2426208" y="2706624"/>
                </a:lnTo>
                <a:lnTo>
                  <a:pt x="2426208" y="2700528"/>
                </a:lnTo>
                <a:lnTo>
                  <a:pt x="12192" y="2700528"/>
                </a:lnTo>
                <a:lnTo>
                  <a:pt x="6096" y="2694432"/>
                </a:lnTo>
                <a:lnTo>
                  <a:pt x="12192" y="2694432"/>
                </a:lnTo>
                <a:lnTo>
                  <a:pt x="12192" y="12192"/>
                </a:lnTo>
                <a:lnTo>
                  <a:pt x="6096" y="12192"/>
                </a:lnTo>
                <a:lnTo>
                  <a:pt x="12192" y="6096"/>
                </a:lnTo>
                <a:lnTo>
                  <a:pt x="2426208" y="6096"/>
                </a:lnTo>
                <a:lnTo>
                  <a:pt x="2426208" y="0"/>
                </a:lnTo>
                <a:close/>
              </a:path>
              <a:path w="2426334" h="2707004">
                <a:moveTo>
                  <a:pt x="12192" y="2694432"/>
                </a:moveTo>
                <a:lnTo>
                  <a:pt x="6096" y="2694432"/>
                </a:lnTo>
                <a:lnTo>
                  <a:pt x="12192" y="2700528"/>
                </a:lnTo>
                <a:lnTo>
                  <a:pt x="12192" y="2694432"/>
                </a:lnTo>
                <a:close/>
              </a:path>
              <a:path w="2426334" h="2707004">
                <a:moveTo>
                  <a:pt x="2410968" y="2694432"/>
                </a:moveTo>
                <a:lnTo>
                  <a:pt x="12192" y="2694432"/>
                </a:lnTo>
                <a:lnTo>
                  <a:pt x="12192" y="2700528"/>
                </a:lnTo>
                <a:lnTo>
                  <a:pt x="2410968" y="2700528"/>
                </a:lnTo>
                <a:lnTo>
                  <a:pt x="2410968" y="2694432"/>
                </a:lnTo>
                <a:close/>
              </a:path>
              <a:path w="2426334" h="2707004">
                <a:moveTo>
                  <a:pt x="2410968" y="6096"/>
                </a:moveTo>
                <a:lnTo>
                  <a:pt x="2410968" y="2700528"/>
                </a:lnTo>
                <a:lnTo>
                  <a:pt x="2417064" y="2694432"/>
                </a:lnTo>
                <a:lnTo>
                  <a:pt x="2426208" y="2694432"/>
                </a:lnTo>
                <a:lnTo>
                  <a:pt x="2426208" y="12192"/>
                </a:lnTo>
                <a:lnTo>
                  <a:pt x="2417064" y="12192"/>
                </a:lnTo>
                <a:lnTo>
                  <a:pt x="2410968" y="6096"/>
                </a:lnTo>
                <a:close/>
              </a:path>
              <a:path w="2426334" h="2707004">
                <a:moveTo>
                  <a:pt x="2426208" y="2694432"/>
                </a:moveTo>
                <a:lnTo>
                  <a:pt x="2417064" y="2694432"/>
                </a:lnTo>
                <a:lnTo>
                  <a:pt x="2410968" y="2700528"/>
                </a:lnTo>
                <a:lnTo>
                  <a:pt x="2426208" y="2700528"/>
                </a:lnTo>
                <a:lnTo>
                  <a:pt x="2426208" y="2694432"/>
                </a:lnTo>
                <a:close/>
              </a:path>
              <a:path w="2426334" h="2707004">
                <a:moveTo>
                  <a:pt x="12192" y="6096"/>
                </a:moveTo>
                <a:lnTo>
                  <a:pt x="6096" y="12192"/>
                </a:lnTo>
                <a:lnTo>
                  <a:pt x="12192" y="12192"/>
                </a:lnTo>
                <a:lnTo>
                  <a:pt x="12192" y="6096"/>
                </a:lnTo>
                <a:close/>
              </a:path>
              <a:path w="2426334" h="2707004">
                <a:moveTo>
                  <a:pt x="2410968" y="6096"/>
                </a:moveTo>
                <a:lnTo>
                  <a:pt x="12192" y="6096"/>
                </a:lnTo>
                <a:lnTo>
                  <a:pt x="12192" y="12192"/>
                </a:lnTo>
                <a:lnTo>
                  <a:pt x="2410968" y="12192"/>
                </a:lnTo>
                <a:lnTo>
                  <a:pt x="2410968" y="6096"/>
                </a:lnTo>
                <a:close/>
              </a:path>
              <a:path w="2426334" h="2707004">
                <a:moveTo>
                  <a:pt x="2426208" y="6096"/>
                </a:moveTo>
                <a:lnTo>
                  <a:pt x="2410968" y="6096"/>
                </a:lnTo>
                <a:lnTo>
                  <a:pt x="2417064" y="12192"/>
                </a:lnTo>
                <a:lnTo>
                  <a:pt x="2426208" y="12192"/>
                </a:lnTo>
                <a:lnTo>
                  <a:pt x="2426208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48939" y="880872"/>
            <a:ext cx="281559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BFS Search</a:t>
            </a:r>
            <a:r>
              <a:rPr sz="2400" b="1" spc="-5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57367" y="205435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2"/>
                </a:lnTo>
                <a:lnTo>
                  <a:pt x="76200" y="36575"/>
                </a:lnTo>
                <a:lnTo>
                  <a:pt x="60960" y="48768"/>
                </a:lnTo>
                <a:lnTo>
                  <a:pt x="45720" y="57912"/>
                </a:lnTo>
                <a:lnTo>
                  <a:pt x="15240" y="100584"/>
                </a:lnTo>
                <a:lnTo>
                  <a:pt x="0" y="146303"/>
                </a:lnTo>
                <a:lnTo>
                  <a:pt x="0" y="182880"/>
                </a:lnTo>
                <a:lnTo>
                  <a:pt x="3048" y="198120"/>
                </a:lnTo>
                <a:lnTo>
                  <a:pt x="15240" y="228600"/>
                </a:lnTo>
                <a:lnTo>
                  <a:pt x="24384" y="243839"/>
                </a:lnTo>
                <a:lnTo>
                  <a:pt x="36576" y="256032"/>
                </a:lnTo>
                <a:lnTo>
                  <a:pt x="45720" y="268224"/>
                </a:lnTo>
                <a:lnTo>
                  <a:pt x="76200" y="292608"/>
                </a:lnTo>
                <a:lnTo>
                  <a:pt x="91440" y="301751"/>
                </a:lnTo>
                <a:lnTo>
                  <a:pt x="109728" y="307848"/>
                </a:lnTo>
                <a:lnTo>
                  <a:pt x="128016" y="316992"/>
                </a:lnTo>
                <a:lnTo>
                  <a:pt x="146304" y="320039"/>
                </a:lnTo>
                <a:lnTo>
                  <a:pt x="164592" y="326136"/>
                </a:lnTo>
                <a:lnTo>
                  <a:pt x="185928" y="329184"/>
                </a:lnTo>
                <a:lnTo>
                  <a:pt x="207264" y="329184"/>
                </a:lnTo>
                <a:lnTo>
                  <a:pt x="228600" y="326136"/>
                </a:lnTo>
                <a:lnTo>
                  <a:pt x="249936" y="326136"/>
                </a:lnTo>
                <a:lnTo>
                  <a:pt x="268224" y="320039"/>
                </a:lnTo>
                <a:lnTo>
                  <a:pt x="289560" y="316992"/>
                </a:lnTo>
                <a:lnTo>
                  <a:pt x="207264" y="316992"/>
                </a:lnTo>
                <a:lnTo>
                  <a:pt x="185928" y="313944"/>
                </a:lnTo>
                <a:lnTo>
                  <a:pt x="167640" y="313944"/>
                </a:lnTo>
                <a:lnTo>
                  <a:pt x="149352" y="307848"/>
                </a:lnTo>
                <a:lnTo>
                  <a:pt x="131064" y="304800"/>
                </a:lnTo>
                <a:lnTo>
                  <a:pt x="112776" y="295656"/>
                </a:lnTo>
                <a:lnTo>
                  <a:pt x="97536" y="289560"/>
                </a:lnTo>
                <a:lnTo>
                  <a:pt x="67056" y="271272"/>
                </a:lnTo>
                <a:lnTo>
                  <a:pt x="54864" y="259080"/>
                </a:lnTo>
                <a:lnTo>
                  <a:pt x="45720" y="246887"/>
                </a:lnTo>
                <a:lnTo>
                  <a:pt x="33528" y="234696"/>
                </a:lnTo>
                <a:lnTo>
                  <a:pt x="27432" y="222503"/>
                </a:lnTo>
                <a:lnTo>
                  <a:pt x="21336" y="207263"/>
                </a:lnTo>
                <a:lnTo>
                  <a:pt x="15240" y="195072"/>
                </a:lnTo>
                <a:lnTo>
                  <a:pt x="12192" y="179832"/>
                </a:lnTo>
                <a:lnTo>
                  <a:pt x="12192" y="149351"/>
                </a:lnTo>
                <a:lnTo>
                  <a:pt x="15240" y="134112"/>
                </a:lnTo>
                <a:lnTo>
                  <a:pt x="21336" y="118872"/>
                </a:lnTo>
                <a:lnTo>
                  <a:pt x="27432" y="106680"/>
                </a:lnTo>
                <a:lnTo>
                  <a:pt x="33528" y="91439"/>
                </a:lnTo>
                <a:lnTo>
                  <a:pt x="45720" y="79248"/>
                </a:lnTo>
                <a:lnTo>
                  <a:pt x="54864" y="67056"/>
                </a:lnTo>
                <a:lnTo>
                  <a:pt x="67056" y="57912"/>
                </a:lnTo>
                <a:lnTo>
                  <a:pt x="112776" y="30480"/>
                </a:lnTo>
                <a:lnTo>
                  <a:pt x="149352" y="18287"/>
                </a:lnTo>
                <a:lnTo>
                  <a:pt x="167640" y="15239"/>
                </a:lnTo>
                <a:lnTo>
                  <a:pt x="188976" y="12192"/>
                </a:lnTo>
                <a:lnTo>
                  <a:pt x="289560" y="12192"/>
                </a:lnTo>
                <a:lnTo>
                  <a:pt x="268224" y="6096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29" h="329564">
                <a:moveTo>
                  <a:pt x="289560" y="12192"/>
                </a:moveTo>
                <a:lnTo>
                  <a:pt x="228600" y="12192"/>
                </a:lnTo>
                <a:lnTo>
                  <a:pt x="265176" y="18287"/>
                </a:lnTo>
                <a:lnTo>
                  <a:pt x="301752" y="30480"/>
                </a:lnTo>
                <a:lnTo>
                  <a:pt x="347472" y="57912"/>
                </a:lnTo>
                <a:lnTo>
                  <a:pt x="381000" y="91439"/>
                </a:lnTo>
                <a:lnTo>
                  <a:pt x="402336" y="149351"/>
                </a:lnTo>
                <a:lnTo>
                  <a:pt x="402336" y="179832"/>
                </a:lnTo>
                <a:lnTo>
                  <a:pt x="381000" y="234696"/>
                </a:lnTo>
                <a:lnTo>
                  <a:pt x="359664" y="259080"/>
                </a:lnTo>
                <a:lnTo>
                  <a:pt x="347472" y="271272"/>
                </a:lnTo>
                <a:lnTo>
                  <a:pt x="301752" y="298703"/>
                </a:lnTo>
                <a:lnTo>
                  <a:pt x="283464" y="304800"/>
                </a:lnTo>
                <a:lnTo>
                  <a:pt x="265176" y="307848"/>
                </a:lnTo>
                <a:lnTo>
                  <a:pt x="246887" y="313944"/>
                </a:lnTo>
                <a:lnTo>
                  <a:pt x="228600" y="313944"/>
                </a:lnTo>
                <a:lnTo>
                  <a:pt x="207264" y="316992"/>
                </a:lnTo>
                <a:lnTo>
                  <a:pt x="289560" y="316992"/>
                </a:lnTo>
                <a:lnTo>
                  <a:pt x="307848" y="307848"/>
                </a:lnTo>
                <a:lnTo>
                  <a:pt x="323088" y="301751"/>
                </a:lnTo>
                <a:lnTo>
                  <a:pt x="341376" y="292608"/>
                </a:lnTo>
                <a:lnTo>
                  <a:pt x="353568" y="280415"/>
                </a:lnTo>
                <a:lnTo>
                  <a:pt x="368808" y="268224"/>
                </a:lnTo>
                <a:lnTo>
                  <a:pt x="399288" y="228600"/>
                </a:lnTo>
                <a:lnTo>
                  <a:pt x="414528" y="182880"/>
                </a:lnTo>
                <a:lnTo>
                  <a:pt x="414528" y="179832"/>
                </a:lnTo>
                <a:lnTo>
                  <a:pt x="417576" y="164592"/>
                </a:lnTo>
                <a:lnTo>
                  <a:pt x="399288" y="100584"/>
                </a:lnTo>
                <a:lnTo>
                  <a:pt x="368808" y="57912"/>
                </a:lnTo>
                <a:lnTo>
                  <a:pt x="323088" y="27432"/>
                </a:lnTo>
                <a:lnTo>
                  <a:pt x="304800" y="18287"/>
                </a:lnTo>
                <a:lnTo>
                  <a:pt x="289560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542020" y="2548129"/>
            <a:ext cx="240220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061085" algn="l"/>
                <a:tab pos="2261870" algn="l"/>
              </a:tabLst>
            </a:pPr>
            <a:r>
              <a:rPr sz="2700" spc="-7" baseline="1543">
                <a:latin typeface="Times New Roman"/>
                <a:cs typeface="Times New Roman"/>
              </a:rPr>
              <a:t>D	</a:t>
            </a:r>
            <a:r>
              <a:rPr spc="-5">
                <a:latin typeface="Times New Roman"/>
                <a:cs typeface="Times New Roman"/>
              </a:rPr>
              <a:t>E	</a:t>
            </a:r>
            <a:r>
              <a:rPr sz="2700" spc="-7" baseline="1543">
                <a:latin typeface="Times New Roman"/>
                <a:cs typeface="Times New Roman"/>
              </a:rPr>
              <a:t>F</a:t>
            </a:r>
            <a:endParaRPr sz="2700" baseline="154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99839" y="2755393"/>
            <a:ext cx="402590" cy="314325"/>
          </a:xfrm>
          <a:custGeom>
            <a:avLst/>
            <a:gdLst/>
            <a:ahLst/>
            <a:cxnLst/>
            <a:rect l="l" t="t" r="r" b="b"/>
            <a:pathLst>
              <a:path w="402589" h="314325">
                <a:moveTo>
                  <a:pt x="201168" y="0"/>
                </a:moveTo>
                <a:lnTo>
                  <a:pt x="147108" y="5587"/>
                </a:lnTo>
                <a:lnTo>
                  <a:pt x="98890" y="21335"/>
                </a:lnTo>
                <a:lnTo>
                  <a:pt x="58293" y="45719"/>
                </a:lnTo>
                <a:lnTo>
                  <a:pt x="27093" y="77215"/>
                </a:lnTo>
                <a:lnTo>
                  <a:pt x="7069" y="114300"/>
                </a:lnTo>
                <a:lnTo>
                  <a:pt x="0" y="155448"/>
                </a:lnTo>
                <a:lnTo>
                  <a:pt x="7069" y="197880"/>
                </a:lnTo>
                <a:lnTo>
                  <a:pt x="27093" y="235824"/>
                </a:lnTo>
                <a:lnTo>
                  <a:pt x="58293" y="267842"/>
                </a:lnTo>
                <a:lnTo>
                  <a:pt x="98890" y="292495"/>
                </a:lnTo>
                <a:lnTo>
                  <a:pt x="147108" y="308341"/>
                </a:lnTo>
                <a:lnTo>
                  <a:pt x="201168" y="313944"/>
                </a:lnTo>
                <a:lnTo>
                  <a:pt x="255227" y="308341"/>
                </a:lnTo>
                <a:lnTo>
                  <a:pt x="303445" y="292495"/>
                </a:lnTo>
                <a:lnTo>
                  <a:pt x="344043" y="267843"/>
                </a:lnTo>
                <a:lnTo>
                  <a:pt x="375242" y="235824"/>
                </a:lnTo>
                <a:lnTo>
                  <a:pt x="395266" y="197880"/>
                </a:lnTo>
                <a:lnTo>
                  <a:pt x="402336" y="155448"/>
                </a:lnTo>
                <a:lnTo>
                  <a:pt x="395266" y="114300"/>
                </a:lnTo>
                <a:lnTo>
                  <a:pt x="375242" y="77216"/>
                </a:lnTo>
                <a:lnTo>
                  <a:pt x="344042" y="45720"/>
                </a:lnTo>
                <a:lnTo>
                  <a:pt x="303445" y="21336"/>
                </a:lnTo>
                <a:lnTo>
                  <a:pt x="255227" y="5587"/>
                </a:lnTo>
                <a:lnTo>
                  <a:pt x="20116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93744" y="2749295"/>
            <a:ext cx="417830" cy="326390"/>
          </a:xfrm>
          <a:custGeom>
            <a:avLst/>
            <a:gdLst/>
            <a:ahLst/>
            <a:cxnLst/>
            <a:rect l="l" t="t" r="r" b="b"/>
            <a:pathLst>
              <a:path w="417830" h="326389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1"/>
                </a:lnTo>
                <a:lnTo>
                  <a:pt x="60960" y="45719"/>
                </a:lnTo>
                <a:lnTo>
                  <a:pt x="24383" y="85343"/>
                </a:lnTo>
                <a:lnTo>
                  <a:pt x="15239" y="97536"/>
                </a:lnTo>
                <a:lnTo>
                  <a:pt x="9143" y="112775"/>
                </a:lnTo>
                <a:lnTo>
                  <a:pt x="3048" y="131063"/>
                </a:lnTo>
                <a:lnTo>
                  <a:pt x="0" y="146303"/>
                </a:lnTo>
                <a:lnTo>
                  <a:pt x="0" y="179831"/>
                </a:lnTo>
                <a:lnTo>
                  <a:pt x="3048" y="198119"/>
                </a:lnTo>
                <a:lnTo>
                  <a:pt x="15239" y="228600"/>
                </a:lnTo>
                <a:lnTo>
                  <a:pt x="24383" y="240791"/>
                </a:lnTo>
                <a:lnTo>
                  <a:pt x="36575" y="256031"/>
                </a:lnTo>
                <a:lnTo>
                  <a:pt x="45719" y="268224"/>
                </a:lnTo>
                <a:lnTo>
                  <a:pt x="91439" y="298703"/>
                </a:lnTo>
                <a:lnTo>
                  <a:pt x="146304" y="320039"/>
                </a:lnTo>
                <a:lnTo>
                  <a:pt x="185928" y="326136"/>
                </a:lnTo>
                <a:lnTo>
                  <a:pt x="228600" y="326136"/>
                </a:lnTo>
                <a:lnTo>
                  <a:pt x="249936" y="323088"/>
                </a:lnTo>
                <a:lnTo>
                  <a:pt x="268224" y="320039"/>
                </a:lnTo>
                <a:lnTo>
                  <a:pt x="289560" y="313943"/>
                </a:lnTo>
                <a:lnTo>
                  <a:pt x="185928" y="313943"/>
                </a:lnTo>
                <a:lnTo>
                  <a:pt x="149351" y="307848"/>
                </a:lnTo>
                <a:lnTo>
                  <a:pt x="112775" y="295655"/>
                </a:lnTo>
                <a:lnTo>
                  <a:pt x="97536" y="289559"/>
                </a:lnTo>
                <a:lnTo>
                  <a:pt x="82295" y="280415"/>
                </a:lnTo>
                <a:lnTo>
                  <a:pt x="67056" y="268224"/>
                </a:lnTo>
                <a:lnTo>
                  <a:pt x="54863" y="259079"/>
                </a:lnTo>
                <a:lnTo>
                  <a:pt x="45719" y="246887"/>
                </a:lnTo>
                <a:lnTo>
                  <a:pt x="33528" y="234695"/>
                </a:lnTo>
                <a:lnTo>
                  <a:pt x="27431" y="222503"/>
                </a:lnTo>
                <a:lnTo>
                  <a:pt x="15239" y="192024"/>
                </a:lnTo>
                <a:lnTo>
                  <a:pt x="12801" y="179831"/>
                </a:lnTo>
                <a:lnTo>
                  <a:pt x="12192" y="179831"/>
                </a:lnTo>
                <a:lnTo>
                  <a:pt x="12192" y="146303"/>
                </a:lnTo>
                <a:lnTo>
                  <a:pt x="12700" y="146303"/>
                </a:lnTo>
                <a:lnTo>
                  <a:pt x="15239" y="131063"/>
                </a:lnTo>
                <a:lnTo>
                  <a:pt x="21336" y="118871"/>
                </a:lnTo>
                <a:lnTo>
                  <a:pt x="27431" y="103631"/>
                </a:lnTo>
                <a:lnTo>
                  <a:pt x="33528" y="91439"/>
                </a:lnTo>
                <a:lnTo>
                  <a:pt x="45719" y="79248"/>
                </a:lnTo>
                <a:lnTo>
                  <a:pt x="54863" y="67055"/>
                </a:lnTo>
                <a:lnTo>
                  <a:pt x="67056" y="54863"/>
                </a:lnTo>
                <a:lnTo>
                  <a:pt x="112775" y="30479"/>
                </a:lnTo>
                <a:lnTo>
                  <a:pt x="149351" y="18287"/>
                </a:lnTo>
                <a:lnTo>
                  <a:pt x="188975" y="12191"/>
                </a:lnTo>
                <a:lnTo>
                  <a:pt x="289560" y="12191"/>
                </a:lnTo>
                <a:lnTo>
                  <a:pt x="268224" y="6095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30" h="326389">
                <a:moveTo>
                  <a:pt x="402336" y="176783"/>
                </a:moveTo>
                <a:lnTo>
                  <a:pt x="399288" y="192024"/>
                </a:lnTo>
                <a:lnTo>
                  <a:pt x="387095" y="222503"/>
                </a:lnTo>
                <a:lnTo>
                  <a:pt x="381000" y="234695"/>
                </a:lnTo>
                <a:lnTo>
                  <a:pt x="368807" y="246887"/>
                </a:lnTo>
                <a:lnTo>
                  <a:pt x="359663" y="259079"/>
                </a:lnTo>
                <a:lnTo>
                  <a:pt x="316992" y="289559"/>
                </a:lnTo>
                <a:lnTo>
                  <a:pt x="265175" y="307848"/>
                </a:lnTo>
                <a:lnTo>
                  <a:pt x="228600" y="313943"/>
                </a:lnTo>
                <a:lnTo>
                  <a:pt x="289560" y="313943"/>
                </a:lnTo>
                <a:lnTo>
                  <a:pt x="307848" y="307848"/>
                </a:lnTo>
                <a:lnTo>
                  <a:pt x="323088" y="298703"/>
                </a:lnTo>
                <a:lnTo>
                  <a:pt x="341375" y="289559"/>
                </a:lnTo>
                <a:lnTo>
                  <a:pt x="353568" y="280415"/>
                </a:lnTo>
                <a:lnTo>
                  <a:pt x="368807" y="268224"/>
                </a:lnTo>
                <a:lnTo>
                  <a:pt x="381000" y="256031"/>
                </a:lnTo>
                <a:lnTo>
                  <a:pt x="390144" y="240791"/>
                </a:lnTo>
                <a:lnTo>
                  <a:pt x="399288" y="228600"/>
                </a:lnTo>
                <a:lnTo>
                  <a:pt x="405383" y="213359"/>
                </a:lnTo>
                <a:lnTo>
                  <a:pt x="411480" y="195071"/>
                </a:lnTo>
                <a:lnTo>
                  <a:pt x="414528" y="179831"/>
                </a:lnTo>
                <a:lnTo>
                  <a:pt x="402336" y="179831"/>
                </a:lnTo>
                <a:lnTo>
                  <a:pt x="402336" y="176783"/>
                </a:lnTo>
                <a:close/>
              </a:path>
              <a:path w="417830" h="326389">
                <a:moveTo>
                  <a:pt x="12192" y="176783"/>
                </a:moveTo>
                <a:lnTo>
                  <a:pt x="12192" y="179831"/>
                </a:lnTo>
                <a:lnTo>
                  <a:pt x="12801" y="179831"/>
                </a:lnTo>
                <a:lnTo>
                  <a:pt x="12192" y="176783"/>
                </a:lnTo>
                <a:close/>
              </a:path>
              <a:path w="417830" h="326389">
                <a:moveTo>
                  <a:pt x="414528" y="146303"/>
                </a:moveTo>
                <a:lnTo>
                  <a:pt x="402336" y="146303"/>
                </a:lnTo>
                <a:lnTo>
                  <a:pt x="402336" y="179831"/>
                </a:lnTo>
                <a:lnTo>
                  <a:pt x="414528" y="179831"/>
                </a:lnTo>
                <a:lnTo>
                  <a:pt x="417575" y="161543"/>
                </a:lnTo>
                <a:lnTo>
                  <a:pt x="414528" y="146303"/>
                </a:lnTo>
                <a:close/>
              </a:path>
              <a:path w="417830" h="326389">
                <a:moveTo>
                  <a:pt x="12700" y="146303"/>
                </a:moveTo>
                <a:lnTo>
                  <a:pt x="12192" y="146303"/>
                </a:lnTo>
                <a:lnTo>
                  <a:pt x="12192" y="149351"/>
                </a:lnTo>
                <a:lnTo>
                  <a:pt x="12700" y="146303"/>
                </a:lnTo>
                <a:close/>
              </a:path>
              <a:path w="417830" h="326389">
                <a:moveTo>
                  <a:pt x="289560" y="12191"/>
                </a:moveTo>
                <a:lnTo>
                  <a:pt x="228600" y="12191"/>
                </a:lnTo>
                <a:lnTo>
                  <a:pt x="265175" y="18287"/>
                </a:lnTo>
                <a:lnTo>
                  <a:pt x="301751" y="30479"/>
                </a:lnTo>
                <a:lnTo>
                  <a:pt x="347472" y="54863"/>
                </a:lnTo>
                <a:lnTo>
                  <a:pt x="381000" y="91439"/>
                </a:lnTo>
                <a:lnTo>
                  <a:pt x="387095" y="103631"/>
                </a:lnTo>
                <a:lnTo>
                  <a:pt x="396239" y="118871"/>
                </a:lnTo>
                <a:lnTo>
                  <a:pt x="402336" y="149351"/>
                </a:lnTo>
                <a:lnTo>
                  <a:pt x="402336" y="146303"/>
                </a:lnTo>
                <a:lnTo>
                  <a:pt x="414528" y="146303"/>
                </a:lnTo>
                <a:lnTo>
                  <a:pt x="411480" y="128015"/>
                </a:lnTo>
                <a:lnTo>
                  <a:pt x="399288" y="97536"/>
                </a:lnTo>
                <a:lnTo>
                  <a:pt x="390144" y="85343"/>
                </a:lnTo>
                <a:lnTo>
                  <a:pt x="381000" y="70103"/>
                </a:lnTo>
                <a:lnTo>
                  <a:pt x="368807" y="57912"/>
                </a:lnTo>
                <a:lnTo>
                  <a:pt x="353568" y="45719"/>
                </a:lnTo>
                <a:lnTo>
                  <a:pt x="323088" y="27431"/>
                </a:lnTo>
                <a:lnTo>
                  <a:pt x="304800" y="18287"/>
                </a:lnTo>
                <a:lnTo>
                  <a:pt x="289560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42328" y="2734056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52984" y="3048"/>
                </a:moveTo>
                <a:lnTo>
                  <a:pt x="167639" y="3048"/>
                </a:lnTo>
                <a:lnTo>
                  <a:pt x="149351" y="9144"/>
                </a:lnTo>
                <a:lnTo>
                  <a:pt x="128016" y="15240"/>
                </a:lnTo>
                <a:lnTo>
                  <a:pt x="109727" y="21336"/>
                </a:lnTo>
                <a:lnTo>
                  <a:pt x="94487" y="30480"/>
                </a:lnTo>
                <a:lnTo>
                  <a:pt x="76200" y="39624"/>
                </a:lnTo>
                <a:lnTo>
                  <a:pt x="64008" y="48768"/>
                </a:lnTo>
                <a:lnTo>
                  <a:pt x="48768" y="60960"/>
                </a:lnTo>
                <a:lnTo>
                  <a:pt x="36575" y="73152"/>
                </a:lnTo>
                <a:lnTo>
                  <a:pt x="27432" y="88392"/>
                </a:lnTo>
                <a:lnTo>
                  <a:pt x="18287" y="100584"/>
                </a:lnTo>
                <a:lnTo>
                  <a:pt x="6096" y="131064"/>
                </a:lnTo>
                <a:lnTo>
                  <a:pt x="3048" y="149352"/>
                </a:lnTo>
                <a:lnTo>
                  <a:pt x="0" y="164592"/>
                </a:lnTo>
                <a:lnTo>
                  <a:pt x="12192" y="216408"/>
                </a:lnTo>
                <a:lnTo>
                  <a:pt x="27432" y="243840"/>
                </a:lnTo>
                <a:lnTo>
                  <a:pt x="36575" y="259080"/>
                </a:lnTo>
                <a:lnTo>
                  <a:pt x="94487" y="301752"/>
                </a:lnTo>
                <a:lnTo>
                  <a:pt x="149351" y="323088"/>
                </a:lnTo>
                <a:lnTo>
                  <a:pt x="188975" y="329184"/>
                </a:lnTo>
                <a:lnTo>
                  <a:pt x="231648" y="329184"/>
                </a:lnTo>
                <a:lnTo>
                  <a:pt x="252984" y="326136"/>
                </a:lnTo>
                <a:lnTo>
                  <a:pt x="271272" y="323088"/>
                </a:lnTo>
                <a:lnTo>
                  <a:pt x="292608" y="316992"/>
                </a:lnTo>
                <a:lnTo>
                  <a:pt x="188975" y="316992"/>
                </a:lnTo>
                <a:lnTo>
                  <a:pt x="152400" y="310896"/>
                </a:lnTo>
                <a:lnTo>
                  <a:pt x="115824" y="298704"/>
                </a:lnTo>
                <a:lnTo>
                  <a:pt x="70104" y="271272"/>
                </a:lnTo>
                <a:lnTo>
                  <a:pt x="36575" y="237744"/>
                </a:lnTo>
                <a:lnTo>
                  <a:pt x="30480" y="222504"/>
                </a:lnTo>
                <a:lnTo>
                  <a:pt x="21336" y="210312"/>
                </a:lnTo>
                <a:lnTo>
                  <a:pt x="15239" y="179832"/>
                </a:lnTo>
                <a:lnTo>
                  <a:pt x="15239" y="149352"/>
                </a:lnTo>
                <a:lnTo>
                  <a:pt x="18287" y="134112"/>
                </a:lnTo>
                <a:lnTo>
                  <a:pt x="21336" y="121920"/>
                </a:lnTo>
                <a:lnTo>
                  <a:pt x="30480" y="106680"/>
                </a:lnTo>
                <a:lnTo>
                  <a:pt x="36575" y="94488"/>
                </a:lnTo>
                <a:lnTo>
                  <a:pt x="48768" y="82296"/>
                </a:lnTo>
                <a:lnTo>
                  <a:pt x="57912" y="70104"/>
                </a:lnTo>
                <a:lnTo>
                  <a:pt x="70104" y="57912"/>
                </a:lnTo>
                <a:lnTo>
                  <a:pt x="100584" y="39624"/>
                </a:lnTo>
                <a:lnTo>
                  <a:pt x="115824" y="33528"/>
                </a:lnTo>
                <a:lnTo>
                  <a:pt x="134112" y="24384"/>
                </a:lnTo>
                <a:lnTo>
                  <a:pt x="188975" y="15240"/>
                </a:lnTo>
                <a:lnTo>
                  <a:pt x="295656" y="15240"/>
                </a:lnTo>
                <a:lnTo>
                  <a:pt x="289560" y="12192"/>
                </a:lnTo>
                <a:lnTo>
                  <a:pt x="271272" y="9144"/>
                </a:lnTo>
                <a:lnTo>
                  <a:pt x="252984" y="3048"/>
                </a:lnTo>
                <a:close/>
              </a:path>
              <a:path w="417829" h="329564">
                <a:moveTo>
                  <a:pt x="295656" y="15240"/>
                </a:moveTo>
                <a:lnTo>
                  <a:pt x="231648" y="15240"/>
                </a:lnTo>
                <a:lnTo>
                  <a:pt x="286512" y="24384"/>
                </a:lnTo>
                <a:lnTo>
                  <a:pt x="304800" y="33528"/>
                </a:lnTo>
                <a:lnTo>
                  <a:pt x="320039" y="39624"/>
                </a:lnTo>
                <a:lnTo>
                  <a:pt x="350520" y="57912"/>
                </a:lnTo>
                <a:lnTo>
                  <a:pt x="362712" y="70104"/>
                </a:lnTo>
                <a:lnTo>
                  <a:pt x="371856" y="82296"/>
                </a:lnTo>
                <a:lnTo>
                  <a:pt x="384048" y="94488"/>
                </a:lnTo>
                <a:lnTo>
                  <a:pt x="390144" y="106680"/>
                </a:lnTo>
                <a:lnTo>
                  <a:pt x="402336" y="137160"/>
                </a:lnTo>
                <a:lnTo>
                  <a:pt x="405384" y="149352"/>
                </a:lnTo>
                <a:lnTo>
                  <a:pt x="405384" y="179832"/>
                </a:lnTo>
                <a:lnTo>
                  <a:pt x="402336" y="195072"/>
                </a:lnTo>
                <a:lnTo>
                  <a:pt x="390144" y="225552"/>
                </a:lnTo>
                <a:lnTo>
                  <a:pt x="384048" y="237744"/>
                </a:lnTo>
                <a:lnTo>
                  <a:pt x="371856" y="249936"/>
                </a:lnTo>
                <a:lnTo>
                  <a:pt x="362712" y="262128"/>
                </a:lnTo>
                <a:lnTo>
                  <a:pt x="350520" y="271272"/>
                </a:lnTo>
                <a:lnTo>
                  <a:pt x="335280" y="283464"/>
                </a:lnTo>
                <a:lnTo>
                  <a:pt x="320039" y="289560"/>
                </a:lnTo>
                <a:lnTo>
                  <a:pt x="304800" y="298704"/>
                </a:lnTo>
                <a:lnTo>
                  <a:pt x="268224" y="310896"/>
                </a:lnTo>
                <a:lnTo>
                  <a:pt x="249936" y="313944"/>
                </a:lnTo>
                <a:lnTo>
                  <a:pt x="228600" y="316992"/>
                </a:lnTo>
                <a:lnTo>
                  <a:pt x="292608" y="316992"/>
                </a:lnTo>
                <a:lnTo>
                  <a:pt x="356616" y="283464"/>
                </a:lnTo>
                <a:lnTo>
                  <a:pt x="402336" y="228600"/>
                </a:lnTo>
                <a:lnTo>
                  <a:pt x="417575" y="182880"/>
                </a:lnTo>
                <a:lnTo>
                  <a:pt x="417575" y="149352"/>
                </a:lnTo>
                <a:lnTo>
                  <a:pt x="414527" y="131064"/>
                </a:lnTo>
                <a:lnTo>
                  <a:pt x="402336" y="100584"/>
                </a:lnTo>
                <a:lnTo>
                  <a:pt x="393192" y="85344"/>
                </a:lnTo>
                <a:lnTo>
                  <a:pt x="381000" y="73152"/>
                </a:lnTo>
                <a:lnTo>
                  <a:pt x="371856" y="60960"/>
                </a:lnTo>
                <a:lnTo>
                  <a:pt x="356616" y="48768"/>
                </a:lnTo>
                <a:lnTo>
                  <a:pt x="341375" y="39624"/>
                </a:lnTo>
                <a:lnTo>
                  <a:pt x="326136" y="27432"/>
                </a:lnTo>
                <a:lnTo>
                  <a:pt x="307848" y="21336"/>
                </a:lnTo>
                <a:lnTo>
                  <a:pt x="295656" y="15240"/>
                </a:lnTo>
                <a:close/>
              </a:path>
              <a:path w="417829" h="329564">
                <a:moveTo>
                  <a:pt x="210312" y="0"/>
                </a:moveTo>
                <a:lnTo>
                  <a:pt x="188975" y="3048"/>
                </a:lnTo>
                <a:lnTo>
                  <a:pt x="231648" y="3048"/>
                </a:lnTo>
                <a:lnTo>
                  <a:pt x="21031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79673" y="2270761"/>
            <a:ext cx="1405255" cy="497205"/>
          </a:xfrm>
          <a:custGeom>
            <a:avLst/>
            <a:gdLst/>
            <a:ahLst/>
            <a:cxnLst/>
            <a:rect l="l" t="t" r="r" b="b"/>
            <a:pathLst>
              <a:path w="1405254" h="497205">
                <a:moveTo>
                  <a:pt x="1395983" y="0"/>
                </a:moveTo>
                <a:lnTo>
                  <a:pt x="0" y="469391"/>
                </a:lnTo>
                <a:lnTo>
                  <a:pt x="9143" y="496824"/>
                </a:lnTo>
                <a:lnTo>
                  <a:pt x="1405127" y="27431"/>
                </a:lnTo>
                <a:lnTo>
                  <a:pt x="139598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38368" y="2276856"/>
            <a:ext cx="1381125" cy="481965"/>
          </a:xfrm>
          <a:custGeom>
            <a:avLst/>
            <a:gdLst/>
            <a:ahLst/>
            <a:cxnLst/>
            <a:rect l="l" t="t" r="r" b="b"/>
            <a:pathLst>
              <a:path w="1381125" h="481964">
                <a:moveTo>
                  <a:pt x="9144" y="0"/>
                </a:moveTo>
                <a:lnTo>
                  <a:pt x="0" y="24384"/>
                </a:lnTo>
                <a:lnTo>
                  <a:pt x="1371600" y="481584"/>
                </a:lnTo>
                <a:lnTo>
                  <a:pt x="1380744" y="457200"/>
                </a:lnTo>
                <a:lnTo>
                  <a:pt x="914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652257" y="3221735"/>
            <a:ext cx="2411095" cy="2274982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40640" rIns="0" bIns="0" rtlCol="0">
            <a:spAutoFit/>
          </a:bodyPr>
          <a:lstStyle/>
          <a:p>
            <a:pPr marL="237490" marR="493395">
              <a:lnSpc>
                <a:spcPct val="200000"/>
              </a:lnSpc>
              <a:spcBef>
                <a:spcPts val="320"/>
              </a:spcBef>
            </a:pPr>
            <a:r>
              <a:rPr sz="1600">
                <a:latin typeface="Verdana"/>
                <a:cs typeface="Verdana"/>
              </a:rPr>
              <a:t>Queue </a:t>
            </a:r>
            <a:r>
              <a:rPr sz="1600" spc="5">
                <a:latin typeface="Verdana"/>
                <a:cs typeface="Verdana"/>
              </a:rPr>
              <a:t>= {A,</a:t>
            </a:r>
            <a:r>
              <a:rPr sz="1600" spc="-120">
                <a:latin typeface="Verdana"/>
                <a:cs typeface="Verdana"/>
              </a:rPr>
              <a:t> </a:t>
            </a:r>
            <a:r>
              <a:rPr sz="1600" spc="5">
                <a:latin typeface="Verdana"/>
                <a:cs typeface="Verdana"/>
              </a:rPr>
              <a:t>D}  </a:t>
            </a:r>
            <a:r>
              <a:rPr sz="1600">
                <a:latin typeface="Verdana"/>
                <a:cs typeface="Verdana"/>
              </a:rPr>
              <a:t>Select </a:t>
            </a:r>
            <a:r>
              <a:rPr sz="1600" spc="5">
                <a:latin typeface="Verdana"/>
                <a:cs typeface="Verdana"/>
              </a:rPr>
              <a:t>A  </a:t>
            </a:r>
            <a:r>
              <a:rPr sz="1600">
                <a:latin typeface="Verdana"/>
                <a:cs typeface="Verdana"/>
              </a:rPr>
              <a:t>Goal(A) </a:t>
            </a:r>
            <a:r>
              <a:rPr sz="1600" spc="5">
                <a:latin typeface="Verdana"/>
                <a:cs typeface="Verdana"/>
              </a:rPr>
              <a:t>=</a:t>
            </a:r>
            <a:r>
              <a:rPr sz="1600" spc="-114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true?</a:t>
            </a: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237490">
              <a:spcBef>
                <a:spcPts val="1655"/>
              </a:spcBef>
            </a:pPr>
            <a:r>
              <a:rPr sz="1600" spc="10">
                <a:latin typeface="Verdana"/>
                <a:cs typeface="Verdana"/>
              </a:rPr>
              <a:t>If </a:t>
            </a:r>
            <a:r>
              <a:rPr sz="1600">
                <a:latin typeface="Verdana"/>
                <a:cs typeface="Verdana"/>
              </a:rPr>
              <a:t>not,</a:t>
            </a:r>
            <a:r>
              <a:rPr sz="1600" spc="-12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Expand(A)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46160" y="3215640"/>
            <a:ext cx="2426335" cy="2707005"/>
          </a:xfrm>
          <a:custGeom>
            <a:avLst/>
            <a:gdLst/>
            <a:ahLst/>
            <a:cxnLst/>
            <a:rect l="l" t="t" r="r" b="b"/>
            <a:pathLst>
              <a:path w="2426334" h="2707004">
                <a:moveTo>
                  <a:pt x="2426208" y="0"/>
                </a:moveTo>
                <a:lnTo>
                  <a:pt x="0" y="0"/>
                </a:lnTo>
                <a:lnTo>
                  <a:pt x="0" y="2706624"/>
                </a:lnTo>
                <a:lnTo>
                  <a:pt x="2426208" y="2706624"/>
                </a:lnTo>
                <a:lnTo>
                  <a:pt x="2426208" y="2700528"/>
                </a:lnTo>
                <a:lnTo>
                  <a:pt x="12192" y="2700528"/>
                </a:lnTo>
                <a:lnTo>
                  <a:pt x="6096" y="2694432"/>
                </a:lnTo>
                <a:lnTo>
                  <a:pt x="12192" y="2694432"/>
                </a:lnTo>
                <a:lnTo>
                  <a:pt x="12192" y="12192"/>
                </a:lnTo>
                <a:lnTo>
                  <a:pt x="6096" y="12192"/>
                </a:lnTo>
                <a:lnTo>
                  <a:pt x="12192" y="6096"/>
                </a:lnTo>
                <a:lnTo>
                  <a:pt x="2426208" y="6096"/>
                </a:lnTo>
                <a:lnTo>
                  <a:pt x="2426208" y="0"/>
                </a:lnTo>
                <a:close/>
              </a:path>
              <a:path w="2426334" h="2707004">
                <a:moveTo>
                  <a:pt x="12192" y="2694432"/>
                </a:moveTo>
                <a:lnTo>
                  <a:pt x="6096" y="2694432"/>
                </a:lnTo>
                <a:lnTo>
                  <a:pt x="12192" y="2700528"/>
                </a:lnTo>
                <a:lnTo>
                  <a:pt x="12192" y="2694432"/>
                </a:lnTo>
                <a:close/>
              </a:path>
              <a:path w="2426334" h="2707004">
                <a:moveTo>
                  <a:pt x="2410968" y="2694432"/>
                </a:moveTo>
                <a:lnTo>
                  <a:pt x="12192" y="2694432"/>
                </a:lnTo>
                <a:lnTo>
                  <a:pt x="12192" y="2700528"/>
                </a:lnTo>
                <a:lnTo>
                  <a:pt x="2410968" y="2700528"/>
                </a:lnTo>
                <a:lnTo>
                  <a:pt x="2410968" y="2694432"/>
                </a:lnTo>
                <a:close/>
              </a:path>
              <a:path w="2426334" h="2707004">
                <a:moveTo>
                  <a:pt x="2410968" y="6096"/>
                </a:moveTo>
                <a:lnTo>
                  <a:pt x="2410968" y="2700528"/>
                </a:lnTo>
                <a:lnTo>
                  <a:pt x="2417064" y="2694432"/>
                </a:lnTo>
                <a:lnTo>
                  <a:pt x="2426208" y="2694432"/>
                </a:lnTo>
                <a:lnTo>
                  <a:pt x="2426208" y="12192"/>
                </a:lnTo>
                <a:lnTo>
                  <a:pt x="2417064" y="12192"/>
                </a:lnTo>
                <a:lnTo>
                  <a:pt x="2410968" y="6096"/>
                </a:lnTo>
                <a:close/>
              </a:path>
              <a:path w="2426334" h="2707004">
                <a:moveTo>
                  <a:pt x="2426208" y="2694432"/>
                </a:moveTo>
                <a:lnTo>
                  <a:pt x="2417064" y="2694432"/>
                </a:lnTo>
                <a:lnTo>
                  <a:pt x="2410968" y="2700528"/>
                </a:lnTo>
                <a:lnTo>
                  <a:pt x="2426208" y="2700528"/>
                </a:lnTo>
                <a:lnTo>
                  <a:pt x="2426208" y="2694432"/>
                </a:lnTo>
                <a:close/>
              </a:path>
              <a:path w="2426334" h="2707004">
                <a:moveTo>
                  <a:pt x="12192" y="6096"/>
                </a:moveTo>
                <a:lnTo>
                  <a:pt x="6096" y="12192"/>
                </a:lnTo>
                <a:lnTo>
                  <a:pt x="12192" y="12192"/>
                </a:lnTo>
                <a:lnTo>
                  <a:pt x="12192" y="6096"/>
                </a:lnTo>
                <a:close/>
              </a:path>
              <a:path w="2426334" h="2707004">
                <a:moveTo>
                  <a:pt x="2410968" y="6096"/>
                </a:moveTo>
                <a:lnTo>
                  <a:pt x="12192" y="6096"/>
                </a:lnTo>
                <a:lnTo>
                  <a:pt x="12192" y="12192"/>
                </a:lnTo>
                <a:lnTo>
                  <a:pt x="2410968" y="12192"/>
                </a:lnTo>
                <a:lnTo>
                  <a:pt x="2410968" y="6096"/>
                </a:lnTo>
                <a:close/>
              </a:path>
              <a:path w="2426334" h="2707004">
                <a:moveTo>
                  <a:pt x="2426208" y="6096"/>
                </a:moveTo>
                <a:lnTo>
                  <a:pt x="2410968" y="6096"/>
                </a:lnTo>
                <a:lnTo>
                  <a:pt x="2417064" y="12192"/>
                </a:lnTo>
                <a:lnTo>
                  <a:pt x="2426208" y="12192"/>
                </a:lnTo>
                <a:lnTo>
                  <a:pt x="2426208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48939" y="880872"/>
            <a:ext cx="281559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BFS Search</a:t>
            </a:r>
            <a:r>
              <a:rPr sz="2400" b="1" spc="-5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57367" y="205435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2"/>
                </a:lnTo>
                <a:lnTo>
                  <a:pt x="76200" y="36575"/>
                </a:lnTo>
                <a:lnTo>
                  <a:pt x="60960" y="48768"/>
                </a:lnTo>
                <a:lnTo>
                  <a:pt x="45720" y="57912"/>
                </a:lnTo>
                <a:lnTo>
                  <a:pt x="15240" y="100584"/>
                </a:lnTo>
                <a:lnTo>
                  <a:pt x="0" y="146303"/>
                </a:lnTo>
                <a:lnTo>
                  <a:pt x="0" y="182880"/>
                </a:lnTo>
                <a:lnTo>
                  <a:pt x="3048" y="198120"/>
                </a:lnTo>
                <a:lnTo>
                  <a:pt x="15240" y="228600"/>
                </a:lnTo>
                <a:lnTo>
                  <a:pt x="24384" y="243839"/>
                </a:lnTo>
                <a:lnTo>
                  <a:pt x="36576" y="256032"/>
                </a:lnTo>
                <a:lnTo>
                  <a:pt x="45720" y="268224"/>
                </a:lnTo>
                <a:lnTo>
                  <a:pt x="76200" y="292608"/>
                </a:lnTo>
                <a:lnTo>
                  <a:pt x="91440" y="301751"/>
                </a:lnTo>
                <a:lnTo>
                  <a:pt x="109728" y="307848"/>
                </a:lnTo>
                <a:lnTo>
                  <a:pt x="128016" y="316992"/>
                </a:lnTo>
                <a:lnTo>
                  <a:pt x="146304" y="320039"/>
                </a:lnTo>
                <a:lnTo>
                  <a:pt x="164592" y="326136"/>
                </a:lnTo>
                <a:lnTo>
                  <a:pt x="185928" y="329184"/>
                </a:lnTo>
                <a:lnTo>
                  <a:pt x="207264" y="329184"/>
                </a:lnTo>
                <a:lnTo>
                  <a:pt x="228600" y="326136"/>
                </a:lnTo>
                <a:lnTo>
                  <a:pt x="249936" y="326136"/>
                </a:lnTo>
                <a:lnTo>
                  <a:pt x="268224" y="320039"/>
                </a:lnTo>
                <a:lnTo>
                  <a:pt x="289560" y="316992"/>
                </a:lnTo>
                <a:lnTo>
                  <a:pt x="207264" y="316992"/>
                </a:lnTo>
                <a:lnTo>
                  <a:pt x="185928" y="313944"/>
                </a:lnTo>
                <a:lnTo>
                  <a:pt x="167640" y="313944"/>
                </a:lnTo>
                <a:lnTo>
                  <a:pt x="149352" y="307848"/>
                </a:lnTo>
                <a:lnTo>
                  <a:pt x="131064" y="304800"/>
                </a:lnTo>
                <a:lnTo>
                  <a:pt x="112776" y="295656"/>
                </a:lnTo>
                <a:lnTo>
                  <a:pt x="97536" y="289560"/>
                </a:lnTo>
                <a:lnTo>
                  <a:pt x="67056" y="271272"/>
                </a:lnTo>
                <a:lnTo>
                  <a:pt x="54864" y="259080"/>
                </a:lnTo>
                <a:lnTo>
                  <a:pt x="45720" y="246887"/>
                </a:lnTo>
                <a:lnTo>
                  <a:pt x="33528" y="234696"/>
                </a:lnTo>
                <a:lnTo>
                  <a:pt x="27432" y="222503"/>
                </a:lnTo>
                <a:lnTo>
                  <a:pt x="21336" y="207263"/>
                </a:lnTo>
                <a:lnTo>
                  <a:pt x="15240" y="195072"/>
                </a:lnTo>
                <a:lnTo>
                  <a:pt x="12192" y="179832"/>
                </a:lnTo>
                <a:lnTo>
                  <a:pt x="12192" y="149351"/>
                </a:lnTo>
                <a:lnTo>
                  <a:pt x="15240" y="134112"/>
                </a:lnTo>
                <a:lnTo>
                  <a:pt x="21336" y="118872"/>
                </a:lnTo>
                <a:lnTo>
                  <a:pt x="27432" y="106680"/>
                </a:lnTo>
                <a:lnTo>
                  <a:pt x="33528" y="91439"/>
                </a:lnTo>
                <a:lnTo>
                  <a:pt x="45720" y="79248"/>
                </a:lnTo>
                <a:lnTo>
                  <a:pt x="54864" y="67056"/>
                </a:lnTo>
                <a:lnTo>
                  <a:pt x="67056" y="57912"/>
                </a:lnTo>
                <a:lnTo>
                  <a:pt x="112776" y="30480"/>
                </a:lnTo>
                <a:lnTo>
                  <a:pt x="149352" y="18287"/>
                </a:lnTo>
                <a:lnTo>
                  <a:pt x="167640" y="15239"/>
                </a:lnTo>
                <a:lnTo>
                  <a:pt x="188976" y="12192"/>
                </a:lnTo>
                <a:lnTo>
                  <a:pt x="289560" y="12192"/>
                </a:lnTo>
                <a:lnTo>
                  <a:pt x="268224" y="6096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29" h="329564">
                <a:moveTo>
                  <a:pt x="289560" y="12192"/>
                </a:moveTo>
                <a:lnTo>
                  <a:pt x="228600" y="12192"/>
                </a:lnTo>
                <a:lnTo>
                  <a:pt x="265176" y="18287"/>
                </a:lnTo>
                <a:lnTo>
                  <a:pt x="301752" y="30480"/>
                </a:lnTo>
                <a:lnTo>
                  <a:pt x="347472" y="57912"/>
                </a:lnTo>
                <a:lnTo>
                  <a:pt x="381000" y="91439"/>
                </a:lnTo>
                <a:lnTo>
                  <a:pt x="402336" y="149351"/>
                </a:lnTo>
                <a:lnTo>
                  <a:pt x="402336" y="179832"/>
                </a:lnTo>
                <a:lnTo>
                  <a:pt x="381000" y="234696"/>
                </a:lnTo>
                <a:lnTo>
                  <a:pt x="359664" y="259080"/>
                </a:lnTo>
                <a:lnTo>
                  <a:pt x="347472" y="271272"/>
                </a:lnTo>
                <a:lnTo>
                  <a:pt x="301752" y="298703"/>
                </a:lnTo>
                <a:lnTo>
                  <a:pt x="283464" y="304800"/>
                </a:lnTo>
                <a:lnTo>
                  <a:pt x="265176" y="307848"/>
                </a:lnTo>
                <a:lnTo>
                  <a:pt x="246887" y="313944"/>
                </a:lnTo>
                <a:lnTo>
                  <a:pt x="228600" y="313944"/>
                </a:lnTo>
                <a:lnTo>
                  <a:pt x="207264" y="316992"/>
                </a:lnTo>
                <a:lnTo>
                  <a:pt x="289560" y="316992"/>
                </a:lnTo>
                <a:lnTo>
                  <a:pt x="307848" y="307848"/>
                </a:lnTo>
                <a:lnTo>
                  <a:pt x="323088" y="301751"/>
                </a:lnTo>
                <a:lnTo>
                  <a:pt x="341376" y="292608"/>
                </a:lnTo>
                <a:lnTo>
                  <a:pt x="353568" y="280415"/>
                </a:lnTo>
                <a:lnTo>
                  <a:pt x="368808" y="268224"/>
                </a:lnTo>
                <a:lnTo>
                  <a:pt x="399288" y="228600"/>
                </a:lnTo>
                <a:lnTo>
                  <a:pt x="414528" y="182880"/>
                </a:lnTo>
                <a:lnTo>
                  <a:pt x="414528" y="179832"/>
                </a:lnTo>
                <a:lnTo>
                  <a:pt x="417576" y="164592"/>
                </a:lnTo>
                <a:lnTo>
                  <a:pt x="399288" y="100584"/>
                </a:lnTo>
                <a:lnTo>
                  <a:pt x="368808" y="57912"/>
                </a:lnTo>
                <a:lnTo>
                  <a:pt x="323088" y="27432"/>
                </a:lnTo>
                <a:lnTo>
                  <a:pt x="304800" y="18287"/>
                </a:lnTo>
                <a:lnTo>
                  <a:pt x="289560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542020" y="2548129"/>
            <a:ext cx="240220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061085" algn="l"/>
                <a:tab pos="2261870" algn="l"/>
              </a:tabLst>
            </a:pPr>
            <a:r>
              <a:rPr sz="2700" spc="-7" baseline="1543">
                <a:latin typeface="Times New Roman"/>
                <a:cs typeface="Times New Roman"/>
              </a:rPr>
              <a:t>D	</a:t>
            </a:r>
            <a:r>
              <a:rPr spc="-5">
                <a:latin typeface="Times New Roman"/>
                <a:cs typeface="Times New Roman"/>
              </a:rPr>
              <a:t>E	</a:t>
            </a:r>
            <a:r>
              <a:rPr sz="2700" spc="-7" baseline="1543">
                <a:latin typeface="Times New Roman"/>
                <a:cs typeface="Times New Roman"/>
              </a:rPr>
              <a:t>F</a:t>
            </a:r>
            <a:endParaRPr sz="2700" baseline="154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93744" y="2749295"/>
            <a:ext cx="417830" cy="326390"/>
          </a:xfrm>
          <a:custGeom>
            <a:avLst/>
            <a:gdLst/>
            <a:ahLst/>
            <a:cxnLst/>
            <a:rect l="l" t="t" r="r" b="b"/>
            <a:pathLst>
              <a:path w="417830" h="326389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1"/>
                </a:lnTo>
                <a:lnTo>
                  <a:pt x="60960" y="45719"/>
                </a:lnTo>
                <a:lnTo>
                  <a:pt x="24383" y="85343"/>
                </a:lnTo>
                <a:lnTo>
                  <a:pt x="15239" y="97536"/>
                </a:lnTo>
                <a:lnTo>
                  <a:pt x="9143" y="112775"/>
                </a:lnTo>
                <a:lnTo>
                  <a:pt x="3048" y="131063"/>
                </a:lnTo>
                <a:lnTo>
                  <a:pt x="0" y="146303"/>
                </a:lnTo>
                <a:lnTo>
                  <a:pt x="0" y="179831"/>
                </a:lnTo>
                <a:lnTo>
                  <a:pt x="3048" y="198119"/>
                </a:lnTo>
                <a:lnTo>
                  <a:pt x="15239" y="228600"/>
                </a:lnTo>
                <a:lnTo>
                  <a:pt x="24383" y="240791"/>
                </a:lnTo>
                <a:lnTo>
                  <a:pt x="36575" y="256031"/>
                </a:lnTo>
                <a:lnTo>
                  <a:pt x="45719" y="268224"/>
                </a:lnTo>
                <a:lnTo>
                  <a:pt x="91439" y="298703"/>
                </a:lnTo>
                <a:lnTo>
                  <a:pt x="146304" y="320039"/>
                </a:lnTo>
                <a:lnTo>
                  <a:pt x="185928" y="326136"/>
                </a:lnTo>
                <a:lnTo>
                  <a:pt x="228600" y="326136"/>
                </a:lnTo>
                <a:lnTo>
                  <a:pt x="249936" y="323088"/>
                </a:lnTo>
                <a:lnTo>
                  <a:pt x="268224" y="320039"/>
                </a:lnTo>
                <a:lnTo>
                  <a:pt x="289560" y="313943"/>
                </a:lnTo>
                <a:lnTo>
                  <a:pt x="185928" y="313943"/>
                </a:lnTo>
                <a:lnTo>
                  <a:pt x="149351" y="307848"/>
                </a:lnTo>
                <a:lnTo>
                  <a:pt x="112775" y="295655"/>
                </a:lnTo>
                <a:lnTo>
                  <a:pt x="97536" y="289559"/>
                </a:lnTo>
                <a:lnTo>
                  <a:pt x="82295" y="280415"/>
                </a:lnTo>
                <a:lnTo>
                  <a:pt x="67056" y="268224"/>
                </a:lnTo>
                <a:lnTo>
                  <a:pt x="54863" y="259079"/>
                </a:lnTo>
                <a:lnTo>
                  <a:pt x="45719" y="246887"/>
                </a:lnTo>
                <a:lnTo>
                  <a:pt x="33528" y="234695"/>
                </a:lnTo>
                <a:lnTo>
                  <a:pt x="27431" y="222503"/>
                </a:lnTo>
                <a:lnTo>
                  <a:pt x="15239" y="192024"/>
                </a:lnTo>
                <a:lnTo>
                  <a:pt x="12801" y="179831"/>
                </a:lnTo>
                <a:lnTo>
                  <a:pt x="12192" y="179831"/>
                </a:lnTo>
                <a:lnTo>
                  <a:pt x="12192" y="146303"/>
                </a:lnTo>
                <a:lnTo>
                  <a:pt x="12700" y="146303"/>
                </a:lnTo>
                <a:lnTo>
                  <a:pt x="15239" y="131063"/>
                </a:lnTo>
                <a:lnTo>
                  <a:pt x="21336" y="118871"/>
                </a:lnTo>
                <a:lnTo>
                  <a:pt x="27431" y="103631"/>
                </a:lnTo>
                <a:lnTo>
                  <a:pt x="33528" y="91439"/>
                </a:lnTo>
                <a:lnTo>
                  <a:pt x="45719" y="79248"/>
                </a:lnTo>
                <a:lnTo>
                  <a:pt x="54863" y="67055"/>
                </a:lnTo>
                <a:lnTo>
                  <a:pt x="67056" y="54863"/>
                </a:lnTo>
                <a:lnTo>
                  <a:pt x="112775" y="30479"/>
                </a:lnTo>
                <a:lnTo>
                  <a:pt x="149351" y="18287"/>
                </a:lnTo>
                <a:lnTo>
                  <a:pt x="188975" y="12191"/>
                </a:lnTo>
                <a:lnTo>
                  <a:pt x="289560" y="12191"/>
                </a:lnTo>
                <a:lnTo>
                  <a:pt x="268224" y="6095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30" h="326389">
                <a:moveTo>
                  <a:pt x="402336" y="176783"/>
                </a:moveTo>
                <a:lnTo>
                  <a:pt x="399288" y="192024"/>
                </a:lnTo>
                <a:lnTo>
                  <a:pt x="387095" y="222503"/>
                </a:lnTo>
                <a:lnTo>
                  <a:pt x="381000" y="234695"/>
                </a:lnTo>
                <a:lnTo>
                  <a:pt x="368807" y="246887"/>
                </a:lnTo>
                <a:lnTo>
                  <a:pt x="359663" y="259079"/>
                </a:lnTo>
                <a:lnTo>
                  <a:pt x="316992" y="289559"/>
                </a:lnTo>
                <a:lnTo>
                  <a:pt x="265175" y="307848"/>
                </a:lnTo>
                <a:lnTo>
                  <a:pt x="228600" y="313943"/>
                </a:lnTo>
                <a:lnTo>
                  <a:pt x="289560" y="313943"/>
                </a:lnTo>
                <a:lnTo>
                  <a:pt x="307848" y="307848"/>
                </a:lnTo>
                <a:lnTo>
                  <a:pt x="323088" y="298703"/>
                </a:lnTo>
                <a:lnTo>
                  <a:pt x="341375" y="289559"/>
                </a:lnTo>
                <a:lnTo>
                  <a:pt x="353568" y="280415"/>
                </a:lnTo>
                <a:lnTo>
                  <a:pt x="368807" y="268224"/>
                </a:lnTo>
                <a:lnTo>
                  <a:pt x="381000" y="256031"/>
                </a:lnTo>
                <a:lnTo>
                  <a:pt x="390144" y="240791"/>
                </a:lnTo>
                <a:lnTo>
                  <a:pt x="399288" y="228600"/>
                </a:lnTo>
                <a:lnTo>
                  <a:pt x="405383" y="213359"/>
                </a:lnTo>
                <a:lnTo>
                  <a:pt x="411480" y="195071"/>
                </a:lnTo>
                <a:lnTo>
                  <a:pt x="414528" y="179831"/>
                </a:lnTo>
                <a:lnTo>
                  <a:pt x="402336" y="179831"/>
                </a:lnTo>
                <a:lnTo>
                  <a:pt x="402336" y="176783"/>
                </a:lnTo>
                <a:close/>
              </a:path>
              <a:path w="417830" h="326389">
                <a:moveTo>
                  <a:pt x="12192" y="176783"/>
                </a:moveTo>
                <a:lnTo>
                  <a:pt x="12192" y="179831"/>
                </a:lnTo>
                <a:lnTo>
                  <a:pt x="12801" y="179831"/>
                </a:lnTo>
                <a:lnTo>
                  <a:pt x="12192" y="176783"/>
                </a:lnTo>
                <a:close/>
              </a:path>
              <a:path w="417830" h="326389">
                <a:moveTo>
                  <a:pt x="414528" y="146303"/>
                </a:moveTo>
                <a:lnTo>
                  <a:pt x="402336" y="146303"/>
                </a:lnTo>
                <a:lnTo>
                  <a:pt x="402336" y="179831"/>
                </a:lnTo>
                <a:lnTo>
                  <a:pt x="414528" y="179831"/>
                </a:lnTo>
                <a:lnTo>
                  <a:pt x="417575" y="161543"/>
                </a:lnTo>
                <a:lnTo>
                  <a:pt x="414528" y="146303"/>
                </a:lnTo>
                <a:close/>
              </a:path>
              <a:path w="417830" h="326389">
                <a:moveTo>
                  <a:pt x="12700" y="146303"/>
                </a:moveTo>
                <a:lnTo>
                  <a:pt x="12192" y="146303"/>
                </a:lnTo>
                <a:lnTo>
                  <a:pt x="12192" y="149351"/>
                </a:lnTo>
                <a:lnTo>
                  <a:pt x="12700" y="146303"/>
                </a:lnTo>
                <a:close/>
              </a:path>
              <a:path w="417830" h="326389">
                <a:moveTo>
                  <a:pt x="289560" y="12191"/>
                </a:moveTo>
                <a:lnTo>
                  <a:pt x="228600" y="12191"/>
                </a:lnTo>
                <a:lnTo>
                  <a:pt x="265175" y="18287"/>
                </a:lnTo>
                <a:lnTo>
                  <a:pt x="301751" y="30479"/>
                </a:lnTo>
                <a:lnTo>
                  <a:pt x="347472" y="54863"/>
                </a:lnTo>
                <a:lnTo>
                  <a:pt x="381000" y="91439"/>
                </a:lnTo>
                <a:lnTo>
                  <a:pt x="387095" y="103631"/>
                </a:lnTo>
                <a:lnTo>
                  <a:pt x="396239" y="118871"/>
                </a:lnTo>
                <a:lnTo>
                  <a:pt x="402336" y="149351"/>
                </a:lnTo>
                <a:lnTo>
                  <a:pt x="402336" y="146303"/>
                </a:lnTo>
                <a:lnTo>
                  <a:pt x="414528" y="146303"/>
                </a:lnTo>
                <a:lnTo>
                  <a:pt x="411480" y="128015"/>
                </a:lnTo>
                <a:lnTo>
                  <a:pt x="399288" y="97536"/>
                </a:lnTo>
                <a:lnTo>
                  <a:pt x="390144" y="85343"/>
                </a:lnTo>
                <a:lnTo>
                  <a:pt x="381000" y="70103"/>
                </a:lnTo>
                <a:lnTo>
                  <a:pt x="368807" y="57912"/>
                </a:lnTo>
                <a:lnTo>
                  <a:pt x="353568" y="45719"/>
                </a:lnTo>
                <a:lnTo>
                  <a:pt x="323088" y="27431"/>
                </a:lnTo>
                <a:lnTo>
                  <a:pt x="304800" y="18287"/>
                </a:lnTo>
                <a:lnTo>
                  <a:pt x="289560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948424" y="2740151"/>
            <a:ext cx="405765" cy="317500"/>
          </a:xfrm>
          <a:custGeom>
            <a:avLst/>
            <a:gdLst/>
            <a:ahLst/>
            <a:cxnLst/>
            <a:rect l="l" t="t" r="r" b="b"/>
            <a:pathLst>
              <a:path w="405764" h="317500">
                <a:moveTo>
                  <a:pt x="204215" y="0"/>
                </a:moveTo>
                <a:lnTo>
                  <a:pt x="149930" y="5813"/>
                </a:lnTo>
                <a:lnTo>
                  <a:pt x="101148" y="22126"/>
                </a:lnTo>
                <a:lnTo>
                  <a:pt x="59817" y="47244"/>
                </a:lnTo>
                <a:lnTo>
                  <a:pt x="27883" y="79473"/>
                </a:lnTo>
                <a:lnTo>
                  <a:pt x="7295" y="117122"/>
                </a:lnTo>
                <a:lnTo>
                  <a:pt x="0" y="158496"/>
                </a:lnTo>
                <a:lnTo>
                  <a:pt x="7295" y="200928"/>
                </a:lnTo>
                <a:lnTo>
                  <a:pt x="27883" y="238872"/>
                </a:lnTo>
                <a:lnTo>
                  <a:pt x="59816" y="270890"/>
                </a:lnTo>
                <a:lnTo>
                  <a:pt x="101148" y="295543"/>
                </a:lnTo>
                <a:lnTo>
                  <a:pt x="149930" y="311389"/>
                </a:lnTo>
                <a:lnTo>
                  <a:pt x="204215" y="316992"/>
                </a:lnTo>
                <a:lnTo>
                  <a:pt x="258275" y="311389"/>
                </a:lnTo>
                <a:lnTo>
                  <a:pt x="306493" y="295543"/>
                </a:lnTo>
                <a:lnTo>
                  <a:pt x="347091" y="270890"/>
                </a:lnTo>
                <a:lnTo>
                  <a:pt x="378290" y="238872"/>
                </a:lnTo>
                <a:lnTo>
                  <a:pt x="398314" y="200928"/>
                </a:lnTo>
                <a:lnTo>
                  <a:pt x="405384" y="158496"/>
                </a:lnTo>
                <a:lnTo>
                  <a:pt x="398314" y="117122"/>
                </a:lnTo>
                <a:lnTo>
                  <a:pt x="378290" y="79473"/>
                </a:lnTo>
                <a:lnTo>
                  <a:pt x="347090" y="47243"/>
                </a:lnTo>
                <a:lnTo>
                  <a:pt x="306493" y="22126"/>
                </a:lnTo>
                <a:lnTo>
                  <a:pt x="258275" y="5813"/>
                </a:lnTo>
                <a:lnTo>
                  <a:pt x="204215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42328" y="2734056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52984" y="3048"/>
                </a:moveTo>
                <a:lnTo>
                  <a:pt x="167639" y="3048"/>
                </a:lnTo>
                <a:lnTo>
                  <a:pt x="149351" y="9144"/>
                </a:lnTo>
                <a:lnTo>
                  <a:pt x="128016" y="15240"/>
                </a:lnTo>
                <a:lnTo>
                  <a:pt x="109727" y="21336"/>
                </a:lnTo>
                <a:lnTo>
                  <a:pt x="94487" y="30480"/>
                </a:lnTo>
                <a:lnTo>
                  <a:pt x="76200" y="39624"/>
                </a:lnTo>
                <a:lnTo>
                  <a:pt x="64008" y="48768"/>
                </a:lnTo>
                <a:lnTo>
                  <a:pt x="48768" y="60960"/>
                </a:lnTo>
                <a:lnTo>
                  <a:pt x="36575" y="73152"/>
                </a:lnTo>
                <a:lnTo>
                  <a:pt x="27432" y="88392"/>
                </a:lnTo>
                <a:lnTo>
                  <a:pt x="18287" y="100584"/>
                </a:lnTo>
                <a:lnTo>
                  <a:pt x="6096" y="131064"/>
                </a:lnTo>
                <a:lnTo>
                  <a:pt x="3048" y="149352"/>
                </a:lnTo>
                <a:lnTo>
                  <a:pt x="0" y="164592"/>
                </a:lnTo>
                <a:lnTo>
                  <a:pt x="12192" y="216408"/>
                </a:lnTo>
                <a:lnTo>
                  <a:pt x="27432" y="243840"/>
                </a:lnTo>
                <a:lnTo>
                  <a:pt x="36575" y="259080"/>
                </a:lnTo>
                <a:lnTo>
                  <a:pt x="94487" y="301752"/>
                </a:lnTo>
                <a:lnTo>
                  <a:pt x="149351" y="323088"/>
                </a:lnTo>
                <a:lnTo>
                  <a:pt x="188975" y="329184"/>
                </a:lnTo>
                <a:lnTo>
                  <a:pt x="231648" y="329184"/>
                </a:lnTo>
                <a:lnTo>
                  <a:pt x="252984" y="326136"/>
                </a:lnTo>
                <a:lnTo>
                  <a:pt x="271272" y="323088"/>
                </a:lnTo>
                <a:lnTo>
                  <a:pt x="292608" y="316992"/>
                </a:lnTo>
                <a:lnTo>
                  <a:pt x="188975" y="316992"/>
                </a:lnTo>
                <a:lnTo>
                  <a:pt x="152400" y="310896"/>
                </a:lnTo>
                <a:lnTo>
                  <a:pt x="115824" y="298704"/>
                </a:lnTo>
                <a:lnTo>
                  <a:pt x="70104" y="271272"/>
                </a:lnTo>
                <a:lnTo>
                  <a:pt x="36575" y="237744"/>
                </a:lnTo>
                <a:lnTo>
                  <a:pt x="30480" y="222504"/>
                </a:lnTo>
                <a:lnTo>
                  <a:pt x="21336" y="210312"/>
                </a:lnTo>
                <a:lnTo>
                  <a:pt x="15239" y="179832"/>
                </a:lnTo>
                <a:lnTo>
                  <a:pt x="15239" y="149352"/>
                </a:lnTo>
                <a:lnTo>
                  <a:pt x="18287" y="134112"/>
                </a:lnTo>
                <a:lnTo>
                  <a:pt x="21336" y="121920"/>
                </a:lnTo>
                <a:lnTo>
                  <a:pt x="30480" y="106680"/>
                </a:lnTo>
                <a:lnTo>
                  <a:pt x="36575" y="94488"/>
                </a:lnTo>
                <a:lnTo>
                  <a:pt x="48768" y="82296"/>
                </a:lnTo>
                <a:lnTo>
                  <a:pt x="57912" y="70104"/>
                </a:lnTo>
                <a:lnTo>
                  <a:pt x="70104" y="57912"/>
                </a:lnTo>
                <a:lnTo>
                  <a:pt x="100584" y="39624"/>
                </a:lnTo>
                <a:lnTo>
                  <a:pt x="115824" y="33528"/>
                </a:lnTo>
                <a:lnTo>
                  <a:pt x="134112" y="24384"/>
                </a:lnTo>
                <a:lnTo>
                  <a:pt x="188975" y="15240"/>
                </a:lnTo>
                <a:lnTo>
                  <a:pt x="295656" y="15240"/>
                </a:lnTo>
                <a:lnTo>
                  <a:pt x="289560" y="12192"/>
                </a:lnTo>
                <a:lnTo>
                  <a:pt x="271272" y="9144"/>
                </a:lnTo>
                <a:lnTo>
                  <a:pt x="252984" y="3048"/>
                </a:lnTo>
                <a:close/>
              </a:path>
              <a:path w="417829" h="329564">
                <a:moveTo>
                  <a:pt x="295656" y="15240"/>
                </a:moveTo>
                <a:lnTo>
                  <a:pt x="231648" y="15240"/>
                </a:lnTo>
                <a:lnTo>
                  <a:pt x="286512" y="24384"/>
                </a:lnTo>
                <a:lnTo>
                  <a:pt x="304800" y="33528"/>
                </a:lnTo>
                <a:lnTo>
                  <a:pt x="320039" y="39624"/>
                </a:lnTo>
                <a:lnTo>
                  <a:pt x="350520" y="57912"/>
                </a:lnTo>
                <a:lnTo>
                  <a:pt x="362712" y="70104"/>
                </a:lnTo>
                <a:lnTo>
                  <a:pt x="371856" y="82296"/>
                </a:lnTo>
                <a:lnTo>
                  <a:pt x="384048" y="94488"/>
                </a:lnTo>
                <a:lnTo>
                  <a:pt x="390144" y="106680"/>
                </a:lnTo>
                <a:lnTo>
                  <a:pt x="402336" y="137160"/>
                </a:lnTo>
                <a:lnTo>
                  <a:pt x="405384" y="149352"/>
                </a:lnTo>
                <a:lnTo>
                  <a:pt x="405384" y="179832"/>
                </a:lnTo>
                <a:lnTo>
                  <a:pt x="402336" y="195072"/>
                </a:lnTo>
                <a:lnTo>
                  <a:pt x="390144" y="225552"/>
                </a:lnTo>
                <a:lnTo>
                  <a:pt x="384048" y="237744"/>
                </a:lnTo>
                <a:lnTo>
                  <a:pt x="371856" y="249936"/>
                </a:lnTo>
                <a:lnTo>
                  <a:pt x="362712" y="262128"/>
                </a:lnTo>
                <a:lnTo>
                  <a:pt x="350520" y="271272"/>
                </a:lnTo>
                <a:lnTo>
                  <a:pt x="335280" y="283464"/>
                </a:lnTo>
                <a:lnTo>
                  <a:pt x="320039" y="289560"/>
                </a:lnTo>
                <a:lnTo>
                  <a:pt x="304800" y="298704"/>
                </a:lnTo>
                <a:lnTo>
                  <a:pt x="268224" y="310896"/>
                </a:lnTo>
                <a:lnTo>
                  <a:pt x="249936" y="313944"/>
                </a:lnTo>
                <a:lnTo>
                  <a:pt x="228600" y="316992"/>
                </a:lnTo>
                <a:lnTo>
                  <a:pt x="292608" y="316992"/>
                </a:lnTo>
                <a:lnTo>
                  <a:pt x="356616" y="283464"/>
                </a:lnTo>
                <a:lnTo>
                  <a:pt x="402336" y="228600"/>
                </a:lnTo>
                <a:lnTo>
                  <a:pt x="417575" y="182880"/>
                </a:lnTo>
                <a:lnTo>
                  <a:pt x="417575" y="149352"/>
                </a:lnTo>
                <a:lnTo>
                  <a:pt x="414527" y="131064"/>
                </a:lnTo>
                <a:lnTo>
                  <a:pt x="402336" y="100584"/>
                </a:lnTo>
                <a:lnTo>
                  <a:pt x="393192" y="85344"/>
                </a:lnTo>
                <a:lnTo>
                  <a:pt x="381000" y="73152"/>
                </a:lnTo>
                <a:lnTo>
                  <a:pt x="371856" y="60960"/>
                </a:lnTo>
                <a:lnTo>
                  <a:pt x="356616" y="48768"/>
                </a:lnTo>
                <a:lnTo>
                  <a:pt x="341375" y="39624"/>
                </a:lnTo>
                <a:lnTo>
                  <a:pt x="326136" y="27432"/>
                </a:lnTo>
                <a:lnTo>
                  <a:pt x="307848" y="21336"/>
                </a:lnTo>
                <a:lnTo>
                  <a:pt x="295656" y="15240"/>
                </a:lnTo>
                <a:close/>
              </a:path>
              <a:path w="417829" h="329564">
                <a:moveTo>
                  <a:pt x="210312" y="0"/>
                </a:moveTo>
                <a:lnTo>
                  <a:pt x="188975" y="3048"/>
                </a:lnTo>
                <a:lnTo>
                  <a:pt x="231648" y="3048"/>
                </a:lnTo>
                <a:lnTo>
                  <a:pt x="21031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79673" y="2270761"/>
            <a:ext cx="1405255" cy="497205"/>
          </a:xfrm>
          <a:custGeom>
            <a:avLst/>
            <a:gdLst/>
            <a:ahLst/>
            <a:cxnLst/>
            <a:rect l="l" t="t" r="r" b="b"/>
            <a:pathLst>
              <a:path w="1405254" h="497205">
                <a:moveTo>
                  <a:pt x="1395983" y="0"/>
                </a:moveTo>
                <a:lnTo>
                  <a:pt x="0" y="469391"/>
                </a:lnTo>
                <a:lnTo>
                  <a:pt x="9143" y="496824"/>
                </a:lnTo>
                <a:lnTo>
                  <a:pt x="1405127" y="27431"/>
                </a:lnTo>
                <a:lnTo>
                  <a:pt x="139598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38368" y="2276856"/>
            <a:ext cx="1381125" cy="481965"/>
          </a:xfrm>
          <a:custGeom>
            <a:avLst/>
            <a:gdLst/>
            <a:ahLst/>
            <a:cxnLst/>
            <a:rect l="l" t="t" r="r" b="b"/>
            <a:pathLst>
              <a:path w="1381125" h="481964">
                <a:moveTo>
                  <a:pt x="9144" y="0"/>
                </a:moveTo>
                <a:lnTo>
                  <a:pt x="0" y="24384"/>
                </a:lnTo>
                <a:lnTo>
                  <a:pt x="1371600" y="481584"/>
                </a:lnTo>
                <a:lnTo>
                  <a:pt x="1380744" y="457200"/>
                </a:lnTo>
                <a:lnTo>
                  <a:pt x="914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59760" y="344119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30" h="329564">
                <a:moveTo>
                  <a:pt x="231648" y="0"/>
                </a:moveTo>
                <a:lnTo>
                  <a:pt x="188976" y="0"/>
                </a:lnTo>
                <a:lnTo>
                  <a:pt x="167640" y="3048"/>
                </a:lnTo>
                <a:lnTo>
                  <a:pt x="146303" y="9144"/>
                </a:lnTo>
                <a:lnTo>
                  <a:pt x="128015" y="12192"/>
                </a:lnTo>
                <a:lnTo>
                  <a:pt x="109728" y="21336"/>
                </a:lnTo>
                <a:lnTo>
                  <a:pt x="94487" y="27432"/>
                </a:lnTo>
                <a:lnTo>
                  <a:pt x="76200" y="36575"/>
                </a:lnTo>
                <a:lnTo>
                  <a:pt x="36576" y="73152"/>
                </a:lnTo>
                <a:lnTo>
                  <a:pt x="9143" y="115824"/>
                </a:lnTo>
                <a:lnTo>
                  <a:pt x="3048" y="146304"/>
                </a:lnTo>
                <a:lnTo>
                  <a:pt x="3048" y="149352"/>
                </a:lnTo>
                <a:lnTo>
                  <a:pt x="0" y="164592"/>
                </a:lnTo>
                <a:lnTo>
                  <a:pt x="9143" y="213360"/>
                </a:lnTo>
                <a:lnTo>
                  <a:pt x="36576" y="259080"/>
                </a:lnTo>
                <a:lnTo>
                  <a:pt x="64008" y="280416"/>
                </a:lnTo>
                <a:lnTo>
                  <a:pt x="76200" y="292608"/>
                </a:lnTo>
                <a:lnTo>
                  <a:pt x="94487" y="301752"/>
                </a:lnTo>
                <a:lnTo>
                  <a:pt x="109728" y="310896"/>
                </a:lnTo>
                <a:lnTo>
                  <a:pt x="128015" y="316992"/>
                </a:lnTo>
                <a:lnTo>
                  <a:pt x="149352" y="323088"/>
                </a:lnTo>
                <a:lnTo>
                  <a:pt x="167640" y="326136"/>
                </a:lnTo>
                <a:lnTo>
                  <a:pt x="188976" y="329184"/>
                </a:lnTo>
                <a:lnTo>
                  <a:pt x="231648" y="329184"/>
                </a:lnTo>
                <a:lnTo>
                  <a:pt x="252984" y="326136"/>
                </a:lnTo>
                <a:lnTo>
                  <a:pt x="271272" y="323088"/>
                </a:lnTo>
                <a:lnTo>
                  <a:pt x="289559" y="316992"/>
                </a:lnTo>
                <a:lnTo>
                  <a:pt x="188976" y="316992"/>
                </a:lnTo>
                <a:lnTo>
                  <a:pt x="170687" y="313944"/>
                </a:lnTo>
                <a:lnTo>
                  <a:pt x="131064" y="304800"/>
                </a:lnTo>
                <a:lnTo>
                  <a:pt x="70103" y="271272"/>
                </a:lnTo>
                <a:lnTo>
                  <a:pt x="57912" y="259080"/>
                </a:lnTo>
                <a:lnTo>
                  <a:pt x="45720" y="249936"/>
                </a:lnTo>
                <a:lnTo>
                  <a:pt x="36576" y="234696"/>
                </a:lnTo>
                <a:lnTo>
                  <a:pt x="27431" y="222504"/>
                </a:lnTo>
                <a:lnTo>
                  <a:pt x="21336" y="210312"/>
                </a:lnTo>
                <a:lnTo>
                  <a:pt x="12192" y="164592"/>
                </a:lnTo>
                <a:lnTo>
                  <a:pt x="21336" y="118872"/>
                </a:lnTo>
                <a:lnTo>
                  <a:pt x="27431" y="106680"/>
                </a:lnTo>
                <a:lnTo>
                  <a:pt x="36576" y="91440"/>
                </a:lnTo>
                <a:lnTo>
                  <a:pt x="45720" y="79248"/>
                </a:lnTo>
                <a:lnTo>
                  <a:pt x="57912" y="70104"/>
                </a:lnTo>
                <a:lnTo>
                  <a:pt x="70103" y="57912"/>
                </a:lnTo>
                <a:lnTo>
                  <a:pt x="115824" y="30480"/>
                </a:lnTo>
                <a:lnTo>
                  <a:pt x="134112" y="24384"/>
                </a:lnTo>
                <a:lnTo>
                  <a:pt x="152400" y="21336"/>
                </a:lnTo>
                <a:lnTo>
                  <a:pt x="170687" y="15240"/>
                </a:lnTo>
                <a:lnTo>
                  <a:pt x="188976" y="15240"/>
                </a:lnTo>
                <a:lnTo>
                  <a:pt x="210312" y="12192"/>
                </a:lnTo>
                <a:lnTo>
                  <a:pt x="289559" y="12192"/>
                </a:lnTo>
                <a:lnTo>
                  <a:pt x="271272" y="6096"/>
                </a:lnTo>
                <a:lnTo>
                  <a:pt x="249936" y="3048"/>
                </a:lnTo>
                <a:lnTo>
                  <a:pt x="231648" y="0"/>
                </a:lnTo>
                <a:close/>
              </a:path>
              <a:path w="417830" h="329564">
                <a:moveTo>
                  <a:pt x="289559" y="12192"/>
                </a:moveTo>
                <a:lnTo>
                  <a:pt x="210312" y="12192"/>
                </a:lnTo>
                <a:lnTo>
                  <a:pt x="231648" y="15240"/>
                </a:lnTo>
                <a:lnTo>
                  <a:pt x="249936" y="15240"/>
                </a:lnTo>
                <a:lnTo>
                  <a:pt x="268224" y="21336"/>
                </a:lnTo>
                <a:lnTo>
                  <a:pt x="350520" y="57912"/>
                </a:lnTo>
                <a:lnTo>
                  <a:pt x="371856" y="82296"/>
                </a:lnTo>
                <a:lnTo>
                  <a:pt x="384047" y="94487"/>
                </a:lnTo>
                <a:lnTo>
                  <a:pt x="390144" y="106680"/>
                </a:lnTo>
                <a:lnTo>
                  <a:pt x="396240" y="121920"/>
                </a:lnTo>
                <a:lnTo>
                  <a:pt x="402335" y="134112"/>
                </a:lnTo>
                <a:lnTo>
                  <a:pt x="405384" y="149352"/>
                </a:lnTo>
                <a:lnTo>
                  <a:pt x="405384" y="179832"/>
                </a:lnTo>
                <a:lnTo>
                  <a:pt x="390144" y="222504"/>
                </a:lnTo>
                <a:lnTo>
                  <a:pt x="362712" y="262128"/>
                </a:lnTo>
                <a:lnTo>
                  <a:pt x="347472" y="271272"/>
                </a:lnTo>
                <a:lnTo>
                  <a:pt x="335280" y="280416"/>
                </a:lnTo>
                <a:lnTo>
                  <a:pt x="304800" y="298704"/>
                </a:lnTo>
                <a:lnTo>
                  <a:pt x="268224" y="310896"/>
                </a:lnTo>
                <a:lnTo>
                  <a:pt x="249936" y="313944"/>
                </a:lnTo>
                <a:lnTo>
                  <a:pt x="228600" y="316992"/>
                </a:lnTo>
                <a:lnTo>
                  <a:pt x="289559" y="316992"/>
                </a:lnTo>
                <a:lnTo>
                  <a:pt x="326136" y="301752"/>
                </a:lnTo>
                <a:lnTo>
                  <a:pt x="371856" y="268224"/>
                </a:lnTo>
                <a:lnTo>
                  <a:pt x="381000" y="256032"/>
                </a:lnTo>
                <a:lnTo>
                  <a:pt x="393191" y="243840"/>
                </a:lnTo>
                <a:lnTo>
                  <a:pt x="402335" y="228600"/>
                </a:lnTo>
                <a:lnTo>
                  <a:pt x="414528" y="198120"/>
                </a:lnTo>
                <a:lnTo>
                  <a:pt x="417576" y="182880"/>
                </a:lnTo>
                <a:lnTo>
                  <a:pt x="417576" y="146304"/>
                </a:lnTo>
                <a:lnTo>
                  <a:pt x="414528" y="131063"/>
                </a:lnTo>
                <a:lnTo>
                  <a:pt x="402335" y="100584"/>
                </a:lnTo>
                <a:lnTo>
                  <a:pt x="393191" y="85344"/>
                </a:lnTo>
                <a:lnTo>
                  <a:pt x="381000" y="73152"/>
                </a:lnTo>
                <a:lnTo>
                  <a:pt x="368808" y="57912"/>
                </a:lnTo>
                <a:lnTo>
                  <a:pt x="356616" y="48768"/>
                </a:lnTo>
                <a:lnTo>
                  <a:pt x="341376" y="36575"/>
                </a:lnTo>
                <a:lnTo>
                  <a:pt x="326136" y="27432"/>
                </a:lnTo>
                <a:lnTo>
                  <a:pt x="307848" y="21336"/>
                </a:lnTo>
                <a:lnTo>
                  <a:pt x="289559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265932" y="3415792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58792" y="3429001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30" h="329564">
                <a:moveTo>
                  <a:pt x="231647" y="0"/>
                </a:moveTo>
                <a:lnTo>
                  <a:pt x="188975" y="0"/>
                </a:lnTo>
                <a:lnTo>
                  <a:pt x="146303" y="6096"/>
                </a:lnTo>
                <a:lnTo>
                  <a:pt x="109727" y="18287"/>
                </a:lnTo>
                <a:lnTo>
                  <a:pt x="91439" y="27432"/>
                </a:lnTo>
                <a:lnTo>
                  <a:pt x="76200" y="36575"/>
                </a:lnTo>
                <a:lnTo>
                  <a:pt x="60959" y="48767"/>
                </a:lnTo>
                <a:lnTo>
                  <a:pt x="48768" y="57912"/>
                </a:lnTo>
                <a:lnTo>
                  <a:pt x="36575" y="73151"/>
                </a:lnTo>
                <a:lnTo>
                  <a:pt x="24383" y="85344"/>
                </a:lnTo>
                <a:lnTo>
                  <a:pt x="18287" y="100584"/>
                </a:lnTo>
                <a:lnTo>
                  <a:pt x="9143" y="115824"/>
                </a:lnTo>
                <a:lnTo>
                  <a:pt x="6095" y="131063"/>
                </a:lnTo>
                <a:lnTo>
                  <a:pt x="0" y="146303"/>
                </a:lnTo>
                <a:lnTo>
                  <a:pt x="0" y="182879"/>
                </a:lnTo>
                <a:lnTo>
                  <a:pt x="6095" y="198120"/>
                </a:lnTo>
                <a:lnTo>
                  <a:pt x="9143" y="213360"/>
                </a:lnTo>
                <a:lnTo>
                  <a:pt x="36575" y="256032"/>
                </a:lnTo>
                <a:lnTo>
                  <a:pt x="76200" y="292608"/>
                </a:lnTo>
                <a:lnTo>
                  <a:pt x="109727" y="307848"/>
                </a:lnTo>
                <a:lnTo>
                  <a:pt x="128015" y="316991"/>
                </a:lnTo>
                <a:lnTo>
                  <a:pt x="146303" y="320039"/>
                </a:lnTo>
                <a:lnTo>
                  <a:pt x="167639" y="326136"/>
                </a:lnTo>
                <a:lnTo>
                  <a:pt x="188975" y="329184"/>
                </a:lnTo>
                <a:lnTo>
                  <a:pt x="231647" y="329184"/>
                </a:lnTo>
                <a:lnTo>
                  <a:pt x="249935" y="326136"/>
                </a:lnTo>
                <a:lnTo>
                  <a:pt x="271271" y="320039"/>
                </a:lnTo>
                <a:lnTo>
                  <a:pt x="289559" y="316991"/>
                </a:lnTo>
                <a:lnTo>
                  <a:pt x="210312" y="316991"/>
                </a:lnTo>
                <a:lnTo>
                  <a:pt x="188975" y="313944"/>
                </a:lnTo>
                <a:lnTo>
                  <a:pt x="170687" y="313944"/>
                </a:lnTo>
                <a:lnTo>
                  <a:pt x="149351" y="307848"/>
                </a:lnTo>
                <a:lnTo>
                  <a:pt x="131063" y="304800"/>
                </a:lnTo>
                <a:lnTo>
                  <a:pt x="115824" y="298703"/>
                </a:lnTo>
                <a:lnTo>
                  <a:pt x="82295" y="280415"/>
                </a:lnTo>
                <a:lnTo>
                  <a:pt x="45719" y="246887"/>
                </a:lnTo>
                <a:lnTo>
                  <a:pt x="21335" y="207263"/>
                </a:lnTo>
                <a:lnTo>
                  <a:pt x="12191" y="164591"/>
                </a:lnTo>
                <a:lnTo>
                  <a:pt x="21335" y="118872"/>
                </a:lnTo>
                <a:lnTo>
                  <a:pt x="45719" y="79248"/>
                </a:lnTo>
                <a:lnTo>
                  <a:pt x="115824" y="30479"/>
                </a:lnTo>
                <a:lnTo>
                  <a:pt x="170687" y="15239"/>
                </a:lnTo>
                <a:lnTo>
                  <a:pt x="188975" y="12191"/>
                </a:lnTo>
                <a:lnTo>
                  <a:pt x="289559" y="12191"/>
                </a:lnTo>
                <a:lnTo>
                  <a:pt x="271271" y="6096"/>
                </a:lnTo>
                <a:lnTo>
                  <a:pt x="249935" y="3048"/>
                </a:lnTo>
                <a:lnTo>
                  <a:pt x="231647" y="0"/>
                </a:lnTo>
                <a:close/>
              </a:path>
              <a:path w="417830" h="329564">
                <a:moveTo>
                  <a:pt x="289559" y="12191"/>
                </a:moveTo>
                <a:lnTo>
                  <a:pt x="228600" y="12191"/>
                </a:lnTo>
                <a:lnTo>
                  <a:pt x="249935" y="15239"/>
                </a:lnTo>
                <a:lnTo>
                  <a:pt x="268224" y="18287"/>
                </a:lnTo>
                <a:lnTo>
                  <a:pt x="304800" y="30479"/>
                </a:lnTo>
                <a:lnTo>
                  <a:pt x="335280" y="48767"/>
                </a:lnTo>
                <a:lnTo>
                  <a:pt x="347471" y="57912"/>
                </a:lnTo>
                <a:lnTo>
                  <a:pt x="362712" y="67055"/>
                </a:lnTo>
                <a:lnTo>
                  <a:pt x="390144" y="106679"/>
                </a:lnTo>
                <a:lnTo>
                  <a:pt x="405383" y="149351"/>
                </a:lnTo>
                <a:lnTo>
                  <a:pt x="405383" y="179832"/>
                </a:lnTo>
                <a:lnTo>
                  <a:pt x="402335" y="195072"/>
                </a:lnTo>
                <a:lnTo>
                  <a:pt x="396239" y="210312"/>
                </a:lnTo>
                <a:lnTo>
                  <a:pt x="390144" y="222503"/>
                </a:lnTo>
                <a:lnTo>
                  <a:pt x="381000" y="234696"/>
                </a:lnTo>
                <a:lnTo>
                  <a:pt x="371856" y="249936"/>
                </a:lnTo>
                <a:lnTo>
                  <a:pt x="359663" y="259079"/>
                </a:lnTo>
                <a:lnTo>
                  <a:pt x="347471" y="271272"/>
                </a:lnTo>
                <a:lnTo>
                  <a:pt x="335280" y="280415"/>
                </a:lnTo>
                <a:lnTo>
                  <a:pt x="320039" y="289560"/>
                </a:lnTo>
                <a:lnTo>
                  <a:pt x="301751" y="298703"/>
                </a:lnTo>
                <a:lnTo>
                  <a:pt x="286512" y="304800"/>
                </a:lnTo>
                <a:lnTo>
                  <a:pt x="268224" y="307848"/>
                </a:lnTo>
                <a:lnTo>
                  <a:pt x="249935" y="313944"/>
                </a:lnTo>
                <a:lnTo>
                  <a:pt x="228600" y="313944"/>
                </a:lnTo>
                <a:lnTo>
                  <a:pt x="210312" y="316991"/>
                </a:lnTo>
                <a:lnTo>
                  <a:pt x="289559" y="316991"/>
                </a:lnTo>
                <a:lnTo>
                  <a:pt x="307847" y="307848"/>
                </a:lnTo>
                <a:lnTo>
                  <a:pt x="326135" y="301751"/>
                </a:lnTo>
                <a:lnTo>
                  <a:pt x="393191" y="243839"/>
                </a:lnTo>
                <a:lnTo>
                  <a:pt x="414527" y="198120"/>
                </a:lnTo>
                <a:lnTo>
                  <a:pt x="417575" y="182879"/>
                </a:lnTo>
                <a:lnTo>
                  <a:pt x="417575" y="146303"/>
                </a:lnTo>
                <a:lnTo>
                  <a:pt x="402335" y="100584"/>
                </a:lnTo>
                <a:lnTo>
                  <a:pt x="368807" y="57912"/>
                </a:lnTo>
                <a:lnTo>
                  <a:pt x="356615" y="48767"/>
                </a:lnTo>
                <a:lnTo>
                  <a:pt x="341375" y="36575"/>
                </a:lnTo>
                <a:lnTo>
                  <a:pt x="326135" y="27432"/>
                </a:lnTo>
                <a:lnTo>
                  <a:pt x="307847" y="18287"/>
                </a:lnTo>
                <a:lnTo>
                  <a:pt x="289559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677156" y="34157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09697" y="2987040"/>
            <a:ext cx="421005" cy="481965"/>
          </a:xfrm>
          <a:custGeom>
            <a:avLst/>
            <a:gdLst/>
            <a:ahLst/>
            <a:cxnLst/>
            <a:rect l="l" t="t" r="r" b="b"/>
            <a:pathLst>
              <a:path w="421005" h="481964">
                <a:moveTo>
                  <a:pt x="399287" y="0"/>
                </a:moveTo>
                <a:lnTo>
                  <a:pt x="0" y="463296"/>
                </a:lnTo>
                <a:lnTo>
                  <a:pt x="21335" y="481584"/>
                </a:lnTo>
                <a:lnTo>
                  <a:pt x="420623" y="18287"/>
                </a:lnTo>
                <a:lnTo>
                  <a:pt x="39928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71696" y="2990089"/>
            <a:ext cx="597535" cy="454659"/>
          </a:xfrm>
          <a:custGeom>
            <a:avLst/>
            <a:gdLst/>
            <a:ahLst/>
            <a:cxnLst/>
            <a:rect l="l" t="t" r="r" b="b"/>
            <a:pathLst>
              <a:path w="597535" h="454660">
                <a:moveTo>
                  <a:pt x="18287" y="0"/>
                </a:moveTo>
                <a:lnTo>
                  <a:pt x="0" y="24384"/>
                </a:lnTo>
                <a:lnTo>
                  <a:pt x="579120" y="454151"/>
                </a:lnTo>
                <a:lnTo>
                  <a:pt x="597408" y="429767"/>
                </a:lnTo>
                <a:lnTo>
                  <a:pt x="1828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652257" y="3221736"/>
            <a:ext cx="2411095" cy="1951431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61594" rIns="0" bIns="0" rtlCol="0">
            <a:spAutoFit/>
          </a:bodyPr>
          <a:lstStyle/>
          <a:p>
            <a:pPr marL="237490" marR="196850">
              <a:lnSpc>
                <a:spcPct val="200000"/>
              </a:lnSpc>
              <a:spcBef>
                <a:spcPts val="484"/>
              </a:spcBef>
            </a:pPr>
            <a:r>
              <a:rPr sz="1600">
                <a:latin typeface="Verdana"/>
                <a:cs typeface="Verdana"/>
              </a:rPr>
              <a:t>Queue </a:t>
            </a:r>
            <a:r>
              <a:rPr sz="1600" spc="5">
                <a:latin typeface="Verdana"/>
                <a:cs typeface="Verdana"/>
              </a:rPr>
              <a:t>= </a:t>
            </a:r>
            <a:r>
              <a:rPr sz="1600" spc="-10">
                <a:latin typeface="Verdana"/>
                <a:cs typeface="Verdana"/>
              </a:rPr>
              <a:t>{D, B,</a:t>
            </a:r>
            <a:r>
              <a:rPr sz="1600" spc="-95">
                <a:latin typeface="Verdana"/>
                <a:cs typeface="Verdana"/>
              </a:rPr>
              <a:t> </a:t>
            </a:r>
            <a:r>
              <a:rPr sz="1600" spc="5">
                <a:latin typeface="Verdana"/>
                <a:cs typeface="Verdana"/>
              </a:rPr>
              <a:t>D}  </a:t>
            </a:r>
            <a:r>
              <a:rPr sz="1600">
                <a:latin typeface="Verdana"/>
                <a:cs typeface="Verdana"/>
              </a:rPr>
              <a:t>Select</a:t>
            </a:r>
            <a:r>
              <a:rPr sz="1600" spc="-105">
                <a:latin typeface="Verdana"/>
                <a:cs typeface="Verdana"/>
              </a:rPr>
              <a:t> </a:t>
            </a:r>
            <a:r>
              <a:rPr sz="1600" spc="5">
                <a:latin typeface="Verdana"/>
                <a:cs typeface="Verdana"/>
              </a:rPr>
              <a:t>D</a:t>
            </a:r>
            <a:endParaRPr sz="1600">
              <a:latin typeface="Verdana"/>
              <a:cs typeface="Verdana"/>
            </a:endParaRPr>
          </a:p>
          <a:p>
            <a:pPr marL="237490" marR="365760">
              <a:lnSpc>
                <a:spcPct val="200000"/>
              </a:lnSpc>
            </a:pPr>
            <a:r>
              <a:rPr sz="1600">
                <a:latin typeface="Verdana"/>
                <a:cs typeface="Verdana"/>
              </a:rPr>
              <a:t>Goal(D) </a:t>
            </a:r>
            <a:r>
              <a:rPr sz="1600" spc="5">
                <a:latin typeface="Verdana"/>
                <a:cs typeface="Verdana"/>
              </a:rPr>
              <a:t>= </a:t>
            </a:r>
            <a:r>
              <a:rPr sz="1600">
                <a:latin typeface="Verdana"/>
                <a:cs typeface="Verdana"/>
              </a:rPr>
              <a:t>true?  </a:t>
            </a:r>
            <a:r>
              <a:rPr sz="1600" spc="10">
                <a:latin typeface="Verdana"/>
                <a:cs typeface="Verdana"/>
              </a:rPr>
              <a:t>If </a:t>
            </a:r>
            <a:r>
              <a:rPr sz="1600">
                <a:latin typeface="Verdana"/>
                <a:cs typeface="Verdana"/>
              </a:rPr>
              <a:t>not,</a:t>
            </a:r>
            <a:r>
              <a:rPr sz="1600" spc="-105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expand(D)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46159" y="3215640"/>
            <a:ext cx="2573020" cy="2707005"/>
          </a:xfrm>
          <a:custGeom>
            <a:avLst/>
            <a:gdLst/>
            <a:ahLst/>
            <a:cxnLst/>
            <a:rect l="l" t="t" r="r" b="b"/>
            <a:pathLst>
              <a:path w="2573020" h="2707004">
                <a:moveTo>
                  <a:pt x="2572512" y="0"/>
                </a:moveTo>
                <a:lnTo>
                  <a:pt x="0" y="0"/>
                </a:lnTo>
                <a:lnTo>
                  <a:pt x="0" y="2706624"/>
                </a:lnTo>
                <a:lnTo>
                  <a:pt x="2572512" y="2706624"/>
                </a:lnTo>
                <a:lnTo>
                  <a:pt x="2572512" y="2700528"/>
                </a:lnTo>
                <a:lnTo>
                  <a:pt x="12192" y="2700528"/>
                </a:lnTo>
                <a:lnTo>
                  <a:pt x="6096" y="2694432"/>
                </a:lnTo>
                <a:lnTo>
                  <a:pt x="12192" y="2694432"/>
                </a:lnTo>
                <a:lnTo>
                  <a:pt x="12192" y="12192"/>
                </a:lnTo>
                <a:lnTo>
                  <a:pt x="6096" y="12192"/>
                </a:lnTo>
                <a:lnTo>
                  <a:pt x="12192" y="6096"/>
                </a:lnTo>
                <a:lnTo>
                  <a:pt x="2572512" y="6096"/>
                </a:lnTo>
                <a:lnTo>
                  <a:pt x="2572512" y="0"/>
                </a:lnTo>
                <a:close/>
              </a:path>
              <a:path w="2573020" h="2707004">
                <a:moveTo>
                  <a:pt x="12192" y="2694432"/>
                </a:moveTo>
                <a:lnTo>
                  <a:pt x="6096" y="2694432"/>
                </a:lnTo>
                <a:lnTo>
                  <a:pt x="12192" y="2700528"/>
                </a:lnTo>
                <a:lnTo>
                  <a:pt x="12192" y="2694432"/>
                </a:lnTo>
                <a:close/>
              </a:path>
              <a:path w="2573020" h="2707004">
                <a:moveTo>
                  <a:pt x="2560320" y="2694432"/>
                </a:moveTo>
                <a:lnTo>
                  <a:pt x="12192" y="2694432"/>
                </a:lnTo>
                <a:lnTo>
                  <a:pt x="12192" y="2700528"/>
                </a:lnTo>
                <a:lnTo>
                  <a:pt x="2560320" y="2700528"/>
                </a:lnTo>
                <a:lnTo>
                  <a:pt x="2560320" y="2694432"/>
                </a:lnTo>
                <a:close/>
              </a:path>
              <a:path w="2573020" h="2707004">
                <a:moveTo>
                  <a:pt x="2560320" y="6096"/>
                </a:moveTo>
                <a:lnTo>
                  <a:pt x="2560320" y="2700528"/>
                </a:lnTo>
                <a:lnTo>
                  <a:pt x="2566416" y="2694432"/>
                </a:lnTo>
                <a:lnTo>
                  <a:pt x="2572512" y="2694432"/>
                </a:lnTo>
                <a:lnTo>
                  <a:pt x="2572512" y="12192"/>
                </a:lnTo>
                <a:lnTo>
                  <a:pt x="2566416" y="12192"/>
                </a:lnTo>
                <a:lnTo>
                  <a:pt x="2560320" y="6096"/>
                </a:lnTo>
                <a:close/>
              </a:path>
              <a:path w="2573020" h="2707004">
                <a:moveTo>
                  <a:pt x="2572512" y="2694432"/>
                </a:moveTo>
                <a:lnTo>
                  <a:pt x="2566416" y="2694432"/>
                </a:lnTo>
                <a:lnTo>
                  <a:pt x="2560320" y="2700528"/>
                </a:lnTo>
                <a:lnTo>
                  <a:pt x="2572512" y="2700528"/>
                </a:lnTo>
                <a:lnTo>
                  <a:pt x="2572512" y="2694432"/>
                </a:lnTo>
                <a:close/>
              </a:path>
              <a:path w="2573020" h="2707004">
                <a:moveTo>
                  <a:pt x="12192" y="6096"/>
                </a:moveTo>
                <a:lnTo>
                  <a:pt x="6096" y="12192"/>
                </a:lnTo>
                <a:lnTo>
                  <a:pt x="12192" y="12192"/>
                </a:lnTo>
                <a:lnTo>
                  <a:pt x="12192" y="6096"/>
                </a:lnTo>
                <a:close/>
              </a:path>
              <a:path w="2573020" h="2707004">
                <a:moveTo>
                  <a:pt x="2560320" y="6096"/>
                </a:moveTo>
                <a:lnTo>
                  <a:pt x="12192" y="6096"/>
                </a:lnTo>
                <a:lnTo>
                  <a:pt x="12192" y="12192"/>
                </a:lnTo>
                <a:lnTo>
                  <a:pt x="2560320" y="12192"/>
                </a:lnTo>
                <a:lnTo>
                  <a:pt x="2560320" y="6096"/>
                </a:lnTo>
                <a:close/>
              </a:path>
              <a:path w="2573020" h="2707004">
                <a:moveTo>
                  <a:pt x="2572512" y="6096"/>
                </a:moveTo>
                <a:lnTo>
                  <a:pt x="2560320" y="6096"/>
                </a:lnTo>
                <a:lnTo>
                  <a:pt x="2566416" y="12192"/>
                </a:lnTo>
                <a:lnTo>
                  <a:pt x="2572512" y="12192"/>
                </a:lnTo>
                <a:lnTo>
                  <a:pt x="2572512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48939" y="880872"/>
            <a:ext cx="281559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BFS Search</a:t>
            </a:r>
            <a:r>
              <a:rPr sz="2400" b="1" spc="-5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59760" y="2054351"/>
            <a:ext cx="4785360" cy="1716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542020" y="2548129"/>
            <a:ext cx="240220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061085" algn="l"/>
                <a:tab pos="2261870" algn="l"/>
              </a:tabLst>
            </a:pPr>
            <a:r>
              <a:rPr sz="2700" spc="-7" baseline="1543">
                <a:latin typeface="Times New Roman"/>
                <a:cs typeface="Times New Roman"/>
              </a:rPr>
              <a:t>D	</a:t>
            </a:r>
            <a:r>
              <a:rPr spc="-5">
                <a:latin typeface="Times New Roman"/>
                <a:cs typeface="Times New Roman"/>
              </a:rPr>
              <a:t>E	</a:t>
            </a:r>
            <a:r>
              <a:rPr sz="2700" spc="-7" baseline="1543">
                <a:latin typeface="Times New Roman"/>
                <a:cs typeface="Times New Roman"/>
              </a:rPr>
              <a:t>F</a:t>
            </a:r>
            <a:endParaRPr sz="2700" baseline="154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26709" y="3388360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45908" y="3406648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65932" y="3415792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77156" y="34157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52256" y="3221735"/>
            <a:ext cx="2560320" cy="1292020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6985" rIns="0" bIns="0" rtlCol="0">
            <a:spAutoFit/>
          </a:bodyPr>
          <a:lstStyle/>
          <a:p>
            <a:pPr>
              <a:spcBef>
                <a:spcPts val="55"/>
              </a:spcBef>
            </a:pPr>
            <a:endParaRPr sz="1900">
              <a:latin typeface="Times New Roman"/>
              <a:cs typeface="Times New Roman"/>
            </a:endParaRPr>
          </a:p>
          <a:p>
            <a:pPr marL="237490"/>
            <a:r>
              <a:rPr sz="1600">
                <a:latin typeface="Verdana"/>
                <a:cs typeface="Verdana"/>
              </a:rPr>
              <a:t>Queue </a:t>
            </a:r>
            <a:r>
              <a:rPr sz="1600" spc="5">
                <a:latin typeface="Verdana"/>
                <a:cs typeface="Verdana"/>
              </a:rPr>
              <a:t>= </a:t>
            </a:r>
            <a:r>
              <a:rPr sz="1600" spc="-5">
                <a:latin typeface="Verdana"/>
                <a:cs typeface="Verdana"/>
              </a:rPr>
              <a:t>{B, </a:t>
            </a:r>
            <a:r>
              <a:rPr sz="1600" spc="-20">
                <a:latin typeface="Verdana"/>
                <a:cs typeface="Verdana"/>
              </a:rPr>
              <a:t>D, </a:t>
            </a:r>
            <a:r>
              <a:rPr sz="1600">
                <a:latin typeface="Verdana"/>
                <a:cs typeface="Verdana"/>
              </a:rPr>
              <a:t>A,</a:t>
            </a:r>
            <a:r>
              <a:rPr sz="1600" spc="-60">
                <a:latin typeface="Verdana"/>
                <a:cs typeface="Verdana"/>
              </a:rPr>
              <a:t> </a:t>
            </a:r>
            <a:r>
              <a:rPr sz="1600" spc="-5">
                <a:latin typeface="Verdana"/>
                <a:cs typeface="Verdana"/>
              </a:rPr>
              <a:t>E}</a:t>
            </a:r>
            <a:endParaRPr sz="1600">
              <a:latin typeface="Verdana"/>
              <a:cs typeface="Verdana"/>
            </a:endParaRPr>
          </a:p>
          <a:p>
            <a:pPr>
              <a:spcBef>
                <a:spcPts val="20"/>
              </a:spcBef>
            </a:pPr>
            <a:endParaRPr sz="1650">
              <a:latin typeface="Times New Roman"/>
              <a:cs typeface="Times New Roman"/>
            </a:endParaRPr>
          </a:p>
          <a:p>
            <a:pPr marL="237490" marR="1479550"/>
            <a:r>
              <a:rPr sz="1600">
                <a:latin typeface="Verdana"/>
                <a:cs typeface="Verdana"/>
              </a:rPr>
              <a:t>Select</a:t>
            </a:r>
            <a:r>
              <a:rPr sz="1600" spc="-105">
                <a:latin typeface="Verdana"/>
                <a:cs typeface="Verdana"/>
              </a:rPr>
              <a:t> </a:t>
            </a:r>
            <a:r>
              <a:rPr sz="1600" spc="5">
                <a:latin typeface="Verdana"/>
                <a:cs typeface="Verdana"/>
              </a:rPr>
              <a:t>B  </a:t>
            </a:r>
            <a:r>
              <a:rPr sz="1600">
                <a:latin typeface="Verdana"/>
                <a:cs typeface="Verdana"/>
              </a:rPr>
              <a:t>etc.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48939" y="880872"/>
            <a:ext cx="281559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BFS Search</a:t>
            </a:r>
            <a:r>
              <a:rPr sz="2400" b="1" spc="-5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69616" y="2054351"/>
            <a:ext cx="6019800" cy="24932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542019" y="2538985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90531" y="2548129"/>
            <a:ext cx="1651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791444" y="2538985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F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26709" y="3388360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45908" y="3406648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65932" y="3415792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77156" y="34157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24571" y="4165601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90204" y="4165601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19372" y="4205224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61916" y="4180841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30596" y="4180841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95059" y="4180841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63740" y="4180841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75788" y="4193033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939" y="880872"/>
            <a:ext cx="281559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BFS Search</a:t>
            </a:r>
            <a:r>
              <a:rPr sz="2400" b="1" spc="-5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69617" y="2054351"/>
            <a:ext cx="6537959" cy="3273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42019" y="2538985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90531" y="2548129"/>
            <a:ext cx="1651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791444" y="2538985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F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26709" y="3388360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5908" y="3406648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65932" y="3415792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77156" y="34157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24571" y="4165601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90204" y="4165601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19372" y="4205224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61916" y="4180841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30596" y="4180841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95059" y="4180841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63740" y="4180841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999220" y="4927601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95701" y="4985512"/>
            <a:ext cx="62674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472440" algn="l"/>
              </a:tabLst>
            </a:pPr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	</a:t>
            </a:r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64965" y="4955033"/>
            <a:ext cx="265493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60705" algn="l"/>
                <a:tab pos="1021080" algn="l"/>
                <a:tab pos="1566545" algn="l"/>
                <a:tab pos="2026920" algn="l"/>
                <a:tab pos="2487295" algn="l"/>
              </a:tabLst>
            </a:pPr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A	B	</a:t>
            </a:r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F	</a:t>
            </a:r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	C	</a:t>
            </a:r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33715" y="4927601"/>
            <a:ext cx="71882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36575" algn="l"/>
              </a:tabLst>
            </a:pPr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A	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875788" y="4193033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652512" y="5739384"/>
            <a:ext cx="3688079" cy="1173480"/>
          </a:xfrm>
          <a:custGeom>
            <a:avLst/>
            <a:gdLst/>
            <a:ahLst/>
            <a:cxnLst/>
            <a:rect l="l" t="t" r="r" b="b"/>
            <a:pathLst>
              <a:path w="3688079" h="1173479">
                <a:moveTo>
                  <a:pt x="3688080" y="0"/>
                </a:moveTo>
                <a:lnTo>
                  <a:pt x="0" y="0"/>
                </a:lnTo>
                <a:lnTo>
                  <a:pt x="0" y="1173480"/>
                </a:lnTo>
                <a:lnTo>
                  <a:pt x="3688080" y="1173480"/>
                </a:lnTo>
                <a:lnTo>
                  <a:pt x="3688080" y="1167384"/>
                </a:lnTo>
                <a:lnTo>
                  <a:pt x="12191" y="1167384"/>
                </a:lnTo>
                <a:lnTo>
                  <a:pt x="6096" y="1161288"/>
                </a:lnTo>
                <a:lnTo>
                  <a:pt x="12191" y="1161288"/>
                </a:lnTo>
                <a:lnTo>
                  <a:pt x="12191" y="12192"/>
                </a:lnTo>
                <a:lnTo>
                  <a:pt x="6096" y="12192"/>
                </a:lnTo>
                <a:lnTo>
                  <a:pt x="12191" y="6096"/>
                </a:lnTo>
                <a:lnTo>
                  <a:pt x="3688080" y="6096"/>
                </a:lnTo>
                <a:lnTo>
                  <a:pt x="3688080" y="0"/>
                </a:lnTo>
                <a:close/>
              </a:path>
              <a:path w="3688079" h="1173479">
                <a:moveTo>
                  <a:pt x="12191" y="1161288"/>
                </a:moveTo>
                <a:lnTo>
                  <a:pt x="6096" y="1161288"/>
                </a:lnTo>
                <a:lnTo>
                  <a:pt x="12191" y="1167384"/>
                </a:lnTo>
                <a:lnTo>
                  <a:pt x="12191" y="1161288"/>
                </a:lnTo>
                <a:close/>
              </a:path>
              <a:path w="3688079" h="1173479">
                <a:moveTo>
                  <a:pt x="3672840" y="1161288"/>
                </a:moveTo>
                <a:lnTo>
                  <a:pt x="12191" y="1161288"/>
                </a:lnTo>
                <a:lnTo>
                  <a:pt x="12191" y="1167384"/>
                </a:lnTo>
                <a:lnTo>
                  <a:pt x="3672840" y="1167384"/>
                </a:lnTo>
                <a:lnTo>
                  <a:pt x="3672840" y="1161288"/>
                </a:lnTo>
                <a:close/>
              </a:path>
              <a:path w="3688079" h="1173479">
                <a:moveTo>
                  <a:pt x="3672840" y="6096"/>
                </a:moveTo>
                <a:lnTo>
                  <a:pt x="3672840" y="1167384"/>
                </a:lnTo>
                <a:lnTo>
                  <a:pt x="3681984" y="1161288"/>
                </a:lnTo>
                <a:lnTo>
                  <a:pt x="3688080" y="1161288"/>
                </a:lnTo>
                <a:lnTo>
                  <a:pt x="3688080" y="12192"/>
                </a:lnTo>
                <a:lnTo>
                  <a:pt x="3681984" y="12192"/>
                </a:lnTo>
                <a:lnTo>
                  <a:pt x="3672840" y="6096"/>
                </a:lnTo>
                <a:close/>
              </a:path>
              <a:path w="3688079" h="1173479">
                <a:moveTo>
                  <a:pt x="3688080" y="1161288"/>
                </a:moveTo>
                <a:lnTo>
                  <a:pt x="3681984" y="1161288"/>
                </a:lnTo>
                <a:lnTo>
                  <a:pt x="3672840" y="1167384"/>
                </a:lnTo>
                <a:lnTo>
                  <a:pt x="3688080" y="1167384"/>
                </a:lnTo>
                <a:lnTo>
                  <a:pt x="3688080" y="1161288"/>
                </a:lnTo>
                <a:close/>
              </a:path>
              <a:path w="3688079" h="1173479">
                <a:moveTo>
                  <a:pt x="12191" y="6096"/>
                </a:moveTo>
                <a:lnTo>
                  <a:pt x="6096" y="12192"/>
                </a:lnTo>
                <a:lnTo>
                  <a:pt x="12191" y="12192"/>
                </a:lnTo>
                <a:lnTo>
                  <a:pt x="12191" y="6096"/>
                </a:lnTo>
                <a:close/>
              </a:path>
              <a:path w="3688079" h="1173479">
                <a:moveTo>
                  <a:pt x="3672840" y="6096"/>
                </a:moveTo>
                <a:lnTo>
                  <a:pt x="12191" y="6096"/>
                </a:lnTo>
                <a:lnTo>
                  <a:pt x="12191" y="12192"/>
                </a:lnTo>
                <a:lnTo>
                  <a:pt x="3672840" y="12192"/>
                </a:lnTo>
                <a:lnTo>
                  <a:pt x="3672840" y="6096"/>
                </a:lnTo>
                <a:close/>
              </a:path>
              <a:path w="3688079" h="1173479">
                <a:moveTo>
                  <a:pt x="3688080" y="6096"/>
                </a:moveTo>
                <a:lnTo>
                  <a:pt x="3672840" y="6096"/>
                </a:lnTo>
                <a:lnTo>
                  <a:pt x="3681984" y="12192"/>
                </a:lnTo>
                <a:lnTo>
                  <a:pt x="3688080" y="12192"/>
                </a:lnTo>
                <a:lnTo>
                  <a:pt x="368808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658609" y="5745480"/>
            <a:ext cx="3676015" cy="1161415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153035" rIns="0" bIns="0" rtlCol="0">
            <a:spAutoFit/>
          </a:bodyPr>
          <a:lstStyle/>
          <a:p>
            <a:pPr marL="154940">
              <a:spcBef>
                <a:spcPts val="1205"/>
              </a:spcBef>
            </a:pPr>
            <a:r>
              <a:rPr sz="1600" spc="-5">
                <a:latin typeface="Verdana"/>
                <a:cs typeface="Verdana"/>
              </a:rPr>
              <a:t>Level</a:t>
            </a:r>
            <a:r>
              <a:rPr sz="1600" spc="-100">
                <a:latin typeface="Verdana"/>
                <a:cs typeface="Verdana"/>
              </a:rPr>
              <a:t> </a:t>
            </a:r>
            <a:r>
              <a:rPr sz="1600" spc="5">
                <a:latin typeface="Verdana"/>
                <a:cs typeface="Verdana"/>
              </a:rPr>
              <a:t>4</a:t>
            </a:r>
            <a:endParaRPr sz="1600">
              <a:latin typeface="Verdana"/>
              <a:cs typeface="Verdana"/>
            </a:endParaRPr>
          </a:p>
          <a:p>
            <a:pPr marL="154940" marR="240029"/>
            <a:r>
              <a:rPr sz="1600">
                <a:latin typeface="Verdana"/>
                <a:cs typeface="Verdana"/>
              </a:rPr>
              <a:t>Expand queue </a:t>
            </a:r>
            <a:r>
              <a:rPr sz="1600" spc="-5">
                <a:latin typeface="Verdana"/>
                <a:cs typeface="Verdana"/>
              </a:rPr>
              <a:t>until </a:t>
            </a:r>
            <a:r>
              <a:rPr sz="1600" spc="5">
                <a:latin typeface="Verdana"/>
                <a:cs typeface="Verdana"/>
              </a:rPr>
              <a:t>G </a:t>
            </a:r>
            <a:r>
              <a:rPr sz="1600" spc="-5">
                <a:latin typeface="Verdana"/>
                <a:cs typeface="Verdana"/>
              </a:rPr>
              <a:t>is </a:t>
            </a:r>
            <a:r>
              <a:rPr sz="1600">
                <a:latin typeface="Verdana"/>
                <a:cs typeface="Verdana"/>
              </a:rPr>
              <a:t>at</a:t>
            </a:r>
            <a:r>
              <a:rPr sz="1600" spc="-100">
                <a:latin typeface="Verdana"/>
                <a:cs typeface="Verdana"/>
              </a:rPr>
              <a:t> </a:t>
            </a:r>
            <a:r>
              <a:rPr sz="1600" spc="5">
                <a:latin typeface="Verdana"/>
                <a:cs typeface="Verdana"/>
              </a:rPr>
              <a:t>front  </a:t>
            </a:r>
            <a:r>
              <a:rPr sz="1600">
                <a:latin typeface="Verdana"/>
                <a:cs typeface="Verdana"/>
              </a:rPr>
              <a:t>Select</a:t>
            </a:r>
            <a:r>
              <a:rPr sz="1600" spc="-110">
                <a:latin typeface="Verdana"/>
                <a:cs typeface="Verdana"/>
              </a:rPr>
              <a:t> </a:t>
            </a:r>
            <a:r>
              <a:rPr sz="1600" spc="5">
                <a:latin typeface="Verdana"/>
                <a:cs typeface="Verdana"/>
              </a:rPr>
              <a:t>G</a:t>
            </a:r>
            <a:endParaRPr sz="1600">
              <a:latin typeface="Verdana"/>
              <a:cs typeface="Verdana"/>
            </a:endParaRPr>
          </a:p>
          <a:p>
            <a:pPr marL="154940"/>
            <a:r>
              <a:rPr sz="1600">
                <a:latin typeface="Verdana"/>
                <a:cs typeface="Verdana"/>
              </a:rPr>
              <a:t>Goal(G) </a:t>
            </a:r>
            <a:r>
              <a:rPr sz="1600" spc="5">
                <a:latin typeface="Verdana"/>
                <a:cs typeface="Verdana"/>
              </a:rPr>
              <a:t>=</a:t>
            </a:r>
            <a:r>
              <a:rPr sz="1600" spc="-120">
                <a:latin typeface="Verdana"/>
                <a:cs typeface="Verdana"/>
              </a:rPr>
              <a:t> </a:t>
            </a:r>
            <a:r>
              <a:rPr sz="1600">
                <a:latin typeface="Verdana"/>
                <a:cs typeface="Verdana"/>
              </a:rPr>
              <a:t>true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4538" y="132963"/>
            <a:ext cx="9768523" cy="787558"/>
          </a:xfrm>
        </p:spPr>
        <p:txBody>
          <a:bodyPr>
            <a:normAutofit/>
          </a:bodyPr>
          <a:lstStyle/>
          <a:p>
            <a:pPr algn="ctr"/>
            <a:r>
              <a:rPr lang="en-US"/>
              <a:t>8-Puzzle Problem using BFS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298700" y="1790700"/>
            <a:ext cx="9052560" cy="53644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01752" indent="-301752" defTabSz="1005840">
              <a:lnSpc>
                <a:spcPct val="80000"/>
              </a:lnSpc>
              <a:spcBef>
                <a:spcPts val="638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3080"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047241" y="1623062"/>
            <a:ext cx="9768523" cy="5230019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01752" indent="-301752" defTabSz="1005840">
              <a:spcBef>
                <a:spcPts val="638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60">
              <a:ea typeface="ＭＳ Ｐゴシック" pitchFamily="31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196" y="708590"/>
            <a:ext cx="8960804" cy="703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150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64"/>
          <p:cNvSpPr>
            <a:spLocks/>
          </p:cNvSpPr>
          <p:nvPr/>
        </p:nvSpPr>
        <p:spPr bwMode="auto">
          <a:xfrm>
            <a:off x="9663323" y="2310131"/>
            <a:ext cx="613518" cy="474980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720"/>
          </a:p>
        </p:txBody>
      </p:sp>
      <p:sp>
        <p:nvSpPr>
          <p:cNvPr id="802818" name="Freeform 2"/>
          <p:cNvSpPr>
            <a:spLocks/>
          </p:cNvSpPr>
          <p:nvPr/>
        </p:nvSpPr>
        <p:spPr bwMode="auto">
          <a:xfrm>
            <a:off x="8997634" y="2290350"/>
            <a:ext cx="1955695" cy="1666028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720"/>
          </a:p>
        </p:txBody>
      </p:sp>
      <p:sp>
        <p:nvSpPr>
          <p:cNvPr id="35" name="Freeform 4"/>
          <p:cNvSpPr>
            <a:spLocks/>
          </p:cNvSpPr>
          <p:nvPr/>
        </p:nvSpPr>
        <p:spPr bwMode="auto">
          <a:xfrm>
            <a:off x="9154160" y="2310130"/>
            <a:ext cx="1640840" cy="131699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720"/>
          </a:p>
        </p:txBody>
      </p:sp>
      <p:sp>
        <p:nvSpPr>
          <p:cNvPr id="37" name="Freeform 4"/>
          <p:cNvSpPr>
            <a:spLocks/>
          </p:cNvSpPr>
          <p:nvPr/>
        </p:nvSpPr>
        <p:spPr bwMode="auto">
          <a:xfrm>
            <a:off x="9413251" y="2310130"/>
            <a:ext cx="1122679" cy="88519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72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xfrm>
            <a:off x="4263072" y="265551"/>
            <a:ext cx="9281326" cy="430887"/>
          </a:xfrm>
        </p:spPr>
        <p:txBody>
          <a:bodyPr/>
          <a:lstStyle/>
          <a:p>
            <a:pPr eaLnBrk="1" hangingPunct="1"/>
            <a:r>
              <a:rPr lang="en-US"/>
              <a:t>Breadth-First Search (BFS) Properties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idx="1"/>
          </p:nvPr>
        </p:nvSpPr>
        <p:spPr>
          <a:xfrm>
            <a:off x="317434" y="1455689"/>
            <a:ext cx="6448213" cy="5021311"/>
          </a:xfrm>
        </p:spPr>
        <p:txBody>
          <a:bodyPr/>
          <a:lstStyle/>
          <a:p>
            <a:r>
              <a:rPr lang="en-US" sz="2720"/>
              <a:t>What nodes does BFS expand?</a:t>
            </a:r>
          </a:p>
          <a:p>
            <a:pPr lvl="1"/>
            <a:r>
              <a:rPr lang="en-US" sz="2267"/>
              <a:t>Processes all nodes above shallowest solution</a:t>
            </a:r>
          </a:p>
          <a:p>
            <a:pPr lvl="1"/>
            <a:r>
              <a:rPr lang="en-US" sz="2267"/>
              <a:t>Let depth of shallowest solution be s</a:t>
            </a:r>
          </a:p>
          <a:p>
            <a:pPr lvl="1"/>
            <a:r>
              <a:rPr lang="en-US" sz="2267"/>
              <a:t>Search takes time O(</a:t>
            </a:r>
            <a:r>
              <a:rPr lang="en-US" sz="2267" err="1"/>
              <a:t>b</a:t>
            </a:r>
            <a:r>
              <a:rPr lang="en-US" sz="2267" baseline="30000" err="1"/>
              <a:t>s</a:t>
            </a:r>
            <a:r>
              <a:rPr lang="en-US" sz="2267"/>
              <a:t>)</a:t>
            </a:r>
          </a:p>
          <a:p>
            <a:pPr lvl="3"/>
            <a:endParaRPr lang="en-US" sz="1360"/>
          </a:p>
          <a:p>
            <a:r>
              <a:rPr lang="en-US" sz="2720"/>
              <a:t>How much space does the frontier take?</a:t>
            </a:r>
          </a:p>
          <a:p>
            <a:pPr lvl="1"/>
            <a:r>
              <a:rPr lang="en-US" sz="2267"/>
              <a:t>Has roughly the last tier, so O(</a:t>
            </a:r>
            <a:r>
              <a:rPr lang="en-US" sz="2267" err="1"/>
              <a:t>b</a:t>
            </a:r>
            <a:r>
              <a:rPr lang="en-US" sz="2267" baseline="30000" err="1"/>
              <a:t>s</a:t>
            </a:r>
            <a:r>
              <a:rPr lang="en-US" sz="2267"/>
              <a:t>)</a:t>
            </a:r>
          </a:p>
          <a:p>
            <a:pPr lvl="3"/>
            <a:endParaRPr lang="en-US" sz="1360"/>
          </a:p>
          <a:p>
            <a:r>
              <a:rPr lang="en-US" sz="2720"/>
              <a:t>Is it complete?</a:t>
            </a:r>
          </a:p>
          <a:p>
            <a:pPr lvl="1"/>
            <a:r>
              <a:rPr lang="en-US" sz="2267"/>
              <a:t>s must be finite if a solution exists, so yes!</a:t>
            </a:r>
          </a:p>
          <a:p>
            <a:pPr lvl="2"/>
            <a:endParaRPr lang="en-US" sz="907"/>
          </a:p>
          <a:p>
            <a:r>
              <a:rPr lang="en-US" sz="2720"/>
              <a:t>Is it optimal?</a:t>
            </a:r>
          </a:p>
          <a:p>
            <a:pPr lvl="1"/>
            <a:r>
              <a:rPr lang="en-US" sz="2267"/>
              <a:t>Only if costs are all the same (more on costs later)</a:t>
            </a:r>
          </a:p>
          <a:p>
            <a:endParaRPr lang="en-US"/>
          </a:p>
        </p:txBody>
      </p:sp>
      <p:sp>
        <p:nvSpPr>
          <p:cNvPr id="24614" name="Freeform 38"/>
          <p:cNvSpPr>
            <a:spLocks/>
          </p:cNvSpPr>
          <p:nvPr/>
        </p:nvSpPr>
        <p:spPr bwMode="auto">
          <a:xfrm>
            <a:off x="8326554" y="2268746"/>
            <a:ext cx="3317664" cy="2894860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720"/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9861237" y="2189585"/>
            <a:ext cx="203306" cy="20330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720"/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9598557" y="2671764"/>
            <a:ext cx="203306" cy="20330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720"/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10138305" y="2660966"/>
            <a:ext cx="203306" cy="20330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720"/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9746097" y="2502644"/>
            <a:ext cx="311258" cy="52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720"/>
              <a:t>…</a:t>
            </a:r>
          </a:p>
        </p:txBody>
      </p:sp>
      <p:sp>
        <p:nvSpPr>
          <p:cNvPr id="24619" name="Freeform 43"/>
          <p:cNvSpPr>
            <a:spLocks/>
          </p:cNvSpPr>
          <p:nvPr/>
        </p:nvSpPr>
        <p:spPr bwMode="auto">
          <a:xfrm>
            <a:off x="9726297" y="2450465"/>
            <a:ext cx="503767" cy="100753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103614" tIns="51814" rIns="103614" bIns="51814"/>
          <a:lstStyle/>
          <a:p>
            <a:endParaRPr lang="en-US" sz="2720"/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10181488" y="2221972"/>
            <a:ext cx="338244" cy="52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720"/>
              <a:t>b</a:t>
            </a:r>
          </a:p>
        </p:txBody>
      </p:sp>
      <p:sp>
        <p:nvSpPr>
          <p:cNvPr id="24621" name="Text Box 45"/>
          <p:cNvSpPr txBox="1">
            <a:spLocks noChangeArrowheads="1"/>
          </p:cNvSpPr>
          <p:nvPr/>
        </p:nvSpPr>
        <p:spPr bwMode="auto">
          <a:xfrm>
            <a:off x="11798940" y="2054651"/>
            <a:ext cx="1268412" cy="52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720"/>
              <a:t>1 node</a:t>
            </a:r>
          </a:p>
        </p:txBody>
      </p:sp>
      <p:sp>
        <p:nvSpPr>
          <p:cNvPr id="24622" name="Text Box 46"/>
          <p:cNvSpPr txBox="1">
            <a:spLocks noChangeArrowheads="1"/>
          </p:cNvSpPr>
          <p:nvPr/>
        </p:nvSpPr>
        <p:spPr bwMode="auto">
          <a:xfrm>
            <a:off x="11800737" y="2542225"/>
            <a:ext cx="1556276" cy="52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720"/>
              <a:t>b nodes</a:t>
            </a:r>
          </a:p>
        </p:txBody>
      </p:sp>
      <p:sp>
        <p:nvSpPr>
          <p:cNvPr id="24623" name="Text Box 47"/>
          <p:cNvSpPr txBox="1">
            <a:spLocks noChangeArrowheads="1"/>
          </p:cNvSpPr>
          <p:nvPr/>
        </p:nvSpPr>
        <p:spPr bwMode="auto">
          <a:xfrm>
            <a:off x="11800737" y="3008208"/>
            <a:ext cx="1556276" cy="52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720"/>
              <a:t>b</a:t>
            </a:r>
            <a:r>
              <a:rPr lang="en-US" sz="2720" baseline="30000"/>
              <a:t>2</a:t>
            </a:r>
            <a:r>
              <a:rPr lang="en-US" sz="2720"/>
              <a:t> nodes</a:t>
            </a:r>
          </a:p>
        </p:txBody>
      </p:sp>
      <p:sp>
        <p:nvSpPr>
          <p:cNvPr id="24624" name="Text Box 48"/>
          <p:cNvSpPr txBox="1">
            <a:spLocks noChangeArrowheads="1"/>
          </p:cNvSpPr>
          <p:nvPr/>
        </p:nvSpPr>
        <p:spPr bwMode="auto">
          <a:xfrm>
            <a:off x="11816930" y="4764193"/>
            <a:ext cx="1655233" cy="52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720"/>
              <a:t>b</a:t>
            </a:r>
            <a:r>
              <a:rPr lang="en-US" sz="2720" baseline="30000"/>
              <a:t>m</a:t>
            </a:r>
            <a:r>
              <a:rPr lang="en-US" sz="2720"/>
              <a:t> nodes</a:t>
            </a:r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9226129" y="5070055"/>
            <a:ext cx="203305" cy="20330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720"/>
          </a:p>
        </p:txBody>
      </p:sp>
      <p:sp>
        <p:nvSpPr>
          <p:cNvPr id="24626" name="Oval 50"/>
          <p:cNvSpPr>
            <a:spLocks noChangeArrowheads="1"/>
          </p:cNvSpPr>
          <p:nvPr/>
        </p:nvSpPr>
        <p:spPr bwMode="auto">
          <a:xfrm>
            <a:off x="10418977" y="3850216"/>
            <a:ext cx="203306" cy="203305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720"/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9875625" y="4479928"/>
            <a:ext cx="203306" cy="203305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720"/>
          </a:p>
        </p:txBody>
      </p:sp>
      <p:sp>
        <p:nvSpPr>
          <p:cNvPr id="24631" name="AutoShape 55"/>
          <p:cNvSpPr>
            <a:spLocks/>
          </p:cNvSpPr>
          <p:nvPr/>
        </p:nvSpPr>
        <p:spPr bwMode="auto">
          <a:xfrm>
            <a:off x="7837169" y="1986290"/>
            <a:ext cx="300460" cy="1908915"/>
          </a:xfrm>
          <a:prstGeom prst="leftBrace">
            <a:avLst>
              <a:gd name="adj1" fmla="val 52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720"/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6692905" y="2711344"/>
            <a:ext cx="1433935" cy="52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720"/>
              <a:t>s tiers</a:t>
            </a:r>
          </a:p>
        </p:txBody>
      </p:sp>
      <p:sp>
        <p:nvSpPr>
          <p:cNvPr id="24637" name="Text Box 61"/>
          <p:cNvSpPr txBox="1">
            <a:spLocks noChangeArrowheads="1"/>
          </p:cNvSpPr>
          <p:nvPr/>
        </p:nvSpPr>
        <p:spPr bwMode="auto">
          <a:xfrm>
            <a:off x="11788143" y="3651711"/>
            <a:ext cx="2030885" cy="52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720" err="1"/>
              <a:t>b</a:t>
            </a:r>
            <a:r>
              <a:rPr lang="en-US" sz="2720" baseline="30000" err="1"/>
              <a:t>s</a:t>
            </a:r>
            <a:r>
              <a:rPr lang="en-US" sz="2720"/>
              <a:t> nodes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  <p:bldP spid="802818" grpId="0" animBg="1"/>
      <p:bldP spid="35" grpId="0" animBg="1"/>
      <p:bldP spid="35" grpId="1" animBg="1"/>
      <p:bldP spid="37" grpId="0" animBg="1"/>
      <p:bldP spid="37" grpId="1" animBg="1"/>
      <p:bldP spid="24631" grpId="0" animBg="1"/>
      <p:bldP spid="24632" grpId="0"/>
      <p:bldP spid="246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74274" y="181569"/>
            <a:ext cx="12269052" cy="430887"/>
          </a:xfrm>
        </p:spPr>
        <p:txBody>
          <a:bodyPr/>
          <a:lstStyle/>
          <a:p>
            <a:pPr algn="ctr" eaLnBrk="1" hangingPunct="1"/>
            <a:r>
              <a:rPr lang="en-US"/>
              <a:t>Depth-First (Tree) Search</a:t>
            </a:r>
          </a:p>
        </p:txBody>
      </p:sp>
      <p:grpSp>
        <p:nvGrpSpPr>
          <p:cNvPr id="19459" name="Group 3"/>
          <p:cNvGrpSpPr>
            <a:grpSpLocks/>
          </p:cNvGrpSpPr>
          <p:nvPr/>
        </p:nvGrpSpPr>
        <p:grpSpPr bwMode="auto">
          <a:xfrm>
            <a:off x="3540760" y="3891601"/>
            <a:ext cx="6217920" cy="3790358"/>
            <a:chOff x="48" y="2332"/>
            <a:chExt cx="3456" cy="2398"/>
          </a:xfrm>
        </p:grpSpPr>
        <p:sp>
          <p:nvSpPr>
            <p:cNvPr id="19594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13"/>
                <a:t>S</a:t>
              </a:r>
            </a:p>
          </p:txBody>
        </p:sp>
        <p:sp>
          <p:nvSpPr>
            <p:cNvPr id="19595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a</a:t>
              </a:r>
            </a:p>
          </p:txBody>
        </p:sp>
        <p:sp>
          <p:nvSpPr>
            <p:cNvPr id="19596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b</a:t>
              </a:r>
            </a:p>
          </p:txBody>
        </p:sp>
        <p:sp>
          <p:nvSpPr>
            <p:cNvPr id="19597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d</a:t>
              </a:r>
            </a:p>
          </p:txBody>
        </p:sp>
        <p:sp>
          <p:nvSpPr>
            <p:cNvPr id="19598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p</a:t>
              </a:r>
            </a:p>
          </p:txBody>
        </p:sp>
        <p:sp>
          <p:nvSpPr>
            <p:cNvPr id="19599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a</a:t>
              </a:r>
            </a:p>
          </p:txBody>
        </p:sp>
        <p:sp>
          <p:nvSpPr>
            <p:cNvPr id="19600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c</a:t>
              </a:r>
            </a:p>
          </p:txBody>
        </p:sp>
        <p:cxnSp>
          <p:nvCxnSpPr>
            <p:cNvPr id="19601" name="AutoShape 11"/>
            <p:cNvCxnSpPr>
              <a:cxnSpLocks noChangeShapeType="1"/>
              <a:stCxn id="19597" idx="2"/>
              <a:endCxn id="19596" idx="0"/>
            </p:cNvCxnSpPr>
            <p:nvPr/>
          </p:nvCxnSpPr>
          <p:spPr bwMode="auto">
            <a:xfrm flipH="1">
              <a:off x="168" y="2945"/>
              <a:ext cx="336" cy="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2" name="AutoShape 12"/>
            <p:cNvCxnSpPr>
              <a:cxnSpLocks noChangeShapeType="1"/>
              <a:stCxn id="19597" idx="2"/>
              <a:endCxn id="19600" idx="0"/>
            </p:cNvCxnSpPr>
            <p:nvPr/>
          </p:nvCxnSpPr>
          <p:spPr bwMode="auto">
            <a:xfrm>
              <a:off x="504" y="2945"/>
              <a:ext cx="96" cy="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3" name="AutoShape 13"/>
            <p:cNvCxnSpPr>
              <a:cxnSpLocks noChangeShapeType="1"/>
              <a:stCxn id="19596" idx="2"/>
              <a:endCxn id="19595" idx="0"/>
            </p:cNvCxnSpPr>
            <p:nvPr/>
          </p:nvCxnSpPr>
          <p:spPr bwMode="auto">
            <a:xfrm>
              <a:off x="168" y="3290"/>
              <a:ext cx="0" cy="1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4" name="AutoShape 14"/>
            <p:cNvCxnSpPr>
              <a:cxnSpLocks noChangeShapeType="1"/>
              <a:stCxn id="19600" idx="2"/>
              <a:endCxn id="19599" idx="0"/>
            </p:cNvCxnSpPr>
            <p:nvPr/>
          </p:nvCxnSpPr>
          <p:spPr bwMode="auto">
            <a:xfrm>
              <a:off x="600" y="3290"/>
              <a:ext cx="0" cy="1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9605" name="Group 15"/>
            <p:cNvGrpSpPr>
              <a:grpSpLocks/>
            </p:cNvGrpSpPr>
            <p:nvPr/>
          </p:nvGrpSpPr>
          <p:grpSpPr bwMode="auto">
            <a:xfrm>
              <a:off x="1776" y="2640"/>
              <a:ext cx="1104" cy="1706"/>
              <a:chOff x="1152" y="2640"/>
              <a:chExt cx="1104" cy="1706"/>
            </a:xfrm>
          </p:grpSpPr>
          <p:sp>
            <p:nvSpPr>
              <p:cNvPr id="19632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e</a:t>
                </a:r>
              </a:p>
            </p:txBody>
          </p:sp>
          <p:sp>
            <p:nvSpPr>
              <p:cNvPr id="19633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p</a:t>
                </a:r>
              </a:p>
            </p:txBody>
          </p:sp>
          <p:sp>
            <p:nvSpPr>
              <p:cNvPr id="19634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h</a:t>
                </a:r>
              </a:p>
            </p:txBody>
          </p:sp>
          <p:sp>
            <p:nvSpPr>
              <p:cNvPr id="19635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f</a:t>
                </a:r>
              </a:p>
            </p:txBody>
          </p:sp>
          <p:sp>
            <p:nvSpPr>
              <p:cNvPr id="19636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r</a:t>
                </a:r>
              </a:p>
            </p:txBody>
          </p:sp>
          <p:sp>
            <p:nvSpPr>
              <p:cNvPr id="19637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19638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19639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c</a:t>
                </a:r>
              </a:p>
            </p:txBody>
          </p:sp>
          <p:sp>
            <p:nvSpPr>
              <p:cNvPr id="19640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813"/>
                  <a:t>G</a:t>
                </a:r>
              </a:p>
            </p:txBody>
          </p:sp>
          <p:sp>
            <p:nvSpPr>
              <p:cNvPr id="19641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a</a:t>
                </a:r>
              </a:p>
            </p:txBody>
          </p:sp>
          <p:cxnSp>
            <p:nvCxnSpPr>
              <p:cNvPr id="19642" name="AutoShape 26"/>
              <p:cNvCxnSpPr>
                <a:cxnSpLocks noChangeShapeType="1"/>
                <a:stCxn id="19632" idx="2"/>
                <a:endCxn id="19634" idx="0"/>
              </p:cNvCxnSpPr>
              <p:nvPr/>
            </p:nvCxnSpPr>
            <p:spPr bwMode="auto">
              <a:xfrm flipH="1">
                <a:off x="1416" y="2897"/>
                <a:ext cx="24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3" name="AutoShape 27"/>
              <p:cNvCxnSpPr>
                <a:cxnSpLocks noChangeShapeType="1"/>
                <a:stCxn id="19632" idx="2"/>
                <a:endCxn id="19636" idx="0"/>
              </p:cNvCxnSpPr>
              <p:nvPr/>
            </p:nvCxnSpPr>
            <p:spPr bwMode="auto">
              <a:xfrm>
                <a:off x="1656" y="2897"/>
                <a:ext cx="192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4" name="AutoShape 28"/>
              <p:cNvCxnSpPr>
                <a:cxnSpLocks noChangeShapeType="1"/>
                <a:stCxn id="19634" idx="2"/>
                <a:endCxn id="19633" idx="0"/>
              </p:cNvCxnSpPr>
              <p:nvPr/>
            </p:nvCxnSpPr>
            <p:spPr bwMode="auto">
              <a:xfrm flipH="1">
                <a:off x="1272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5" name="AutoShape 29"/>
              <p:cNvCxnSpPr>
                <a:cxnSpLocks noChangeShapeType="1"/>
                <a:stCxn id="19634" idx="2"/>
                <a:endCxn id="19637" idx="0"/>
              </p:cNvCxnSpPr>
              <p:nvPr/>
            </p:nvCxnSpPr>
            <p:spPr bwMode="auto">
              <a:xfrm>
                <a:off x="1416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6" name="AutoShape 30"/>
              <p:cNvCxnSpPr>
                <a:cxnSpLocks noChangeShapeType="1"/>
                <a:stCxn id="19636" idx="2"/>
                <a:endCxn id="19635" idx="0"/>
              </p:cNvCxnSpPr>
              <p:nvPr/>
            </p:nvCxnSpPr>
            <p:spPr bwMode="auto">
              <a:xfrm>
                <a:off x="1848" y="3281"/>
                <a:ext cx="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7" name="AutoShape 31"/>
              <p:cNvCxnSpPr>
                <a:cxnSpLocks noChangeShapeType="1"/>
                <a:stCxn id="19633" idx="2"/>
                <a:endCxn id="19638" idx="0"/>
              </p:cNvCxnSpPr>
              <p:nvPr/>
            </p:nvCxnSpPr>
            <p:spPr bwMode="auto">
              <a:xfrm>
                <a:off x="1272" y="3665"/>
                <a:ext cx="0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8" name="AutoShape 32"/>
              <p:cNvCxnSpPr>
                <a:cxnSpLocks noChangeShapeType="1"/>
                <a:stCxn id="19635" idx="2"/>
                <a:endCxn id="19639" idx="0"/>
              </p:cNvCxnSpPr>
              <p:nvPr/>
            </p:nvCxnSpPr>
            <p:spPr bwMode="auto">
              <a:xfrm flipH="1">
                <a:off x="1704" y="3665"/>
                <a:ext cx="144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9" name="AutoShape 33"/>
              <p:cNvCxnSpPr>
                <a:cxnSpLocks noChangeShapeType="1"/>
                <a:stCxn id="19635" idx="2"/>
                <a:endCxn id="19640" idx="0"/>
              </p:cNvCxnSpPr>
              <p:nvPr/>
            </p:nvCxnSpPr>
            <p:spPr bwMode="auto">
              <a:xfrm>
                <a:off x="1848" y="3665"/>
                <a:ext cx="168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50" name="AutoShape 34"/>
              <p:cNvCxnSpPr>
                <a:cxnSpLocks noChangeShapeType="1"/>
                <a:stCxn id="19639" idx="2"/>
                <a:endCxn id="19641" idx="0"/>
              </p:cNvCxnSpPr>
              <p:nvPr/>
            </p:nvCxnSpPr>
            <p:spPr bwMode="auto">
              <a:xfrm>
                <a:off x="1704" y="4010"/>
                <a:ext cx="0" cy="7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19606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q</a:t>
              </a:r>
            </a:p>
          </p:txBody>
        </p:sp>
        <p:cxnSp>
          <p:nvCxnSpPr>
            <p:cNvPr id="19607" name="AutoShape 36"/>
            <p:cNvCxnSpPr>
              <a:cxnSpLocks noChangeShapeType="1"/>
              <a:stCxn id="19598" idx="2"/>
              <a:endCxn id="19606" idx="0"/>
            </p:cNvCxnSpPr>
            <p:nvPr/>
          </p:nvCxnSpPr>
          <p:spPr bwMode="auto">
            <a:xfrm>
              <a:off x="3384" y="2897"/>
              <a:ext cx="0" cy="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9608" name="Group 37"/>
            <p:cNvGrpSpPr>
              <a:grpSpLocks/>
            </p:cNvGrpSpPr>
            <p:nvPr/>
          </p:nvGrpSpPr>
          <p:grpSpPr bwMode="auto">
            <a:xfrm>
              <a:off x="624" y="3024"/>
              <a:ext cx="1104" cy="1706"/>
              <a:chOff x="1152" y="2640"/>
              <a:chExt cx="1104" cy="1706"/>
            </a:xfrm>
          </p:grpSpPr>
          <p:sp>
            <p:nvSpPr>
              <p:cNvPr id="19613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e</a:t>
                </a:r>
              </a:p>
            </p:txBody>
          </p:sp>
          <p:sp>
            <p:nvSpPr>
              <p:cNvPr id="19614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p</a:t>
                </a:r>
              </a:p>
            </p:txBody>
          </p:sp>
          <p:sp>
            <p:nvSpPr>
              <p:cNvPr id="19615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h</a:t>
                </a:r>
              </a:p>
            </p:txBody>
          </p:sp>
          <p:sp>
            <p:nvSpPr>
              <p:cNvPr id="19616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f</a:t>
                </a:r>
              </a:p>
            </p:txBody>
          </p:sp>
          <p:sp>
            <p:nvSpPr>
              <p:cNvPr id="19617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r</a:t>
                </a:r>
              </a:p>
            </p:txBody>
          </p:sp>
          <p:sp>
            <p:nvSpPr>
              <p:cNvPr id="19618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19619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19620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c</a:t>
                </a:r>
              </a:p>
            </p:txBody>
          </p:sp>
          <p:sp>
            <p:nvSpPr>
              <p:cNvPr id="19621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813"/>
                  <a:t>G</a:t>
                </a:r>
              </a:p>
            </p:txBody>
          </p:sp>
          <p:sp>
            <p:nvSpPr>
              <p:cNvPr id="19622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a</a:t>
                </a:r>
              </a:p>
            </p:txBody>
          </p:sp>
          <p:cxnSp>
            <p:nvCxnSpPr>
              <p:cNvPr id="19623" name="AutoShape 48"/>
              <p:cNvCxnSpPr>
                <a:cxnSpLocks noChangeShapeType="1"/>
                <a:stCxn id="19613" idx="2"/>
                <a:endCxn id="19615" idx="0"/>
              </p:cNvCxnSpPr>
              <p:nvPr/>
            </p:nvCxnSpPr>
            <p:spPr bwMode="auto">
              <a:xfrm flipH="1">
                <a:off x="1416" y="2897"/>
                <a:ext cx="24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4" name="AutoShape 49"/>
              <p:cNvCxnSpPr>
                <a:cxnSpLocks noChangeShapeType="1"/>
                <a:stCxn id="19613" idx="2"/>
                <a:endCxn id="19617" idx="0"/>
              </p:cNvCxnSpPr>
              <p:nvPr/>
            </p:nvCxnSpPr>
            <p:spPr bwMode="auto">
              <a:xfrm>
                <a:off x="1656" y="2897"/>
                <a:ext cx="192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5" name="AutoShape 50"/>
              <p:cNvCxnSpPr>
                <a:cxnSpLocks noChangeShapeType="1"/>
                <a:stCxn id="19615" idx="2"/>
                <a:endCxn id="19614" idx="0"/>
              </p:cNvCxnSpPr>
              <p:nvPr/>
            </p:nvCxnSpPr>
            <p:spPr bwMode="auto">
              <a:xfrm flipH="1">
                <a:off x="1272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6" name="AutoShape 51"/>
              <p:cNvCxnSpPr>
                <a:cxnSpLocks noChangeShapeType="1"/>
                <a:stCxn id="19615" idx="2"/>
                <a:endCxn id="19618" idx="0"/>
              </p:cNvCxnSpPr>
              <p:nvPr/>
            </p:nvCxnSpPr>
            <p:spPr bwMode="auto">
              <a:xfrm>
                <a:off x="1416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7" name="AutoShape 52"/>
              <p:cNvCxnSpPr>
                <a:cxnSpLocks noChangeShapeType="1"/>
                <a:stCxn id="19617" idx="2"/>
                <a:endCxn id="19616" idx="0"/>
              </p:cNvCxnSpPr>
              <p:nvPr/>
            </p:nvCxnSpPr>
            <p:spPr bwMode="auto">
              <a:xfrm>
                <a:off x="1848" y="3281"/>
                <a:ext cx="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8" name="AutoShape 53"/>
              <p:cNvCxnSpPr>
                <a:cxnSpLocks noChangeShapeType="1"/>
                <a:stCxn id="19614" idx="2"/>
                <a:endCxn id="19619" idx="0"/>
              </p:cNvCxnSpPr>
              <p:nvPr/>
            </p:nvCxnSpPr>
            <p:spPr bwMode="auto">
              <a:xfrm>
                <a:off x="1272" y="3665"/>
                <a:ext cx="0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9" name="AutoShape 54"/>
              <p:cNvCxnSpPr>
                <a:cxnSpLocks noChangeShapeType="1"/>
                <a:stCxn id="19616" idx="2"/>
                <a:endCxn id="19620" idx="0"/>
              </p:cNvCxnSpPr>
              <p:nvPr/>
            </p:nvCxnSpPr>
            <p:spPr bwMode="auto">
              <a:xfrm flipH="1">
                <a:off x="1704" y="3665"/>
                <a:ext cx="144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30" name="AutoShape 55"/>
              <p:cNvCxnSpPr>
                <a:cxnSpLocks noChangeShapeType="1"/>
                <a:stCxn id="19616" idx="2"/>
                <a:endCxn id="19621" idx="0"/>
              </p:cNvCxnSpPr>
              <p:nvPr/>
            </p:nvCxnSpPr>
            <p:spPr bwMode="auto">
              <a:xfrm>
                <a:off x="1848" y="3665"/>
                <a:ext cx="168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31" name="AutoShape 56"/>
              <p:cNvCxnSpPr>
                <a:cxnSpLocks noChangeShapeType="1"/>
                <a:stCxn id="19620" idx="2"/>
                <a:endCxn id="19622" idx="0"/>
              </p:cNvCxnSpPr>
              <p:nvPr/>
            </p:nvCxnSpPr>
            <p:spPr bwMode="auto">
              <a:xfrm>
                <a:off x="1704" y="4010"/>
                <a:ext cx="0" cy="7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19609" name="AutoShape 57"/>
            <p:cNvCxnSpPr>
              <a:cxnSpLocks noChangeShapeType="1"/>
              <a:stCxn id="19597" idx="2"/>
              <a:endCxn id="19613" idx="0"/>
            </p:cNvCxnSpPr>
            <p:nvPr/>
          </p:nvCxnSpPr>
          <p:spPr bwMode="auto">
            <a:xfrm>
              <a:off x="504" y="2945"/>
              <a:ext cx="624" cy="7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0" name="AutoShape 58"/>
            <p:cNvCxnSpPr>
              <a:cxnSpLocks noChangeShapeType="1"/>
              <a:stCxn id="19594" idx="2"/>
              <a:endCxn id="19597" idx="0"/>
            </p:cNvCxnSpPr>
            <p:nvPr/>
          </p:nvCxnSpPr>
          <p:spPr bwMode="auto">
            <a:xfrm flipH="1">
              <a:off x="504" y="2567"/>
              <a:ext cx="1536" cy="1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1" name="AutoShape 59"/>
            <p:cNvCxnSpPr>
              <a:cxnSpLocks noChangeShapeType="1"/>
              <a:stCxn id="19594" idx="2"/>
              <a:endCxn id="19632" idx="0"/>
            </p:cNvCxnSpPr>
            <p:nvPr/>
          </p:nvCxnSpPr>
          <p:spPr bwMode="auto">
            <a:xfrm>
              <a:off x="2040" y="2567"/>
              <a:ext cx="240" cy="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2" name="AutoShape 60"/>
            <p:cNvCxnSpPr>
              <a:cxnSpLocks noChangeShapeType="1"/>
              <a:stCxn id="19594" idx="2"/>
              <a:endCxn id="19598" idx="0"/>
            </p:cNvCxnSpPr>
            <p:nvPr/>
          </p:nvCxnSpPr>
          <p:spPr bwMode="auto">
            <a:xfrm>
              <a:off x="2040" y="2567"/>
              <a:ext cx="1344" cy="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797757" name="Line 61"/>
          <p:cNvSpPr>
            <a:spLocks noChangeShapeType="1"/>
          </p:cNvSpPr>
          <p:nvPr/>
        </p:nvSpPr>
        <p:spPr bwMode="auto">
          <a:xfrm flipH="1">
            <a:off x="4346787" y="4237038"/>
            <a:ext cx="2821093" cy="20150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758" name="Line 62"/>
          <p:cNvSpPr>
            <a:spLocks noChangeShapeType="1"/>
          </p:cNvSpPr>
          <p:nvPr/>
        </p:nvSpPr>
        <p:spPr bwMode="auto">
          <a:xfrm flipH="1">
            <a:off x="3745867" y="4807375"/>
            <a:ext cx="631508" cy="18171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759" name="Line 63"/>
          <p:cNvSpPr>
            <a:spLocks noChangeShapeType="1"/>
          </p:cNvSpPr>
          <p:nvPr/>
        </p:nvSpPr>
        <p:spPr bwMode="auto">
          <a:xfrm>
            <a:off x="4346788" y="4796581"/>
            <a:ext cx="181718" cy="18171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760" name="Line 64"/>
          <p:cNvSpPr>
            <a:spLocks noChangeShapeType="1"/>
          </p:cNvSpPr>
          <p:nvPr/>
        </p:nvSpPr>
        <p:spPr bwMode="auto">
          <a:xfrm flipH="1">
            <a:off x="3751276" y="5356120"/>
            <a:ext cx="3598" cy="25908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761" name="Line 65"/>
          <p:cNvSpPr>
            <a:spLocks noChangeShapeType="1"/>
          </p:cNvSpPr>
          <p:nvPr/>
        </p:nvSpPr>
        <p:spPr bwMode="auto">
          <a:xfrm flipH="1">
            <a:off x="4533910" y="5375911"/>
            <a:ext cx="3598" cy="25908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762" name="Line 66"/>
          <p:cNvSpPr>
            <a:spLocks noChangeShapeType="1"/>
          </p:cNvSpPr>
          <p:nvPr/>
        </p:nvSpPr>
        <p:spPr bwMode="auto">
          <a:xfrm>
            <a:off x="4343189" y="4823568"/>
            <a:ext cx="1128078" cy="1619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763" name="Line 67"/>
          <p:cNvSpPr>
            <a:spLocks noChangeShapeType="1"/>
          </p:cNvSpPr>
          <p:nvPr/>
        </p:nvSpPr>
        <p:spPr bwMode="auto">
          <a:xfrm flipH="1">
            <a:off x="5023287" y="5363318"/>
            <a:ext cx="451591" cy="23029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764" name="Line 68"/>
          <p:cNvSpPr>
            <a:spLocks noChangeShapeType="1"/>
          </p:cNvSpPr>
          <p:nvPr/>
        </p:nvSpPr>
        <p:spPr bwMode="auto">
          <a:xfrm flipH="1">
            <a:off x="4798381" y="5953456"/>
            <a:ext cx="248285" cy="23928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765" name="Line 69"/>
          <p:cNvSpPr>
            <a:spLocks noChangeShapeType="1"/>
          </p:cNvSpPr>
          <p:nvPr/>
        </p:nvSpPr>
        <p:spPr bwMode="auto">
          <a:xfrm>
            <a:off x="4803787" y="6570558"/>
            <a:ext cx="3598" cy="20150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grpSp>
        <p:nvGrpSpPr>
          <p:cNvPr id="19469" name="Group 70"/>
          <p:cNvGrpSpPr>
            <a:grpSpLocks/>
          </p:cNvGrpSpPr>
          <p:nvPr/>
        </p:nvGrpSpPr>
        <p:grpSpPr bwMode="auto">
          <a:xfrm>
            <a:off x="5089843" y="1554486"/>
            <a:ext cx="3632518" cy="2004272"/>
            <a:chOff x="816" y="1056"/>
            <a:chExt cx="4176" cy="2304"/>
          </a:xfrm>
        </p:grpSpPr>
        <p:grpSp>
          <p:nvGrpSpPr>
            <p:cNvPr id="19564" name="Group 71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9566" name="AutoShape 72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40"/>
                  <a:t>S</a:t>
                </a:r>
              </a:p>
            </p:txBody>
          </p:sp>
          <p:sp>
            <p:nvSpPr>
              <p:cNvPr id="19567" name="AutoShape 73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40"/>
                  <a:t>G</a:t>
                </a:r>
              </a:p>
            </p:txBody>
          </p:sp>
          <p:sp>
            <p:nvSpPr>
              <p:cNvPr id="19568" name="AutoShape 74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d</a:t>
                </a:r>
              </a:p>
            </p:txBody>
          </p:sp>
          <p:sp>
            <p:nvSpPr>
              <p:cNvPr id="19569" name="AutoShape 75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b</a:t>
                </a:r>
              </a:p>
            </p:txBody>
          </p:sp>
          <p:sp>
            <p:nvSpPr>
              <p:cNvPr id="19570" name="AutoShape 76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p</a:t>
                </a:r>
              </a:p>
            </p:txBody>
          </p:sp>
          <p:sp>
            <p:nvSpPr>
              <p:cNvPr id="19571" name="AutoShape 77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q</a:t>
                </a:r>
              </a:p>
            </p:txBody>
          </p:sp>
          <p:sp>
            <p:nvSpPr>
              <p:cNvPr id="19572" name="AutoShape 78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c</a:t>
                </a:r>
              </a:p>
            </p:txBody>
          </p:sp>
          <p:sp>
            <p:nvSpPr>
              <p:cNvPr id="19573" name="AutoShape 79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e</a:t>
                </a:r>
              </a:p>
            </p:txBody>
          </p:sp>
          <p:sp>
            <p:nvSpPr>
              <p:cNvPr id="19574" name="AutoShape 80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h</a:t>
                </a:r>
              </a:p>
            </p:txBody>
          </p:sp>
          <p:sp>
            <p:nvSpPr>
              <p:cNvPr id="19575" name="AutoShape 81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a</a:t>
                </a:r>
              </a:p>
            </p:txBody>
          </p:sp>
          <p:sp>
            <p:nvSpPr>
              <p:cNvPr id="19576" name="AutoShape 82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f</a:t>
                </a:r>
              </a:p>
            </p:txBody>
          </p:sp>
          <p:sp>
            <p:nvSpPr>
              <p:cNvPr id="19577" name="AutoShape 83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r</a:t>
                </a:r>
              </a:p>
            </p:txBody>
          </p:sp>
          <p:cxnSp>
            <p:nvCxnSpPr>
              <p:cNvPr id="19578" name="AutoShape 84"/>
              <p:cNvCxnSpPr>
                <a:cxnSpLocks noChangeShapeType="1"/>
                <a:stCxn id="19566" idx="5"/>
                <a:endCxn id="19570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79" name="AutoShape 85"/>
              <p:cNvCxnSpPr>
                <a:cxnSpLocks noChangeShapeType="1"/>
                <a:stCxn id="19570" idx="5"/>
                <a:endCxn id="19571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0" name="AutoShape 86"/>
              <p:cNvCxnSpPr>
                <a:cxnSpLocks noChangeShapeType="1"/>
                <a:stCxn id="19574" idx="3"/>
                <a:endCxn id="19571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1" name="AutoShape 87"/>
              <p:cNvCxnSpPr>
                <a:cxnSpLocks noChangeShapeType="1"/>
                <a:stCxn id="19574" idx="2"/>
                <a:endCxn id="19570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2" name="AutoShape 88"/>
              <p:cNvCxnSpPr>
                <a:cxnSpLocks noChangeShapeType="1"/>
                <a:stCxn id="19573" idx="4"/>
                <a:endCxn id="19574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3" name="AutoShape 89"/>
              <p:cNvCxnSpPr>
                <a:cxnSpLocks noChangeShapeType="1"/>
                <a:stCxn id="19573" idx="5"/>
                <a:endCxn id="19577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4" name="AutoShape 90"/>
              <p:cNvCxnSpPr>
                <a:cxnSpLocks noChangeShapeType="1"/>
                <a:stCxn id="19577" idx="0"/>
                <a:endCxn id="19576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5" name="AutoShape 91"/>
              <p:cNvCxnSpPr>
                <a:cxnSpLocks noChangeShapeType="1"/>
                <a:stCxn id="19576" idx="0"/>
                <a:endCxn id="19567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6" name="AutoShape 92"/>
              <p:cNvCxnSpPr>
                <a:cxnSpLocks noChangeShapeType="1"/>
                <a:stCxn id="19566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7" name="AutoShape 93"/>
              <p:cNvCxnSpPr>
                <a:cxnSpLocks noChangeShapeType="1"/>
                <a:stCxn id="19568" idx="1"/>
                <a:endCxn id="19569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8" name="AutoShape 94"/>
              <p:cNvCxnSpPr>
                <a:cxnSpLocks noChangeShapeType="1"/>
                <a:endCxn id="19575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9" name="AutoShape 95"/>
              <p:cNvCxnSpPr>
                <a:cxnSpLocks noChangeShapeType="1"/>
                <a:stCxn id="19572" idx="2"/>
                <a:endCxn id="19575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0" name="AutoShape 96"/>
              <p:cNvCxnSpPr>
                <a:cxnSpLocks noChangeShapeType="1"/>
                <a:stCxn id="19568" idx="7"/>
                <a:endCxn id="19572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1" name="AutoShape 97"/>
              <p:cNvCxnSpPr>
                <a:cxnSpLocks noChangeShapeType="1"/>
                <a:stCxn id="19568" idx="6"/>
                <a:endCxn id="19573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2" name="AutoShape 98"/>
              <p:cNvCxnSpPr>
                <a:cxnSpLocks noChangeShapeType="1"/>
                <a:stCxn id="19576" idx="1"/>
                <a:endCxn id="19572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3" name="AutoShape 99"/>
              <p:cNvCxnSpPr>
                <a:cxnSpLocks noChangeShapeType="1"/>
                <a:stCxn id="19566" idx="6"/>
                <a:endCxn id="19573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19565" name="AutoShape 100"/>
            <p:cNvCxnSpPr>
              <a:cxnSpLocks noChangeShapeType="1"/>
              <a:stCxn id="19571" idx="6"/>
              <a:endCxn id="19577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19470" name="AutoShape 101"/>
          <p:cNvSpPr>
            <a:spLocks noChangeArrowheads="1"/>
          </p:cNvSpPr>
          <p:nvPr/>
        </p:nvSpPr>
        <p:spPr bwMode="auto">
          <a:xfrm>
            <a:off x="5089844" y="2729335"/>
            <a:ext cx="359833" cy="345440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pPr algn="ctr"/>
            <a:endParaRPr lang="en-US" sz="1360"/>
          </a:p>
        </p:txBody>
      </p:sp>
      <p:grpSp>
        <p:nvGrpSpPr>
          <p:cNvPr id="7" name="Group 102"/>
          <p:cNvGrpSpPr>
            <a:grpSpLocks/>
          </p:cNvGrpSpPr>
          <p:nvPr/>
        </p:nvGrpSpPr>
        <p:grpSpPr bwMode="auto">
          <a:xfrm>
            <a:off x="6044271" y="3213312"/>
            <a:ext cx="914908" cy="345440"/>
            <a:chOff x="1914" y="2963"/>
            <a:chExt cx="1052" cy="397"/>
          </a:xfrm>
        </p:grpSpPr>
        <p:sp>
          <p:nvSpPr>
            <p:cNvPr id="19562" name="AutoShape 103"/>
            <p:cNvSpPr>
              <a:spLocks noChangeArrowheads="1"/>
            </p:cNvSpPr>
            <p:nvPr/>
          </p:nvSpPr>
          <p:spPr bwMode="auto">
            <a:xfrm>
              <a:off x="2553" y="2963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/>
                <a:t>q</a:t>
              </a:r>
            </a:p>
          </p:txBody>
        </p:sp>
        <p:cxnSp>
          <p:nvCxnSpPr>
            <p:cNvPr id="19563" name="AutoShape 104"/>
            <p:cNvCxnSpPr>
              <a:cxnSpLocks noChangeShapeType="1"/>
              <a:stCxn id="19560" idx="5"/>
              <a:endCxn id="19562" idx="2"/>
            </p:cNvCxnSpPr>
            <p:nvPr/>
          </p:nvCxnSpPr>
          <p:spPr bwMode="auto">
            <a:xfrm flipV="1">
              <a:off x="1914" y="3162"/>
              <a:ext cx="639" cy="2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105"/>
          <p:cNvGrpSpPr>
            <a:grpSpLocks/>
          </p:cNvGrpSpPr>
          <p:nvPr/>
        </p:nvGrpSpPr>
        <p:grpSpPr bwMode="auto">
          <a:xfrm>
            <a:off x="5737551" y="2937121"/>
            <a:ext cx="1473153" cy="517291"/>
            <a:chOff x="1560" y="2646"/>
            <a:chExt cx="1695" cy="595"/>
          </a:xfrm>
        </p:grpSpPr>
        <p:sp>
          <p:nvSpPr>
            <p:cNvPr id="19560" name="AutoShape 106"/>
            <p:cNvSpPr>
              <a:spLocks noChangeArrowheads="1"/>
            </p:cNvSpPr>
            <p:nvPr/>
          </p:nvSpPr>
          <p:spPr bwMode="auto">
            <a:xfrm>
              <a:off x="1560" y="2844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/>
                <a:t>p</a:t>
              </a:r>
            </a:p>
          </p:txBody>
        </p:sp>
        <p:cxnSp>
          <p:nvCxnSpPr>
            <p:cNvPr id="19561" name="AutoShape 107"/>
            <p:cNvCxnSpPr>
              <a:cxnSpLocks noChangeShapeType="1"/>
              <a:stCxn id="19558" idx="2"/>
              <a:endCxn id="19560" idx="6"/>
            </p:cNvCxnSpPr>
            <p:nvPr/>
          </p:nvCxnSpPr>
          <p:spPr bwMode="auto">
            <a:xfrm flipH="1">
              <a:off x="1974" y="2646"/>
              <a:ext cx="1281" cy="396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9" name="Group 108"/>
          <p:cNvGrpSpPr>
            <a:grpSpLocks/>
          </p:cNvGrpSpPr>
          <p:nvPr/>
        </p:nvGrpSpPr>
        <p:grpSpPr bwMode="auto">
          <a:xfrm>
            <a:off x="7211069" y="2625325"/>
            <a:ext cx="467784" cy="485438"/>
            <a:chOff x="3255" y="2287"/>
            <a:chExt cx="538" cy="557"/>
          </a:xfrm>
        </p:grpSpPr>
        <p:sp>
          <p:nvSpPr>
            <p:cNvPr id="19558" name="AutoShape 109"/>
            <p:cNvSpPr>
              <a:spLocks noChangeArrowheads="1"/>
            </p:cNvSpPr>
            <p:nvPr/>
          </p:nvSpPr>
          <p:spPr bwMode="auto">
            <a:xfrm>
              <a:off x="3255" y="2446"/>
              <a:ext cx="414" cy="398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/>
                <a:t>h</a:t>
              </a:r>
            </a:p>
          </p:txBody>
        </p:sp>
        <p:cxnSp>
          <p:nvCxnSpPr>
            <p:cNvPr id="19559" name="AutoShape 110"/>
            <p:cNvCxnSpPr>
              <a:cxnSpLocks noChangeShapeType="1"/>
              <a:stCxn id="19544" idx="4"/>
              <a:endCxn id="19558" idx="7"/>
            </p:cNvCxnSpPr>
            <p:nvPr/>
          </p:nvCxnSpPr>
          <p:spPr bwMode="auto">
            <a:xfrm flipH="1">
              <a:off x="3608" y="2287"/>
              <a:ext cx="185" cy="2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111"/>
          <p:cNvGrpSpPr>
            <a:grpSpLocks/>
          </p:cNvGrpSpPr>
          <p:nvPr/>
        </p:nvGrpSpPr>
        <p:grpSpPr bwMode="auto">
          <a:xfrm>
            <a:off x="8254578" y="2488250"/>
            <a:ext cx="359833" cy="622159"/>
            <a:chOff x="4454" y="2129"/>
            <a:chExt cx="414" cy="715"/>
          </a:xfrm>
        </p:grpSpPr>
        <p:sp>
          <p:nvSpPr>
            <p:cNvPr id="19556" name="AutoShape 112"/>
            <p:cNvSpPr>
              <a:spLocks noChangeArrowheads="1"/>
            </p:cNvSpPr>
            <p:nvPr/>
          </p:nvSpPr>
          <p:spPr bwMode="auto">
            <a:xfrm>
              <a:off x="4454" y="212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/>
                <a:t>f</a:t>
              </a:r>
            </a:p>
          </p:txBody>
        </p:sp>
        <p:cxnSp>
          <p:nvCxnSpPr>
            <p:cNvPr id="19557" name="AutoShape 113"/>
            <p:cNvCxnSpPr>
              <a:cxnSpLocks noChangeShapeType="1"/>
              <a:stCxn id="797828" idx="0"/>
              <a:endCxn id="19556" idx="4"/>
            </p:cNvCxnSpPr>
            <p:nvPr/>
          </p:nvCxnSpPr>
          <p:spPr bwMode="auto">
            <a:xfrm flipV="1">
              <a:off x="4495" y="2526"/>
              <a:ext cx="166" cy="3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1" name="Group 114"/>
          <p:cNvGrpSpPr>
            <a:grpSpLocks/>
          </p:cNvGrpSpPr>
          <p:nvPr/>
        </p:nvGrpSpPr>
        <p:grpSpPr bwMode="auto">
          <a:xfrm>
            <a:off x="8362530" y="1554490"/>
            <a:ext cx="359833" cy="934022"/>
            <a:chOff x="4579" y="1056"/>
            <a:chExt cx="413" cy="1055"/>
          </a:xfrm>
        </p:grpSpPr>
        <p:sp>
          <p:nvSpPr>
            <p:cNvPr id="19554" name="AutoShape 115"/>
            <p:cNvSpPr>
              <a:spLocks noChangeArrowheads="1"/>
            </p:cNvSpPr>
            <p:nvPr/>
          </p:nvSpPr>
          <p:spPr bwMode="auto">
            <a:xfrm>
              <a:off x="4579" y="105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360"/>
            </a:p>
          </p:txBody>
        </p:sp>
        <p:cxnSp>
          <p:nvCxnSpPr>
            <p:cNvPr id="19555" name="AutoShape 116"/>
            <p:cNvCxnSpPr>
              <a:cxnSpLocks noChangeShapeType="1"/>
              <a:stCxn id="19556" idx="0"/>
              <a:endCxn id="19554" idx="4"/>
            </p:cNvCxnSpPr>
            <p:nvPr/>
          </p:nvCxnSpPr>
          <p:spPr bwMode="auto">
            <a:xfrm flipV="1">
              <a:off x="4662" y="1453"/>
              <a:ext cx="124" cy="65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2" name="Group 117"/>
          <p:cNvGrpSpPr>
            <a:grpSpLocks/>
          </p:cNvGrpSpPr>
          <p:nvPr/>
        </p:nvGrpSpPr>
        <p:grpSpPr bwMode="auto">
          <a:xfrm>
            <a:off x="5440978" y="2418089"/>
            <a:ext cx="1052214" cy="361260"/>
            <a:chOff x="1219" y="2049"/>
            <a:chExt cx="1210" cy="416"/>
          </a:xfrm>
        </p:grpSpPr>
        <p:sp>
          <p:nvSpPr>
            <p:cNvPr id="19552" name="AutoShape 118"/>
            <p:cNvSpPr>
              <a:spLocks noChangeArrowheads="1"/>
            </p:cNvSpPr>
            <p:nvPr/>
          </p:nvSpPr>
          <p:spPr bwMode="auto">
            <a:xfrm>
              <a:off x="2015" y="204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/>
                <a:t>d</a:t>
              </a:r>
            </a:p>
          </p:txBody>
        </p:sp>
        <p:cxnSp>
          <p:nvCxnSpPr>
            <p:cNvPr id="19553" name="AutoShape 119"/>
            <p:cNvCxnSpPr>
              <a:cxnSpLocks noChangeShapeType="1"/>
            </p:cNvCxnSpPr>
            <p:nvPr/>
          </p:nvCxnSpPr>
          <p:spPr bwMode="auto">
            <a:xfrm flipV="1">
              <a:off x="1219" y="2248"/>
              <a:ext cx="846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3" name="Group 120"/>
          <p:cNvGrpSpPr>
            <a:grpSpLocks/>
          </p:cNvGrpSpPr>
          <p:nvPr/>
        </p:nvGrpSpPr>
        <p:grpSpPr bwMode="auto">
          <a:xfrm>
            <a:off x="5377712" y="1899922"/>
            <a:ext cx="807828" cy="569036"/>
            <a:chOff x="1147" y="1453"/>
            <a:chExt cx="929" cy="655"/>
          </a:xfrm>
        </p:grpSpPr>
        <p:sp>
          <p:nvSpPr>
            <p:cNvPr id="19550" name="AutoShape 121"/>
            <p:cNvSpPr>
              <a:spLocks noChangeArrowheads="1"/>
            </p:cNvSpPr>
            <p:nvPr/>
          </p:nvSpPr>
          <p:spPr bwMode="auto">
            <a:xfrm>
              <a:off x="1147" y="1453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/>
                <a:t>b</a:t>
              </a:r>
            </a:p>
          </p:txBody>
        </p:sp>
        <p:cxnSp>
          <p:nvCxnSpPr>
            <p:cNvPr id="19551" name="AutoShape 122"/>
            <p:cNvCxnSpPr>
              <a:cxnSpLocks noChangeShapeType="1"/>
              <a:stCxn id="19568" idx="1"/>
              <a:endCxn id="19550" idx="5"/>
            </p:cNvCxnSpPr>
            <p:nvPr/>
          </p:nvCxnSpPr>
          <p:spPr bwMode="auto">
            <a:xfrm flipH="1" flipV="1">
              <a:off x="1500" y="1792"/>
              <a:ext cx="576" cy="316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4" name="Group 123"/>
          <p:cNvGrpSpPr>
            <a:grpSpLocks/>
          </p:cNvGrpSpPr>
          <p:nvPr/>
        </p:nvGrpSpPr>
        <p:grpSpPr bwMode="auto">
          <a:xfrm>
            <a:off x="5690765" y="1588665"/>
            <a:ext cx="692680" cy="361633"/>
            <a:chOff x="1507" y="1096"/>
            <a:chExt cx="797" cy="416"/>
          </a:xfrm>
        </p:grpSpPr>
        <p:sp>
          <p:nvSpPr>
            <p:cNvPr id="19548" name="AutoShape 124"/>
            <p:cNvSpPr>
              <a:spLocks noChangeArrowheads="1"/>
            </p:cNvSpPr>
            <p:nvPr/>
          </p:nvSpPr>
          <p:spPr bwMode="auto">
            <a:xfrm>
              <a:off x="1891" y="109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/>
                <a:t>a</a:t>
              </a:r>
            </a:p>
          </p:txBody>
        </p:sp>
        <p:cxnSp>
          <p:nvCxnSpPr>
            <p:cNvPr id="19549" name="AutoShape 125"/>
            <p:cNvCxnSpPr>
              <a:cxnSpLocks noChangeShapeType="1"/>
              <a:endCxn id="19548" idx="2"/>
            </p:cNvCxnSpPr>
            <p:nvPr/>
          </p:nvCxnSpPr>
          <p:spPr bwMode="auto">
            <a:xfrm flipV="1">
              <a:off x="1507" y="1295"/>
              <a:ext cx="372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5" name="Group 126"/>
          <p:cNvGrpSpPr>
            <a:grpSpLocks/>
          </p:cNvGrpSpPr>
          <p:nvPr/>
        </p:nvGrpSpPr>
        <p:grpSpPr bwMode="auto">
          <a:xfrm>
            <a:off x="6440086" y="1865736"/>
            <a:ext cx="914908" cy="603227"/>
            <a:chOff x="2369" y="1414"/>
            <a:chExt cx="1052" cy="694"/>
          </a:xfrm>
        </p:grpSpPr>
        <p:sp>
          <p:nvSpPr>
            <p:cNvPr id="19546" name="AutoShape 127"/>
            <p:cNvSpPr>
              <a:spLocks noChangeArrowheads="1"/>
            </p:cNvSpPr>
            <p:nvPr/>
          </p:nvSpPr>
          <p:spPr bwMode="auto">
            <a:xfrm>
              <a:off x="3007" y="1414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/>
                <a:t>c</a:t>
              </a:r>
            </a:p>
          </p:txBody>
        </p:sp>
        <p:cxnSp>
          <p:nvCxnSpPr>
            <p:cNvPr id="19547" name="AutoShape 128"/>
            <p:cNvCxnSpPr>
              <a:cxnSpLocks noChangeShapeType="1"/>
              <a:stCxn id="19552" idx="7"/>
              <a:endCxn id="19546" idx="3"/>
            </p:cNvCxnSpPr>
            <p:nvPr/>
          </p:nvCxnSpPr>
          <p:spPr bwMode="auto">
            <a:xfrm flipV="1">
              <a:off x="2369" y="1753"/>
              <a:ext cx="698" cy="355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6" name="Group 129"/>
          <p:cNvGrpSpPr>
            <a:grpSpLocks/>
          </p:cNvGrpSpPr>
          <p:nvPr/>
        </p:nvGrpSpPr>
        <p:grpSpPr bwMode="auto">
          <a:xfrm>
            <a:off x="6493564" y="2279545"/>
            <a:ext cx="1365203" cy="345440"/>
            <a:chOff x="2429" y="1890"/>
            <a:chExt cx="1571" cy="397"/>
          </a:xfrm>
        </p:grpSpPr>
        <p:sp>
          <p:nvSpPr>
            <p:cNvPr id="19544" name="AutoShape 130"/>
            <p:cNvSpPr>
              <a:spLocks noChangeArrowheads="1"/>
            </p:cNvSpPr>
            <p:nvPr/>
          </p:nvSpPr>
          <p:spPr bwMode="auto">
            <a:xfrm>
              <a:off x="3586" y="1890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/>
                <a:t>e</a:t>
              </a:r>
            </a:p>
          </p:txBody>
        </p:sp>
        <p:cxnSp>
          <p:nvCxnSpPr>
            <p:cNvPr id="19545" name="AutoShape 131"/>
            <p:cNvCxnSpPr>
              <a:cxnSpLocks noChangeShapeType="1"/>
              <a:stCxn id="19552" idx="6"/>
              <a:endCxn id="19544" idx="2"/>
            </p:cNvCxnSpPr>
            <p:nvPr/>
          </p:nvCxnSpPr>
          <p:spPr bwMode="auto">
            <a:xfrm flipV="1">
              <a:off x="2429" y="2089"/>
              <a:ext cx="1157" cy="159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797828" name="AutoShape 132"/>
          <p:cNvSpPr>
            <a:spLocks noChangeArrowheads="1"/>
          </p:cNvSpPr>
          <p:nvPr/>
        </p:nvSpPr>
        <p:spPr bwMode="auto">
          <a:xfrm>
            <a:off x="8110645" y="3110765"/>
            <a:ext cx="359833" cy="343641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pPr algn="ctr"/>
            <a:r>
              <a:rPr lang="en-US" sz="1700" i="1"/>
              <a:t>r</a:t>
            </a:r>
          </a:p>
        </p:txBody>
      </p:sp>
      <p:cxnSp>
        <p:nvCxnSpPr>
          <p:cNvPr id="797829" name="AutoShape 133"/>
          <p:cNvCxnSpPr>
            <a:cxnSpLocks noChangeShapeType="1"/>
            <a:stCxn id="19544" idx="5"/>
            <a:endCxn id="797828" idx="1"/>
          </p:cNvCxnSpPr>
          <p:nvPr/>
        </p:nvCxnSpPr>
        <p:spPr bwMode="auto">
          <a:xfrm>
            <a:off x="7806583" y="2596209"/>
            <a:ext cx="356235" cy="543348"/>
          </a:xfrm>
          <a:prstGeom prst="straightConnector1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</p:spPr>
      </p:cxnSp>
      <p:grpSp>
        <p:nvGrpSpPr>
          <p:cNvPr id="17" name="Group 134"/>
          <p:cNvGrpSpPr>
            <a:grpSpLocks/>
          </p:cNvGrpSpPr>
          <p:nvPr/>
        </p:nvGrpSpPr>
        <p:grpSpPr bwMode="auto">
          <a:xfrm>
            <a:off x="6025417" y="1595872"/>
            <a:ext cx="969382" cy="441727"/>
            <a:chOff x="1891" y="1104"/>
            <a:chExt cx="1116" cy="508"/>
          </a:xfrm>
        </p:grpSpPr>
        <p:cxnSp>
          <p:nvCxnSpPr>
            <p:cNvPr id="19542" name="AutoShape 135"/>
            <p:cNvCxnSpPr>
              <a:cxnSpLocks noChangeShapeType="1"/>
              <a:stCxn id="19546" idx="2"/>
              <a:endCxn id="19543" idx="6"/>
            </p:cNvCxnSpPr>
            <p:nvPr/>
          </p:nvCxnSpPr>
          <p:spPr bwMode="auto">
            <a:xfrm flipH="1" flipV="1">
              <a:off x="2304" y="1302"/>
              <a:ext cx="703" cy="31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43" name="AutoShape 136"/>
            <p:cNvSpPr>
              <a:spLocks noChangeArrowheads="1"/>
            </p:cNvSpPr>
            <p:nvPr/>
          </p:nvSpPr>
          <p:spPr bwMode="auto">
            <a:xfrm>
              <a:off x="1891" y="1104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700" i="1"/>
            </a:p>
          </p:txBody>
        </p:sp>
      </p:grpSp>
      <p:grpSp>
        <p:nvGrpSpPr>
          <p:cNvPr id="18" name="Group 137"/>
          <p:cNvGrpSpPr>
            <a:grpSpLocks/>
          </p:cNvGrpSpPr>
          <p:nvPr/>
        </p:nvGrpSpPr>
        <p:grpSpPr bwMode="auto">
          <a:xfrm>
            <a:off x="7011361" y="1876543"/>
            <a:ext cx="1296269" cy="661748"/>
            <a:chOff x="3024" y="1427"/>
            <a:chExt cx="1492" cy="760"/>
          </a:xfrm>
        </p:grpSpPr>
        <p:cxnSp>
          <p:nvCxnSpPr>
            <p:cNvPr id="19540" name="AutoShape 138"/>
            <p:cNvCxnSpPr>
              <a:cxnSpLocks noChangeShapeType="1"/>
              <a:stCxn id="19556" idx="1"/>
              <a:endCxn id="19546" idx="6"/>
            </p:cNvCxnSpPr>
            <p:nvPr/>
          </p:nvCxnSpPr>
          <p:spPr bwMode="auto">
            <a:xfrm rot="16200000" flipV="1">
              <a:off x="3680" y="1352"/>
              <a:ext cx="575" cy="1096"/>
            </a:xfrm>
            <a:prstGeom prst="curvedConnector2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41" name="AutoShape 139"/>
            <p:cNvSpPr>
              <a:spLocks noChangeArrowheads="1"/>
            </p:cNvSpPr>
            <p:nvPr/>
          </p:nvSpPr>
          <p:spPr bwMode="auto">
            <a:xfrm>
              <a:off x="3024" y="1427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700" i="1"/>
            </a:p>
          </p:txBody>
        </p:sp>
      </p:grpSp>
      <p:sp>
        <p:nvSpPr>
          <p:cNvPr id="19485" name="Line 140"/>
          <p:cNvSpPr>
            <a:spLocks noChangeShapeType="1"/>
          </p:cNvSpPr>
          <p:nvPr/>
        </p:nvSpPr>
        <p:spPr bwMode="auto">
          <a:xfrm>
            <a:off x="10" y="3821431"/>
            <a:ext cx="138175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837" name="Oval 141"/>
          <p:cNvSpPr>
            <a:spLocks noChangeArrowheads="1"/>
          </p:cNvSpPr>
          <p:nvPr/>
        </p:nvSpPr>
        <p:spPr bwMode="auto">
          <a:xfrm>
            <a:off x="6959190" y="3941975"/>
            <a:ext cx="329248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38" name="Oval 142"/>
          <p:cNvSpPr>
            <a:spLocks noChangeArrowheads="1"/>
          </p:cNvSpPr>
          <p:nvPr/>
        </p:nvSpPr>
        <p:spPr bwMode="auto">
          <a:xfrm>
            <a:off x="4226244" y="4501528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39" name="Oval 143"/>
          <p:cNvSpPr>
            <a:spLocks noChangeArrowheads="1"/>
          </p:cNvSpPr>
          <p:nvPr/>
        </p:nvSpPr>
        <p:spPr bwMode="auto">
          <a:xfrm>
            <a:off x="3587551" y="5044877"/>
            <a:ext cx="329248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0" name="Oval 144"/>
          <p:cNvSpPr>
            <a:spLocks noChangeArrowheads="1"/>
          </p:cNvSpPr>
          <p:nvPr/>
        </p:nvSpPr>
        <p:spPr bwMode="auto">
          <a:xfrm>
            <a:off x="4380971" y="5044877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1" name="Oval 145"/>
          <p:cNvSpPr>
            <a:spLocks noChangeArrowheads="1"/>
          </p:cNvSpPr>
          <p:nvPr/>
        </p:nvSpPr>
        <p:spPr bwMode="auto">
          <a:xfrm>
            <a:off x="5311152" y="5025073"/>
            <a:ext cx="329248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2" name="Oval 146"/>
          <p:cNvSpPr>
            <a:spLocks noChangeArrowheads="1"/>
          </p:cNvSpPr>
          <p:nvPr/>
        </p:nvSpPr>
        <p:spPr bwMode="auto">
          <a:xfrm>
            <a:off x="3585740" y="5674585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3" name="Oval 147"/>
          <p:cNvSpPr>
            <a:spLocks noChangeArrowheads="1"/>
          </p:cNvSpPr>
          <p:nvPr/>
        </p:nvSpPr>
        <p:spPr bwMode="auto">
          <a:xfrm>
            <a:off x="4370178" y="5665578"/>
            <a:ext cx="329247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4" name="Oval 148"/>
          <p:cNvSpPr>
            <a:spLocks noChangeArrowheads="1"/>
          </p:cNvSpPr>
          <p:nvPr/>
        </p:nvSpPr>
        <p:spPr bwMode="auto">
          <a:xfrm>
            <a:off x="4902731" y="5645798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5" name="Oval 149"/>
          <p:cNvSpPr>
            <a:spLocks noChangeArrowheads="1"/>
          </p:cNvSpPr>
          <p:nvPr/>
        </p:nvSpPr>
        <p:spPr bwMode="auto">
          <a:xfrm>
            <a:off x="5669175" y="5635003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6" name="Oval 150"/>
          <p:cNvSpPr>
            <a:spLocks noChangeArrowheads="1"/>
          </p:cNvSpPr>
          <p:nvPr/>
        </p:nvSpPr>
        <p:spPr bwMode="auto">
          <a:xfrm>
            <a:off x="4632855" y="6244908"/>
            <a:ext cx="329247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7" name="Oval 151"/>
          <p:cNvSpPr>
            <a:spLocks noChangeArrowheads="1"/>
          </p:cNvSpPr>
          <p:nvPr/>
        </p:nvSpPr>
        <p:spPr bwMode="auto">
          <a:xfrm>
            <a:off x="5136621" y="6253917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8" name="Oval 152"/>
          <p:cNvSpPr>
            <a:spLocks noChangeArrowheads="1"/>
          </p:cNvSpPr>
          <p:nvPr/>
        </p:nvSpPr>
        <p:spPr bwMode="auto">
          <a:xfrm>
            <a:off x="4652658" y="6817044"/>
            <a:ext cx="329248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9" name="Oval 153"/>
          <p:cNvSpPr>
            <a:spLocks noChangeArrowheads="1"/>
          </p:cNvSpPr>
          <p:nvPr/>
        </p:nvSpPr>
        <p:spPr bwMode="auto">
          <a:xfrm>
            <a:off x="5658380" y="6255704"/>
            <a:ext cx="329247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50" name="Oval 154"/>
          <p:cNvSpPr>
            <a:spLocks noChangeArrowheads="1"/>
          </p:cNvSpPr>
          <p:nvPr/>
        </p:nvSpPr>
        <p:spPr bwMode="auto">
          <a:xfrm>
            <a:off x="5408308" y="6808059"/>
            <a:ext cx="329248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51" name="Oval 155"/>
          <p:cNvSpPr>
            <a:spLocks noChangeArrowheads="1"/>
          </p:cNvSpPr>
          <p:nvPr/>
        </p:nvSpPr>
        <p:spPr bwMode="auto">
          <a:xfrm>
            <a:off x="5955255" y="6838633"/>
            <a:ext cx="329248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52" name="Oval 156"/>
          <p:cNvSpPr>
            <a:spLocks noChangeArrowheads="1"/>
          </p:cNvSpPr>
          <p:nvPr/>
        </p:nvSpPr>
        <p:spPr bwMode="auto">
          <a:xfrm>
            <a:off x="5426299" y="7340612"/>
            <a:ext cx="329248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53" name="Line 157"/>
          <p:cNvSpPr>
            <a:spLocks noChangeShapeType="1"/>
          </p:cNvSpPr>
          <p:nvPr/>
        </p:nvSpPr>
        <p:spPr bwMode="auto">
          <a:xfrm flipH="1" flipV="1">
            <a:off x="5467669" y="5365127"/>
            <a:ext cx="350838" cy="20510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854" name="Line 158"/>
          <p:cNvSpPr>
            <a:spLocks noChangeShapeType="1"/>
          </p:cNvSpPr>
          <p:nvPr/>
        </p:nvSpPr>
        <p:spPr bwMode="auto">
          <a:xfrm flipH="1" flipV="1">
            <a:off x="5030474" y="5955255"/>
            <a:ext cx="293265" cy="24288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855" name="Line 159"/>
          <p:cNvSpPr>
            <a:spLocks noChangeShapeType="1"/>
          </p:cNvSpPr>
          <p:nvPr/>
        </p:nvSpPr>
        <p:spPr bwMode="auto">
          <a:xfrm flipH="1" flipV="1">
            <a:off x="5823916" y="5953446"/>
            <a:ext cx="3598" cy="25368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856" name="Line 160"/>
          <p:cNvSpPr>
            <a:spLocks noChangeShapeType="1"/>
          </p:cNvSpPr>
          <p:nvPr/>
        </p:nvSpPr>
        <p:spPr bwMode="auto">
          <a:xfrm flipH="1" flipV="1">
            <a:off x="5813109" y="6563362"/>
            <a:ext cx="293265" cy="22309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857" name="Line 161"/>
          <p:cNvSpPr>
            <a:spLocks noChangeShapeType="1"/>
          </p:cNvSpPr>
          <p:nvPr/>
        </p:nvSpPr>
        <p:spPr bwMode="auto">
          <a:xfrm flipV="1">
            <a:off x="5573820" y="6565160"/>
            <a:ext cx="241088" cy="185314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858" name="Line 162"/>
          <p:cNvSpPr>
            <a:spLocks noChangeShapeType="1"/>
          </p:cNvSpPr>
          <p:nvPr/>
        </p:nvSpPr>
        <p:spPr bwMode="auto">
          <a:xfrm flipV="1">
            <a:off x="5554041" y="7117514"/>
            <a:ext cx="8995" cy="196111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19508" name="Oval 163"/>
          <p:cNvSpPr>
            <a:spLocks noChangeArrowheads="1"/>
          </p:cNvSpPr>
          <p:nvPr/>
        </p:nvSpPr>
        <p:spPr bwMode="auto">
          <a:xfrm>
            <a:off x="6960975" y="3943785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0" name="Oval 164"/>
          <p:cNvSpPr>
            <a:spLocks noChangeArrowheads="1"/>
          </p:cNvSpPr>
          <p:nvPr/>
        </p:nvSpPr>
        <p:spPr bwMode="auto">
          <a:xfrm>
            <a:off x="4228055" y="4503315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1" name="Oval 165"/>
          <p:cNvSpPr>
            <a:spLocks noChangeArrowheads="1"/>
          </p:cNvSpPr>
          <p:nvPr/>
        </p:nvSpPr>
        <p:spPr bwMode="auto">
          <a:xfrm>
            <a:off x="7394588" y="4427751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2" name="Oval 166"/>
          <p:cNvSpPr>
            <a:spLocks noChangeArrowheads="1"/>
          </p:cNvSpPr>
          <p:nvPr/>
        </p:nvSpPr>
        <p:spPr bwMode="auto">
          <a:xfrm>
            <a:off x="9371860" y="4445742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3" name="Oval 167"/>
          <p:cNvSpPr>
            <a:spLocks noChangeArrowheads="1"/>
          </p:cNvSpPr>
          <p:nvPr/>
        </p:nvSpPr>
        <p:spPr bwMode="auto">
          <a:xfrm>
            <a:off x="3589338" y="5046664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4" name="Oval 168"/>
          <p:cNvSpPr>
            <a:spLocks noChangeArrowheads="1"/>
          </p:cNvSpPr>
          <p:nvPr/>
        </p:nvSpPr>
        <p:spPr bwMode="auto">
          <a:xfrm>
            <a:off x="4382783" y="5046664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5" name="Oval 169"/>
          <p:cNvSpPr>
            <a:spLocks noChangeArrowheads="1"/>
          </p:cNvSpPr>
          <p:nvPr/>
        </p:nvSpPr>
        <p:spPr bwMode="auto">
          <a:xfrm>
            <a:off x="5312940" y="5026885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6" name="Oval 170"/>
          <p:cNvSpPr>
            <a:spLocks noChangeArrowheads="1"/>
          </p:cNvSpPr>
          <p:nvPr/>
        </p:nvSpPr>
        <p:spPr bwMode="auto">
          <a:xfrm>
            <a:off x="3587551" y="5676372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7" name="Oval 171"/>
          <p:cNvSpPr>
            <a:spLocks noChangeArrowheads="1"/>
          </p:cNvSpPr>
          <p:nvPr/>
        </p:nvSpPr>
        <p:spPr bwMode="auto">
          <a:xfrm>
            <a:off x="4371987" y="5658380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8" name="Oval 172"/>
          <p:cNvSpPr>
            <a:spLocks noChangeArrowheads="1"/>
          </p:cNvSpPr>
          <p:nvPr/>
        </p:nvSpPr>
        <p:spPr bwMode="auto">
          <a:xfrm>
            <a:off x="4904541" y="5647585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9" name="Oval 173"/>
          <p:cNvSpPr>
            <a:spLocks noChangeArrowheads="1"/>
          </p:cNvSpPr>
          <p:nvPr/>
        </p:nvSpPr>
        <p:spPr bwMode="auto">
          <a:xfrm>
            <a:off x="5670985" y="5636791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0" name="Oval 174"/>
          <p:cNvSpPr>
            <a:spLocks noChangeArrowheads="1"/>
          </p:cNvSpPr>
          <p:nvPr/>
        </p:nvSpPr>
        <p:spPr bwMode="auto">
          <a:xfrm>
            <a:off x="4634665" y="6246719"/>
            <a:ext cx="329248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1" name="Oval 175"/>
          <p:cNvSpPr>
            <a:spLocks noChangeArrowheads="1"/>
          </p:cNvSpPr>
          <p:nvPr/>
        </p:nvSpPr>
        <p:spPr bwMode="auto">
          <a:xfrm>
            <a:off x="5138432" y="6255704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2" name="Oval 176"/>
          <p:cNvSpPr>
            <a:spLocks noChangeArrowheads="1"/>
          </p:cNvSpPr>
          <p:nvPr/>
        </p:nvSpPr>
        <p:spPr bwMode="auto">
          <a:xfrm>
            <a:off x="4663452" y="6818855"/>
            <a:ext cx="329248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3" name="Oval 177"/>
          <p:cNvSpPr>
            <a:spLocks noChangeArrowheads="1"/>
          </p:cNvSpPr>
          <p:nvPr/>
        </p:nvSpPr>
        <p:spPr bwMode="auto">
          <a:xfrm>
            <a:off x="5660191" y="6257515"/>
            <a:ext cx="329248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4" name="Oval 178"/>
          <p:cNvSpPr>
            <a:spLocks noChangeArrowheads="1"/>
          </p:cNvSpPr>
          <p:nvPr/>
        </p:nvSpPr>
        <p:spPr bwMode="auto">
          <a:xfrm>
            <a:off x="5410095" y="6809847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5" name="Oval 179"/>
          <p:cNvSpPr>
            <a:spLocks noChangeArrowheads="1"/>
          </p:cNvSpPr>
          <p:nvPr/>
        </p:nvSpPr>
        <p:spPr bwMode="auto">
          <a:xfrm>
            <a:off x="5957041" y="6840445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6" name="Oval 180"/>
          <p:cNvSpPr>
            <a:spLocks noChangeArrowheads="1"/>
          </p:cNvSpPr>
          <p:nvPr/>
        </p:nvSpPr>
        <p:spPr bwMode="auto">
          <a:xfrm>
            <a:off x="5428086" y="7342400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7" name="Oval 181"/>
          <p:cNvSpPr>
            <a:spLocks noChangeArrowheads="1"/>
          </p:cNvSpPr>
          <p:nvPr/>
        </p:nvSpPr>
        <p:spPr bwMode="auto">
          <a:xfrm>
            <a:off x="3587551" y="5667388"/>
            <a:ext cx="329248" cy="300461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8" name="Oval 182"/>
          <p:cNvSpPr>
            <a:spLocks noChangeArrowheads="1"/>
          </p:cNvSpPr>
          <p:nvPr/>
        </p:nvSpPr>
        <p:spPr bwMode="auto">
          <a:xfrm>
            <a:off x="3589338" y="5037679"/>
            <a:ext cx="329247" cy="300461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9" name="Oval 183"/>
          <p:cNvSpPr>
            <a:spLocks noChangeArrowheads="1"/>
          </p:cNvSpPr>
          <p:nvPr/>
        </p:nvSpPr>
        <p:spPr bwMode="auto">
          <a:xfrm>
            <a:off x="4371987" y="5658380"/>
            <a:ext cx="329248" cy="300460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80" name="Oval 184"/>
          <p:cNvSpPr>
            <a:spLocks noChangeArrowheads="1"/>
          </p:cNvSpPr>
          <p:nvPr/>
        </p:nvSpPr>
        <p:spPr bwMode="auto">
          <a:xfrm>
            <a:off x="4382783" y="5037679"/>
            <a:ext cx="329248" cy="300461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81" name="Oval 185"/>
          <p:cNvSpPr>
            <a:spLocks noChangeArrowheads="1"/>
          </p:cNvSpPr>
          <p:nvPr/>
        </p:nvSpPr>
        <p:spPr bwMode="auto">
          <a:xfrm>
            <a:off x="4634665" y="6237712"/>
            <a:ext cx="329248" cy="300460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82" name="Oval 186"/>
          <p:cNvSpPr>
            <a:spLocks noChangeArrowheads="1"/>
          </p:cNvSpPr>
          <p:nvPr/>
        </p:nvSpPr>
        <p:spPr bwMode="auto">
          <a:xfrm>
            <a:off x="4654445" y="6809847"/>
            <a:ext cx="329247" cy="300460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grpSp>
        <p:nvGrpSpPr>
          <p:cNvPr id="19" name="Group 187"/>
          <p:cNvGrpSpPr>
            <a:grpSpLocks/>
          </p:cNvGrpSpPr>
          <p:nvPr/>
        </p:nvGrpSpPr>
        <p:grpSpPr bwMode="auto">
          <a:xfrm>
            <a:off x="6597548" y="3058585"/>
            <a:ext cx="667491" cy="489373"/>
            <a:chOff x="2762" y="1745"/>
            <a:chExt cx="371" cy="272"/>
          </a:xfrm>
        </p:grpSpPr>
        <p:cxnSp>
          <p:nvCxnSpPr>
            <p:cNvPr id="19538" name="AutoShape 188"/>
            <p:cNvCxnSpPr>
              <a:cxnSpLocks noChangeShapeType="1"/>
            </p:cNvCxnSpPr>
            <p:nvPr/>
          </p:nvCxnSpPr>
          <p:spPr bwMode="auto">
            <a:xfrm flipH="1">
              <a:off x="2934" y="1745"/>
              <a:ext cx="199" cy="114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39" name="AutoShape 189"/>
            <p:cNvSpPr>
              <a:spLocks noChangeArrowheads="1"/>
            </p:cNvSpPr>
            <p:nvPr/>
          </p:nvSpPr>
          <p:spPr bwMode="auto">
            <a:xfrm>
              <a:off x="2762" y="1825"/>
              <a:ext cx="200" cy="192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700" i="1"/>
            </a:p>
          </p:txBody>
        </p:sp>
      </p:grpSp>
      <p:sp>
        <p:nvSpPr>
          <p:cNvPr id="797886" name="Oval 190"/>
          <p:cNvSpPr>
            <a:spLocks noChangeArrowheads="1"/>
          </p:cNvSpPr>
          <p:nvPr/>
        </p:nvSpPr>
        <p:spPr bwMode="auto">
          <a:xfrm>
            <a:off x="4904541" y="5647585"/>
            <a:ext cx="329248" cy="300460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87" name="Oval 191"/>
          <p:cNvSpPr>
            <a:spLocks noChangeArrowheads="1"/>
          </p:cNvSpPr>
          <p:nvPr/>
        </p:nvSpPr>
        <p:spPr bwMode="auto">
          <a:xfrm>
            <a:off x="5138432" y="6255704"/>
            <a:ext cx="329248" cy="300460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88" name="Oval 192"/>
          <p:cNvSpPr>
            <a:spLocks noChangeArrowheads="1"/>
          </p:cNvSpPr>
          <p:nvPr/>
        </p:nvSpPr>
        <p:spPr bwMode="auto">
          <a:xfrm>
            <a:off x="5410095" y="6809847"/>
            <a:ext cx="329247" cy="300460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89" name="Oval 193"/>
          <p:cNvSpPr>
            <a:spLocks noChangeArrowheads="1"/>
          </p:cNvSpPr>
          <p:nvPr/>
        </p:nvSpPr>
        <p:spPr bwMode="auto">
          <a:xfrm>
            <a:off x="5428086" y="7342400"/>
            <a:ext cx="329247" cy="300460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19537" name="Text Box 194"/>
          <p:cNvSpPr txBox="1">
            <a:spLocks noChangeArrowheads="1"/>
          </p:cNvSpPr>
          <p:nvPr/>
        </p:nvSpPr>
        <p:spPr bwMode="auto">
          <a:xfrm>
            <a:off x="431800" y="1554484"/>
            <a:ext cx="2849880" cy="1517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 i="1">
                <a:latin typeface="Calibri" pitchFamily="34" charset="0"/>
              </a:rPr>
              <a:t>Strategy: expand a deepest node first</a:t>
            </a:r>
          </a:p>
          <a:p>
            <a:pPr>
              <a:spcBef>
                <a:spcPct val="50000"/>
              </a:spcBef>
            </a:pPr>
            <a:r>
              <a:rPr lang="en-US" sz="2040" i="1">
                <a:latin typeface="Calibri" pitchFamily="34" charset="0"/>
              </a:rPr>
              <a:t>Implementation: </a:t>
            </a:r>
            <a:r>
              <a:rPr lang="en-US" sz="2040" b="1" i="1">
                <a:solidFill>
                  <a:srgbClr val="CC0000"/>
                </a:solidFill>
                <a:latin typeface="Calibri" pitchFamily="34" charset="0"/>
              </a:rPr>
              <a:t>Frontier is a LIFO stack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57" grpId="0" animBg="1"/>
      <p:bldP spid="797758" grpId="0" animBg="1"/>
      <p:bldP spid="797758" grpId="1" animBg="1"/>
      <p:bldP spid="797759" grpId="0" animBg="1"/>
      <p:bldP spid="797759" grpId="1" animBg="1"/>
      <p:bldP spid="797760" grpId="0" animBg="1"/>
      <p:bldP spid="797760" grpId="1" animBg="1"/>
      <p:bldP spid="797761" grpId="0" animBg="1"/>
      <p:bldP spid="797761" grpId="1" animBg="1"/>
      <p:bldP spid="797762" grpId="0" animBg="1"/>
      <p:bldP spid="797763" grpId="0" animBg="1"/>
      <p:bldP spid="797763" grpId="1" animBg="1"/>
      <p:bldP spid="797764" grpId="0" animBg="1"/>
      <p:bldP spid="797764" grpId="1" animBg="1"/>
      <p:bldP spid="797765" grpId="0" animBg="1"/>
      <p:bldP spid="797765" grpId="1" animBg="1"/>
      <p:bldP spid="797765" grpId="2" animBg="1"/>
      <p:bldP spid="797828" grpId="0" animBg="1"/>
      <p:bldP spid="797837" grpId="0" animBg="1"/>
      <p:bldP spid="797838" grpId="0" animBg="1"/>
      <p:bldP spid="797839" grpId="0" animBg="1"/>
      <p:bldP spid="797839" grpId="1" animBg="1"/>
      <p:bldP spid="797840" grpId="0" animBg="1"/>
      <p:bldP spid="797840" grpId="1" animBg="1"/>
      <p:bldP spid="797841" grpId="0" animBg="1"/>
      <p:bldP spid="797842" grpId="0" animBg="1"/>
      <p:bldP spid="797842" grpId="1" animBg="1"/>
      <p:bldP spid="797843" grpId="0" animBg="1"/>
      <p:bldP spid="797843" grpId="1" animBg="1"/>
      <p:bldP spid="797844" grpId="0" animBg="1"/>
      <p:bldP spid="797844" grpId="1" animBg="1"/>
      <p:bldP spid="797845" grpId="0" animBg="1"/>
      <p:bldP spid="797846" grpId="0" animBg="1"/>
      <p:bldP spid="797846" grpId="1" animBg="1"/>
      <p:bldP spid="797847" grpId="0" animBg="1"/>
      <p:bldP spid="797847" grpId="1" animBg="1"/>
      <p:bldP spid="797848" grpId="0" animBg="1"/>
      <p:bldP spid="797848" grpId="1" animBg="1"/>
      <p:bldP spid="797849" grpId="0" animBg="1"/>
      <p:bldP spid="797850" grpId="0" animBg="1"/>
      <p:bldP spid="797850" grpId="1" animBg="1"/>
      <p:bldP spid="797851" grpId="0" animBg="1"/>
      <p:bldP spid="797852" grpId="0" animBg="1"/>
      <p:bldP spid="797852" grpId="1" animBg="1"/>
      <p:bldP spid="797853" grpId="0" animBg="1"/>
      <p:bldP spid="797854" grpId="0" animBg="1"/>
      <p:bldP spid="797854" grpId="1" animBg="1"/>
      <p:bldP spid="797855" grpId="0" animBg="1"/>
      <p:bldP spid="797856" grpId="0" animBg="1"/>
      <p:bldP spid="797857" grpId="0" animBg="1"/>
      <p:bldP spid="797857" grpId="1" animBg="1"/>
      <p:bldP spid="797858" grpId="0" animBg="1"/>
      <p:bldP spid="797858" grpId="1" animBg="1"/>
      <p:bldP spid="797860" grpId="0" animBg="1"/>
      <p:bldP spid="797861" grpId="0" animBg="1"/>
      <p:bldP spid="797862" grpId="0" animBg="1"/>
      <p:bldP spid="797863" grpId="0" animBg="1"/>
      <p:bldP spid="797864" grpId="0" animBg="1"/>
      <p:bldP spid="797865" grpId="0" animBg="1"/>
      <p:bldP spid="797866" grpId="0" animBg="1"/>
      <p:bldP spid="797867" grpId="0" animBg="1"/>
      <p:bldP spid="797868" grpId="0" animBg="1"/>
      <p:bldP spid="797869" grpId="0" animBg="1"/>
      <p:bldP spid="797870" grpId="0" animBg="1"/>
      <p:bldP spid="797871" grpId="0" animBg="1"/>
      <p:bldP spid="797872" grpId="0" animBg="1"/>
      <p:bldP spid="797873" grpId="0" animBg="1"/>
      <p:bldP spid="797874" grpId="0" animBg="1"/>
      <p:bldP spid="797875" grpId="0" animBg="1"/>
      <p:bldP spid="797876" grpId="0" animBg="1"/>
      <p:bldP spid="797877" grpId="0" animBg="1"/>
      <p:bldP spid="797878" grpId="0" animBg="1"/>
      <p:bldP spid="797879" grpId="0" animBg="1"/>
      <p:bldP spid="797880" grpId="0" animBg="1"/>
      <p:bldP spid="797881" grpId="0" animBg="1"/>
      <p:bldP spid="797882" grpId="0" animBg="1"/>
      <p:bldP spid="797886" grpId="0" animBg="1"/>
      <p:bldP spid="797887" grpId="0" animBg="1"/>
      <p:bldP spid="797888" grpId="0" animBg="1"/>
      <p:bldP spid="79788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940" y="880872"/>
            <a:ext cx="283400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DFS Search</a:t>
            </a:r>
            <a:r>
              <a:rPr sz="2400" b="1" spc="-7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57367" y="205435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2"/>
                </a:lnTo>
                <a:lnTo>
                  <a:pt x="76200" y="36575"/>
                </a:lnTo>
                <a:lnTo>
                  <a:pt x="60960" y="48768"/>
                </a:lnTo>
                <a:lnTo>
                  <a:pt x="45720" y="57912"/>
                </a:lnTo>
                <a:lnTo>
                  <a:pt x="15240" y="100584"/>
                </a:lnTo>
                <a:lnTo>
                  <a:pt x="0" y="146303"/>
                </a:lnTo>
                <a:lnTo>
                  <a:pt x="0" y="182880"/>
                </a:lnTo>
                <a:lnTo>
                  <a:pt x="3048" y="198120"/>
                </a:lnTo>
                <a:lnTo>
                  <a:pt x="15240" y="228600"/>
                </a:lnTo>
                <a:lnTo>
                  <a:pt x="24384" y="243839"/>
                </a:lnTo>
                <a:lnTo>
                  <a:pt x="36576" y="256032"/>
                </a:lnTo>
                <a:lnTo>
                  <a:pt x="45720" y="268224"/>
                </a:lnTo>
                <a:lnTo>
                  <a:pt x="76200" y="292608"/>
                </a:lnTo>
                <a:lnTo>
                  <a:pt x="91440" y="301751"/>
                </a:lnTo>
                <a:lnTo>
                  <a:pt x="109728" y="307848"/>
                </a:lnTo>
                <a:lnTo>
                  <a:pt x="128016" y="316992"/>
                </a:lnTo>
                <a:lnTo>
                  <a:pt x="146304" y="320039"/>
                </a:lnTo>
                <a:lnTo>
                  <a:pt x="164592" y="326136"/>
                </a:lnTo>
                <a:lnTo>
                  <a:pt x="185928" y="329184"/>
                </a:lnTo>
                <a:lnTo>
                  <a:pt x="207264" y="329184"/>
                </a:lnTo>
                <a:lnTo>
                  <a:pt x="228600" y="326136"/>
                </a:lnTo>
                <a:lnTo>
                  <a:pt x="249936" y="326136"/>
                </a:lnTo>
                <a:lnTo>
                  <a:pt x="268224" y="320039"/>
                </a:lnTo>
                <a:lnTo>
                  <a:pt x="289560" y="316992"/>
                </a:lnTo>
                <a:lnTo>
                  <a:pt x="207264" y="316992"/>
                </a:lnTo>
                <a:lnTo>
                  <a:pt x="185928" y="313944"/>
                </a:lnTo>
                <a:lnTo>
                  <a:pt x="167640" y="313944"/>
                </a:lnTo>
                <a:lnTo>
                  <a:pt x="149352" y="307848"/>
                </a:lnTo>
                <a:lnTo>
                  <a:pt x="131064" y="304800"/>
                </a:lnTo>
                <a:lnTo>
                  <a:pt x="112776" y="295656"/>
                </a:lnTo>
                <a:lnTo>
                  <a:pt x="97536" y="289560"/>
                </a:lnTo>
                <a:lnTo>
                  <a:pt x="67056" y="271272"/>
                </a:lnTo>
                <a:lnTo>
                  <a:pt x="54864" y="259080"/>
                </a:lnTo>
                <a:lnTo>
                  <a:pt x="45720" y="246887"/>
                </a:lnTo>
                <a:lnTo>
                  <a:pt x="33528" y="234696"/>
                </a:lnTo>
                <a:lnTo>
                  <a:pt x="27432" y="222503"/>
                </a:lnTo>
                <a:lnTo>
                  <a:pt x="21336" y="207263"/>
                </a:lnTo>
                <a:lnTo>
                  <a:pt x="15240" y="195072"/>
                </a:lnTo>
                <a:lnTo>
                  <a:pt x="12192" y="179832"/>
                </a:lnTo>
                <a:lnTo>
                  <a:pt x="12192" y="149351"/>
                </a:lnTo>
                <a:lnTo>
                  <a:pt x="15240" y="134112"/>
                </a:lnTo>
                <a:lnTo>
                  <a:pt x="21336" y="118872"/>
                </a:lnTo>
                <a:lnTo>
                  <a:pt x="27432" y="106680"/>
                </a:lnTo>
                <a:lnTo>
                  <a:pt x="33528" y="91439"/>
                </a:lnTo>
                <a:lnTo>
                  <a:pt x="45720" y="79248"/>
                </a:lnTo>
                <a:lnTo>
                  <a:pt x="54864" y="67056"/>
                </a:lnTo>
                <a:lnTo>
                  <a:pt x="67056" y="57912"/>
                </a:lnTo>
                <a:lnTo>
                  <a:pt x="112776" y="30480"/>
                </a:lnTo>
                <a:lnTo>
                  <a:pt x="149352" y="18287"/>
                </a:lnTo>
                <a:lnTo>
                  <a:pt x="167640" y="15239"/>
                </a:lnTo>
                <a:lnTo>
                  <a:pt x="188976" y="12192"/>
                </a:lnTo>
                <a:lnTo>
                  <a:pt x="289560" y="12192"/>
                </a:lnTo>
                <a:lnTo>
                  <a:pt x="268224" y="6096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29" h="329564">
                <a:moveTo>
                  <a:pt x="289560" y="12192"/>
                </a:moveTo>
                <a:lnTo>
                  <a:pt x="228600" y="12192"/>
                </a:lnTo>
                <a:lnTo>
                  <a:pt x="265176" y="18287"/>
                </a:lnTo>
                <a:lnTo>
                  <a:pt x="301752" y="30480"/>
                </a:lnTo>
                <a:lnTo>
                  <a:pt x="347472" y="57912"/>
                </a:lnTo>
                <a:lnTo>
                  <a:pt x="381000" y="91439"/>
                </a:lnTo>
                <a:lnTo>
                  <a:pt x="402336" y="149351"/>
                </a:lnTo>
                <a:lnTo>
                  <a:pt x="402336" y="179832"/>
                </a:lnTo>
                <a:lnTo>
                  <a:pt x="381000" y="234696"/>
                </a:lnTo>
                <a:lnTo>
                  <a:pt x="359664" y="259080"/>
                </a:lnTo>
                <a:lnTo>
                  <a:pt x="347472" y="271272"/>
                </a:lnTo>
                <a:lnTo>
                  <a:pt x="301752" y="298703"/>
                </a:lnTo>
                <a:lnTo>
                  <a:pt x="283464" y="304800"/>
                </a:lnTo>
                <a:lnTo>
                  <a:pt x="265176" y="307848"/>
                </a:lnTo>
                <a:lnTo>
                  <a:pt x="246887" y="313944"/>
                </a:lnTo>
                <a:lnTo>
                  <a:pt x="228600" y="313944"/>
                </a:lnTo>
                <a:lnTo>
                  <a:pt x="207264" y="316992"/>
                </a:lnTo>
                <a:lnTo>
                  <a:pt x="289560" y="316992"/>
                </a:lnTo>
                <a:lnTo>
                  <a:pt x="307848" y="307848"/>
                </a:lnTo>
                <a:lnTo>
                  <a:pt x="323088" y="301751"/>
                </a:lnTo>
                <a:lnTo>
                  <a:pt x="341376" y="292608"/>
                </a:lnTo>
                <a:lnTo>
                  <a:pt x="353568" y="280415"/>
                </a:lnTo>
                <a:lnTo>
                  <a:pt x="368808" y="268224"/>
                </a:lnTo>
                <a:lnTo>
                  <a:pt x="399288" y="228600"/>
                </a:lnTo>
                <a:lnTo>
                  <a:pt x="414528" y="182880"/>
                </a:lnTo>
                <a:lnTo>
                  <a:pt x="414528" y="179832"/>
                </a:lnTo>
                <a:lnTo>
                  <a:pt x="417576" y="164592"/>
                </a:lnTo>
                <a:lnTo>
                  <a:pt x="399288" y="100584"/>
                </a:lnTo>
                <a:lnTo>
                  <a:pt x="368808" y="57912"/>
                </a:lnTo>
                <a:lnTo>
                  <a:pt x="323088" y="27432"/>
                </a:lnTo>
                <a:lnTo>
                  <a:pt x="304800" y="18287"/>
                </a:lnTo>
                <a:lnTo>
                  <a:pt x="289560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42019" y="2538985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90531" y="2548129"/>
            <a:ext cx="1651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791444" y="2538985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F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93744" y="2749295"/>
            <a:ext cx="417830" cy="326390"/>
          </a:xfrm>
          <a:custGeom>
            <a:avLst/>
            <a:gdLst/>
            <a:ahLst/>
            <a:cxnLst/>
            <a:rect l="l" t="t" r="r" b="b"/>
            <a:pathLst>
              <a:path w="417830" h="326389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1"/>
                </a:lnTo>
                <a:lnTo>
                  <a:pt x="60960" y="45719"/>
                </a:lnTo>
                <a:lnTo>
                  <a:pt x="24383" y="85343"/>
                </a:lnTo>
                <a:lnTo>
                  <a:pt x="15239" y="97536"/>
                </a:lnTo>
                <a:lnTo>
                  <a:pt x="9143" y="112775"/>
                </a:lnTo>
                <a:lnTo>
                  <a:pt x="3048" y="131063"/>
                </a:lnTo>
                <a:lnTo>
                  <a:pt x="0" y="146303"/>
                </a:lnTo>
                <a:lnTo>
                  <a:pt x="0" y="179831"/>
                </a:lnTo>
                <a:lnTo>
                  <a:pt x="3048" y="198119"/>
                </a:lnTo>
                <a:lnTo>
                  <a:pt x="15239" y="228600"/>
                </a:lnTo>
                <a:lnTo>
                  <a:pt x="24383" y="240791"/>
                </a:lnTo>
                <a:lnTo>
                  <a:pt x="36575" y="256031"/>
                </a:lnTo>
                <a:lnTo>
                  <a:pt x="45719" y="268224"/>
                </a:lnTo>
                <a:lnTo>
                  <a:pt x="91439" y="298703"/>
                </a:lnTo>
                <a:lnTo>
                  <a:pt x="146304" y="320039"/>
                </a:lnTo>
                <a:lnTo>
                  <a:pt x="185928" y="326136"/>
                </a:lnTo>
                <a:lnTo>
                  <a:pt x="228600" y="326136"/>
                </a:lnTo>
                <a:lnTo>
                  <a:pt x="249936" y="323088"/>
                </a:lnTo>
                <a:lnTo>
                  <a:pt x="268224" y="320039"/>
                </a:lnTo>
                <a:lnTo>
                  <a:pt x="289560" y="313943"/>
                </a:lnTo>
                <a:lnTo>
                  <a:pt x="185928" y="313943"/>
                </a:lnTo>
                <a:lnTo>
                  <a:pt x="149351" y="307848"/>
                </a:lnTo>
                <a:lnTo>
                  <a:pt x="112775" y="295655"/>
                </a:lnTo>
                <a:lnTo>
                  <a:pt x="97536" y="289559"/>
                </a:lnTo>
                <a:lnTo>
                  <a:pt x="82295" y="280415"/>
                </a:lnTo>
                <a:lnTo>
                  <a:pt x="67056" y="268224"/>
                </a:lnTo>
                <a:lnTo>
                  <a:pt x="54863" y="259079"/>
                </a:lnTo>
                <a:lnTo>
                  <a:pt x="45719" y="246887"/>
                </a:lnTo>
                <a:lnTo>
                  <a:pt x="33528" y="234695"/>
                </a:lnTo>
                <a:lnTo>
                  <a:pt x="27431" y="222503"/>
                </a:lnTo>
                <a:lnTo>
                  <a:pt x="15239" y="192024"/>
                </a:lnTo>
                <a:lnTo>
                  <a:pt x="12801" y="179831"/>
                </a:lnTo>
                <a:lnTo>
                  <a:pt x="12192" y="179831"/>
                </a:lnTo>
                <a:lnTo>
                  <a:pt x="12192" y="146303"/>
                </a:lnTo>
                <a:lnTo>
                  <a:pt x="12700" y="146303"/>
                </a:lnTo>
                <a:lnTo>
                  <a:pt x="15239" y="131063"/>
                </a:lnTo>
                <a:lnTo>
                  <a:pt x="21336" y="118871"/>
                </a:lnTo>
                <a:lnTo>
                  <a:pt x="27431" y="103631"/>
                </a:lnTo>
                <a:lnTo>
                  <a:pt x="33528" y="91439"/>
                </a:lnTo>
                <a:lnTo>
                  <a:pt x="45719" y="79248"/>
                </a:lnTo>
                <a:lnTo>
                  <a:pt x="54863" y="67055"/>
                </a:lnTo>
                <a:lnTo>
                  <a:pt x="67056" y="54863"/>
                </a:lnTo>
                <a:lnTo>
                  <a:pt x="112775" y="30479"/>
                </a:lnTo>
                <a:lnTo>
                  <a:pt x="149351" y="18287"/>
                </a:lnTo>
                <a:lnTo>
                  <a:pt x="188975" y="12191"/>
                </a:lnTo>
                <a:lnTo>
                  <a:pt x="289560" y="12191"/>
                </a:lnTo>
                <a:lnTo>
                  <a:pt x="268224" y="6095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30" h="326389">
                <a:moveTo>
                  <a:pt x="402336" y="176783"/>
                </a:moveTo>
                <a:lnTo>
                  <a:pt x="399288" y="192024"/>
                </a:lnTo>
                <a:lnTo>
                  <a:pt x="387095" y="222503"/>
                </a:lnTo>
                <a:lnTo>
                  <a:pt x="381000" y="234695"/>
                </a:lnTo>
                <a:lnTo>
                  <a:pt x="368807" y="246887"/>
                </a:lnTo>
                <a:lnTo>
                  <a:pt x="359663" y="259079"/>
                </a:lnTo>
                <a:lnTo>
                  <a:pt x="316992" y="289559"/>
                </a:lnTo>
                <a:lnTo>
                  <a:pt x="265175" y="307848"/>
                </a:lnTo>
                <a:lnTo>
                  <a:pt x="228600" y="313943"/>
                </a:lnTo>
                <a:lnTo>
                  <a:pt x="289560" y="313943"/>
                </a:lnTo>
                <a:lnTo>
                  <a:pt x="307848" y="307848"/>
                </a:lnTo>
                <a:lnTo>
                  <a:pt x="323088" y="298703"/>
                </a:lnTo>
                <a:lnTo>
                  <a:pt x="341375" y="289559"/>
                </a:lnTo>
                <a:lnTo>
                  <a:pt x="353568" y="280415"/>
                </a:lnTo>
                <a:lnTo>
                  <a:pt x="368807" y="268224"/>
                </a:lnTo>
                <a:lnTo>
                  <a:pt x="381000" y="256031"/>
                </a:lnTo>
                <a:lnTo>
                  <a:pt x="390144" y="240791"/>
                </a:lnTo>
                <a:lnTo>
                  <a:pt x="399288" y="228600"/>
                </a:lnTo>
                <a:lnTo>
                  <a:pt x="405383" y="213359"/>
                </a:lnTo>
                <a:lnTo>
                  <a:pt x="411480" y="195071"/>
                </a:lnTo>
                <a:lnTo>
                  <a:pt x="414528" y="179831"/>
                </a:lnTo>
                <a:lnTo>
                  <a:pt x="402336" y="179831"/>
                </a:lnTo>
                <a:lnTo>
                  <a:pt x="402336" y="176783"/>
                </a:lnTo>
                <a:close/>
              </a:path>
              <a:path w="417830" h="326389">
                <a:moveTo>
                  <a:pt x="12192" y="176783"/>
                </a:moveTo>
                <a:lnTo>
                  <a:pt x="12192" y="179831"/>
                </a:lnTo>
                <a:lnTo>
                  <a:pt x="12801" y="179831"/>
                </a:lnTo>
                <a:lnTo>
                  <a:pt x="12192" y="176783"/>
                </a:lnTo>
                <a:close/>
              </a:path>
              <a:path w="417830" h="326389">
                <a:moveTo>
                  <a:pt x="414528" y="146303"/>
                </a:moveTo>
                <a:lnTo>
                  <a:pt x="402336" y="146303"/>
                </a:lnTo>
                <a:lnTo>
                  <a:pt x="402336" y="179831"/>
                </a:lnTo>
                <a:lnTo>
                  <a:pt x="414528" y="179831"/>
                </a:lnTo>
                <a:lnTo>
                  <a:pt x="417575" y="161543"/>
                </a:lnTo>
                <a:lnTo>
                  <a:pt x="414528" y="146303"/>
                </a:lnTo>
                <a:close/>
              </a:path>
              <a:path w="417830" h="326389">
                <a:moveTo>
                  <a:pt x="12700" y="146303"/>
                </a:moveTo>
                <a:lnTo>
                  <a:pt x="12192" y="146303"/>
                </a:lnTo>
                <a:lnTo>
                  <a:pt x="12192" y="149351"/>
                </a:lnTo>
                <a:lnTo>
                  <a:pt x="12700" y="146303"/>
                </a:lnTo>
                <a:close/>
              </a:path>
              <a:path w="417830" h="326389">
                <a:moveTo>
                  <a:pt x="289560" y="12191"/>
                </a:moveTo>
                <a:lnTo>
                  <a:pt x="228600" y="12191"/>
                </a:lnTo>
                <a:lnTo>
                  <a:pt x="265175" y="18287"/>
                </a:lnTo>
                <a:lnTo>
                  <a:pt x="301751" y="30479"/>
                </a:lnTo>
                <a:lnTo>
                  <a:pt x="347472" y="54863"/>
                </a:lnTo>
                <a:lnTo>
                  <a:pt x="381000" y="91439"/>
                </a:lnTo>
                <a:lnTo>
                  <a:pt x="387095" y="103631"/>
                </a:lnTo>
                <a:lnTo>
                  <a:pt x="396239" y="118871"/>
                </a:lnTo>
                <a:lnTo>
                  <a:pt x="402336" y="149351"/>
                </a:lnTo>
                <a:lnTo>
                  <a:pt x="402336" y="146303"/>
                </a:lnTo>
                <a:lnTo>
                  <a:pt x="414528" y="146303"/>
                </a:lnTo>
                <a:lnTo>
                  <a:pt x="411480" y="128015"/>
                </a:lnTo>
                <a:lnTo>
                  <a:pt x="399288" y="97536"/>
                </a:lnTo>
                <a:lnTo>
                  <a:pt x="390144" y="85343"/>
                </a:lnTo>
                <a:lnTo>
                  <a:pt x="381000" y="70103"/>
                </a:lnTo>
                <a:lnTo>
                  <a:pt x="368807" y="57912"/>
                </a:lnTo>
                <a:lnTo>
                  <a:pt x="353568" y="45719"/>
                </a:lnTo>
                <a:lnTo>
                  <a:pt x="323088" y="27431"/>
                </a:lnTo>
                <a:lnTo>
                  <a:pt x="304800" y="18287"/>
                </a:lnTo>
                <a:lnTo>
                  <a:pt x="289560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42328" y="2734056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52984" y="3048"/>
                </a:moveTo>
                <a:lnTo>
                  <a:pt x="167639" y="3048"/>
                </a:lnTo>
                <a:lnTo>
                  <a:pt x="149351" y="9144"/>
                </a:lnTo>
                <a:lnTo>
                  <a:pt x="128016" y="15240"/>
                </a:lnTo>
                <a:lnTo>
                  <a:pt x="109727" y="21336"/>
                </a:lnTo>
                <a:lnTo>
                  <a:pt x="94487" y="30480"/>
                </a:lnTo>
                <a:lnTo>
                  <a:pt x="76200" y="39624"/>
                </a:lnTo>
                <a:lnTo>
                  <a:pt x="64008" y="48768"/>
                </a:lnTo>
                <a:lnTo>
                  <a:pt x="48768" y="60960"/>
                </a:lnTo>
                <a:lnTo>
                  <a:pt x="36575" y="73152"/>
                </a:lnTo>
                <a:lnTo>
                  <a:pt x="27432" y="88392"/>
                </a:lnTo>
                <a:lnTo>
                  <a:pt x="18287" y="100584"/>
                </a:lnTo>
                <a:lnTo>
                  <a:pt x="6096" y="131064"/>
                </a:lnTo>
                <a:lnTo>
                  <a:pt x="3048" y="149352"/>
                </a:lnTo>
                <a:lnTo>
                  <a:pt x="0" y="164592"/>
                </a:lnTo>
                <a:lnTo>
                  <a:pt x="12192" y="216408"/>
                </a:lnTo>
                <a:lnTo>
                  <a:pt x="27432" y="243840"/>
                </a:lnTo>
                <a:lnTo>
                  <a:pt x="36575" y="259080"/>
                </a:lnTo>
                <a:lnTo>
                  <a:pt x="94487" y="301752"/>
                </a:lnTo>
                <a:lnTo>
                  <a:pt x="149351" y="323088"/>
                </a:lnTo>
                <a:lnTo>
                  <a:pt x="188975" y="329184"/>
                </a:lnTo>
                <a:lnTo>
                  <a:pt x="231648" y="329184"/>
                </a:lnTo>
                <a:lnTo>
                  <a:pt x="252984" y="326136"/>
                </a:lnTo>
                <a:lnTo>
                  <a:pt x="271272" y="323088"/>
                </a:lnTo>
                <a:lnTo>
                  <a:pt x="292608" y="316992"/>
                </a:lnTo>
                <a:lnTo>
                  <a:pt x="188975" y="316992"/>
                </a:lnTo>
                <a:lnTo>
                  <a:pt x="152400" y="310896"/>
                </a:lnTo>
                <a:lnTo>
                  <a:pt x="115824" y="298704"/>
                </a:lnTo>
                <a:lnTo>
                  <a:pt x="70104" y="271272"/>
                </a:lnTo>
                <a:lnTo>
                  <a:pt x="36575" y="237744"/>
                </a:lnTo>
                <a:lnTo>
                  <a:pt x="30480" y="222504"/>
                </a:lnTo>
                <a:lnTo>
                  <a:pt x="21336" y="210312"/>
                </a:lnTo>
                <a:lnTo>
                  <a:pt x="15239" y="179832"/>
                </a:lnTo>
                <a:lnTo>
                  <a:pt x="15239" y="149352"/>
                </a:lnTo>
                <a:lnTo>
                  <a:pt x="18287" y="134112"/>
                </a:lnTo>
                <a:lnTo>
                  <a:pt x="21336" y="121920"/>
                </a:lnTo>
                <a:lnTo>
                  <a:pt x="30480" y="106680"/>
                </a:lnTo>
                <a:lnTo>
                  <a:pt x="36575" y="94488"/>
                </a:lnTo>
                <a:lnTo>
                  <a:pt x="48768" y="82296"/>
                </a:lnTo>
                <a:lnTo>
                  <a:pt x="57912" y="70104"/>
                </a:lnTo>
                <a:lnTo>
                  <a:pt x="70104" y="57912"/>
                </a:lnTo>
                <a:lnTo>
                  <a:pt x="100584" y="39624"/>
                </a:lnTo>
                <a:lnTo>
                  <a:pt x="115824" y="33528"/>
                </a:lnTo>
                <a:lnTo>
                  <a:pt x="134112" y="24384"/>
                </a:lnTo>
                <a:lnTo>
                  <a:pt x="188975" y="15240"/>
                </a:lnTo>
                <a:lnTo>
                  <a:pt x="295656" y="15240"/>
                </a:lnTo>
                <a:lnTo>
                  <a:pt x="289560" y="12192"/>
                </a:lnTo>
                <a:lnTo>
                  <a:pt x="271272" y="9144"/>
                </a:lnTo>
                <a:lnTo>
                  <a:pt x="252984" y="3048"/>
                </a:lnTo>
                <a:close/>
              </a:path>
              <a:path w="417829" h="329564">
                <a:moveTo>
                  <a:pt x="295656" y="15240"/>
                </a:moveTo>
                <a:lnTo>
                  <a:pt x="231648" y="15240"/>
                </a:lnTo>
                <a:lnTo>
                  <a:pt x="286512" y="24384"/>
                </a:lnTo>
                <a:lnTo>
                  <a:pt x="304800" y="33528"/>
                </a:lnTo>
                <a:lnTo>
                  <a:pt x="320039" y="39624"/>
                </a:lnTo>
                <a:lnTo>
                  <a:pt x="350520" y="57912"/>
                </a:lnTo>
                <a:lnTo>
                  <a:pt x="362712" y="70104"/>
                </a:lnTo>
                <a:lnTo>
                  <a:pt x="371856" y="82296"/>
                </a:lnTo>
                <a:lnTo>
                  <a:pt x="384048" y="94488"/>
                </a:lnTo>
                <a:lnTo>
                  <a:pt x="390144" y="106680"/>
                </a:lnTo>
                <a:lnTo>
                  <a:pt x="402336" y="137160"/>
                </a:lnTo>
                <a:lnTo>
                  <a:pt x="405384" y="149352"/>
                </a:lnTo>
                <a:lnTo>
                  <a:pt x="405384" y="179832"/>
                </a:lnTo>
                <a:lnTo>
                  <a:pt x="402336" y="195072"/>
                </a:lnTo>
                <a:lnTo>
                  <a:pt x="390144" y="225552"/>
                </a:lnTo>
                <a:lnTo>
                  <a:pt x="384048" y="237744"/>
                </a:lnTo>
                <a:lnTo>
                  <a:pt x="371856" y="249936"/>
                </a:lnTo>
                <a:lnTo>
                  <a:pt x="362712" y="262128"/>
                </a:lnTo>
                <a:lnTo>
                  <a:pt x="350520" y="271272"/>
                </a:lnTo>
                <a:lnTo>
                  <a:pt x="335280" y="283464"/>
                </a:lnTo>
                <a:lnTo>
                  <a:pt x="320039" y="289560"/>
                </a:lnTo>
                <a:lnTo>
                  <a:pt x="304800" y="298704"/>
                </a:lnTo>
                <a:lnTo>
                  <a:pt x="268224" y="310896"/>
                </a:lnTo>
                <a:lnTo>
                  <a:pt x="249936" y="313944"/>
                </a:lnTo>
                <a:lnTo>
                  <a:pt x="228600" y="316992"/>
                </a:lnTo>
                <a:lnTo>
                  <a:pt x="292608" y="316992"/>
                </a:lnTo>
                <a:lnTo>
                  <a:pt x="356616" y="283464"/>
                </a:lnTo>
                <a:lnTo>
                  <a:pt x="402336" y="228600"/>
                </a:lnTo>
                <a:lnTo>
                  <a:pt x="417575" y="182880"/>
                </a:lnTo>
                <a:lnTo>
                  <a:pt x="417575" y="149352"/>
                </a:lnTo>
                <a:lnTo>
                  <a:pt x="414527" y="131064"/>
                </a:lnTo>
                <a:lnTo>
                  <a:pt x="402336" y="100584"/>
                </a:lnTo>
                <a:lnTo>
                  <a:pt x="393192" y="85344"/>
                </a:lnTo>
                <a:lnTo>
                  <a:pt x="381000" y="73152"/>
                </a:lnTo>
                <a:lnTo>
                  <a:pt x="371856" y="60960"/>
                </a:lnTo>
                <a:lnTo>
                  <a:pt x="356616" y="48768"/>
                </a:lnTo>
                <a:lnTo>
                  <a:pt x="341375" y="39624"/>
                </a:lnTo>
                <a:lnTo>
                  <a:pt x="326136" y="27432"/>
                </a:lnTo>
                <a:lnTo>
                  <a:pt x="307848" y="21336"/>
                </a:lnTo>
                <a:lnTo>
                  <a:pt x="295656" y="15240"/>
                </a:lnTo>
                <a:close/>
              </a:path>
              <a:path w="417829" h="329564">
                <a:moveTo>
                  <a:pt x="210312" y="0"/>
                </a:moveTo>
                <a:lnTo>
                  <a:pt x="188975" y="3048"/>
                </a:lnTo>
                <a:lnTo>
                  <a:pt x="231648" y="3048"/>
                </a:lnTo>
                <a:lnTo>
                  <a:pt x="21031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79673" y="2270761"/>
            <a:ext cx="1405255" cy="497205"/>
          </a:xfrm>
          <a:custGeom>
            <a:avLst/>
            <a:gdLst/>
            <a:ahLst/>
            <a:cxnLst/>
            <a:rect l="l" t="t" r="r" b="b"/>
            <a:pathLst>
              <a:path w="1405254" h="497205">
                <a:moveTo>
                  <a:pt x="1395983" y="0"/>
                </a:moveTo>
                <a:lnTo>
                  <a:pt x="0" y="469391"/>
                </a:lnTo>
                <a:lnTo>
                  <a:pt x="9143" y="496824"/>
                </a:lnTo>
                <a:lnTo>
                  <a:pt x="1405127" y="27431"/>
                </a:lnTo>
                <a:lnTo>
                  <a:pt x="139598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38368" y="2276856"/>
            <a:ext cx="1381125" cy="481965"/>
          </a:xfrm>
          <a:custGeom>
            <a:avLst/>
            <a:gdLst/>
            <a:ahLst/>
            <a:cxnLst/>
            <a:rect l="l" t="t" r="r" b="b"/>
            <a:pathLst>
              <a:path w="1381125" h="481964">
                <a:moveTo>
                  <a:pt x="9144" y="0"/>
                </a:moveTo>
                <a:lnTo>
                  <a:pt x="0" y="24384"/>
                </a:lnTo>
                <a:lnTo>
                  <a:pt x="1371600" y="481584"/>
                </a:lnTo>
                <a:lnTo>
                  <a:pt x="1380744" y="457200"/>
                </a:lnTo>
                <a:lnTo>
                  <a:pt x="914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338311" y="3593592"/>
            <a:ext cx="1978660" cy="316753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>
              <a:spcBef>
                <a:spcPts val="310"/>
              </a:spcBef>
            </a:pPr>
            <a:r>
              <a:rPr spc="-5">
                <a:latin typeface="Verdana"/>
                <a:cs typeface="Verdana"/>
              </a:rPr>
              <a:t>Queue =</a:t>
            </a:r>
            <a:r>
              <a:rPr spc="-55">
                <a:latin typeface="Verdana"/>
                <a:cs typeface="Verdana"/>
              </a:rPr>
              <a:t> </a:t>
            </a:r>
            <a:r>
              <a:rPr spc="-5">
                <a:latin typeface="Verdana"/>
                <a:cs typeface="Verdana"/>
              </a:rPr>
              <a:t>{A,D}</a:t>
            </a:r>
            <a:endParaRPr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940" y="880872"/>
            <a:ext cx="283400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DFS Search</a:t>
            </a:r>
            <a:r>
              <a:rPr sz="2400" b="1" spc="-7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57367" y="205435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2"/>
                </a:lnTo>
                <a:lnTo>
                  <a:pt x="76200" y="36575"/>
                </a:lnTo>
                <a:lnTo>
                  <a:pt x="60960" y="48768"/>
                </a:lnTo>
                <a:lnTo>
                  <a:pt x="45720" y="57912"/>
                </a:lnTo>
                <a:lnTo>
                  <a:pt x="15240" y="100584"/>
                </a:lnTo>
                <a:lnTo>
                  <a:pt x="0" y="146303"/>
                </a:lnTo>
                <a:lnTo>
                  <a:pt x="0" y="182880"/>
                </a:lnTo>
                <a:lnTo>
                  <a:pt x="3048" y="198120"/>
                </a:lnTo>
                <a:lnTo>
                  <a:pt x="15240" y="228600"/>
                </a:lnTo>
                <a:lnTo>
                  <a:pt x="24384" y="243839"/>
                </a:lnTo>
                <a:lnTo>
                  <a:pt x="36576" y="256032"/>
                </a:lnTo>
                <a:lnTo>
                  <a:pt x="45720" y="268224"/>
                </a:lnTo>
                <a:lnTo>
                  <a:pt x="76200" y="292608"/>
                </a:lnTo>
                <a:lnTo>
                  <a:pt x="91440" y="301751"/>
                </a:lnTo>
                <a:lnTo>
                  <a:pt x="109728" y="307848"/>
                </a:lnTo>
                <a:lnTo>
                  <a:pt x="128016" y="316992"/>
                </a:lnTo>
                <a:lnTo>
                  <a:pt x="146304" y="320039"/>
                </a:lnTo>
                <a:lnTo>
                  <a:pt x="164592" y="326136"/>
                </a:lnTo>
                <a:lnTo>
                  <a:pt x="185928" y="329184"/>
                </a:lnTo>
                <a:lnTo>
                  <a:pt x="207264" y="329184"/>
                </a:lnTo>
                <a:lnTo>
                  <a:pt x="228600" y="326136"/>
                </a:lnTo>
                <a:lnTo>
                  <a:pt x="249936" y="326136"/>
                </a:lnTo>
                <a:lnTo>
                  <a:pt x="268224" y="320039"/>
                </a:lnTo>
                <a:lnTo>
                  <a:pt x="289560" y="316992"/>
                </a:lnTo>
                <a:lnTo>
                  <a:pt x="207264" y="316992"/>
                </a:lnTo>
                <a:lnTo>
                  <a:pt x="185928" y="313944"/>
                </a:lnTo>
                <a:lnTo>
                  <a:pt x="167640" y="313944"/>
                </a:lnTo>
                <a:lnTo>
                  <a:pt x="149352" y="307848"/>
                </a:lnTo>
                <a:lnTo>
                  <a:pt x="131064" y="304800"/>
                </a:lnTo>
                <a:lnTo>
                  <a:pt x="112776" y="295656"/>
                </a:lnTo>
                <a:lnTo>
                  <a:pt x="97536" y="289560"/>
                </a:lnTo>
                <a:lnTo>
                  <a:pt x="67056" y="271272"/>
                </a:lnTo>
                <a:lnTo>
                  <a:pt x="54864" y="259080"/>
                </a:lnTo>
                <a:lnTo>
                  <a:pt x="45720" y="246887"/>
                </a:lnTo>
                <a:lnTo>
                  <a:pt x="33528" y="234696"/>
                </a:lnTo>
                <a:lnTo>
                  <a:pt x="27432" y="222503"/>
                </a:lnTo>
                <a:lnTo>
                  <a:pt x="21336" y="207263"/>
                </a:lnTo>
                <a:lnTo>
                  <a:pt x="15240" y="195072"/>
                </a:lnTo>
                <a:lnTo>
                  <a:pt x="12192" y="179832"/>
                </a:lnTo>
                <a:lnTo>
                  <a:pt x="12192" y="149351"/>
                </a:lnTo>
                <a:lnTo>
                  <a:pt x="15240" y="134112"/>
                </a:lnTo>
                <a:lnTo>
                  <a:pt x="21336" y="118872"/>
                </a:lnTo>
                <a:lnTo>
                  <a:pt x="27432" y="106680"/>
                </a:lnTo>
                <a:lnTo>
                  <a:pt x="33528" y="91439"/>
                </a:lnTo>
                <a:lnTo>
                  <a:pt x="45720" y="79248"/>
                </a:lnTo>
                <a:lnTo>
                  <a:pt x="54864" y="67056"/>
                </a:lnTo>
                <a:lnTo>
                  <a:pt x="67056" y="57912"/>
                </a:lnTo>
                <a:lnTo>
                  <a:pt x="112776" y="30480"/>
                </a:lnTo>
                <a:lnTo>
                  <a:pt x="149352" y="18287"/>
                </a:lnTo>
                <a:lnTo>
                  <a:pt x="167640" y="15239"/>
                </a:lnTo>
                <a:lnTo>
                  <a:pt x="188976" y="12192"/>
                </a:lnTo>
                <a:lnTo>
                  <a:pt x="289560" y="12192"/>
                </a:lnTo>
                <a:lnTo>
                  <a:pt x="268224" y="6096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29" h="329564">
                <a:moveTo>
                  <a:pt x="289560" y="12192"/>
                </a:moveTo>
                <a:lnTo>
                  <a:pt x="228600" y="12192"/>
                </a:lnTo>
                <a:lnTo>
                  <a:pt x="265176" y="18287"/>
                </a:lnTo>
                <a:lnTo>
                  <a:pt x="301752" y="30480"/>
                </a:lnTo>
                <a:lnTo>
                  <a:pt x="347472" y="57912"/>
                </a:lnTo>
                <a:lnTo>
                  <a:pt x="381000" y="91439"/>
                </a:lnTo>
                <a:lnTo>
                  <a:pt x="402336" y="149351"/>
                </a:lnTo>
                <a:lnTo>
                  <a:pt x="402336" y="179832"/>
                </a:lnTo>
                <a:lnTo>
                  <a:pt x="381000" y="234696"/>
                </a:lnTo>
                <a:lnTo>
                  <a:pt x="359664" y="259080"/>
                </a:lnTo>
                <a:lnTo>
                  <a:pt x="347472" y="271272"/>
                </a:lnTo>
                <a:lnTo>
                  <a:pt x="301752" y="298703"/>
                </a:lnTo>
                <a:lnTo>
                  <a:pt x="283464" y="304800"/>
                </a:lnTo>
                <a:lnTo>
                  <a:pt x="265176" y="307848"/>
                </a:lnTo>
                <a:lnTo>
                  <a:pt x="246887" y="313944"/>
                </a:lnTo>
                <a:lnTo>
                  <a:pt x="228600" y="313944"/>
                </a:lnTo>
                <a:lnTo>
                  <a:pt x="207264" y="316992"/>
                </a:lnTo>
                <a:lnTo>
                  <a:pt x="289560" y="316992"/>
                </a:lnTo>
                <a:lnTo>
                  <a:pt x="307848" y="307848"/>
                </a:lnTo>
                <a:lnTo>
                  <a:pt x="323088" y="301751"/>
                </a:lnTo>
                <a:lnTo>
                  <a:pt x="341376" y="292608"/>
                </a:lnTo>
                <a:lnTo>
                  <a:pt x="353568" y="280415"/>
                </a:lnTo>
                <a:lnTo>
                  <a:pt x="368808" y="268224"/>
                </a:lnTo>
                <a:lnTo>
                  <a:pt x="399288" y="228600"/>
                </a:lnTo>
                <a:lnTo>
                  <a:pt x="414528" y="182880"/>
                </a:lnTo>
                <a:lnTo>
                  <a:pt x="414528" y="179832"/>
                </a:lnTo>
                <a:lnTo>
                  <a:pt x="417576" y="164592"/>
                </a:lnTo>
                <a:lnTo>
                  <a:pt x="399288" y="100584"/>
                </a:lnTo>
                <a:lnTo>
                  <a:pt x="368808" y="57912"/>
                </a:lnTo>
                <a:lnTo>
                  <a:pt x="323088" y="27432"/>
                </a:lnTo>
                <a:lnTo>
                  <a:pt x="304800" y="18287"/>
                </a:lnTo>
                <a:lnTo>
                  <a:pt x="289560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42019" y="2538985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90531" y="2548129"/>
            <a:ext cx="1651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791444" y="2538985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F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93744" y="2749295"/>
            <a:ext cx="417830" cy="326390"/>
          </a:xfrm>
          <a:custGeom>
            <a:avLst/>
            <a:gdLst/>
            <a:ahLst/>
            <a:cxnLst/>
            <a:rect l="l" t="t" r="r" b="b"/>
            <a:pathLst>
              <a:path w="417830" h="326389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1"/>
                </a:lnTo>
                <a:lnTo>
                  <a:pt x="60960" y="45719"/>
                </a:lnTo>
                <a:lnTo>
                  <a:pt x="24383" y="85343"/>
                </a:lnTo>
                <a:lnTo>
                  <a:pt x="15239" y="97536"/>
                </a:lnTo>
                <a:lnTo>
                  <a:pt x="9143" y="112775"/>
                </a:lnTo>
                <a:lnTo>
                  <a:pt x="3048" y="131063"/>
                </a:lnTo>
                <a:lnTo>
                  <a:pt x="0" y="146303"/>
                </a:lnTo>
                <a:lnTo>
                  <a:pt x="0" y="179831"/>
                </a:lnTo>
                <a:lnTo>
                  <a:pt x="3048" y="198119"/>
                </a:lnTo>
                <a:lnTo>
                  <a:pt x="15239" y="228600"/>
                </a:lnTo>
                <a:lnTo>
                  <a:pt x="24383" y="240791"/>
                </a:lnTo>
                <a:lnTo>
                  <a:pt x="36575" y="256031"/>
                </a:lnTo>
                <a:lnTo>
                  <a:pt x="45719" y="268224"/>
                </a:lnTo>
                <a:lnTo>
                  <a:pt x="91439" y="298703"/>
                </a:lnTo>
                <a:lnTo>
                  <a:pt x="146304" y="320039"/>
                </a:lnTo>
                <a:lnTo>
                  <a:pt x="185928" y="326136"/>
                </a:lnTo>
                <a:lnTo>
                  <a:pt x="228600" y="326136"/>
                </a:lnTo>
                <a:lnTo>
                  <a:pt x="249936" y="323088"/>
                </a:lnTo>
                <a:lnTo>
                  <a:pt x="268224" y="320039"/>
                </a:lnTo>
                <a:lnTo>
                  <a:pt x="289560" y="313943"/>
                </a:lnTo>
                <a:lnTo>
                  <a:pt x="185928" y="313943"/>
                </a:lnTo>
                <a:lnTo>
                  <a:pt x="149351" y="307848"/>
                </a:lnTo>
                <a:lnTo>
                  <a:pt x="112775" y="295655"/>
                </a:lnTo>
                <a:lnTo>
                  <a:pt x="97536" y="289559"/>
                </a:lnTo>
                <a:lnTo>
                  <a:pt x="82295" y="280415"/>
                </a:lnTo>
                <a:lnTo>
                  <a:pt x="67056" y="268224"/>
                </a:lnTo>
                <a:lnTo>
                  <a:pt x="54863" y="259079"/>
                </a:lnTo>
                <a:lnTo>
                  <a:pt x="45719" y="246887"/>
                </a:lnTo>
                <a:lnTo>
                  <a:pt x="33528" y="234695"/>
                </a:lnTo>
                <a:lnTo>
                  <a:pt x="27431" y="222503"/>
                </a:lnTo>
                <a:lnTo>
                  <a:pt x="15239" y="192024"/>
                </a:lnTo>
                <a:lnTo>
                  <a:pt x="12801" y="179831"/>
                </a:lnTo>
                <a:lnTo>
                  <a:pt x="12192" y="179831"/>
                </a:lnTo>
                <a:lnTo>
                  <a:pt x="12192" y="146303"/>
                </a:lnTo>
                <a:lnTo>
                  <a:pt x="12700" y="146303"/>
                </a:lnTo>
                <a:lnTo>
                  <a:pt x="15239" y="131063"/>
                </a:lnTo>
                <a:lnTo>
                  <a:pt x="21336" y="118871"/>
                </a:lnTo>
                <a:lnTo>
                  <a:pt x="27431" y="103631"/>
                </a:lnTo>
                <a:lnTo>
                  <a:pt x="33528" y="91439"/>
                </a:lnTo>
                <a:lnTo>
                  <a:pt x="45719" y="79248"/>
                </a:lnTo>
                <a:lnTo>
                  <a:pt x="54863" y="67055"/>
                </a:lnTo>
                <a:lnTo>
                  <a:pt x="67056" y="54863"/>
                </a:lnTo>
                <a:lnTo>
                  <a:pt x="112775" y="30479"/>
                </a:lnTo>
                <a:lnTo>
                  <a:pt x="149351" y="18287"/>
                </a:lnTo>
                <a:lnTo>
                  <a:pt x="188975" y="12191"/>
                </a:lnTo>
                <a:lnTo>
                  <a:pt x="289560" y="12191"/>
                </a:lnTo>
                <a:lnTo>
                  <a:pt x="268224" y="6095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30" h="326389">
                <a:moveTo>
                  <a:pt x="402336" y="176783"/>
                </a:moveTo>
                <a:lnTo>
                  <a:pt x="399288" y="192024"/>
                </a:lnTo>
                <a:lnTo>
                  <a:pt x="387095" y="222503"/>
                </a:lnTo>
                <a:lnTo>
                  <a:pt x="381000" y="234695"/>
                </a:lnTo>
                <a:lnTo>
                  <a:pt x="368807" y="246887"/>
                </a:lnTo>
                <a:lnTo>
                  <a:pt x="359663" y="259079"/>
                </a:lnTo>
                <a:lnTo>
                  <a:pt x="316992" y="289559"/>
                </a:lnTo>
                <a:lnTo>
                  <a:pt x="265175" y="307848"/>
                </a:lnTo>
                <a:lnTo>
                  <a:pt x="228600" y="313943"/>
                </a:lnTo>
                <a:lnTo>
                  <a:pt x="289560" y="313943"/>
                </a:lnTo>
                <a:lnTo>
                  <a:pt x="307848" y="307848"/>
                </a:lnTo>
                <a:lnTo>
                  <a:pt x="323088" y="298703"/>
                </a:lnTo>
                <a:lnTo>
                  <a:pt x="341375" y="289559"/>
                </a:lnTo>
                <a:lnTo>
                  <a:pt x="353568" y="280415"/>
                </a:lnTo>
                <a:lnTo>
                  <a:pt x="368807" y="268224"/>
                </a:lnTo>
                <a:lnTo>
                  <a:pt x="381000" y="256031"/>
                </a:lnTo>
                <a:lnTo>
                  <a:pt x="390144" y="240791"/>
                </a:lnTo>
                <a:lnTo>
                  <a:pt x="399288" y="228600"/>
                </a:lnTo>
                <a:lnTo>
                  <a:pt x="405383" y="213359"/>
                </a:lnTo>
                <a:lnTo>
                  <a:pt x="411480" y="195071"/>
                </a:lnTo>
                <a:lnTo>
                  <a:pt x="414528" y="179831"/>
                </a:lnTo>
                <a:lnTo>
                  <a:pt x="402336" y="179831"/>
                </a:lnTo>
                <a:lnTo>
                  <a:pt x="402336" y="176783"/>
                </a:lnTo>
                <a:close/>
              </a:path>
              <a:path w="417830" h="326389">
                <a:moveTo>
                  <a:pt x="12192" y="176783"/>
                </a:moveTo>
                <a:lnTo>
                  <a:pt x="12192" y="179831"/>
                </a:lnTo>
                <a:lnTo>
                  <a:pt x="12801" y="179831"/>
                </a:lnTo>
                <a:lnTo>
                  <a:pt x="12192" y="176783"/>
                </a:lnTo>
                <a:close/>
              </a:path>
              <a:path w="417830" h="326389">
                <a:moveTo>
                  <a:pt x="414528" y="146303"/>
                </a:moveTo>
                <a:lnTo>
                  <a:pt x="402336" y="146303"/>
                </a:lnTo>
                <a:lnTo>
                  <a:pt x="402336" y="179831"/>
                </a:lnTo>
                <a:lnTo>
                  <a:pt x="414528" y="179831"/>
                </a:lnTo>
                <a:lnTo>
                  <a:pt x="417575" y="161543"/>
                </a:lnTo>
                <a:lnTo>
                  <a:pt x="414528" y="146303"/>
                </a:lnTo>
                <a:close/>
              </a:path>
              <a:path w="417830" h="326389">
                <a:moveTo>
                  <a:pt x="12700" y="146303"/>
                </a:moveTo>
                <a:lnTo>
                  <a:pt x="12192" y="146303"/>
                </a:lnTo>
                <a:lnTo>
                  <a:pt x="12192" y="149351"/>
                </a:lnTo>
                <a:lnTo>
                  <a:pt x="12700" y="146303"/>
                </a:lnTo>
                <a:close/>
              </a:path>
              <a:path w="417830" h="326389">
                <a:moveTo>
                  <a:pt x="289560" y="12191"/>
                </a:moveTo>
                <a:lnTo>
                  <a:pt x="228600" y="12191"/>
                </a:lnTo>
                <a:lnTo>
                  <a:pt x="265175" y="18287"/>
                </a:lnTo>
                <a:lnTo>
                  <a:pt x="301751" y="30479"/>
                </a:lnTo>
                <a:lnTo>
                  <a:pt x="347472" y="54863"/>
                </a:lnTo>
                <a:lnTo>
                  <a:pt x="381000" y="91439"/>
                </a:lnTo>
                <a:lnTo>
                  <a:pt x="387095" y="103631"/>
                </a:lnTo>
                <a:lnTo>
                  <a:pt x="396239" y="118871"/>
                </a:lnTo>
                <a:lnTo>
                  <a:pt x="402336" y="149351"/>
                </a:lnTo>
                <a:lnTo>
                  <a:pt x="402336" y="146303"/>
                </a:lnTo>
                <a:lnTo>
                  <a:pt x="414528" y="146303"/>
                </a:lnTo>
                <a:lnTo>
                  <a:pt x="411480" y="128015"/>
                </a:lnTo>
                <a:lnTo>
                  <a:pt x="399288" y="97536"/>
                </a:lnTo>
                <a:lnTo>
                  <a:pt x="390144" y="85343"/>
                </a:lnTo>
                <a:lnTo>
                  <a:pt x="381000" y="70103"/>
                </a:lnTo>
                <a:lnTo>
                  <a:pt x="368807" y="57912"/>
                </a:lnTo>
                <a:lnTo>
                  <a:pt x="353568" y="45719"/>
                </a:lnTo>
                <a:lnTo>
                  <a:pt x="323088" y="27431"/>
                </a:lnTo>
                <a:lnTo>
                  <a:pt x="304800" y="18287"/>
                </a:lnTo>
                <a:lnTo>
                  <a:pt x="289560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42328" y="2734056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52984" y="3048"/>
                </a:moveTo>
                <a:lnTo>
                  <a:pt x="167639" y="3048"/>
                </a:lnTo>
                <a:lnTo>
                  <a:pt x="149351" y="9144"/>
                </a:lnTo>
                <a:lnTo>
                  <a:pt x="128016" y="15240"/>
                </a:lnTo>
                <a:lnTo>
                  <a:pt x="109727" y="21336"/>
                </a:lnTo>
                <a:lnTo>
                  <a:pt x="94487" y="30480"/>
                </a:lnTo>
                <a:lnTo>
                  <a:pt x="76200" y="39624"/>
                </a:lnTo>
                <a:lnTo>
                  <a:pt x="64008" y="48768"/>
                </a:lnTo>
                <a:lnTo>
                  <a:pt x="48768" y="60960"/>
                </a:lnTo>
                <a:lnTo>
                  <a:pt x="36575" y="73152"/>
                </a:lnTo>
                <a:lnTo>
                  <a:pt x="27432" y="88392"/>
                </a:lnTo>
                <a:lnTo>
                  <a:pt x="18287" y="100584"/>
                </a:lnTo>
                <a:lnTo>
                  <a:pt x="6096" y="131064"/>
                </a:lnTo>
                <a:lnTo>
                  <a:pt x="3048" y="149352"/>
                </a:lnTo>
                <a:lnTo>
                  <a:pt x="0" y="164592"/>
                </a:lnTo>
                <a:lnTo>
                  <a:pt x="12192" y="216408"/>
                </a:lnTo>
                <a:lnTo>
                  <a:pt x="27432" y="243840"/>
                </a:lnTo>
                <a:lnTo>
                  <a:pt x="36575" y="259080"/>
                </a:lnTo>
                <a:lnTo>
                  <a:pt x="94487" y="301752"/>
                </a:lnTo>
                <a:lnTo>
                  <a:pt x="149351" y="323088"/>
                </a:lnTo>
                <a:lnTo>
                  <a:pt x="188975" y="329184"/>
                </a:lnTo>
                <a:lnTo>
                  <a:pt x="231648" y="329184"/>
                </a:lnTo>
                <a:lnTo>
                  <a:pt x="252984" y="326136"/>
                </a:lnTo>
                <a:lnTo>
                  <a:pt x="271272" y="323088"/>
                </a:lnTo>
                <a:lnTo>
                  <a:pt x="292608" y="316992"/>
                </a:lnTo>
                <a:lnTo>
                  <a:pt x="188975" y="316992"/>
                </a:lnTo>
                <a:lnTo>
                  <a:pt x="152400" y="310896"/>
                </a:lnTo>
                <a:lnTo>
                  <a:pt x="115824" y="298704"/>
                </a:lnTo>
                <a:lnTo>
                  <a:pt x="70104" y="271272"/>
                </a:lnTo>
                <a:lnTo>
                  <a:pt x="36575" y="237744"/>
                </a:lnTo>
                <a:lnTo>
                  <a:pt x="30480" y="222504"/>
                </a:lnTo>
                <a:lnTo>
                  <a:pt x="21336" y="210312"/>
                </a:lnTo>
                <a:lnTo>
                  <a:pt x="15239" y="179832"/>
                </a:lnTo>
                <a:lnTo>
                  <a:pt x="15239" y="149352"/>
                </a:lnTo>
                <a:lnTo>
                  <a:pt x="18287" y="134112"/>
                </a:lnTo>
                <a:lnTo>
                  <a:pt x="21336" y="121920"/>
                </a:lnTo>
                <a:lnTo>
                  <a:pt x="30480" y="106680"/>
                </a:lnTo>
                <a:lnTo>
                  <a:pt x="36575" y="94488"/>
                </a:lnTo>
                <a:lnTo>
                  <a:pt x="48768" y="82296"/>
                </a:lnTo>
                <a:lnTo>
                  <a:pt x="57912" y="70104"/>
                </a:lnTo>
                <a:lnTo>
                  <a:pt x="70104" y="57912"/>
                </a:lnTo>
                <a:lnTo>
                  <a:pt x="100584" y="39624"/>
                </a:lnTo>
                <a:lnTo>
                  <a:pt x="115824" y="33528"/>
                </a:lnTo>
                <a:lnTo>
                  <a:pt x="134112" y="24384"/>
                </a:lnTo>
                <a:lnTo>
                  <a:pt x="188975" y="15240"/>
                </a:lnTo>
                <a:lnTo>
                  <a:pt x="295656" y="15240"/>
                </a:lnTo>
                <a:lnTo>
                  <a:pt x="289560" y="12192"/>
                </a:lnTo>
                <a:lnTo>
                  <a:pt x="271272" y="9144"/>
                </a:lnTo>
                <a:lnTo>
                  <a:pt x="252984" y="3048"/>
                </a:lnTo>
                <a:close/>
              </a:path>
              <a:path w="417829" h="329564">
                <a:moveTo>
                  <a:pt x="295656" y="15240"/>
                </a:moveTo>
                <a:lnTo>
                  <a:pt x="231648" y="15240"/>
                </a:lnTo>
                <a:lnTo>
                  <a:pt x="286512" y="24384"/>
                </a:lnTo>
                <a:lnTo>
                  <a:pt x="304800" y="33528"/>
                </a:lnTo>
                <a:lnTo>
                  <a:pt x="320039" y="39624"/>
                </a:lnTo>
                <a:lnTo>
                  <a:pt x="350520" y="57912"/>
                </a:lnTo>
                <a:lnTo>
                  <a:pt x="362712" y="70104"/>
                </a:lnTo>
                <a:lnTo>
                  <a:pt x="371856" y="82296"/>
                </a:lnTo>
                <a:lnTo>
                  <a:pt x="384048" y="94488"/>
                </a:lnTo>
                <a:lnTo>
                  <a:pt x="390144" y="106680"/>
                </a:lnTo>
                <a:lnTo>
                  <a:pt x="402336" y="137160"/>
                </a:lnTo>
                <a:lnTo>
                  <a:pt x="405384" y="149352"/>
                </a:lnTo>
                <a:lnTo>
                  <a:pt x="405384" y="179832"/>
                </a:lnTo>
                <a:lnTo>
                  <a:pt x="402336" y="195072"/>
                </a:lnTo>
                <a:lnTo>
                  <a:pt x="390144" y="225552"/>
                </a:lnTo>
                <a:lnTo>
                  <a:pt x="384048" y="237744"/>
                </a:lnTo>
                <a:lnTo>
                  <a:pt x="371856" y="249936"/>
                </a:lnTo>
                <a:lnTo>
                  <a:pt x="362712" y="262128"/>
                </a:lnTo>
                <a:lnTo>
                  <a:pt x="350520" y="271272"/>
                </a:lnTo>
                <a:lnTo>
                  <a:pt x="335280" y="283464"/>
                </a:lnTo>
                <a:lnTo>
                  <a:pt x="320039" y="289560"/>
                </a:lnTo>
                <a:lnTo>
                  <a:pt x="304800" y="298704"/>
                </a:lnTo>
                <a:lnTo>
                  <a:pt x="268224" y="310896"/>
                </a:lnTo>
                <a:lnTo>
                  <a:pt x="249936" y="313944"/>
                </a:lnTo>
                <a:lnTo>
                  <a:pt x="228600" y="316992"/>
                </a:lnTo>
                <a:lnTo>
                  <a:pt x="292608" y="316992"/>
                </a:lnTo>
                <a:lnTo>
                  <a:pt x="356616" y="283464"/>
                </a:lnTo>
                <a:lnTo>
                  <a:pt x="402336" y="228600"/>
                </a:lnTo>
                <a:lnTo>
                  <a:pt x="417575" y="182880"/>
                </a:lnTo>
                <a:lnTo>
                  <a:pt x="417575" y="149352"/>
                </a:lnTo>
                <a:lnTo>
                  <a:pt x="414527" y="131064"/>
                </a:lnTo>
                <a:lnTo>
                  <a:pt x="402336" y="100584"/>
                </a:lnTo>
                <a:lnTo>
                  <a:pt x="393192" y="85344"/>
                </a:lnTo>
                <a:lnTo>
                  <a:pt x="381000" y="73152"/>
                </a:lnTo>
                <a:lnTo>
                  <a:pt x="371856" y="60960"/>
                </a:lnTo>
                <a:lnTo>
                  <a:pt x="356616" y="48768"/>
                </a:lnTo>
                <a:lnTo>
                  <a:pt x="341375" y="39624"/>
                </a:lnTo>
                <a:lnTo>
                  <a:pt x="326136" y="27432"/>
                </a:lnTo>
                <a:lnTo>
                  <a:pt x="307848" y="21336"/>
                </a:lnTo>
                <a:lnTo>
                  <a:pt x="295656" y="15240"/>
                </a:lnTo>
                <a:close/>
              </a:path>
              <a:path w="417829" h="329564">
                <a:moveTo>
                  <a:pt x="210312" y="0"/>
                </a:moveTo>
                <a:lnTo>
                  <a:pt x="188975" y="3048"/>
                </a:lnTo>
                <a:lnTo>
                  <a:pt x="231648" y="3048"/>
                </a:lnTo>
                <a:lnTo>
                  <a:pt x="21031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79673" y="2270761"/>
            <a:ext cx="1405255" cy="497205"/>
          </a:xfrm>
          <a:custGeom>
            <a:avLst/>
            <a:gdLst/>
            <a:ahLst/>
            <a:cxnLst/>
            <a:rect l="l" t="t" r="r" b="b"/>
            <a:pathLst>
              <a:path w="1405254" h="497205">
                <a:moveTo>
                  <a:pt x="1395983" y="0"/>
                </a:moveTo>
                <a:lnTo>
                  <a:pt x="0" y="469391"/>
                </a:lnTo>
                <a:lnTo>
                  <a:pt x="9143" y="496824"/>
                </a:lnTo>
                <a:lnTo>
                  <a:pt x="1405127" y="27431"/>
                </a:lnTo>
                <a:lnTo>
                  <a:pt x="139598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38368" y="2276856"/>
            <a:ext cx="1381125" cy="481965"/>
          </a:xfrm>
          <a:custGeom>
            <a:avLst/>
            <a:gdLst/>
            <a:ahLst/>
            <a:cxnLst/>
            <a:rect l="l" t="t" r="r" b="b"/>
            <a:pathLst>
              <a:path w="1381125" h="481964">
                <a:moveTo>
                  <a:pt x="9144" y="0"/>
                </a:moveTo>
                <a:lnTo>
                  <a:pt x="0" y="24384"/>
                </a:lnTo>
                <a:lnTo>
                  <a:pt x="1371600" y="481584"/>
                </a:lnTo>
                <a:lnTo>
                  <a:pt x="1380744" y="457200"/>
                </a:lnTo>
                <a:lnTo>
                  <a:pt x="914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59760" y="344119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30" h="329564">
                <a:moveTo>
                  <a:pt x="231648" y="0"/>
                </a:moveTo>
                <a:lnTo>
                  <a:pt x="188976" y="0"/>
                </a:lnTo>
                <a:lnTo>
                  <a:pt x="167640" y="3048"/>
                </a:lnTo>
                <a:lnTo>
                  <a:pt x="146303" y="9144"/>
                </a:lnTo>
                <a:lnTo>
                  <a:pt x="128015" y="12192"/>
                </a:lnTo>
                <a:lnTo>
                  <a:pt x="109728" y="21336"/>
                </a:lnTo>
                <a:lnTo>
                  <a:pt x="94487" y="27432"/>
                </a:lnTo>
                <a:lnTo>
                  <a:pt x="76200" y="36575"/>
                </a:lnTo>
                <a:lnTo>
                  <a:pt x="36576" y="73152"/>
                </a:lnTo>
                <a:lnTo>
                  <a:pt x="9143" y="115824"/>
                </a:lnTo>
                <a:lnTo>
                  <a:pt x="3048" y="146304"/>
                </a:lnTo>
                <a:lnTo>
                  <a:pt x="3048" y="149352"/>
                </a:lnTo>
                <a:lnTo>
                  <a:pt x="0" y="164592"/>
                </a:lnTo>
                <a:lnTo>
                  <a:pt x="9143" y="213360"/>
                </a:lnTo>
                <a:lnTo>
                  <a:pt x="36576" y="259080"/>
                </a:lnTo>
                <a:lnTo>
                  <a:pt x="64008" y="280416"/>
                </a:lnTo>
                <a:lnTo>
                  <a:pt x="76200" y="292608"/>
                </a:lnTo>
                <a:lnTo>
                  <a:pt x="94487" y="301752"/>
                </a:lnTo>
                <a:lnTo>
                  <a:pt x="109728" y="310896"/>
                </a:lnTo>
                <a:lnTo>
                  <a:pt x="128015" y="316992"/>
                </a:lnTo>
                <a:lnTo>
                  <a:pt x="149352" y="323088"/>
                </a:lnTo>
                <a:lnTo>
                  <a:pt x="167640" y="326136"/>
                </a:lnTo>
                <a:lnTo>
                  <a:pt x="188976" y="329184"/>
                </a:lnTo>
                <a:lnTo>
                  <a:pt x="231648" y="329184"/>
                </a:lnTo>
                <a:lnTo>
                  <a:pt x="252984" y="326136"/>
                </a:lnTo>
                <a:lnTo>
                  <a:pt x="271272" y="323088"/>
                </a:lnTo>
                <a:lnTo>
                  <a:pt x="289559" y="316992"/>
                </a:lnTo>
                <a:lnTo>
                  <a:pt x="188976" y="316992"/>
                </a:lnTo>
                <a:lnTo>
                  <a:pt x="170687" y="313944"/>
                </a:lnTo>
                <a:lnTo>
                  <a:pt x="131064" y="304800"/>
                </a:lnTo>
                <a:lnTo>
                  <a:pt x="70103" y="271272"/>
                </a:lnTo>
                <a:lnTo>
                  <a:pt x="57912" y="259080"/>
                </a:lnTo>
                <a:lnTo>
                  <a:pt x="45720" y="249936"/>
                </a:lnTo>
                <a:lnTo>
                  <a:pt x="36576" y="234696"/>
                </a:lnTo>
                <a:lnTo>
                  <a:pt x="27431" y="222504"/>
                </a:lnTo>
                <a:lnTo>
                  <a:pt x="21336" y="210312"/>
                </a:lnTo>
                <a:lnTo>
                  <a:pt x="12192" y="164592"/>
                </a:lnTo>
                <a:lnTo>
                  <a:pt x="21336" y="118872"/>
                </a:lnTo>
                <a:lnTo>
                  <a:pt x="27431" y="106680"/>
                </a:lnTo>
                <a:lnTo>
                  <a:pt x="36576" y="91440"/>
                </a:lnTo>
                <a:lnTo>
                  <a:pt x="45720" y="79248"/>
                </a:lnTo>
                <a:lnTo>
                  <a:pt x="57912" y="70104"/>
                </a:lnTo>
                <a:lnTo>
                  <a:pt x="70103" y="57912"/>
                </a:lnTo>
                <a:lnTo>
                  <a:pt x="115824" y="30480"/>
                </a:lnTo>
                <a:lnTo>
                  <a:pt x="134112" y="24384"/>
                </a:lnTo>
                <a:lnTo>
                  <a:pt x="152400" y="21336"/>
                </a:lnTo>
                <a:lnTo>
                  <a:pt x="170687" y="15240"/>
                </a:lnTo>
                <a:lnTo>
                  <a:pt x="188976" y="15240"/>
                </a:lnTo>
                <a:lnTo>
                  <a:pt x="210312" y="12192"/>
                </a:lnTo>
                <a:lnTo>
                  <a:pt x="289559" y="12192"/>
                </a:lnTo>
                <a:lnTo>
                  <a:pt x="271272" y="6096"/>
                </a:lnTo>
                <a:lnTo>
                  <a:pt x="249936" y="3048"/>
                </a:lnTo>
                <a:lnTo>
                  <a:pt x="231648" y="0"/>
                </a:lnTo>
                <a:close/>
              </a:path>
              <a:path w="417830" h="329564">
                <a:moveTo>
                  <a:pt x="289559" y="12192"/>
                </a:moveTo>
                <a:lnTo>
                  <a:pt x="210312" y="12192"/>
                </a:lnTo>
                <a:lnTo>
                  <a:pt x="231648" y="15240"/>
                </a:lnTo>
                <a:lnTo>
                  <a:pt x="249936" y="15240"/>
                </a:lnTo>
                <a:lnTo>
                  <a:pt x="268224" y="21336"/>
                </a:lnTo>
                <a:lnTo>
                  <a:pt x="350520" y="57912"/>
                </a:lnTo>
                <a:lnTo>
                  <a:pt x="371856" y="82296"/>
                </a:lnTo>
                <a:lnTo>
                  <a:pt x="384047" y="94487"/>
                </a:lnTo>
                <a:lnTo>
                  <a:pt x="390144" y="106680"/>
                </a:lnTo>
                <a:lnTo>
                  <a:pt x="396240" y="121920"/>
                </a:lnTo>
                <a:lnTo>
                  <a:pt x="402335" y="134112"/>
                </a:lnTo>
                <a:lnTo>
                  <a:pt x="405384" y="149352"/>
                </a:lnTo>
                <a:lnTo>
                  <a:pt x="405384" y="179832"/>
                </a:lnTo>
                <a:lnTo>
                  <a:pt x="390144" y="222504"/>
                </a:lnTo>
                <a:lnTo>
                  <a:pt x="362712" y="262128"/>
                </a:lnTo>
                <a:lnTo>
                  <a:pt x="347472" y="271272"/>
                </a:lnTo>
                <a:lnTo>
                  <a:pt x="335280" y="280416"/>
                </a:lnTo>
                <a:lnTo>
                  <a:pt x="304800" y="298704"/>
                </a:lnTo>
                <a:lnTo>
                  <a:pt x="268224" y="310896"/>
                </a:lnTo>
                <a:lnTo>
                  <a:pt x="249936" y="313944"/>
                </a:lnTo>
                <a:lnTo>
                  <a:pt x="228600" y="316992"/>
                </a:lnTo>
                <a:lnTo>
                  <a:pt x="289559" y="316992"/>
                </a:lnTo>
                <a:lnTo>
                  <a:pt x="326136" y="301752"/>
                </a:lnTo>
                <a:lnTo>
                  <a:pt x="371856" y="268224"/>
                </a:lnTo>
                <a:lnTo>
                  <a:pt x="381000" y="256032"/>
                </a:lnTo>
                <a:lnTo>
                  <a:pt x="393191" y="243840"/>
                </a:lnTo>
                <a:lnTo>
                  <a:pt x="402335" y="228600"/>
                </a:lnTo>
                <a:lnTo>
                  <a:pt x="414528" y="198120"/>
                </a:lnTo>
                <a:lnTo>
                  <a:pt x="417576" y="182880"/>
                </a:lnTo>
                <a:lnTo>
                  <a:pt x="417576" y="146304"/>
                </a:lnTo>
                <a:lnTo>
                  <a:pt x="414528" y="131063"/>
                </a:lnTo>
                <a:lnTo>
                  <a:pt x="402335" y="100584"/>
                </a:lnTo>
                <a:lnTo>
                  <a:pt x="393191" y="85344"/>
                </a:lnTo>
                <a:lnTo>
                  <a:pt x="381000" y="73152"/>
                </a:lnTo>
                <a:lnTo>
                  <a:pt x="368808" y="57912"/>
                </a:lnTo>
                <a:lnTo>
                  <a:pt x="356616" y="48768"/>
                </a:lnTo>
                <a:lnTo>
                  <a:pt x="341376" y="36575"/>
                </a:lnTo>
                <a:lnTo>
                  <a:pt x="326136" y="27432"/>
                </a:lnTo>
                <a:lnTo>
                  <a:pt x="307848" y="21336"/>
                </a:lnTo>
                <a:lnTo>
                  <a:pt x="289559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265932" y="3415792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58792" y="3429001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30" h="329564">
                <a:moveTo>
                  <a:pt x="231647" y="0"/>
                </a:moveTo>
                <a:lnTo>
                  <a:pt x="188975" y="0"/>
                </a:lnTo>
                <a:lnTo>
                  <a:pt x="146303" y="6096"/>
                </a:lnTo>
                <a:lnTo>
                  <a:pt x="109727" y="18287"/>
                </a:lnTo>
                <a:lnTo>
                  <a:pt x="91439" y="27432"/>
                </a:lnTo>
                <a:lnTo>
                  <a:pt x="76200" y="36575"/>
                </a:lnTo>
                <a:lnTo>
                  <a:pt x="60959" y="48767"/>
                </a:lnTo>
                <a:lnTo>
                  <a:pt x="48768" y="57912"/>
                </a:lnTo>
                <a:lnTo>
                  <a:pt x="36575" y="73151"/>
                </a:lnTo>
                <a:lnTo>
                  <a:pt x="24383" y="85344"/>
                </a:lnTo>
                <a:lnTo>
                  <a:pt x="18287" y="100584"/>
                </a:lnTo>
                <a:lnTo>
                  <a:pt x="9143" y="115824"/>
                </a:lnTo>
                <a:lnTo>
                  <a:pt x="6095" y="131063"/>
                </a:lnTo>
                <a:lnTo>
                  <a:pt x="0" y="146303"/>
                </a:lnTo>
                <a:lnTo>
                  <a:pt x="0" y="182879"/>
                </a:lnTo>
                <a:lnTo>
                  <a:pt x="6095" y="198120"/>
                </a:lnTo>
                <a:lnTo>
                  <a:pt x="9143" y="213360"/>
                </a:lnTo>
                <a:lnTo>
                  <a:pt x="36575" y="256032"/>
                </a:lnTo>
                <a:lnTo>
                  <a:pt x="76200" y="292608"/>
                </a:lnTo>
                <a:lnTo>
                  <a:pt x="109727" y="307848"/>
                </a:lnTo>
                <a:lnTo>
                  <a:pt x="128015" y="316991"/>
                </a:lnTo>
                <a:lnTo>
                  <a:pt x="146303" y="320039"/>
                </a:lnTo>
                <a:lnTo>
                  <a:pt x="167639" y="326136"/>
                </a:lnTo>
                <a:lnTo>
                  <a:pt x="188975" y="329184"/>
                </a:lnTo>
                <a:lnTo>
                  <a:pt x="231647" y="329184"/>
                </a:lnTo>
                <a:lnTo>
                  <a:pt x="249935" y="326136"/>
                </a:lnTo>
                <a:lnTo>
                  <a:pt x="271271" y="320039"/>
                </a:lnTo>
                <a:lnTo>
                  <a:pt x="289559" y="316991"/>
                </a:lnTo>
                <a:lnTo>
                  <a:pt x="210312" y="316991"/>
                </a:lnTo>
                <a:lnTo>
                  <a:pt x="188975" y="313944"/>
                </a:lnTo>
                <a:lnTo>
                  <a:pt x="170687" y="313944"/>
                </a:lnTo>
                <a:lnTo>
                  <a:pt x="149351" y="307848"/>
                </a:lnTo>
                <a:lnTo>
                  <a:pt x="131063" y="304800"/>
                </a:lnTo>
                <a:lnTo>
                  <a:pt x="115824" y="298703"/>
                </a:lnTo>
                <a:lnTo>
                  <a:pt x="82295" y="280415"/>
                </a:lnTo>
                <a:lnTo>
                  <a:pt x="45719" y="246887"/>
                </a:lnTo>
                <a:lnTo>
                  <a:pt x="21335" y="207263"/>
                </a:lnTo>
                <a:lnTo>
                  <a:pt x="12191" y="164591"/>
                </a:lnTo>
                <a:lnTo>
                  <a:pt x="21335" y="118872"/>
                </a:lnTo>
                <a:lnTo>
                  <a:pt x="45719" y="79248"/>
                </a:lnTo>
                <a:lnTo>
                  <a:pt x="115824" y="30479"/>
                </a:lnTo>
                <a:lnTo>
                  <a:pt x="170687" y="15239"/>
                </a:lnTo>
                <a:lnTo>
                  <a:pt x="188975" y="12191"/>
                </a:lnTo>
                <a:lnTo>
                  <a:pt x="289559" y="12191"/>
                </a:lnTo>
                <a:lnTo>
                  <a:pt x="271271" y="6096"/>
                </a:lnTo>
                <a:lnTo>
                  <a:pt x="249935" y="3048"/>
                </a:lnTo>
                <a:lnTo>
                  <a:pt x="231647" y="0"/>
                </a:lnTo>
                <a:close/>
              </a:path>
              <a:path w="417830" h="329564">
                <a:moveTo>
                  <a:pt x="289559" y="12191"/>
                </a:moveTo>
                <a:lnTo>
                  <a:pt x="228600" y="12191"/>
                </a:lnTo>
                <a:lnTo>
                  <a:pt x="249935" y="15239"/>
                </a:lnTo>
                <a:lnTo>
                  <a:pt x="268224" y="18287"/>
                </a:lnTo>
                <a:lnTo>
                  <a:pt x="304800" y="30479"/>
                </a:lnTo>
                <a:lnTo>
                  <a:pt x="335280" y="48767"/>
                </a:lnTo>
                <a:lnTo>
                  <a:pt x="347471" y="57912"/>
                </a:lnTo>
                <a:lnTo>
                  <a:pt x="362712" y="67055"/>
                </a:lnTo>
                <a:lnTo>
                  <a:pt x="390144" y="106679"/>
                </a:lnTo>
                <a:lnTo>
                  <a:pt x="405383" y="149351"/>
                </a:lnTo>
                <a:lnTo>
                  <a:pt x="405383" y="179832"/>
                </a:lnTo>
                <a:lnTo>
                  <a:pt x="402335" y="195072"/>
                </a:lnTo>
                <a:lnTo>
                  <a:pt x="396239" y="210312"/>
                </a:lnTo>
                <a:lnTo>
                  <a:pt x="390144" y="222503"/>
                </a:lnTo>
                <a:lnTo>
                  <a:pt x="381000" y="234696"/>
                </a:lnTo>
                <a:lnTo>
                  <a:pt x="371856" y="249936"/>
                </a:lnTo>
                <a:lnTo>
                  <a:pt x="359663" y="259079"/>
                </a:lnTo>
                <a:lnTo>
                  <a:pt x="347471" y="271272"/>
                </a:lnTo>
                <a:lnTo>
                  <a:pt x="335280" y="280415"/>
                </a:lnTo>
                <a:lnTo>
                  <a:pt x="320039" y="289560"/>
                </a:lnTo>
                <a:lnTo>
                  <a:pt x="301751" y="298703"/>
                </a:lnTo>
                <a:lnTo>
                  <a:pt x="286512" y="304800"/>
                </a:lnTo>
                <a:lnTo>
                  <a:pt x="268224" y="307848"/>
                </a:lnTo>
                <a:lnTo>
                  <a:pt x="249935" y="313944"/>
                </a:lnTo>
                <a:lnTo>
                  <a:pt x="228600" y="313944"/>
                </a:lnTo>
                <a:lnTo>
                  <a:pt x="210312" y="316991"/>
                </a:lnTo>
                <a:lnTo>
                  <a:pt x="289559" y="316991"/>
                </a:lnTo>
                <a:lnTo>
                  <a:pt x="307847" y="307848"/>
                </a:lnTo>
                <a:lnTo>
                  <a:pt x="326135" y="301751"/>
                </a:lnTo>
                <a:lnTo>
                  <a:pt x="393191" y="243839"/>
                </a:lnTo>
                <a:lnTo>
                  <a:pt x="414527" y="198120"/>
                </a:lnTo>
                <a:lnTo>
                  <a:pt x="417575" y="182879"/>
                </a:lnTo>
                <a:lnTo>
                  <a:pt x="417575" y="146303"/>
                </a:lnTo>
                <a:lnTo>
                  <a:pt x="402335" y="100584"/>
                </a:lnTo>
                <a:lnTo>
                  <a:pt x="368807" y="57912"/>
                </a:lnTo>
                <a:lnTo>
                  <a:pt x="356615" y="48767"/>
                </a:lnTo>
                <a:lnTo>
                  <a:pt x="341375" y="36575"/>
                </a:lnTo>
                <a:lnTo>
                  <a:pt x="326135" y="27432"/>
                </a:lnTo>
                <a:lnTo>
                  <a:pt x="307847" y="18287"/>
                </a:lnTo>
                <a:lnTo>
                  <a:pt x="289559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677156" y="34157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09697" y="2987040"/>
            <a:ext cx="421005" cy="481965"/>
          </a:xfrm>
          <a:custGeom>
            <a:avLst/>
            <a:gdLst/>
            <a:ahLst/>
            <a:cxnLst/>
            <a:rect l="l" t="t" r="r" b="b"/>
            <a:pathLst>
              <a:path w="421005" h="481964">
                <a:moveTo>
                  <a:pt x="399287" y="0"/>
                </a:moveTo>
                <a:lnTo>
                  <a:pt x="0" y="463296"/>
                </a:lnTo>
                <a:lnTo>
                  <a:pt x="21335" y="481584"/>
                </a:lnTo>
                <a:lnTo>
                  <a:pt x="420623" y="18287"/>
                </a:lnTo>
                <a:lnTo>
                  <a:pt x="39928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71696" y="2990089"/>
            <a:ext cx="597535" cy="454659"/>
          </a:xfrm>
          <a:custGeom>
            <a:avLst/>
            <a:gdLst/>
            <a:ahLst/>
            <a:cxnLst/>
            <a:rect l="l" t="t" r="r" b="b"/>
            <a:pathLst>
              <a:path w="597535" h="454660">
                <a:moveTo>
                  <a:pt x="18287" y="0"/>
                </a:moveTo>
                <a:lnTo>
                  <a:pt x="0" y="24384"/>
                </a:lnTo>
                <a:lnTo>
                  <a:pt x="579120" y="454151"/>
                </a:lnTo>
                <a:lnTo>
                  <a:pt x="597408" y="429767"/>
                </a:lnTo>
                <a:lnTo>
                  <a:pt x="1828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338311" y="3593592"/>
            <a:ext cx="2240280" cy="316753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>
              <a:spcBef>
                <a:spcPts val="310"/>
              </a:spcBef>
            </a:pPr>
            <a:r>
              <a:rPr spc="-5">
                <a:latin typeface="Verdana"/>
                <a:cs typeface="Verdana"/>
              </a:rPr>
              <a:t>Queue =</a:t>
            </a:r>
            <a:r>
              <a:rPr spc="-55">
                <a:latin typeface="Verdana"/>
                <a:cs typeface="Verdana"/>
              </a:rPr>
              <a:t> </a:t>
            </a:r>
            <a:r>
              <a:rPr spc="-15">
                <a:latin typeface="Verdana"/>
                <a:cs typeface="Verdana"/>
              </a:rPr>
              <a:t>{B,D,D}</a:t>
            </a:r>
            <a:endParaRPr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940" y="880872"/>
            <a:ext cx="283400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DFS Search</a:t>
            </a:r>
            <a:r>
              <a:rPr sz="2400" b="1" spc="-7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57367" y="205435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2"/>
                </a:lnTo>
                <a:lnTo>
                  <a:pt x="76200" y="36575"/>
                </a:lnTo>
                <a:lnTo>
                  <a:pt x="60960" y="48768"/>
                </a:lnTo>
                <a:lnTo>
                  <a:pt x="45720" y="57912"/>
                </a:lnTo>
                <a:lnTo>
                  <a:pt x="15240" y="100584"/>
                </a:lnTo>
                <a:lnTo>
                  <a:pt x="0" y="146303"/>
                </a:lnTo>
                <a:lnTo>
                  <a:pt x="0" y="182880"/>
                </a:lnTo>
                <a:lnTo>
                  <a:pt x="3048" y="198120"/>
                </a:lnTo>
                <a:lnTo>
                  <a:pt x="15240" y="228600"/>
                </a:lnTo>
                <a:lnTo>
                  <a:pt x="24384" y="243839"/>
                </a:lnTo>
                <a:lnTo>
                  <a:pt x="36576" y="256032"/>
                </a:lnTo>
                <a:lnTo>
                  <a:pt x="45720" y="268224"/>
                </a:lnTo>
                <a:lnTo>
                  <a:pt x="76200" y="292608"/>
                </a:lnTo>
                <a:lnTo>
                  <a:pt x="91440" y="301751"/>
                </a:lnTo>
                <a:lnTo>
                  <a:pt x="109728" y="307848"/>
                </a:lnTo>
                <a:lnTo>
                  <a:pt x="128016" y="316992"/>
                </a:lnTo>
                <a:lnTo>
                  <a:pt x="146304" y="320039"/>
                </a:lnTo>
                <a:lnTo>
                  <a:pt x="164592" y="326136"/>
                </a:lnTo>
                <a:lnTo>
                  <a:pt x="185928" y="329184"/>
                </a:lnTo>
                <a:lnTo>
                  <a:pt x="207264" y="329184"/>
                </a:lnTo>
                <a:lnTo>
                  <a:pt x="228600" y="326136"/>
                </a:lnTo>
                <a:lnTo>
                  <a:pt x="249936" y="326136"/>
                </a:lnTo>
                <a:lnTo>
                  <a:pt x="268224" y="320039"/>
                </a:lnTo>
                <a:lnTo>
                  <a:pt x="289560" y="316992"/>
                </a:lnTo>
                <a:lnTo>
                  <a:pt x="207264" y="316992"/>
                </a:lnTo>
                <a:lnTo>
                  <a:pt x="185928" y="313944"/>
                </a:lnTo>
                <a:lnTo>
                  <a:pt x="167640" y="313944"/>
                </a:lnTo>
                <a:lnTo>
                  <a:pt x="149352" y="307848"/>
                </a:lnTo>
                <a:lnTo>
                  <a:pt x="131064" y="304800"/>
                </a:lnTo>
                <a:lnTo>
                  <a:pt x="112776" y="295656"/>
                </a:lnTo>
                <a:lnTo>
                  <a:pt x="97536" y="289560"/>
                </a:lnTo>
                <a:lnTo>
                  <a:pt x="67056" y="271272"/>
                </a:lnTo>
                <a:lnTo>
                  <a:pt x="54864" y="259080"/>
                </a:lnTo>
                <a:lnTo>
                  <a:pt x="45720" y="246887"/>
                </a:lnTo>
                <a:lnTo>
                  <a:pt x="33528" y="234696"/>
                </a:lnTo>
                <a:lnTo>
                  <a:pt x="27432" y="222503"/>
                </a:lnTo>
                <a:lnTo>
                  <a:pt x="21336" y="207263"/>
                </a:lnTo>
                <a:lnTo>
                  <a:pt x="15240" y="195072"/>
                </a:lnTo>
                <a:lnTo>
                  <a:pt x="12192" y="179832"/>
                </a:lnTo>
                <a:lnTo>
                  <a:pt x="12192" y="149351"/>
                </a:lnTo>
                <a:lnTo>
                  <a:pt x="15240" y="134112"/>
                </a:lnTo>
                <a:lnTo>
                  <a:pt x="21336" y="118872"/>
                </a:lnTo>
                <a:lnTo>
                  <a:pt x="27432" y="106680"/>
                </a:lnTo>
                <a:lnTo>
                  <a:pt x="33528" y="91439"/>
                </a:lnTo>
                <a:lnTo>
                  <a:pt x="45720" y="79248"/>
                </a:lnTo>
                <a:lnTo>
                  <a:pt x="54864" y="67056"/>
                </a:lnTo>
                <a:lnTo>
                  <a:pt x="67056" y="57912"/>
                </a:lnTo>
                <a:lnTo>
                  <a:pt x="112776" y="30480"/>
                </a:lnTo>
                <a:lnTo>
                  <a:pt x="149352" y="18287"/>
                </a:lnTo>
                <a:lnTo>
                  <a:pt x="167640" y="15239"/>
                </a:lnTo>
                <a:lnTo>
                  <a:pt x="188976" y="12192"/>
                </a:lnTo>
                <a:lnTo>
                  <a:pt x="289560" y="12192"/>
                </a:lnTo>
                <a:lnTo>
                  <a:pt x="268224" y="6096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29" h="329564">
                <a:moveTo>
                  <a:pt x="289560" y="12192"/>
                </a:moveTo>
                <a:lnTo>
                  <a:pt x="228600" y="12192"/>
                </a:lnTo>
                <a:lnTo>
                  <a:pt x="265176" y="18287"/>
                </a:lnTo>
                <a:lnTo>
                  <a:pt x="301752" y="30480"/>
                </a:lnTo>
                <a:lnTo>
                  <a:pt x="347472" y="57912"/>
                </a:lnTo>
                <a:lnTo>
                  <a:pt x="381000" y="91439"/>
                </a:lnTo>
                <a:lnTo>
                  <a:pt x="402336" y="149351"/>
                </a:lnTo>
                <a:lnTo>
                  <a:pt x="402336" y="179832"/>
                </a:lnTo>
                <a:lnTo>
                  <a:pt x="381000" y="234696"/>
                </a:lnTo>
                <a:lnTo>
                  <a:pt x="359664" y="259080"/>
                </a:lnTo>
                <a:lnTo>
                  <a:pt x="347472" y="271272"/>
                </a:lnTo>
                <a:lnTo>
                  <a:pt x="301752" y="298703"/>
                </a:lnTo>
                <a:lnTo>
                  <a:pt x="283464" y="304800"/>
                </a:lnTo>
                <a:lnTo>
                  <a:pt x="265176" y="307848"/>
                </a:lnTo>
                <a:lnTo>
                  <a:pt x="246887" y="313944"/>
                </a:lnTo>
                <a:lnTo>
                  <a:pt x="228600" y="313944"/>
                </a:lnTo>
                <a:lnTo>
                  <a:pt x="207264" y="316992"/>
                </a:lnTo>
                <a:lnTo>
                  <a:pt x="289560" y="316992"/>
                </a:lnTo>
                <a:lnTo>
                  <a:pt x="307848" y="307848"/>
                </a:lnTo>
                <a:lnTo>
                  <a:pt x="323088" y="301751"/>
                </a:lnTo>
                <a:lnTo>
                  <a:pt x="341376" y="292608"/>
                </a:lnTo>
                <a:lnTo>
                  <a:pt x="353568" y="280415"/>
                </a:lnTo>
                <a:lnTo>
                  <a:pt x="368808" y="268224"/>
                </a:lnTo>
                <a:lnTo>
                  <a:pt x="399288" y="228600"/>
                </a:lnTo>
                <a:lnTo>
                  <a:pt x="414528" y="182880"/>
                </a:lnTo>
                <a:lnTo>
                  <a:pt x="414528" y="179832"/>
                </a:lnTo>
                <a:lnTo>
                  <a:pt x="417576" y="164592"/>
                </a:lnTo>
                <a:lnTo>
                  <a:pt x="399288" y="100584"/>
                </a:lnTo>
                <a:lnTo>
                  <a:pt x="368808" y="57912"/>
                </a:lnTo>
                <a:lnTo>
                  <a:pt x="323088" y="27432"/>
                </a:lnTo>
                <a:lnTo>
                  <a:pt x="304800" y="18287"/>
                </a:lnTo>
                <a:lnTo>
                  <a:pt x="289560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42019" y="2538985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90531" y="2548129"/>
            <a:ext cx="1651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791444" y="2538985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F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93744" y="2749295"/>
            <a:ext cx="417830" cy="326390"/>
          </a:xfrm>
          <a:custGeom>
            <a:avLst/>
            <a:gdLst/>
            <a:ahLst/>
            <a:cxnLst/>
            <a:rect l="l" t="t" r="r" b="b"/>
            <a:pathLst>
              <a:path w="417830" h="326389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1"/>
                </a:lnTo>
                <a:lnTo>
                  <a:pt x="60960" y="45719"/>
                </a:lnTo>
                <a:lnTo>
                  <a:pt x="24383" y="85343"/>
                </a:lnTo>
                <a:lnTo>
                  <a:pt x="15239" y="97536"/>
                </a:lnTo>
                <a:lnTo>
                  <a:pt x="9143" y="112775"/>
                </a:lnTo>
                <a:lnTo>
                  <a:pt x="3048" y="131063"/>
                </a:lnTo>
                <a:lnTo>
                  <a:pt x="0" y="146303"/>
                </a:lnTo>
                <a:lnTo>
                  <a:pt x="0" y="179831"/>
                </a:lnTo>
                <a:lnTo>
                  <a:pt x="3048" y="198119"/>
                </a:lnTo>
                <a:lnTo>
                  <a:pt x="15239" y="228600"/>
                </a:lnTo>
                <a:lnTo>
                  <a:pt x="24383" y="240791"/>
                </a:lnTo>
                <a:lnTo>
                  <a:pt x="36575" y="256031"/>
                </a:lnTo>
                <a:lnTo>
                  <a:pt x="45719" y="268224"/>
                </a:lnTo>
                <a:lnTo>
                  <a:pt x="91439" y="298703"/>
                </a:lnTo>
                <a:lnTo>
                  <a:pt x="146304" y="320039"/>
                </a:lnTo>
                <a:lnTo>
                  <a:pt x="185928" y="326136"/>
                </a:lnTo>
                <a:lnTo>
                  <a:pt x="228600" y="326136"/>
                </a:lnTo>
                <a:lnTo>
                  <a:pt x="249936" y="323088"/>
                </a:lnTo>
                <a:lnTo>
                  <a:pt x="268224" y="320039"/>
                </a:lnTo>
                <a:lnTo>
                  <a:pt x="289560" y="313943"/>
                </a:lnTo>
                <a:lnTo>
                  <a:pt x="185928" y="313943"/>
                </a:lnTo>
                <a:lnTo>
                  <a:pt x="149351" y="307848"/>
                </a:lnTo>
                <a:lnTo>
                  <a:pt x="112775" y="295655"/>
                </a:lnTo>
                <a:lnTo>
                  <a:pt x="97536" y="289559"/>
                </a:lnTo>
                <a:lnTo>
                  <a:pt x="82295" y="280415"/>
                </a:lnTo>
                <a:lnTo>
                  <a:pt x="67056" y="268224"/>
                </a:lnTo>
                <a:lnTo>
                  <a:pt x="54863" y="259079"/>
                </a:lnTo>
                <a:lnTo>
                  <a:pt x="45719" y="246887"/>
                </a:lnTo>
                <a:lnTo>
                  <a:pt x="33528" y="234695"/>
                </a:lnTo>
                <a:lnTo>
                  <a:pt x="27431" y="222503"/>
                </a:lnTo>
                <a:lnTo>
                  <a:pt x="15239" y="192024"/>
                </a:lnTo>
                <a:lnTo>
                  <a:pt x="12801" y="179831"/>
                </a:lnTo>
                <a:lnTo>
                  <a:pt x="12192" y="179831"/>
                </a:lnTo>
                <a:lnTo>
                  <a:pt x="12192" y="146303"/>
                </a:lnTo>
                <a:lnTo>
                  <a:pt x="12700" y="146303"/>
                </a:lnTo>
                <a:lnTo>
                  <a:pt x="15239" y="131063"/>
                </a:lnTo>
                <a:lnTo>
                  <a:pt x="21336" y="118871"/>
                </a:lnTo>
                <a:lnTo>
                  <a:pt x="27431" y="103631"/>
                </a:lnTo>
                <a:lnTo>
                  <a:pt x="33528" y="91439"/>
                </a:lnTo>
                <a:lnTo>
                  <a:pt x="45719" y="79248"/>
                </a:lnTo>
                <a:lnTo>
                  <a:pt x="54863" y="67055"/>
                </a:lnTo>
                <a:lnTo>
                  <a:pt x="67056" y="54863"/>
                </a:lnTo>
                <a:lnTo>
                  <a:pt x="112775" y="30479"/>
                </a:lnTo>
                <a:lnTo>
                  <a:pt x="149351" y="18287"/>
                </a:lnTo>
                <a:lnTo>
                  <a:pt x="188975" y="12191"/>
                </a:lnTo>
                <a:lnTo>
                  <a:pt x="289560" y="12191"/>
                </a:lnTo>
                <a:lnTo>
                  <a:pt x="268224" y="6095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30" h="326389">
                <a:moveTo>
                  <a:pt x="402336" y="176783"/>
                </a:moveTo>
                <a:lnTo>
                  <a:pt x="399288" y="192024"/>
                </a:lnTo>
                <a:lnTo>
                  <a:pt x="387095" y="222503"/>
                </a:lnTo>
                <a:lnTo>
                  <a:pt x="381000" y="234695"/>
                </a:lnTo>
                <a:lnTo>
                  <a:pt x="368807" y="246887"/>
                </a:lnTo>
                <a:lnTo>
                  <a:pt x="359663" y="259079"/>
                </a:lnTo>
                <a:lnTo>
                  <a:pt x="316992" y="289559"/>
                </a:lnTo>
                <a:lnTo>
                  <a:pt x="265175" y="307848"/>
                </a:lnTo>
                <a:lnTo>
                  <a:pt x="228600" y="313943"/>
                </a:lnTo>
                <a:lnTo>
                  <a:pt x="289560" y="313943"/>
                </a:lnTo>
                <a:lnTo>
                  <a:pt x="307848" y="307848"/>
                </a:lnTo>
                <a:lnTo>
                  <a:pt x="323088" y="298703"/>
                </a:lnTo>
                <a:lnTo>
                  <a:pt x="341375" y="289559"/>
                </a:lnTo>
                <a:lnTo>
                  <a:pt x="353568" y="280415"/>
                </a:lnTo>
                <a:lnTo>
                  <a:pt x="368807" y="268224"/>
                </a:lnTo>
                <a:lnTo>
                  <a:pt x="381000" y="256031"/>
                </a:lnTo>
                <a:lnTo>
                  <a:pt x="390144" y="240791"/>
                </a:lnTo>
                <a:lnTo>
                  <a:pt x="399288" y="228600"/>
                </a:lnTo>
                <a:lnTo>
                  <a:pt x="405383" y="213359"/>
                </a:lnTo>
                <a:lnTo>
                  <a:pt x="411480" y="195071"/>
                </a:lnTo>
                <a:lnTo>
                  <a:pt x="414528" y="179831"/>
                </a:lnTo>
                <a:lnTo>
                  <a:pt x="402336" y="179831"/>
                </a:lnTo>
                <a:lnTo>
                  <a:pt x="402336" y="176783"/>
                </a:lnTo>
                <a:close/>
              </a:path>
              <a:path w="417830" h="326389">
                <a:moveTo>
                  <a:pt x="12192" y="176783"/>
                </a:moveTo>
                <a:lnTo>
                  <a:pt x="12192" y="179831"/>
                </a:lnTo>
                <a:lnTo>
                  <a:pt x="12801" y="179831"/>
                </a:lnTo>
                <a:lnTo>
                  <a:pt x="12192" y="176783"/>
                </a:lnTo>
                <a:close/>
              </a:path>
              <a:path w="417830" h="326389">
                <a:moveTo>
                  <a:pt x="414528" y="146303"/>
                </a:moveTo>
                <a:lnTo>
                  <a:pt x="402336" y="146303"/>
                </a:lnTo>
                <a:lnTo>
                  <a:pt x="402336" y="179831"/>
                </a:lnTo>
                <a:lnTo>
                  <a:pt x="414528" y="179831"/>
                </a:lnTo>
                <a:lnTo>
                  <a:pt x="417575" y="161543"/>
                </a:lnTo>
                <a:lnTo>
                  <a:pt x="414528" y="146303"/>
                </a:lnTo>
                <a:close/>
              </a:path>
              <a:path w="417830" h="326389">
                <a:moveTo>
                  <a:pt x="12700" y="146303"/>
                </a:moveTo>
                <a:lnTo>
                  <a:pt x="12192" y="146303"/>
                </a:lnTo>
                <a:lnTo>
                  <a:pt x="12192" y="149351"/>
                </a:lnTo>
                <a:lnTo>
                  <a:pt x="12700" y="146303"/>
                </a:lnTo>
                <a:close/>
              </a:path>
              <a:path w="417830" h="326389">
                <a:moveTo>
                  <a:pt x="289560" y="12191"/>
                </a:moveTo>
                <a:lnTo>
                  <a:pt x="228600" y="12191"/>
                </a:lnTo>
                <a:lnTo>
                  <a:pt x="265175" y="18287"/>
                </a:lnTo>
                <a:lnTo>
                  <a:pt x="301751" y="30479"/>
                </a:lnTo>
                <a:lnTo>
                  <a:pt x="347472" y="54863"/>
                </a:lnTo>
                <a:lnTo>
                  <a:pt x="381000" y="91439"/>
                </a:lnTo>
                <a:lnTo>
                  <a:pt x="387095" y="103631"/>
                </a:lnTo>
                <a:lnTo>
                  <a:pt x="396239" y="118871"/>
                </a:lnTo>
                <a:lnTo>
                  <a:pt x="402336" y="149351"/>
                </a:lnTo>
                <a:lnTo>
                  <a:pt x="402336" y="146303"/>
                </a:lnTo>
                <a:lnTo>
                  <a:pt x="414528" y="146303"/>
                </a:lnTo>
                <a:lnTo>
                  <a:pt x="411480" y="128015"/>
                </a:lnTo>
                <a:lnTo>
                  <a:pt x="399288" y="97536"/>
                </a:lnTo>
                <a:lnTo>
                  <a:pt x="390144" y="85343"/>
                </a:lnTo>
                <a:lnTo>
                  <a:pt x="381000" y="70103"/>
                </a:lnTo>
                <a:lnTo>
                  <a:pt x="368807" y="57912"/>
                </a:lnTo>
                <a:lnTo>
                  <a:pt x="353568" y="45719"/>
                </a:lnTo>
                <a:lnTo>
                  <a:pt x="323088" y="27431"/>
                </a:lnTo>
                <a:lnTo>
                  <a:pt x="304800" y="18287"/>
                </a:lnTo>
                <a:lnTo>
                  <a:pt x="289560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42328" y="2734056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52984" y="3048"/>
                </a:moveTo>
                <a:lnTo>
                  <a:pt x="167639" y="3048"/>
                </a:lnTo>
                <a:lnTo>
                  <a:pt x="149351" y="9144"/>
                </a:lnTo>
                <a:lnTo>
                  <a:pt x="128016" y="15240"/>
                </a:lnTo>
                <a:lnTo>
                  <a:pt x="109727" y="21336"/>
                </a:lnTo>
                <a:lnTo>
                  <a:pt x="94487" y="30480"/>
                </a:lnTo>
                <a:lnTo>
                  <a:pt x="76200" y="39624"/>
                </a:lnTo>
                <a:lnTo>
                  <a:pt x="64008" y="48768"/>
                </a:lnTo>
                <a:lnTo>
                  <a:pt x="48768" y="60960"/>
                </a:lnTo>
                <a:lnTo>
                  <a:pt x="36575" y="73152"/>
                </a:lnTo>
                <a:lnTo>
                  <a:pt x="27432" y="88392"/>
                </a:lnTo>
                <a:lnTo>
                  <a:pt x="18287" y="100584"/>
                </a:lnTo>
                <a:lnTo>
                  <a:pt x="6096" y="131064"/>
                </a:lnTo>
                <a:lnTo>
                  <a:pt x="3048" y="149352"/>
                </a:lnTo>
                <a:lnTo>
                  <a:pt x="0" y="164592"/>
                </a:lnTo>
                <a:lnTo>
                  <a:pt x="12192" y="216408"/>
                </a:lnTo>
                <a:lnTo>
                  <a:pt x="27432" y="243840"/>
                </a:lnTo>
                <a:lnTo>
                  <a:pt x="36575" y="259080"/>
                </a:lnTo>
                <a:lnTo>
                  <a:pt x="94487" y="301752"/>
                </a:lnTo>
                <a:lnTo>
                  <a:pt x="149351" y="323088"/>
                </a:lnTo>
                <a:lnTo>
                  <a:pt x="188975" y="329184"/>
                </a:lnTo>
                <a:lnTo>
                  <a:pt x="231648" y="329184"/>
                </a:lnTo>
                <a:lnTo>
                  <a:pt x="252984" y="326136"/>
                </a:lnTo>
                <a:lnTo>
                  <a:pt x="271272" y="323088"/>
                </a:lnTo>
                <a:lnTo>
                  <a:pt x="292608" y="316992"/>
                </a:lnTo>
                <a:lnTo>
                  <a:pt x="188975" y="316992"/>
                </a:lnTo>
                <a:lnTo>
                  <a:pt x="152400" y="310896"/>
                </a:lnTo>
                <a:lnTo>
                  <a:pt x="115824" y="298704"/>
                </a:lnTo>
                <a:lnTo>
                  <a:pt x="70104" y="271272"/>
                </a:lnTo>
                <a:lnTo>
                  <a:pt x="36575" y="237744"/>
                </a:lnTo>
                <a:lnTo>
                  <a:pt x="30480" y="222504"/>
                </a:lnTo>
                <a:lnTo>
                  <a:pt x="21336" y="210312"/>
                </a:lnTo>
                <a:lnTo>
                  <a:pt x="15239" y="179832"/>
                </a:lnTo>
                <a:lnTo>
                  <a:pt x="15239" y="149352"/>
                </a:lnTo>
                <a:lnTo>
                  <a:pt x="18287" y="134112"/>
                </a:lnTo>
                <a:lnTo>
                  <a:pt x="21336" y="121920"/>
                </a:lnTo>
                <a:lnTo>
                  <a:pt x="30480" y="106680"/>
                </a:lnTo>
                <a:lnTo>
                  <a:pt x="36575" y="94488"/>
                </a:lnTo>
                <a:lnTo>
                  <a:pt x="48768" y="82296"/>
                </a:lnTo>
                <a:lnTo>
                  <a:pt x="57912" y="70104"/>
                </a:lnTo>
                <a:lnTo>
                  <a:pt x="70104" y="57912"/>
                </a:lnTo>
                <a:lnTo>
                  <a:pt x="100584" y="39624"/>
                </a:lnTo>
                <a:lnTo>
                  <a:pt x="115824" y="33528"/>
                </a:lnTo>
                <a:lnTo>
                  <a:pt x="134112" y="24384"/>
                </a:lnTo>
                <a:lnTo>
                  <a:pt x="188975" y="15240"/>
                </a:lnTo>
                <a:lnTo>
                  <a:pt x="295656" y="15240"/>
                </a:lnTo>
                <a:lnTo>
                  <a:pt x="289560" y="12192"/>
                </a:lnTo>
                <a:lnTo>
                  <a:pt x="271272" y="9144"/>
                </a:lnTo>
                <a:lnTo>
                  <a:pt x="252984" y="3048"/>
                </a:lnTo>
                <a:close/>
              </a:path>
              <a:path w="417829" h="329564">
                <a:moveTo>
                  <a:pt x="295656" y="15240"/>
                </a:moveTo>
                <a:lnTo>
                  <a:pt x="231648" y="15240"/>
                </a:lnTo>
                <a:lnTo>
                  <a:pt x="286512" y="24384"/>
                </a:lnTo>
                <a:lnTo>
                  <a:pt x="304800" y="33528"/>
                </a:lnTo>
                <a:lnTo>
                  <a:pt x="320039" y="39624"/>
                </a:lnTo>
                <a:lnTo>
                  <a:pt x="350520" y="57912"/>
                </a:lnTo>
                <a:lnTo>
                  <a:pt x="362712" y="70104"/>
                </a:lnTo>
                <a:lnTo>
                  <a:pt x="371856" y="82296"/>
                </a:lnTo>
                <a:lnTo>
                  <a:pt x="384048" y="94488"/>
                </a:lnTo>
                <a:lnTo>
                  <a:pt x="390144" y="106680"/>
                </a:lnTo>
                <a:lnTo>
                  <a:pt x="402336" y="137160"/>
                </a:lnTo>
                <a:lnTo>
                  <a:pt x="405384" y="149352"/>
                </a:lnTo>
                <a:lnTo>
                  <a:pt x="405384" y="179832"/>
                </a:lnTo>
                <a:lnTo>
                  <a:pt x="402336" y="195072"/>
                </a:lnTo>
                <a:lnTo>
                  <a:pt x="390144" y="225552"/>
                </a:lnTo>
                <a:lnTo>
                  <a:pt x="384048" y="237744"/>
                </a:lnTo>
                <a:lnTo>
                  <a:pt x="371856" y="249936"/>
                </a:lnTo>
                <a:lnTo>
                  <a:pt x="362712" y="262128"/>
                </a:lnTo>
                <a:lnTo>
                  <a:pt x="350520" y="271272"/>
                </a:lnTo>
                <a:lnTo>
                  <a:pt x="335280" y="283464"/>
                </a:lnTo>
                <a:lnTo>
                  <a:pt x="320039" y="289560"/>
                </a:lnTo>
                <a:lnTo>
                  <a:pt x="304800" y="298704"/>
                </a:lnTo>
                <a:lnTo>
                  <a:pt x="268224" y="310896"/>
                </a:lnTo>
                <a:lnTo>
                  <a:pt x="249936" y="313944"/>
                </a:lnTo>
                <a:lnTo>
                  <a:pt x="228600" y="316992"/>
                </a:lnTo>
                <a:lnTo>
                  <a:pt x="292608" y="316992"/>
                </a:lnTo>
                <a:lnTo>
                  <a:pt x="356616" y="283464"/>
                </a:lnTo>
                <a:lnTo>
                  <a:pt x="402336" y="228600"/>
                </a:lnTo>
                <a:lnTo>
                  <a:pt x="417575" y="182880"/>
                </a:lnTo>
                <a:lnTo>
                  <a:pt x="417575" y="149352"/>
                </a:lnTo>
                <a:lnTo>
                  <a:pt x="414527" y="131064"/>
                </a:lnTo>
                <a:lnTo>
                  <a:pt x="402336" y="100584"/>
                </a:lnTo>
                <a:lnTo>
                  <a:pt x="393192" y="85344"/>
                </a:lnTo>
                <a:lnTo>
                  <a:pt x="381000" y="73152"/>
                </a:lnTo>
                <a:lnTo>
                  <a:pt x="371856" y="60960"/>
                </a:lnTo>
                <a:lnTo>
                  <a:pt x="356616" y="48768"/>
                </a:lnTo>
                <a:lnTo>
                  <a:pt x="341375" y="39624"/>
                </a:lnTo>
                <a:lnTo>
                  <a:pt x="326136" y="27432"/>
                </a:lnTo>
                <a:lnTo>
                  <a:pt x="307848" y="21336"/>
                </a:lnTo>
                <a:lnTo>
                  <a:pt x="295656" y="15240"/>
                </a:lnTo>
                <a:close/>
              </a:path>
              <a:path w="417829" h="329564">
                <a:moveTo>
                  <a:pt x="210312" y="0"/>
                </a:moveTo>
                <a:lnTo>
                  <a:pt x="188975" y="3048"/>
                </a:lnTo>
                <a:lnTo>
                  <a:pt x="231648" y="3048"/>
                </a:lnTo>
                <a:lnTo>
                  <a:pt x="21031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79673" y="2270761"/>
            <a:ext cx="1405255" cy="497205"/>
          </a:xfrm>
          <a:custGeom>
            <a:avLst/>
            <a:gdLst/>
            <a:ahLst/>
            <a:cxnLst/>
            <a:rect l="l" t="t" r="r" b="b"/>
            <a:pathLst>
              <a:path w="1405254" h="497205">
                <a:moveTo>
                  <a:pt x="1395983" y="0"/>
                </a:moveTo>
                <a:lnTo>
                  <a:pt x="0" y="469391"/>
                </a:lnTo>
                <a:lnTo>
                  <a:pt x="9143" y="496824"/>
                </a:lnTo>
                <a:lnTo>
                  <a:pt x="1405127" y="27431"/>
                </a:lnTo>
                <a:lnTo>
                  <a:pt x="139598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38368" y="2276856"/>
            <a:ext cx="1381125" cy="481965"/>
          </a:xfrm>
          <a:custGeom>
            <a:avLst/>
            <a:gdLst/>
            <a:ahLst/>
            <a:cxnLst/>
            <a:rect l="l" t="t" r="r" b="b"/>
            <a:pathLst>
              <a:path w="1381125" h="481964">
                <a:moveTo>
                  <a:pt x="9144" y="0"/>
                </a:moveTo>
                <a:lnTo>
                  <a:pt x="0" y="24384"/>
                </a:lnTo>
                <a:lnTo>
                  <a:pt x="1371600" y="481584"/>
                </a:lnTo>
                <a:lnTo>
                  <a:pt x="1380744" y="457200"/>
                </a:lnTo>
                <a:lnTo>
                  <a:pt x="914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59760" y="344119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30" h="329564">
                <a:moveTo>
                  <a:pt x="231648" y="0"/>
                </a:moveTo>
                <a:lnTo>
                  <a:pt x="188976" y="0"/>
                </a:lnTo>
                <a:lnTo>
                  <a:pt x="167640" y="3048"/>
                </a:lnTo>
                <a:lnTo>
                  <a:pt x="146303" y="9144"/>
                </a:lnTo>
                <a:lnTo>
                  <a:pt x="128015" y="12192"/>
                </a:lnTo>
                <a:lnTo>
                  <a:pt x="109728" y="21336"/>
                </a:lnTo>
                <a:lnTo>
                  <a:pt x="94487" y="27432"/>
                </a:lnTo>
                <a:lnTo>
                  <a:pt x="76200" y="36575"/>
                </a:lnTo>
                <a:lnTo>
                  <a:pt x="36576" y="73152"/>
                </a:lnTo>
                <a:lnTo>
                  <a:pt x="9143" y="115824"/>
                </a:lnTo>
                <a:lnTo>
                  <a:pt x="3048" y="146304"/>
                </a:lnTo>
                <a:lnTo>
                  <a:pt x="3048" y="149352"/>
                </a:lnTo>
                <a:lnTo>
                  <a:pt x="0" y="164592"/>
                </a:lnTo>
                <a:lnTo>
                  <a:pt x="9143" y="213360"/>
                </a:lnTo>
                <a:lnTo>
                  <a:pt x="36576" y="259080"/>
                </a:lnTo>
                <a:lnTo>
                  <a:pt x="64008" y="280416"/>
                </a:lnTo>
                <a:lnTo>
                  <a:pt x="76200" y="292608"/>
                </a:lnTo>
                <a:lnTo>
                  <a:pt x="94487" y="301752"/>
                </a:lnTo>
                <a:lnTo>
                  <a:pt x="109728" y="310896"/>
                </a:lnTo>
                <a:lnTo>
                  <a:pt x="128015" y="316992"/>
                </a:lnTo>
                <a:lnTo>
                  <a:pt x="149352" y="323088"/>
                </a:lnTo>
                <a:lnTo>
                  <a:pt x="167640" y="326136"/>
                </a:lnTo>
                <a:lnTo>
                  <a:pt x="188976" y="329184"/>
                </a:lnTo>
                <a:lnTo>
                  <a:pt x="231648" y="329184"/>
                </a:lnTo>
                <a:lnTo>
                  <a:pt x="252984" y="326136"/>
                </a:lnTo>
                <a:lnTo>
                  <a:pt x="271272" y="323088"/>
                </a:lnTo>
                <a:lnTo>
                  <a:pt x="289559" y="316992"/>
                </a:lnTo>
                <a:lnTo>
                  <a:pt x="188976" y="316992"/>
                </a:lnTo>
                <a:lnTo>
                  <a:pt x="170687" y="313944"/>
                </a:lnTo>
                <a:lnTo>
                  <a:pt x="131064" y="304800"/>
                </a:lnTo>
                <a:lnTo>
                  <a:pt x="70103" y="271272"/>
                </a:lnTo>
                <a:lnTo>
                  <a:pt x="57912" y="259080"/>
                </a:lnTo>
                <a:lnTo>
                  <a:pt x="45720" y="249936"/>
                </a:lnTo>
                <a:lnTo>
                  <a:pt x="36576" y="234696"/>
                </a:lnTo>
                <a:lnTo>
                  <a:pt x="27431" y="222504"/>
                </a:lnTo>
                <a:lnTo>
                  <a:pt x="21336" y="210312"/>
                </a:lnTo>
                <a:lnTo>
                  <a:pt x="12192" y="164592"/>
                </a:lnTo>
                <a:lnTo>
                  <a:pt x="21336" y="118872"/>
                </a:lnTo>
                <a:lnTo>
                  <a:pt x="27431" y="106680"/>
                </a:lnTo>
                <a:lnTo>
                  <a:pt x="36576" y="91440"/>
                </a:lnTo>
                <a:lnTo>
                  <a:pt x="45720" y="79248"/>
                </a:lnTo>
                <a:lnTo>
                  <a:pt x="57912" y="70104"/>
                </a:lnTo>
                <a:lnTo>
                  <a:pt x="70103" y="57912"/>
                </a:lnTo>
                <a:lnTo>
                  <a:pt x="115824" y="30480"/>
                </a:lnTo>
                <a:lnTo>
                  <a:pt x="134112" y="24384"/>
                </a:lnTo>
                <a:lnTo>
                  <a:pt x="152400" y="21336"/>
                </a:lnTo>
                <a:lnTo>
                  <a:pt x="170687" y="15240"/>
                </a:lnTo>
                <a:lnTo>
                  <a:pt x="188976" y="15240"/>
                </a:lnTo>
                <a:lnTo>
                  <a:pt x="210312" y="12192"/>
                </a:lnTo>
                <a:lnTo>
                  <a:pt x="289559" y="12192"/>
                </a:lnTo>
                <a:lnTo>
                  <a:pt x="271272" y="6096"/>
                </a:lnTo>
                <a:lnTo>
                  <a:pt x="249936" y="3048"/>
                </a:lnTo>
                <a:lnTo>
                  <a:pt x="231648" y="0"/>
                </a:lnTo>
                <a:close/>
              </a:path>
              <a:path w="417830" h="329564">
                <a:moveTo>
                  <a:pt x="289559" y="12192"/>
                </a:moveTo>
                <a:lnTo>
                  <a:pt x="210312" y="12192"/>
                </a:lnTo>
                <a:lnTo>
                  <a:pt x="231648" y="15240"/>
                </a:lnTo>
                <a:lnTo>
                  <a:pt x="249936" y="15240"/>
                </a:lnTo>
                <a:lnTo>
                  <a:pt x="268224" y="21336"/>
                </a:lnTo>
                <a:lnTo>
                  <a:pt x="350520" y="57912"/>
                </a:lnTo>
                <a:lnTo>
                  <a:pt x="371856" y="82296"/>
                </a:lnTo>
                <a:lnTo>
                  <a:pt x="384047" y="94487"/>
                </a:lnTo>
                <a:lnTo>
                  <a:pt x="390144" y="106680"/>
                </a:lnTo>
                <a:lnTo>
                  <a:pt x="396240" y="121920"/>
                </a:lnTo>
                <a:lnTo>
                  <a:pt x="402335" y="134112"/>
                </a:lnTo>
                <a:lnTo>
                  <a:pt x="405384" y="149352"/>
                </a:lnTo>
                <a:lnTo>
                  <a:pt x="405384" y="179832"/>
                </a:lnTo>
                <a:lnTo>
                  <a:pt x="390144" y="222504"/>
                </a:lnTo>
                <a:lnTo>
                  <a:pt x="362712" y="262128"/>
                </a:lnTo>
                <a:lnTo>
                  <a:pt x="347472" y="271272"/>
                </a:lnTo>
                <a:lnTo>
                  <a:pt x="335280" y="280416"/>
                </a:lnTo>
                <a:lnTo>
                  <a:pt x="304800" y="298704"/>
                </a:lnTo>
                <a:lnTo>
                  <a:pt x="268224" y="310896"/>
                </a:lnTo>
                <a:lnTo>
                  <a:pt x="249936" y="313944"/>
                </a:lnTo>
                <a:lnTo>
                  <a:pt x="228600" y="316992"/>
                </a:lnTo>
                <a:lnTo>
                  <a:pt x="289559" y="316992"/>
                </a:lnTo>
                <a:lnTo>
                  <a:pt x="326136" y="301752"/>
                </a:lnTo>
                <a:lnTo>
                  <a:pt x="371856" y="268224"/>
                </a:lnTo>
                <a:lnTo>
                  <a:pt x="381000" y="256032"/>
                </a:lnTo>
                <a:lnTo>
                  <a:pt x="393191" y="243840"/>
                </a:lnTo>
                <a:lnTo>
                  <a:pt x="402335" y="228600"/>
                </a:lnTo>
                <a:lnTo>
                  <a:pt x="414528" y="198120"/>
                </a:lnTo>
                <a:lnTo>
                  <a:pt x="417576" y="182880"/>
                </a:lnTo>
                <a:lnTo>
                  <a:pt x="417576" y="146304"/>
                </a:lnTo>
                <a:lnTo>
                  <a:pt x="414528" y="131063"/>
                </a:lnTo>
                <a:lnTo>
                  <a:pt x="402335" y="100584"/>
                </a:lnTo>
                <a:lnTo>
                  <a:pt x="393191" y="85344"/>
                </a:lnTo>
                <a:lnTo>
                  <a:pt x="381000" y="73152"/>
                </a:lnTo>
                <a:lnTo>
                  <a:pt x="368808" y="57912"/>
                </a:lnTo>
                <a:lnTo>
                  <a:pt x="356616" y="48768"/>
                </a:lnTo>
                <a:lnTo>
                  <a:pt x="341376" y="36575"/>
                </a:lnTo>
                <a:lnTo>
                  <a:pt x="326136" y="27432"/>
                </a:lnTo>
                <a:lnTo>
                  <a:pt x="307848" y="21336"/>
                </a:lnTo>
                <a:lnTo>
                  <a:pt x="289559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265932" y="3415792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58792" y="3429001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30" h="329564">
                <a:moveTo>
                  <a:pt x="231647" y="0"/>
                </a:moveTo>
                <a:lnTo>
                  <a:pt x="188975" y="0"/>
                </a:lnTo>
                <a:lnTo>
                  <a:pt x="146303" y="6096"/>
                </a:lnTo>
                <a:lnTo>
                  <a:pt x="109727" y="18287"/>
                </a:lnTo>
                <a:lnTo>
                  <a:pt x="91439" y="27432"/>
                </a:lnTo>
                <a:lnTo>
                  <a:pt x="76200" y="36575"/>
                </a:lnTo>
                <a:lnTo>
                  <a:pt x="60959" y="48767"/>
                </a:lnTo>
                <a:lnTo>
                  <a:pt x="48768" y="57912"/>
                </a:lnTo>
                <a:lnTo>
                  <a:pt x="36575" y="73151"/>
                </a:lnTo>
                <a:lnTo>
                  <a:pt x="24383" y="85344"/>
                </a:lnTo>
                <a:lnTo>
                  <a:pt x="18287" y="100584"/>
                </a:lnTo>
                <a:lnTo>
                  <a:pt x="9143" y="115824"/>
                </a:lnTo>
                <a:lnTo>
                  <a:pt x="6095" y="131063"/>
                </a:lnTo>
                <a:lnTo>
                  <a:pt x="0" y="146303"/>
                </a:lnTo>
                <a:lnTo>
                  <a:pt x="0" y="182879"/>
                </a:lnTo>
                <a:lnTo>
                  <a:pt x="6095" y="198120"/>
                </a:lnTo>
                <a:lnTo>
                  <a:pt x="9143" y="213360"/>
                </a:lnTo>
                <a:lnTo>
                  <a:pt x="36575" y="256032"/>
                </a:lnTo>
                <a:lnTo>
                  <a:pt x="76200" y="292608"/>
                </a:lnTo>
                <a:lnTo>
                  <a:pt x="109727" y="307848"/>
                </a:lnTo>
                <a:lnTo>
                  <a:pt x="128015" y="316991"/>
                </a:lnTo>
                <a:lnTo>
                  <a:pt x="146303" y="320039"/>
                </a:lnTo>
                <a:lnTo>
                  <a:pt x="167639" y="326136"/>
                </a:lnTo>
                <a:lnTo>
                  <a:pt x="188975" y="329184"/>
                </a:lnTo>
                <a:lnTo>
                  <a:pt x="231647" y="329184"/>
                </a:lnTo>
                <a:lnTo>
                  <a:pt x="249935" y="326136"/>
                </a:lnTo>
                <a:lnTo>
                  <a:pt x="271271" y="320039"/>
                </a:lnTo>
                <a:lnTo>
                  <a:pt x="289559" y="316991"/>
                </a:lnTo>
                <a:lnTo>
                  <a:pt x="210312" y="316991"/>
                </a:lnTo>
                <a:lnTo>
                  <a:pt x="188975" y="313944"/>
                </a:lnTo>
                <a:lnTo>
                  <a:pt x="170687" y="313944"/>
                </a:lnTo>
                <a:lnTo>
                  <a:pt x="149351" y="307848"/>
                </a:lnTo>
                <a:lnTo>
                  <a:pt x="131063" y="304800"/>
                </a:lnTo>
                <a:lnTo>
                  <a:pt x="115824" y="298703"/>
                </a:lnTo>
                <a:lnTo>
                  <a:pt x="82295" y="280415"/>
                </a:lnTo>
                <a:lnTo>
                  <a:pt x="45719" y="246887"/>
                </a:lnTo>
                <a:lnTo>
                  <a:pt x="21335" y="207263"/>
                </a:lnTo>
                <a:lnTo>
                  <a:pt x="12191" y="164591"/>
                </a:lnTo>
                <a:lnTo>
                  <a:pt x="21335" y="118872"/>
                </a:lnTo>
                <a:lnTo>
                  <a:pt x="45719" y="79248"/>
                </a:lnTo>
                <a:lnTo>
                  <a:pt x="115824" y="30479"/>
                </a:lnTo>
                <a:lnTo>
                  <a:pt x="170687" y="15239"/>
                </a:lnTo>
                <a:lnTo>
                  <a:pt x="188975" y="12191"/>
                </a:lnTo>
                <a:lnTo>
                  <a:pt x="289559" y="12191"/>
                </a:lnTo>
                <a:lnTo>
                  <a:pt x="271271" y="6096"/>
                </a:lnTo>
                <a:lnTo>
                  <a:pt x="249935" y="3048"/>
                </a:lnTo>
                <a:lnTo>
                  <a:pt x="231647" y="0"/>
                </a:lnTo>
                <a:close/>
              </a:path>
              <a:path w="417830" h="329564">
                <a:moveTo>
                  <a:pt x="289559" y="12191"/>
                </a:moveTo>
                <a:lnTo>
                  <a:pt x="228600" y="12191"/>
                </a:lnTo>
                <a:lnTo>
                  <a:pt x="249935" y="15239"/>
                </a:lnTo>
                <a:lnTo>
                  <a:pt x="268224" y="18287"/>
                </a:lnTo>
                <a:lnTo>
                  <a:pt x="304800" y="30479"/>
                </a:lnTo>
                <a:lnTo>
                  <a:pt x="335280" y="48767"/>
                </a:lnTo>
                <a:lnTo>
                  <a:pt x="347471" y="57912"/>
                </a:lnTo>
                <a:lnTo>
                  <a:pt x="362712" y="67055"/>
                </a:lnTo>
                <a:lnTo>
                  <a:pt x="390144" y="106679"/>
                </a:lnTo>
                <a:lnTo>
                  <a:pt x="405383" y="149351"/>
                </a:lnTo>
                <a:lnTo>
                  <a:pt x="405383" y="179832"/>
                </a:lnTo>
                <a:lnTo>
                  <a:pt x="402335" y="195072"/>
                </a:lnTo>
                <a:lnTo>
                  <a:pt x="396239" y="210312"/>
                </a:lnTo>
                <a:lnTo>
                  <a:pt x="390144" y="222503"/>
                </a:lnTo>
                <a:lnTo>
                  <a:pt x="381000" y="234696"/>
                </a:lnTo>
                <a:lnTo>
                  <a:pt x="371856" y="249936"/>
                </a:lnTo>
                <a:lnTo>
                  <a:pt x="359663" y="259079"/>
                </a:lnTo>
                <a:lnTo>
                  <a:pt x="347471" y="271272"/>
                </a:lnTo>
                <a:lnTo>
                  <a:pt x="335280" y="280415"/>
                </a:lnTo>
                <a:lnTo>
                  <a:pt x="320039" y="289560"/>
                </a:lnTo>
                <a:lnTo>
                  <a:pt x="301751" y="298703"/>
                </a:lnTo>
                <a:lnTo>
                  <a:pt x="286512" y="304800"/>
                </a:lnTo>
                <a:lnTo>
                  <a:pt x="268224" y="307848"/>
                </a:lnTo>
                <a:lnTo>
                  <a:pt x="249935" y="313944"/>
                </a:lnTo>
                <a:lnTo>
                  <a:pt x="228600" y="313944"/>
                </a:lnTo>
                <a:lnTo>
                  <a:pt x="210312" y="316991"/>
                </a:lnTo>
                <a:lnTo>
                  <a:pt x="289559" y="316991"/>
                </a:lnTo>
                <a:lnTo>
                  <a:pt x="307847" y="307848"/>
                </a:lnTo>
                <a:lnTo>
                  <a:pt x="326135" y="301751"/>
                </a:lnTo>
                <a:lnTo>
                  <a:pt x="393191" y="243839"/>
                </a:lnTo>
                <a:lnTo>
                  <a:pt x="414527" y="198120"/>
                </a:lnTo>
                <a:lnTo>
                  <a:pt x="417575" y="182879"/>
                </a:lnTo>
                <a:lnTo>
                  <a:pt x="417575" y="146303"/>
                </a:lnTo>
                <a:lnTo>
                  <a:pt x="402335" y="100584"/>
                </a:lnTo>
                <a:lnTo>
                  <a:pt x="368807" y="57912"/>
                </a:lnTo>
                <a:lnTo>
                  <a:pt x="356615" y="48767"/>
                </a:lnTo>
                <a:lnTo>
                  <a:pt x="341375" y="36575"/>
                </a:lnTo>
                <a:lnTo>
                  <a:pt x="326135" y="27432"/>
                </a:lnTo>
                <a:lnTo>
                  <a:pt x="307847" y="18287"/>
                </a:lnTo>
                <a:lnTo>
                  <a:pt x="289559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677156" y="34157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09697" y="2987040"/>
            <a:ext cx="421005" cy="481965"/>
          </a:xfrm>
          <a:custGeom>
            <a:avLst/>
            <a:gdLst/>
            <a:ahLst/>
            <a:cxnLst/>
            <a:rect l="l" t="t" r="r" b="b"/>
            <a:pathLst>
              <a:path w="421005" h="481964">
                <a:moveTo>
                  <a:pt x="399287" y="0"/>
                </a:moveTo>
                <a:lnTo>
                  <a:pt x="0" y="463296"/>
                </a:lnTo>
                <a:lnTo>
                  <a:pt x="21335" y="481584"/>
                </a:lnTo>
                <a:lnTo>
                  <a:pt x="420623" y="18287"/>
                </a:lnTo>
                <a:lnTo>
                  <a:pt x="39928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71696" y="2990089"/>
            <a:ext cx="597535" cy="454659"/>
          </a:xfrm>
          <a:custGeom>
            <a:avLst/>
            <a:gdLst/>
            <a:ahLst/>
            <a:cxnLst/>
            <a:rect l="l" t="t" r="r" b="b"/>
            <a:pathLst>
              <a:path w="597535" h="454660">
                <a:moveTo>
                  <a:pt x="18287" y="0"/>
                </a:moveTo>
                <a:lnTo>
                  <a:pt x="0" y="24384"/>
                </a:lnTo>
                <a:lnTo>
                  <a:pt x="579120" y="454151"/>
                </a:lnTo>
                <a:lnTo>
                  <a:pt x="597408" y="429767"/>
                </a:lnTo>
                <a:lnTo>
                  <a:pt x="1828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97960" y="4218433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30" h="329564">
                <a:moveTo>
                  <a:pt x="249935" y="3047"/>
                </a:moveTo>
                <a:lnTo>
                  <a:pt x="167639" y="3047"/>
                </a:lnTo>
                <a:lnTo>
                  <a:pt x="146303" y="9143"/>
                </a:lnTo>
                <a:lnTo>
                  <a:pt x="109727" y="21335"/>
                </a:lnTo>
                <a:lnTo>
                  <a:pt x="94487" y="27431"/>
                </a:lnTo>
                <a:lnTo>
                  <a:pt x="76200" y="39623"/>
                </a:lnTo>
                <a:lnTo>
                  <a:pt x="60959" y="48767"/>
                </a:lnTo>
                <a:lnTo>
                  <a:pt x="36575" y="73151"/>
                </a:lnTo>
                <a:lnTo>
                  <a:pt x="27431" y="88391"/>
                </a:lnTo>
                <a:lnTo>
                  <a:pt x="18287" y="100583"/>
                </a:lnTo>
                <a:lnTo>
                  <a:pt x="9143" y="115823"/>
                </a:lnTo>
                <a:lnTo>
                  <a:pt x="6095" y="131063"/>
                </a:lnTo>
                <a:lnTo>
                  <a:pt x="3047" y="149351"/>
                </a:lnTo>
                <a:lnTo>
                  <a:pt x="0" y="164591"/>
                </a:lnTo>
                <a:lnTo>
                  <a:pt x="3047" y="182879"/>
                </a:lnTo>
                <a:lnTo>
                  <a:pt x="6095" y="198119"/>
                </a:lnTo>
                <a:lnTo>
                  <a:pt x="9143" y="216407"/>
                </a:lnTo>
                <a:lnTo>
                  <a:pt x="18287" y="231647"/>
                </a:lnTo>
                <a:lnTo>
                  <a:pt x="27431" y="243839"/>
                </a:lnTo>
                <a:lnTo>
                  <a:pt x="36575" y="259079"/>
                </a:lnTo>
                <a:lnTo>
                  <a:pt x="48767" y="271271"/>
                </a:lnTo>
                <a:lnTo>
                  <a:pt x="64007" y="283463"/>
                </a:lnTo>
                <a:lnTo>
                  <a:pt x="76200" y="292607"/>
                </a:lnTo>
                <a:lnTo>
                  <a:pt x="94487" y="301751"/>
                </a:lnTo>
                <a:lnTo>
                  <a:pt x="109727" y="310895"/>
                </a:lnTo>
                <a:lnTo>
                  <a:pt x="128015" y="316991"/>
                </a:lnTo>
                <a:lnTo>
                  <a:pt x="149351" y="323087"/>
                </a:lnTo>
                <a:lnTo>
                  <a:pt x="167639" y="326135"/>
                </a:lnTo>
                <a:lnTo>
                  <a:pt x="188975" y="329183"/>
                </a:lnTo>
                <a:lnTo>
                  <a:pt x="231647" y="329183"/>
                </a:lnTo>
                <a:lnTo>
                  <a:pt x="252983" y="326135"/>
                </a:lnTo>
                <a:lnTo>
                  <a:pt x="271271" y="323087"/>
                </a:lnTo>
                <a:lnTo>
                  <a:pt x="289559" y="316991"/>
                </a:lnTo>
                <a:lnTo>
                  <a:pt x="188975" y="316991"/>
                </a:lnTo>
                <a:lnTo>
                  <a:pt x="170687" y="313943"/>
                </a:lnTo>
                <a:lnTo>
                  <a:pt x="131063" y="304799"/>
                </a:lnTo>
                <a:lnTo>
                  <a:pt x="70103" y="271271"/>
                </a:lnTo>
                <a:lnTo>
                  <a:pt x="36575" y="237743"/>
                </a:lnTo>
                <a:lnTo>
                  <a:pt x="12191" y="164591"/>
                </a:lnTo>
                <a:lnTo>
                  <a:pt x="21335" y="118871"/>
                </a:lnTo>
                <a:lnTo>
                  <a:pt x="45719" y="82295"/>
                </a:lnTo>
                <a:lnTo>
                  <a:pt x="100583" y="39623"/>
                </a:lnTo>
                <a:lnTo>
                  <a:pt x="115823" y="33527"/>
                </a:lnTo>
                <a:lnTo>
                  <a:pt x="134112" y="24383"/>
                </a:lnTo>
                <a:lnTo>
                  <a:pt x="188975" y="15239"/>
                </a:lnTo>
                <a:lnTo>
                  <a:pt x="210312" y="12191"/>
                </a:lnTo>
                <a:lnTo>
                  <a:pt x="289559" y="12191"/>
                </a:lnTo>
                <a:lnTo>
                  <a:pt x="271271" y="9143"/>
                </a:lnTo>
                <a:lnTo>
                  <a:pt x="249935" y="3047"/>
                </a:lnTo>
                <a:close/>
              </a:path>
              <a:path w="417830" h="329564">
                <a:moveTo>
                  <a:pt x="289559" y="12191"/>
                </a:moveTo>
                <a:lnTo>
                  <a:pt x="210312" y="12191"/>
                </a:lnTo>
                <a:lnTo>
                  <a:pt x="231647" y="15239"/>
                </a:lnTo>
                <a:lnTo>
                  <a:pt x="286512" y="24383"/>
                </a:lnTo>
                <a:lnTo>
                  <a:pt x="304800" y="33527"/>
                </a:lnTo>
                <a:lnTo>
                  <a:pt x="320039" y="39623"/>
                </a:lnTo>
                <a:lnTo>
                  <a:pt x="350519" y="57912"/>
                </a:lnTo>
                <a:lnTo>
                  <a:pt x="362712" y="70103"/>
                </a:lnTo>
                <a:lnTo>
                  <a:pt x="371856" y="82295"/>
                </a:lnTo>
                <a:lnTo>
                  <a:pt x="384047" y="94487"/>
                </a:lnTo>
                <a:lnTo>
                  <a:pt x="390144" y="106679"/>
                </a:lnTo>
                <a:lnTo>
                  <a:pt x="396239" y="121919"/>
                </a:lnTo>
                <a:lnTo>
                  <a:pt x="402335" y="134112"/>
                </a:lnTo>
                <a:lnTo>
                  <a:pt x="405383" y="149351"/>
                </a:lnTo>
                <a:lnTo>
                  <a:pt x="405383" y="179831"/>
                </a:lnTo>
                <a:lnTo>
                  <a:pt x="402335" y="195071"/>
                </a:lnTo>
                <a:lnTo>
                  <a:pt x="390144" y="225551"/>
                </a:lnTo>
                <a:lnTo>
                  <a:pt x="362712" y="262127"/>
                </a:lnTo>
                <a:lnTo>
                  <a:pt x="347471" y="271271"/>
                </a:lnTo>
                <a:lnTo>
                  <a:pt x="335279" y="283463"/>
                </a:lnTo>
                <a:lnTo>
                  <a:pt x="320039" y="289559"/>
                </a:lnTo>
                <a:lnTo>
                  <a:pt x="304800" y="298703"/>
                </a:lnTo>
                <a:lnTo>
                  <a:pt x="268223" y="310895"/>
                </a:lnTo>
                <a:lnTo>
                  <a:pt x="249935" y="313943"/>
                </a:lnTo>
                <a:lnTo>
                  <a:pt x="228600" y="316991"/>
                </a:lnTo>
                <a:lnTo>
                  <a:pt x="289559" y="316991"/>
                </a:lnTo>
                <a:lnTo>
                  <a:pt x="307847" y="310895"/>
                </a:lnTo>
                <a:lnTo>
                  <a:pt x="326135" y="301751"/>
                </a:lnTo>
                <a:lnTo>
                  <a:pt x="341375" y="292607"/>
                </a:lnTo>
                <a:lnTo>
                  <a:pt x="356615" y="280415"/>
                </a:lnTo>
                <a:lnTo>
                  <a:pt x="371856" y="271271"/>
                </a:lnTo>
                <a:lnTo>
                  <a:pt x="381000" y="259079"/>
                </a:lnTo>
                <a:lnTo>
                  <a:pt x="393191" y="243839"/>
                </a:lnTo>
                <a:lnTo>
                  <a:pt x="402335" y="228600"/>
                </a:lnTo>
                <a:lnTo>
                  <a:pt x="414527" y="198119"/>
                </a:lnTo>
                <a:lnTo>
                  <a:pt x="417575" y="182879"/>
                </a:lnTo>
                <a:lnTo>
                  <a:pt x="417575" y="149351"/>
                </a:lnTo>
                <a:lnTo>
                  <a:pt x="402335" y="100583"/>
                </a:lnTo>
                <a:lnTo>
                  <a:pt x="356615" y="48767"/>
                </a:lnTo>
                <a:lnTo>
                  <a:pt x="307847" y="21335"/>
                </a:lnTo>
                <a:lnTo>
                  <a:pt x="289559" y="12191"/>
                </a:lnTo>
                <a:close/>
              </a:path>
              <a:path w="417830" h="329564">
                <a:moveTo>
                  <a:pt x="210312" y="0"/>
                </a:moveTo>
                <a:lnTo>
                  <a:pt x="188975" y="3047"/>
                </a:lnTo>
                <a:lnTo>
                  <a:pt x="231647" y="3047"/>
                </a:lnTo>
                <a:lnTo>
                  <a:pt x="21031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119372" y="4205224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525520" y="3694176"/>
            <a:ext cx="615950" cy="554990"/>
          </a:xfrm>
          <a:custGeom>
            <a:avLst/>
            <a:gdLst/>
            <a:ahLst/>
            <a:cxnLst/>
            <a:rect l="l" t="t" r="r" b="b"/>
            <a:pathLst>
              <a:path w="615950" h="554989">
                <a:moveTo>
                  <a:pt x="18287" y="0"/>
                </a:moveTo>
                <a:lnTo>
                  <a:pt x="0" y="21336"/>
                </a:lnTo>
                <a:lnTo>
                  <a:pt x="594360" y="554736"/>
                </a:lnTo>
                <a:lnTo>
                  <a:pt x="615696" y="533400"/>
                </a:lnTo>
                <a:lnTo>
                  <a:pt x="1828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769616" y="4218433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30" h="329564">
                <a:moveTo>
                  <a:pt x="249936" y="3047"/>
                </a:moveTo>
                <a:lnTo>
                  <a:pt x="164592" y="3047"/>
                </a:lnTo>
                <a:lnTo>
                  <a:pt x="91440" y="27431"/>
                </a:lnTo>
                <a:lnTo>
                  <a:pt x="76200" y="39623"/>
                </a:lnTo>
                <a:lnTo>
                  <a:pt x="60959" y="48767"/>
                </a:lnTo>
                <a:lnTo>
                  <a:pt x="45720" y="60959"/>
                </a:lnTo>
                <a:lnTo>
                  <a:pt x="33528" y="73151"/>
                </a:lnTo>
                <a:lnTo>
                  <a:pt x="24384" y="88391"/>
                </a:lnTo>
                <a:lnTo>
                  <a:pt x="15240" y="100583"/>
                </a:lnTo>
                <a:lnTo>
                  <a:pt x="3046" y="131063"/>
                </a:lnTo>
                <a:lnTo>
                  <a:pt x="0" y="149351"/>
                </a:lnTo>
                <a:lnTo>
                  <a:pt x="0" y="182879"/>
                </a:lnTo>
                <a:lnTo>
                  <a:pt x="15240" y="231647"/>
                </a:lnTo>
                <a:lnTo>
                  <a:pt x="60959" y="283463"/>
                </a:lnTo>
                <a:lnTo>
                  <a:pt x="109728" y="310895"/>
                </a:lnTo>
                <a:lnTo>
                  <a:pt x="146303" y="323087"/>
                </a:lnTo>
                <a:lnTo>
                  <a:pt x="167640" y="326135"/>
                </a:lnTo>
                <a:lnTo>
                  <a:pt x="185928" y="329183"/>
                </a:lnTo>
                <a:lnTo>
                  <a:pt x="228600" y="329183"/>
                </a:lnTo>
                <a:lnTo>
                  <a:pt x="249936" y="326135"/>
                </a:lnTo>
                <a:lnTo>
                  <a:pt x="268224" y="323087"/>
                </a:lnTo>
                <a:lnTo>
                  <a:pt x="289559" y="316991"/>
                </a:lnTo>
                <a:lnTo>
                  <a:pt x="185928" y="316991"/>
                </a:lnTo>
                <a:lnTo>
                  <a:pt x="149352" y="310895"/>
                </a:lnTo>
                <a:lnTo>
                  <a:pt x="112774" y="298703"/>
                </a:lnTo>
                <a:lnTo>
                  <a:pt x="67056" y="271271"/>
                </a:lnTo>
                <a:lnTo>
                  <a:pt x="54864" y="262127"/>
                </a:lnTo>
                <a:lnTo>
                  <a:pt x="45720" y="249935"/>
                </a:lnTo>
                <a:lnTo>
                  <a:pt x="33528" y="237743"/>
                </a:lnTo>
                <a:lnTo>
                  <a:pt x="27431" y="222503"/>
                </a:lnTo>
                <a:lnTo>
                  <a:pt x="21336" y="210312"/>
                </a:lnTo>
                <a:lnTo>
                  <a:pt x="15240" y="195071"/>
                </a:lnTo>
                <a:lnTo>
                  <a:pt x="12192" y="179831"/>
                </a:lnTo>
                <a:lnTo>
                  <a:pt x="12192" y="149351"/>
                </a:lnTo>
                <a:lnTo>
                  <a:pt x="15240" y="134112"/>
                </a:lnTo>
                <a:lnTo>
                  <a:pt x="21336" y="118871"/>
                </a:lnTo>
                <a:lnTo>
                  <a:pt x="33528" y="94487"/>
                </a:lnTo>
                <a:lnTo>
                  <a:pt x="45720" y="82295"/>
                </a:lnTo>
                <a:lnTo>
                  <a:pt x="54864" y="70103"/>
                </a:lnTo>
                <a:lnTo>
                  <a:pt x="70103" y="57912"/>
                </a:lnTo>
                <a:lnTo>
                  <a:pt x="82296" y="48767"/>
                </a:lnTo>
                <a:lnTo>
                  <a:pt x="97536" y="39623"/>
                </a:lnTo>
                <a:lnTo>
                  <a:pt x="112774" y="33527"/>
                </a:lnTo>
                <a:lnTo>
                  <a:pt x="131064" y="24383"/>
                </a:lnTo>
                <a:lnTo>
                  <a:pt x="167640" y="18287"/>
                </a:lnTo>
                <a:lnTo>
                  <a:pt x="188974" y="15239"/>
                </a:lnTo>
                <a:lnTo>
                  <a:pt x="207264" y="12191"/>
                </a:lnTo>
                <a:lnTo>
                  <a:pt x="289559" y="12191"/>
                </a:lnTo>
                <a:lnTo>
                  <a:pt x="268224" y="9143"/>
                </a:lnTo>
                <a:lnTo>
                  <a:pt x="249936" y="3047"/>
                </a:lnTo>
                <a:close/>
              </a:path>
              <a:path w="417830" h="329564">
                <a:moveTo>
                  <a:pt x="289559" y="12191"/>
                </a:moveTo>
                <a:lnTo>
                  <a:pt x="207264" y="12191"/>
                </a:lnTo>
                <a:lnTo>
                  <a:pt x="228600" y="15239"/>
                </a:lnTo>
                <a:lnTo>
                  <a:pt x="283464" y="24383"/>
                </a:lnTo>
                <a:lnTo>
                  <a:pt x="301752" y="33527"/>
                </a:lnTo>
                <a:lnTo>
                  <a:pt x="316992" y="39623"/>
                </a:lnTo>
                <a:lnTo>
                  <a:pt x="347472" y="57912"/>
                </a:lnTo>
                <a:lnTo>
                  <a:pt x="390144" y="106679"/>
                </a:lnTo>
                <a:lnTo>
                  <a:pt x="402336" y="149351"/>
                </a:lnTo>
                <a:lnTo>
                  <a:pt x="402336" y="179831"/>
                </a:lnTo>
                <a:lnTo>
                  <a:pt x="396240" y="210312"/>
                </a:lnTo>
                <a:lnTo>
                  <a:pt x="387096" y="225551"/>
                </a:lnTo>
                <a:lnTo>
                  <a:pt x="381000" y="237743"/>
                </a:lnTo>
                <a:lnTo>
                  <a:pt x="371856" y="249935"/>
                </a:lnTo>
                <a:lnTo>
                  <a:pt x="359664" y="262127"/>
                </a:lnTo>
                <a:lnTo>
                  <a:pt x="347472" y="271271"/>
                </a:lnTo>
                <a:lnTo>
                  <a:pt x="332231" y="283463"/>
                </a:lnTo>
                <a:lnTo>
                  <a:pt x="316992" y="289559"/>
                </a:lnTo>
                <a:lnTo>
                  <a:pt x="301752" y="298703"/>
                </a:lnTo>
                <a:lnTo>
                  <a:pt x="265174" y="310895"/>
                </a:lnTo>
                <a:lnTo>
                  <a:pt x="228600" y="316991"/>
                </a:lnTo>
                <a:lnTo>
                  <a:pt x="289559" y="316991"/>
                </a:lnTo>
                <a:lnTo>
                  <a:pt x="307846" y="310895"/>
                </a:lnTo>
                <a:lnTo>
                  <a:pt x="323088" y="301751"/>
                </a:lnTo>
                <a:lnTo>
                  <a:pt x="341374" y="292607"/>
                </a:lnTo>
                <a:lnTo>
                  <a:pt x="353568" y="280415"/>
                </a:lnTo>
                <a:lnTo>
                  <a:pt x="368808" y="271271"/>
                </a:lnTo>
                <a:lnTo>
                  <a:pt x="381000" y="259079"/>
                </a:lnTo>
                <a:lnTo>
                  <a:pt x="399288" y="228600"/>
                </a:lnTo>
                <a:lnTo>
                  <a:pt x="411480" y="198119"/>
                </a:lnTo>
                <a:lnTo>
                  <a:pt x="414528" y="182879"/>
                </a:lnTo>
                <a:lnTo>
                  <a:pt x="417575" y="164591"/>
                </a:lnTo>
                <a:lnTo>
                  <a:pt x="414528" y="149351"/>
                </a:lnTo>
                <a:lnTo>
                  <a:pt x="411480" y="131063"/>
                </a:lnTo>
                <a:lnTo>
                  <a:pt x="390144" y="85343"/>
                </a:lnTo>
                <a:lnTo>
                  <a:pt x="338328" y="36575"/>
                </a:lnTo>
                <a:lnTo>
                  <a:pt x="307846" y="21335"/>
                </a:lnTo>
                <a:lnTo>
                  <a:pt x="289559" y="12191"/>
                </a:lnTo>
                <a:close/>
              </a:path>
              <a:path w="417830" h="329564">
                <a:moveTo>
                  <a:pt x="207264" y="0"/>
                </a:moveTo>
                <a:lnTo>
                  <a:pt x="185928" y="3047"/>
                </a:lnTo>
                <a:lnTo>
                  <a:pt x="228600" y="3047"/>
                </a:lnTo>
                <a:lnTo>
                  <a:pt x="20726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875788" y="4193033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967736" y="3739896"/>
            <a:ext cx="387350" cy="494030"/>
          </a:xfrm>
          <a:custGeom>
            <a:avLst/>
            <a:gdLst/>
            <a:ahLst/>
            <a:cxnLst/>
            <a:rect l="l" t="t" r="r" b="b"/>
            <a:pathLst>
              <a:path w="387350" h="494029">
                <a:moveTo>
                  <a:pt x="365759" y="0"/>
                </a:moveTo>
                <a:lnTo>
                  <a:pt x="0" y="478536"/>
                </a:lnTo>
                <a:lnTo>
                  <a:pt x="21335" y="493775"/>
                </a:lnTo>
                <a:lnTo>
                  <a:pt x="387095" y="18287"/>
                </a:lnTo>
                <a:lnTo>
                  <a:pt x="365759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338311" y="3593592"/>
            <a:ext cx="2468880" cy="316753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>
              <a:spcBef>
                <a:spcPts val="310"/>
              </a:spcBef>
            </a:pPr>
            <a:r>
              <a:rPr spc="-5">
                <a:latin typeface="Verdana"/>
                <a:cs typeface="Verdana"/>
              </a:rPr>
              <a:t>Queue =</a:t>
            </a:r>
            <a:r>
              <a:rPr spc="-60">
                <a:latin typeface="Verdana"/>
                <a:cs typeface="Verdana"/>
              </a:rPr>
              <a:t> </a:t>
            </a:r>
            <a:r>
              <a:rPr spc="-10">
                <a:latin typeface="Verdana"/>
                <a:cs typeface="Verdana"/>
              </a:rPr>
              <a:t>{C,E,D,D}</a:t>
            </a:r>
            <a:endParaRPr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940" y="880872"/>
            <a:ext cx="283400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DFS Search</a:t>
            </a:r>
            <a:r>
              <a:rPr sz="2400" b="1" spc="-7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69616" y="2054351"/>
            <a:ext cx="4590288" cy="3273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42019" y="2538985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90531" y="2548129"/>
            <a:ext cx="1651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791444" y="2538985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F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5932" y="3415792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77156" y="34157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19372" y="4205224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68852" y="498551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94860" y="4985512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75788" y="4193033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38312" y="3593592"/>
            <a:ext cx="2472055" cy="316753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>
              <a:spcBef>
                <a:spcPts val="310"/>
              </a:spcBef>
            </a:pPr>
            <a:r>
              <a:rPr spc="-5">
                <a:latin typeface="Verdana"/>
                <a:cs typeface="Verdana"/>
              </a:rPr>
              <a:t>Queue =</a:t>
            </a:r>
            <a:r>
              <a:rPr spc="-35">
                <a:latin typeface="Verdana"/>
                <a:cs typeface="Verdana"/>
              </a:rPr>
              <a:t> </a:t>
            </a:r>
            <a:r>
              <a:rPr spc="-45">
                <a:latin typeface="Verdana"/>
                <a:cs typeface="Verdana"/>
              </a:rPr>
              <a:t>{D,F,D,D}</a:t>
            </a:r>
            <a:endParaRPr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940" y="880872"/>
            <a:ext cx="283400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DFS Search</a:t>
            </a:r>
            <a:r>
              <a:rPr sz="2400" b="1" spc="-7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69616" y="2054351"/>
            <a:ext cx="4590288" cy="4026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42019" y="2538985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90531" y="2548129"/>
            <a:ext cx="1651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791444" y="2538985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>
                <a:latin typeface="Times New Roman"/>
                <a:cs typeface="Times New Roman"/>
              </a:rPr>
              <a:t>F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5932" y="3415792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77156" y="34157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19372" y="4205224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68852" y="498551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94860" y="4985512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75788" y="4193033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13021" y="5726177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38312" y="3593592"/>
            <a:ext cx="2258695" cy="316753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>
              <a:spcBef>
                <a:spcPts val="310"/>
              </a:spcBef>
            </a:pPr>
            <a:r>
              <a:rPr spc="-5">
                <a:latin typeface="Verdana"/>
                <a:cs typeface="Verdana"/>
              </a:rPr>
              <a:t>Queue =</a:t>
            </a:r>
            <a:r>
              <a:rPr spc="-55">
                <a:latin typeface="Verdana"/>
                <a:cs typeface="Verdana"/>
              </a:rPr>
              <a:t> </a:t>
            </a:r>
            <a:r>
              <a:rPr spc="-10">
                <a:latin typeface="Verdana"/>
                <a:cs typeface="Verdana"/>
              </a:rPr>
              <a:t>{G,D,D}</a:t>
            </a:r>
            <a:endParaRPr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4538" y="132963"/>
            <a:ext cx="9768523" cy="787558"/>
          </a:xfrm>
        </p:spPr>
        <p:txBody>
          <a:bodyPr>
            <a:normAutofit/>
          </a:bodyPr>
          <a:lstStyle/>
          <a:p>
            <a:pPr algn="ctr"/>
            <a:r>
              <a:rPr lang="en-US"/>
              <a:t>8-Puzzle Problem using DFS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298700" y="1790700"/>
            <a:ext cx="9052560" cy="53644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01752" indent="-301752" defTabSz="1005840">
              <a:lnSpc>
                <a:spcPct val="80000"/>
              </a:lnSpc>
              <a:spcBef>
                <a:spcPts val="638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3080"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047241" y="1623062"/>
            <a:ext cx="9768523" cy="5230019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01752" indent="-301752" defTabSz="1005840">
              <a:spcBef>
                <a:spcPts val="638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60">
              <a:ea typeface="ＭＳ Ｐゴシック" pitchFamily="31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900" y="919319"/>
            <a:ext cx="8381999" cy="657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269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47"/>
          <p:cNvSpPr>
            <a:spLocks/>
          </p:cNvSpPr>
          <p:nvPr/>
        </p:nvSpPr>
        <p:spPr bwMode="auto">
          <a:xfrm>
            <a:off x="8328340" y="2270546"/>
            <a:ext cx="2160800" cy="2894860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0000"/>
              <a:gd name="connsiteY0" fmla="*/ 10000 h 10000"/>
              <a:gd name="connsiteX1" fmla="*/ 10000 w 10000"/>
              <a:gd name="connsiteY1" fmla="*/ 9975 h 10000"/>
              <a:gd name="connsiteX2" fmla="*/ 9018 w 10000"/>
              <a:gd name="connsiteY2" fmla="*/ 4388 h 10000"/>
              <a:gd name="connsiteX3" fmla="*/ 7619 w 10000"/>
              <a:gd name="connsiteY3" fmla="*/ 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0000" y="9975"/>
                </a:lnTo>
                <a:cubicBezTo>
                  <a:pt x="9806" y="8135"/>
                  <a:pt x="9212" y="6228"/>
                  <a:pt x="9018" y="4388"/>
                </a:cubicBezTo>
                <a:lnTo>
                  <a:pt x="7619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720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438642" y="191171"/>
            <a:ext cx="8078498" cy="492443"/>
          </a:xfrm>
        </p:spPr>
        <p:txBody>
          <a:bodyPr/>
          <a:lstStyle/>
          <a:p>
            <a:pPr eaLnBrk="1" hangingPunct="1"/>
            <a:r>
              <a:rPr lang="en-US" sz="3200"/>
              <a:t>Depth-First Search (DFS) Properties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6553466" y="1986282"/>
            <a:ext cx="6918695" cy="3288823"/>
            <a:chOff x="1091407" y="2012950"/>
            <a:chExt cx="6104731" cy="2901902"/>
          </a:xfrm>
        </p:grpSpPr>
        <p:sp>
          <p:nvSpPr>
            <p:cNvPr id="23585" name="Freeform 30"/>
            <p:cNvSpPr>
              <a:spLocks/>
            </p:cNvSpPr>
            <p:nvPr/>
          </p:nvSpPr>
          <p:spPr bwMode="auto">
            <a:xfrm>
              <a:off x="2655888" y="2262188"/>
              <a:ext cx="2927350" cy="2554287"/>
            </a:xfrm>
            <a:custGeom>
              <a:avLst/>
              <a:gdLst>
                <a:gd name="T0" fmla="*/ 0 w 1844"/>
                <a:gd name="T1" fmla="*/ 2147483647 h 1609"/>
                <a:gd name="T2" fmla="*/ 2147483647 w 1844"/>
                <a:gd name="T3" fmla="*/ 2147483647 h 1609"/>
                <a:gd name="T4" fmla="*/ 2147483647 w 1844"/>
                <a:gd name="T5" fmla="*/ 0 h 1609"/>
                <a:gd name="T6" fmla="*/ 0 w 1844"/>
                <a:gd name="T7" fmla="*/ 2147483647 h 16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4"/>
                <a:gd name="T13" fmla="*/ 0 h 1609"/>
                <a:gd name="T14" fmla="*/ 1844 w 1844"/>
                <a:gd name="T15" fmla="*/ 1609 h 16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4" h="1609">
                  <a:moveTo>
                    <a:pt x="0" y="1609"/>
                  </a:moveTo>
                  <a:lnTo>
                    <a:pt x="1844" y="1609"/>
                  </a:lnTo>
                  <a:lnTo>
                    <a:pt x="915" y="0"/>
                  </a:lnTo>
                  <a:lnTo>
                    <a:pt x="0" y="160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720"/>
            </a:p>
          </p:txBody>
        </p:sp>
        <p:sp>
          <p:nvSpPr>
            <p:cNvPr id="23586" name="Oval 31"/>
            <p:cNvSpPr>
              <a:spLocks noChangeArrowheads="1"/>
            </p:cNvSpPr>
            <p:nvPr/>
          </p:nvSpPr>
          <p:spPr bwMode="auto">
            <a:xfrm>
              <a:off x="4010025" y="2192338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720"/>
            </a:p>
          </p:txBody>
        </p:sp>
        <p:sp>
          <p:nvSpPr>
            <p:cNvPr id="23587" name="Oval 32"/>
            <p:cNvSpPr>
              <a:spLocks noChangeArrowheads="1"/>
            </p:cNvSpPr>
            <p:nvPr/>
          </p:nvSpPr>
          <p:spPr bwMode="auto">
            <a:xfrm>
              <a:off x="3778250" y="2617788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720"/>
            </a:p>
          </p:txBody>
        </p:sp>
        <p:sp>
          <p:nvSpPr>
            <p:cNvPr id="23588" name="Oval 33"/>
            <p:cNvSpPr>
              <a:spLocks noChangeArrowheads="1"/>
            </p:cNvSpPr>
            <p:nvPr/>
          </p:nvSpPr>
          <p:spPr bwMode="auto">
            <a:xfrm>
              <a:off x="4254500" y="2608263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720"/>
            </a:p>
          </p:txBody>
        </p:sp>
        <p:sp>
          <p:nvSpPr>
            <p:cNvPr id="23589" name="Text Box 34"/>
            <p:cNvSpPr txBox="1">
              <a:spLocks noChangeArrowheads="1"/>
            </p:cNvSpPr>
            <p:nvPr/>
          </p:nvSpPr>
          <p:spPr bwMode="auto">
            <a:xfrm>
              <a:off x="3908425" y="2468563"/>
              <a:ext cx="274639" cy="4508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720"/>
                <a:t>…</a:t>
              </a:r>
            </a:p>
          </p:txBody>
        </p:sp>
        <p:sp>
          <p:nvSpPr>
            <p:cNvPr id="23590" name="Freeform 35"/>
            <p:cNvSpPr>
              <a:spLocks/>
            </p:cNvSpPr>
            <p:nvPr/>
          </p:nvSpPr>
          <p:spPr bwMode="auto">
            <a:xfrm>
              <a:off x="3890963" y="2422525"/>
              <a:ext cx="444500" cy="88900"/>
            </a:xfrm>
            <a:custGeom>
              <a:avLst/>
              <a:gdLst>
                <a:gd name="T0" fmla="*/ 0 w 280"/>
                <a:gd name="T1" fmla="*/ 2147483647 h 56"/>
                <a:gd name="T2" fmla="*/ 2147483647 w 280"/>
                <a:gd name="T3" fmla="*/ 2147483647 h 56"/>
                <a:gd name="T4" fmla="*/ 2147483647 w 280"/>
                <a:gd name="T5" fmla="*/ 0 h 56"/>
                <a:gd name="T6" fmla="*/ 0 60000 65536"/>
                <a:gd name="T7" fmla="*/ 0 60000 65536"/>
                <a:gd name="T8" fmla="*/ 0 60000 65536"/>
                <a:gd name="T9" fmla="*/ 0 w 280"/>
                <a:gd name="T10" fmla="*/ 0 h 56"/>
                <a:gd name="T11" fmla="*/ 280 w 280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0" h="56">
                  <a:moveTo>
                    <a:pt x="0" y="11"/>
                  </a:moveTo>
                  <a:cubicBezTo>
                    <a:pt x="52" y="33"/>
                    <a:pt x="104" y="56"/>
                    <a:pt x="151" y="54"/>
                  </a:cubicBezTo>
                  <a:cubicBezTo>
                    <a:pt x="198" y="52"/>
                    <a:pt x="239" y="26"/>
                    <a:pt x="28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 sz="2720"/>
            </a:p>
          </p:txBody>
        </p:sp>
        <p:sp>
          <p:nvSpPr>
            <p:cNvPr id="23591" name="Text Box 36"/>
            <p:cNvSpPr txBox="1">
              <a:spLocks noChangeArrowheads="1"/>
            </p:cNvSpPr>
            <p:nvPr/>
          </p:nvSpPr>
          <p:spPr bwMode="auto">
            <a:xfrm>
              <a:off x="4292599" y="2220913"/>
              <a:ext cx="298451" cy="4508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720"/>
                <a:t>b</a:t>
              </a:r>
            </a:p>
          </p:txBody>
        </p:sp>
        <p:sp>
          <p:nvSpPr>
            <p:cNvPr id="23592" name="Text Box 37"/>
            <p:cNvSpPr txBox="1">
              <a:spLocks noChangeArrowheads="1"/>
            </p:cNvSpPr>
            <p:nvPr/>
          </p:nvSpPr>
          <p:spPr bwMode="auto">
            <a:xfrm>
              <a:off x="5719763" y="2073275"/>
              <a:ext cx="1119187" cy="4508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720"/>
                <a:t>1 node</a:t>
              </a:r>
            </a:p>
          </p:txBody>
        </p:sp>
        <p:sp>
          <p:nvSpPr>
            <p:cNvPr id="23593" name="Text Box 38"/>
            <p:cNvSpPr txBox="1">
              <a:spLocks noChangeArrowheads="1"/>
            </p:cNvSpPr>
            <p:nvPr/>
          </p:nvSpPr>
          <p:spPr bwMode="auto">
            <a:xfrm>
              <a:off x="5721349" y="2427287"/>
              <a:ext cx="1460499" cy="4508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720"/>
                <a:t>b nodes</a:t>
              </a:r>
            </a:p>
          </p:txBody>
        </p:sp>
        <p:sp>
          <p:nvSpPr>
            <p:cNvPr id="23594" name="Text Box 39"/>
            <p:cNvSpPr txBox="1">
              <a:spLocks noChangeArrowheads="1"/>
            </p:cNvSpPr>
            <p:nvPr/>
          </p:nvSpPr>
          <p:spPr bwMode="auto">
            <a:xfrm>
              <a:off x="5721349" y="2838450"/>
              <a:ext cx="1460499" cy="4508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720"/>
                <a:t>b</a:t>
              </a:r>
              <a:r>
                <a:rPr lang="en-US" sz="2720" baseline="30000"/>
                <a:t>2</a:t>
              </a:r>
              <a:r>
                <a:rPr lang="en-US" sz="2720"/>
                <a:t> nodes</a:t>
              </a:r>
            </a:p>
          </p:txBody>
        </p:sp>
        <p:sp>
          <p:nvSpPr>
            <p:cNvPr id="23595" name="Text Box 40"/>
            <p:cNvSpPr txBox="1">
              <a:spLocks noChangeArrowheads="1"/>
            </p:cNvSpPr>
            <p:nvPr/>
          </p:nvSpPr>
          <p:spPr bwMode="auto">
            <a:xfrm>
              <a:off x="5735638" y="4464050"/>
              <a:ext cx="1460500" cy="4508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720"/>
                <a:t>b</a:t>
              </a:r>
              <a:r>
                <a:rPr lang="en-US" sz="2720" baseline="30000"/>
                <a:t>m</a:t>
              </a:r>
              <a:r>
                <a:rPr lang="en-US" sz="2720"/>
                <a:t> nodes</a:t>
              </a:r>
            </a:p>
          </p:txBody>
        </p:sp>
        <p:sp>
          <p:nvSpPr>
            <p:cNvPr id="23596" name="Oval 41"/>
            <p:cNvSpPr>
              <a:spLocks noChangeArrowheads="1"/>
            </p:cNvSpPr>
            <p:nvPr/>
          </p:nvSpPr>
          <p:spPr bwMode="auto">
            <a:xfrm>
              <a:off x="4502151" y="4733925"/>
              <a:ext cx="179387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720"/>
            </a:p>
          </p:txBody>
        </p:sp>
        <p:sp>
          <p:nvSpPr>
            <p:cNvPr id="23600" name="AutoShape 45"/>
            <p:cNvSpPr>
              <a:spLocks/>
            </p:cNvSpPr>
            <p:nvPr/>
          </p:nvSpPr>
          <p:spPr bwMode="auto">
            <a:xfrm>
              <a:off x="2224088" y="2012950"/>
              <a:ext cx="265112" cy="2811463"/>
            </a:xfrm>
            <a:prstGeom prst="leftBrace">
              <a:avLst>
                <a:gd name="adj1" fmla="val 8837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720"/>
            </a:p>
          </p:txBody>
        </p:sp>
        <p:sp>
          <p:nvSpPr>
            <p:cNvPr id="23601" name="Text Box 46"/>
            <p:cNvSpPr txBox="1">
              <a:spLocks noChangeArrowheads="1"/>
            </p:cNvSpPr>
            <p:nvPr/>
          </p:nvSpPr>
          <p:spPr bwMode="auto">
            <a:xfrm>
              <a:off x="1091407" y="3162823"/>
              <a:ext cx="1265237" cy="4508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720"/>
                <a:t>m tiers</a:t>
              </a:r>
            </a:p>
          </p:txBody>
        </p:sp>
      </p:grpSp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286070" y="1219200"/>
            <a:ext cx="6354655" cy="5462521"/>
          </a:xfrm>
        </p:spPr>
        <p:txBody>
          <a:bodyPr/>
          <a:lstStyle/>
          <a:p>
            <a:r>
              <a:rPr lang="en-US" sz="2720"/>
              <a:t>What nodes does DFS expand?</a:t>
            </a:r>
          </a:p>
          <a:p>
            <a:pPr lvl="1"/>
            <a:r>
              <a:rPr lang="en-US" sz="2267"/>
              <a:t>Some left prefix of the tree.</a:t>
            </a:r>
          </a:p>
          <a:p>
            <a:pPr lvl="1"/>
            <a:r>
              <a:rPr lang="en-US" sz="2267"/>
              <a:t>Could process the whole tree!</a:t>
            </a:r>
          </a:p>
          <a:p>
            <a:pPr lvl="1"/>
            <a:r>
              <a:rPr lang="en-US" sz="2267"/>
              <a:t>If m is finite, takes time O(</a:t>
            </a:r>
            <a:r>
              <a:rPr lang="en-US" sz="2267" err="1"/>
              <a:t>b</a:t>
            </a:r>
            <a:r>
              <a:rPr lang="en-US" sz="2267" baseline="30000" err="1"/>
              <a:t>m</a:t>
            </a:r>
            <a:r>
              <a:rPr lang="en-US" sz="2267"/>
              <a:t>)</a:t>
            </a:r>
          </a:p>
          <a:p>
            <a:pPr lvl="3"/>
            <a:endParaRPr lang="en-US" sz="1360"/>
          </a:p>
          <a:p>
            <a:r>
              <a:rPr lang="en-US" sz="2720"/>
              <a:t>Space Complexity</a:t>
            </a:r>
          </a:p>
          <a:p>
            <a:pPr lvl="1"/>
            <a:r>
              <a:rPr lang="en-US" sz="2400"/>
              <a:t>Keep Track of current path O(bm)</a:t>
            </a:r>
          </a:p>
          <a:p>
            <a:pPr lvl="1"/>
            <a:endParaRPr lang="en-US" sz="1360"/>
          </a:p>
          <a:p>
            <a:r>
              <a:rPr lang="en-US" sz="2720"/>
              <a:t>Is it complete?</a:t>
            </a:r>
          </a:p>
          <a:p>
            <a:pPr lvl="1"/>
            <a:r>
              <a:rPr lang="en-US" sz="2267"/>
              <a:t>Search Tree can be infinite in depth, So DFS can get stuck going deeper forever.</a:t>
            </a:r>
          </a:p>
          <a:p>
            <a:pPr lvl="3"/>
            <a:endParaRPr lang="en-US" sz="1360"/>
          </a:p>
          <a:p>
            <a:r>
              <a:rPr lang="en-US" sz="2720"/>
              <a:t>Is it optimal?</a:t>
            </a:r>
          </a:p>
          <a:p>
            <a:pPr lvl="1"/>
            <a:r>
              <a:rPr lang="en-US" sz="2267"/>
              <a:t>No, it finds the “leftmost” solution, regardless of depth or cost ( May Be Wrong path)</a:t>
            </a:r>
          </a:p>
          <a:p>
            <a:pPr lvl="1"/>
            <a:endParaRPr lang="en-US" sz="2267"/>
          </a:p>
        </p:txBody>
      </p:sp>
      <p:sp>
        <p:nvSpPr>
          <p:cNvPr id="31" name="Freeform 47"/>
          <p:cNvSpPr>
            <a:spLocks/>
          </p:cNvSpPr>
          <p:nvPr/>
        </p:nvSpPr>
        <p:spPr bwMode="auto">
          <a:xfrm>
            <a:off x="8375122" y="2331626"/>
            <a:ext cx="1556251" cy="2808594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1997"/>
              <a:gd name="connsiteY0" fmla="*/ 9702 h 9702"/>
              <a:gd name="connsiteX1" fmla="*/ 10000 w 11997"/>
              <a:gd name="connsiteY1" fmla="*/ 9677 h 9702"/>
              <a:gd name="connsiteX2" fmla="*/ 9417 w 11997"/>
              <a:gd name="connsiteY2" fmla="*/ 4158 h 9702"/>
              <a:gd name="connsiteX3" fmla="*/ 11997 w 11997"/>
              <a:gd name="connsiteY3" fmla="*/ 0 h 9702"/>
              <a:gd name="connsiteX4" fmla="*/ 0 w 11997"/>
              <a:gd name="connsiteY4" fmla="*/ 9702 h 9702"/>
              <a:gd name="connsiteX0" fmla="*/ 0 w 10000"/>
              <a:gd name="connsiteY0" fmla="*/ 10000 h 10000"/>
              <a:gd name="connsiteX1" fmla="*/ 8335 w 10000"/>
              <a:gd name="connsiteY1" fmla="*/ 9974 h 10000"/>
              <a:gd name="connsiteX2" fmla="*/ 8890 w 10000"/>
              <a:gd name="connsiteY2" fmla="*/ 4305 h 10000"/>
              <a:gd name="connsiteX3" fmla="*/ 10000 w 10000"/>
              <a:gd name="connsiteY3" fmla="*/ 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8335" y="9974"/>
                </a:lnTo>
                <a:cubicBezTo>
                  <a:pt x="8174" y="8078"/>
                  <a:pt x="9052" y="6201"/>
                  <a:pt x="8890" y="4305"/>
                </a:cubicBezTo>
                <a:lnTo>
                  <a:pt x="10000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720"/>
          </a:p>
        </p:txBody>
      </p:sp>
      <p:sp>
        <p:nvSpPr>
          <p:cNvPr id="32" name="Freeform 47"/>
          <p:cNvSpPr>
            <a:spLocks/>
          </p:cNvSpPr>
          <p:nvPr/>
        </p:nvSpPr>
        <p:spPr bwMode="auto">
          <a:xfrm>
            <a:off x="8375153" y="2331731"/>
            <a:ext cx="1556270" cy="2849879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1997"/>
              <a:gd name="connsiteY0" fmla="*/ 9702 h 9702"/>
              <a:gd name="connsiteX1" fmla="*/ 10000 w 11997"/>
              <a:gd name="connsiteY1" fmla="*/ 9677 h 9702"/>
              <a:gd name="connsiteX2" fmla="*/ 9417 w 11997"/>
              <a:gd name="connsiteY2" fmla="*/ 4158 h 9702"/>
              <a:gd name="connsiteX3" fmla="*/ 11997 w 11997"/>
              <a:gd name="connsiteY3" fmla="*/ 0 h 9702"/>
              <a:gd name="connsiteX4" fmla="*/ 0 w 11997"/>
              <a:gd name="connsiteY4" fmla="*/ 9702 h 9702"/>
              <a:gd name="connsiteX0" fmla="*/ 0 w 10000"/>
              <a:gd name="connsiteY0" fmla="*/ 10000 h 10000"/>
              <a:gd name="connsiteX1" fmla="*/ 8335 w 10000"/>
              <a:gd name="connsiteY1" fmla="*/ 9974 h 10000"/>
              <a:gd name="connsiteX2" fmla="*/ 8890 w 10000"/>
              <a:gd name="connsiteY2" fmla="*/ 4305 h 10000"/>
              <a:gd name="connsiteX3" fmla="*/ 10000 w 10000"/>
              <a:gd name="connsiteY3" fmla="*/ 0 h 10000"/>
              <a:gd name="connsiteX4" fmla="*/ 0 w 10000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8890 w 16352"/>
              <a:gd name="connsiteY2" fmla="*/ 4305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10907 w 16352"/>
              <a:gd name="connsiteY2" fmla="*/ 4612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10907 w 16352"/>
              <a:gd name="connsiteY2" fmla="*/ 4612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147"/>
              <a:gd name="connsiteX1" fmla="*/ 6370 w 16352"/>
              <a:gd name="connsiteY1" fmla="*/ 10147 h 10147"/>
              <a:gd name="connsiteX2" fmla="*/ 10907 w 16352"/>
              <a:gd name="connsiteY2" fmla="*/ 4612 h 10147"/>
              <a:gd name="connsiteX3" fmla="*/ 16352 w 16352"/>
              <a:gd name="connsiteY3" fmla="*/ 0 h 10147"/>
              <a:gd name="connsiteX4" fmla="*/ 0 w 16352"/>
              <a:gd name="connsiteY4" fmla="*/ 10000 h 10147"/>
              <a:gd name="connsiteX0" fmla="*/ 0 w 16352"/>
              <a:gd name="connsiteY0" fmla="*/ 10000 h 10147"/>
              <a:gd name="connsiteX1" fmla="*/ 6370 w 16352"/>
              <a:gd name="connsiteY1" fmla="*/ 10147 h 10147"/>
              <a:gd name="connsiteX2" fmla="*/ 10907 w 16352"/>
              <a:gd name="connsiteY2" fmla="*/ 4612 h 10147"/>
              <a:gd name="connsiteX3" fmla="*/ 16352 w 16352"/>
              <a:gd name="connsiteY3" fmla="*/ 0 h 10147"/>
              <a:gd name="connsiteX4" fmla="*/ 0 w 16352"/>
              <a:gd name="connsiteY4" fmla="*/ 10000 h 1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2" h="10147">
                <a:moveTo>
                  <a:pt x="0" y="10000"/>
                </a:moveTo>
                <a:lnTo>
                  <a:pt x="6370" y="10147"/>
                </a:lnTo>
                <a:cubicBezTo>
                  <a:pt x="6209" y="8251"/>
                  <a:pt x="8940" y="7679"/>
                  <a:pt x="10907" y="4612"/>
                </a:cubicBezTo>
                <a:lnTo>
                  <a:pt x="16352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720"/>
          </a:p>
        </p:txBody>
      </p:sp>
      <p:sp>
        <p:nvSpPr>
          <p:cNvPr id="33" name="Oval 41"/>
          <p:cNvSpPr>
            <a:spLocks noChangeArrowheads="1"/>
          </p:cNvSpPr>
          <p:nvPr/>
        </p:nvSpPr>
        <p:spPr bwMode="auto">
          <a:xfrm>
            <a:off x="10678055" y="3886204"/>
            <a:ext cx="203305" cy="203306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8" tIns="51814" rIns="103618" bIns="51814" anchor="ctr"/>
          <a:lstStyle/>
          <a:p>
            <a:endParaRPr lang="en-US" sz="272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31" grpId="1" animBg="1"/>
      <p:bldP spid="32" grpId="0" animBg="1"/>
      <p:bldP spid="3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A8454-2673-2589-75C5-63DF4EC9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5600" y="1371600"/>
            <a:ext cx="12496799" cy="517064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The  failure of depth-first search in infinite state spaces can be alleviated by supplying depth-first search with a predetermined depth limit</a:t>
            </a:r>
            <a:r>
              <a:rPr 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n-US" sz="2800" i="1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That is, nodes at depth </a:t>
            </a:r>
            <a:r>
              <a:rPr 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are treated as if they have no successors. This approach is called depth-limited 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Sometimes, depth limits can be based on knowledge of the problem. </a:t>
            </a:r>
          </a:p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For example, on the map of Romania there are 20 cities. Therefore, we know that if there is a solution, it must be of length </a:t>
            </a:r>
            <a:r>
              <a:rPr lang="en-US" sz="2800" i="1">
                <a:latin typeface="Arial" panose="020B0604020202020204" pitchFamily="34" charset="0"/>
                <a:cs typeface="Arial" panose="020B0604020202020204" pitchFamily="34" charset="0"/>
              </a:rPr>
              <a:t>l = 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19 at the longest, so = 19 is a possible choice.</a:t>
            </a:r>
            <a:endParaRPr lang="en-US" sz="28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FE9EAA0-23C6-BE58-58D0-E89021B5DC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70201" y="228600"/>
            <a:ext cx="893127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 rtl="0"/>
            <a:r>
              <a:rPr lang="en-US" sz="3200" b="1" kern="1200" spc="-5">
                <a:latin typeface="Verdana"/>
                <a:ea typeface="+mn-ea"/>
              </a:rPr>
              <a:t>Depth-limited search</a:t>
            </a:r>
            <a:endParaRPr sz="3200" b="1" kern="1200" spc="-5"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3937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96C10-1AEA-C482-2A6A-DED1BAC8F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426E6C5-E326-0800-1B18-C23CB77AFB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3600" y="228600"/>
            <a:ext cx="6553200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>
                <a:latin typeface="Verdana"/>
                <a:cs typeface="Verdana"/>
              </a:rPr>
              <a:t>Iterative </a:t>
            </a:r>
            <a:r>
              <a:rPr spc="-10">
                <a:latin typeface="Verdana"/>
                <a:cs typeface="Verdana"/>
              </a:rPr>
              <a:t>Deepening </a:t>
            </a:r>
            <a:r>
              <a:rPr spc="-5">
                <a:latin typeface="Verdana"/>
                <a:cs typeface="Verdana"/>
              </a:rPr>
              <a:t>Search</a:t>
            </a:r>
            <a:r>
              <a:rPr spc="40">
                <a:latin typeface="Verdana"/>
                <a:cs typeface="Verdana"/>
              </a:rPr>
              <a:t> </a:t>
            </a:r>
            <a:r>
              <a:rPr spc="-5">
                <a:latin typeface="Verdana"/>
                <a:cs typeface="Verdana"/>
              </a:rPr>
              <a:t>(IDS)</a:t>
            </a:r>
            <a:endParaRPr>
              <a:latin typeface="Verdana"/>
              <a:cs typeface="Verdan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8878029-918B-E5CE-2ADD-B7EA738C5434}"/>
              </a:ext>
            </a:extLst>
          </p:cNvPr>
          <p:cNvSpPr txBox="1"/>
          <p:nvPr/>
        </p:nvSpPr>
        <p:spPr>
          <a:xfrm>
            <a:off x="279400" y="1513756"/>
            <a:ext cx="13258800" cy="4744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marR="5080" indent="-344170">
              <a:buChar char="•"/>
              <a:tabLst>
                <a:tab pos="357505" algn="l"/>
              </a:tabLst>
            </a:pPr>
            <a:r>
              <a:rPr sz="2800">
                <a:latin typeface="Verdana"/>
                <a:cs typeface="Verdana"/>
              </a:rPr>
              <a:t>Run </a:t>
            </a:r>
            <a:r>
              <a:rPr sz="2800" spc="5">
                <a:latin typeface="Verdana"/>
                <a:cs typeface="Verdana"/>
              </a:rPr>
              <a:t>multiple </a:t>
            </a:r>
            <a:r>
              <a:rPr sz="2800">
                <a:latin typeface="Verdana"/>
                <a:cs typeface="Verdana"/>
              </a:rPr>
              <a:t>DFS </a:t>
            </a:r>
            <a:r>
              <a:rPr sz="2800" spc="5">
                <a:latin typeface="Verdana"/>
                <a:cs typeface="Verdana"/>
              </a:rPr>
              <a:t>searches</a:t>
            </a:r>
            <a:r>
              <a:rPr sz="2800" spc="-180">
                <a:latin typeface="Verdana"/>
                <a:cs typeface="Verdana"/>
              </a:rPr>
              <a:t> </a:t>
            </a:r>
            <a:r>
              <a:rPr sz="2800" spc="10">
                <a:latin typeface="Verdana"/>
                <a:cs typeface="Verdana"/>
              </a:rPr>
              <a:t>with  </a:t>
            </a:r>
            <a:r>
              <a:rPr sz="2800" spc="5">
                <a:latin typeface="Verdana"/>
                <a:cs typeface="Verdana"/>
              </a:rPr>
              <a:t>increasing</a:t>
            </a:r>
            <a:r>
              <a:rPr sz="2800" spc="-145">
                <a:latin typeface="Verdana"/>
                <a:cs typeface="Verdana"/>
              </a:rPr>
              <a:t> </a:t>
            </a:r>
            <a:r>
              <a:rPr sz="2800" spc="5">
                <a:latin typeface="Verdana"/>
                <a:cs typeface="Verdana"/>
              </a:rPr>
              <a:t>depth-limits</a:t>
            </a:r>
            <a:r>
              <a:rPr lang="en-US" sz="2800" spc="5">
                <a:latin typeface="Verdana"/>
                <a:cs typeface="Verdana"/>
              </a:rPr>
              <a:t>.</a:t>
            </a:r>
          </a:p>
          <a:p>
            <a:pPr marL="356870" marR="5080" indent="-344170">
              <a:buChar char="•"/>
              <a:tabLst>
                <a:tab pos="357505" algn="l"/>
              </a:tabLst>
            </a:pPr>
            <a:endParaRPr lang="en-US" sz="2800" spc="5">
              <a:latin typeface="Verdana"/>
              <a:cs typeface="Verdana"/>
            </a:endParaRPr>
          </a:p>
          <a:p>
            <a:pPr marL="356870" marR="5080" indent="-344170">
              <a:buChar char="•"/>
              <a:tabLst>
                <a:tab pos="357505" algn="l"/>
              </a:tabLst>
            </a:pPr>
            <a:r>
              <a:rPr lang="en-US" sz="2800"/>
              <a:t>It does this by gradually increasing the limit—first 0, then 1, then 2, and so on—until a goal is found.</a:t>
            </a:r>
            <a:endParaRPr sz="2800">
              <a:latin typeface="Verdana"/>
              <a:cs typeface="Verdana"/>
            </a:endParaRPr>
          </a:p>
          <a:p>
            <a:pPr>
              <a:spcBef>
                <a:spcPts val="45"/>
              </a:spcBef>
              <a:buFont typeface="Verdana"/>
              <a:buChar char="•"/>
            </a:pPr>
            <a:endParaRPr sz="4050">
              <a:latin typeface="Times New Roman"/>
              <a:cs typeface="Times New Roman"/>
            </a:endParaRPr>
          </a:p>
          <a:p>
            <a:pPr marL="356870" indent="-344170">
              <a:buChar char="•"/>
              <a:tabLst>
                <a:tab pos="357505" algn="l"/>
              </a:tabLst>
            </a:pPr>
            <a:r>
              <a:rPr sz="2800">
                <a:latin typeface="Verdana"/>
                <a:cs typeface="Verdana"/>
              </a:rPr>
              <a:t>Iterative </a:t>
            </a:r>
            <a:r>
              <a:rPr sz="2800" spc="5">
                <a:latin typeface="Verdana"/>
                <a:cs typeface="Verdana"/>
              </a:rPr>
              <a:t>deepening</a:t>
            </a:r>
            <a:r>
              <a:rPr sz="2800" spc="-155">
                <a:latin typeface="Verdana"/>
                <a:cs typeface="Verdana"/>
              </a:rPr>
              <a:t> </a:t>
            </a:r>
            <a:r>
              <a:rPr sz="2800">
                <a:latin typeface="Verdana"/>
                <a:cs typeface="Verdana"/>
              </a:rPr>
              <a:t>search</a:t>
            </a:r>
          </a:p>
          <a:p>
            <a:pPr marL="755650" indent="-285750">
              <a:spcBef>
                <a:spcPts val="660"/>
              </a:spcBef>
              <a:buFont typeface="Arial" panose="020B0604020202020204" pitchFamily="34" charset="0"/>
              <a:buChar char="•"/>
              <a:tabLst>
                <a:tab pos="817244" algn="l"/>
              </a:tabLst>
            </a:pPr>
            <a:r>
              <a:rPr>
                <a:latin typeface="Verdana"/>
                <a:cs typeface="Verdana"/>
              </a:rPr>
              <a:t>L </a:t>
            </a:r>
            <a:r>
              <a:rPr spc="-5">
                <a:latin typeface="Verdana"/>
                <a:cs typeface="Verdana"/>
              </a:rPr>
              <a:t>=</a:t>
            </a:r>
            <a:r>
              <a:rPr spc="-100">
                <a:latin typeface="Verdana"/>
                <a:cs typeface="Verdana"/>
              </a:rPr>
              <a:t> </a:t>
            </a:r>
            <a:r>
              <a:rPr>
                <a:latin typeface="Verdana"/>
                <a:cs typeface="Verdana"/>
              </a:rPr>
              <a:t>1</a:t>
            </a:r>
          </a:p>
          <a:p>
            <a:pPr marL="755649" lvl="1" indent="-285750">
              <a:spcBef>
                <a:spcPts val="980"/>
              </a:spcBef>
              <a:buFont typeface="Arial" panose="020B0604020202020204" pitchFamily="34" charset="0"/>
              <a:buChar char="•"/>
              <a:tabLst>
                <a:tab pos="817244" algn="l"/>
                <a:tab pos="817880" algn="l"/>
              </a:tabLst>
            </a:pPr>
            <a:r>
              <a:rPr spc="-5">
                <a:latin typeface="Verdana"/>
                <a:cs typeface="Verdana"/>
              </a:rPr>
              <a:t>While </a:t>
            </a:r>
            <a:r>
              <a:rPr spc="-10">
                <a:latin typeface="Verdana"/>
                <a:cs typeface="Verdana"/>
              </a:rPr>
              <a:t>no </a:t>
            </a:r>
            <a:r>
              <a:rPr>
                <a:latin typeface="Verdana"/>
                <a:cs typeface="Verdana"/>
              </a:rPr>
              <a:t>solution,</a:t>
            </a:r>
            <a:r>
              <a:rPr spc="-75">
                <a:latin typeface="Verdana"/>
                <a:cs typeface="Verdana"/>
              </a:rPr>
              <a:t> </a:t>
            </a:r>
            <a:r>
              <a:rPr>
                <a:latin typeface="Verdana"/>
                <a:cs typeface="Verdana"/>
              </a:rPr>
              <a:t>do</a:t>
            </a:r>
          </a:p>
          <a:p>
            <a:pPr marL="926465" marR="861060">
              <a:lnSpc>
                <a:spcPts val="3140"/>
              </a:lnSpc>
              <a:spcBef>
                <a:spcPts val="245"/>
              </a:spcBef>
            </a:pPr>
            <a:r>
              <a:rPr b="1" spc="-5">
                <a:latin typeface="Verdana"/>
                <a:cs typeface="Verdana"/>
              </a:rPr>
              <a:t>DFS </a:t>
            </a:r>
            <a:r>
              <a:rPr>
                <a:latin typeface="Verdana"/>
                <a:cs typeface="Verdana"/>
              </a:rPr>
              <a:t>from initial state </a:t>
            </a:r>
            <a:r>
              <a:rPr i="1" spc="5">
                <a:latin typeface="Times New Roman"/>
                <a:cs typeface="Times New Roman"/>
              </a:rPr>
              <a:t>S</a:t>
            </a:r>
            <a:r>
              <a:rPr spc="7" baseline="-20833">
                <a:latin typeface="Times New Roman"/>
                <a:cs typeface="Times New Roman"/>
              </a:rPr>
              <a:t>0 </a:t>
            </a:r>
            <a:r>
              <a:rPr spc="-5">
                <a:latin typeface="Verdana"/>
                <a:cs typeface="Verdana"/>
              </a:rPr>
              <a:t>with cutoff </a:t>
            </a:r>
            <a:r>
              <a:rPr>
                <a:latin typeface="Verdana"/>
                <a:cs typeface="Verdana"/>
              </a:rPr>
              <a:t>L  </a:t>
            </a:r>
            <a:r>
              <a:rPr spc="-10">
                <a:latin typeface="Verdana"/>
                <a:cs typeface="Verdana"/>
              </a:rPr>
              <a:t>If found</a:t>
            </a:r>
            <a:r>
              <a:rPr>
                <a:latin typeface="Verdana"/>
                <a:cs typeface="Verdana"/>
              </a:rPr>
              <a:t> goal,</a:t>
            </a:r>
          </a:p>
          <a:p>
            <a:pPr marL="926465">
              <a:spcBef>
                <a:spcPts val="690"/>
              </a:spcBef>
            </a:pPr>
            <a:r>
              <a:rPr>
                <a:latin typeface="Verdana"/>
                <a:cs typeface="Verdana"/>
              </a:rPr>
              <a:t>stop </a:t>
            </a:r>
            <a:r>
              <a:rPr spc="-5">
                <a:latin typeface="Verdana"/>
                <a:cs typeface="Verdana"/>
              </a:rPr>
              <a:t>and </a:t>
            </a:r>
            <a:r>
              <a:rPr>
                <a:latin typeface="Verdana"/>
                <a:cs typeface="Verdana"/>
              </a:rPr>
              <a:t>return</a:t>
            </a:r>
            <a:r>
              <a:rPr spc="-80">
                <a:latin typeface="Verdana"/>
                <a:cs typeface="Verdana"/>
              </a:rPr>
              <a:t> </a:t>
            </a:r>
            <a:r>
              <a:rPr>
                <a:latin typeface="Verdana"/>
                <a:cs typeface="Verdana"/>
              </a:rPr>
              <a:t>solution,</a:t>
            </a:r>
          </a:p>
          <a:p>
            <a:pPr marL="926465">
              <a:spcBef>
                <a:spcPts val="980"/>
              </a:spcBef>
            </a:pPr>
            <a:r>
              <a:rPr>
                <a:latin typeface="Verdana"/>
                <a:cs typeface="Verdana"/>
              </a:rPr>
              <a:t>else, </a:t>
            </a:r>
            <a:r>
              <a:rPr spc="-5">
                <a:latin typeface="Verdana"/>
                <a:cs typeface="Verdana"/>
              </a:rPr>
              <a:t>increment </a:t>
            </a:r>
            <a:r>
              <a:rPr>
                <a:latin typeface="Verdana"/>
                <a:cs typeface="Verdana"/>
              </a:rPr>
              <a:t>depth limit</a:t>
            </a:r>
            <a:r>
              <a:rPr spc="-55">
                <a:latin typeface="Verdana"/>
                <a:cs typeface="Verdana"/>
              </a:rPr>
              <a:t> </a:t>
            </a:r>
            <a:r>
              <a:rPr>
                <a:latin typeface="Verdana"/>
                <a:cs typeface="Verdana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258584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FDE59-924E-CA15-A3CB-9F00E33BB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CE8EBD9-C092-85F3-EEE0-A63D598FAE0F}"/>
              </a:ext>
            </a:extLst>
          </p:cNvPr>
          <p:cNvSpPr txBox="1"/>
          <p:nvPr/>
        </p:nvSpPr>
        <p:spPr>
          <a:xfrm>
            <a:off x="2948939" y="913383"/>
            <a:ext cx="4536440" cy="320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b="1" spc="-10">
                <a:solidFill>
                  <a:srgbClr val="0000FF"/>
                </a:solidFill>
                <a:latin typeface="Verdana"/>
                <a:cs typeface="Verdana"/>
              </a:rPr>
              <a:t>Iterative deepening </a:t>
            </a:r>
            <a:r>
              <a:rPr sz="2000" b="1" spc="-15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r>
              <a:rPr sz="2000" b="1" spc="15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000" b="1" i="1" spc="-10">
                <a:solidFill>
                  <a:srgbClr val="0000FF"/>
                </a:solidFill>
                <a:latin typeface="Verdana"/>
                <a:cs typeface="Verdana"/>
              </a:rPr>
              <a:t>L</a:t>
            </a:r>
            <a:r>
              <a:rPr sz="2000" b="1" spc="-10">
                <a:solidFill>
                  <a:srgbClr val="0000FF"/>
                </a:solidFill>
                <a:latin typeface="Verdana"/>
                <a:cs typeface="Verdana"/>
              </a:rPr>
              <a:t>=0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7B8735F-AEF0-4058-8221-493EFA486157}"/>
              </a:ext>
            </a:extLst>
          </p:cNvPr>
          <p:cNvSpPr/>
          <p:nvPr/>
        </p:nvSpPr>
        <p:spPr>
          <a:xfrm>
            <a:off x="3098800" y="2115311"/>
            <a:ext cx="7620000" cy="3544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441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87286-F381-4DB5-29D1-7B6A5864A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CDBD80-E1FA-A920-889F-3ABE61D03658}"/>
              </a:ext>
            </a:extLst>
          </p:cNvPr>
          <p:cNvSpPr txBox="1"/>
          <p:nvPr/>
        </p:nvSpPr>
        <p:spPr>
          <a:xfrm>
            <a:off x="2948939" y="913383"/>
            <a:ext cx="4536440" cy="320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b="1" spc="-10">
                <a:solidFill>
                  <a:srgbClr val="0000FF"/>
                </a:solidFill>
                <a:latin typeface="Verdana"/>
                <a:cs typeface="Verdana"/>
              </a:rPr>
              <a:t>Iterative deepening </a:t>
            </a:r>
            <a:r>
              <a:rPr sz="2000" b="1" spc="-15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r>
              <a:rPr sz="2000" b="1" spc="15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000" b="1" i="1" spc="-10">
                <a:solidFill>
                  <a:srgbClr val="0000FF"/>
                </a:solidFill>
                <a:latin typeface="Verdana"/>
                <a:cs typeface="Verdana"/>
              </a:rPr>
              <a:t>L</a:t>
            </a:r>
            <a:r>
              <a:rPr sz="2000" b="1" spc="-10">
                <a:solidFill>
                  <a:srgbClr val="0000FF"/>
                </a:solidFill>
                <a:latin typeface="Verdana"/>
                <a:cs typeface="Verdana"/>
              </a:rPr>
              <a:t>=1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0D21120-2F08-4140-1AC7-0D2E67860C5F}"/>
              </a:ext>
            </a:extLst>
          </p:cNvPr>
          <p:cNvSpPr/>
          <p:nvPr/>
        </p:nvSpPr>
        <p:spPr>
          <a:xfrm>
            <a:off x="3098800" y="2115311"/>
            <a:ext cx="7620000" cy="3544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2737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D0D50-019F-F3CE-3C7A-72F6D7361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0FF4AF-840B-50A2-FB53-B9C931B84855}"/>
              </a:ext>
            </a:extLst>
          </p:cNvPr>
          <p:cNvSpPr txBox="1"/>
          <p:nvPr/>
        </p:nvSpPr>
        <p:spPr>
          <a:xfrm>
            <a:off x="2948939" y="913383"/>
            <a:ext cx="4536440" cy="320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b="1" spc="-10">
                <a:solidFill>
                  <a:srgbClr val="0000FF"/>
                </a:solidFill>
                <a:latin typeface="Verdana"/>
                <a:cs typeface="Verdana"/>
              </a:rPr>
              <a:t>Iterative deepening </a:t>
            </a:r>
            <a:r>
              <a:rPr sz="2000" b="1" spc="-15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r>
              <a:rPr sz="2000" b="1" spc="15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000" b="1" i="1" spc="-10">
                <a:solidFill>
                  <a:srgbClr val="0000FF"/>
                </a:solidFill>
                <a:latin typeface="Verdana"/>
                <a:cs typeface="Verdana"/>
              </a:rPr>
              <a:t>L</a:t>
            </a:r>
            <a:r>
              <a:rPr sz="2000" b="1" spc="-10">
                <a:solidFill>
                  <a:srgbClr val="0000FF"/>
                </a:solidFill>
                <a:latin typeface="Verdana"/>
                <a:cs typeface="Verdana"/>
              </a:rPr>
              <a:t>=2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5CF1511-85E8-275C-6E3E-9928853A21F3}"/>
              </a:ext>
            </a:extLst>
          </p:cNvPr>
          <p:cNvSpPr/>
          <p:nvPr/>
        </p:nvSpPr>
        <p:spPr>
          <a:xfrm>
            <a:off x="3098800" y="2112264"/>
            <a:ext cx="7620000" cy="3550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6580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63F1-2913-70C1-E601-692F5C9A1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12F1E50-F6E8-D0DC-6382-FEAB18D0006C}"/>
              </a:ext>
            </a:extLst>
          </p:cNvPr>
          <p:cNvSpPr txBox="1"/>
          <p:nvPr/>
        </p:nvSpPr>
        <p:spPr>
          <a:xfrm>
            <a:off x="2948940" y="913383"/>
            <a:ext cx="4600575" cy="320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b="1" spc="-10">
                <a:solidFill>
                  <a:srgbClr val="0000FF"/>
                </a:solidFill>
                <a:latin typeface="Verdana"/>
                <a:cs typeface="Verdana"/>
              </a:rPr>
              <a:t>Iterative Deepening Search</a:t>
            </a:r>
            <a:r>
              <a:rPr sz="2000" b="1" spc="13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000" b="1" i="1" spc="-10">
                <a:solidFill>
                  <a:srgbClr val="0000FF"/>
                </a:solidFill>
                <a:latin typeface="Verdana"/>
                <a:cs typeface="Verdana"/>
              </a:rPr>
              <a:t>L</a:t>
            </a:r>
            <a:r>
              <a:rPr sz="2000" b="1" spc="-10">
                <a:solidFill>
                  <a:srgbClr val="0000FF"/>
                </a:solidFill>
                <a:latin typeface="Verdana"/>
                <a:cs typeface="Verdana"/>
              </a:rPr>
              <a:t>=3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7FCA684-A614-60B6-EB44-9B269CFCF373}"/>
              </a:ext>
            </a:extLst>
          </p:cNvPr>
          <p:cNvSpPr/>
          <p:nvPr/>
        </p:nvSpPr>
        <p:spPr>
          <a:xfrm>
            <a:off x="3098800" y="2115311"/>
            <a:ext cx="7620000" cy="3544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8126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Freeform 2"/>
          <p:cNvSpPr>
            <a:spLocks/>
          </p:cNvSpPr>
          <p:nvPr/>
        </p:nvSpPr>
        <p:spPr bwMode="auto">
          <a:xfrm>
            <a:off x="10483740" y="2394694"/>
            <a:ext cx="1093893" cy="93916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821251" name="Freeform 3"/>
          <p:cNvSpPr>
            <a:spLocks/>
          </p:cNvSpPr>
          <p:nvPr/>
        </p:nvSpPr>
        <p:spPr bwMode="auto">
          <a:xfrm>
            <a:off x="10048342" y="2394703"/>
            <a:ext cx="1955695" cy="1666028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821252" name="Freeform 4"/>
          <p:cNvSpPr>
            <a:spLocks/>
          </p:cNvSpPr>
          <p:nvPr/>
        </p:nvSpPr>
        <p:spPr bwMode="auto">
          <a:xfrm>
            <a:off x="10280448" y="2401889"/>
            <a:ext cx="1500505" cy="131699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title"/>
          </p:nvPr>
        </p:nvSpPr>
        <p:spPr>
          <a:xfrm>
            <a:off x="2410987" y="304800"/>
            <a:ext cx="8324648" cy="553998"/>
          </a:xfrm>
        </p:spPr>
        <p:txBody>
          <a:bodyPr/>
          <a:lstStyle/>
          <a:p>
            <a:pPr eaLnBrk="1" hangingPunct="1"/>
            <a:r>
              <a:rPr lang="en-US" sz="3600"/>
              <a:t>Iterative Deepening</a:t>
            </a:r>
          </a:p>
        </p:txBody>
      </p:sp>
      <p:sp>
        <p:nvSpPr>
          <p:cNvPr id="26679" name="Freeform 55"/>
          <p:cNvSpPr>
            <a:spLocks/>
          </p:cNvSpPr>
          <p:nvPr/>
        </p:nvSpPr>
        <p:spPr bwMode="auto">
          <a:xfrm>
            <a:off x="9377265" y="2373100"/>
            <a:ext cx="3317664" cy="2894860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26680" name="Oval 56"/>
          <p:cNvSpPr>
            <a:spLocks noChangeArrowheads="1"/>
          </p:cNvSpPr>
          <p:nvPr/>
        </p:nvSpPr>
        <p:spPr bwMode="auto">
          <a:xfrm>
            <a:off x="10911945" y="2293938"/>
            <a:ext cx="203306" cy="20330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26681" name="Oval 57"/>
          <p:cNvSpPr>
            <a:spLocks noChangeArrowheads="1"/>
          </p:cNvSpPr>
          <p:nvPr/>
        </p:nvSpPr>
        <p:spPr bwMode="auto">
          <a:xfrm>
            <a:off x="10649266" y="2776117"/>
            <a:ext cx="203306" cy="20330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26682" name="Oval 58"/>
          <p:cNvSpPr>
            <a:spLocks noChangeArrowheads="1"/>
          </p:cNvSpPr>
          <p:nvPr/>
        </p:nvSpPr>
        <p:spPr bwMode="auto">
          <a:xfrm>
            <a:off x="11189014" y="2765319"/>
            <a:ext cx="203306" cy="20330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26683" name="Text Box 59"/>
          <p:cNvSpPr txBox="1">
            <a:spLocks noChangeArrowheads="1"/>
          </p:cNvSpPr>
          <p:nvPr/>
        </p:nvSpPr>
        <p:spPr bwMode="auto">
          <a:xfrm>
            <a:off x="10796807" y="2606997"/>
            <a:ext cx="31125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…</a:t>
            </a:r>
          </a:p>
        </p:txBody>
      </p:sp>
      <p:sp>
        <p:nvSpPr>
          <p:cNvPr id="26684" name="Freeform 60"/>
          <p:cNvSpPr>
            <a:spLocks/>
          </p:cNvSpPr>
          <p:nvPr/>
        </p:nvSpPr>
        <p:spPr bwMode="auto">
          <a:xfrm>
            <a:off x="10777006" y="2554818"/>
            <a:ext cx="503767" cy="100753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26685" name="Text Box 61"/>
          <p:cNvSpPr txBox="1">
            <a:spLocks noChangeArrowheads="1"/>
          </p:cNvSpPr>
          <p:nvPr/>
        </p:nvSpPr>
        <p:spPr bwMode="auto">
          <a:xfrm>
            <a:off x="11232197" y="2326325"/>
            <a:ext cx="338244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b</a:t>
            </a:r>
          </a:p>
        </p:txBody>
      </p:sp>
      <p:sp>
        <p:nvSpPr>
          <p:cNvPr id="26686" name="Oval 62"/>
          <p:cNvSpPr>
            <a:spLocks noChangeArrowheads="1"/>
          </p:cNvSpPr>
          <p:nvPr/>
        </p:nvSpPr>
        <p:spPr bwMode="auto">
          <a:xfrm>
            <a:off x="11469686" y="3954569"/>
            <a:ext cx="203306" cy="203305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21312" name="Freeform 64"/>
          <p:cNvSpPr>
            <a:spLocks/>
          </p:cNvSpPr>
          <p:nvPr/>
        </p:nvSpPr>
        <p:spPr bwMode="auto">
          <a:xfrm>
            <a:off x="10735635" y="2401890"/>
            <a:ext cx="579332" cy="474980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314462" y="1486602"/>
            <a:ext cx="7829973" cy="4464556"/>
          </a:xfrm>
        </p:spPr>
        <p:txBody>
          <a:bodyPr/>
          <a:lstStyle/>
          <a:p>
            <a:r>
              <a:rPr lang="en-US" sz="3173"/>
              <a:t>Idea: get DFS’s space advantage with BFS’s time / shallow-solution advantages</a:t>
            </a:r>
          </a:p>
          <a:p>
            <a:pPr lvl="1"/>
            <a:r>
              <a:rPr lang="en-US" sz="2720"/>
              <a:t>Run a DFS with depth limit 1.  If no solution…</a:t>
            </a:r>
          </a:p>
          <a:p>
            <a:pPr lvl="1"/>
            <a:r>
              <a:rPr lang="en-US" sz="2720"/>
              <a:t>Run a DFS with depth limit 2.  If no solution…</a:t>
            </a:r>
          </a:p>
          <a:p>
            <a:pPr lvl="1"/>
            <a:r>
              <a:rPr lang="en-US" sz="2720"/>
              <a:t>Run a DFS with depth limit 3.  …..</a:t>
            </a:r>
          </a:p>
          <a:p>
            <a:pPr lvl="1"/>
            <a:endParaRPr lang="en-US" sz="2720"/>
          </a:p>
          <a:p>
            <a:r>
              <a:rPr lang="en-US" sz="3173"/>
              <a:t>Isn’t that wastefully redundant?</a:t>
            </a:r>
          </a:p>
          <a:p>
            <a:pPr lvl="1"/>
            <a:r>
              <a:rPr lang="en-US" sz="2720"/>
              <a:t>Generally most work happens in the lowest level searched, so not so bad!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50" grpId="0" animBg="1"/>
      <p:bldP spid="821251" grpId="0" animBg="1"/>
      <p:bldP spid="821252" grpId="0" animBg="1"/>
      <p:bldP spid="8213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E8BE4-C7F7-046F-B8A7-471E1A2B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06FBD3-9592-D63C-3720-8394C9AD1DF0}"/>
              </a:ext>
            </a:extLst>
          </p:cNvPr>
          <p:cNvSpPr/>
          <p:nvPr/>
        </p:nvSpPr>
        <p:spPr>
          <a:xfrm>
            <a:off x="2565400" y="1667254"/>
            <a:ext cx="9601200" cy="50383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9B67F0E-481C-6EBF-DBFD-4982C0F89C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6000" y="152400"/>
            <a:ext cx="65532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200">
                <a:solidFill>
                  <a:srgbClr val="0000FF"/>
                </a:solidFill>
                <a:latin typeface="Verdana"/>
                <a:cs typeface="Verdana"/>
              </a:rPr>
              <a:t>Iterative </a:t>
            </a:r>
            <a:r>
              <a:rPr sz="3200" spc="-10">
                <a:solidFill>
                  <a:srgbClr val="0000FF"/>
                </a:solidFill>
                <a:latin typeface="Verdana"/>
                <a:cs typeface="Verdana"/>
              </a:rPr>
              <a:t>deepening</a:t>
            </a:r>
            <a:r>
              <a:rPr sz="3200" spc="-15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3200" spc="-5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endParaRPr sz="32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5565159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26AA4-7FFE-8277-11EE-3E4E1DD7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84EB285-3F55-8F84-30B2-2878EAD407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5139" y="333680"/>
            <a:ext cx="7068184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Properties </a:t>
            </a:r>
            <a:r>
              <a:rPr sz="2400" b="1">
                <a:solidFill>
                  <a:srgbClr val="0000FF"/>
                </a:solidFill>
                <a:latin typeface="Verdana"/>
                <a:cs typeface="Verdana"/>
              </a:rPr>
              <a:t>of Iterative </a:t>
            </a:r>
            <a:r>
              <a:rPr sz="2400" b="1" spc="-10">
                <a:solidFill>
                  <a:srgbClr val="0000FF"/>
                </a:solidFill>
                <a:latin typeface="Verdana"/>
                <a:cs typeface="Verdana"/>
              </a:rPr>
              <a:t>Deepening</a:t>
            </a:r>
            <a:r>
              <a:rPr sz="2400" b="1" spc="7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51DB1AA-51D2-1EE9-E097-97457768B30F}"/>
              </a:ext>
            </a:extLst>
          </p:cNvPr>
          <p:cNvSpPr txBox="1"/>
          <p:nvPr/>
        </p:nvSpPr>
        <p:spPr>
          <a:xfrm>
            <a:off x="355600" y="914401"/>
            <a:ext cx="12039600" cy="5221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indent="-344170">
              <a:buChar char="•"/>
              <a:tabLst>
                <a:tab pos="356870" algn="l"/>
                <a:tab pos="357505" algn="l"/>
              </a:tabLst>
            </a:pPr>
            <a:r>
              <a:rPr sz="2000" spc="-5">
                <a:latin typeface="Verdana"/>
                <a:cs typeface="Verdana"/>
              </a:rPr>
              <a:t>Space complexity </a:t>
            </a:r>
            <a:r>
              <a:rPr sz="2000" spc="-10">
                <a:latin typeface="Verdana"/>
                <a:cs typeface="Verdana"/>
              </a:rPr>
              <a:t>=</a:t>
            </a:r>
            <a:r>
              <a:rPr sz="2000" spc="-50">
                <a:latin typeface="Verdana"/>
                <a:cs typeface="Verdana"/>
              </a:rPr>
              <a:t> </a:t>
            </a:r>
            <a:r>
              <a:rPr sz="2000" b="1" spc="-10">
                <a:latin typeface="Verdana"/>
                <a:cs typeface="Verdana"/>
              </a:rPr>
              <a:t>O(</a:t>
            </a:r>
            <a:r>
              <a:rPr lang="en-US" sz="2000" b="1" i="1" spc="-10">
                <a:latin typeface="Verdana"/>
                <a:cs typeface="Verdana"/>
              </a:rPr>
              <a:t>bd</a:t>
            </a:r>
            <a:r>
              <a:rPr sz="2000" b="1" spc="-1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  <a:p>
            <a:pPr marL="579120" marR="5080" lvl="1">
              <a:lnSpc>
                <a:spcPct val="120000"/>
              </a:lnSpc>
              <a:spcBef>
                <a:spcPts val="480"/>
              </a:spcBef>
              <a:tabLst>
                <a:tab pos="926465" algn="l"/>
                <a:tab pos="927100" algn="l"/>
              </a:tabLst>
            </a:pPr>
            <a:r>
              <a:rPr sz="2000">
                <a:latin typeface="Verdana"/>
                <a:cs typeface="Verdana"/>
              </a:rPr>
              <a:t>(since </a:t>
            </a:r>
            <a:r>
              <a:rPr sz="2000" spc="5">
                <a:latin typeface="Verdana"/>
                <a:cs typeface="Verdana"/>
              </a:rPr>
              <a:t>its like </a:t>
            </a:r>
            <a:r>
              <a:rPr sz="2000" spc="-5">
                <a:latin typeface="Verdana"/>
                <a:cs typeface="Verdana"/>
              </a:rPr>
              <a:t>depth first </a:t>
            </a:r>
            <a:r>
              <a:rPr sz="2000" spc="-10">
                <a:latin typeface="Verdana"/>
                <a:cs typeface="Verdana"/>
              </a:rPr>
              <a:t>search </a:t>
            </a:r>
            <a:r>
              <a:rPr sz="2000" spc="-5">
                <a:latin typeface="Verdana"/>
                <a:cs typeface="Verdana"/>
              </a:rPr>
              <a:t>run different times,  </a:t>
            </a:r>
            <a:r>
              <a:rPr sz="2000">
                <a:latin typeface="Verdana"/>
                <a:cs typeface="Verdana"/>
              </a:rPr>
              <a:t>with </a:t>
            </a:r>
            <a:r>
              <a:rPr sz="2000" spc="-5">
                <a:latin typeface="Verdana"/>
                <a:cs typeface="Verdana"/>
              </a:rPr>
              <a:t>maximum depth </a:t>
            </a:r>
            <a:r>
              <a:rPr sz="2000" spc="10">
                <a:latin typeface="Verdana"/>
                <a:cs typeface="Verdana"/>
              </a:rPr>
              <a:t>limit</a:t>
            </a:r>
            <a:r>
              <a:rPr sz="2000" spc="-140">
                <a:latin typeface="Verdana"/>
                <a:cs typeface="Verdana"/>
              </a:rPr>
              <a:t> </a:t>
            </a:r>
            <a:r>
              <a:rPr sz="2000">
                <a:latin typeface="Verdana"/>
                <a:cs typeface="Verdana"/>
              </a:rPr>
              <a:t>d)</a:t>
            </a:r>
            <a:endParaRPr lang="en-US" sz="2000">
              <a:latin typeface="Verdana"/>
              <a:cs typeface="Verdana"/>
            </a:endParaRPr>
          </a:p>
          <a:p>
            <a:pPr marL="579120" marR="5080" lvl="1">
              <a:lnSpc>
                <a:spcPct val="120000"/>
              </a:lnSpc>
              <a:spcBef>
                <a:spcPts val="480"/>
              </a:spcBef>
              <a:tabLst>
                <a:tab pos="926465" algn="l"/>
                <a:tab pos="927100" algn="l"/>
              </a:tabLst>
            </a:pPr>
            <a:endParaRPr sz="2000">
              <a:latin typeface="Verdana"/>
              <a:cs typeface="Verdana"/>
            </a:endParaRPr>
          </a:p>
          <a:p>
            <a:pPr marL="356870" indent="-344170">
              <a:spcBef>
                <a:spcPts val="960"/>
              </a:spcBef>
              <a:buChar char="•"/>
              <a:tabLst>
                <a:tab pos="356870" algn="l"/>
                <a:tab pos="357505" algn="l"/>
              </a:tabLst>
            </a:pPr>
            <a:r>
              <a:rPr sz="2000" spc="-5">
                <a:latin typeface="Verdana"/>
                <a:cs typeface="Verdana"/>
              </a:rPr>
              <a:t>Time</a:t>
            </a:r>
            <a:r>
              <a:rPr sz="2000" spc="-65">
                <a:latin typeface="Verdana"/>
                <a:cs typeface="Verdana"/>
              </a:rPr>
              <a:t> </a:t>
            </a:r>
            <a:r>
              <a:rPr sz="2000" spc="-5">
                <a:latin typeface="Verdana"/>
                <a:cs typeface="Verdana"/>
              </a:rPr>
              <a:t>Complexity</a:t>
            </a:r>
            <a:r>
              <a:rPr lang="en-US" sz="2000">
                <a:latin typeface="Verdana"/>
                <a:cs typeface="Verdana"/>
              </a:rPr>
              <a:t> = </a:t>
            </a:r>
            <a:r>
              <a:rPr sz="2000" b="1" spc="-10">
                <a:latin typeface="Verdana"/>
                <a:cs typeface="Verdana"/>
              </a:rPr>
              <a:t>O(b</a:t>
            </a:r>
            <a:r>
              <a:rPr sz="2025" b="1" spc="-15" baseline="24691">
                <a:latin typeface="Verdana"/>
                <a:cs typeface="Verdana"/>
              </a:rPr>
              <a:t>d</a:t>
            </a:r>
            <a:r>
              <a:rPr sz="2000" b="1" spc="-10">
                <a:latin typeface="Verdana"/>
                <a:cs typeface="Verdana"/>
              </a:rPr>
              <a:t>)</a:t>
            </a:r>
            <a:endParaRPr lang="en-US" sz="2000" b="1" spc="-10">
              <a:latin typeface="Verdana"/>
              <a:cs typeface="Verdana"/>
            </a:endParaRPr>
          </a:p>
          <a:p>
            <a:pPr marL="356870" indent="-344170">
              <a:spcBef>
                <a:spcPts val="960"/>
              </a:spcBef>
              <a:buChar char="•"/>
              <a:tabLst>
                <a:tab pos="356870" algn="l"/>
                <a:tab pos="357505" algn="l"/>
              </a:tabLst>
            </a:pPr>
            <a:endParaRPr sz="2000">
              <a:latin typeface="Verdana"/>
              <a:cs typeface="Verdana"/>
            </a:endParaRPr>
          </a:p>
          <a:p>
            <a:pPr marL="356870" indent="-344170">
              <a:spcBef>
                <a:spcPts val="925"/>
              </a:spcBef>
              <a:buFont typeface="Verdana"/>
              <a:buChar char="•"/>
              <a:tabLst>
                <a:tab pos="356870" algn="l"/>
                <a:tab pos="357505" algn="l"/>
              </a:tabLst>
            </a:pPr>
            <a:r>
              <a:rPr sz="2000" spc="-10">
                <a:latin typeface="Verdana"/>
                <a:cs typeface="Verdana"/>
              </a:rPr>
              <a:t>Complete?</a:t>
            </a:r>
            <a:endParaRPr sz="2000">
              <a:latin typeface="Verdana"/>
              <a:cs typeface="Verdana"/>
            </a:endParaRPr>
          </a:p>
          <a:p>
            <a:pPr marL="469900">
              <a:spcBef>
                <a:spcPts val="894"/>
              </a:spcBef>
              <a:tabLst>
                <a:tab pos="756285" algn="l"/>
              </a:tabLst>
            </a:pPr>
            <a:r>
              <a:rPr>
                <a:latin typeface="Verdana"/>
                <a:cs typeface="Verdana"/>
              </a:rPr>
              <a:t>–	</a:t>
            </a:r>
            <a:r>
              <a:rPr spc="-5">
                <a:latin typeface="Verdana"/>
                <a:cs typeface="Verdana"/>
              </a:rPr>
              <a:t>Yes</a:t>
            </a:r>
            <a:endParaRPr lang="en-US" spc="-5">
              <a:latin typeface="Verdana"/>
              <a:cs typeface="Verdana"/>
            </a:endParaRPr>
          </a:p>
          <a:p>
            <a:pPr marL="469900">
              <a:spcBef>
                <a:spcPts val="894"/>
              </a:spcBef>
              <a:tabLst>
                <a:tab pos="756285" algn="l"/>
              </a:tabLst>
            </a:pPr>
            <a:endParaRPr>
              <a:latin typeface="Verdana"/>
              <a:cs typeface="Verdana"/>
            </a:endParaRPr>
          </a:p>
          <a:p>
            <a:pPr marL="356870" indent="-344170">
              <a:spcBef>
                <a:spcPts val="925"/>
              </a:spcBef>
              <a:buFont typeface="Verdana"/>
              <a:buChar char="•"/>
              <a:tabLst>
                <a:tab pos="356870" algn="l"/>
                <a:tab pos="357505" algn="l"/>
              </a:tabLst>
            </a:pPr>
            <a:r>
              <a:rPr sz="2000" spc="-10">
                <a:latin typeface="Verdana"/>
                <a:cs typeface="Verdana"/>
              </a:rPr>
              <a:t>Optimal</a:t>
            </a:r>
            <a:endParaRPr sz="2000">
              <a:latin typeface="Verdana"/>
              <a:cs typeface="Verdana"/>
            </a:endParaRPr>
          </a:p>
          <a:p>
            <a:pPr marL="756285" marR="580390" indent="-287020">
              <a:lnSpc>
                <a:spcPct val="120000"/>
              </a:lnSpc>
              <a:spcBef>
                <a:spcPts val="459"/>
              </a:spcBef>
              <a:tabLst>
                <a:tab pos="756285" algn="l"/>
              </a:tabLst>
            </a:pPr>
            <a:r>
              <a:rPr>
                <a:latin typeface="Verdana"/>
                <a:cs typeface="Verdana"/>
              </a:rPr>
              <a:t>–	</a:t>
            </a:r>
            <a:r>
              <a:rPr lang="en-US" spc="-5">
                <a:latin typeface="Verdana"/>
                <a:cs typeface="Verdana"/>
              </a:rPr>
              <a:t>No</a:t>
            </a:r>
            <a:endParaRPr lang="en-US" spc="-10">
              <a:latin typeface="Verdana"/>
              <a:cs typeface="Verdana"/>
            </a:endParaRPr>
          </a:p>
          <a:p>
            <a:pPr marL="756285" marR="580390" indent="-287020">
              <a:lnSpc>
                <a:spcPct val="120000"/>
              </a:lnSpc>
              <a:spcBef>
                <a:spcPts val="459"/>
              </a:spcBef>
              <a:tabLst>
                <a:tab pos="756285" algn="l"/>
              </a:tabLst>
            </a:pPr>
            <a:endParaRPr>
              <a:latin typeface="Verdana"/>
              <a:cs typeface="Verdana"/>
            </a:endParaRPr>
          </a:p>
          <a:p>
            <a:pPr marL="356870" marR="205740" indent="-344170">
              <a:lnSpc>
                <a:spcPct val="120000"/>
              </a:lnSpc>
              <a:spcBef>
                <a:spcPts val="445"/>
              </a:spcBef>
              <a:buChar char="•"/>
              <a:tabLst>
                <a:tab pos="356870" algn="l"/>
                <a:tab pos="357505" algn="l"/>
              </a:tabLst>
            </a:pPr>
            <a:r>
              <a:rPr sz="2000" spc="-15">
                <a:latin typeface="Verdana"/>
                <a:cs typeface="Verdana"/>
              </a:rPr>
              <a:t>IDS </a:t>
            </a:r>
            <a:r>
              <a:rPr sz="2000" spc="-5">
                <a:latin typeface="Verdana"/>
                <a:cs typeface="Verdana"/>
              </a:rPr>
              <a:t>combines </a:t>
            </a:r>
            <a:r>
              <a:rPr sz="2000">
                <a:latin typeface="Verdana"/>
                <a:cs typeface="Verdana"/>
              </a:rPr>
              <a:t>the </a:t>
            </a:r>
            <a:r>
              <a:rPr sz="2000" spc="-5">
                <a:latin typeface="Verdana"/>
                <a:cs typeface="Verdana"/>
              </a:rPr>
              <a:t>small </a:t>
            </a:r>
            <a:r>
              <a:rPr sz="2000" spc="-15">
                <a:latin typeface="Verdana"/>
                <a:cs typeface="Verdana"/>
              </a:rPr>
              <a:t>memory </a:t>
            </a:r>
            <a:r>
              <a:rPr sz="2000" spc="-5">
                <a:latin typeface="Verdana"/>
                <a:cs typeface="Verdana"/>
              </a:rPr>
              <a:t>footprint </a:t>
            </a:r>
            <a:r>
              <a:rPr sz="2000" spc="-10">
                <a:latin typeface="Verdana"/>
                <a:cs typeface="Verdana"/>
              </a:rPr>
              <a:t>of </a:t>
            </a:r>
            <a:r>
              <a:rPr sz="2000" spc="-5">
                <a:latin typeface="Verdana"/>
                <a:cs typeface="Verdana"/>
              </a:rPr>
              <a:t>DFS, and  has </a:t>
            </a:r>
            <a:r>
              <a:rPr sz="2000">
                <a:latin typeface="Verdana"/>
                <a:cs typeface="Verdana"/>
              </a:rPr>
              <a:t>the </a:t>
            </a:r>
            <a:r>
              <a:rPr sz="2000" spc="-5">
                <a:latin typeface="Verdana"/>
                <a:cs typeface="Verdana"/>
              </a:rPr>
              <a:t>completeness guarantee </a:t>
            </a:r>
            <a:r>
              <a:rPr sz="2000" spc="-10">
                <a:latin typeface="Verdana"/>
                <a:cs typeface="Verdana"/>
              </a:rPr>
              <a:t>of</a:t>
            </a:r>
            <a:r>
              <a:rPr sz="2000" spc="-60">
                <a:latin typeface="Verdana"/>
                <a:cs typeface="Verdana"/>
              </a:rPr>
              <a:t> </a:t>
            </a:r>
            <a:r>
              <a:rPr sz="2000" spc="-5">
                <a:latin typeface="Verdana"/>
                <a:cs typeface="Verdana"/>
              </a:rPr>
              <a:t>BFS</a:t>
            </a:r>
            <a:endParaRPr sz="2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84891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0D66C7-2426-858A-CFB5-1A463F1E9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0" y="217702"/>
            <a:ext cx="9753600" cy="722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791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4100" y="208778"/>
            <a:ext cx="60960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200" spc="-5">
                <a:latin typeface="Verdana"/>
                <a:cs typeface="Verdana"/>
              </a:rPr>
              <a:t>Uniform Cost</a:t>
            </a:r>
            <a:r>
              <a:rPr sz="3200" spc="-25">
                <a:latin typeface="Verdana"/>
                <a:cs typeface="Verdana"/>
              </a:rPr>
              <a:t> </a:t>
            </a:r>
            <a:r>
              <a:rPr sz="3200" spc="-5">
                <a:latin typeface="Verdana"/>
                <a:cs typeface="Verdana"/>
              </a:rPr>
              <a:t>Search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1800" y="1127014"/>
            <a:ext cx="12801600" cy="4288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indent="-344170">
              <a:buChar char="•"/>
              <a:tabLst>
                <a:tab pos="356870" algn="l"/>
                <a:tab pos="357505" algn="l"/>
              </a:tabLst>
            </a:pPr>
            <a:r>
              <a:rPr sz="2800">
                <a:latin typeface="Arial" panose="020B0604020202020204" pitchFamily="34" charset="0"/>
                <a:cs typeface="Arial" panose="020B0604020202020204" pitchFamily="34" charset="0"/>
              </a:rPr>
              <a:t>Optimality: </a:t>
            </a:r>
            <a:r>
              <a:rPr sz="2800" spc="-5">
                <a:latin typeface="Arial" panose="020B0604020202020204" pitchFamily="34" charset="0"/>
                <a:cs typeface="Arial" panose="020B0604020202020204" pitchFamily="34" charset="0"/>
              </a:rPr>
              <a:t>path found </a:t>
            </a:r>
            <a:r>
              <a:rPr sz="2800" spc="-1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sz="2800" spc="-5">
                <a:latin typeface="Arial" panose="020B0604020202020204" pitchFamily="34" charset="0"/>
                <a:cs typeface="Arial" panose="020B0604020202020204" pitchFamily="34" charset="0"/>
              </a:rPr>
              <a:t>lowest</a:t>
            </a:r>
            <a:r>
              <a:rPr sz="2800" spc="-6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endParaRPr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56285" marR="5080" indent="-287020">
              <a:spcBef>
                <a:spcPts val="415"/>
              </a:spcBef>
              <a:tabLst>
                <a:tab pos="756285" algn="l"/>
              </a:tabLst>
            </a:pPr>
            <a:r>
              <a:rPr sz="2400">
                <a:latin typeface="Arial" panose="020B0604020202020204" pitchFamily="34" charset="0"/>
                <a:cs typeface="Arial" panose="020B0604020202020204" pitchFamily="34" charset="0"/>
              </a:rPr>
              <a:t>–	Algorithms so </a:t>
            </a:r>
            <a:r>
              <a:rPr sz="2400" spc="-5">
                <a:latin typeface="Arial" panose="020B0604020202020204" pitchFamily="34" charset="0"/>
                <a:cs typeface="Arial" panose="020B0604020202020204" pitchFamily="34" charset="0"/>
              </a:rPr>
              <a:t>far </a:t>
            </a:r>
            <a:r>
              <a:rPr sz="2400">
                <a:latin typeface="Arial" panose="020B0604020202020204" pitchFamily="34" charset="0"/>
                <a:cs typeface="Arial" panose="020B0604020202020204" pitchFamily="34" charset="0"/>
              </a:rPr>
              <a:t>are only optimal</a:t>
            </a:r>
            <a:r>
              <a:rPr sz="2400" spc="-8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>
                <a:latin typeface="Arial" panose="020B0604020202020204" pitchFamily="34" charset="0"/>
                <a:cs typeface="Arial" panose="020B0604020202020204" pitchFamily="34" charset="0"/>
              </a:rPr>
              <a:t>under</a:t>
            </a:r>
            <a:r>
              <a:rPr sz="2400" spc="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>
                <a:latin typeface="Arial" panose="020B0604020202020204" pitchFamily="34" charset="0"/>
                <a:cs typeface="Arial" panose="020B0604020202020204" pitchFamily="34" charset="0"/>
              </a:rPr>
              <a:t>restricted  </a:t>
            </a:r>
            <a:r>
              <a:rPr sz="2400" spc="-5">
                <a:latin typeface="Arial" panose="020B0604020202020204" pitchFamily="34" charset="0"/>
                <a:cs typeface="Arial" panose="020B0604020202020204" pitchFamily="34" charset="0"/>
              </a:rPr>
              <a:t>circumstances</a:t>
            </a:r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35"/>
              </a:spcBef>
            </a:pPr>
            <a:endParaRPr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6870" indent="-344170">
              <a:spcBef>
                <a:spcPts val="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spc="-10">
                <a:latin typeface="Arial" panose="020B0604020202020204" pitchFamily="34" charset="0"/>
                <a:cs typeface="Arial" panose="020B0604020202020204" pitchFamily="34" charset="0"/>
              </a:rPr>
              <a:t>Let g(n) = cost </a:t>
            </a:r>
            <a:r>
              <a:rPr sz="2800" spc="-15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sz="2800" spc="-10">
                <a:latin typeface="Arial" panose="020B0604020202020204" pitchFamily="34" charset="0"/>
                <a:cs typeface="Arial" panose="020B0604020202020204" pitchFamily="34" charset="0"/>
              </a:rPr>
              <a:t>start </a:t>
            </a:r>
            <a:r>
              <a:rPr sz="2800" spc="-5">
                <a:latin typeface="Arial" panose="020B0604020202020204" pitchFamily="34" charset="0"/>
                <a:cs typeface="Arial" panose="020B0604020202020204" pitchFamily="34" charset="0"/>
              </a:rPr>
              <a:t>state </a:t>
            </a:r>
            <a:r>
              <a:rPr sz="2800" i="1" spc="-1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800" spc="-1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>
                <a:latin typeface="Arial" panose="020B0604020202020204" pitchFamily="34" charset="0"/>
                <a:cs typeface="Arial" panose="020B0604020202020204" pitchFamily="34" charset="0"/>
              </a:rPr>
              <a:t>to node</a:t>
            </a:r>
            <a:r>
              <a:rPr sz="2800" spc="1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i="1" spc="-5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sz="2800" i="1" spc="-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6870" indent="-344170">
              <a:spcBef>
                <a:spcPts val="5"/>
              </a:spcBef>
              <a:buChar char="•"/>
              <a:tabLst>
                <a:tab pos="356870" algn="l"/>
                <a:tab pos="357505" algn="l"/>
              </a:tabLst>
            </a:pPr>
            <a:endParaRPr lang="en-US" sz="2800" spc="-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6870" indent="-344170">
              <a:buChar char="•"/>
              <a:tabLst>
                <a:tab pos="356870" algn="l"/>
                <a:tab pos="357505" algn="l"/>
              </a:tabLst>
            </a:pPr>
            <a:r>
              <a:rPr lang="en-US" sz="2800" spc="-5">
                <a:latin typeface="Arial" panose="020B0604020202020204" pitchFamily="34" charset="0"/>
                <a:cs typeface="Arial" panose="020B0604020202020204" pitchFamily="34" charset="0"/>
              </a:rPr>
              <a:t>Uniform </a:t>
            </a:r>
            <a:r>
              <a:rPr lang="en-US" sz="2800" spc="-10"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en-US" sz="2800" spc="-4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10">
                <a:latin typeface="Arial" panose="020B0604020202020204" pitchFamily="34" charset="0"/>
                <a:cs typeface="Arial" panose="020B0604020202020204" pitchFamily="34" charset="0"/>
              </a:rPr>
              <a:t>Search: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56285" marR="5080" lvl="1" indent="-286385">
              <a:spcBef>
                <a:spcPts val="415"/>
              </a:spcBef>
              <a:buFont typeface="Verdana"/>
              <a:buChar char="–"/>
              <a:tabLst>
                <a:tab pos="756285" algn="l"/>
                <a:tab pos="756920" algn="l"/>
              </a:tabLst>
            </a:pPr>
            <a:r>
              <a:rPr lang="en-US" sz="2400" spc="-5">
                <a:latin typeface="Arial" panose="020B0604020202020204" pitchFamily="34" charset="0"/>
                <a:cs typeface="Arial" panose="020B0604020202020204" pitchFamily="34" charset="0"/>
              </a:rPr>
              <a:t>Always </a:t>
            </a:r>
            <a:r>
              <a:rPr lang="en-US" sz="2400" spc="-10">
                <a:latin typeface="Arial" panose="020B0604020202020204" pitchFamily="34" charset="0"/>
                <a:cs typeface="Arial" panose="020B0604020202020204" pitchFamily="34" charset="0"/>
              </a:rPr>
              <a:t>expand the node on the </a:t>
            </a:r>
            <a:r>
              <a:rPr lang="en-US" sz="2400" spc="-5">
                <a:latin typeface="Arial" panose="020B0604020202020204" pitchFamily="34" charset="0"/>
                <a:cs typeface="Arial" panose="020B0604020202020204" pitchFamily="34" charset="0"/>
              </a:rPr>
              <a:t>fringe with minimum  </a:t>
            </a:r>
            <a:r>
              <a:rPr lang="en-US" sz="2400" spc="-10"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en-US" sz="2400" spc="-6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5">
                <a:latin typeface="Arial" panose="020B0604020202020204" pitchFamily="34" charset="0"/>
                <a:cs typeface="Arial" panose="020B0604020202020204" pitchFamily="34" charset="0"/>
              </a:rPr>
              <a:t>g(n)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30"/>
              </a:spcBef>
              <a:buFont typeface="Verdana"/>
              <a:buChar char="–"/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56285" marR="467995" lvl="1" indent="-286385">
              <a:buFont typeface="Verdana"/>
              <a:buChar char="–"/>
              <a:tabLst>
                <a:tab pos="756285" algn="l"/>
                <a:tab pos="756920" algn="l"/>
              </a:tabLst>
            </a:pPr>
            <a:r>
              <a:rPr lang="en-US" sz="2400" spc="-5">
                <a:latin typeface="Arial" panose="020B0604020202020204" pitchFamily="34" charset="0"/>
                <a:cs typeface="Arial" panose="020B0604020202020204" pitchFamily="34" charset="0"/>
              </a:rPr>
              <a:t>Note </a:t>
            </a:r>
            <a:r>
              <a:rPr lang="en-US" sz="2400" spc="-1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400" spc="-10">
                <a:latin typeface="Arial" panose="020B0604020202020204" pitchFamily="34" charset="0"/>
                <a:cs typeface="Arial" panose="020B0604020202020204" pitchFamily="34" charset="0"/>
              </a:rPr>
              <a:t>costs are equal </a:t>
            </a:r>
            <a:r>
              <a:rPr lang="en-US" sz="2400" spc="-5">
                <a:latin typeface="Arial" panose="020B0604020202020204" pitchFamily="34" charset="0"/>
                <a:cs typeface="Arial" panose="020B0604020202020204" pitchFamily="34" charset="0"/>
              </a:rPr>
              <a:t>(or </a:t>
            </a:r>
            <a:r>
              <a:rPr lang="en-US" sz="2400" spc="-10">
                <a:latin typeface="Arial" panose="020B0604020202020204" pitchFamily="34" charset="0"/>
                <a:cs typeface="Arial" panose="020B0604020202020204" pitchFamily="34" charset="0"/>
              </a:rPr>
              <a:t>almost </a:t>
            </a:r>
            <a:r>
              <a:rPr lang="en-US" sz="2400" spc="-5">
                <a:latin typeface="Arial" panose="020B0604020202020204" pitchFamily="34" charset="0"/>
                <a:cs typeface="Arial" panose="020B0604020202020204" pitchFamily="34" charset="0"/>
              </a:rPr>
              <a:t>equal) will  behave similarly to</a:t>
            </a:r>
            <a:r>
              <a:rPr lang="en-US" sz="2400" spc="-3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pc="-5">
                <a:latin typeface="Arial" panose="020B0604020202020204" pitchFamily="34" charset="0"/>
                <a:cs typeface="Arial" panose="020B0604020202020204" pitchFamily="34" charset="0"/>
              </a:rPr>
              <a:t>BFS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6870" indent="-344170">
              <a:spcBef>
                <a:spcPts val="5"/>
              </a:spcBef>
              <a:buChar char="•"/>
              <a:tabLst>
                <a:tab pos="356870" algn="l"/>
                <a:tab pos="357505" algn="l"/>
              </a:tabLst>
            </a:pP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767130" y="3862822"/>
            <a:ext cx="7612275" cy="3796242"/>
            <a:chOff x="657" y="2180"/>
            <a:chExt cx="4231" cy="2110"/>
          </a:xfrm>
        </p:grpSpPr>
        <p:sp>
          <p:nvSpPr>
            <p:cNvPr id="28823" name="Freeform 3"/>
            <p:cNvSpPr>
              <a:spLocks/>
            </p:cNvSpPr>
            <p:nvPr/>
          </p:nvSpPr>
          <p:spPr bwMode="auto">
            <a:xfrm>
              <a:off x="2261" y="2180"/>
              <a:ext cx="1938" cy="221"/>
            </a:xfrm>
            <a:custGeom>
              <a:avLst/>
              <a:gdLst>
                <a:gd name="T0" fmla="*/ 1938 w 1938"/>
                <a:gd name="T1" fmla="*/ 0 h 221"/>
                <a:gd name="T2" fmla="*/ 1066 w 1938"/>
                <a:gd name="T3" fmla="*/ 210 h 221"/>
                <a:gd name="T4" fmla="*/ 662 w 1938"/>
                <a:gd name="T5" fmla="*/ 221 h 221"/>
                <a:gd name="T6" fmla="*/ 0 w 1938"/>
                <a:gd name="T7" fmla="*/ 32 h 2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38"/>
                <a:gd name="T13" fmla="*/ 0 h 221"/>
                <a:gd name="T14" fmla="*/ 1938 w 1938"/>
                <a:gd name="T15" fmla="*/ 221 h 2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38" h="221">
                  <a:moveTo>
                    <a:pt x="1938" y="0"/>
                  </a:moveTo>
                  <a:lnTo>
                    <a:pt x="1066" y="210"/>
                  </a:lnTo>
                  <a:lnTo>
                    <a:pt x="662" y="221"/>
                  </a:lnTo>
                  <a:lnTo>
                    <a:pt x="0" y="32"/>
                  </a:lnTo>
                </a:path>
              </a:pathLst>
            </a:custGeom>
            <a:solidFill>
              <a:srgbClr val="FF33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040"/>
            </a:p>
          </p:txBody>
        </p:sp>
        <p:sp>
          <p:nvSpPr>
            <p:cNvPr id="28824" name="Freeform 4"/>
            <p:cNvSpPr>
              <a:spLocks/>
            </p:cNvSpPr>
            <p:nvPr/>
          </p:nvSpPr>
          <p:spPr bwMode="auto">
            <a:xfrm>
              <a:off x="657" y="2180"/>
              <a:ext cx="4231" cy="1271"/>
            </a:xfrm>
            <a:custGeom>
              <a:avLst/>
              <a:gdLst>
                <a:gd name="T0" fmla="*/ 4231 w 4231"/>
                <a:gd name="T1" fmla="*/ 32 h 1271"/>
                <a:gd name="T2" fmla="*/ 4150 w 4231"/>
                <a:gd name="T3" fmla="*/ 479 h 1271"/>
                <a:gd name="T4" fmla="*/ 3510 w 4231"/>
                <a:gd name="T5" fmla="*/ 544 h 1271"/>
                <a:gd name="T6" fmla="*/ 2853 w 4231"/>
                <a:gd name="T7" fmla="*/ 232 h 1271"/>
                <a:gd name="T8" fmla="*/ 2212 w 4231"/>
                <a:gd name="T9" fmla="*/ 285 h 1271"/>
                <a:gd name="T10" fmla="*/ 1846 w 4231"/>
                <a:gd name="T11" fmla="*/ 818 h 1271"/>
                <a:gd name="T12" fmla="*/ 1405 w 4231"/>
                <a:gd name="T13" fmla="*/ 824 h 1271"/>
                <a:gd name="T14" fmla="*/ 1259 w 4231"/>
                <a:gd name="T15" fmla="*/ 608 h 1271"/>
                <a:gd name="T16" fmla="*/ 942 w 4231"/>
                <a:gd name="T17" fmla="*/ 598 h 1271"/>
                <a:gd name="T18" fmla="*/ 845 w 4231"/>
                <a:gd name="T19" fmla="*/ 1179 h 1271"/>
                <a:gd name="T20" fmla="*/ 350 w 4231"/>
                <a:gd name="T21" fmla="*/ 1271 h 1271"/>
                <a:gd name="T22" fmla="*/ 0 w 4231"/>
                <a:gd name="T23" fmla="*/ 189 h 1271"/>
                <a:gd name="T24" fmla="*/ 1604 w 4231"/>
                <a:gd name="T25" fmla="*/ 27 h 1271"/>
                <a:gd name="T26" fmla="*/ 2234 w 4231"/>
                <a:gd name="T27" fmla="*/ 210 h 1271"/>
                <a:gd name="T28" fmla="*/ 2654 w 4231"/>
                <a:gd name="T29" fmla="*/ 216 h 1271"/>
                <a:gd name="T30" fmla="*/ 3526 w 4231"/>
                <a:gd name="T31" fmla="*/ 0 h 1271"/>
                <a:gd name="T32" fmla="*/ 4226 w 4231"/>
                <a:gd name="T33" fmla="*/ 27 h 127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231"/>
                <a:gd name="T52" fmla="*/ 0 h 1271"/>
                <a:gd name="T53" fmla="*/ 4231 w 4231"/>
                <a:gd name="T54" fmla="*/ 1271 h 127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231" h="1271">
                  <a:moveTo>
                    <a:pt x="4231" y="32"/>
                  </a:moveTo>
                  <a:lnTo>
                    <a:pt x="4150" y="479"/>
                  </a:lnTo>
                  <a:lnTo>
                    <a:pt x="3510" y="544"/>
                  </a:lnTo>
                  <a:lnTo>
                    <a:pt x="2853" y="232"/>
                  </a:lnTo>
                  <a:lnTo>
                    <a:pt x="2212" y="285"/>
                  </a:lnTo>
                  <a:lnTo>
                    <a:pt x="1846" y="818"/>
                  </a:lnTo>
                  <a:lnTo>
                    <a:pt x="1405" y="824"/>
                  </a:lnTo>
                  <a:lnTo>
                    <a:pt x="1259" y="608"/>
                  </a:lnTo>
                  <a:lnTo>
                    <a:pt x="942" y="598"/>
                  </a:lnTo>
                  <a:lnTo>
                    <a:pt x="845" y="1179"/>
                  </a:lnTo>
                  <a:lnTo>
                    <a:pt x="350" y="1271"/>
                  </a:lnTo>
                  <a:lnTo>
                    <a:pt x="0" y="189"/>
                  </a:lnTo>
                  <a:lnTo>
                    <a:pt x="1604" y="27"/>
                  </a:lnTo>
                  <a:lnTo>
                    <a:pt x="2234" y="210"/>
                  </a:lnTo>
                  <a:lnTo>
                    <a:pt x="2654" y="216"/>
                  </a:lnTo>
                  <a:lnTo>
                    <a:pt x="3526" y="0"/>
                  </a:lnTo>
                  <a:lnTo>
                    <a:pt x="4226" y="27"/>
                  </a:lnTo>
                </a:path>
              </a:pathLst>
            </a:custGeom>
            <a:solidFill>
              <a:srgbClr val="FF99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040"/>
            </a:p>
          </p:txBody>
        </p:sp>
        <p:sp>
          <p:nvSpPr>
            <p:cNvPr id="28825" name="Freeform 5"/>
            <p:cNvSpPr>
              <a:spLocks/>
            </p:cNvSpPr>
            <p:nvPr/>
          </p:nvSpPr>
          <p:spPr bwMode="auto">
            <a:xfrm>
              <a:off x="1007" y="2396"/>
              <a:ext cx="3789" cy="1313"/>
            </a:xfrm>
            <a:custGeom>
              <a:avLst/>
              <a:gdLst>
                <a:gd name="T0" fmla="*/ 3789 w 3789"/>
                <a:gd name="T1" fmla="*/ 269 h 1313"/>
                <a:gd name="T2" fmla="*/ 3784 w 3789"/>
                <a:gd name="T3" fmla="*/ 323 h 1313"/>
                <a:gd name="T4" fmla="*/ 3160 w 3789"/>
                <a:gd name="T5" fmla="*/ 387 h 1313"/>
                <a:gd name="T6" fmla="*/ 2072 w 3789"/>
                <a:gd name="T7" fmla="*/ 312 h 1313"/>
                <a:gd name="T8" fmla="*/ 1733 w 3789"/>
                <a:gd name="T9" fmla="*/ 635 h 1313"/>
                <a:gd name="T10" fmla="*/ 1668 w 3789"/>
                <a:gd name="T11" fmla="*/ 1302 h 1313"/>
                <a:gd name="T12" fmla="*/ 1270 w 3789"/>
                <a:gd name="T13" fmla="*/ 1313 h 1313"/>
                <a:gd name="T14" fmla="*/ 1152 w 3789"/>
                <a:gd name="T15" fmla="*/ 683 h 1313"/>
                <a:gd name="T16" fmla="*/ 920 w 3789"/>
                <a:gd name="T17" fmla="*/ 602 h 1313"/>
                <a:gd name="T18" fmla="*/ 818 w 3789"/>
                <a:gd name="T19" fmla="*/ 403 h 1313"/>
                <a:gd name="T20" fmla="*/ 608 w 3789"/>
                <a:gd name="T21" fmla="*/ 398 h 1313"/>
                <a:gd name="T22" fmla="*/ 516 w 3789"/>
                <a:gd name="T23" fmla="*/ 1012 h 1313"/>
                <a:gd name="T24" fmla="*/ 0 w 3789"/>
                <a:gd name="T25" fmla="*/ 1125 h 1313"/>
                <a:gd name="T26" fmla="*/ 0 w 3789"/>
                <a:gd name="T27" fmla="*/ 1049 h 1313"/>
                <a:gd name="T28" fmla="*/ 490 w 3789"/>
                <a:gd name="T29" fmla="*/ 958 h 1313"/>
                <a:gd name="T30" fmla="*/ 592 w 3789"/>
                <a:gd name="T31" fmla="*/ 376 h 1313"/>
                <a:gd name="T32" fmla="*/ 920 w 3789"/>
                <a:gd name="T33" fmla="*/ 387 h 1313"/>
                <a:gd name="T34" fmla="*/ 1049 w 3789"/>
                <a:gd name="T35" fmla="*/ 608 h 1313"/>
                <a:gd name="T36" fmla="*/ 1496 w 3789"/>
                <a:gd name="T37" fmla="*/ 597 h 1313"/>
                <a:gd name="T38" fmla="*/ 1857 w 3789"/>
                <a:gd name="T39" fmla="*/ 69 h 1313"/>
                <a:gd name="T40" fmla="*/ 2497 w 3789"/>
                <a:gd name="T41" fmla="*/ 0 h 1313"/>
                <a:gd name="T42" fmla="*/ 3170 w 3789"/>
                <a:gd name="T43" fmla="*/ 328 h 1313"/>
                <a:gd name="T44" fmla="*/ 3789 w 3789"/>
                <a:gd name="T45" fmla="*/ 269 h 13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789"/>
                <a:gd name="T70" fmla="*/ 0 h 1313"/>
                <a:gd name="T71" fmla="*/ 3789 w 3789"/>
                <a:gd name="T72" fmla="*/ 1313 h 1313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789" h="1313">
                  <a:moveTo>
                    <a:pt x="3789" y="269"/>
                  </a:moveTo>
                  <a:lnTo>
                    <a:pt x="3784" y="323"/>
                  </a:lnTo>
                  <a:lnTo>
                    <a:pt x="3160" y="387"/>
                  </a:lnTo>
                  <a:lnTo>
                    <a:pt x="2072" y="312"/>
                  </a:lnTo>
                  <a:lnTo>
                    <a:pt x="1733" y="635"/>
                  </a:lnTo>
                  <a:lnTo>
                    <a:pt x="1668" y="1302"/>
                  </a:lnTo>
                  <a:lnTo>
                    <a:pt x="1270" y="1313"/>
                  </a:lnTo>
                  <a:lnTo>
                    <a:pt x="1152" y="683"/>
                  </a:lnTo>
                  <a:lnTo>
                    <a:pt x="920" y="602"/>
                  </a:lnTo>
                  <a:lnTo>
                    <a:pt x="818" y="403"/>
                  </a:lnTo>
                  <a:lnTo>
                    <a:pt x="608" y="398"/>
                  </a:lnTo>
                  <a:lnTo>
                    <a:pt x="516" y="1012"/>
                  </a:lnTo>
                  <a:lnTo>
                    <a:pt x="0" y="1125"/>
                  </a:lnTo>
                  <a:lnTo>
                    <a:pt x="0" y="1049"/>
                  </a:lnTo>
                  <a:lnTo>
                    <a:pt x="490" y="958"/>
                  </a:lnTo>
                  <a:lnTo>
                    <a:pt x="592" y="376"/>
                  </a:lnTo>
                  <a:lnTo>
                    <a:pt x="920" y="387"/>
                  </a:lnTo>
                  <a:lnTo>
                    <a:pt x="1049" y="608"/>
                  </a:lnTo>
                  <a:lnTo>
                    <a:pt x="1496" y="597"/>
                  </a:lnTo>
                  <a:lnTo>
                    <a:pt x="1857" y="69"/>
                  </a:lnTo>
                  <a:lnTo>
                    <a:pt x="2497" y="0"/>
                  </a:lnTo>
                  <a:lnTo>
                    <a:pt x="3170" y="328"/>
                  </a:lnTo>
                  <a:lnTo>
                    <a:pt x="3789" y="269"/>
                  </a:lnTo>
                  <a:close/>
                </a:path>
              </a:pathLst>
            </a:custGeom>
            <a:solidFill>
              <a:srgbClr val="0080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040"/>
            </a:p>
          </p:txBody>
        </p:sp>
        <p:sp>
          <p:nvSpPr>
            <p:cNvPr id="28826" name="Freeform 6"/>
            <p:cNvSpPr>
              <a:spLocks/>
            </p:cNvSpPr>
            <p:nvPr/>
          </p:nvSpPr>
          <p:spPr bwMode="auto">
            <a:xfrm>
              <a:off x="996" y="2697"/>
              <a:ext cx="3784" cy="1330"/>
            </a:xfrm>
            <a:custGeom>
              <a:avLst/>
              <a:gdLst>
                <a:gd name="T0" fmla="*/ 3784 w 3784"/>
                <a:gd name="T1" fmla="*/ 27 h 1330"/>
                <a:gd name="T2" fmla="*/ 3768 w 3784"/>
                <a:gd name="T3" fmla="*/ 75 h 1330"/>
                <a:gd name="T4" fmla="*/ 3208 w 3784"/>
                <a:gd name="T5" fmla="*/ 113 h 1330"/>
                <a:gd name="T6" fmla="*/ 2094 w 3784"/>
                <a:gd name="T7" fmla="*/ 43 h 1330"/>
                <a:gd name="T8" fmla="*/ 1787 w 3784"/>
                <a:gd name="T9" fmla="*/ 350 h 1330"/>
                <a:gd name="T10" fmla="*/ 1723 w 3784"/>
                <a:gd name="T11" fmla="*/ 1287 h 1330"/>
                <a:gd name="T12" fmla="*/ 1400 w 3784"/>
                <a:gd name="T13" fmla="*/ 1330 h 1330"/>
                <a:gd name="T14" fmla="*/ 1378 w 3784"/>
                <a:gd name="T15" fmla="*/ 1055 h 1330"/>
                <a:gd name="T16" fmla="*/ 1216 w 3784"/>
                <a:gd name="T17" fmla="*/ 1039 h 1330"/>
                <a:gd name="T18" fmla="*/ 1120 w 3784"/>
                <a:gd name="T19" fmla="*/ 393 h 1330"/>
                <a:gd name="T20" fmla="*/ 899 w 3784"/>
                <a:gd name="T21" fmla="*/ 323 h 1330"/>
                <a:gd name="T22" fmla="*/ 791 w 3784"/>
                <a:gd name="T23" fmla="*/ 102 h 1330"/>
                <a:gd name="T24" fmla="*/ 630 w 3784"/>
                <a:gd name="T25" fmla="*/ 118 h 1330"/>
                <a:gd name="T26" fmla="*/ 549 w 3784"/>
                <a:gd name="T27" fmla="*/ 770 h 1330"/>
                <a:gd name="T28" fmla="*/ 21 w 3784"/>
                <a:gd name="T29" fmla="*/ 883 h 1330"/>
                <a:gd name="T30" fmla="*/ 0 w 3784"/>
                <a:gd name="T31" fmla="*/ 813 h 1330"/>
                <a:gd name="T32" fmla="*/ 517 w 3784"/>
                <a:gd name="T33" fmla="*/ 711 h 1330"/>
                <a:gd name="T34" fmla="*/ 619 w 3784"/>
                <a:gd name="T35" fmla="*/ 75 h 1330"/>
                <a:gd name="T36" fmla="*/ 840 w 3784"/>
                <a:gd name="T37" fmla="*/ 102 h 1330"/>
                <a:gd name="T38" fmla="*/ 931 w 3784"/>
                <a:gd name="T39" fmla="*/ 307 h 1330"/>
                <a:gd name="T40" fmla="*/ 1157 w 3784"/>
                <a:gd name="T41" fmla="*/ 377 h 1330"/>
                <a:gd name="T42" fmla="*/ 1276 w 3784"/>
                <a:gd name="T43" fmla="*/ 1001 h 1330"/>
                <a:gd name="T44" fmla="*/ 1674 w 3784"/>
                <a:gd name="T45" fmla="*/ 996 h 1330"/>
                <a:gd name="T46" fmla="*/ 1749 w 3784"/>
                <a:gd name="T47" fmla="*/ 328 h 1330"/>
                <a:gd name="T48" fmla="*/ 2089 w 3784"/>
                <a:gd name="T49" fmla="*/ 0 h 1330"/>
                <a:gd name="T50" fmla="*/ 3181 w 3784"/>
                <a:gd name="T51" fmla="*/ 81 h 1330"/>
                <a:gd name="T52" fmla="*/ 3784 w 3784"/>
                <a:gd name="T53" fmla="*/ 27 h 133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784"/>
                <a:gd name="T82" fmla="*/ 0 h 1330"/>
                <a:gd name="T83" fmla="*/ 3784 w 3784"/>
                <a:gd name="T84" fmla="*/ 1330 h 133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784" h="1330">
                  <a:moveTo>
                    <a:pt x="3784" y="27"/>
                  </a:moveTo>
                  <a:lnTo>
                    <a:pt x="3768" y="75"/>
                  </a:lnTo>
                  <a:lnTo>
                    <a:pt x="3208" y="113"/>
                  </a:lnTo>
                  <a:lnTo>
                    <a:pt x="2094" y="43"/>
                  </a:lnTo>
                  <a:lnTo>
                    <a:pt x="1787" y="350"/>
                  </a:lnTo>
                  <a:lnTo>
                    <a:pt x="1723" y="1287"/>
                  </a:lnTo>
                  <a:lnTo>
                    <a:pt x="1400" y="1330"/>
                  </a:lnTo>
                  <a:lnTo>
                    <a:pt x="1378" y="1055"/>
                  </a:lnTo>
                  <a:lnTo>
                    <a:pt x="1216" y="1039"/>
                  </a:lnTo>
                  <a:lnTo>
                    <a:pt x="1120" y="393"/>
                  </a:lnTo>
                  <a:lnTo>
                    <a:pt x="899" y="323"/>
                  </a:lnTo>
                  <a:lnTo>
                    <a:pt x="791" y="102"/>
                  </a:lnTo>
                  <a:lnTo>
                    <a:pt x="630" y="118"/>
                  </a:lnTo>
                  <a:lnTo>
                    <a:pt x="549" y="770"/>
                  </a:lnTo>
                  <a:lnTo>
                    <a:pt x="21" y="883"/>
                  </a:lnTo>
                  <a:lnTo>
                    <a:pt x="0" y="813"/>
                  </a:lnTo>
                  <a:lnTo>
                    <a:pt x="517" y="711"/>
                  </a:lnTo>
                  <a:lnTo>
                    <a:pt x="619" y="75"/>
                  </a:lnTo>
                  <a:lnTo>
                    <a:pt x="840" y="102"/>
                  </a:lnTo>
                  <a:lnTo>
                    <a:pt x="931" y="307"/>
                  </a:lnTo>
                  <a:lnTo>
                    <a:pt x="1157" y="377"/>
                  </a:lnTo>
                  <a:lnTo>
                    <a:pt x="1276" y="1001"/>
                  </a:lnTo>
                  <a:lnTo>
                    <a:pt x="1674" y="996"/>
                  </a:lnTo>
                  <a:lnTo>
                    <a:pt x="1749" y="328"/>
                  </a:lnTo>
                  <a:lnTo>
                    <a:pt x="2089" y="0"/>
                  </a:lnTo>
                  <a:lnTo>
                    <a:pt x="3181" y="81"/>
                  </a:lnTo>
                  <a:lnTo>
                    <a:pt x="3784" y="27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040"/>
            </a:p>
          </p:txBody>
        </p:sp>
        <p:sp>
          <p:nvSpPr>
            <p:cNvPr id="28827" name="Freeform 7"/>
            <p:cNvSpPr>
              <a:spLocks/>
            </p:cNvSpPr>
            <p:nvPr/>
          </p:nvSpPr>
          <p:spPr bwMode="auto">
            <a:xfrm>
              <a:off x="1012" y="2735"/>
              <a:ext cx="3736" cy="1555"/>
            </a:xfrm>
            <a:custGeom>
              <a:avLst/>
              <a:gdLst>
                <a:gd name="T0" fmla="*/ 3736 w 3736"/>
                <a:gd name="T1" fmla="*/ 43 h 1555"/>
                <a:gd name="T2" fmla="*/ 3709 w 3736"/>
                <a:gd name="T3" fmla="*/ 350 h 1555"/>
                <a:gd name="T4" fmla="*/ 2460 w 3736"/>
                <a:gd name="T5" fmla="*/ 1410 h 1555"/>
                <a:gd name="T6" fmla="*/ 942 w 3736"/>
                <a:gd name="T7" fmla="*/ 1555 h 1555"/>
                <a:gd name="T8" fmla="*/ 70 w 3736"/>
                <a:gd name="T9" fmla="*/ 1405 h 1555"/>
                <a:gd name="T10" fmla="*/ 0 w 3736"/>
                <a:gd name="T11" fmla="*/ 845 h 1555"/>
                <a:gd name="T12" fmla="*/ 538 w 3736"/>
                <a:gd name="T13" fmla="*/ 732 h 1555"/>
                <a:gd name="T14" fmla="*/ 619 w 3736"/>
                <a:gd name="T15" fmla="*/ 59 h 1555"/>
                <a:gd name="T16" fmla="*/ 791 w 3736"/>
                <a:gd name="T17" fmla="*/ 70 h 1555"/>
                <a:gd name="T18" fmla="*/ 872 w 3736"/>
                <a:gd name="T19" fmla="*/ 290 h 1555"/>
                <a:gd name="T20" fmla="*/ 1109 w 3736"/>
                <a:gd name="T21" fmla="*/ 360 h 1555"/>
                <a:gd name="T22" fmla="*/ 1195 w 3736"/>
                <a:gd name="T23" fmla="*/ 990 h 1555"/>
                <a:gd name="T24" fmla="*/ 1362 w 3736"/>
                <a:gd name="T25" fmla="*/ 1017 h 1555"/>
                <a:gd name="T26" fmla="*/ 1389 w 3736"/>
                <a:gd name="T27" fmla="*/ 1275 h 1555"/>
                <a:gd name="T28" fmla="*/ 1696 w 3736"/>
                <a:gd name="T29" fmla="*/ 1259 h 1555"/>
                <a:gd name="T30" fmla="*/ 1776 w 3736"/>
                <a:gd name="T31" fmla="*/ 306 h 1555"/>
                <a:gd name="T32" fmla="*/ 2089 w 3736"/>
                <a:gd name="T33" fmla="*/ 0 h 1555"/>
                <a:gd name="T34" fmla="*/ 3208 w 3736"/>
                <a:gd name="T35" fmla="*/ 75 h 1555"/>
                <a:gd name="T36" fmla="*/ 3736 w 3736"/>
                <a:gd name="T37" fmla="*/ 43 h 155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736"/>
                <a:gd name="T58" fmla="*/ 0 h 1555"/>
                <a:gd name="T59" fmla="*/ 3736 w 3736"/>
                <a:gd name="T60" fmla="*/ 1555 h 155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736" h="1555">
                  <a:moveTo>
                    <a:pt x="3736" y="43"/>
                  </a:moveTo>
                  <a:lnTo>
                    <a:pt x="3709" y="350"/>
                  </a:lnTo>
                  <a:lnTo>
                    <a:pt x="2460" y="1410"/>
                  </a:lnTo>
                  <a:lnTo>
                    <a:pt x="942" y="1555"/>
                  </a:lnTo>
                  <a:lnTo>
                    <a:pt x="70" y="1405"/>
                  </a:lnTo>
                  <a:lnTo>
                    <a:pt x="0" y="845"/>
                  </a:lnTo>
                  <a:lnTo>
                    <a:pt x="538" y="732"/>
                  </a:lnTo>
                  <a:lnTo>
                    <a:pt x="619" y="59"/>
                  </a:lnTo>
                  <a:lnTo>
                    <a:pt x="791" y="70"/>
                  </a:lnTo>
                  <a:lnTo>
                    <a:pt x="872" y="290"/>
                  </a:lnTo>
                  <a:lnTo>
                    <a:pt x="1109" y="360"/>
                  </a:lnTo>
                  <a:lnTo>
                    <a:pt x="1195" y="990"/>
                  </a:lnTo>
                  <a:lnTo>
                    <a:pt x="1362" y="1017"/>
                  </a:lnTo>
                  <a:lnTo>
                    <a:pt x="1389" y="1275"/>
                  </a:lnTo>
                  <a:lnTo>
                    <a:pt x="1696" y="1259"/>
                  </a:lnTo>
                  <a:lnTo>
                    <a:pt x="1776" y="306"/>
                  </a:lnTo>
                  <a:lnTo>
                    <a:pt x="2089" y="0"/>
                  </a:lnTo>
                  <a:lnTo>
                    <a:pt x="3208" y="75"/>
                  </a:lnTo>
                  <a:lnTo>
                    <a:pt x="3736" y="43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040"/>
            </a:p>
          </p:txBody>
        </p:sp>
      </p:grpSp>
      <p:sp>
        <p:nvSpPr>
          <p:cNvPr id="28675" name="Rectangle 8"/>
          <p:cNvSpPr>
            <a:spLocks noGrp="1" noChangeArrowheads="1"/>
          </p:cNvSpPr>
          <p:nvPr>
            <p:ph type="title"/>
          </p:nvPr>
        </p:nvSpPr>
        <p:spPr>
          <a:xfrm>
            <a:off x="4638253" y="230299"/>
            <a:ext cx="5748605" cy="430887"/>
          </a:xfrm>
        </p:spPr>
        <p:txBody>
          <a:bodyPr/>
          <a:lstStyle/>
          <a:p>
            <a:pPr eaLnBrk="1" hangingPunct="1"/>
            <a:r>
              <a:rPr lang="en-US"/>
              <a:t>Uniform Cost (Tree) Search</a:t>
            </a:r>
          </a:p>
        </p:txBody>
      </p:sp>
      <p:grpSp>
        <p:nvGrpSpPr>
          <p:cNvPr id="28676" name="Group 9"/>
          <p:cNvGrpSpPr>
            <a:grpSpLocks/>
          </p:cNvGrpSpPr>
          <p:nvPr/>
        </p:nvGrpSpPr>
        <p:grpSpPr bwMode="auto">
          <a:xfrm>
            <a:off x="3657706" y="3832223"/>
            <a:ext cx="6217920" cy="3790358"/>
            <a:chOff x="48" y="2332"/>
            <a:chExt cx="3456" cy="2398"/>
          </a:xfrm>
        </p:grpSpPr>
        <p:sp>
          <p:nvSpPr>
            <p:cNvPr id="28766" name="Text Box 10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13"/>
                <a:t>S</a:t>
              </a:r>
            </a:p>
          </p:txBody>
        </p:sp>
        <p:sp>
          <p:nvSpPr>
            <p:cNvPr id="28767" name="Text Box 11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a</a:t>
              </a:r>
            </a:p>
          </p:txBody>
        </p:sp>
        <p:sp>
          <p:nvSpPr>
            <p:cNvPr id="28768" name="Text Box 12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b</a:t>
              </a:r>
            </a:p>
          </p:txBody>
        </p:sp>
        <p:sp>
          <p:nvSpPr>
            <p:cNvPr id="28769" name="Text Box 13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d</a:t>
              </a:r>
            </a:p>
          </p:txBody>
        </p:sp>
        <p:sp>
          <p:nvSpPr>
            <p:cNvPr id="28770" name="Text Box 14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p</a:t>
              </a:r>
            </a:p>
          </p:txBody>
        </p:sp>
        <p:sp>
          <p:nvSpPr>
            <p:cNvPr id="28771" name="Text Box 15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a</a:t>
              </a:r>
            </a:p>
          </p:txBody>
        </p:sp>
        <p:sp>
          <p:nvSpPr>
            <p:cNvPr id="28772" name="Text Box 16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c</a:t>
              </a:r>
            </a:p>
          </p:txBody>
        </p:sp>
        <p:cxnSp>
          <p:nvCxnSpPr>
            <p:cNvPr id="28773" name="AutoShape 17"/>
            <p:cNvCxnSpPr>
              <a:cxnSpLocks noChangeShapeType="1"/>
              <a:stCxn id="28769" idx="2"/>
              <a:endCxn id="28768" idx="0"/>
            </p:cNvCxnSpPr>
            <p:nvPr/>
          </p:nvCxnSpPr>
          <p:spPr bwMode="auto">
            <a:xfrm flipH="1">
              <a:off x="168" y="2945"/>
              <a:ext cx="336" cy="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4" name="AutoShape 18"/>
            <p:cNvCxnSpPr>
              <a:cxnSpLocks noChangeShapeType="1"/>
              <a:stCxn id="28769" idx="2"/>
              <a:endCxn id="28772" idx="0"/>
            </p:cNvCxnSpPr>
            <p:nvPr/>
          </p:nvCxnSpPr>
          <p:spPr bwMode="auto">
            <a:xfrm>
              <a:off x="504" y="2945"/>
              <a:ext cx="96" cy="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5" name="AutoShape 19"/>
            <p:cNvCxnSpPr>
              <a:cxnSpLocks noChangeShapeType="1"/>
              <a:stCxn id="28768" idx="2"/>
              <a:endCxn id="28767" idx="0"/>
            </p:cNvCxnSpPr>
            <p:nvPr/>
          </p:nvCxnSpPr>
          <p:spPr bwMode="auto">
            <a:xfrm>
              <a:off x="168" y="3290"/>
              <a:ext cx="0" cy="1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6" name="AutoShape 20"/>
            <p:cNvCxnSpPr>
              <a:cxnSpLocks noChangeShapeType="1"/>
              <a:stCxn id="28772" idx="2"/>
              <a:endCxn id="28771" idx="0"/>
            </p:cNvCxnSpPr>
            <p:nvPr/>
          </p:nvCxnSpPr>
          <p:spPr bwMode="auto">
            <a:xfrm>
              <a:off x="600" y="3290"/>
              <a:ext cx="0" cy="1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777" name="Group 21"/>
            <p:cNvGrpSpPr>
              <a:grpSpLocks/>
            </p:cNvGrpSpPr>
            <p:nvPr/>
          </p:nvGrpSpPr>
          <p:grpSpPr bwMode="auto">
            <a:xfrm>
              <a:off x="1776" y="2640"/>
              <a:ext cx="1104" cy="1706"/>
              <a:chOff x="1152" y="2640"/>
              <a:chExt cx="1104" cy="1706"/>
            </a:xfrm>
          </p:grpSpPr>
          <p:sp>
            <p:nvSpPr>
              <p:cNvPr id="28804" name="Text Box 22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e</a:t>
                </a:r>
              </a:p>
            </p:txBody>
          </p:sp>
          <p:sp>
            <p:nvSpPr>
              <p:cNvPr id="28805" name="Text Box 23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p</a:t>
                </a:r>
              </a:p>
            </p:txBody>
          </p:sp>
          <p:sp>
            <p:nvSpPr>
              <p:cNvPr id="28806" name="Text Box 24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h</a:t>
                </a:r>
              </a:p>
            </p:txBody>
          </p:sp>
          <p:sp>
            <p:nvSpPr>
              <p:cNvPr id="28807" name="Text Box 25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f</a:t>
                </a:r>
              </a:p>
            </p:txBody>
          </p:sp>
          <p:sp>
            <p:nvSpPr>
              <p:cNvPr id="28808" name="Text Box 26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r</a:t>
                </a:r>
              </a:p>
            </p:txBody>
          </p:sp>
          <p:sp>
            <p:nvSpPr>
              <p:cNvPr id="28809" name="Text Box 27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28810" name="Text Box 28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28811" name="Text Box 29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c</a:t>
                </a:r>
              </a:p>
            </p:txBody>
          </p:sp>
          <p:sp>
            <p:nvSpPr>
              <p:cNvPr id="28812" name="Text Box 30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813"/>
                  <a:t>G</a:t>
                </a:r>
              </a:p>
            </p:txBody>
          </p:sp>
          <p:sp>
            <p:nvSpPr>
              <p:cNvPr id="28813" name="Text Box 31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a</a:t>
                </a:r>
              </a:p>
            </p:txBody>
          </p:sp>
          <p:cxnSp>
            <p:nvCxnSpPr>
              <p:cNvPr id="28814" name="AutoShape 32"/>
              <p:cNvCxnSpPr>
                <a:cxnSpLocks noChangeShapeType="1"/>
                <a:stCxn id="28804" idx="2"/>
                <a:endCxn id="28806" idx="0"/>
              </p:cNvCxnSpPr>
              <p:nvPr/>
            </p:nvCxnSpPr>
            <p:spPr bwMode="auto">
              <a:xfrm flipH="1">
                <a:off x="1416" y="2897"/>
                <a:ext cx="24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5" name="AutoShape 33"/>
              <p:cNvCxnSpPr>
                <a:cxnSpLocks noChangeShapeType="1"/>
                <a:stCxn id="28804" idx="2"/>
                <a:endCxn id="28808" idx="0"/>
              </p:cNvCxnSpPr>
              <p:nvPr/>
            </p:nvCxnSpPr>
            <p:spPr bwMode="auto">
              <a:xfrm>
                <a:off x="1656" y="2897"/>
                <a:ext cx="192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6" name="AutoShape 34"/>
              <p:cNvCxnSpPr>
                <a:cxnSpLocks noChangeShapeType="1"/>
                <a:stCxn id="28806" idx="2"/>
                <a:endCxn id="28805" idx="0"/>
              </p:cNvCxnSpPr>
              <p:nvPr/>
            </p:nvCxnSpPr>
            <p:spPr bwMode="auto">
              <a:xfrm flipH="1">
                <a:off x="1272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7" name="AutoShape 35"/>
              <p:cNvCxnSpPr>
                <a:cxnSpLocks noChangeShapeType="1"/>
                <a:stCxn id="28806" idx="2"/>
                <a:endCxn id="28809" idx="0"/>
              </p:cNvCxnSpPr>
              <p:nvPr/>
            </p:nvCxnSpPr>
            <p:spPr bwMode="auto">
              <a:xfrm>
                <a:off x="1416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8" name="AutoShape 36"/>
              <p:cNvCxnSpPr>
                <a:cxnSpLocks noChangeShapeType="1"/>
                <a:stCxn id="28808" idx="2"/>
                <a:endCxn id="28807" idx="0"/>
              </p:cNvCxnSpPr>
              <p:nvPr/>
            </p:nvCxnSpPr>
            <p:spPr bwMode="auto">
              <a:xfrm>
                <a:off x="1848" y="3281"/>
                <a:ext cx="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9" name="AutoShape 37"/>
              <p:cNvCxnSpPr>
                <a:cxnSpLocks noChangeShapeType="1"/>
                <a:stCxn id="28805" idx="2"/>
                <a:endCxn id="28810" idx="0"/>
              </p:cNvCxnSpPr>
              <p:nvPr/>
            </p:nvCxnSpPr>
            <p:spPr bwMode="auto">
              <a:xfrm>
                <a:off x="1272" y="3665"/>
                <a:ext cx="0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0" name="AutoShape 38"/>
              <p:cNvCxnSpPr>
                <a:cxnSpLocks noChangeShapeType="1"/>
                <a:stCxn id="28807" idx="2"/>
                <a:endCxn id="28811" idx="0"/>
              </p:cNvCxnSpPr>
              <p:nvPr/>
            </p:nvCxnSpPr>
            <p:spPr bwMode="auto">
              <a:xfrm flipH="1">
                <a:off x="1704" y="3665"/>
                <a:ext cx="144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1" name="AutoShape 39"/>
              <p:cNvCxnSpPr>
                <a:cxnSpLocks noChangeShapeType="1"/>
                <a:stCxn id="28807" idx="2"/>
                <a:endCxn id="28812" idx="0"/>
              </p:cNvCxnSpPr>
              <p:nvPr/>
            </p:nvCxnSpPr>
            <p:spPr bwMode="auto">
              <a:xfrm>
                <a:off x="1848" y="3665"/>
                <a:ext cx="168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2" name="AutoShape 40"/>
              <p:cNvCxnSpPr>
                <a:cxnSpLocks noChangeShapeType="1"/>
                <a:stCxn id="28811" idx="2"/>
                <a:endCxn id="28813" idx="0"/>
              </p:cNvCxnSpPr>
              <p:nvPr/>
            </p:nvCxnSpPr>
            <p:spPr bwMode="auto">
              <a:xfrm>
                <a:off x="1704" y="4010"/>
                <a:ext cx="0" cy="7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8778" name="Text Box 41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q</a:t>
              </a:r>
            </a:p>
          </p:txBody>
        </p:sp>
        <p:cxnSp>
          <p:nvCxnSpPr>
            <p:cNvPr id="28779" name="AutoShape 42"/>
            <p:cNvCxnSpPr>
              <a:cxnSpLocks noChangeShapeType="1"/>
              <a:stCxn id="28770" idx="2"/>
              <a:endCxn id="28778" idx="0"/>
            </p:cNvCxnSpPr>
            <p:nvPr/>
          </p:nvCxnSpPr>
          <p:spPr bwMode="auto">
            <a:xfrm>
              <a:off x="3384" y="2897"/>
              <a:ext cx="0" cy="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780" name="Group 43"/>
            <p:cNvGrpSpPr>
              <a:grpSpLocks/>
            </p:cNvGrpSpPr>
            <p:nvPr/>
          </p:nvGrpSpPr>
          <p:grpSpPr bwMode="auto">
            <a:xfrm>
              <a:off x="624" y="3024"/>
              <a:ext cx="1104" cy="1706"/>
              <a:chOff x="1152" y="2640"/>
              <a:chExt cx="1104" cy="1706"/>
            </a:xfrm>
          </p:grpSpPr>
          <p:sp>
            <p:nvSpPr>
              <p:cNvPr id="28785" name="Text Box 44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e</a:t>
                </a:r>
              </a:p>
            </p:txBody>
          </p:sp>
          <p:sp>
            <p:nvSpPr>
              <p:cNvPr id="28786" name="Text Box 45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p</a:t>
                </a:r>
              </a:p>
            </p:txBody>
          </p:sp>
          <p:sp>
            <p:nvSpPr>
              <p:cNvPr id="28787" name="Text Box 46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h</a:t>
                </a:r>
              </a:p>
            </p:txBody>
          </p:sp>
          <p:sp>
            <p:nvSpPr>
              <p:cNvPr id="28788" name="Text Box 47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f</a:t>
                </a:r>
              </a:p>
            </p:txBody>
          </p:sp>
          <p:sp>
            <p:nvSpPr>
              <p:cNvPr id="28789" name="Text Box 48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r</a:t>
                </a:r>
              </a:p>
            </p:txBody>
          </p:sp>
          <p:sp>
            <p:nvSpPr>
              <p:cNvPr id="28790" name="Text Box 49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28791" name="Text Box 50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28792" name="Text Box 51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c</a:t>
                </a:r>
              </a:p>
            </p:txBody>
          </p:sp>
          <p:sp>
            <p:nvSpPr>
              <p:cNvPr id="28793" name="Text Box 52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813"/>
                  <a:t>G</a:t>
                </a:r>
              </a:p>
            </p:txBody>
          </p:sp>
          <p:sp>
            <p:nvSpPr>
              <p:cNvPr id="28794" name="Text Box 53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a</a:t>
                </a:r>
              </a:p>
            </p:txBody>
          </p:sp>
          <p:cxnSp>
            <p:nvCxnSpPr>
              <p:cNvPr id="28795" name="AutoShape 54"/>
              <p:cNvCxnSpPr>
                <a:cxnSpLocks noChangeShapeType="1"/>
                <a:stCxn id="28785" idx="2"/>
                <a:endCxn id="28787" idx="0"/>
              </p:cNvCxnSpPr>
              <p:nvPr/>
            </p:nvCxnSpPr>
            <p:spPr bwMode="auto">
              <a:xfrm flipH="1">
                <a:off x="1416" y="2897"/>
                <a:ext cx="24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6" name="AutoShape 55"/>
              <p:cNvCxnSpPr>
                <a:cxnSpLocks noChangeShapeType="1"/>
                <a:stCxn id="28785" idx="2"/>
                <a:endCxn id="28789" idx="0"/>
              </p:cNvCxnSpPr>
              <p:nvPr/>
            </p:nvCxnSpPr>
            <p:spPr bwMode="auto">
              <a:xfrm>
                <a:off x="1656" y="2897"/>
                <a:ext cx="192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7" name="AutoShape 56"/>
              <p:cNvCxnSpPr>
                <a:cxnSpLocks noChangeShapeType="1"/>
                <a:stCxn id="28787" idx="2"/>
                <a:endCxn id="28786" idx="0"/>
              </p:cNvCxnSpPr>
              <p:nvPr/>
            </p:nvCxnSpPr>
            <p:spPr bwMode="auto">
              <a:xfrm flipH="1">
                <a:off x="1272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8" name="AutoShape 57"/>
              <p:cNvCxnSpPr>
                <a:cxnSpLocks noChangeShapeType="1"/>
                <a:stCxn id="28787" idx="2"/>
                <a:endCxn id="28790" idx="0"/>
              </p:cNvCxnSpPr>
              <p:nvPr/>
            </p:nvCxnSpPr>
            <p:spPr bwMode="auto">
              <a:xfrm>
                <a:off x="1416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9" name="AutoShape 58"/>
              <p:cNvCxnSpPr>
                <a:cxnSpLocks noChangeShapeType="1"/>
                <a:stCxn id="28789" idx="2"/>
                <a:endCxn id="28788" idx="0"/>
              </p:cNvCxnSpPr>
              <p:nvPr/>
            </p:nvCxnSpPr>
            <p:spPr bwMode="auto">
              <a:xfrm>
                <a:off x="1848" y="3281"/>
                <a:ext cx="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0" name="AutoShape 59"/>
              <p:cNvCxnSpPr>
                <a:cxnSpLocks noChangeShapeType="1"/>
                <a:stCxn id="28786" idx="2"/>
                <a:endCxn id="28791" idx="0"/>
              </p:cNvCxnSpPr>
              <p:nvPr/>
            </p:nvCxnSpPr>
            <p:spPr bwMode="auto">
              <a:xfrm>
                <a:off x="1272" y="3665"/>
                <a:ext cx="0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1" name="AutoShape 60"/>
              <p:cNvCxnSpPr>
                <a:cxnSpLocks noChangeShapeType="1"/>
                <a:stCxn id="28788" idx="2"/>
                <a:endCxn id="28792" idx="0"/>
              </p:cNvCxnSpPr>
              <p:nvPr/>
            </p:nvCxnSpPr>
            <p:spPr bwMode="auto">
              <a:xfrm flipH="1">
                <a:off x="1704" y="3665"/>
                <a:ext cx="144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2" name="AutoShape 61"/>
              <p:cNvCxnSpPr>
                <a:cxnSpLocks noChangeShapeType="1"/>
                <a:stCxn id="28788" idx="2"/>
                <a:endCxn id="28793" idx="0"/>
              </p:cNvCxnSpPr>
              <p:nvPr/>
            </p:nvCxnSpPr>
            <p:spPr bwMode="auto">
              <a:xfrm>
                <a:off x="1848" y="3665"/>
                <a:ext cx="168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3" name="AutoShape 62"/>
              <p:cNvCxnSpPr>
                <a:cxnSpLocks noChangeShapeType="1"/>
                <a:stCxn id="28792" idx="2"/>
                <a:endCxn id="28794" idx="0"/>
              </p:cNvCxnSpPr>
              <p:nvPr/>
            </p:nvCxnSpPr>
            <p:spPr bwMode="auto">
              <a:xfrm>
                <a:off x="1704" y="4010"/>
                <a:ext cx="0" cy="7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8781" name="AutoShape 63"/>
            <p:cNvCxnSpPr>
              <a:cxnSpLocks noChangeShapeType="1"/>
              <a:stCxn id="28769" idx="2"/>
              <a:endCxn id="28785" idx="0"/>
            </p:cNvCxnSpPr>
            <p:nvPr/>
          </p:nvCxnSpPr>
          <p:spPr bwMode="auto">
            <a:xfrm>
              <a:off x="504" y="2945"/>
              <a:ext cx="624" cy="7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2" name="AutoShape 64"/>
            <p:cNvCxnSpPr>
              <a:cxnSpLocks noChangeShapeType="1"/>
              <a:stCxn id="28766" idx="2"/>
              <a:endCxn id="28769" idx="0"/>
            </p:cNvCxnSpPr>
            <p:nvPr/>
          </p:nvCxnSpPr>
          <p:spPr bwMode="auto">
            <a:xfrm flipH="1">
              <a:off x="504" y="2567"/>
              <a:ext cx="1536" cy="1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3" name="AutoShape 65"/>
            <p:cNvCxnSpPr>
              <a:cxnSpLocks noChangeShapeType="1"/>
              <a:stCxn id="28766" idx="2"/>
              <a:endCxn id="28804" idx="0"/>
            </p:cNvCxnSpPr>
            <p:nvPr/>
          </p:nvCxnSpPr>
          <p:spPr bwMode="auto">
            <a:xfrm>
              <a:off x="2040" y="2567"/>
              <a:ext cx="240" cy="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4" name="AutoShape 66"/>
            <p:cNvCxnSpPr>
              <a:cxnSpLocks noChangeShapeType="1"/>
              <a:stCxn id="28766" idx="2"/>
              <a:endCxn id="28770" idx="0"/>
            </p:cNvCxnSpPr>
            <p:nvPr/>
          </p:nvCxnSpPr>
          <p:spPr bwMode="auto">
            <a:xfrm>
              <a:off x="2040" y="2567"/>
              <a:ext cx="1344" cy="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28677" name="Line 67"/>
          <p:cNvSpPr>
            <a:spLocks noChangeShapeType="1"/>
          </p:cNvSpPr>
          <p:nvPr/>
        </p:nvSpPr>
        <p:spPr bwMode="auto">
          <a:xfrm>
            <a:off x="10" y="3713480"/>
            <a:ext cx="138175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805956" name="Oval 68"/>
          <p:cNvSpPr>
            <a:spLocks noChangeArrowheads="1"/>
          </p:cNvSpPr>
          <p:nvPr/>
        </p:nvSpPr>
        <p:spPr bwMode="auto">
          <a:xfrm>
            <a:off x="7076124" y="3882610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28679" name="Oval 69"/>
          <p:cNvSpPr>
            <a:spLocks noChangeArrowheads="1"/>
          </p:cNvSpPr>
          <p:nvPr/>
        </p:nvSpPr>
        <p:spPr bwMode="auto">
          <a:xfrm>
            <a:off x="7077935" y="3884399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5958" name="Oval 70"/>
          <p:cNvSpPr>
            <a:spLocks noChangeArrowheads="1"/>
          </p:cNvSpPr>
          <p:nvPr/>
        </p:nvSpPr>
        <p:spPr bwMode="auto">
          <a:xfrm>
            <a:off x="4344990" y="4443950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5959" name="Oval 71"/>
          <p:cNvSpPr>
            <a:spLocks noChangeArrowheads="1"/>
          </p:cNvSpPr>
          <p:nvPr/>
        </p:nvSpPr>
        <p:spPr bwMode="auto">
          <a:xfrm>
            <a:off x="7511524" y="4368379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5960" name="Oval 72"/>
          <p:cNvSpPr>
            <a:spLocks noChangeArrowheads="1"/>
          </p:cNvSpPr>
          <p:nvPr/>
        </p:nvSpPr>
        <p:spPr bwMode="auto">
          <a:xfrm>
            <a:off x="9488817" y="4386376"/>
            <a:ext cx="329248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28683" name="Text Box 73"/>
          <p:cNvSpPr txBox="1">
            <a:spLocks noChangeArrowheads="1"/>
          </p:cNvSpPr>
          <p:nvPr/>
        </p:nvSpPr>
        <p:spPr bwMode="auto">
          <a:xfrm>
            <a:off x="388627" y="1941426"/>
            <a:ext cx="3713474" cy="1517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 i="1"/>
              <a:t>Strategy: expand a cheapest node first:</a:t>
            </a:r>
          </a:p>
          <a:p>
            <a:pPr>
              <a:spcBef>
                <a:spcPct val="50000"/>
              </a:spcBef>
            </a:pPr>
            <a:r>
              <a:rPr lang="en-US" sz="2040" b="1" i="1">
                <a:solidFill>
                  <a:srgbClr val="CC0000"/>
                </a:solidFill>
              </a:rPr>
              <a:t>Frontier is a priority queue (priority: cumulative cost</a:t>
            </a:r>
            <a:r>
              <a:rPr lang="en-US" sz="2040" i="1"/>
              <a:t>)</a:t>
            </a:r>
          </a:p>
        </p:txBody>
      </p:sp>
      <p:grpSp>
        <p:nvGrpSpPr>
          <p:cNvPr id="28684" name="Group 74"/>
          <p:cNvGrpSpPr>
            <a:grpSpLocks/>
          </p:cNvGrpSpPr>
          <p:nvPr/>
        </p:nvGrpSpPr>
        <p:grpSpPr bwMode="auto">
          <a:xfrm>
            <a:off x="5181602" y="1439335"/>
            <a:ext cx="3632518" cy="2004272"/>
            <a:chOff x="816" y="1056"/>
            <a:chExt cx="4176" cy="2304"/>
          </a:xfrm>
        </p:grpSpPr>
        <p:grpSp>
          <p:nvGrpSpPr>
            <p:cNvPr id="28736" name="Group 75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28738" name="AutoShape 7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40"/>
                  <a:t>S</a:t>
                </a:r>
              </a:p>
            </p:txBody>
          </p:sp>
          <p:sp>
            <p:nvSpPr>
              <p:cNvPr id="28739" name="AutoShape 7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40"/>
                  <a:t>G</a:t>
                </a:r>
              </a:p>
            </p:txBody>
          </p:sp>
          <p:sp>
            <p:nvSpPr>
              <p:cNvPr id="28740" name="AutoShape 7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d</a:t>
                </a:r>
              </a:p>
            </p:txBody>
          </p:sp>
          <p:sp>
            <p:nvSpPr>
              <p:cNvPr id="28741" name="AutoShape 7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b</a:t>
                </a:r>
              </a:p>
            </p:txBody>
          </p:sp>
          <p:sp>
            <p:nvSpPr>
              <p:cNvPr id="28742" name="AutoShape 8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p</a:t>
                </a:r>
              </a:p>
            </p:txBody>
          </p:sp>
          <p:sp>
            <p:nvSpPr>
              <p:cNvPr id="28743" name="AutoShape 8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q</a:t>
                </a:r>
              </a:p>
            </p:txBody>
          </p:sp>
          <p:sp>
            <p:nvSpPr>
              <p:cNvPr id="28744" name="AutoShape 8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c</a:t>
                </a:r>
              </a:p>
            </p:txBody>
          </p:sp>
          <p:sp>
            <p:nvSpPr>
              <p:cNvPr id="28745" name="AutoShape 8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e</a:t>
                </a:r>
              </a:p>
            </p:txBody>
          </p:sp>
          <p:sp>
            <p:nvSpPr>
              <p:cNvPr id="28746" name="AutoShape 8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h</a:t>
                </a:r>
              </a:p>
            </p:txBody>
          </p:sp>
          <p:sp>
            <p:nvSpPr>
              <p:cNvPr id="28747" name="AutoShape 8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a</a:t>
                </a:r>
              </a:p>
            </p:txBody>
          </p:sp>
          <p:sp>
            <p:nvSpPr>
              <p:cNvPr id="28748" name="AutoShape 8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f</a:t>
                </a:r>
              </a:p>
            </p:txBody>
          </p:sp>
          <p:sp>
            <p:nvSpPr>
              <p:cNvPr id="28749" name="AutoShape 8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/>
                  <a:t>r</a:t>
                </a:r>
              </a:p>
            </p:txBody>
          </p:sp>
          <p:cxnSp>
            <p:nvCxnSpPr>
              <p:cNvPr id="28750" name="AutoShape 88"/>
              <p:cNvCxnSpPr>
                <a:cxnSpLocks noChangeShapeType="1"/>
                <a:stCxn id="28738" idx="5"/>
                <a:endCxn id="28742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1" name="AutoShape 89"/>
              <p:cNvCxnSpPr>
                <a:cxnSpLocks noChangeShapeType="1"/>
                <a:stCxn id="28742" idx="5"/>
                <a:endCxn id="28743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2" name="AutoShape 90"/>
              <p:cNvCxnSpPr>
                <a:cxnSpLocks noChangeShapeType="1"/>
                <a:stCxn id="28746" idx="3"/>
                <a:endCxn id="28743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3" name="AutoShape 91"/>
              <p:cNvCxnSpPr>
                <a:cxnSpLocks noChangeShapeType="1"/>
                <a:stCxn id="28746" idx="2"/>
                <a:endCxn id="28742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4" name="AutoShape 92"/>
              <p:cNvCxnSpPr>
                <a:cxnSpLocks noChangeShapeType="1"/>
                <a:stCxn id="28745" idx="4"/>
                <a:endCxn id="28746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5" name="AutoShape 93"/>
              <p:cNvCxnSpPr>
                <a:cxnSpLocks noChangeShapeType="1"/>
                <a:stCxn id="28745" idx="5"/>
                <a:endCxn id="28749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6" name="AutoShape 94"/>
              <p:cNvCxnSpPr>
                <a:cxnSpLocks noChangeShapeType="1"/>
                <a:stCxn id="28749" idx="0"/>
                <a:endCxn id="28748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7" name="AutoShape 95"/>
              <p:cNvCxnSpPr>
                <a:cxnSpLocks noChangeShapeType="1"/>
                <a:stCxn id="28748" idx="0"/>
                <a:endCxn id="28739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8" name="AutoShape 96"/>
              <p:cNvCxnSpPr>
                <a:cxnSpLocks noChangeShapeType="1"/>
                <a:stCxn id="28738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9" name="AutoShape 97"/>
              <p:cNvCxnSpPr>
                <a:cxnSpLocks noChangeShapeType="1"/>
                <a:stCxn id="28740" idx="1"/>
                <a:endCxn id="28741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0" name="AutoShape 98"/>
              <p:cNvCxnSpPr>
                <a:cxnSpLocks noChangeShapeType="1"/>
                <a:endCxn id="28747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1" name="AutoShape 99"/>
              <p:cNvCxnSpPr>
                <a:cxnSpLocks noChangeShapeType="1"/>
                <a:stCxn id="28744" idx="2"/>
                <a:endCxn id="28747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2" name="AutoShape 100"/>
              <p:cNvCxnSpPr>
                <a:cxnSpLocks noChangeShapeType="1"/>
                <a:stCxn id="28740" idx="7"/>
                <a:endCxn id="28744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3" name="AutoShape 101"/>
              <p:cNvCxnSpPr>
                <a:cxnSpLocks noChangeShapeType="1"/>
                <a:stCxn id="28740" idx="6"/>
                <a:endCxn id="28745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4" name="AutoShape 102"/>
              <p:cNvCxnSpPr>
                <a:cxnSpLocks noChangeShapeType="1"/>
                <a:stCxn id="28748" idx="1"/>
                <a:endCxn id="28744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5" name="AutoShape 103"/>
              <p:cNvCxnSpPr>
                <a:cxnSpLocks noChangeShapeType="1"/>
                <a:stCxn id="28738" idx="6"/>
                <a:endCxn id="28745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28737" name="AutoShape 104"/>
            <p:cNvCxnSpPr>
              <a:cxnSpLocks noChangeShapeType="1"/>
              <a:stCxn id="28743" idx="6"/>
              <a:endCxn id="28749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805993" name="Text Box 105"/>
          <p:cNvSpPr txBox="1">
            <a:spLocks noChangeArrowheads="1"/>
          </p:cNvSpPr>
          <p:nvPr/>
        </p:nvSpPr>
        <p:spPr bwMode="auto">
          <a:xfrm>
            <a:off x="4836162" y="4384572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3</a:t>
            </a:r>
          </a:p>
        </p:txBody>
      </p:sp>
      <p:sp>
        <p:nvSpPr>
          <p:cNvPr id="805994" name="Text Box 106"/>
          <p:cNvSpPr txBox="1">
            <a:spLocks noChangeArrowheads="1"/>
          </p:cNvSpPr>
          <p:nvPr/>
        </p:nvSpPr>
        <p:spPr bwMode="auto">
          <a:xfrm>
            <a:off x="7961315" y="4305406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9</a:t>
            </a:r>
          </a:p>
        </p:txBody>
      </p:sp>
      <p:sp>
        <p:nvSpPr>
          <p:cNvPr id="805995" name="Text Box 107"/>
          <p:cNvSpPr txBox="1">
            <a:spLocks noChangeArrowheads="1"/>
          </p:cNvSpPr>
          <p:nvPr/>
        </p:nvSpPr>
        <p:spPr bwMode="auto">
          <a:xfrm>
            <a:off x="9899020" y="4301811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</a:t>
            </a:r>
          </a:p>
        </p:txBody>
      </p:sp>
      <p:sp>
        <p:nvSpPr>
          <p:cNvPr id="805996" name="Oval 108"/>
          <p:cNvSpPr>
            <a:spLocks noChangeArrowheads="1"/>
          </p:cNvSpPr>
          <p:nvPr/>
        </p:nvSpPr>
        <p:spPr bwMode="auto">
          <a:xfrm>
            <a:off x="9487006" y="4384566"/>
            <a:ext cx="329247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5997" name="Oval 109"/>
          <p:cNvSpPr>
            <a:spLocks noChangeArrowheads="1"/>
          </p:cNvSpPr>
          <p:nvPr/>
        </p:nvSpPr>
        <p:spPr bwMode="auto">
          <a:xfrm>
            <a:off x="9506810" y="4965710"/>
            <a:ext cx="329248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5998" name="Text Box 110"/>
          <p:cNvSpPr txBox="1">
            <a:spLocks noChangeArrowheads="1"/>
          </p:cNvSpPr>
          <p:nvPr/>
        </p:nvSpPr>
        <p:spPr bwMode="auto">
          <a:xfrm>
            <a:off x="9927807" y="4877544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16</a:t>
            </a:r>
          </a:p>
        </p:txBody>
      </p:sp>
      <p:sp>
        <p:nvSpPr>
          <p:cNvPr id="805999" name="Oval 111"/>
          <p:cNvSpPr>
            <a:spLocks noChangeArrowheads="1"/>
          </p:cNvSpPr>
          <p:nvPr/>
        </p:nvSpPr>
        <p:spPr bwMode="auto">
          <a:xfrm>
            <a:off x="3713494" y="4985489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00" name="Oval 112"/>
          <p:cNvSpPr>
            <a:spLocks noChangeArrowheads="1"/>
          </p:cNvSpPr>
          <p:nvPr/>
        </p:nvSpPr>
        <p:spPr bwMode="auto">
          <a:xfrm>
            <a:off x="4488924" y="4983703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01" name="Oval 113"/>
          <p:cNvSpPr>
            <a:spLocks noChangeArrowheads="1"/>
          </p:cNvSpPr>
          <p:nvPr/>
        </p:nvSpPr>
        <p:spPr bwMode="auto">
          <a:xfrm>
            <a:off x="5428086" y="4974693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02" name="Text Box 114"/>
          <p:cNvSpPr txBox="1">
            <a:spLocks noChangeArrowheads="1"/>
          </p:cNvSpPr>
          <p:nvPr/>
        </p:nvSpPr>
        <p:spPr bwMode="auto">
          <a:xfrm>
            <a:off x="4040933" y="4935118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4</a:t>
            </a:r>
          </a:p>
        </p:txBody>
      </p:sp>
      <p:sp>
        <p:nvSpPr>
          <p:cNvPr id="806003" name="Text Box 115"/>
          <p:cNvSpPr txBox="1">
            <a:spLocks noChangeArrowheads="1"/>
          </p:cNvSpPr>
          <p:nvPr/>
        </p:nvSpPr>
        <p:spPr bwMode="auto">
          <a:xfrm>
            <a:off x="4708421" y="5107838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11</a:t>
            </a:r>
          </a:p>
        </p:txBody>
      </p:sp>
      <p:sp>
        <p:nvSpPr>
          <p:cNvPr id="806004" name="Text Box 116"/>
          <p:cNvSpPr txBox="1">
            <a:spLocks noChangeArrowheads="1"/>
          </p:cNvSpPr>
          <p:nvPr/>
        </p:nvSpPr>
        <p:spPr bwMode="auto">
          <a:xfrm>
            <a:off x="5762734" y="4904531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5</a:t>
            </a:r>
          </a:p>
        </p:txBody>
      </p:sp>
      <p:sp>
        <p:nvSpPr>
          <p:cNvPr id="806005" name="Oval 117"/>
          <p:cNvSpPr>
            <a:spLocks noChangeArrowheads="1"/>
          </p:cNvSpPr>
          <p:nvPr/>
        </p:nvSpPr>
        <p:spPr bwMode="auto">
          <a:xfrm>
            <a:off x="4344990" y="4443950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06" name="Oval 118"/>
          <p:cNvSpPr>
            <a:spLocks noChangeArrowheads="1"/>
          </p:cNvSpPr>
          <p:nvPr/>
        </p:nvSpPr>
        <p:spPr bwMode="auto">
          <a:xfrm>
            <a:off x="3713494" y="4985489"/>
            <a:ext cx="329248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07" name="Oval 119"/>
          <p:cNvSpPr>
            <a:spLocks noChangeArrowheads="1"/>
          </p:cNvSpPr>
          <p:nvPr/>
        </p:nvSpPr>
        <p:spPr bwMode="auto">
          <a:xfrm>
            <a:off x="3691903" y="5604403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08" name="Oval 120"/>
          <p:cNvSpPr>
            <a:spLocks noChangeArrowheads="1"/>
          </p:cNvSpPr>
          <p:nvPr/>
        </p:nvSpPr>
        <p:spPr bwMode="auto">
          <a:xfrm>
            <a:off x="3693691" y="5604403"/>
            <a:ext cx="329247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09" name="Oval 121"/>
          <p:cNvSpPr>
            <a:spLocks noChangeArrowheads="1"/>
          </p:cNvSpPr>
          <p:nvPr/>
        </p:nvSpPr>
        <p:spPr bwMode="auto">
          <a:xfrm>
            <a:off x="5426301" y="4976504"/>
            <a:ext cx="329248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10" name="Oval 122"/>
          <p:cNvSpPr>
            <a:spLocks noChangeArrowheads="1"/>
          </p:cNvSpPr>
          <p:nvPr/>
        </p:nvSpPr>
        <p:spPr bwMode="auto">
          <a:xfrm>
            <a:off x="5028671" y="5573829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11" name="Oval 123"/>
          <p:cNvSpPr>
            <a:spLocks noChangeArrowheads="1"/>
          </p:cNvSpPr>
          <p:nvPr/>
        </p:nvSpPr>
        <p:spPr bwMode="auto">
          <a:xfrm>
            <a:off x="5795118" y="5582813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12" name="Text Box 124"/>
          <p:cNvSpPr txBox="1">
            <a:spLocks noChangeArrowheads="1"/>
          </p:cNvSpPr>
          <p:nvPr/>
        </p:nvSpPr>
        <p:spPr bwMode="auto">
          <a:xfrm>
            <a:off x="6106375" y="5510851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7</a:t>
            </a:r>
          </a:p>
        </p:txBody>
      </p:sp>
      <p:sp>
        <p:nvSpPr>
          <p:cNvPr id="806013" name="Text Box 125"/>
          <p:cNvSpPr txBox="1">
            <a:spLocks noChangeArrowheads="1"/>
          </p:cNvSpPr>
          <p:nvPr/>
        </p:nvSpPr>
        <p:spPr bwMode="auto">
          <a:xfrm>
            <a:off x="5311142" y="5518045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13</a:t>
            </a:r>
          </a:p>
        </p:txBody>
      </p:sp>
      <p:sp>
        <p:nvSpPr>
          <p:cNvPr id="806014" name="Oval 126"/>
          <p:cNvSpPr>
            <a:spLocks noChangeArrowheads="1"/>
          </p:cNvSpPr>
          <p:nvPr/>
        </p:nvSpPr>
        <p:spPr bwMode="auto">
          <a:xfrm>
            <a:off x="5796928" y="5584623"/>
            <a:ext cx="329248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15" name="Oval 127"/>
          <p:cNvSpPr>
            <a:spLocks noChangeArrowheads="1"/>
          </p:cNvSpPr>
          <p:nvPr/>
        </p:nvSpPr>
        <p:spPr bwMode="auto">
          <a:xfrm>
            <a:off x="5793330" y="6180136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16" name="Text Box 128"/>
          <p:cNvSpPr txBox="1">
            <a:spLocks noChangeArrowheads="1"/>
          </p:cNvSpPr>
          <p:nvPr/>
        </p:nvSpPr>
        <p:spPr bwMode="auto">
          <a:xfrm>
            <a:off x="6093781" y="6117170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8</a:t>
            </a:r>
          </a:p>
        </p:txBody>
      </p:sp>
      <p:sp>
        <p:nvSpPr>
          <p:cNvPr id="806017" name="Oval 129"/>
          <p:cNvSpPr>
            <a:spLocks noChangeArrowheads="1"/>
          </p:cNvSpPr>
          <p:nvPr/>
        </p:nvSpPr>
        <p:spPr bwMode="auto">
          <a:xfrm>
            <a:off x="5795118" y="6181947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18" name="Oval 130"/>
          <p:cNvSpPr>
            <a:spLocks noChangeArrowheads="1"/>
          </p:cNvSpPr>
          <p:nvPr/>
        </p:nvSpPr>
        <p:spPr bwMode="auto">
          <a:xfrm>
            <a:off x="6091990" y="6779270"/>
            <a:ext cx="329248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19" name="Text Box 131"/>
          <p:cNvSpPr txBox="1">
            <a:spLocks noChangeArrowheads="1"/>
          </p:cNvSpPr>
          <p:nvPr/>
        </p:nvSpPr>
        <p:spPr bwMode="auto">
          <a:xfrm>
            <a:off x="6394241" y="6714492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10</a:t>
            </a:r>
          </a:p>
        </p:txBody>
      </p:sp>
      <p:sp>
        <p:nvSpPr>
          <p:cNvPr id="806020" name="Text Box 132"/>
          <p:cNvSpPr txBox="1">
            <a:spLocks noChangeArrowheads="1"/>
          </p:cNvSpPr>
          <p:nvPr/>
        </p:nvSpPr>
        <p:spPr bwMode="auto">
          <a:xfrm>
            <a:off x="5079049" y="6714492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11</a:t>
            </a:r>
          </a:p>
        </p:txBody>
      </p:sp>
      <p:sp>
        <p:nvSpPr>
          <p:cNvPr id="806021" name="Oval 133"/>
          <p:cNvSpPr>
            <a:spLocks noChangeArrowheads="1"/>
          </p:cNvSpPr>
          <p:nvPr/>
        </p:nvSpPr>
        <p:spPr bwMode="auto">
          <a:xfrm>
            <a:off x="5509061" y="6757680"/>
            <a:ext cx="329248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22" name="Oval 134"/>
          <p:cNvSpPr>
            <a:spLocks noChangeArrowheads="1"/>
          </p:cNvSpPr>
          <p:nvPr/>
        </p:nvSpPr>
        <p:spPr bwMode="auto">
          <a:xfrm>
            <a:off x="7506136" y="4370173"/>
            <a:ext cx="329248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23" name="Oval 135"/>
          <p:cNvSpPr>
            <a:spLocks noChangeArrowheads="1"/>
          </p:cNvSpPr>
          <p:nvPr/>
        </p:nvSpPr>
        <p:spPr bwMode="auto">
          <a:xfrm>
            <a:off x="7882151" y="4969309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24" name="Oval 136"/>
          <p:cNvSpPr>
            <a:spLocks noChangeArrowheads="1"/>
          </p:cNvSpPr>
          <p:nvPr/>
        </p:nvSpPr>
        <p:spPr bwMode="auto">
          <a:xfrm>
            <a:off x="7086918" y="4967496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25" name="Text Box 137"/>
          <p:cNvSpPr txBox="1">
            <a:spLocks noChangeArrowheads="1"/>
          </p:cNvSpPr>
          <p:nvPr/>
        </p:nvSpPr>
        <p:spPr bwMode="auto">
          <a:xfrm>
            <a:off x="7353195" y="4904531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17</a:t>
            </a:r>
          </a:p>
        </p:txBody>
      </p:sp>
      <p:sp>
        <p:nvSpPr>
          <p:cNvPr id="806026" name="Text Box 138"/>
          <p:cNvSpPr txBox="1">
            <a:spLocks noChangeArrowheads="1"/>
          </p:cNvSpPr>
          <p:nvPr/>
        </p:nvSpPr>
        <p:spPr bwMode="auto">
          <a:xfrm>
            <a:off x="8164621" y="4891938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11</a:t>
            </a:r>
          </a:p>
        </p:txBody>
      </p:sp>
      <p:sp>
        <p:nvSpPr>
          <p:cNvPr id="806027" name="Oval 139"/>
          <p:cNvSpPr>
            <a:spLocks noChangeArrowheads="1"/>
          </p:cNvSpPr>
          <p:nvPr/>
        </p:nvSpPr>
        <p:spPr bwMode="auto">
          <a:xfrm>
            <a:off x="6091990" y="6781056"/>
            <a:ext cx="329248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28720" name="Text Box 140"/>
          <p:cNvSpPr txBox="1">
            <a:spLocks noChangeArrowheads="1"/>
          </p:cNvSpPr>
          <p:nvPr/>
        </p:nvSpPr>
        <p:spPr bwMode="auto">
          <a:xfrm>
            <a:off x="7423367" y="3799844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0</a:t>
            </a:r>
          </a:p>
        </p:txBody>
      </p:sp>
      <p:sp>
        <p:nvSpPr>
          <p:cNvPr id="806029" name="Text Box 141"/>
          <p:cNvSpPr txBox="1">
            <a:spLocks noChangeArrowheads="1"/>
          </p:cNvSpPr>
          <p:nvPr/>
        </p:nvSpPr>
        <p:spPr bwMode="auto">
          <a:xfrm>
            <a:off x="4028335" y="5516246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6</a:t>
            </a:r>
          </a:p>
        </p:txBody>
      </p:sp>
      <p:sp>
        <p:nvSpPr>
          <p:cNvPr id="28722" name="Text Box 142"/>
          <p:cNvSpPr txBox="1">
            <a:spLocks noChangeArrowheads="1"/>
          </p:cNvSpPr>
          <p:nvPr/>
        </p:nvSpPr>
        <p:spPr bwMode="auto">
          <a:xfrm>
            <a:off x="5536036" y="2238170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3</a:t>
            </a:r>
          </a:p>
        </p:txBody>
      </p:sp>
      <p:sp>
        <p:nvSpPr>
          <p:cNvPr id="28723" name="Text Box 143"/>
          <p:cNvSpPr txBox="1">
            <a:spLocks noChangeArrowheads="1"/>
          </p:cNvSpPr>
          <p:nvPr/>
        </p:nvSpPr>
        <p:spPr bwMode="auto">
          <a:xfrm>
            <a:off x="6662315" y="2412685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9</a:t>
            </a:r>
          </a:p>
        </p:txBody>
      </p:sp>
      <p:sp>
        <p:nvSpPr>
          <p:cNvPr id="28724" name="Text Box 144"/>
          <p:cNvSpPr txBox="1">
            <a:spLocks noChangeArrowheads="1"/>
          </p:cNvSpPr>
          <p:nvPr/>
        </p:nvSpPr>
        <p:spPr bwMode="auto">
          <a:xfrm>
            <a:off x="5366915" y="2972230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</a:t>
            </a:r>
          </a:p>
        </p:txBody>
      </p:sp>
      <p:sp>
        <p:nvSpPr>
          <p:cNvPr id="28725" name="Text Box 145"/>
          <p:cNvSpPr txBox="1">
            <a:spLocks noChangeArrowheads="1"/>
          </p:cNvSpPr>
          <p:nvPr/>
        </p:nvSpPr>
        <p:spPr bwMode="auto">
          <a:xfrm>
            <a:off x="5921056" y="1878336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</a:t>
            </a:r>
          </a:p>
        </p:txBody>
      </p:sp>
      <p:sp>
        <p:nvSpPr>
          <p:cNvPr id="28726" name="Text Box 146"/>
          <p:cNvSpPr txBox="1">
            <a:spLocks noChangeArrowheads="1"/>
          </p:cNvSpPr>
          <p:nvPr/>
        </p:nvSpPr>
        <p:spPr bwMode="auto">
          <a:xfrm>
            <a:off x="5706956" y="1381764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2</a:t>
            </a:r>
          </a:p>
        </p:txBody>
      </p:sp>
      <p:sp>
        <p:nvSpPr>
          <p:cNvPr id="28727" name="Text Box 147"/>
          <p:cNvSpPr txBox="1">
            <a:spLocks noChangeArrowheads="1"/>
          </p:cNvSpPr>
          <p:nvPr/>
        </p:nvSpPr>
        <p:spPr bwMode="auto">
          <a:xfrm>
            <a:off x="6520182" y="1858544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8</a:t>
            </a:r>
          </a:p>
        </p:txBody>
      </p:sp>
      <p:sp>
        <p:nvSpPr>
          <p:cNvPr id="28728" name="Text Box 148"/>
          <p:cNvSpPr txBox="1">
            <a:spLocks noChangeArrowheads="1"/>
          </p:cNvSpPr>
          <p:nvPr/>
        </p:nvSpPr>
        <p:spPr bwMode="auto">
          <a:xfrm>
            <a:off x="7574495" y="2553023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8</a:t>
            </a:r>
          </a:p>
        </p:txBody>
      </p:sp>
      <p:sp>
        <p:nvSpPr>
          <p:cNvPr id="28729" name="Text Box 149"/>
          <p:cNvSpPr txBox="1">
            <a:spLocks noChangeArrowheads="1"/>
          </p:cNvSpPr>
          <p:nvPr/>
        </p:nvSpPr>
        <p:spPr bwMode="auto">
          <a:xfrm>
            <a:off x="7948717" y="2409090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2</a:t>
            </a:r>
          </a:p>
        </p:txBody>
      </p:sp>
      <p:sp>
        <p:nvSpPr>
          <p:cNvPr id="28730" name="Text Box 150"/>
          <p:cNvSpPr txBox="1">
            <a:spLocks noChangeArrowheads="1"/>
          </p:cNvSpPr>
          <p:nvPr/>
        </p:nvSpPr>
        <p:spPr bwMode="auto">
          <a:xfrm>
            <a:off x="6196334" y="3231310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15</a:t>
            </a:r>
          </a:p>
        </p:txBody>
      </p:sp>
      <p:sp>
        <p:nvSpPr>
          <p:cNvPr id="28731" name="Text Box 151"/>
          <p:cNvSpPr txBox="1">
            <a:spLocks noChangeArrowheads="1"/>
          </p:cNvSpPr>
          <p:nvPr/>
        </p:nvSpPr>
        <p:spPr bwMode="auto">
          <a:xfrm>
            <a:off x="8546042" y="2687958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</a:t>
            </a:r>
          </a:p>
        </p:txBody>
      </p:sp>
      <p:sp>
        <p:nvSpPr>
          <p:cNvPr id="28732" name="Text Box 152"/>
          <p:cNvSpPr txBox="1">
            <a:spLocks noChangeArrowheads="1"/>
          </p:cNvSpPr>
          <p:nvPr/>
        </p:nvSpPr>
        <p:spPr bwMode="auto">
          <a:xfrm>
            <a:off x="8564035" y="1950303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2</a:t>
            </a:r>
          </a:p>
        </p:txBody>
      </p:sp>
      <p:sp>
        <p:nvSpPr>
          <p:cNvPr id="806041" name="AutoShape 153"/>
          <p:cNvSpPr>
            <a:spLocks/>
          </p:cNvSpPr>
          <p:nvPr/>
        </p:nvSpPr>
        <p:spPr bwMode="auto">
          <a:xfrm>
            <a:off x="2164401" y="4094900"/>
            <a:ext cx="449792" cy="3384233"/>
          </a:xfrm>
          <a:prstGeom prst="leftBrace">
            <a:avLst>
              <a:gd name="adj1" fmla="val 627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42" name="Text Box 154"/>
          <p:cNvSpPr txBox="1">
            <a:spLocks noChangeArrowheads="1"/>
          </p:cNvSpPr>
          <p:nvPr/>
        </p:nvSpPr>
        <p:spPr bwMode="auto">
          <a:xfrm>
            <a:off x="1036322" y="5471271"/>
            <a:ext cx="1313392" cy="732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40"/>
              <a:t>Cost contours</a:t>
            </a:r>
          </a:p>
        </p:txBody>
      </p:sp>
      <p:sp>
        <p:nvSpPr>
          <p:cNvPr id="28735" name="Text Box 155"/>
          <p:cNvSpPr txBox="1">
            <a:spLocks noChangeArrowheads="1"/>
          </p:cNvSpPr>
          <p:nvPr/>
        </p:nvSpPr>
        <p:spPr bwMode="auto">
          <a:xfrm>
            <a:off x="6951982" y="2070844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956" grpId="0" animBg="1"/>
      <p:bldP spid="805958" grpId="0" animBg="1"/>
      <p:bldP spid="805959" grpId="0" animBg="1"/>
      <p:bldP spid="805960" grpId="0" animBg="1"/>
      <p:bldP spid="805993" grpId="0"/>
      <p:bldP spid="805994" grpId="0"/>
      <p:bldP spid="805995" grpId="0"/>
      <p:bldP spid="805996" grpId="0" animBg="1"/>
      <p:bldP spid="805997" grpId="0" animBg="1"/>
      <p:bldP spid="805998" grpId="0"/>
      <p:bldP spid="805999" grpId="0" animBg="1"/>
      <p:bldP spid="806000" grpId="0" animBg="1"/>
      <p:bldP spid="806001" grpId="0" animBg="1"/>
      <p:bldP spid="806002" grpId="0"/>
      <p:bldP spid="806003" grpId="0"/>
      <p:bldP spid="806004" grpId="0"/>
      <p:bldP spid="806005" grpId="0" animBg="1"/>
      <p:bldP spid="806006" grpId="0" animBg="1"/>
      <p:bldP spid="806007" grpId="0" animBg="1"/>
      <p:bldP spid="806008" grpId="0" animBg="1"/>
      <p:bldP spid="806009" grpId="0" animBg="1"/>
      <p:bldP spid="806010" grpId="0" animBg="1"/>
      <p:bldP spid="806011" grpId="0" animBg="1"/>
      <p:bldP spid="806012" grpId="0"/>
      <p:bldP spid="806013" grpId="0"/>
      <p:bldP spid="806014" grpId="0" animBg="1"/>
      <p:bldP spid="806015" grpId="0" animBg="1"/>
      <p:bldP spid="806016" grpId="0"/>
      <p:bldP spid="806017" grpId="0" animBg="1"/>
      <p:bldP spid="806018" grpId="0" animBg="1"/>
      <p:bldP spid="806019" grpId="0"/>
      <p:bldP spid="806020" grpId="0"/>
      <p:bldP spid="806021" grpId="0" animBg="1"/>
      <p:bldP spid="806022" grpId="0" animBg="1"/>
      <p:bldP spid="806023" grpId="0" animBg="1"/>
      <p:bldP spid="806024" grpId="0" animBg="1"/>
      <p:bldP spid="806025" grpId="0"/>
      <p:bldP spid="806026" grpId="0"/>
      <p:bldP spid="806027" grpId="0" animBg="1"/>
      <p:bldP spid="806029" grpId="0"/>
      <p:bldP spid="806041" grpId="0" animBg="1"/>
      <p:bldP spid="80604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31A014-6195-A9A6-8695-67A6580BB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255" y="76200"/>
            <a:ext cx="11542228" cy="716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2453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67"/>
          <p:cNvSpPr>
            <a:spLocks/>
          </p:cNvSpPr>
          <p:nvPr/>
        </p:nvSpPr>
        <p:spPr bwMode="auto">
          <a:xfrm>
            <a:off x="10593486" y="3417056"/>
            <a:ext cx="1831552" cy="26987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267"/>
          </a:p>
        </p:txBody>
      </p:sp>
      <p:sp>
        <p:nvSpPr>
          <p:cNvPr id="26" name="Freeform 67"/>
          <p:cNvSpPr>
            <a:spLocks/>
          </p:cNvSpPr>
          <p:nvPr/>
        </p:nvSpPr>
        <p:spPr bwMode="auto">
          <a:xfrm>
            <a:off x="10766205" y="3417064"/>
            <a:ext cx="1554480" cy="2158820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986 w 10000"/>
              <a:gd name="connsiteY8" fmla="*/ 8420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5000 w 10000"/>
              <a:gd name="connsiteY5" fmla="*/ 9615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9761"/>
              <a:gd name="connsiteX1" fmla="*/ 10000 w 10000"/>
              <a:gd name="connsiteY1" fmla="*/ 5613 h 9761"/>
              <a:gd name="connsiteX2" fmla="*/ 7583 w 10000"/>
              <a:gd name="connsiteY2" fmla="*/ 6520 h 9761"/>
              <a:gd name="connsiteX3" fmla="*/ 6667 w 10000"/>
              <a:gd name="connsiteY3" fmla="*/ 8846 h 9761"/>
              <a:gd name="connsiteX4" fmla="*/ 5556 w 10000"/>
              <a:gd name="connsiteY4" fmla="*/ 9615 h 9761"/>
              <a:gd name="connsiteX5" fmla="*/ 5000 w 10000"/>
              <a:gd name="connsiteY5" fmla="*/ 9615 h 9761"/>
              <a:gd name="connsiteX6" fmla="*/ 3988 w 10000"/>
              <a:gd name="connsiteY6" fmla="*/ 9213 h 9761"/>
              <a:gd name="connsiteX7" fmla="*/ 3409 w 10000"/>
              <a:gd name="connsiteY7" fmla="*/ 8747 h 9761"/>
              <a:gd name="connsiteX8" fmla="*/ 2778 w 10000"/>
              <a:gd name="connsiteY8" fmla="*/ 8077 h 9761"/>
              <a:gd name="connsiteX9" fmla="*/ 0 w 10000"/>
              <a:gd name="connsiteY9" fmla="*/ 7873 h 9761"/>
              <a:gd name="connsiteX10" fmla="*/ 5560 w 10000"/>
              <a:gd name="connsiteY10" fmla="*/ 1127 h 9761"/>
              <a:gd name="connsiteX11" fmla="*/ 6248 w 10000"/>
              <a:gd name="connsiteY11" fmla="*/ 1093 h 9761"/>
              <a:gd name="connsiteX0" fmla="*/ 6248 w 10000"/>
              <a:gd name="connsiteY0" fmla="*/ 1120 h 9850"/>
              <a:gd name="connsiteX1" fmla="*/ 10000 w 10000"/>
              <a:gd name="connsiteY1" fmla="*/ 5750 h 9850"/>
              <a:gd name="connsiteX2" fmla="*/ 7583 w 10000"/>
              <a:gd name="connsiteY2" fmla="*/ 6680 h 9850"/>
              <a:gd name="connsiteX3" fmla="*/ 6667 w 10000"/>
              <a:gd name="connsiteY3" fmla="*/ 9063 h 9850"/>
              <a:gd name="connsiteX4" fmla="*/ 5000 w 10000"/>
              <a:gd name="connsiteY4" fmla="*/ 9850 h 9850"/>
              <a:gd name="connsiteX5" fmla="*/ 3988 w 10000"/>
              <a:gd name="connsiteY5" fmla="*/ 9439 h 9850"/>
              <a:gd name="connsiteX6" fmla="*/ 3409 w 10000"/>
              <a:gd name="connsiteY6" fmla="*/ 8961 h 9850"/>
              <a:gd name="connsiteX7" fmla="*/ 2778 w 10000"/>
              <a:gd name="connsiteY7" fmla="*/ 8275 h 9850"/>
              <a:gd name="connsiteX8" fmla="*/ 0 w 10000"/>
              <a:gd name="connsiteY8" fmla="*/ 8066 h 9850"/>
              <a:gd name="connsiteX9" fmla="*/ 5560 w 10000"/>
              <a:gd name="connsiteY9" fmla="*/ 1155 h 9850"/>
              <a:gd name="connsiteX10" fmla="*/ 6248 w 10000"/>
              <a:gd name="connsiteY10" fmla="*/ 1120 h 985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5000 w 10000"/>
              <a:gd name="connsiteY3" fmla="*/ 10000 h 10000"/>
              <a:gd name="connsiteX4" fmla="*/ 3988 w 10000"/>
              <a:gd name="connsiteY4" fmla="*/ 9583 h 10000"/>
              <a:gd name="connsiteX5" fmla="*/ 3409 w 10000"/>
              <a:gd name="connsiteY5" fmla="*/ 9097 h 10000"/>
              <a:gd name="connsiteX6" fmla="*/ 2778 w 10000"/>
              <a:gd name="connsiteY6" fmla="*/ 8401 h 10000"/>
              <a:gd name="connsiteX7" fmla="*/ 0 w 10000"/>
              <a:gd name="connsiteY7" fmla="*/ 8189 h 10000"/>
              <a:gd name="connsiteX8" fmla="*/ 5560 w 10000"/>
              <a:gd name="connsiteY8" fmla="*/ 1173 h 10000"/>
              <a:gd name="connsiteX9" fmla="*/ 6248 w 10000"/>
              <a:gd name="connsiteY9" fmla="*/ 1137 h 1000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6667 w 10000"/>
              <a:gd name="connsiteY3" fmla="*/ 8401 h 10000"/>
              <a:gd name="connsiteX4" fmla="*/ 5000 w 10000"/>
              <a:gd name="connsiteY4" fmla="*/ 10000 h 10000"/>
              <a:gd name="connsiteX5" fmla="*/ 3988 w 10000"/>
              <a:gd name="connsiteY5" fmla="*/ 9583 h 10000"/>
              <a:gd name="connsiteX6" fmla="*/ 3409 w 10000"/>
              <a:gd name="connsiteY6" fmla="*/ 9097 h 10000"/>
              <a:gd name="connsiteX7" fmla="*/ 2778 w 10000"/>
              <a:gd name="connsiteY7" fmla="*/ 8401 h 10000"/>
              <a:gd name="connsiteX8" fmla="*/ 0 w 10000"/>
              <a:gd name="connsiteY8" fmla="*/ 8189 h 10000"/>
              <a:gd name="connsiteX9" fmla="*/ 5560 w 10000"/>
              <a:gd name="connsiteY9" fmla="*/ 1173 h 10000"/>
              <a:gd name="connsiteX10" fmla="*/ 6248 w 10000"/>
              <a:gd name="connsiteY10" fmla="*/ 113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267"/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11458891" y="3847058"/>
            <a:ext cx="311258" cy="453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67"/>
              <a:t>…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xfrm>
            <a:off x="1879600" y="215182"/>
            <a:ext cx="8195724" cy="553998"/>
          </a:xfrm>
        </p:spPr>
        <p:txBody>
          <a:bodyPr/>
          <a:lstStyle/>
          <a:p>
            <a:pPr eaLnBrk="1" hangingPunct="1"/>
            <a:r>
              <a:rPr lang="en-US" sz="3600"/>
              <a:t>Uniform Cost Search (UCS) Properties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idx="1"/>
          </p:nvPr>
        </p:nvSpPr>
        <p:spPr>
          <a:xfrm>
            <a:off x="460588" y="1448268"/>
            <a:ext cx="8967048" cy="4171463"/>
          </a:xfrm>
        </p:spPr>
        <p:txBody>
          <a:bodyPr/>
          <a:lstStyle/>
          <a:p>
            <a:r>
              <a:rPr lang="en-US" sz="2720"/>
              <a:t>What nodes does UCS expand?</a:t>
            </a:r>
          </a:p>
          <a:p>
            <a:pPr lvl="1"/>
            <a:r>
              <a:rPr lang="en-US"/>
              <a:t>Processes all nodes with cost less than cheapest solution!</a:t>
            </a:r>
          </a:p>
          <a:p>
            <a:pPr lvl="1"/>
            <a:r>
              <a:rPr lang="en-US"/>
              <a:t>If that solution costs </a:t>
            </a:r>
            <a:r>
              <a:rPr lang="en-US" i="1">
                <a:latin typeface="Times New Roman" pitchFamily="18" charset="0"/>
              </a:rPr>
              <a:t>C* </a:t>
            </a:r>
            <a:r>
              <a:rPr lang="en-US"/>
              <a:t>and arcs cost at least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 </a:t>
            </a:r>
            <a:r>
              <a:rPr lang="en-US" i="1">
                <a:sym typeface="Symbol" pitchFamily="18" charset="2"/>
              </a:rPr>
              <a:t>,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then the “effective depth” is roughly </a:t>
            </a:r>
            <a:r>
              <a:rPr lang="en-US" i="1">
                <a:latin typeface="Times New Roman" pitchFamily="18" charset="0"/>
              </a:rPr>
              <a:t>C*/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</a:t>
            </a:r>
            <a:endParaRPr lang="en-US"/>
          </a:p>
          <a:p>
            <a:pPr lvl="1"/>
            <a:r>
              <a:rPr lang="en-US"/>
              <a:t>Takes time O(</a:t>
            </a:r>
            <a:r>
              <a:rPr lang="en-US" err="1"/>
              <a:t>b</a:t>
            </a:r>
            <a:r>
              <a:rPr lang="en-US" i="1" baseline="30000" err="1">
                <a:latin typeface="Times New Roman" pitchFamily="18" charset="0"/>
              </a:rPr>
              <a:t>C</a:t>
            </a:r>
            <a:r>
              <a:rPr lang="en-US" i="1" baseline="30000">
                <a:latin typeface="Times New Roman" pitchFamily="18" charset="0"/>
              </a:rPr>
              <a:t>*/</a:t>
            </a:r>
            <a:r>
              <a:rPr lang="en-US" i="1" baseline="3000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/>
              <a:t>) (exponential in effective depth)</a:t>
            </a:r>
          </a:p>
          <a:p>
            <a:pPr lvl="3"/>
            <a:endParaRPr lang="en-US" sz="1360"/>
          </a:p>
          <a:p>
            <a:r>
              <a:rPr lang="en-US" sz="2720"/>
              <a:t>How much space does the frontier take?</a:t>
            </a:r>
          </a:p>
          <a:p>
            <a:pPr lvl="1"/>
            <a:r>
              <a:rPr lang="en-US"/>
              <a:t>Has roughly the last tier, so O(</a:t>
            </a:r>
            <a:r>
              <a:rPr lang="en-US" err="1"/>
              <a:t>b</a:t>
            </a:r>
            <a:r>
              <a:rPr lang="en-US" i="1" baseline="30000" err="1">
                <a:latin typeface="Times New Roman" pitchFamily="18" charset="0"/>
              </a:rPr>
              <a:t>C</a:t>
            </a:r>
            <a:r>
              <a:rPr lang="en-US" i="1" baseline="30000">
                <a:latin typeface="Times New Roman" pitchFamily="18" charset="0"/>
              </a:rPr>
              <a:t>*/</a:t>
            </a:r>
            <a:r>
              <a:rPr lang="en-US" i="1" baseline="3000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/>
              <a:t>)</a:t>
            </a:r>
          </a:p>
          <a:p>
            <a:pPr lvl="3"/>
            <a:endParaRPr lang="en-US" sz="1360"/>
          </a:p>
          <a:p>
            <a:r>
              <a:rPr lang="en-US" sz="2720"/>
              <a:t>Is it complete?</a:t>
            </a:r>
          </a:p>
          <a:p>
            <a:pPr lvl="1"/>
            <a:r>
              <a:rPr lang="en-US"/>
              <a:t>Assuming best solution has a finite cost and minimum arc cost is positive, yes!</a:t>
            </a:r>
          </a:p>
          <a:p>
            <a:pPr lvl="2"/>
            <a:endParaRPr lang="en-US" sz="907"/>
          </a:p>
          <a:p>
            <a:r>
              <a:rPr lang="en-US" sz="2720"/>
              <a:t>Is it optimal?</a:t>
            </a:r>
          </a:p>
          <a:p>
            <a:pPr lvl="1"/>
            <a:r>
              <a:rPr lang="en-US"/>
              <a:t>Yes!  </a:t>
            </a:r>
          </a:p>
          <a:p>
            <a:endParaRPr lang="en-US"/>
          </a:p>
        </p:txBody>
      </p:sp>
      <p:sp>
        <p:nvSpPr>
          <p:cNvPr id="24614" name="Freeform 38"/>
          <p:cNvSpPr>
            <a:spLocks/>
          </p:cNvSpPr>
          <p:nvPr/>
        </p:nvSpPr>
        <p:spPr bwMode="auto">
          <a:xfrm>
            <a:off x="10039350" y="3613161"/>
            <a:ext cx="3317664" cy="2894860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267"/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11574030" y="3534000"/>
            <a:ext cx="203306" cy="20330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267"/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11311350" y="4016179"/>
            <a:ext cx="203306" cy="20330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267"/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11851103" y="4005380"/>
            <a:ext cx="203306" cy="20330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267"/>
          </a:p>
        </p:txBody>
      </p:sp>
      <p:sp>
        <p:nvSpPr>
          <p:cNvPr id="24619" name="Freeform 43"/>
          <p:cNvSpPr>
            <a:spLocks/>
          </p:cNvSpPr>
          <p:nvPr/>
        </p:nvSpPr>
        <p:spPr bwMode="auto">
          <a:xfrm>
            <a:off x="11439090" y="3794880"/>
            <a:ext cx="503767" cy="100753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103614" tIns="51814" rIns="103614" bIns="51814"/>
          <a:lstStyle/>
          <a:p>
            <a:endParaRPr lang="en-US" sz="2267"/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11111646" y="3589777"/>
            <a:ext cx="338244" cy="453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67"/>
              <a:t>b</a:t>
            </a:r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10938926" y="6414469"/>
            <a:ext cx="203305" cy="20330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267"/>
          </a:p>
        </p:txBody>
      </p:sp>
      <p:sp>
        <p:nvSpPr>
          <p:cNvPr id="24626" name="Oval 50"/>
          <p:cNvSpPr>
            <a:spLocks noChangeArrowheads="1"/>
          </p:cNvSpPr>
          <p:nvPr/>
        </p:nvSpPr>
        <p:spPr bwMode="auto">
          <a:xfrm>
            <a:off x="12131770" y="5194631"/>
            <a:ext cx="203306" cy="203305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267"/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11588423" y="5824342"/>
            <a:ext cx="203306" cy="203305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267"/>
          </a:p>
        </p:txBody>
      </p:sp>
      <p:sp>
        <p:nvSpPr>
          <p:cNvPr id="24631" name="AutoShape 55"/>
          <p:cNvSpPr>
            <a:spLocks/>
          </p:cNvSpPr>
          <p:nvPr/>
        </p:nvSpPr>
        <p:spPr bwMode="auto">
          <a:xfrm>
            <a:off x="10041142" y="3417056"/>
            <a:ext cx="300460" cy="2245360"/>
          </a:xfrm>
          <a:prstGeom prst="leftBrace">
            <a:avLst>
              <a:gd name="adj1" fmla="val 52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267"/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8434484" y="4293882"/>
            <a:ext cx="1640840" cy="453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67" i="1">
                <a:latin typeface="Times New Roman" pitchFamily="18" charset="0"/>
              </a:rPr>
              <a:t>C*/</a:t>
            </a:r>
            <a:r>
              <a:rPr lang="en-US" sz="2267" i="1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sz="2267"/>
              <a:t>  “tiers”</a:t>
            </a:r>
          </a:p>
        </p:txBody>
      </p:sp>
      <p:sp>
        <p:nvSpPr>
          <p:cNvPr id="27" name="Freeform 67"/>
          <p:cNvSpPr>
            <a:spLocks/>
          </p:cNvSpPr>
          <p:nvPr/>
        </p:nvSpPr>
        <p:spPr bwMode="auto">
          <a:xfrm>
            <a:off x="11111644" y="3503605"/>
            <a:ext cx="949960" cy="1381580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986 w 10000"/>
              <a:gd name="connsiteY8" fmla="*/ 8420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5000 w 10000"/>
              <a:gd name="connsiteY5" fmla="*/ 9615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9761"/>
              <a:gd name="connsiteX1" fmla="*/ 10000 w 10000"/>
              <a:gd name="connsiteY1" fmla="*/ 5613 h 9761"/>
              <a:gd name="connsiteX2" fmla="*/ 7583 w 10000"/>
              <a:gd name="connsiteY2" fmla="*/ 6520 h 9761"/>
              <a:gd name="connsiteX3" fmla="*/ 6667 w 10000"/>
              <a:gd name="connsiteY3" fmla="*/ 8846 h 9761"/>
              <a:gd name="connsiteX4" fmla="*/ 5556 w 10000"/>
              <a:gd name="connsiteY4" fmla="*/ 9615 h 9761"/>
              <a:gd name="connsiteX5" fmla="*/ 5000 w 10000"/>
              <a:gd name="connsiteY5" fmla="*/ 9615 h 9761"/>
              <a:gd name="connsiteX6" fmla="*/ 3988 w 10000"/>
              <a:gd name="connsiteY6" fmla="*/ 9213 h 9761"/>
              <a:gd name="connsiteX7" fmla="*/ 3409 w 10000"/>
              <a:gd name="connsiteY7" fmla="*/ 8747 h 9761"/>
              <a:gd name="connsiteX8" fmla="*/ 2778 w 10000"/>
              <a:gd name="connsiteY8" fmla="*/ 8077 h 9761"/>
              <a:gd name="connsiteX9" fmla="*/ 0 w 10000"/>
              <a:gd name="connsiteY9" fmla="*/ 7873 h 9761"/>
              <a:gd name="connsiteX10" fmla="*/ 5560 w 10000"/>
              <a:gd name="connsiteY10" fmla="*/ 1127 h 9761"/>
              <a:gd name="connsiteX11" fmla="*/ 6248 w 10000"/>
              <a:gd name="connsiteY11" fmla="*/ 1093 h 9761"/>
              <a:gd name="connsiteX0" fmla="*/ 6248 w 10000"/>
              <a:gd name="connsiteY0" fmla="*/ 1120 h 9850"/>
              <a:gd name="connsiteX1" fmla="*/ 10000 w 10000"/>
              <a:gd name="connsiteY1" fmla="*/ 5750 h 9850"/>
              <a:gd name="connsiteX2" fmla="*/ 7583 w 10000"/>
              <a:gd name="connsiteY2" fmla="*/ 6680 h 9850"/>
              <a:gd name="connsiteX3" fmla="*/ 6667 w 10000"/>
              <a:gd name="connsiteY3" fmla="*/ 9063 h 9850"/>
              <a:gd name="connsiteX4" fmla="*/ 5000 w 10000"/>
              <a:gd name="connsiteY4" fmla="*/ 9850 h 9850"/>
              <a:gd name="connsiteX5" fmla="*/ 3988 w 10000"/>
              <a:gd name="connsiteY5" fmla="*/ 9439 h 9850"/>
              <a:gd name="connsiteX6" fmla="*/ 3409 w 10000"/>
              <a:gd name="connsiteY6" fmla="*/ 8961 h 9850"/>
              <a:gd name="connsiteX7" fmla="*/ 2778 w 10000"/>
              <a:gd name="connsiteY7" fmla="*/ 8275 h 9850"/>
              <a:gd name="connsiteX8" fmla="*/ 0 w 10000"/>
              <a:gd name="connsiteY8" fmla="*/ 8066 h 9850"/>
              <a:gd name="connsiteX9" fmla="*/ 5560 w 10000"/>
              <a:gd name="connsiteY9" fmla="*/ 1155 h 9850"/>
              <a:gd name="connsiteX10" fmla="*/ 6248 w 10000"/>
              <a:gd name="connsiteY10" fmla="*/ 1120 h 985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5000 w 10000"/>
              <a:gd name="connsiteY3" fmla="*/ 10000 h 10000"/>
              <a:gd name="connsiteX4" fmla="*/ 3988 w 10000"/>
              <a:gd name="connsiteY4" fmla="*/ 9583 h 10000"/>
              <a:gd name="connsiteX5" fmla="*/ 3409 w 10000"/>
              <a:gd name="connsiteY5" fmla="*/ 9097 h 10000"/>
              <a:gd name="connsiteX6" fmla="*/ 2778 w 10000"/>
              <a:gd name="connsiteY6" fmla="*/ 8401 h 10000"/>
              <a:gd name="connsiteX7" fmla="*/ 0 w 10000"/>
              <a:gd name="connsiteY7" fmla="*/ 8189 h 10000"/>
              <a:gd name="connsiteX8" fmla="*/ 5560 w 10000"/>
              <a:gd name="connsiteY8" fmla="*/ 1173 h 10000"/>
              <a:gd name="connsiteX9" fmla="*/ 6248 w 10000"/>
              <a:gd name="connsiteY9" fmla="*/ 1137 h 1000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6667 w 10000"/>
              <a:gd name="connsiteY3" fmla="*/ 8401 h 10000"/>
              <a:gd name="connsiteX4" fmla="*/ 5000 w 10000"/>
              <a:gd name="connsiteY4" fmla="*/ 10000 h 10000"/>
              <a:gd name="connsiteX5" fmla="*/ 3988 w 10000"/>
              <a:gd name="connsiteY5" fmla="*/ 9583 h 10000"/>
              <a:gd name="connsiteX6" fmla="*/ 3409 w 10000"/>
              <a:gd name="connsiteY6" fmla="*/ 9097 h 10000"/>
              <a:gd name="connsiteX7" fmla="*/ 2778 w 10000"/>
              <a:gd name="connsiteY7" fmla="*/ 8401 h 10000"/>
              <a:gd name="connsiteX8" fmla="*/ 0 w 10000"/>
              <a:gd name="connsiteY8" fmla="*/ 8189 h 10000"/>
              <a:gd name="connsiteX9" fmla="*/ 5560 w 10000"/>
              <a:gd name="connsiteY9" fmla="*/ 1173 h 10000"/>
              <a:gd name="connsiteX10" fmla="*/ 6248 w 10000"/>
              <a:gd name="connsiteY10" fmla="*/ 113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267"/>
          </a:p>
        </p:txBody>
      </p: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12691315" y="4591909"/>
            <a:ext cx="935567" cy="453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67"/>
              <a:t>c </a:t>
            </a:r>
            <a:r>
              <a:rPr lang="en-US" sz="2267">
                <a:sym typeface="Symbol" pitchFamily="18" charset="2"/>
              </a:rPr>
              <a:t> 3</a:t>
            </a:r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12493408" y="4143916"/>
            <a:ext cx="935567" cy="453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67"/>
              <a:t>c </a:t>
            </a:r>
            <a:r>
              <a:rPr lang="en-US" sz="2267">
                <a:sym typeface="Symbol" pitchFamily="18" charset="2"/>
              </a:rPr>
              <a:t> 2</a:t>
            </a: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12248721" y="3715715"/>
            <a:ext cx="935567" cy="453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67"/>
              <a:t>c </a:t>
            </a:r>
            <a:r>
              <a:rPr lang="en-US" sz="2267">
                <a:sym typeface="Symbol" pitchFamily="18" charset="2"/>
              </a:rPr>
              <a:t>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6" grpId="1" animBg="1"/>
      <p:bldP spid="27" grpId="0" animBg="1"/>
      <p:bldP spid="27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5A6FA5-5E8A-2B49-C0BA-FFA3C18BE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41" y="381000"/>
            <a:ext cx="1244004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49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83cb9b3dcaf276b9eb74d806d95a1dd8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5722cf350847c68a0f09e51844e1376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C08553-C3B5-4D9D-A4B7-DCBC946BFC9A}">
  <ds:schemaRefs>
    <ds:schemaRef ds:uri="6bf15077-4e46-4e3a-99a0-3fd5e4d406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BBCDBB1-47CB-4014-B481-B6CECDABF65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AC88F2A-636F-4220-8C9A-33A9C2AC35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35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Search Algorithms</vt:lpstr>
      <vt:lpstr>Uninformed search</vt:lpstr>
      <vt:lpstr>Search Strategies</vt:lpstr>
      <vt:lpstr>Breadth-First (Tree) Search</vt:lpstr>
      <vt:lpstr>BFS Search Tree</vt:lpstr>
      <vt:lpstr>BFS Search Tree</vt:lpstr>
      <vt:lpstr>BFS Search Tree</vt:lpstr>
      <vt:lpstr>BFS Search Tree</vt:lpstr>
      <vt:lpstr>BFS Search Tree</vt:lpstr>
      <vt:lpstr>BFS Search Tree</vt:lpstr>
      <vt:lpstr>8-Puzzle Problem using BFS</vt:lpstr>
      <vt:lpstr>Breadth-First Search (BFS) Properties</vt:lpstr>
      <vt:lpstr>Depth-First (Tree) Search</vt:lpstr>
      <vt:lpstr>DFS Search Tree</vt:lpstr>
      <vt:lpstr>DFS Search Tree</vt:lpstr>
      <vt:lpstr>DFS Search Tree</vt:lpstr>
      <vt:lpstr>DFS Search Tree</vt:lpstr>
      <vt:lpstr>DFS Search Tree</vt:lpstr>
      <vt:lpstr>8-Puzzle Problem using DFS</vt:lpstr>
      <vt:lpstr>Depth-First Search (DFS) Properties</vt:lpstr>
      <vt:lpstr>Depth-limited search</vt:lpstr>
      <vt:lpstr>Iterative Deepening Search (IDS)</vt:lpstr>
      <vt:lpstr>PowerPoint Presentation</vt:lpstr>
      <vt:lpstr>PowerPoint Presentation</vt:lpstr>
      <vt:lpstr>PowerPoint Presentation</vt:lpstr>
      <vt:lpstr>PowerPoint Presentation</vt:lpstr>
      <vt:lpstr>Iterative Deepening</vt:lpstr>
      <vt:lpstr>Iterative deepening search</vt:lpstr>
      <vt:lpstr>Properties of Iterative Deepening Search</vt:lpstr>
      <vt:lpstr>PowerPoint Presentation</vt:lpstr>
      <vt:lpstr>Uniform Cost Search</vt:lpstr>
      <vt:lpstr>Uniform Cost (Tree) Search</vt:lpstr>
      <vt:lpstr>PowerPoint Presentation</vt:lpstr>
      <vt:lpstr>Uniform Cost Search (UCS) Properties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Algorithms</dc:title>
  <dc:creator>dr. fawad</dc:creator>
  <cp:revision>1</cp:revision>
  <dcterms:created xsi:type="dcterms:W3CDTF">2024-02-15T10:32:02Z</dcterms:created>
  <dcterms:modified xsi:type="dcterms:W3CDTF">2025-09-30T10:46:35Z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2016-02-19T00:00:00Z</vt:filetime>
  </property>
  <property fmtid="{D5CDD505-2E9C-101B-9397-08002B2CF9AE}" pid="3" name="LastSaved">
    <vt:filetime>2016-02-19T00:00:00Z</vt:filetime>
  </property>
  <property fmtid="{D5CDD505-2E9C-101B-9397-08002B2CF9AE}" pid="4" name="ContentTypeId">
    <vt:lpwstr>0x0101006E4823951FA9BF42B980A03718EB0B18</vt:lpwstr>
  </property>
</Properties>
</file>