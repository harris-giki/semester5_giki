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7" r:id="rId2"/>
    <p:sldId id="304" r:id="rId3"/>
    <p:sldId id="301" r:id="rId4"/>
    <p:sldId id="259" r:id="rId5"/>
    <p:sldId id="260" r:id="rId6"/>
    <p:sldId id="306" r:id="rId7"/>
    <p:sldId id="307" r:id="rId8"/>
    <p:sldId id="303" r:id="rId9"/>
    <p:sldId id="305" r:id="rId10"/>
    <p:sldId id="308" r:id="rId11"/>
    <p:sldId id="261" r:id="rId12"/>
    <p:sldId id="262" r:id="rId13"/>
    <p:sldId id="297" r:id="rId14"/>
    <p:sldId id="265" r:id="rId15"/>
    <p:sldId id="309" r:id="rId16"/>
    <p:sldId id="267" r:id="rId17"/>
    <p:sldId id="299" r:id="rId18"/>
    <p:sldId id="268" r:id="rId19"/>
    <p:sldId id="269" r:id="rId20"/>
    <p:sldId id="270" r:id="rId21"/>
    <p:sldId id="271" r:id="rId22"/>
    <p:sldId id="300" r:id="rId23"/>
    <p:sldId id="272" r:id="rId24"/>
    <p:sldId id="273" r:id="rId25"/>
    <p:sldId id="274" r:id="rId26"/>
    <p:sldId id="276" r:id="rId27"/>
    <p:sldId id="277" r:id="rId28"/>
    <p:sldId id="278" r:id="rId29"/>
    <p:sldId id="279" r:id="rId30"/>
    <p:sldId id="280" r:id="rId31"/>
    <p:sldId id="282" r:id="rId32"/>
    <p:sldId id="283" r:id="rId33"/>
    <p:sldId id="284" r:id="rId34"/>
    <p:sldId id="285" r:id="rId35"/>
    <p:sldId id="288" r:id="rId36"/>
    <p:sldId id="289" r:id="rId37"/>
    <p:sldId id="290" r:id="rId38"/>
    <p:sldId id="291" r:id="rId39"/>
    <p:sldId id="292" r:id="rId40"/>
    <p:sldId id="295" r:id="rId41"/>
    <p:sldId id="293" r:id="rId42"/>
    <p:sldId id="294" r:id="rId43"/>
    <p:sldId id="296" r:id="rId44"/>
  </p:sldIdLst>
  <p:sldSz cx="13433425" cy="7556500"/>
  <p:notesSz cx="10693400" cy="7556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7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B6E519-7AF1-4320-9A3C-071E87ABC17D}" v="15" dt="2025-09-12T05:56:59.44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95" autoAdjust="0"/>
  </p:normalViewPr>
  <p:slideViewPr>
    <p:cSldViewPr>
      <p:cViewPr varScale="1">
        <p:scale>
          <a:sx n="72" d="100"/>
          <a:sy n="72" d="100"/>
        </p:scale>
        <p:origin x="864" y="114"/>
      </p:cViewPr>
      <p:guideLst>
        <p:guide orient="horz" pos="2880"/>
        <p:guide pos="271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Khurram Jadoon khan Asstt. Professor FCS" userId="684a1a15-bea5-4a17-9b67-1313be309245" providerId="ADAL" clId="{E0D69AAA-57BF-44E3-AB40-EF5BC75F330E}"/>
    <pc:docChg chg="undo custSel addSld delSld modSld sldOrd modMainMaster">
      <pc:chgData name="Dr. Khurram Jadoon khan Asstt. Professor FCS" userId="684a1a15-bea5-4a17-9b67-1313be309245" providerId="ADAL" clId="{E0D69AAA-57BF-44E3-AB40-EF5BC75F330E}" dt="2024-09-12T06:34:02.466" v="934" actId="207"/>
      <pc:docMkLst>
        <pc:docMk/>
      </pc:docMkLst>
      <pc:sldChg chg="modSp mod">
        <pc:chgData name="Dr. Khurram Jadoon khan Asstt. Professor FCS" userId="684a1a15-bea5-4a17-9b67-1313be309245" providerId="ADAL" clId="{E0D69AAA-57BF-44E3-AB40-EF5BC75F330E}" dt="2024-09-06T11:21:05.481" v="161" actId="20577"/>
        <pc:sldMkLst>
          <pc:docMk/>
          <pc:sldMk cId="0" sldId="257"/>
        </pc:sldMkLst>
      </pc:sldChg>
      <pc:sldChg chg="delSp modSp del mod ord">
        <pc:chgData name="Dr. Khurram Jadoon khan Asstt. Professor FCS" userId="684a1a15-bea5-4a17-9b67-1313be309245" providerId="ADAL" clId="{E0D69AAA-57BF-44E3-AB40-EF5BC75F330E}" dt="2024-09-09T07:46:46.954" v="348" actId="47"/>
        <pc:sldMkLst>
          <pc:docMk/>
          <pc:sldMk cId="0" sldId="258"/>
        </pc:sldMkLst>
      </pc:sldChg>
      <pc:sldChg chg="delSp modSp mod ord">
        <pc:chgData name="Dr. Khurram Jadoon khan Asstt. Professor FCS" userId="684a1a15-bea5-4a17-9b67-1313be309245" providerId="ADAL" clId="{E0D69AAA-57BF-44E3-AB40-EF5BC75F330E}" dt="2024-09-10T08:19:19.049" v="463" actId="6549"/>
        <pc:sldMkLst>
          <pc:docMk/>
          <pc:sldMk cId="0" sldId="259"/>
        </pc:sldMkLst>
      </pc:sldChg>
      <pc:sldChg chg="modSp mod ord">
        <pc:chgData name="Dr. Khurram Jadoon khan Asstt. Professor FCS" userId="684a1a15-bea5-4a17-9b67-1313be309245" providerId="ADAL" clId="{E0D69AAA-57BF-44E3-AB40-EF5BC75F330E}" dt="2024-09-09T07:46:55.515" v="352"/>
        <pc:sldMkLst>
          <pc:docMk/>
          <pc:sldMk cId="0" sldId="260"/>
        </pc:sldMkLst>
      </pc:sldChg>
      <pc:sldChg chg="delSp modSp mod">
        <pc:chgData name="Dr. Khurram Jadoon khan Asstt. Professor FCS" userId="684a1a15-bea5-4a17-9b67-1313be309245" providerId="ADAL" clId="{E0D69AAA-57BF-44E3-AB40-EF5BC75F330E}" dt="2024-09-06T05:56:48.289" v="48"/>
        <pc:sldMkLst>
          <pc:docMk/>
          <pc:sldMk cId="0" sldId="261"/>
        </pc:sldMkLst>
      </pc:sldChg>
      <pc:sldChg chg="delSp modSp mod">
        <pc:chgData name="Dr. Khurram Jadoon khan Asstt. Professor FCS" userId="684a1a15-bea5-4a17-9b67-1313be309245" providerId="ADAL" clId="{E0D69AAA-57BF-44E3-AB40-EF5BC75F330E}" dt="2024-09-09T07:58:40.095" v="392" actId="14100"/>
        <pc:sldMkLst>
          <pc:docMk/>
          <pc:sldMk cId="0" sldId="262"/>
        </pc:sldMkLst>
      </pc:sldChg>
      <pc:sldChg chg="modSp add del mod ord">
        <pc:chgData name="Dr. Khurram Jadoon khan Asstt. Professor FCS" userId="684a1a15-bea5-4a17-9b67-1313be309245" providerId="ADAL" clId="{E0D69AAA-57BF-44E3-AB40-EF5BC75F330E}" dt="2024-09-10T08:40:36.012" v="665" actId="47"/>
        <pc:sldMkLst>
          <pc:docMk/>
          <pc:sldMk cId="0" sldId="263"/>
        </pc:sldMkLst>
      </pc:sldChg>
      <pc:sldChg chg="addSp modSp mod">
        <pc:chgData name="Dr. Khurram Jadoon khan Asstt. Professor FCS" userId="684a1a15-bea5-4a17-9b67-1313be309245" providerId="ADAL" clId="{E0D69AAA-57BF-44E3-AB40-EF5BC75F330E}" dt="2024-09-10T08:44:24.549" v="674" actId="14100"/>
        <pc:sldMkLst>
          <pc:docMk/>
          <pc:sldMk cId="0" sldId="265"/>
        </pc:sldMkLst>
      </pc:sldChg>
      <pc:sldChg chg="addSp delSp modSp mod">
        <pc:chgData name="Dr. Khurram Jadoon khan Asstt. Professor FCS" userId="684a1a15-bea5-4a17-9b67-1313be309245" providerId="ADAL" clId="{E0D69AAA-57BF-44E3-AB40-EF5BC75F330E}" dt="2024-09-09T08:02:41.250" v="400" actId="14100"/>
        <pc:sldMkLst>
          <pc:docMk/>
          <pc:sldMk cId="0" sldId="266"/>
        </pc:sldMkLst>
      </pc:sldChg>
      <pc:sldChg chg="delSp modSp mod">
        <pc:chgData name="Dr. Khurram Jadoon khan Asstt. Professor FCS" userId="684a1a15-bea5-4a17-9b67-1313be309245" providerId="ADAL" clId="{E0D69AAA-57BF-44E3-AB40-EF5BC75F330E}" dt="2024-09-09T08:06:29.364" v="403" actId="207"/>
        <pc:sldMkLst>
          <pc:docMk/>
          <pc:sldMk cId="0" sldId="267"/>
        </pc:sldMkLst>
      </pc:sldChg>
      <pc:sldChg chg="modSp">
        <pc:chgData name="Dr. Khurram Jadoon khan Asstt. Professor FCS" userId="684a1a15-bea5-4a17-9b67-1313be309245" providerId="ADAL" clId="{E0D69AAA-57BF-44E3-AB40-EF5BC75F330E}" dt="2024-09-06T05:48:52.833" v="0"/>
        <pc:sldMkLst>
          <pc:docMk/>
          <pc:sldMk cId="0" sldId="268"/>
        </pc:sldMkLst>
      </pc:sldChg>
      <pc:sldChg chg="modSp mod">
        <pc:chgData name="Dr. Khurram Jadoon khan Asstt. Professor FCS" userId="684a1a15-bea5-4a17-9b67-1313be309245" providerId="ADAL" clId="{E0D69AAA-57BF-44E3-AB40-EF5BC75F330E}" dt="2024-09-09T08:09:09.935" v="433" actId="20577"/>
        <pc:sldMkLst>
          <pc:docMk/>
          <pc:sldMk cId="0" sldId="269"/>
        </pc:sldMkLst>
      </pc:sldChg>
      <pc:sldChg chg="modSp mod">
        <pc:chgData name="Dr. Khurram Jadoon khan Asstt. Professor FCS" userId="684a1a15-bea5-4a17-9b67-1313be309245" providerId="ADAL" clId="{E0D69AAA-57BF-44E3-AB40-EF5BC75F330E}" dt="2024-09-06T06:01:12.716" v="120" actId="14100"/>
        <pc:sldMkLst>
          <pc:docMk/>
          <pc:sldMk cId="0" sldId="270"/>
        </pc:sldMkLst>
      </pc:sldChg>
      <pc:sldChg chg="modSp mod">
        <pc:chgData name="Dr. Khurram Jadoon khan Asstt. Professor FCS" userId="684a1a15-bea5-4a17-9b67-1313be309245" providerId="ADAL" clId="{E0D69AAA-57BF-44E3-AB40-EF5BC75F330E}" dt="2024-09-06T06:01:24.452" v="123" actId="1076"/>
        <pc:sldMkLst>
          <pc:docMk/>
          <pc:sldMk cId="0" sldId="271"/>
        </pc:sldMkLst>
      </pc:sldChg>
      <pc:sldChg chg="modSp mod">
        <pc:chgData name="Dr. Khurram Jadoon khan Asstt. Professor FCS" userId="684a1a15-bea5-4a17-9b67-1313be309245" providerId="ADAL" clId="{E0D69AAA-57BF-44E3-AB40-EF5BC75F330E}" dt="2024-09-06T06:01:38.972" v="127" actId="1076"/>
        <pc:sldMkLst>
          <pc:docMk/>
          <pc:sldMk cId="0" sldId="272"/>
        </pc:sldMkLst>
      </pc:sldChg>
      <pc:sldChg chg="delSp modSp mod">
        <pc:chgData name="Dr. Khurram Jadoon khan Asstt. Professor FCS" userId="684a1a15-bea5-4a17-9b67-1313be309245" providerId="ADAL" clId="{E0D69AAA-57BF-44E3-AB40-EF5BC75F330E}" dt="2024-09-06T06:01:51.117" v="131" actId="478"/>
        <pc:sldMkLst>
          <pc:docMk/>
          <pc:sldMk cId="0" sldId="273"/>
        </pc:sldMkLst>
      </pc:sldChg>
      <pc:sldChg chg="modSp mod">
        <pc:chgData name="Dr. Khurram Jadoon khan Asstt. Professor FCS" userId="684a1a15-bea5-4a17-9b67-1313be309245" providerId="ADAL" clId="{E0D69AAA-57BF-44E3-AB40-EF5BC75F330E}" dt="2024-09-06T06:01:57.068" v="132" actId="1076"/>
        <pc:sldMkLst>
          <pc:docMk/>
          <pc:sldMk cId="0" sldId="274"/>
        </pc:sldMkLst>
      </pc:sldChg>
      <pc:sldChg chg="modSp mod">
        <pc:chgData name="Dr. Khurram Jadoon khan Asstt. Professor FCS" userId="684a1a15-bea5-4a17-9b67-1313be309245" providerId="ADAL" clId="{E0D69AAA-57BF-44E3-AB40-EF5BC75F330E}" dt="2024-09-09T10:50:46.025" v="441" actId="14100"/>
        <pc:sldMkLst>
          <pc:docMk/>
          <pc:sldMk cId="0" sldId="276"/>
        </pc:sldMkLst>
      </pc:sldChg>
      <pc:sldChg chg="modSp mod">
        <pc:chgData name="Dr. Khurram Jadoon khan Asstt. Professor FCS" userId="684a1a15-bea5-4a17-9b67-1313be309245" providerId="ADAL" clId="{E0D69AAA-57BF-44E3-AB40-EF5BC75F330E}" dt="2024-09-12T04:55:35.161" v="790" actId="108"/>
        <pc:sldMkLst>
          <pc:docMk/>
          <pc:sldMk cId="0" sldId="277"/>
        </pc:sldMkLst>
      </pc:sldChg>
      <pc:sldChg chg="modSp mod">
        <pc:chgData name="Dr. Khurram Jadoon khan Asstt. Professor FCS" userId="684a1a15-bea5-4a17-9b67-1313be309245" providerId="ADAL" clId="{E0D69AAA-57BF-44E3-AB40-EF5BC75F330E}" dt="2024-09-12T04:57:59.313" v="838" actId="20577"/>
        <pc:sldMkLst>
          <pc:docMk/>
          <pc:sldMk cId="0" sldId="278"/>
        </pc:sldMkLst>
      </pc:sldChg>
      <pc:sldChg chg="modSp mod">
        <pc:chgData name="Dr. Khurram Jadoon khan Asstt. Professor FCS" userId="684a1a15-bea5-4a17-9b67-1313be309245" providerId="ADAL" clId="{E0D69AAA-57BF-44E3-AB40-EF5BC75F330E}" dt="2024-09-12T04:59:06.440" v="854" actId="15"/>
        <pc:sldMkLst>
          <pc:docMk/>
          <pc:sldMk cId="0" sldId="279"/>
        </pc:sldMkLst>
      </pc:sldChg>
      <pc:sldChg chg="modSp mod">
        <pc:chgData name="Dr. Khurram Jadoon khan Asstt. Professor FCS" userId="684a1a15-bea5-4a17-9b67-1313be309245" providerId="ADAL" clId="{E0D69AAA-57BF-44E3-AB40-EF5BC75F330E}" dt="2024-09-06T06:02:36.101" v="141" actId="1076"/>
        <pc:sldMkLst>
          <pc:docMk/>
          <pc:sldMk cId="0" sldId="280"/>
        </pc:sldMkLst>
      </pc:sldChg>
      <pc:sldChg chg="modSp mod">
        <pc:chgData name="Dr. Khurram Jadoon khan Asstt. Professor FCS" userId="684a1a15-bea5-4a17-9b67-1313be309245" providerId="ADAL" clId="{E0D69AAA-57BF-44E3-AB40-EF5BC75F330E}" dt="2024-09-06T06:02:41.220" v="142" actId="1076"/>
        <pc:sldMkLst>
          <pc:docMk/>
          <pc:sldMk cId="0" sldId="282"/>
        </pc:sldMkLst>
      </pc:sldChg>
      <pc:sldChg chg="modSp">
        <pc:chgData name="Dr. Khurram Jadoon khan Asstt. Professor FCS" userId="684a1a15-bea5-4a17-9b67-1313be309245" providerId="ADAL" clId="{E0D69AAA-57BF-44E3-AB40-EF5BC75F330E}" dt="2024-09-06T05:48:52.833" v="0"/>
        <pc:sldMkLst>
          <pc:docMk/>
          <pc:sldMk cId="0" sldId="283"/>
        </pc:sldMkLst>
      </pc:sldChg>
      <pc:sldChg chg="modSp">
        <pc:chgData name="Dr. Khurram Jadoon khan Asstt. Professor FCS" userId="684a1a15-bea5-4a17-9b67-1313be309245" providerId="ADAL" clId="{E0D69AAA-57BF-44E3-AB40-EF5BC75F330E}" dt="2024-09-06T05:48:52.833" v="0"/>
        <pc:sldMkLst>
          <pc:docMk/>
          <pc:sldMk cId="0" sldId="284"/>
        </pc:sldMkLst>
      </pc:sldChg>
      <pc:sldChg chg="addSp delSp modSp mod">
        <pc:chgData name="Dr. Khurram Jadoon khan Asstt. Professor FCS" userId="684a1a15-bea5-4a17-9b67-1313be309245" providerId="ADAL" clId="{E0D69AAA-57BF-44E3-AB40-EF5BC75F330E}" dt="2024-09-12T05:14:08.366" v="887" actId="1076"/>
        <pc:sldMkLst>
          <pc:docMk/>
          <pc:sldMk cId="0" sldId="285"/>
        </pc:sldMkLst>
      </pc:sldChg>
      <pc:sldChg chg="modSp del">
        <pc:chgData name="Dr. Khurram Jadoon khan Asstt. Professor FCS" userId="684a1a15-bea5-4a17-9b67-1313be309245" providerId="ADAL" clId="{E0D69AAA-57BF-44E3-AB40-EF5BC75F330E}" dt="2024-09-09T12:08:15.284" v="454" actId="47"/>
        <pc:sldMkLst>
          <pc:docMk/>
          <pc:sldMk cId="0" sldId="286"/>
        </pc:sldMkLst>
      </pc:sldChg>
      <pc:sldChg chg="delSp modSp del mod">
        <pc:chgData name="Dr. Khurram Jadoon khan Asstt. Professor FCS" userId="684a1a15-bea5-4a17-9b67-1313be309245" providerId="ADAL" clId="{E0D69AAA-57BF-44E3-AB40-EF5BC75F330E}" dt="2024-09-09T12:08:17.085" v="455" actId="47"/>
        <pc:sldMkLst>
          <pc:docMk/>
          <pc:sldMk cId="0" sldId="287"/>
        </pc:sldMkLst>
      </pc:sldChg>
      <pc:sldChg chg="addSp delSp modSp mod">
        <pc:chgData name="Dr. Khurram Jadoon khan Asstt. Professor FCS" userId="684a1a15-bea5-4a17-9b67-1313be309245" providerId="ADAL" clId="{E0D69AAA-57BF-44E3-AB40-EF5BC75F330E}" dt="2024-09-12T06:27:43.120" v="888" actId="1076"/>
        <pc:sldMkLst>
          <pc:docMk/>
          <pc:sldMk cId="0" sldId="288"/>
        </pc:sldMkLst>
      </pc:sldChg>
      <pc:sldChg chg="addSp modSp mod">
        <pc:chgData name="Dr. Khurram Jadoon khan Asstt. Professor FCS" userId="684a1a15-bea5-4a17-9b67-1313be309245" providerId="ADAL" clId="{E0D69AAA-57BF-44E3-AB40-EF5BC75F330E}" dt="2024-09-12T06:30:08.928" v="897" actId="1076"/>
        <pc:sldMkLst>
          <pc:docMk/>
          <pc:sldMk cId="0" sldId="289"/>
        </pc:sldMkLst>
      </pc:sldChg>
      <pc:sldChg chg="modSp">
        <pc:chgData name="Dr. Khurram Jadoon khan Asstt. Professor FCS" userId="684a1a15-bea5-4a17-9b67-1313be309245" providerId="ADAL" clId="{E0D69AAA-57BF-44E3-AB40-EF5BC75F330E}" dt="2024-09-06T05:48:52.833" v="0"/>
        <pc:sldMkLst>
          <pc:docMk/>
          <pc:sldMk cId="0" sldId="290"/>
        </pc:sldMkLst>
      </pc:sldChg>
      <pc:sldChg chg="modSp mod">
        <pc:chgData name="Dr. Khurram Jadoon khan Asstt. Professor FCS" userId="684a1a15-bea5-4a17-9b67-1313be309245" providerId="ADAL" clId="{E0D69AAA-57BF-44E3-AB40-EF5BC75F330E}" dt="2024-09-12T06:34:02.466" v="934" actId="207"/>
        <pc:sldMkLst>
          <pc:docMk/>
          <pc:sldMk cId="0" sldId="291"/>
        </pc:sldMkLst>
      </pc:sldChg>
      <pc:sldChg chg="modSp">
        <pc:chgData name="Dr. Khurram Jadoon khan Asstt. Professor FCS" userId="684a1a15-bea5-4a17-9b67-1313be309245" providerId="ADAL" clId="{E0D69AAA-57BF-44E3-AB40-EF5BC75F330E}" dt="2024-09-06T05:48:52.833" v="0"/>
        <pc:sldMkLst>
          <pc:docMk/>
          <pc:sldMk cId="0" sldId="292"/>
        </pc:sldMkLst>
      </pc:sldChg>
      <pc:sldChg chg="modSp">
        <pc:chgData name="Dr. Khurram Jadoon khan Asstt. Professor FCS" userId="684a1a15-bea5-4a17-9b67-1313be309245" providerId="ADAL" clId="{E0D69AAA-57BF-44E3-AB40-EF5BC75F330E}" dt="2024-09-06T05:48:52.833" v="0"/>
        <pc:sldMkLst>
          <pc:docMk/>
          <pc:sldMk cId="0" sldId="293"/>
        </pc:sldMkLst>
      </pc:sldChg>
      <pc:sldChg chg="modSp">
        <pc:chgData name="Dr. Khurram Jadoon khan Asstt. Professor FCS" userId="684a1a15-bea5-4a17-9b67-1313be309245" providerId="ADAL" clId="{E0D69AAA-57BF-44E3-AB40-EF5BC75F330E}" dt="2024-09-06T05:48:52.833" v="0"/>
        <pc:sldMkLst>
          <pc:docMk/>
          <pc:sldMk cId="0" sldId="294"/>
        </pc:sldMkLst>
      </pc:sldChg>
      <pc:sldChg chg="modSp mod">
        <pc:chgData name="Dr. Khurram Jadoon khan Asstt. Professor FCS" userId="684a1a15-bea5-4a17-9b67-1313be309245" providerId="ADAL" clId="{E0D69AAA-57BF-44E3-AB40-EF5BC75F330E}" dt="2024-09-12T06:31:23.321" v="900" actId="1076"/>
        <pc:sldMkLst>
          <pc:docMk/>
          <pc:sldMk cId="0" sldId="295"/>
        </pc:sldMkLst>
      </pc:sldChg>
      <pc:sldChg chg="delSp modSp mod">
        <pc:chgData name="Dr. Khurram Jadoon khan Asstt. Professor FCS" userId="684a1a15-bea5-4a17-9b67-1313be309245" providerId="ADAL" clId="{E0D69AAA-57BF-44E3-AB40-EF5BC75F330E}" dt="2024-09-06T06:03:46.889" v="157" actId="478"/>
        <pc:sldMkLst>
          <pc:docMk/>
          <pc:sldMk cId="0" sldId="296"/>
        </pc:sldMkLst>
      </pc:sldChg>
      <pc:sldChg chg="delSp modSp mod">
        <pc:chgData name="Dr. Khurram Jadoon khan Asstt. Professor FCS" userId="684a1a15-bea5-4a17-9b67-1313be309245" providerId="ADAL" clId="{E0D69AAA-57BF-44E3-AB40-EF5BC75F330E}" dt="2024-09-06T05:58:12.948" v="73" actId="1076"/>
        <pc:sldMkLst>
          <pc:docMk/>
          <pc:sldMk cId="2407689452" sldId="297"/>
        </pc:sldMkLst>
      </pc:sldChg>
      <pc:sldChg chg="modSp mod">
        <pc:chgData name="Dr. Khurram Jadoon khan Asstt. Professor FCS" userId="684a1a15-bea5-4a17-9b67-1313be309245" providerId="ADAL" clId="{E0D69AAA-57BF-44E3-AB40-EF5BC75F330E}" dt="2024-09-09T07:49:11.564" v="370" actId="1076"/>
        <pc:sldMkLst>
          <pc:docMk/>
          <pc:sldMk cId="1990544870" sldId="298"/>
        </pc:sldMkLst>
      </pc:sldChg>
      <pc:sldChg chg="delSp modSp mod">
        <pc:chgData name="Dr. Khurram Jadoon khan Asstt. Professor FCS" userId="684a1a15-bea5-4a17-9b67-1313be309245" providerId="ADAL" clId="{E0D69AAA-57BF-44E3-AB40-EF5BC75F330E}" dt="2024-09-09T08:07:15.028" v="407" actId="14100"/>
        <pc:sldMkLst>
          <pc:docMk/>
          <pc:sldMk cId="2783015177" sldId="299"/>
        </pc:sldMkLst>
      </pc:sldChg>
      <pc:sldChg chg="modSp mod">
        <pc:chgData name="Dr. Khurram Jadoon khan Asstt. Professor FCS" userId="684a1a15-bea5-4a17-9b67-1313be309245" providerId="ADAL" clId="{E0D69AAA-57BF-44E3-AB40-EF5BC75F330E}" dt="2024-09-09T08:10:18.700" v="439" actId="14100"/>
        <pc:sldMkLst>
          <pc:docMk/>
          <pc:sldMk cId="1229059204" sldId="300"/>
        </pc:sldMkLst>
      </pc:sldChg>
      <pc:sldChg chg="modSp new mod modNotesTx">
        <pc:chgData name="Dr. Khurram Jadoon khan Asstt. Professor FCS" userId="684a1a15-bea5-4a17-9b67-1313be309245" providerId="ADAL" clId="{E0D69AAA-57BF-44E3-AB40-EF5BC75F330E}" dt="2024-09-11T07:30:01.956" v="776" actId="20577"/>
        <pc:sldMkLst>
          <pc:docMk/>
          <pc:sldMk cId="3904560406" sldId="301"/>
        </pc:sldMkLst>
      </pc:sldChg>
      <pc:sldChg chg="addSp delSp modSp new mod ord">
        <pc:chgData name="Dr. Khurram Jadoon khan Asstt. Professor FCS" userId="684a1a15-bea5-4a17-9b67-1313be309245" providerId="ADAL" clId="{E0D69AAA-57BF-44E3-AB40-EF5BC75F330E}" dt="2024-09-09T07:43:18.430" v="317" actId="1076"/>
        <pc:sldMkLst>
          <pc:docMk/>
          <pc:sldMk cId="366754250" sldId="302"/>
        </pc:sldMkLst>
      </pc:sldChg>
      <pc:sldChg chg="addSp delSp modSp new mod ord">
        <pc:chgData name="Dr. Khurram Jadoon khan Asstt. Professor FCS" userId="684a1a15-bea5-4a17-9b67-1313be309245" providerId="ADAL" clId="{E0D69AAA-57BF-44E3-AB40-EF5BC75F330E}" dt="2024-09-10T08:25:37.019" v="498"/>
        <pc:sldMkLst>
          <pc:docMk/>
          <pc:sldMk cId="3083720920" sldId="303"/>
        </pc:sldMkLst>
      </pc:sldChg>
      <pc:sldChg chg="addSp delSp modSp new del mod">
        <pc:chgData name="Dr. Khurram Jadoon khan Asstt. Professor FCS" userId="684a1a15-bea5-4a17-9b67-1313be309245" providerId="ADAL" clId="{E0D69AAA-57BF-44E3-AB40-EF5BC75F330E}" dt="2024-09-09T06:23:48.235" v="237" actId="47"/>
        <pc:sldMkLst>
          <pc:docMk/>
          <pc:sldMk cId="2097688909" sldId="304"/>
        </pc:sldMkLst>
      </pc:sldChg>
      <pc:sldChg chg="addSp delSp modSp new mod ord">
        <pc:chgData name="Dr. Khurram Jadoon khan Asstt. Professor FCS" userId="684a1a15-bea5-4a17-9b67-1313be309245" providerId="ADAL" clId="{E0D69AAA-57BF-44E3-AB40-EF5BC75F330E}" dt="2024-09-09T07:42:59.930" v="312"/>
        <pc:sldMkLst>
          <pc:docMk/>
          <pc:sldMk cId="3354522582" sldId="304"/>
        </pc:sldMkLst>
      </pc:sldChg>
      <pc:sldChg chg="add ord">
        <pc:chgData name="Dr. Khurram Jadoon khan Asstt. Professor FCS" userId="684a1a15-bea5-4a17-9b67-1313be309245" providerId="ADAL" clId="{E0D69AAA-57BF-44E3-AB40-EF5BC75F330E}" dt="2024-09-10T08:25:37.019" v="498"/>
        <pc:sldMkLst>
          <pc:docMk/>
          <pc:sldMk cId="824718625" sldId="305"/>
        </pc:sldMkLst>
      </pc:sldChg>
      <pc:sldChg chg="addSp delSp modSp new mod">
        <pc:chgData name="Dr. Khurram Jadoon khan Asstt. Professor FCS" userId="684a1a15-bea5-4a17-9b67-1313be309245" providerId="ADAL" clId="{E0D69AAA-57BF-44E3-AB40-EF5BC75F330E}" dt="2024-09-10T08:22:06.078" v="490" actId="1076"/>
        <pc:sldMkLst>
          <pc:docMk/>
          <pc:sldMk cId="496371931" sldId="306"/>
        </pc:sldMkLst>
      </pc:sldChg>
      <pc:sldChg chg="addSp delSp modSp add mod">
        <pc:chgData name="Dr. Khurram Jadoon khan Asstt. Professor FCS" userId="684a1a15-bea5-4a17-9b67-1313be309245" providerId="ADAL" clId="{E0D69AAA-57BF-44E3-AB40-EF5BC75F330E}" dt="2024-09-10T08:41:54.466" v="666" actId="478"/>
        <pc:sldMkLst>
          <pc:docMk/>
          <pc:sldMk cId="2559858612" sldId="307"/>
        </pc:sldMkLst>
      </pc:sldChg>
      <pc:sldChg chg="addSp delSp modSp new mod">
        <pc:chgData name="Dr. Khurram Jadoon khan Asstt. Professor FCS" userId="684a1a15-bea5-4a17-9b67-1313be309245" providerId="ADAL" clId="{E0D69AAA-57BF-44E3-AB40-EF5BC75F330E}" dt="2024-09-10T08:27:26.452" v="507" actId="1076"/>
        <pc:sldMkLst>
          <pc:docMk/>
          <pc:sldMk cId="3002520359" sldId="308"/>
        </pc:sldMkLst>
      </pc:sldChg>
      <pc:sldChg chg="addSp delSp modSp new mod">
        <pc:chgData name="Dr. Khurram Jadoon khan Asstt. Professor FCS" userId="684a1a15-bea5-4a17-9b67-1313be309245" providerId="ADAL" clId="{E0D69AAA-57BF-44E3-AB40-EF5BC75F330E}" dt="2024-09-10T09:00:11.175" v="773" actId="14100"/>
        <pc:sldMkLst>
          <pc:docMk/>
          <pc:sldMk cId="3051616148" sldId="309"/>
        </pc:sldMkLst>
      </pc:sldChg>
      <pc:sldMasterChg chg="modSp modSldLayout">
        <pc:chgData name="Dr. Khurram Jadoon khan Asstt. Professor FCS" userId="684a1a15-bea5-4a17-9b67-1313be309245" providerId="ADAL" clId="{E0D69AAA-57BF-44E3-AB40-EF5BC75F330E}" dt="2024-09-06T05:48:52.833" v="0"/>
        <pc:sldMasterMkLst>
          <pc:docMk/>
          <pc:sldMasterMk cId="0" sldId="2147483648"/>
        </pc:sldMasterMkLst>
        <pc:sldLayoutChg chg="modSp">
          <pc:chgData name="Dr. Khurram Jadoon khan Asstt. Professor FCS" userId="684a1a15-bea5-4a17-9b67-1313be309245" providerId="ADAL" clId="{E0D69AAA-57BF-44E3-AB40-EF5BC75F330E}" dt="2024-09-06T05:48:52.833" v="0"/>
          <pc:sldLayoutMkLst>
            <pc:docMk/>
            <pc:sldMasterMk cId="0" sldId="2147483648"/>
            <pc:sldLayoutMk cId="0" sldId="2147483661"/>
          </pc:sldLayoutMkLst>
        </pc:sldLayoutChg>
        <pc:sldLayoutChg chg="modSp">
          <pc:chgData name="Dr. Khurram Jadoon khan Asstt. Professor FCS" userId="684a1a15-bea5-4a17-9b67-1313be309245" providerId="ADAL" clId="{E0D69AAA-57BF-44E3-AB40-EF5BC75F330E}" dt="2024-09-06T05:48:52.833" v="0"/>
          <pc:sldLayoutMkLst>
            <pc:docMk/>
            <pc:sldMasterMk cId="0" sldId="2147483648"/>
            <pc:sldLayoutMk cId="0" sldId="2147483662"/>
          </pc:sldLayoutMkLst>
        </pc:sldLayoutChg>
        <pc:sldLayoutChg chg="modSp">
          <pc:chgData name="Dr. Khurram Jadoon khan Asstt. Professor FCS" userId="684a1a15-bea5-4a17-9b67-1313be309245" providerId="ADAL" clId="{E0D69AAA-57BF-44E3-AB40-EF5BC75F330E}" dt="2024-09-06T05:48:52.833" v="0"/>
          <pc:sldLayoutMkLst>
            <pc:docMk/>
            <pc:sldMasterMk cId="0" sldId="2147483648"/>
            <pc:sldLayoutMk cId="0" sldId="2147483663"/>
          </pc:sldLayoutMkLst>
        </pc:sldLayoutChg>
        <pc:sldLayoutChg chg="modSp">
          <pc:chgData name="Dr. Khurram Jadoon khan Asstt. Professor FCS" userId="684a1a15-bea5-4a17-9b67-1313be309245" providerId="ADAL" clId="{E0D69AAA-57BF-44E3-AB40-EF5BC75F330E}" dt="2024-09-06T05:48:52.833" v="0"/>
          <pc:sldLayoutMkLst>
            <pc:docMk/>
            <pc:sldMasterMk cId="0" sldId="2147483648"/>
            <pc:sldLayoutMk cId="0" sldId="2147483664"/>
          </pc:sldLayoutMkLst>
        </pc:sldLayoutChg>
      </pc:sldMasterChg>
    </pc:docChg>
  </pc:docChgLst>
  <pc:docChgLst>
    <pc:chgData name="Dr. Khurram Jadoon khan Asstt. Professor FCS" userId="684a1a15-bea5-4a17-9b67-1313be309245" providerId="ADAL" clId="{970328F4-E501-487D-8678-649BF23301B9}"/>
    <pc:docChg chg="undo custSel addSld delSld modSld sldOrd">
      <pc:chgData name="Dr. Khurram Jadoon khan Asstt. Professor FCS" userId="684a1a15-bea5-4a17-9b67-1313be309245" providerId="ADAL" clId="{970328F4-E501-487D-8678-649BF23301B9}" dt="2024-02-06T11:12:22.828" v="482" actId="14100"/>
      <pc:docMkLst>
        <pc:docMk/>
      </pc:docMkLst>
      <pc:sldChg chg="del">
        <pc:chgData name="Dr. Khurram Jadoon khan Asstt. Professor FCS" userId="684a1a15-bea5-4a17-9b67-1313be309245" providerId="ADAL" clId="{970328F4-E501-487D-8678-649BF23301B9}" dt="2024-02-03T07:55:56.922" v="0" actId="47"/>
        <pc:sldMkLst>
          <pc:docMk/>
          <pc:sldMk cId="0" sldId="256"/>
        </pc:sldMkLst>
      </pc:sldChg>
      <pc:sldChg chg="modSp mod">
        <pc:chgData name="Dr. Khurram Jadoon khan Asstt. Professor FCS" userId="684a1a15-bea5-4a17-9b67-1313be309245" providerId="ADAL" clId="{970328F4-E501-487D-8678-649BF23301B9}" dt="2024-02-03T10:52:34.932" v="405" actId="20577"/>
        <pc:sldMkLst>
          <pc:docMk/>
          <pc:sldMk cId="0" sldId="257"/>
        </pc:sldMkLst>
      </pc:sldChg>
      <pc:sldChg chg="delSp modSp mod">
        <pc:chgData name="Dr. Khurram Jadoon khan Asstt. Professor FCS" userId="684a1a15-bea5-4a17-9b67-1313be309245" providerId="ADAL" clId="{970328F4-E501-487D-8678-649BF23301B9}" dt="2024-02-03T10:53:40.157" v="434" actId="108"/>
        <pc:sldMkLst>
          <pc:docMk/>
          <pc:sldMk cId="0" sldId="258"/>
        </pc:sldMkLst>
      </pc:sldChg>
      <pc:sldChg chg="delSp modSp mod">
        <pc:chgData name="Dr. Khurram Jadoon khan Asstt. Professor FCS" userId="684a1a15-bea5-4a17-9b67-1313be309245" providerId="ADAL" clId="{970328F4-E501-487D-8678-649BF23301B9}" dt="2024-02-03T10:54:10.047" v="437" actId="1076"/>
        <pc:sldMkLst>
          <pc:docMk/>
          <pc:sldMk cId="0" sldId="259"/>
        </pc:sldMkLst>
      </pc:sldChg>
      <pc:sldChg chg="addSp delSp modSp mod">
        <pc:chgData name="Dr. Khurram Jadoon khan Asstt. Professor FCS" userId="684a1a15-bea5-4a17-9b67-1313be309245" providerId="ADAL" clId="{970328F4-E501-487D-8678-649BF23301B9}" dt="2024-02-03T10:54:37.151" v="439" actId="108"/>
        <pc:sldMkLst>
          <pc:docMk/>
          <pc:sldMk cId="0" sldId="260"/>
        </pc:sldMkLst>
      </pc:sldChg>
      <pc:sldChg chg="modSp mod">
        <pc:chgData name="Dr. Khurram Jadoon khan Asstt. Professor FCS" userId="684a1a15-bea5-4a17-9b67-1313be309245" providerId="ADAL" clId="{970328F4-E501-487D-8678-649BF23301B9}" dt="2024-02-03T07:56:44.388" v="18" actId="14100"/>
        <pc:sldMkLst>
          <pc:docMk/>
          <pc:sldMk cId="0" sldId="261"/>
        </pc:sldMkLst>
      </pc:sldChg>
      <pc:sldChg chg="addSp delSp modSp mod">
        <pc:chgData name="Dr. Khurram Jadoon khan Asstt. Professor FCS" userId="684a1a15-bea5-4a17-9b67-1313be309245" providerId="ADAL" clId="{970328F4-E501-487D-8678-649BF23301B9}" dt="2024-02-03T11:02:44.322" v="441" actId="20577"/>
        <pc:sldMkLst>
          <pc:docMk/>
          <pc:sldMk cId="0" sldId="262"/>
        </pc:sldMkLst>
      </pc:sldChg>
      <pc:sldChg chg="addSp delSp modSp mod">
        <pc:chgData name="Dr. Khurram Jadoon khan Asstt. Professor FCS" userId="684a1a15-bea5-4a17-9b67-1313be309245" providerId="ADAL" clId="{970328F4-E501-487D-8678-649BF23301B9}" dt="2024-02-03T11:06:13.457" v="462" actId="1076"/>
        <pc:sldMkLst>
          <pc:docMk/>
          <pc:sldMk cId="0" sldId="263"/>
        </pc:sldMkLst>
      </pc:sldChg>
      <pc:sldChg chg="del">
        <pc:chgData name="Dr. Khurram Jadoon khan Asstt. Professor FCS" userId="684a1a15-bea5-4a17-9b67-1313be309245" providerId="ADAL" clId="{970328F4-E501-487D-8678-649BF23301B9}" dt="2024-02-03T11:06:17.357" v="463" actId="47"/>
        <pc:sldMkLst>
          <pc:docMk/>
          <pc:sldMk cId="0" sldId="264"/>
        </pc:sldMkLst>
      </pc:sldChg>
      <pc:sldChg chg="modSp mod">
        <pc:chgData name="Dr. Khurram Jadoon khan Asstt. Professor FCS" userId="684a1a15-bea5-4a17-9b67-1313be309245" providerId="ADAL" clId="{970328F4-E501-487D-8678-649BF23301B9}" dt="2024-02-03T08:07:43.844" v="106" actId="14100"/>
        <pc:sldMkLst>
          <pc:docMk/>
          <pc:sldMk cId="0" sldId="265"/>
        </pc:sldMkLst>
      </pc:sldChg>
      <pc:sldChg chg="modSp mod">
        <pc:chgData name="Dr. Khurram Jadoon khan Asstt. Professor FCS" userId="684a1a15-bea5-4a17-9b67-1313be309245" providerId="ADAL" clId="{970328F4-E501-487D-8678-649BF23301B9}" dt="2024-02-03T08:08:16.717" v="117" actId="5793"/>
        <pc:sldMkLst>
          <pc:docMk/>
          <pc:sldMk cId="0" sldId="266"/>
        </pc:sldMkLst>
      </pc:sldChg>
      <pc:sldChg chg="delSp modSp mod">
        <pc:chgData name="Dr. Khurram Jadoon khan Asstt. Professor FCS" userId="684a1a15-bea5-4a17-9b67-1313be309245" providerId="ADAL" clId="{970328F4-E501-487D-8678-649BF23301B9}" dt="2024-02-03T09:33:28.990" v="272" actId="207"/>
        <pc:sldMkLst>
          <pc:docMk/>
          <pc:sldMk cId="0" sldId="267"/>
        </pc:sldMkLst>
      </pc:sldChg>
      <pc:sldChg chg="delSp modSp mod">
        <pc:chgData name="Dr. Khurram Jadoon khan Asstt. Professor FCS" userId="684a1a15-bea5-4a17-9b67-1313be309245" providerId="ADAL" clId="{970328F4-E501-487D-8678-649BF23301B9}" dt="2024-02-03T11:10:24.702" v="476" actId="478"/>
        <pc:sldMkLst>
          <pc:docMk/>
          <pc:sldMk cId="0" sldId="268"/>
        </pc:sldMkLst>
      </pc:sldChg>
      <pc:sldChg chg="modSp mod">
        <pc:chgData name="Dr. Khurram Jadoon khan Asstt. Professor FCS" userId="684a1a15-bea5-4a17-9b67-1313be309245" providerId="ADAL" clId="{970328F4-E501-487D-8678-649BF23301B9}" dt="2024-02-03T09:36:00.938" v="290" actId="207"/>
        <pc:sldMkLst>
          <pc:docMk/>
          <pc:sldMk cId="0" sldId="269"/>
        </pc:sldMkLst>
      </pc:sldChg>
      <pc:sldChg chg="addSp delSp modSp mod">
        <pc:chgData name="Dr. Khurram Jadoon khan Asstt. Professor FCS" userId="684a1a15-bea5-4a17-9b67-1313be309245" providerId="ADAL" clId="{970328F4-E501-487D-8678-649BF23301B9}" dt="2024-02-03T09:39:27.516" v="311" actId="478"/>
        <pc:sldMkLst>
          <pc:docMk/>
          <pc:sldMk cId="0" sldId="271"/>
        </pc:sldMkLst>
      </pc:sldChg>
      <pc:sldChg chg="modSp mod">
        <pc:chgData name="Dr. Khurram Jadoon khan Asstt. Professor FCS" userId="684a1a15-bea5-4a17-9b67-1313be309245" providerId="ADAL" clId="{970328F4-E501-487D-8678-649BF23301B9}" dt="2024-02-03T09:42:39.695" v="334" actId="20577"/>
        <pc:sldMkLst>
          <pc:docMk/>
          <pc:sldMk cId="0" sldId="272"/>
        </pc:sldMkLst>
      </pc:sldChg>
      <pc:sldChg chg="del">
        <pc:chgData name="Dr. Khurram Jadoon khan Asstt. Professor FCS" userId="684a1a15-bea5-4a17-9b67-1313be309245" providerId="ADAL" clId="{970328F4-E501-487D-8678-649BF23301B9}" dt="2024-02-03T11:12:23.186" v="477" actId="47"/>
        <pc:sldMkLst>
          <pc:docMk/>
          <pc:sldMk cId="0" sldId="275"/>
        </pc:sldMkLst>
      </pc:sldChg>
      <pc:sldChg chg="del">
        <pc:chgData name="Dr. Khurram Jadoon khan Asstt. Professor FCS" userId="684a1a15-bea5-4a17-9b67-1313be309245" providerId="ADAL" clId="{970328F4-E501-487D-8678-649BF23301B9}" dt="2024-02-03T11:13:20.408" v="478" actId="47"/>
        <pc:sldMkLst>
          <pc:docMk/>
          <pc:sldMk cId="0" sldId="281"/>
        </pc:sldMkLst>
      </pc:sldChg>
      <pc:sldChg chg="modSp mod">
        <pc:chgData name="Dr. Khurram Jadoon khan Asstt. Professor FCS" userId="684a1a15-bea5-4a17-9b67-1313be309245" providerId="ADAL" clId="{970328F4-E501-487D-8678-649BF23301B9}" dt="2024-02-03T09:56:15.407" v="335" actId="1076"/>
        <pc:sldMkLst>
          <pc:docMk/>
          <pc:sldMk cId="0" sldId="282"/>
        </pc:sldMkLst>
      </pc:sldChg>
      <pc:sldChg chg="modSp mod">
        <pc:chgData name="Dr. Khurram Jadoon khan Asstt. Professor FCS" userId="684a1a15-bea5-4a17-9b67-1313be309245" providerId="ADAL" clId="{970328F4-E501-487D-8678-649BF23301B9}" dt="2024-02-03T11:13:58.410" v="480" actId="207"/>
        <pc:sldMkLst>
          <pc:docMk/>
          <pc:sldMk cId="0" sldId="285"/>
        </pc:sldMkLst>
      </pc:sldChg>
      <pc:sldChg chg="modSp mod">
        <pc:chgData name="Dr. Khurram Jadoon khan Asstt. Professor FCS" userId="684a1a15-bea5-4a17-9b67-1313be309245" providerId="ADAL" clId="{970328F4-E501-487D-8678-649BF23301B9}" dt="2024-02-06T11:12:22.828" v="482" actId="14100"/>
        <pc:sldMkLst>
          <pc:docMk/>
          <pc:sldMk cId="0" sldId="286"/>
        </pc:sldMkLst>
      </pc:sldChg>
      <pc:sldChg chg="modSp mod">
        <pc:chgData name="Dr. Khurram Jadoon khan Asstt. Professor FCS" userId="684a1a15-bea5-4a17-9b67-1313be309245" providerId="ADAL" clId="{970328F4-E501-487D-8678-649BF23301B9}" dt="2024-02-03T10:30:59.080" v="382" actId="313"/>
        <pc:sldMkLst>
          <pc:docMk/>
          <pc:sldMk cId="0" sldId="287"/>
        </pc:sldMkLst>
      </pc:sldChg>
      <pc:sldChg chg="modSp mod">
        <pc:chgData name="Dr. Khurram Jadoon khan Asstt. Professor FCS" userId="684a1a15-bea5-4a17-9b67-1313be309245" providerId="ADAL" clId="{970328F4-E501-487D-8678-649BF23301B9}" dt="2024-02-03T10:31:43.506" v="384" actId="20577"/>
        <pc:sldMkLst>
          <pc:docMk/>
          <pc:sldMk cId="0" sldId="288"/>
        </pc:sldMkLst>
      </pc:sldChg>
      <pc:sldChg chg="modSp mod">
        <pc:chgData name="Dr. Khurram Jadoon khan Asstt. Professor FCS" userId="684a1a15-bea5-4a17-9b67-1313be309245" providerId="ADAL" clId="{970328F4-E501-487D-8678-649BF23301B9}" dt="2024-02-03T10:35:30.473" v="387" actId="14100"/>
        <pc:sldMkLst>
          <pc:docMk/>
          <pc:sldMk cId="0" sldId="291"/>
        </pc:sldMkLst>
      </pc:sldChg>
      <pc:sldChg chg="ord">
        <pc:chgData name="Dr. Khurram Jadoon khan Asstt. Professor FCS" userId="684a1a15-bea5-4a17-9b67-1313be309245" providerId="ADAL" clId="{970328F4-E501-487D-8678-649BF23301B9}" dt="2024-02-03T10:37:07.880" v="389"/>
        <pc:sldMkLst>
          <pc:docMk/>
          <pc:sldMk cId="0" sldId="295"/>
        </pc:sldMkLst>
      </pc:sldChg>
      <pc:sldChg chg="modSp mod">
        <pc:chgData name="Dr. Khurram Jadoon khan Asstt. Professor FCS" userId="684a1a15-bea5-4a17-9b67-1313be309245" providerId="ADAL" clId="{970328F4-E501-487D-8678-649BF23301B9}" dt="2024-02-03T08:11:16.396" v="156" actId="1076"/>
        <pc:sldMkLst>
          <pc:docMk/>
          <pc:sldMk cId="0" sldId="296"/>
        </pc:sldMkLst>
      </pc:sldChg>
      <pc:sldChg chg="modSp add mod">
        <pc:chgData name="Dr. Khurram Jadoon khan Asstt. Professor FCS" userId="684a1a15-bea5-4a17-9b67-1313be309245" providerId="ADAL" clId="{970328F4-E501-487D-8678-649BF23301B9}" dt="2024-02-03T08:06:47.970" v="100" actId="20577"/>
        <pc:sldMkLst>
          <pc:docMk/>
          <pc:sldMk cId="2407689452" sldId="297"/>
        </pc:sldMkLst>
      </pc:sldChg>
      <pc:sldChg chg="modSp new mod">
        <pc:chgData name="Dr. Khurram Jadoon khan Asstt. Professor FCS" userId="684a1a15-bea5-4a17-9b67-1313be309245" providerId="ADAL" clId="{970328F4-E501-487D-8678-649BF23301B9}" dt="2024-02-03T09:24:40.626" v="211" actId="20577"/>
        <pc:sldMkLst>
          <pc:docMk/>
          <pc:sldMk cId="1990544870" sldId="298"/>
        </pc:sldMkLst>
      </pc:sldChg>
      <pc:sldChg chg="delSp modSp add del mod">
        <pc:chgData name="Dr. Khurram Jadoon khan Asstt. Professor FCS" userId="684a1a15-bea5-4a17-9b67-1313be309245" providerId="ADAL" clId="{970328F4-E501-487D-8678-649BF23301B9}" dt="2024-02-03T11:09:41.361" v="470" actId="207"/>
        <pc:sldMkLst>
          <pc:docMk/>
          <pc:sldMk cId="2783015177" sldId="299"/>
        </pc:sldMkLst>
      </pc:sldChg>
      <pc:sldChg chg="addSp delSp modSp add mod">
        <pc:chgData name="Dr. Khurram Jadoon khan Asstt. Professor FCS" userId="684a1a15-bea5-4a17-9b67-1313be309245" providerId="ADAL" clId="{970328F4-E501-487D-8678-649BF23301B9}" dt="2024-02-03T09:40:15.624" v="333" actId="20577"/>
        <pc:sldMkLst>
          <pc:docMk/>
          <pc:sldMk cId="1229059204" sldId="300"/>
        </pc:sldMkLst>
      </pc:sldChg>
    </pc:docChg>
  </pc:docChgLst>
  <pc:docChgLst>
    <pc:chgData name="Dr. Khurram Jadoon khan Asstt. Professor FCS" userId="684a1a15-bea5-4a17-9b67-1313be309245" providerId="ADAL" clId="{9EB6E519-7AF1-4320-9A3C-071E87ABC17D}"/>
    <pc:docChg chg="undo custSel delSld modSld">
      <pc:chgData name="Dr. Khurram Jadoon khan Asstt. Professor FCS" userId="684a1a15-bea5-4a17-9b67-1313be309245" providerId="ADAL" clId="{9EB6E519-7AF1-4320-9A3C-071E87ABC17D}" dt="2025-09-08T05:28:24.848" v="81" actId="207"/>
      <pc:docMkLst>
        <pc:docMk/>
      </pc:docMkLst>
      <pc:sldChg chg="modSp mod">
        <pc:chgData name="Dr. Khurram Jadoon khan Asstt. Professor FCS" userId="684a1a15-bea5-4a17-9b67-1313be309245" providerId="ADAL" clId="{9EB6E519-7AF1-4320-9A3C-071E87ABC17D}" dt="2025-09-08T05:08:33.957" v="0" actId="404"/>
        <pc:sldMkLst>
          <pc:docMk/>
          <pc:sldMk cId="0" sldId="257"/>
        </pc:sldMkLst>
        <pc:spChg chg="mod">
          <ac:chgData name="Dr. Khurram Jadoon khan Asstt. Professor FCS" userId="684a1a15-bea5-4a17-9b67-1313be309245" providerId="ADAL" clId="{9EB6E519-7AF1-4320-9A3C-071E87ABC17D}" dt="2025-09-08T05:08:33.957" v="0" actId="404"/>
          <ac:spMkLst>
            <pc:docMk/>
            <pc:sldMk cId="0" sldId="257"/>
            <ac:spMk id="3" creationId="{00000000-0000-0000-0000-000000000000}"/>
          </ac:spMkLst>
        </pc:spChg>
      </pc:sldChg>
      <pc:sldChg chg="delSp modSp mod">
        <pc:chgData name="Dr. Khurram Jadoon khan Asstt. Professor FCS" userId="684a1a15-bea5-4a17-9b67-1313be309245" providerId="ADAL" clId="{9EB6E519-7AF1-4320-9A3C-071E87ABC17D}" dt="2025-09-08T05:25:08.039" v="63" actId="20577"/>
        <pc:sldMkLst>
          <pc:docMk/>
          <pc:sldMk cId="0" sldId="260"/>
        </pc:sldMkLst>
        <pc:spChg chg="mod">
          <ac:chgData name="Dr. Khurram Jadoon khan Asstt. Professor FCS" userId="684a1a15-bea5-4a17-9b67-1313be309245" providerId="ADAL" clId="{9EB6E519-7AF1-4320-9A3C-071E87ABC17D}" dt="2025-09-08T05:19:43.412" v="41" actId="20577"/>
          <ac:spMkLst>
            <pc:docMk/>
            <pc:sldMk cId="0" sldId="260"/>
            <ac:spMk id="11" creationId="{60B40104-B4C2-EE08-765B-F7AD28CA6DFC}"/>
          </ac:spMkLst>
        </pc:spChg>
        <pc:spChg chg="mod">
          <ac:chgData name="Dr. Khurram Jadoon khan Asstt. Professor FCS" userId="684a1a15-bea5-4a17-9b67-1313be309245" providerId="ADAL" clId="{9EB6E519-7AF1-4320-9A3C-071E87ABC17D}" dt="2025-09-08T05:25:08.039" v="63" actId="20577"/>
          <ac:spMkLst>
            <pc:docMk/>
            <pc:sldMk cId="0" sldId="260"/>
            <ac:spMk id="13" creationId="{46D9AE5D-20B5-BD1A-4E5F-96C64B50D29B}"/>
          </ac:spMkLst>
        </pc:spChg>
      </pc:sldChg>
      <pc:sldChg chg="addSp modSp mod">
        <pc:chgData name="Dr. Khurram Jadoon khan Asstt. Professor FCS" userId="684a1a15-bea5-4a17-9b67-1313be309245" providerId="ADAL" clId="{9EB6E519-7AF1-4320-9A3C-071E87ABC17D}" dt="2025-09-08T05:28:24.848" v="81" actId="207"/>
        <pc:sldMkLst>
          <pc:docMk/>
          <pc:sldMk cId="0" sldId="261"/>
        </pc:sldMkLst>
        <pc:spChg chg="mod">
          <ac:chgData name="Dr. Khurram Jadoon khan Asstt. Professor FCS" userId="684a1a15-bea5-4a17-9b67-1313be309245" providerId="ADAL" clId="{9EB6E519-7AF1-4320-9A3C-071E87ABC17D}" dt="2025-09-08T05:27:46.538" v="67" actId="1076"/>
          <ac:spMkLst>
            <pc:docMk/>
            <pc:sldMk cId="0" sldId="261"/>
            <ac:spMk id="4" creationId="{00000000-0000-0000-0000-000000000000}"/>
          </ac:spMkLst>
        </pc:spChg>
        <pc:spChg chg="add mod">
          <ac:chgData name="Dr. Khurram Jadoon khan Asstt. Professor FCS" userId="684a1a15-bea5-4a17-9b67-1313be309245" providerId="ADAL" clId="{9EB6E519-7AF1-4320-9A3C-071E87ABC17D}" dt="2025-09-08T05:28:24.848" v="81" actId="207"/>
          <ac:spMkLst>
            <pc:docMk/>
            <pc:sldMk cId="0" sldId="261"/>
            <ac:spMk id="6" creationId="{09B456C2-DA73-14C6-71E2-2E77F07FA173}"/>
          </ac:spMkLst>
        </pc:spChg>
      </pc:sldChg>
      <pc:sldChg chg="modSp mod">
        <pc:chgData name="Dr. Khurram Jadoon khan Asstt. Professor FCS" userId="684a1a15-bea5-4a17-9b67-1313be309245" providerId="ADAL" clId="{9EB6E519-7AF1-4320-9A3C-071E87ABC17D}" dt="2025-09-08T05:25:00.052" v="61" actId="1076"/>
        <pc:sldMkLst>
          <pc:docMk/>
          <pc:sldMk cId="3904560406" sldId="301"/>
        </pc:sldMkLst>
        <pc:spChg chg="mod">
          <ac:chgData name="Dr. Khurram Jadoon khan Asstt. Professor FCS" userId="684a1a15-bea5-4a17-9b67-1313be309245" providerId="ADAL" clId="{9EB6E519-7AF1-4320-9A3C-071E87ABC17D}" dt="2025-09-08T05:25:00.052" v="61" actId="1076"/>
          <ac:spMkLst>
            <pc:docMk/>
            <pc:sldMk cId="3904560406" sldId="301"/>
            <ac:spMk id="3" creationId="{9142CDA7-9E23-9F30-0224-2C5B3C87AB30}"/>
          </ac:spMkLst>
        </pc:spChg>
      </pc:sldChg>
      <pc:sldChg chg="del">
        <pc:chgData name="Dr. Khurram Jadoon khan Asstt. Professor FCS" userId="684a1a15-bea5-4a17-9b67-1313be309245" providerId="ADAL" clId="{9EB6E519-7AF1-4320-9A3C-071E87ABC17D}" dt="2025-09-08T05:11:40.643" v="1" actId="47"/>
        <pc:sldMkLst>
          <pc:docMk/>
          <pc:sldMk cId="366754250" sldId="302"/>
        </pc:sldMkLst>
      </pc:sldChg>
      <pc:sldChg chg="modSp mod">
        <pc:chgData name="Dr. Khurram Jadoon khan Asstt. Professor FCS" userId="684a1a15-bea5-4a17-9b67-1313be309245" providerId="ADAL" clId="{9EB6E519-7AF1-4320-9A3C-071E87ABC17D}" dt="2025-09-08T05:24:46.144" v="60" actId="255"/>
        <pc:sldMkLst>
          <pc:docMk/>
          <pc:sldMk cId="824718625" sldId="305"/>
        </pc:sldMkLst>
        <pc:spChg chg="mod">
          <ac:chgData name="Dr. Khurram Jadoon khan Asstt. Professor FCS" userId="684a1a15-bea5-4a17-9b67-1313be309245" providerId="ADAL" clId="{9EB6E519-7AF1-4320-9A3C-071E87ABC17D}" dt="2025-09-08T05:24:46.144" v="60" actId="255"/>
          <ac:spMkLst>
            <pc:docMk/>
            <pc:sldMk cId="824718625" sldId="305"/>
            <ac:spMk id="3" creationId="{FAF00547-BE8A-6413-FE9E-0525F45CA1BD}"/>
          </ac:spMkLst>
        </pc:spChg>
      </pc:sldChg>
      <pc:sldChg chg="modSp mod">
        <pc:chgData name="Dr. Khurram Jadoon khan Asstt. Professor FCS" userId="684a1a15-bea5-4a17-9b67-1313be309245" providerId="ADAL" clId="{9EB6E519-7AF1-4320-9A3C-071E87ABC17D}" dt="2025-09-08T05:26:22.277" v="64" actId="14100"/>
        <pc:sldMkLst>
          <pc:docMk/>
          <pc:sldMk cId="3002520359" sldId="308"/>
        </pc:sldMkLst>
        <pc:picChg chg="mod">
          <ac:chgData name="Dr. Khurram Jadoon khan Asstt. Professor FCS" userId="684a1a15-bea5-4a17-9b67-1313be309245" providerId="ADAL" clId="{9EB6E519-7AF1-4320-9A3C-071E87ABC17D}" dt="2025-09-08T05:26:22.277" v="64" actId="14100"/>
          <ac:picMkLst>
            <pc:docMk/>
            <pc:sldMk cId="3002520359" sldId="308"/>
            <ac:picMk id="5" creationId="{7108B3B4-7B4E-B0DE-0E3E-8DAE1704F32D}"/>
          </ac:picMkLst>
        </pc:picChg>
      </pc:sldChg>
    </pc:docChg>
  </pc:docChgLst>
  <pc:docChgLst>
    <pc:chgData name="Dr. Khurram Jadoon khan Asstt. Professor FCS" userId="684a1a15-bea5-4a17-9b67-1313be309245" providerId="ADAL" clId="{FA6A18CD-8C91-481B-AB6B-8B2BF6D0213A}"/>
    <pc:docChg chg="undo custSel delSld modSld">
      <pc:chgData name="Dr. Khurram Jadoon khan Asstt. Professor FCS" userId="684a1a15-bea5-4a17-9b67-1313be309245" providerId="ADAL" clId="{FA6A18CD-8C91-481B-AB6B-8B2BF6D0213A}" dt="2025-09-12T05:58:20.733" v="154" actId="1076"/>
      <pc:docMkLst>
        <pc:docMk/>
      </pc:docMkLst>
      <pc:sldChg chg="addSp delSp modSp mod">
        <pc:chgData name="Dr. Khurram Jadoon khan Asstt. Professor FCS" userId="684a1a15-bea5-4a17-9b67-1313be309245" providerId="ADAL" clId="{FA6A18CD-8C91-481B-AB6B-8B2BF6D0213A}" dt="2025-09-12T04:52:18.636" v="31" actId="20577"/>
        <pc:sldMkLst>
          <pc:docMk/>
          <pc:sldMk cId="0" sldId="265"/>
        </pc:sldMkLst>
        <pc:spChg chg="add del mod">
          <ac:chgData name="Dr. Khurram Jadoon khan Asstt. Professor FCS" userId="684a1a15-bea5-4a17-9b67-1313be309245" providerId="ADAL" clId="{FA6A18CD-8C91-481B-AB6B-8B2BF6D0213A}" dt="2025-09-12T04:52:18.636" v="31" actId="20577"/>
          <ac:spMkLst>
            <pc:docMk/>
            <pc:sldMk cId="0" sldId="265"/>
            <ac:spMk id="4" creationId="{00000000-0000-0000-0000-000000000000}"/>
          </ac:spMkLst>
        </pc:spChg>
        <pc:spChg chg="add del">
          <ac:chgData name="Dr. Khurram Jadoon khan Asstt. Professor FCS" userId="684a1a15-bea5-4a17-9b67-1313be309245" providerId="ADAL" clId="{FA6A18CD-8C91-481B-AB6B-8B2BF6D0213A}" dt="2025-09-12T04:52:18.025" v="30" actId="478"/>
          <ac:spMkLst>
            <pc:docMk/>
            <pc:sldMk cId="0" sldId="265"/>
            <ac:spMk id="5" creationId="{00000000-0000-0000-0000-000000000000}"/>
          </ac:spMkLst>
        </pc:spChg>
      </pc:sldChg>
      <pc:sldChg chg="del">
        <pc:chgData name="Dr. Khurram Jadoon khan Asstt. Professor FCS" userId="684a1a15-bea5-4a17-9b67-1313be309245" providerId="ADAL" clId="{FA6A18CD-8C91-481B-AB6B-8B2BF6D0213A}" dt="2025-09-12T05:37:17.828" v="32" actId="47"/>
        <pc:sldMkLst>
          <pc:docMk/>
          <pc:sldMk cId="0" sldId="266"/>
        </pc:sldMkLst>
      </pc:sldChg>
      <pc:sldChg chg="modSp mod">
        <pc:chgData name="Dr. Khurram Jadoon khan Asstt. Professor FCS" userId="684a1a15-bea5-4a17-9b67-1313be309245" providerId="ADAL" clId="{FA6A18CD-8C91-481B-AB6B-8B2BF6D0213A}" dt="2025-09-12T05:39:20.364" v="62" actId="20577"/>
        <pc:sldMkLst>
          <pc:docMk/>
          <pc:sldMk cId="0" sldId="267"/>
        </pc:sldMkLst>
        <pc:spChg chg="mod">
          <ac:chgData name="Dr. Khurram Jadoon khan Asstt. Professor FCS" userId="684a1a15-bea5-4a17-9b67-1313be309245" providerId="ADAL" clId="{FA6A18CD-8C91-481B-AB6B-8B2BF6D0213A}" dt="2025-09-12T05:38:52.545" v="56" actId="20577"/>
          <ac:spMkLst>
            <pc:docMk/>
            <pc:sldMk cId="0" sldId="267"/>
            <ac:spMk id="3" creationId="{00000000-0000-0000-0000-000000000000}"/>
          </ac:spMkLst>
        </pc:spChg>
        <pc:spChg chg="mod">
          <ac:chgData name="Dr. Khurram Jadoon khan Asstt. Professor FCS" userId="684a1a15-bea5-4a17-9b67-1313be309245" providerId="ADAL" clId="{FA6A18CD-8C91-481B-AB6B-8B2BF6D0213A}" dt="2025-09-12T05:39:20.364" v="62" actId="20577"/>
          <ac:spMkLst>
            <pc:docMk/>
            <pc:sldMk cId="0" sldId="267"/>
            <ac:spMk id="7" creationId="{00000000-0000-0000-0000-000000000000}"/>
          </ac:spMkLst>
        </pc:spChg>
      </pc:sldChg>
      <pc:sldChg chg="modSp mod">
        <pc:chgData name="Dr. Khurram Jadoon khan Asstt. Professor FCS" userId="684a1a15-bea5-4a17-9b67-1313be309245" providerId="ADAL" clId="{FA6A18CD-8C91-481B-AB6B-8B2BF6D0213A}" dt="2025-09-12T05:42:59.887" v="86" actId="207"/>
        <pc:sldMkLst>
          <pc:docMk/>
          <pc:sldMk cId="0" sldId="268"/>
        </pc:sldMkLst>
        <pc:spChg chg="mod">
          <ac:chgData name="Dr. Khurram Jadoon khan Asstt. Professor FCS" userId="684a1a15-bea5-4a17-9b67-1313be309245" providerId="ADAL" clId="{FA6A18CD-8C91-481B-AB6B-8B2BF6D0213A}" dt="2025-09-12T05:42:59.887" v="86" actId="207"/>
          <ac:spMkLst>
            <pc:docMk/>
            <pc:sldMk cId="0" sldId="268"/>
            <ac:spMk id="4" creationId="{00000000-0000-0000-0000-000000000000}"/>
          </ac:spMkLst>
        </pc:spChg>
      </pc:sldChg>
      <pc:sldChg chg="modSp mod">
        <pc:chgData name="Dr. Khurram Jadoon khan Asstt. Professor FCS" userId="684a1a15-bea5-4a17-9b67-1313be309245" providerId="ADAL" clId="{FA6A18CD-8C91-481B-AB6B-8B2BF6D0213A}" dt="2025-09-12T05:46:20.527" v="107" actId="207"/>
        <pc:sldMkLst>
          <pc:docMk/>
          <pc:sldMk cId="0" sldId="269"/>
        </pc:sldMkLst>
        <pc:spChg chg="mod">
          <ac:chgData name="Dr. Khurram Jadoon khan Asstt. Professor FCS" userId="684a1a15-bea5-4a17-9b67-1313be309245" providerId="ADAL" clId="{FA6A18CD-8C91-481B-AB6B-8B2BF6D0213A}" dt="2025-09-12T05:46:20.527" v="107" actId="207"/>
          <ac:spMkLst>
            <pc:docMk/>
            <pc:sldMk cId="0" sldId="269"/>
            <ac:spMk id="3" creationId="{00000000-0000-0000-0000-000000000000}"/>
          </ac:spMkLst>
        </pc:spChg>
      </pc:sldChg>
      <pc:sldChg chg="addSp delSp modSp mod">
        <pc:chgData name="Dr. Khurram Jadoon khan Asstt. Professor FCS" userId="684a1a15-bea5-4a17-9b67-1313be309245" providerId="ADAL" clId="{FA6A18CD-8C91-481B-AB6B-8B2BF6D0213A}" dt="2025-09-12T05:50:05.432" v="127" actId="1076"/>
        <pc:sldMkLst>
          <pc:docMk/>
          <pc:sldMk cId="0" sldId="276"/>
        </pc:sldMkLst>
        <pc:spChg chg="mod">
          <ac:chgData name="Dr. Khurram Jadoon khan Asstt. Professor FCS" userId="684a1a15-bea5-4a17-9b67-1313be309245" providerId="ADAL" clId="{FA6A18CD-8C91-481B-AB6B-8B2BF6D0213A}" dt="2025-09-12T05:48:48.313" v="121" actId="20577"/>
          <ac:spMkLst>
            <pc:docMk/>
            <pc:sldMk cId="0" sldId="276"/>
            <ac:spMk id="2" creationId="{00000000-0000-0000-0000-000000000000}"/>
          </ac:spMkLst>
        </pc:spChg>
        <pc:spChg chg="mod">
          <ac:chgData name="Dr. Khurram Jadoon khan Asstt. Professor FCS" userId="684a1a15-bea5-4a17-9b67-1313be309245" providerId="ADAL" clId="{FA6A18CD-8C91-481B-AB6B-8B2BF6D0213A}" dt="2025-09-12T05:48:28.615" v="119" actId="20577"/>
          <ac:spMkLst>
            <pc:docMk/>
            <pc:sldMk cId="0" sldId="276"/>
            <ac:spMk id="3" creationId="{00000000-0000-0000-0000-000000000000}"/>
          </ac:spMkLst>
        </pc:spChg>
        <pc:spChg chg="del">
          <ac:chgData name="Dr. Khurram Jadoon khan Asstt. Professor FCS" userId="684a1a15-bea5-4a17-9b67-1313be309245" providerId="ADAL" clId="{FA6A18CD-8C91-481B-AB6B-8B2BF6D0213A}" dt="2025-09-12T05:49:59.744" v="122" actId="478"/>
          <ac:spMkLst>
            <pc:docMk/>
            <pc:sldMk cId="0" sldId="276"/>
            <ac:spMk id="4" creationId="{00000000-0000-0000-0000-000000000000}"/>
          </ac:spMkLst>
        </pc:spChg>
        <pc:picChg chg="add mod">
          <ac:chgData name="Dr. Khurram Jadoon khan Asstt. Professor FCS" userId="684a1a15-bea5-4a17-9b67-1313be309245" providerId="ADAL" clId="{FA6A18CD-8C91-481B-AB6B-8B2BF6D0213A}" dt="2025-09-12T05:50:05.432" v="127" actId="1076"/>
          <ac:picMkLst>
            <pc:docMk/>
            <pc:sldMk cId="0" sldId="276"/>
            <ac:picMk id="8" creationId="{E9C2E5F9-2C38-311A-BA53-EC2A2AAF051D}"/>
          </ac:picMkLst>
        </pc:picChg>
      </pc:sldChg>
      <pc:sldChg chg="modSp mod">
        <pc:chgData name="Dr. Khurram Jadoon khan Asstt. Professor FCS" userId="684a1a15-bea5-4a17-9b67-1313be309245" providerId="ADAL" clId="{FA6A18CD-8C91-481B-AB6B-8B2BF6D0213A}" dt="2025-09-12T05:51:50.288" v="128" actId="1076"/>
        <pc:sldMkLst>
          <pc:docMk/>
          <pc:sldMk cId="0" sldId="277"/>
        </pc:sldMkLst>
        <pc:spChg chg="mod">
          <ac:chgData name="Dr. Khurram Jadoon khan Asstt. Professor FCS" userId="684a1a15-bea5-4a17-9b67-1313be309245" providerId="ADAL" clId="{FA6A18CD-8C91-481B-AB6B-8B2BF6D0213A}" dt="2025-09-12T05:51:50.288" v="128" actId="1076"/>
          <ac:spMkLst>
            <pc:docMk/>
            <pc:sldMk cId="0" sldId="277"/>
            <ac:spMk id="5" creationId="{00000000-0000-0000-0000-000000000000}"/>
          </ac:spMkLst>
        </pc:spChg>
      </pc:sldChg>
      <pc:sldChg chg="modSp mod">
        <pc:chgData name="Dr. Khurram Jadoon khan Asstt. Professor FCS" userId="684a1a15-bea5-4a17-9b67-1313be309245" providerId="ADAL" clId="{FA6A18CD-8C91-481B-AB6B-8B2BF6D0213A}" dt="2025-09-12T05:53:09.471" v="131" actId="404"/>
        <pc:sldMkLst>
          <pc:docMk/>
          <pc:sldMk cId="0" sldId="278"/>
        </pc:sldMkLst>
        <pc:spChg chg="mod">
          <ac:chgData name="Dr. Khurram Jadoon khan Asstt. Professor FCS" userId="684a1a15-bea5-4a17-9b67-1313be309245" providerId="ADAL" clId="{FA6A18CD-8C91-481B-AB6B-8B2BF6D0213A}" dt="2025-09-12T05:53:09.471" v="131" actId="404"/>
          <ac:spMkLst>
            <pc:docMk/>
            <pc:sldMk cId="0" sldId="278"/>
            <ac:spMk id="3" creationId="{00000000-0000-0000-0000-000000000000}"/>
          </ac:spMkLst>
        </pc:spChg>
      </pc:sldChg>
      <pc:sldChg chg="modSp mod">
        <pc:chgData name="Dr. Khurram Jadoon khan Asstt. Professor FCS" userId="684a1a15-bea5-4a17-9b67-1313be309245" providerId="ADAL" clId="{FA6A18CD-8C91-481B-AB6B-8B2BF6D0213A}" dt="2025-09-12T05:53:46.599" v="133" actId="404"/>
        <pc:sldMkLst>
          <pc:docMk/>
          <pc:sldMk cId="0" sldId="279"/>
        </pc:sldMkLst>
        <pc:spChg chg="mod">
          <ac:chgData name="Dr. Khurram Jadoon khan Asstt. Professor FCS" userId="684a1a15-bea5-4a17-9b67-1313be309245" providerId="ADAL" clId="{FA6A18CD-8C91-481B-AB6B-8B2BF6D0213A}" dt="2025-09-12T05:53:46.599" v="133" actId="404"/>
          <ac:spMkLst>
            <pc:docMk/>
            <pc:sldMk cId="0" sldId="279"/>
            <ac:spMk id="3" creationId="{00000000-0000-0000-0000-000000000000}"/>
          </ac:spMkLst>
        </pc:spChg>
      </pc:sldChg>
      <pc:sldChg chg="addSp delSp modSp mod">
        <pc:chgData name="Dr. Khurram Jadoon khan Asstt. Professor FCS" userId="684a1a15-bea5-4a17-9b67-1313be309245" providerId="ADAL" clId="{FA6A18CD-8C91-481B-AB6B-8B2BF6D0213A}" dt="2025-09-12T05:55:58.023" v="136" actId="1076"/>
        <pc:sldMkLst>
          <pc:docMk/>
          <pc:sldMk cId="0" sldId="284"/>
        </pc:sldMkLst>
        <pc:spChg chg="del">
          <ac:chgData name="Dr. Khurram Jadoon khan Asstt. Professor FCS" userId="684a1a15-bea5-4a17-9b67-1313be309245" providerId="ADAL" clId="{FA6A18CD-8C91-481B-AB6B-8B2BF6D0213A}" dt="2025-09-12T05:55:47.368" v="134" actId="478"/>
          <ac:spMkLst>
            <pc:docMk/>
            <pc:sldMk cId="0" sldId="284"/>
            <ac:spMk id="3" creationId="{00000000-0000-0000-0000-000000000000}"/>
          </ac:spMkLst>
        </pc:spChg>
        <pc:picChg chg="add mod">
          <ac:chgData name="Dr. Khurram Jadoon khan Asstt. Professor FCS" userId="684a1a15-bea5-4a17-9b67-1313be309245" providerId="ADAL" clId="{FA6A18CD-8C91-481B-AB6B-8B2BF6D0213A}" dt="2025-09-12T05:55:58.023" v="136" actId="1076"/>
          <ac:picMkLst>
            <pc:docMk/>
            <pc:sldMk cId="0" sldId="284"/>
            <ac:picMk id="6" creationId="{A6CF24C3-4C18-69F7-38C2-AA279D4C338B}"/>
          </ac:picMkLst>
        </pc:picChg>
      </pc:sldChg>
      <pc:sldChg chg="addSp delSp modSp mod">
        <pc:chgData name="Dr. Khurram Jadoon khan Asstt. Professor FCS" userId="684a1a15-bea5-4a17-9b67-1313be309245" providerId="ADAL" clId="{FA6A18CD-8C91-481B-AB6B-8B2BF6D0213A}" dt="2025-09-12T05:58:20.733" v="154" actId="1076"/>
        <pc:sldMkLst>
          <pc:docMk/>
          <pc:sldMk cId="0" sldId="288"/>
        </pc:sldMkLst>
        <pc:spChg chg="mod">
          <ac:chgData name="Dr. Khurram Jadoon khan Asstt. Professor FCS" userId="684a1a15-bea5-4a17-9b67-1313be309245" providerId="ADAL" clId="{FA6A18CD-8C91-481B-AB6B-8B2BF6D0213A}" dt="2025-09-12T05:56:41.526" v="143" actId="1076"/>
          <ac:spMkLst>
            <pc:docMk/>
            <pc:sldMk cId="0" sldId="288"/>
            <ac:spMk id="3" creationId="{00000000-0000-0000-0000-000000000000}"/>
          </ac:spMkLst>
        </pc:spChg>
        <pc:spChg chg="del">
          <ac:chgData name="Dr. Khurram Jadoon khan Asstt. Professor FCS" userId="684a1a15-bea5-4a17-9b67-1313be309245" providerId="ADAL" clId="{FA6A18CD-8C91-481B-AB6B-8B2BF6D0213A}" dt="2025-09-12T05:56:19.567" v="137" actId="478"/>
          <ac:spMkLst>
            <pc:docMk/>
            <pc:sldMk cId="0" sldId="288"/>
            <ac:spMk id="5" creationId="{00000000-0000-0000-0000-000000000000}"/>
          </ac:spMkLst>
        </pc:spChg>
        <pc:spChg chg="mod">
          <ac:chgData name="Dr. Khurram Jadoon khan Asstt. Professor FCS" userId="684a1a15-bea5-4a17-9b67-1313be309245" providerId="ADAL" clId="{FA6A18CD-8C91-481B-AB6B-8B2BF6D0213A}" dt="2025-09-12T05:56:49.373" v="146" actId="404"/>
          <ac:spMkLst>
            <pc:docMk/>
            <pc:sldMk cId="0" sldId="288"/>
            <ac:spMk id="7" creationId="{00000000-0000-0000-0000-000000000000}"/>
          </ac:spMkLst>
        </pc:spChg>
        <pc:spChg chg="mod">
          <ac:chgData name="Dr. Khurram Jadoon khan Asstt. Professor FCS" userId="684a1a15-bea5-4a17-9b67-1313be309245" providerId="ADAL" clId="{FA6A18CD-8C91-481B-AB6B-8B2BF6D0213A}" dt="2025-09-12T05:58:20.733" v="154" actId="1076"/>
          <ac:spMkLst>
            <pc:docMk/>
            <pc:sldMk cId="0" sldId="288"/>
            <ac:spMk id="8" creationId="{00000000-0000-0000-0000-000000000000}"/>
          </ac:spMkLst>
        </pc:spChg>
        <pc:picChg chg="add mod">
          <ac:chgData name="Dr. Khurram Jadoon khan Asstt. Professor FCS" userId="684a1a15-bea5-4a17-9b67-1313be309245" providerId="ADAL" clId="{FA6A18CD-8C91-481B-AB6B-8B2BF6D0213A}" dt="2025-09-12T05:56:59.432" v="152" actId="14100"/>
          <ac:picMkLst>
            <pc:docMk/>
            <pc:sldMk cId="0" sldId="288"/>
            <ac:picMk id="4" creationId="{11E05996-A52B-E5B6-B2A8-ABEE3008A150}"/>
          </ac:picMkLst>
        </pc:picChg>
      </pc:sldChg>
      <pc:sldChg chg="del">
        <pc:chgData name="Dr. Khurram Jadoon khan Asstt. Professor FCS" userId="684a1a15-bea5-4a17-9b67-1313be309245" providerId="ADAL" clId="{FA6A18CD-8C91-481B-AB6B-8B2BF6D0213A}" dt="2025-09-12T04:51:25.537" v="24" actId="47"/>
        <pc:sldMkLst>
          <pc:docMk/>
          <pc:sldMk cId="1990544870" sldId="298"/>
        </pc:sldMkLst>
      </pc:sldChg>
      <pc:sldChg chg="modSp mod">
        <pc:chgData name="Dr. Khurram Jadoon khan Asstt. Professor FCS" userId="684a1a15-bea5-4a17-9b67-1313be309245" providerId="ADAL" clId="{FA6A18CD-8C91-481B-AB6B-8B2BF6D0213A}" dt="2025-09-12T05:38:10.941" v="38" actId="207"/>
        <pc:sldMkLst>
          <pc:docMk/>
          <pc:sldMk cId="2783015177" sldId="299"/>
        </pc:sldMkLst>
        <pc:spChg chg="mod">
          <ac:chgData name="Dr. Khurram Jadoon khan Asstt. Professor FCS" userId="684a1a15-bea5-4a17-9b67-1313be309245" providerId="ADAL" clId="{FA6A18CD-8C91-481B-AB6B-8B2BF6D0213A}" dt="2025-09-12T05:38:10.941" v="38" actId="207"/>
          <ac:spMkLst>
            <pc:docMk/>
            <pc:sldMk cId="2783015177" sldId="299"/>
            <ac:spMk id="7" creationId="{8954E063-3AD6-18CB-8133-4A10D96AFB3B}"/>
          </ac:spMkLst>
        </pc:spChg>
      </pc:sldChg>
      <pc:sldChg chg="modSp mod">
        <pc:chgData name="Dr. Khurram Jadoon khan Asstt. Professor FCS" userId="684a1a15-bea5-4a17-9b67-1313be309245" providerId="ADAL" clId="{FA6A18CD-8C91-481B-AB6B-8B2BF6D0213A}" dt="2025-09-12T05:47:47.619" v="117" actId="108"/>
        <pc:sldMkLst>
          <pc:docMk/>
          <pc:sldMk cId="1229059204" sldId="300"/>
        </pc:sldMkLst>
        <pc:spChg chg="mod">
          <ac:chgData name="Dr. Khurram Jadoon khan Asstt. Professor FCS" userId="684a1a15-bea5-4a17-9b67-1313be309245" providerId="ADAL" clId="{FA6A18CD-8C91-481B-AB6B-8B2BF6D0213A}" dt="2025-09-12T05:47:47.619" v="117" actId="108"/>
          <ac:spMkLst>
            <pc:docMk/>
            <pc:sldMk cId="1229059204" sldId="300"/>
            <ac:spMk id="7" creationId="{BAD8A1C3-B143-4DED-2541-8468103478AA}"/>
          </ac:spMkLst>
        </pc:spChg>
      </pc:sldChg>
      <pc:sldChg chg="modSp mod">
        <pc:chgData name="Dr. Khurram Jadoon khan Asstt. Professor FCS" userId="684a1a15-bea5-4a17-9b67-1313be309245" providerId="ADAL" clId="{FA6A18CD-8C91-481B-AB6B-8B2BF6D0213A}" dt="2025-09-12T04:44:22.529" v="5" actId="20577"/>
        <pc:sldMkLst>
          <pc:docMk/>
          <pc:sldMk cId="824718625" sldId="305"/>
        </pc:sldMkLst>
        <pc:spChg chg="mod">
          <ac:chgData name="Dr. Khurram Jadoon khan Asstt. Professor FCS" userId="684a1a15-bea5-4a17-9b67-1313be309245" providerId="ADAL" clId="{FA6A18CD-8C91-481B-AB6B-8B2BF6D0213A}" dt="2025-09-12T04:44:22.529" v="5" actId="20577"/>
          <ac:spMkLst>
            <pc:docMk/>
            <pc:sldMk cId="824718625" sldId="305"/>
            <ac:spMk id="3" creationId="{FAF00547-BE8A-6413-FE9E-0525F45CA1BD}"/>
          </ac:spMkLst>
        </pc:spChg>
      </pc:sldChg>
      <pc:sldChg chg="modSp mod">
        <pc:chgData name="Dr. Khurram Jadoon khan Asstt. Professor FCS" userId="684a1a15-bea5-4a17-9b67-1313be309245" providerId="ADAL" clId="{FA6A18CD-8C91-481B-AB6B-8B2BF6D0213A}" dt="2025-09-12T04:50:56.289" v="23" actId="1076"/>
        <pc:sldMkLst>
          <pc:docMk/>
          <pc:sldMk cId="3051616148" sldId="309"/>
        </pc:sldMkLst>
        <pc:spChg chg="mod">
          <ac:chgData name="Dr. Khurram Jadoon khan Asstt. Professor FCS" userId="684a1a15-bea5-4a17-9b67-1313be309245" providerId="ADAL" clId="{FA6A18CD-8C91-481B-AB6B-8B2BF6D0213A}" dt="2025-09-12T04:50:56.289" v="23" actId="1076"/>
          <ac:spMkLst>
            <pc:docMk/>
            <pc:sldMk cId="3051616148" sldId="309"/>
            <ac:spMk id="5" creationId="{90A89CD9-43CE-6D4F-DE87-7F45D958F10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21FD80EB-B9FB-4779-84FD-09A5B51CD9BC}" type="datetimeFigureOut">
              <a:rPr lang="en-US" smtClean="0"/>
              <a:t>9/12/2025</a:t>
            </a:fld>
            <a:endParaRPr lang="en-US"/>
          </a:p>
        </p:txBody>
      </p:sp>
      <p:sp>
        <p:nvSpPr>
          <p:cNvPr id="4" name="Slide Image Placeholder 3"/>
          <p:cNvSpPr>
            <a:spLocks noGrp="1" noRot="1" noChangeAspect="1"/>
          </p:cNvSpPr>
          <p:nvPr>
            <p:ph type="sldImg" idx="2"/>
          </p:nvPr>
        </p:nvSpPr>
        <p:spPr>
          <a:xfrm>
            <a:off x="3079750" y="944563"/>
            <a:ext cx="4533900" cy="25511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38259090-5383-4766-A10A-FA9DD5E7C7DE}" type="slidenum">
              <a:rPr lang="en-US" smtClean="0"/>
              <a:t>‹#›</a:t>
            </a:fld>
            <a:endParaRPr lang="en-US"/>
          </a:p>
        </p:txBody>
      </p:sp>
    </p:spTree>
    <p:extLst>
      <p:ext uri="{BB962C8B-B14F-4D97-AF65-F5344CB8AC3E}">
        <p14:creationId xmlns:p14="http://schemas.microsoft.com/office/powerpoint/2010/main" val="4265103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Proactive Calendar Management:</a:t>
            </a:r>
            <a:r>
              <a:rPr lang="en-US" dirty="0"/>
              <a:t> The AI schedules meetings by considering your past availability, workload, and typical patterns. It might suggest blocking out focus time if it notices your schedule is becoming too crowded, or it could reschedule events based on priority without being told to do so.</a:t>
            </a:r>
          </a:p>
          <a:p>
            <a:r>
              <a:rPr lang="en-US" b="1" dirty="0"/>
              <a:t>Recommendation Systems:</a:t>
            </a:r>
            <a:r>
              <a:rPr lang="en-US" dirty="0"/>
              <a:t> An e-commerce AI that doesn't just react to your searches but proactively suggests products based on your buying habits, future events (like upcoming holidays), or even what you may need next.</a:t>
            </a:r>
          </a:p>
          <a:p>
            <a:endParaRPr lang="en-US" dirty="0"/>
          </a:p>
        </p:txBody>
      </p:sp>
      <p:sp>
        <p:nvSpPr>
          <p:cNvPr id="4" name="Slide Number Placeholder 3"/>
          <p:cNvSpPr>
            <a:spLocks noGrp="1"/>
          </p:cNvSpPr>
          <p:nvPr>
            <p:ph type="sldNum" sz="quarter" idx="5"/>
          </p:nvPr>
        </p:nvSpPr>
        <p:spPr/>
        <p:txBody>
          <a:bodyPr/>
          <a:lstStyle/>
          <a:p>
            <a:fld id="{38259090-5383-4766-A10A-FA9DD5E7C7DE}" type="slidenum">
              <a:rPr lang="en-US" smtClean="0"/>
              <a:t>3</a:t>
            </a:fld>
            <a:endParaRPr lang="en-US"/>
          </a:p>
        </p:txBody>
      </p:sp>
    </p:spTree>
    <p:extLst>
      <p:ext uri="{BB962C8B-B14F-4D97-AF65-F5344CB8AC3E}">
        <p14:creationId xmlns:p14="http://schemas.microsoft.com/office/powerpoint/2010/main" val="1646534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259090-5383-4766-A10A-FA9DD5E7C7DE}" type="slidenum">
              <a:rPr lang="en-US" smtClean="0"/>
              <a:t>13</a:t>
            </a:fld>
            <a:endParaRPr lang="en-US"/>
          </a:p>
        </p:txBody>
      </p:sp>
    </p:spTree>
    <p:extLst>
      <p:ext uri="{BB962C8B-B14F-4D97-AF65-F5344CB8AC3E}">
        <p14:creationId xmlns:p14="http://schemas.microsoft.com/office/powerpoint/2010/main" val="1995598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07507" y="2342516"/>
            <a:ext cx="11418411" cy="67710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015014" y="4231641"/>
            <a:ext cx="9403398"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p:txBody>
          <a:bodyPr lIns="0" tIns="0" rIns="0" bIns="0"/>
          <a:lstStyle>
            <a:lvl1pPr>
              <a:defRPr sz="1507" b="0" i="0">
                <a:solidFill>
                  <a:srgbClr val="898989"/>
                </a:solidFill>
                <a:latin typeface="Gill Sans MT"/>
                <a:cs typeface="Gill Sans MT"/>
              </a:defRPr>
            </a:lvl1pPr>
          </a:lstStyle>
          <a:p>
            <a:pPr marL="31907">
              <a:lnSpc>
                <a:spcPts val="1652"/>
              </a:lnSpc>
              <a:spcBef>
                <a:spcPts val="100"/>
              </a:spcBef>
            </a:pPr>
            <a:fld id="{81D60167-4931-47E6-BA6A-407CBD079E47}" type="slidenum">
              <a:rPr lang="en-US" smtClean="0"/>
              <a:pPr marL="31907">
                <a:lnSpc>
                  <a:spcPts val="1652"/>
                </a:lnSpc>
                <a:spcBef>
                  <a:spcPts val="100"/>
                </a:spcBef>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856938" y="823468"/>
            <a:ext cx="5714790" cy="850554"/>
          </a:xfrm>
        </p:spPr>
        <p:txBody>
          <a:bodyPr lIns="0" tIns="0" rIns="0" bIns="0"/>
          <a:lstStyle>
            <a:lvl1pPr>
              <a:defRPr sz="5527" b="0" i="0">
                <a:solidFill>
                  <a:schemeClr val="tx1"/>
                </a:solidFill>
                <a:latin typeface="Calibri"/>
                <a:cs typeface="Calibri"/>
              </a:defRPr>
            </a:lvl1pPr>
          </a:lstStyle>
          <a:p>
            <a:endParaRPr/>
          </a:p>
        </p:txBody>
      </p:sp>
      <p:sp>
        <p:nvSpPr>
          <p:cNvPr id="3" name="Holder 3"/>
          <p:cNvSpPr>
            <a:spLocks noGrp="1"/>
          </p:cNvSpPr>
          <p:nvPr>
            <p:ph type="body" idx="1"/>
          </p:nvPr>
        </p:nvSpPr>
        <p:spPr>
          <a:xfrm>
            <a:off x="1450411" y="1465072"/>
            <a:ext cx="10190737" cy="618631"/>
          </a:xfrm>
        </p:spPr>
        <p:txBody>
          <a:bodyPr lIns="0" tIns="0" rIns="0" bIns="0"/>
          <a:lstStyle>
            <a:lvl1pPr>
              <a:defRPr sz="402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p:txBody>
          <a:bodyPr lIns="0" tIns="0" rIns="0" bIns="0"/>
          <a:lstStyle>
            <a:lvl1pPr>
              <a:defRPr sz="1507" b="0" i="0">
                <a:solidFill>
                  <a:srgbClr val="898989"/>
                </a:solidFill>
                <a:latin typeface="Gill Sans MT"/>
                <a:cs typeface="Gill Sans MT"/>
              </a:defRPr>
            </a:lvl1pPr>
          </a:lstStyle>
          <a:p>
            <a:pPr marL="31907">
              <a:lnSpc>
                <a:spcPts val="1652"/>
              </a:lnSpc>
              <a:spcBef>
                <a:spcPts val="100"/>
              </a:spcBef>
            </a:pPr>
            <a:fld id="{81D60167-4931-47E6-BA6A-407CBD079E47}" type="slidenum">
              <a:rPr lang="en-US" smtClean="0"/>
              <a:pPr marL="31907">
                <a:lnSpc>
                  <a:spcPts val="1652"/>
                </a:lnSpc>
                <a:spcBef>
                  <a:spcPts val="100"/>
                </a:spcBef>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856938" y="823468"/>
            <a:ext cx="5714790" cy="850554"/>
          </a:xfrm>
        </p:spPr>
        <p:txBody>
          <a:bodyPr lIns="0" tIns="0" rIns="0" bIns="0"/>
          <a:lstStyle>
            <a:lvl1pPr>
              <a:defRPr sz="5527" b="0" i="0">
                <a:solidFill>
                  <a:schemeClr val="tx1"/>
                </a:solidFill>
                <a:latin typeface="Calibri"/>
                <a:cs typeface="Calibri"/>
              </a:defRPr>
            </a:lvl1pPr>
          </a:lstStyle>
          <a:p>
            <a:endParaRPr/>
          </a:p>
        </p:txBody>
      </p:sp>
      <p:sp>
        <p:nvSpPr>
          <p:cNvPr id="3" name="Holder 3"/>
          <p:cNvSpPr>
            <a:spLocks noGrp="1"/>
          </p:cNvSpPr>
          <p:nvPr>
            <p:ph sz="half" idx="2"/>
          </p:nvPr>
        </p:nvSpPr>
        <p:spPr>
          <a:xfrm>
            <a:off x="671672" y="1737995"/>
            <a:ext cx="584354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918214" y="1737995"/>
            <a:ext cx="5843540" cy="4924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7" name="Holder 7"/>
          <p:cNvSpPr>
            <a:spLocks noGrp="1"/>
          </p:cNvSpPr>
          <p:nvPr>
            <p:ph type="sldNum" sz="quarter" idx="7"/>
          </p:nvPr>
        </p:nvSpPr>
        <p:spPr/>
        <p:txBody>
          <a:bodyPr lIns="0" tIns="0" rIns="0" bIns="0"/>
          <a:lstStyle>
            <a:lvl1pPr>
              <a:defRPr sz="1507" b="0" i="0">
                <a:solidFill>
                  <a:srgbClr val="898989"/>
                </a:solidFill>
                <a:latin typeface="Gill Sans MT"/>
                <a:cs typeface="Gill Sans MT"/>
              </a:defRPr>
            </a:lvl1pPr>
          </a:lstStyle>
          <a:p>
            <a:pPr marL="31907">
              <a:lnSpc>
                <a:spcPts val="1652"/>
              </a:lnSpc>
              <a:spcBef>
                <a:spcPts val="100"/>
              </a:spcBef>
            </a:pPr>
            <a:fld id="{81D60167-4931-47E6-BA6A-407CBD079E47}" type="slidenum">
              <a:rPr lang="en-US" smtClean="0"/>
              <a:pPr marL="31907">
                <a:lnSpc>
                  <a:spcPts val="1652"/>
                </a:lnSpc>
                <a:spcBef>
                  <a:spcPts val="100"/>
                </a:spcBef>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856938" y="823468"/>
            <a:ext cx="5714790" cy="850554"/>
          </a:xfrm>
        </p:spPr>
        <p:txBody>
          <a:bodyPr lIns="0" tIns="0" rIns="0" bIns="0"/>
          <a:lstStyle>
            <a:lvl1pPr>
              <a:defRPr sz="5527"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5" name="Holder 5"/>
          <p:cNvSpPr>
            <a:spLocks noGrp="1"/>
          </p:cNvSpPr>
          <p:nvPr>
            <p:ph type="sldNum" sz="quarter" idx="7"/>
          </p:nvPr>
        </p:nvSpPr>
        <p:spPr/>
        <p:txBody>
          <a:bodyPr lIns="0" tIns="0" rIns="0" bIns="0"/>
          <a:lstStyle>
            <a:lvl1pPr>
              <a:defRPr sz="1507" b="0" i="0">
                <a:solidFill>
                  <a:srgbClr val="898989"/>
                </a:solidFill>
                <a:latin typeface="Gill Sans MT"/>
                <a:cs typeface="Gill Sans MT"/>
              </a:defRPr>
            </a:lvl1pPr>
          </a:lstStyle>
          <a:p>
            <a:pPr marL="31907">
              <a:lnSpc>
                <a:spcPts val="1652"/>
              </a:lnSpc>
              <a:spcBef>
                <a:spcPts val="100"/>
              </a:spcBef>
            </a:pPr>
            <a:fld id="{81D60167-4931-47E6-BA6A-407CBD079E47}" type="slidenum">
              <a:rPr lang="en-US" smtClean="0"/>
              <a:pPr marL="31907">
                <a:lnSpc>
                  <a:spcPts val="1652"/>
                </a:lnSpc>
                <a:spcBef>
                  <a:spcPts val="100"/>
                </a:spcBef>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4" name="Holder 4"/>
          <p:cNvSpPr>
            <a:spLocks noGrp="1"/>
          </p:cNvSpPr>
          <p:nvPr>
            <p:ph type="sldNum" sz="quarter" idx="7"/>
          </p:nvPr>
        </p:nvSpPr>
        <p:spPr/>
        <p:txBody>
          <a:bodyPr lIns="0" tIns="0" rIns="0" bIns="0"/>
          <a:lstStyle>
            <a:lvl1pPr>
              <a:defRPr sz="1507" b="0" i="0">
                <a:solidFill>
                  <a:srgbClr val="898989"/>
                </a:solidFill>
                <a:latin typeface="Gill Sans MT"/>
                <a:cs typeface="Gill Sans MT"/>
              </a:defRPr>
            </a:lvl1pPr>
          </a:lstStyle>
          <a:p>
            <a:pPr marL="31907">
              <a:lnSpc>
                <a:spcPts val="1652"/>
              </a:lnSpc>
              <a:spcBef>
                <a:spcPts val="100"/>
              </a:spcBef>
            </a:pPr>
            <a:fld id="{81D60167-4931-47E6-BA6A-407CBD079E47}" type="slidenum">
              <a:rPr lang="en-US" smtClean="0"/>
              <a:pPr marL="31907">
                <a:lnSpc>
                  <a:spcPts val="1652"/>
                </a:lnSpc>
                <a:spcBef>
                  <a:spcPts val="100"/>
                </a:spcBef>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56938" y="823468"/>
            <a:ext cx="5714790" cy="677108"/>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a:xfrm>
            <a:off x="1450411" y="1465072"/>
            <a:ext cx="10190737" cy="492443"/>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567365" y="7027546"/>
            <a:ext cx="4298696"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71671" y="7027546"/>
            <a:ext cx="3089688"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a:xfrm>
            <a:off x="11544939" y="6781974"/>
            <a:ext cx="255267" cy="436017"/>
          </a:xfrm>
          <a:prstGeom prst="rect">
            <a:avLst/>
          </a:prstGeom>
        </p:spPr>
        <p:txBody>
          <a:bodyPr wrap="square" lIns="0" tIns="0" rIns="0" bIns="0">
            <a:spAutoFit/>
          </a:bodyPr>
          <a:lstStyle>
            <a:lvl1pPr>
              <a:defRPr sz="1507" b="0" i="0">
                <a:solidFill>
                  <a:srgbClr val="898989"/>
                </a:solidFill>
                <a:latin typeface="Gill Sans MT"/>
                <a:cs typeface="Gill Sans MT"/>
              </a:defRPr>
            </a:lvl1pPr>
          </a:lstStyle>
          <a:p>
            <a:pPr marL="31907">
              <a:lnSpc>
                <a:spcPts val="1652"/>
              </a:lnSpc>
              <a:spcBef>
                <a:spcPts val="100"/>
              </a:spcBef>
            </a:pPr>
            <a:fld id="{81D60167-4931-47E6-BA6A-407CBD079E47}" type="slidenum">
              <a:rPr lang="en-US" smtClean="0"/>
              <a:pPr marL="31907">
                <a:lnSpc>
                  <a:spcPts val="1652"/>
                </a:lnSpc>
                <a:spcBef>
                  <a:spcPts val="100"/>
                </a:spcBef>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574335">
        <a:defRPr>
          <a:latin typeface="+mn-lt"/>
          <a:ea typeface="+mn-ea"/>
          <a:cs typeface="+mn-cs"/>
        </a:defRPr>
      </a:lvl2pPr>
      <a:lvl3pPr marL="1148669">
        <a:defRPr>
          <a:latin typeface="+mn-lt"/>
          <a:ea typeface="+mn-ea"/>
          <a:cs typeface="+mn-cs"/>
        </a:defRPr>
      </a:lvl3pPr>
      <a:lvl4pPr marL="1723004">
        <a:defRPr>
          <a:latin typeface="+mn-lt"/>
          <a:ea typeface="+mn-ea"/>
          <a:cs typeface="+mn-cs"/>
        </a:defRPr>
      </a:lvl4pPr>
      <a:lvl5pPr marL="2297339">
        <a:defRPr>
          <a:latin typeface="+mn-lt"/>
          <a:ea typeface="+mn-ea"/>
          <a:cs typeface="+mn-cs"/>
        </a:defRPr>
      </a:lvl5pPr>
      <a:lvl6pPr marL="2871673">
        <a:defRPr>
          <a:latin typeface="+mn-lt"/>
          <a:ea typeface="+mn-ea"/>
          <a:cs typeface="+mn-cs"/>
        </a:defRPr>
      </a:lvl6pPr>
      <a:lvl7pPr marL="3446008">
        <a:defRPr>
          <a:latin typeface="+mn-lt"/>
          <a:ea typeface="+mn-ea"/>
          <a:cs typeface="+mn-cs"/>
        </a:defRPr>
      </a:lvl7pPr>
      <a:lvl8pPr marL="4020342">
        <a:defRPr>
          <a:latin typeface="+mn-lt"/>
          <a:ea typeface="+mn-ea"/>
          <a:cs typeface="+mn-cs"/>
        </a:defRPr>
      </a:lvl8pPr>
      <a:lvl9pPr marL="4594677">
        <a:defRPr>
          <a:latin typeface="+mn-lt"/>
          <a:ea typeface="+mn-ea"/>
          <a:cs typeface="+mn-cs"/>
        </a:defRPr>
      </a:lvl9pPr>
    </p:bodyStyle>
    <p:otherStyle>
      <a:lvl1pPr marL="0">
        <a:defRPr>
          <a:latin typeface="+mn-lt"/>
          <a:ea typeface="+mn-ea"/>
          <a:cs typeface="+mn-cs"/>
        </a:defRPr>
      </a:lvl1pPr>
      <a:lvl2pPr marL="574335">
        <a:defRPr>
          <a:latin typeface="+mn-lt"/>
          <a:ea typeface="+mn-ea"/>
          <a:cs typeface="+mn-cs"/>
        </a:defRPr>
      </a:lvl2pPr>
      <a:lvl3pPr marL="1148669">
        <a:defRPr>
          <a:latin typeface="+mn-lt"/>
          <a:ea typeface="+mn-ea"/>
          <a:cs typeface="+mn-cs"/>
        </a:defRPr>
      </a:lvl3pPr>
      <a:lvl4pPr marL="1723004">
        <a:defRPr>
          <a:latin typeface="+mn-lt"/>
          <a:ea typeface="+mn-ea"/>
          <a:cs typeface="+mn-cs"/>
        </a:defRPr>
      </a:lvl4pPr>
      <a:lvl5pPr marL="2297339">
        <a:defRPr>
          <a:latin typeface="+mn-lt"/>
          <a:ea typeface="+mn-ea"/>
          <a:cs typeface="+mn-cs"/>
        </a:defRPr>
      </a:lvl5pPr>
      <a:lvl6pPr marL="2871673">
        <a:defRPr>
          <a:latin typeface="+mn-lt"/>
          <a:ea typeface="+mn-ea"/>
          <a:cs typeface="+mn-cs"/>
        </a:defRPr>
      </a:lvl6pPr>
      <a:lvl7pPr marL="3446008">
        <a:defRPr>
          <a:latin typeface="+mn-lt"/>
          <a:ea typeface="+mn-ea"/>
          <a:cs typeface="+mn-cs"/>
        </a:defRPr>
      </a:lvl7pPr>
      <a:lvl8pPr marL="4020342">
        <a:defRPr>
          <a:latin typeface="+mn-lt"/>
          <a:ea typeface="+mn-ea"/>
          <a:cs typeface="+mn-cs"/>
        </a:defRPr>
      </a:lvl8pPr>
      <a:lvl9pPr marL="4594677">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11640664" y="7551633"/>
            <a:ext cx="16193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sz="1507" dirty="0">
                <a:solidFill>
                  <a:srgbClr val="898989"/>
                </a:solidFill>
                <a:latin typeface="Gill Sans MT"/>
                <a:cs typeface="Gill Sans MT"/>
              </a:rPr>
              <a:pPr marL="31907">
                <a:lnSpc>
                  <a:spcPts val="1652"/>
                </a:lnSpc>
                <a:spcBef>
                  <a:spcPts val="100"/>
                </a:spcBef>
              </a:pPr>
              <a:t>1</a:t>
            </a:fld>
            <a:endParaRPr sz="1507">
              <a:latin typeface="Gill Sans MT"/>
              <a:cs typeface="Gill Sans MT"/>
            </a:endParaRPr>
          </a:p>
        </p:txBody>
      </p:sp>
      <p:sp>
        <p:nvSpPr>
          <p:cNvPr id="2" name="object 2"/>
          <p:cNvSpPr txBox="1">
            <a:spLocks noGrp="1"/>
          </p:cNvSpPr>
          <p:nvPr>
            <p:ph type="title"/>
          </p:nvPr>
        </p:nvSpPr>
        <p:spPr>
          <a:xfrm>
            <a:off x="4519356" y="66348"/>
            <a:ext cx="4391390" cy="861526"/>
          </a:xfrm>
          <a:prstGeom prst="rect">
            <a:avLst/>
          </a:prstGeom>
        </p:spPr>
        <p:txBody>
          <a:bodyPr vert="horz" wrap="square" lIns="0" tIns="0" rIns="0" bIns="0" rtlCol="0">
            <a:spAutoFit/>
          </a:bodyPr>
          <a:lstStyle/>
          <a:p>
            <a:pPr marL="15954"/>
            <a:r>
              <a:rPr spc="-113" dirty="0"/>
              <a:t>Today’s </a:t>
            </a:r>
            <a:r>
              <a:rPr dirty="0"/>
              <a:t>Outline</a:t>
            </a:r>
          </a:p>
        </p:txBody>
      </p:sp>
      <p:sp>
        <p:nvSpPr>
          <p:cNvPr id="3" name="object 3"/>
          <p:cNvSpPr txBox="1"/>
          <p:nvPr/>
        </p:nvSpPr>
        <p:spPr>
          <a:xfrm>
            <a:off x="315912" y="1339850"/>
            <a:ext cx="12539989" cy="5435527"/>
          </a:xfrm>
          <a:prstGeom prst="rect">
            <a:avLst/>
          </a:prstGeom>
        </p:spPr>
        <p:txBody>
          <a:bodyPr vert="horz" wrap="square" lIns="0" tIns="0" rIns="0" bIns="0" rtlCol="0">
            <a:spAutoFit/>
          </a:bodyPr>
          <a:lstStyle/>
          <a:p>
            <a:pPr marL="733425" indent="-501650">
              <a:buFont typeface="Arial" panose="020B0604020202020204" pitchFamily="34" charset="0"/>
              <a:buChar char="•"/>
              <a:tabLst>
                <a:tab pos="876658" algn="l"/>
              </a:tabLst>
            </a:pPr>
            <a:r>
              <a:rPr sz="4400" spc="-19" dirty="0">
                <a:latin typeface="Calibri"/>
                <a:cs typeface="Calibri"/>
              </a:rPr>
              <a:t>Agents </a:t>
            </a:r>
            <a:r>
              <a:rPr sz="4400" dirty="0">
                <a:latin typeface="Calibri"/>
                <a:cs typeface="Calibri"/>
              </a:rPr>
              <a:t>and</a:t>
            </a:r>
            <a:r>
              <a:rPr sz="4400" spc="-126" dirty="0">
                <a:latin typeface="Calibri"/>
                <a:cs typeface="Calibri"/>
              </a:rPr>
              <a:t> </a:t>
            </a:r>
            <a:r>
              <a:rPr sz="4400" spc="-19" dirty="0">
                <a:latin typeface="Calibri"/>
                <a:cs typeface="Calibri"/>
              </a:rPr>
              <a:t>Environments</a:t>
            </a:r>
            <a:endParaRPr sz="4400" dirty="0">
              <a:latin typeface="Calibri"/>
              <a:cs typeface="Calibri"/>
            </a:endParaRPr>
          </a:p>
          <a:p>
            <a:pPr marL="733425" marR="6381" indent="-501650">
              <a:spcBef>
                <a:spcPts val="1080"/>
              </a:spcBef>
              <a:buFont typeface="Arial" panose="020B0604020202020204" pitchFamily="34" charset="0"/>
              <a:buChar char="•"/>
              <a:tabLst>
                <a:tab pos="876658" algn="l"/>
              </a:tabLst>
            </a:pPr>
            <a:r>
              <a:rPr sz="4400" spc="-6" dirty="0">
                <a:latin typeface="Calibri"/>
                <a:cs typeface="Calibri"/>
              </a:rPr>
              <a:t>Good </a:t>
            </a:r>
            <a:r>
              <a:rPr sz="4400" spc="-13" dirty="0">
                <a:latin typeface="Calibri"/>
                <a:cs typeface="Calibri"/>
              </a:rPr>
              <a:t>Behavior:</a:t>
            </a:r>
            <a:r>
              <a:rPr sz="4400" spc="-19" dirty="0">
                <a:latin typeface="Calibri"/>
                <a:cs typeface="Calibri"/>
              </a:rPr>
              <a:t> </a:t>
            </a:r>
            <a:r>
              <a:rPr sz="4400" spc="-38" dirty="0">
                <a:latin typeface="Calibri"/>
                <a:cs typeface="Calibri"/>
              </a:rPr>
              <a:t>Rationality, </a:t>
            </a:r>
            <a:r>
              <a:rPr sz="4400" spc="-6" dirty="0">
                <a:latin typeface="Calibri"/>
                <a:cs typeface="Calibri"/>
              </a:rPr>
              <a:t>Omniscience </a:t>
            </a:r>
            <a:r>
              <a:rPr sz="4400" spc="-13" dirty="0">
                <a:latin typeface="Calibri"/>
                <a:cs typeface="Calibri"/>
              </a:rPr>
              <a:t> </a:t>
            </a:r>
            <a:r>
              <a:rPr sz="4400" dirty="0">
                <a:latin typeface="Calibri"/>
                <a:cs typeface="Calibri"/>
              </a:rPr>
              <a:t>&amp;</a:t>
            </a:r>
            <a:r>
              <a:rPr sz="4400" spc="-107" dirty="0">
                <a:latin typeface="Calibri"/>
                <a:cs typeface="Calibri"/>
              </a:rPr>
              <a:t> </a:t>
            </a:r>
            <a:r>
              <a:rPr sz="4400" spc="-25" dirty="0">
                <a:latin typeface="Calibri"/>
                <a:cs typeface="Calibri"/>
              </a:rPr>
              <a:t>Autonomy</a:t>
            </a:r>
            <a:endParaRPr sz="4400" dirty="0">
              <a:latin typeface="Calibri"/>
              <a:cs typeface="Calibri"/>
            </a:endParaRPr>
          </a:p>
          <a:p>
            <a:pPr marL="733425" marR="1721409" indent="-501650">
              <a:spcBef>
                <a:spcPts val="1080"/>
              </a:spcBef>
              <a:buFont typeface="Arial" panose="020B0604020202020204" pitchFamily="34" charset="0"/>
              <a:buChar char="•"/>
              <a:tabLst>
                <a:tab pos="876658" algn="l"/>
              </a:tabLst>
            </a:pPr>
            <a:r>
              <a:rPr sz="4400" spc="-19" dirty="0">
                <a:latin typeface="Calibri"/>
                <a:cs typeface="Calibri"/>
              </a:rPr>
              <a:t>PEAS</a:t>
            </a:r>
            <a:r>
              <a:rPr sz="4400" spc="-38" dirty="0">
                <a:latin typeface="Calibri"/>
                <a:cs typeface="Calibri"/>
              </a:rPr>
              <a:t> </a:t>
            </a:r>
            <a:r>
              <a:rPr sz="4400" spc="-19" dirty="0">
                <a:latin typeface="Calibri"/>
                <a:cs typeface="Calibri"/>
              </a:rPr>
              <a:t>(Performance</a:t>
            </a:r>
            <a:r>
              <a:rPr sz="4400" spc="-82" dirty="0">
                <a:latin typeface="Calibri"/>
                <a:cs typeface="Calibri"/>
              </a:rPr>
              <a:t> </a:t>
            </a:r>
            <a:r>
              <a:rPr sz="4400" spc="-13" dirty="0">
                <a:latin typeface="Calibri"/>
                <a:cs typeface="Calibri"/>
              </a:rPr>
              <a:t>measure, </a:t>
            </a:r>
            <a:r>
              <a:rPr sz="4400" spc="-19" dirty="0">
                <a:latin typeface="Calibri"/>
                <a:cs typeface="Calibri"/>
              </a:rPr>
              <a:t>Environment, </a:t>
            </a:r>
            <a:r>
              <a:rPr sz="4400" spc="-25" dirty="0">
                <a:latin typeface="Calibri"/>
                <a:cs typeface="Calibri"/>
              </a:rPr>
              <a:t>Actuators,</a:t>
            </a:r>
            <a:r>
              <a:rPr sz="4400" spc="-75" dirty="0">
                <a:latin typeface="Calibri"/>
                <a:cs typeface="Calibri"/>
              </a:rPr>
              <a:t> </a:t>
            </a:r>
            <a:r>
              <a:rPr sz="4400" spc="-19" dirty="0">
                <a:latin typeface="Calibri"/>
                <a:cs typeface="Calibri"/>
              </a:rPr>
              <a:t>Sensors)</a:t>
            </a:r>
            <a:endParaRPr sz="4400" dirty="0">
              <a:latin typeface="Calibri"/>
              <a:cs typeface="Calibri"/>
            </a:endParaRPr>
          </a:p>
          <a:p>
            <a:pPr marL="733425" indent="-501650">
              <a:spcBef>
                <a:spcPts val="1080"/>
              </a:spcBef>
              <a:buFont typeface="Arial" panose="020B0604020202020204" pitchFamily="34" charset="0"/>
              <a:buChar char="•"/>
              <a:tabLst>
                <a:tab pos="876658" algn="l"/>
              </a:tabLst>
            </a:pPr>
            <a:r>
              <a:rPr sz="4400" spc="540" dirty="0">
                <a:latin typeface="Verdana"/>
                <a:cs typeface="Verdana"/>
              </a:rPr>
              <a:t>	</a:t>
            </a:r>
            <a:r>
              <a:rPr sz="4400" spc="-19" dirty="0">
                <a:latin typeface="Calibri"/>
                <a:cs typeface="Calibri"/>
              </a:rPr>
              <a:t>Environment</a:t>
            </a:r>
            <a:r>
              <a:rPr sz="4400" spc="-176" dirty="0">
                <a:latin typeface="Calibri"/>
                <a:cs typeface="Calibri"/>
              </a:rPr>
              <a:t> </a:t>
            </a:r>
            <a:r>
              <a:rPr sz="4400" spc="-6" dirty="0">
                <a:latin typeface="Calibri"/>
                <a:cs typeface="Calibri"/>
              </a:rPr>
              <a:t>types</a:t>
            </a:r>
            <a:endParaRPr sz="4400" dirty="0">
              <a:latin typeface="Calibri"/>
              <a:cs typeface="Calibri"/>
            </a:endParaRPr>
          </a:p>
          <a:p>
            <a:pPr marL="733425" indent="-501650">
              <a:spcBef>
                <a:spcPts val="1080"/>
              </a:spcBef>
              <a:buFont typeface="Arial" panose="020B0604020202020204" pitchFamily="34" charset="0"/>
              <a:buChar char="•"/>
              <a:tabLst>
                <a:tab pos="876658" algn="l"/>
              </a:tabLst>
            </a:pPr>
            <a:r>
              <a:rPr sz="4400" spc="540" dirty="0">
                <a:latin typeface="Verdana"/>
                <a:cs typeface="Verdana"/>
              </a:rPr>
              <a:t>	</a:t>
            </a:r>
            <a:r>
              <a:rPr sz="4400" spc="-19" dirty="0">
                <a:latin typeface="Calibri"/>
                <a:cs typeface="Calibri"/>
              </a:rPr>
              <a:t>Agent</a:t>
            </a:r>
            <a:r>
              <a:rPr sz="4400" spc="-151" dirty="0">
                <a:latin typeface="Calibri"/>
                <a:cs typeface="Calibri"/>
              </a:rPr>
              <a:t> </a:t>
            </a:r>
            <a:r>
              <a:rPr sz="4400" spc="-6" dirty="0">
                <a:latin typeface="Calibri"/>
                <a:cs typeface="Calibri"/>
              </a:rPr>
              <a:t>types</a:t>
            </a:r>
            <a:endParaRPr sz="4522"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9C823F-7159-FBE0-081B-F2ACA450396F}"/>
              </a:ext>
            </a:extLst>
          </p:cNvPr>
          <p:cNvPicPr>
            <a:picLocks noChangeAspect="1"/>
          </p:cNvPicPr>
          <p:nvPr/>
        </p:nvPicPr>
        <p:blipFill>
          <a:blip r:embed="rId2"/>
          <a:stretch>
            <a:fillRect/>
          </a:stretch>
        </p:blipFill>
        <p:spPr>
          <a:xfrm>
            <a:off x="1306512" y="1263650"/>
            <a:ext cx="10355451" cy="5657144"/>
          </a:xfrm>
          <a:prstGeom prst="rect">
            <a:avLst/>
          </a:prstGeom>
        </p:spPr>
      </p:pic>
    </p:spTree>
    <p:extLst>
      <p:ext uri="{BB962C8B-B14F-4D97-AF65-F5344CB8AC3E}">
        <p14:creationId xmlns:p14="http://schemas.microsoft.com/office/powerpoint/2010/main" val="3354522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6548A-6FE3-7A7F-FED1-4880F14AEB0E}"/>
              </a:ext>
            </a:extLst>
          </p:cNvPr>
          <p:cNvSpPr>
            <a:spLocks noGrp="1"/>
          </p:cNvSpPr>
          <p:nvPr>
            <p:ph type="title"/>
          </p:nvPr>
        </p:nvSpPr>
        <p:spPr>
          <a:xfrm>
            <a:off x="3973512" y="0"/>
            <a:ext cx="5714790" cy="850554"/>
          </a:xfrm>
        </p:spPr>
        <p:txBody>
          <a:bodyPr/>
          <a:lstStyle/>
          <a:p>
            <a:r>
              <a:rPr lang="en-US" dirty="0"/>
              <a:t>AI Entities </a:t>
            </a:r>
          </a:p>
        </p:txBody>
      </p:sp>
      <p:sp>
        <p:nvSpPr>
          <p:cNvPr id="3" name="Text Placeholder 2">
            <a:extLst>
              <a:ext uri="{FF2B5EF4-FFF2-40B4-BE49-F238E27FC236}">
                <a16:creationId xmlns:a16="http://schemas.microsoft.com/office/drawing/2014/main" id="{9142CDA7-9E23-9F30-0224-2C5B3C87AB30}"/>
              </a:ext>
            </a:extLst>
          </p:cNvPr>
          <p:cNvSpPr>
            <a:spLocks noGrp="1"/>
          </p:cNvSpPr>
          <p:nvPr>
            <p:ph type="body" idx="1"/>
          </p:nvPr>
        </p:nvSpPr>
        <p:spPr>
          <a:xfrm>
            <a:off x="163512" y="1492250"/>
            <a:ext cx="13106400" cy="5419945"/>
          </a:xfrm>
        </p:spPr>
        <p:txBody>
          <a:bodyPr/>
          <a:lstStyle/>
          <a:p>
            <a:pPr marL="465138" indent="-233363">
              <a:buFont typeface="Arial" panose="020B0604020202020204" pitchFamily="34" charset="0"/>
              <a:buChar char="•"/>
            </a:pPr>
            <a:r>
              <a:rPr lang="en-US" sz="3800" dirty="0"/>
              <a:t> When creating artificial intelligence, </a:t>
            </a:r>
            <a:r>
              <a:rPr lang="en-US" sz="3800" dirty="0">
                <a:solidFill>
                  <a:srgbClr val="FF0000"/>
                </a:solidFill>
              </a:rPr>
              <a:t>the purpose is to produce entities that can operate independently of human direction</a:t>
            </a:r>
            <a:r>
              <a:rPr lang="en-US" sz="3800" dirty="0"/>
              <a:t>.</a:t>
            </a:r>
          </a:p>
          <a:p>
            <a:pPr marL="1613808" lvl="4" indent="-233363"/>
            <a:r>
              <a:rPr lang="en-US" sz="2000" dirty="0"/>
              <a:t> </a:t>
            </a:r>
            <a:r>
              <a:rPr lang="en-US" sz="3600" dirty="0"/>
              <a:t>– An entity may act on a human’s behalf though </a:t>
            </a:r>
          </a:p>
          <a:p>
            <a:pPr marL="465138" lvl="2" indent="-233363"/>
            <a:endParaRPr lang="en-US" sz="2000" dirty="0"/>
          </a:p>
          <a:p>
            <a:pPr marL="465138" indent="-233363">
              <a:buFont typeface="Arial" panose="020B0604020202020204" pitchFamily="34" charset="0"/>
              <a:buChar char="•"/>
            </a:pPr>
            <a:r>
              <a:rPr lang="en-US" dirty="0"/>
              <a:t> </a:t>
            </a:r>
            <a:r>
              <a:rPr lang="en-US" sz="3800" dirty="0"/>
              <a:t>These entities need to have the following properties: </a:t>
            </a:r>
            <a:endParaRPr lang="en-US" dirty="0"/>
          </a:p>
          <a:p>
            <a:pPr marL="1613808" lvl="4" indent="-233363"/>
            <a:r>
              <a:rPr lang="en-US" sz="3600" dirty="0"/>
              <a:t>– </a:t>
            </a:r>
            <a:r>
              <a:rPr lang="en-US" sz="3600" i="1" spc="31" dirty="0">
                <a:solidFill>
                  <a:srgbClr val="C00000"/>
                </a:solidFill>
                <a:latin typeface="Calibri"/>
                <a:cs typeface="Calibri"/>
              </a:rPr>
              <a:t>Autonomy</a:t>
            </a:r>
            <a:r>
              <a:rPr lang="en-US" sz="3600" dirty="0"/>
              <a:t> = needs no direct involvement to perform duties. </a:t>
            </a:r>
          </a:p>
          <a:p>
            <a:pPr marL="3889375" lvl="4" indent="-2509838"/>
            <a:r>
              <a:rPr lang="en-US" sz="3600" dirty="0"/>
              <a:t>– </a:t>
            </a:r>
            <a:r>
              <a:rPr lang="en-US" sz="3600" i="1" spc="31" dirty="0">
                <a:solidFill>
                  <a:srgbClr val="C00000"/>
                </a:solidFill>
                <a:latin typeface="Calibri"/>
                <a:cs typeface="Calibri"/>
              </a:rPr>
              <a:t>Responsive (</a:t>
            </a:r>
            <a:r>
              <a:rPr lang="en-US" sz="3600" dirty="0">
                <a:solidFill>
                  <a:srgbClr val="FF0000"/>
                </a:solidFill>
              </a:rPr>
              <a:t>reactivity)</a:t>
            </a:r>
            <a:r>
              <a:rPr lang="en-US" sz="3600" dirty="0"/>
              <a:t> = must be able to perceive and react to its environment. </a:t>
            </a:r>
          </a:p>
          <a:p>
            <a:pPr marL="1613808" lvl="4" indent="-233363"/>
            <a:r>
              <a:rPr lang="en-US" sz="3600" dirty="0"/>
              <a:t>– </a:t>
            </a:r>
            <a:r>
              <a:rPr lang="en-US" sz="3600" i="1" spc="31" dirty="0">
                <a:solidFill>
                  <a:srgbClr val="C00000"/>
                </a:solidFill>
                <a:latin typeface="Calibri"/>
                <a:cs typeface="Calibri"/>
              </a:rPr>
              <a:t>proactivity</a:t>
            </a:r>
            <a:r>
              <a:rPr lang="en-US" sz="3600" dirty="0"/>
              <a:t> = must exhibit goal-directed behavior. </a:t>
            </a:r>
          </a:p>
          <a:p>
            <a:pPr marL="1613808" lvl="4" indent="-233363"/>
            <a:r>
              <a:rPr lang="en-US" sz="3600" dirty="0"/>
              <a:t>– </a:t>
            </a:r>
            <a:r>
              <a:rPr lang="en-US" sz="3600" i="1" spc="31" dirty="0">
                <a:solidFill>
                  <a:srgbClr val="C00000"/>
                </a:solidFill>
                <a:latin typeface="Calibri"/>
                <a:cs typeface="Calibri"/>
              </a:rPr>
              <a:t>Sociability</a:t>
            </a:r>
            <a:r>
              <a:rPr lang="en-US" sz="3600" dirty="0">
                <a:solidFill>
                  <a:srgbClr val="FF0000"/>
                </a:solidFill>
              </a:rPr>
              <a:t> </a:t>
            </a:r>
            <a:r>
              <a:rPr lang="en-US" sz="3600" dirty="0"/>
              <a:t>= interacts with humans and other agents.</a:t>
            </a:r>
          </a:p>
        </p:txBody>
      </p:sp>
    </p:spTree>
    <p:extLst>
      <p:ext uri="{BB962C8B-B14F-4D97-AF65-F5344CB8AC3E}">
        <p14:creationId xmlns:p14="http://schemas.microsoft.com/office/powerpoint/2010/main" val="3904560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9712" y="1339850"/>
            <a:ext cx="12635716" cy="2542556"/>
          </a:xfrm>
          <a:prstGeom prst="rect">
            <a:avLst/>
          </a:prstGeom>
        </p:spPr>
        <p:txBody>
          <a:bodyPr vert="horz" wrap="square" lIns="0" tIns="0" rIns="0" bIns="0" rtlCol="0">
            <a:spAutoFit/>
          </a:bodyPr>
          <a:lstStyle/>
          <a:p>
            <a:pPr marL="446705" marR="6381" indent="-430751" algn="just">
              <a:buFont typeface="Arial"/>
              <a:buChar char="•"/>
              <a:tabLst>
                <a:tab pos="446705" algn="l"/>
              </a:tabLst>
            </a:pPr>
            <a:r>
              <a:rPr lang="en-US" sz="4000" dirty="0">
                <a:solidFill>
                  <a:srgbClr val="FF0000"/>
                </a:solidFill>
              </a:rPr>
              <a:t>Agents</a:t>
            </a:r>
            <a:r>
              <a:rPr lang="en-US" sz="4000" dirty="0"/>
              <a:t> = a software entity that exists in an </a:t>
            </a:r>
            <a:r>
              <a:rPr lang="en-US" sz="4000" dirty="0">
                <a:solidFill>
                  <a:srgbClr val="FF0000"/>
                </a:solidFill>
              </a:rPr>
              <a:t>environment</a:t>
            </a:r>
            <a:r>
              <a:rPr lang="en-US" sz="4000" dirty="0"/>
              <a:t> and acts on that environment based on its </a:t>
            </a:r>
            <a:r>
              <a:rPr lang="en-US" sz="4000" dirty="0">
                <a:solidFill>
                  <a:srgbClr val="FF0000"/>
                </a:solidFill>
              </a:rPr>
              <a:t>perceptions and goals.</a:t>
            </a:r>
          </a:p>
          <a:p>
            <a:pPr marL="446705" marR="6381" indent="-430751" algn="just">
              <a:buFont typeface="Arial"/>
              <a:buChar char="•"/>
              <a:tabLst>
                <a:tab pos="446705" algn="l"/>
              </a:tabLst>
            </a:pPr>
            <a:endParaRPr lang="en-US" sz="4522" i="1" spc="6" dirty="0">
              <a:latin typeface="Calibri"/>
              <a:cs typeface="Calibri"/>
            </a:endParaRPr>
          </a:p>
        </p:txBody>
      </p:sp>
      <p:sp>
        <p:nvSpPr>
          <p:cNvPr id="3" name="object 3"/>
          <p:cNvSpPr txBox="1">
            <a:spLocks noGrp="1"/>
          </p:cNvSpPr>
          <p:nvPr>
            <p:ph type="title"/>
          </p:nvPr>
        </p:nvSpPr>
        <p:spPr>
          <a:xfrm>
            <a:off x="3287712" y="212827"/>
            <a:ext cx="5627042" cy="850554"/>
          </a:xfrm>
          <a:prstGeom prst="rect">
            <a:avLst/>
          </a:prstGeom>
        </p:spPr>
        <p:txBody>
          <a:bodyPr vert="horz" wrap="square" lIns="0" tIns="0" rIns="0" bIns="0" rtlCol="0">
            <a:spAutoFit/>
          </a:bodyPr>
          <a:lstStyle/>
          <a:p>
            <a:pPr marL="15954"/>
            <a:r>
              <a:rPr spc="-19" dirty="0"/>
              <a:t>Agent </a:t>
            </a:r>
            <a:r>
              <a:rPr spc="-6" dirty="0"/>
              <a:t>Definition</a:t>
            </a:r>
            <a:r>
              <a:rPr spc="-113" dirty="0"/>
              <a:t> </a:t>
            </a:r>
            <a:r>
              <a:rPr spc="-6" dirty="0"/>
              <a:t>(2)</a:t>
            </a:r>
          </a:p>
        </p:txBody>
      </p:sp>
      <p:sp>
        <p:nvSpPr>
          <p:cNvPr id="7" name="object 7"/>
          <p:cNvSpPr txBox="1"/>
          <p:nvPr/>
        </p:nvSpPr>
        <p:spPr>
          <a:xfrm>
            <a:off x="11640664" y="7551633"/>
            <a:ext cx="16193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sz="1507" dirty="0">
                <a:solidFill>
                  <a:srgbClr val="898989"/>
                </a:solidFill>
                <a:latin typeface="Gill Sans MT"/>
                <a:cs typeface="Gill Sans MT"/>
              </a:rPr>
              <a:pPr marL="31907">
                <a:lnSpc>
                  <a:spcPts val="1652"/>
                </a:lnSpc>
                <a:spcBef>
                  <a:spcPts val="100"/>
                </a:spcBef>
              </a:pPr>
              <a:t>4</a:t>
            </a:fld>
            <a:endParaRPr sz="1507">
              <a:latin typeface="Gill Sans MT"/>
              <a:cs typeface="Gill Sans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6204" y="123926"/>
            <a:ext cx="5627042" cy="618631"/>
          </a:xfrm>
          <a:prstGeom prst="rect">
            <a:avLst/>
          </a:prstGeom>
        </p:spPr>
        <p:txBody>
          <a:bodyPr vert="horz" wrap="square" lIns="0" tIns="0" rIns="0" bIns="0" rtlCol="0">
            <a:spAutoFit/>
          </a:bodyPr>
          <a:lstStyle/>
          <a:p>
            <a:pPr marL="15954"/>
            <a:r>
              <a:rPr sz="4020" spc="-19" dirty="0"/>
              <a:t>Agent </a:t>
            </a:r>
            <a:r>
              <a:rPr sz="4020" spc="-6" dirty="0"/>
              <a:t>Definition</a:t>
            </a:r>
            <a:r>
              <a:rPr sz="4020" spc="-113" dirty="0"/>
              <a:t> </a:t>
            </a:r>
            <a:r>
              <a:rPr sz="4020" spc="-6" dirty="0"/>
              <a:t>(3)</a:t>
            </a:r>
          </a:p>
        </p:txBody>
      </p:sp>
      <p:sp>
        <p:nvSpPr>
          <p:cNvPr id="7" name="object 7"/>
          <p:cNvSpPr txBox="1"/>
          <p:nvPr/>
        </p:nvSpPr>
        <p:spPr>
          <a:xfrm>
            <a:off x="11640664" y="7551633"/>
            <a:ext cx="16193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sz="1507" dirty="0">
                <a:solidFill>
                  <a:srgbClr val="898989"/>
                </a:solidFill>
                <a:latin typeface="Gill Sans MT"/>
                <a:cs typeface="Gill Sans MT"/>
              </a:rPr>
              <a:pPr marL="31907">
                <a:lnSpc>
                  <a:spcPts val="1652"/>
                </a:lnSpc>
                <a:spcBef>
                  <a:spcPts val="100"/>
                </a:spcBef>
              </a:pPr>
              <a:t>5</a:t>
            </a:fld>
            <a:endParaRPr sz="1507">
              <a:latin typeface="Gill Sans MT"/>
              <a:cs typeface="Gill Sans MT"/>
            </a:endParaRPr>
          </a:p>
        </p:txBody>
      </p:sp>
      <p:sp>
        <p:nvSpPr>
          <p:cNvPr id="11" name="TextBox 10">
            <a:extLst>
              <a:ext uri="{FF2B5EF4-FFF2-40B4-BE49-F238E27FC236}">
                <a16:creationId xmlns:a16="http://schemas.microsoft.com/office/drawing/2014/main" id="{60B40104-B4C2-EE08-765B-F7AD28CA6DFC}"/>
              </a:ext>
            </a:extLst>
          </p:cNvPr>
          <p:cNvSpPr txBox="1"/>
          <p:nvPr/>
        </p:nvSpPr>
        <p:spPr>
          <a:xfrm>
            <a:off x="301687" y="3046231"/>
            <a:ext cx="12942346" cy="3477875"/>
          </a:xfrm>
          <a:prstGeom prst="rect">
            <a:avLst/>
          </a:prstGeom>
          <a:noFill/>
        </p:spPr>
        <p:txBody>
          <a:bodyPr wrap="square">
            <a:spAutoFit/>
          </a:bodyPr>
          <a:lstStyle/>
          <a:p>
            <a:endParaRPr lang="en-US" sz="2800" dirty="0"/>
          </a:p>
          <a:p>
            <a:pPr marL="293688" indent="-293688"/>
            <a:r>
              <a:rPr lang="en-US" sz="3200" dirty="0"/>
              <a:t>• We also have </a:t>
            </a:r>
            <a:r>
              <a:rPr lang="en-US" sz="3200" dirty="0">
                <a:solidFill>
                  <a:srgbClr val="C00000"/>
                </a:solidFill>
              </a:rPr>
              <a:t>knowledge about the world </a:t>
            </a:r>
            <a:r>
              <a:rPr lang="en-US" sz="3200" dirty="0"/>
              <a:t>(from how to ride a bike to knowing the capital of France) and </a:t>
            </a:r>
            <a:r>
              <a:rPr lang="en-US" sz="3200" dirty="0">
                <a:solidFill>
                  <a:srgbClr val="C00000"/>
                </a:solidFill>
              </a:rPr>
              <a:t>using this knowledge we can draw inferences and make decisions. </a:t>
            </a:r>
          </a:p>
          <a:p>
            <a:endParaRPr lang="en-US" sz="3200" dirty="0"/>
          </a:p>
          <a:p>
            <a:pPr marL="293688" indent="-293688"/>
            <a:r>
              <a:rPr lang="en-US" sz="3200" dirty="0"/>
              <a:t>• Finally, we </a:t>
            </a:r>
            <a:r>
              <a:rPr lang="en-US" sz="3200" dirty="0">
                <a:solidFill>
                  <a:srgbClr val="C00000"/>
                </a:solidFill>
              </a:rPr>
              <a:t>learn and adapt over time</a:t>
            </a:r>
            <a:r>
              <a:rPr lang="en-US" sz="3200" dirty="0"/>
              <a:t>. </a:t>
            </a:r>
          </a:p>
          <a:p>
            <a:pPr marL="293688" indent="-293688"/>
            <a:endParaRPr lang="en-US" sz="3200" dirty="0"/>
          </a:p>
        </p:txBody>
      </p:sp>
      <p:sp>
        <p:nvSpPr>
          <p:cNvPr id="13" name="TextBox 12">
            <a:extLst>
              <a:ext uri="{FF2B5EF4-FFF2-40B4-BE49-F238E27FC236}">
                <a16:creationId xmlns:a16="http://schemas.microsoft.com/office/drawing/2014/main" id="{46D9AE5D-20B5-BD1A-4E5F-96C64B50D29B}"/>
              </a:ext>
            </a:extLst>
          </p:cNvPr>
          <p:cNvSpPr txBox="1"/>
          <p:nvPr/>
        </p:nvSpPr>
        <p:spPr>
          <a:xfrm>
            <a:off x="293450" y="941487"/>
            <a:ext cx="12747862" cy="2062103"/>
          </a:xfrm>
          <a:prstGeom prst="rect">
            <a:avLst/>
          </a:prstGeom>
          <a:noFill/>
        </p:spPr>
        <p:txBody>
          <a:bodyPr wrap="square">
            <a:spAutoFit/>
          </a:bodyPr>
          <a:lstStyle/>
          <a:p>
            <a:pPr marL="457200" indent="-457200">
              <a:buFont typeface="Arial" panose="020B0604020202020204" pitchFamily="34" charset="0"/>
              <a:buChar char="•"/>
            </a:pPr>
            <a:r>
              <a:rPr lang="en-US" sz="3200" dirty="0"/>
              <a:t>The starting point for the agent-based </a:t>
            </a:r>
            <a:r>
              <a:rPr lang="en-US" sz="3200" dirty="0">
                <a:solidFill>
                  <a:srgbClr val="FF0000"/>
                </a:solidFill>
              </a:rPr>
              <a:t>view is ourselves</a:t>
            </a:r>
            <a:r>
              <a:rPr lang="en-US" sz="3200" dirty="0"/>
              <a:t>. </a:t>
            </a:r>
          </a:p>
          <a:p>
            <a:endParaRPr lang="en-US" sz="3200" dirty="0"/>
          </a:p>
          <a:p>
            <a:pPr marL="293688" indent="-293688"/>
            <a:r>
              <a:rPr lang="en-US" sz="3200" dirty="0"/>
              <a:t>•  As humans, we have to be able to </a:t>
            </a:r>
            <a:r>
              <a:rPr lang="en-US" sz="3200" dirty="0">
                <a:solidFill>
                  <a:srgbClr val="FF0000"/>
                </a:solidFill>
              </a:rPr>
              <a:t>perceive the world (computer vision),  perform actions in it (robotics), and communicate with other agents.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9B7A09-7E09-1BD9-4378-C6F6C5D5A816}"/>
              </a:ext>
            </a:extLst>
          </p:cNvPr>
          <p:cNvPicPr>
            <a:picLocks noChangeAspect="1"/>
          </p:cNvPicPr>
          <p:nvPr/>
        </p:nvPicPr>
        <p:blipFill>
          <a:blip r:embed="rId2"/>
          <a:stretch>
            <a:fillRect/>
          </a:stretch>
        </p:blipFill>
        <p:spPr>
          <a:xfrm>
            <a:off x="1306512" y="424516"/>
            <a:ext cx="9906000" cy="6707468"/>
          </a:xfrm>
          <a:prstGeom prst="rect">
            <a:avLst/>
          </a:prstGeom>
        </p:spPr>
      </p:pic>
    </p:spTree>
    <p:extLst>
      <p:ext uri="{BB962C8B-B14F-4D97-AF65-F5344CB8AC3E}">
        <p14:creationId xmlns:p14="http://schemas.microsoft.com/office/powerpoint/2010/main" val="496371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CBB9DA-48D3-33EE-FA8F-BB0E2A53686F}"/>
              </a:ext>
            </a:extLst>
          </p:cNvPr>
          <p:cNvPicPr>
            <a:picLocks noChangeAspect="1"/>
          </p:cNvPicPr>
          <p:nvPr/>
        </p:nvPicPr>
        <p:blipFill>
          <a:blip r:embed="rId2"/>
          <a:stretch>
            <a:fillRect/>
          </a:stretch>
        </p:blipFill>
        <p:spPr>
          <a:xfrm>
            <a:off x="239712" y="2567975"/>
            <a:ext cx="8686800" cy="4603060"/>
          </a:xfrm>
          <a:prstGeom prst="rect">
            <a:avLst/>
          </a:prstGeom>
        </p:spPr>
      </p:pic>
      <p:grpSp>
        <p:nvGrpSpPr>
          <p:cNvPr id="16" name="Group 15">
            <a:extLst>
              <a:ext uri="{FF2B5EF4-FFF2-40B4-BE49-F238E27FC236}">
                <a16:creationId xmlns:a16="http://schemas.microsoft.com/office/drawing/2014/main" id="{7B9E3369-2E96-642D-C95D-D1F5FE13C832}"/>
              </a:ext>
            </a:extLst>
          </p:cNvPr>
          <p:cNvGrpSpPr/>
          <p:nvPr/>
        </p:nvGrpSpPr>
        <p:grpSpPr>
          <a:xfrm>
            <a:off x="392112" y="806450"/>
            <a:ext cx="12725400" cy="1661993"/>
            <a:chOff x="392112" y="806450"/>
            <a:chExt cx="12725400" cy="1661993"/>
          </a:xfrm>
        </p:grpSpPr>
        <p:sp>
          <p:nvSpPr>
            <p:cNvPr id="10" name="object 3">
              <a:extLst>
                <a:ext uri="{FF2B5EF4-FFF2-40B4-BE49-F238E27FC236}">
                  <a16:creationId xmlns:a16="http://schemas.microsoft.com/office/drawing/2014/main" id="{8876F2FE-46BB-7734-1FF5-B7CC9E82E941}"/>
                </a:ext>
              </a:extLst>
            </p:cNvPr>
            <p:cNvSpPr txBox="1"/>
            <p:nvPr/>
          </p:nvSpPr>
          <p:spPr>
            <a:xfrm>
              <a:off x="392112" y="806450"/>
              <a:ext cx="12344400" cy="1661993"/>
            </a:xfrm>
            <a:prstGeom prst="rect">
              <a:avLst/>
            </a:prstGeom>
          </p:spPr>
          <p:txBody>
            <a:bodyPr vert="horz" wrap="square" lIns="0" tIns="0" rIns="0" bIns="0" rtlCol="0">
              <a:spAutoFit/>
            </a:bodyPr>
            <a:lstStyle/>
            <a:p>
              <a:pPr marL="15954">
                <a:tabLst>
                  <a:tab pos="978762" algn="l"/>
                </a:tabLst>
              </a:pPr>
              <a:r>
                <a:rPr sz="3600" spc="107" dirty="0">
                  <a:latin typeface="Calibri"/>
                  <a:cs typeface="Calibri"/>
                </a:rPr>
                <a:t>A</a:t>
              </a:r>
              <a:r>
                <a:rPr sz="3600" spc="44" dirty="0">
                  <a:latin typeface="Calibri"/>
                  <a:cs typeface="Calibri"/>
                </a:rPr>
                <a:t>n</a:t>
              </a:r>
              <a:r>
                <a:rPr lang="en-US" sz="3600" spc="44" dirty="0">
                  <a:latin typeface="Calibri"/>
                  <a:cs typeface="Calibri"/>
                </a:rPr>
                <a:t> </a:t>
              </a:r>
              <a:r>
                <a:rPr sz="3600" spc="63" dirty="0">
                  <a:solidFill>
                    <a:srgbClr val="C00000"/>
                  </a:solidFill>
                  <a:latin typeface="Calibri"/>
                  <a:cs typeface="Calibri"/>
                </a:rPr>
                <a:t>a</a:t>
              </a:r>
              <a:r>
                <a:rPr sz="3600" spc="-25" dirty="0">
                  <a:solidFill>
                    <a:srgbClr val="C00000"/>
                  </a:solidFill>
                  <a:latin typeface="Calibri"/>
                  <a:cs typeface="Calibri"/>
                </a:rPr>
                <a:t>g</a:t>
              </a:r>
              <a:r>
                <a:rPr sz="3600" dirty="0">
                  <a:solidFill>
                    <a:srgbClr val="C00000"/>
                  </a:solidFill>
                  <a:latin typeface="Calibri"/>
                  <a:cs typeface="Calibri"/>
                </a:rPr>
                <a:t>e</a:t>
              </a:r>
              <a:r>
                <a:rPr sz="3600" spc="13" dirty="0">
                  <a:solidFill>
                    <a:srgbClr val="C00000"/>
                  </a:solidFill>
                  <a:latin typeface="Calibri"/>
                  <a:cs typeface="Calibri"/>
                </a:rPr>
                <a:t>n</a:t>
              </a:r>
              <a:r>
                <a:rPr sz="3600" spc="50" dirty="0">
                  <a:solidFill>
                    <a:srgbClr val="C00000"/>
                  </a:solidFill>
                  <a:latin typeface="Calibri"/>
                  <a:cs typeface="Calibri"/>
                </a:rPr>
                <a:t>t</a:t>
              </a:r>
              <a:r>
                <a:rPr lang="en-US" sz="3600" spc="50" dirty="0">
                  <a:solidFill>
                    <a:srgbClr val="C00000"/>
                  </a:solidFill>
                  <a:latin typeface="Calibri"/>
                  <a:cs typeface="Calibri"/>
                </a:rPr>
                <a:t> perceives </a:t>
              </a:r>
              <a:r>
                <a:rPr lang="en-US" sz="3600" spc="69" dirty="0">
                  <a:solidFill>
                    <a:srgbClr val="C00000"/>
                  </a:solidFill>
                  <a:latin typeface="Calibri"/>
                  <a:cs typeface="Calibri"/>
                </a:rPr>
                <a:t>i</a:t>
              </a:r>
              <a:r>
                <a:rPr lang="en-US" sz="3600" spc="31" dirty="0">
                  <a:latin typeface="Calibri"/>
                  <a:cs typeface="Calibri"/>
                </a:rPr>
                <a:t>t</a:t>
              </a:r>
              <a:r>
                <a:rPr lang="en-US" sz="3600" spc="38" dirty="0">
                  <a:latin typeface="Calibri"/>
                  <a:cs typeface="Calibri"/>
                </a:rPr>
                <a:t>s </a:t>
              </a:r>
              <a:r>
                <a:rPr lang="en-US" sz="3600" spc="13" dirty="0">
                  <a:solidFill>
                    <a:srgbClr val="C00000"/>
                  </a:solidFill>
                  <a:latin typeface="Calibri"/>
                  <a:cs typeface="Calibri"/>
                </a:rPr>
                <a:t>e</a:t>
              </a:r>
              <a:r>
                <a:rPr lang="en-US" sz="3600" spc="-19" dirty="0">
                  <a:solidFill>
                    <a:srgbClr val="C00000"/>
                  </a:solidFill>
                  <a:latin typeface="Calibri"/>
                  <a:cs typeface="Calibri"/>
                </a:rPr>
                <a:t>n</a:t>
              </a:r>
              <a:r>
                <a:rPr lang="en-US" sz="3600" spc="75" dirty="0">
                  <a:solidFill>
                    <a:srgbClr val="C00000"/>
                  </a:solidFill>
                  <a:latin typeface="Calibri"/>
                  <a:cs typeface="Calibri"/>
                </a:rPr>
                <a:t>v</a:t>
              </a:r>
              <a:r>
                <a:rPr lang="en-US" sz="3600" spc="69" dirty="0">
                  <a:solidFill>
                    <a:srgbClr val="C00000"/>
                  </a:solidFill>
                  <a:latin typeface="Calibri"/>
                  <a:cs typeface="Calibri"/>
                </a:rPr>
                <a:t>i</a:t>
              </a:r>
              <a:r>
                <a:rPr lang="en-US" sz="3600" spc="-38" dirty="0">
                  <a:solidFill>
                    <a:srgbClr val="C00000"/>
                  </a:solidFill>
                  <a:latin typeface="Calibri"/>
                  <a:cs typeface="Calibri"/>
                </a:rPr>
                <a:t>r</a:t>
              </a:r>
              <a:r>
                <a:rPr lang="en-US" sz="3600" spc="31" dirty="0">
                  <a:solidFill>
                    <a:srgbClr val="C00000"/>
                  </a:solidFill>
                  <a:latin typeface="Calibri"/>
                  <a:cs typeface="Calibri"/>
                </a:rPr>
                <a:t>o</a:t>
              </a:r>
              <a:r>
                <a:rPr lang="en-US" sz="3600" spc="44" dirty="0">
                  <a:solidFill>
                    <a:srgbClr val="C00000"/>
                  </a:solidFill>
                  <a:latin typeface="Calibri"/>
                  <a:cs typeface="Calibri"/>
                </a:rPr>
                <a:t>n</a:t>
              </a:r>
              <a:r>
                <a:rPr lang="en-US" sz="3600" spc="50" dirty="0">
                  <a:solidFill>
                    <a:srgbClr val="C00000"/>
                  </a:solidFill>
                  <a:latin typeface="Calibri"/>
                  <a:cs typeface="Calibri"/>
                </a:rPr>
                <a:t>m</a:t>
              </a:r>
              <a:r>
                <a:rPr lang="en-US" sz="3600" spc="13" dirty="0">
                  <a:solidFill>
                    <a:srgbClr val="C00000"/>
                  </a:solidFill>
                  <a:latin typeface="Calibri"/>
                  <a:cs typeface="Calibri"/>
                </a:rPr>
                <a:t>en</a:t>
              </a:r>
              <a:r>
                <a:rPr lang="en-US" sz="3600" spc="50" dirty="0">
                  <a:solidFill>
                    <a:srgbClr val="C00000"/>
                  </a:solidFill>
                  <a:latin typeface="Calibri"/>
                  <a:cs typeface="Calibri"/>
                </a:rPr>
                <a:t>t </a:t>
              </a:r>
              <a:r>
                <a:rPr lang="en-US" sz="3600" spc="75" dirty="0">
                  <a:latin typeface="Calibri"/>
                  <a:cs typeface="Calibri"/>
                </a:rPr>
                <a:t>v</a:t>
              </a:r>
              <a:r>
                <a:rPr lang="en-US" sz="3600" spc="69" dirty="0">
                  <a:latin typeface="Calibri"/>
                  <a:cs typeface="Calibri"/>
                </a:rPr>
                <a:t>i</a:t>
              </a:r>
              <a:r>
                <a:rPr lang="en-US" sz="3600" spc="63" dirty="0">
                  <a:latin typeface="Calibri"/>
                  <a:cs typeface="Calibri"/>
                </a:rPr>
                <a:t>a </a:t>
              </a:r>
              <a:r>
                <a:rPr lang="en-US" sz="3600" spc="38" dirty="0">
                  <a:solidFill>
                    <a:srgbClr val="C00000"/>
                  </a:solidFill>
                  <a:latin typeface="Calibri"/>
                  <a:cs typeface="Calibri"/>
                </a:rPr>
                <a:t>s</a:t>
              </a:r>
              <a:r>
                <a:rPr lang="en-US" sz="3600" spc="13" dirty="0">
                  <a:solidFill>
                    <a:srgbClr val="C00000"/>
                  </a:solidFill>
                  <a:latin typeface="Calibri"/>
                  <a:cs typeface="Calibri"/>
                </a:rPr>
                <a:t>e</a:t>
              </a:r>
              <a:r>
                <a:rPr lang="en-US" sz="3600" spc="44" dirty="0">
                  <a:solidFill>
                    <a:srgbClr val="C00000"/>
                  </a:solidFill>
                  <a:latin typeface="Calibri"/>
                  <a:cs typeface="Calibri"/>
                </a:rPr>
                <a:t>n</a:t>
              </a:r>
              <a:r>
                <a:rPr lang="en-US" sz="3600" spc="19" dirty="0">
                  <a:solidFill>
                    <a:srgbClr val="C00000"/>
                  </a:solidFill>
                  <a:latin typeface="Calibri"/>
                  <a:cs typeface="Calibri"/>
                </a:rPr>
                <a:t>s</a:t>
              </a:r>
              <a:r>
                <a:rPr lang="en-US" sz="3600" spc="50" dirty="0">
                  <a:solidFill>
                    <a:srgbClr val="C00000"/>
                  </a:solidFill>
                  <a:latin typeface="Calibri"/>
                  <a:cs typeface="Calibri"/>
                </a:rPr>
                <a:t>o</a:t>
              </a:r>
              <a:r>
                <a:rPr lang="en-US" sz="3600" spc="-38" dirty="0">
                  <a:solidFill>
                    <a:srgbClr val="C00000"/>
                  </a:solidFill>
                  <a:latin typeface="Calibri"/>
                  <a:cs typeface="Calibri"/>
                </a:rPr>
                <a:t>r</a:t>
              </a:r>
              <a:r>
                <a:rPr lang="en-US" sz="3600" spc="38" dirty="0">
                  <a:solidFill>
                    <a:srgbClr val="C00000"/>
                  </a:solidFill>
                  <a:latin typeface="Calibri"/>
                  <a:cs typeface="Calibri"/>
                </a:rPr>
                <a:t>s</a:t>
              </a:r>
              <a:r>
                <a:rPr lang="en-US" sz="3600" dirty="0">
                  <a:solidFill>
                    <a:srgbClr val="C00000"/>
                  </a:solidFill>
                  <a:latin typeface="Calibri"/>
                  <a:cs typeface="Calibri"/>
                </a:rPr>
                <a:t>	</a:t>
              </a:r>
              <a:r>
                <a:rPr lang="en-US" sz="3600" spc="63" dirty="0">
                  <a:latin typeface="Calibri"/>
                  <a:cs typeface="Calibri"/>
                </a:rPr>
                <a:t>a</a:t>
              </a:r>
              <a:r>
                <a:rPr lang="en-US" sz="3600" spc="44" dirty="0">
                  <a:latin typeface="Calibri"/>
                  <a:cs typeface="Calibri"/>
                </a:rPr>
                <a:t>nd</a:t>
              </a:r>
              <a:r>
                <a:rPr lang="en-US" sz="3600" dirty="0">
                  <a:latin typeface="Calibri"/>
                  <a:cs typeface="Calibri"/>
                </a:rPr>
                <a:t>	</a:t>
              </a:r>
              <a:r>
                <a:rPr lang="en-US" sz="3600" spc="44" dirty="0">
                  <a:latin typeface="Calibri"/>
                  <a:cs typeface="Calibri"/>
                </a:rPr>
                <a:t>a</a:t>
              </a:r>
              <a:r>
                <a:rPr lang="en-US" sz="3600" spc="-19" dirty="0">
                  <a:latin typeface="Calibri"/>
                  <a:cs typeface="Calibri"/>
                </a:rPr>
                <a:t>c</a:t>
              </a:r>
              <a:r>
                <a:rPr lang="en-US" sz="3600" spc="31" dirty="0">
                  <a:latin typeface="Calibri"/>
                  <a:cs typeface="Calibri"/>
                </a:rPr>
                <a:t>t</a:t>
              </a:r>
              <a:r>
                <a:rPr lang="en-US" sz="3600" spc="38" dirty="0">
                  <a:latin typeface="Calibri"/>
                  <a:cs typeface="Calibri"/>
                </a:rPr>
                <a:t>s</a:t>
              </a:r>
              <a:r>
                <a:rPr lang="en-US" sz="3600" dirty="0">
                  <a:latin typeface="Calibri"/>
                  <a:cs typeface="Calibri"/>
                </a:rPr>
                <a:t>	</a:t>
              </a:r>
              <a:r>
                <a:rPr lang="en-US" sz="3600" spc="44" dirty="0">
                  <a:latin typeface="Calibri"/>
                  <a:cs typeface="Calibri"/>
                </a:rPr>
                <a:t>up</a:t>
              </a:r>
              <a:r>
                <a:rPr lang="en-US" sz="3600" spc="50" dirty="0">
                  <a:latin typeface="Calibri"/>
                  <a:cs typeface="Calibri"/>
                </a:rPr>
                <a:t>o</a:t>
              </a:r>
              <a:r>
                <a:rPr lang="en-US" sz="3600" spc="25" dirty="0">
                  <a:latin typeface="Calibri"/>
                  <a:cs typeface="Calibri"/>
                </a:rPr>
                <a:t>n that environment through its </a:t>
              </a:r>
              <a:r>
                <a:rPr lang="en-US" sz="3600" spc="75" dirty="0">
                  <a:solidFill>
                    <a:srgbClr val="C00000"/>
                  </a:solidFill>
                  <a:latin typeface="Calibri"/>
                  <a:cs typeface="Calibri"/>
                </a:rPr>
                <a:t>Actuators</a:t>
              </a:r>
            </a:p>
            <a:p>
              <a:pPr marL="15954">
                <a:tabLst>
                  <a:tab pos="978762" algn="l"/>
                </a:tabLst>
              </a:pPr>
              <a:r>
                <a:rPr lang="en-US" sz="3600" spc="50" dirty="0">
                  <a:solidFill>
                    <a:srgbClr val="C00000"/>
                  </a:solidFill>
                  <a:latin typeface="Calibri"/>
                  <a:cs typeface="Calibri"/>
                </a:rPr>
                <a:t> </a:t>
              </a:r>
              <a:endParaRPr sz="3600" dirty="0">
                <a:latin typeface="Calibri"/>
                <a:cs typeface="Calibri"/>
              </a:endParaRPr>
            </a:p>
          </p:txBody>
        </p:sp>
        <p:sp>
          <p:nvSpPr>
            <p:cNvPr id="13" name="object 6">
              <a:extLst>
                <a:ext uri="{FF2B5EF4-FFF2-40B4-BE49-F238E27FC236}">
                  <a16:creationId xmlns:a16="http://schemas.microsoft.com/office/drawing/2014/main" id="{56037453-0B20-B0BA-F8DC-4352B7766AF5}"/>
                </a:ext>
              </a:extLst>
            </p:cNvPr>
            <p:cNvSpPr txBox="1"/>
            <p:nvPr/>
          </p:nvSpPr>
          <p:spPr>
            <a:xfrm>
              <a:off x="7850703" y="1419091"/>
              <a:ext cx="1209571" cy="553998"/>
            </a:xfrm>
            <a:prstGeom prst="rect">
              <a:avLst/>
            </a:prstGeom>
          </p:spPr>
          <p:txBody>
            <a:bodyPr vert="horz" wrap="square" lIns="0" tIns="0" rIns="0" bIns="0" rtlCol="0">
              <a:spAutoFit/>
            </a:bodyPr>
            <a:lstStyle/>
            <a:p>
              <a:pPr marL="15954"/>
              <a:endParaRPr sz="3600" dirty="0">
                <a:latin typeface="Calibri"/>
                <a:cs typeface="Calibri"/>
              </a:endParaRPr>
            </a:p>
          </p:txBody>
        </p:sp>
        <p:sp>
          <p:nvSpPr>
            <p:cNvPr id="14" name="object 7">
              <a:extLst>
                <a:ext uri="{FF2B5EF4-FFF2-40B4-BE49-F238E27FC236}">
                  <a16:creationId xmlns:a16="http://schemas.microsoft.com/office/drawing/2014/main" id="{7D805A3C-BAFE-AE6E-1846-E58D0F97B454}"/>
                </a:ext>
              </a:extLst>
            </p:cNvPr>
            <p:cNvSpPr txBox="1"/>
            <p:nvPr/>
          </p:nvSpPr>
          <p:spPr>
            <a:xfrm>
              <a:off x="9439993" y="1419091"/>
              <a:ext cx="3677519" cy="553998"/>
            </a:xfrm>
            <a:prstGeom prst="rect">
              <a:avLst/>
            </a:prstGeom>
          </p:spPr>
          <p:txBody>
            <a:bodyPr vert="horz" wrap="square" lIns="0" tIns="0" rIns="0" bIns="0" rtlCol="0">
              <a:spAutoFit/>
            </a:bodyPr>
            <a:lstStyle/>
            <a:p>
              <a:pPr marL="15954"/>
              <a:endParaRPr sz="3600" dirty="0">
                <a:latin typeface="Calibri"/>
                <a:cs typeface="Calibri"/>
              </a:endParaRPr>
            </a:p>
          </p:txBody>
        </p:sp>
      </p:grpSp>
      <p:sp>
        <p:nvSpPr>
          <p:cNvPr id="18" name="TextBox 17">
            <a:extLst>
              <a:ext uri="{FF2B5EF4-FFF2-40B4-BE49-F238E27FC236}">
                <a16:creationId xmlns:a16="http://schemas.microsoft.com/office/drawing/2014/main" id="{0533F6F6-468C-2B56-9471-E61890443259}"/>
              </a:ext>
            </a:extLst>
          </p:cNvPr>
          <p:cNvSpPr txBox="1"/>
          <p:nvPr/>
        </p:nvSpPr>
        <p:spPr>
          <a:xfrm>
            <a:off x="4354512" y="-6792"/>
            <a:ext cx="6718852" cy="830997"/>
          </a:xfrm>
          <a:prstGeom prst="rect">
            <a:avLst/>
          </a:prstGeom>
          <a:noFill/>
        </p:spPr>
        <p:txBody>
          <a:bodyPr wrap="square">
            <a:spAutoFit/>
          </a:bodyPr>
          <a:lstStyle/>
          <a:p>
            <a:r>
              <a:rPr lang="en-US" sz="4800" spc="-19" dirty="0"/>
              <a:t>Agent</a:t>
            </a:r>
            <a:r>
              <a:rPr lang="en-US" sz="4800" spc="-119" dirty="0"/>
              <a:t> </a:t>
            </a:r>
            <a:r>
              <a:rPr lang="en-US" sz="4800" spc="-19" dirty="0"/>
              <a:t>Example</a:t>
            </a:r>
            <a:endParaRPr lang="en-US" sz="4800" dirty="0"/>
          </a:p>
        </p:txBody>
      </p:sp>
    </p:spTree>
    <p:extLst>
      <p:ext uri="{BB962C8B-B14F-4D97-AF65-F5344CB8AC3E}">
        <p14:creationId xmlns:p14="http://schemas.microsoft.com/office/powerpoint/2010/main" val="2559858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FEFE-9C10-A2B7-AACD-9F226EC57846}"/>
              </a:ext>
            </a:extLst>
          </p:cNvPr>
          <p:cNvSpPr>
            <a:spLocks noGrp="1"/>
          </p:cNvSpPr>
          <p:nvPr>
            <p:ph type="title"/>
          </p:nvPr>
        </p:nvSpPr>
        <p:spPr>
          <a:xfrm>
            <a:off x="2373312" y="120650"/>
            <a:ext cx="8890622" cy="830997"/>
          </a:xfrm>
        </p:spPr>
        <p:txBody>
          <a:bodyPr/>
          <a:lstStyle/>
          <a:p>
            <a:r>
              <a:rPr lang="en-US" sz="5400" dirty="0"/>
              <a:t>Example</a:t>
            </a:r>
            <a:r>
              <a:rPr lang="en-US" sz="5400" b="1" dirty="0"/>
              <a:t>: T</a:t>
            </a:r>
            <a:r>
              <a:rPr lang="en-US" sz="5400" dirty="0"/>
              <a:t>he vacuum world</a:t>
            </a:r>
          </a:p>
        </p:txBody>
      </p:sp>
      <p:pic>
        <p:nvPicPr>
          <p:cNvPr id="7" name="Picture 6">
            <a:extLst>
              <a:ext uri="{FF2B5EF4-FFF2-40B4-BE49-F238E27FC236}">
                <a16:creationId xmlns:a16="http://schemas.microsoft.com/office/drawing/2014/main" id="{D6D2BD65-0FDD-B211-07B6-EE8FA7DC032E}"/>
              </a:ext>
            </a:extLst>
          </p:cNvPr>
          <p:cNvPicPr>
            <a:picLocks noChangeAspect="1"/>
          </p:cNvPicPr>
          <p:nvPr/>
        </p:nvPicPr>
        <p:blipFill>
          <a:blip r:embed="rId2"/>
          <a:stretch>
            <a:fillRect/>
          </a:stretch>
        </p:blipFill>
        <p:spPr>
          <a:xfrm>
            <a:off x="1668807" y="1416050"/>
            <a:ext cx="9576422" cy="5014913"/>
          </a:xfrm>
          <a:prstGeom prst="rect">
            <a:avLst/>
          </a:prstGeom>
        </p:spPr>
      </p:pic>
    </p:spTree>
    <p:extLst>
      <p:ext uri="{BB962C8B-B14F-4D97-AF65-F5344CB8AC3E}">
        <p14:creationId xmlns:p14="http://schemas.microsoft.com/office/powerpoint/2010/main" val="3083720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FEFE-9C10-A2B7-AACD-9F226EC57846}"/>
              </a:ext>
            </a:extLst>
          </p:cNvPr>
          <p:cNvSpPr>
            <a:spLocks noGrp="1"/>
          </p:cNvSpPr>
          <p:nvPr>
            <p:ph type="title"/>
          </p:nvPr>
        </p:nvSpPr>
        <p:spPr>
          <a:xfrm>
            <a:off x="3859316" y="273050"/>
            <a:ext cx="7657995" cy="1701107"/>
          </a:xfrm>
        </p:spPr>
        <p:txBody>
          <a:bodyPr/>
          <a:lstStyle/>
          <a:p>
            <a:r>
              <a:rPr lang="en-US" b="1" dirty="0"/>
              <a:t>Example:</a:t>
            </a:r>
            <a:br>
              <a:rPr lang="en-US" dirty="0"/>
            </a:br>
            <a:endParaRPr lang="en-US" dirty="0"/>
          </a:p>
        </p:txBody>
      </p:sp>
      <p:sp>
        <p:nvSpPr>
          <p:cNvPr id="3" name="Text Placeholder 2">
            <a:extLst>
              <a:ext uri="{FF2B5EF4-FFF2-40B4-BE49-F238E27FC236}">
                <a16:creationId xmlns:a16="http://schemas.microsoft.com/office/drawing/2014/main" id="{FAF00547-BE8A-6413-FE9E-0525F45CA1BD}"/>
              </a:ext>
            </a:extLst>
          </p:cNvPr>
          <p:cNvSpPr>
            <a:spLocks noGrp="1"/>
          </p:cNvSpPr>
          <p:nvPr>
            <p:ph type="body" idx="1"/>
          </p:nvPr>
        </p:nvSpPr>
        <p:spPr>
          <a:xfrm>
            <a:off x="239712" y="1465072"/>
            <a:ext cx="13106399" cy="4949047"/>
          </a:xfrm>
        </p:spPr>
        <p:txBody>
          <a:bodyPr/>
          <a:lstStyle/>
          <a:p>
            <a:pPr>
              <a:buFont typeface="Arial" panose="020B0604020202020204" pitchFamily="34" charset="0"/>
              <a:buChar char="•"/>
            </a:pPr>
            <a:r>
              <a:rPr lang="en-US" b="1" dirty="0"/>
              <a:t> Agent:</a:t>
            </a:r>
            <a:r>
              <a:rPr lang="en-US" dirty="0"/>
              <a:t> </a:t>
            </a:r>
            <a:r>
              <a:rPr lang="en-US" sz="3800" dirty="0"/>
              <a:t>A self-driving car</a:t>
            </a:r>
            <a:r>
              <a:rPr lang="en-US" dirty="0"/>
              <a:t>.</a:t>
            </a:r>
          </a:p>
          <a:p>
            <a:pPr marL="344488" indent="-344488">
              <a:buFont typeface="Arial" panose="020B0604020202020204" pitchFamily="34" charset="0"/>
              <a:buChar char="•"/>
            </a:pPr>
            <a:r>
              <a:rPr lang="en-US" b="1" dirty="0"/>
              <a:t>Environment:</a:t>
            </a:r>
            <a:r>
              <a:rPr lang="en-US" dirty="0"/>
              <a:t> </a:t>
            </a:r>
            <a:r>
              <a:rPr lang="en-US" sz="3800" dirty="0"/>
              <a:t>A road with traffic, pedestrians, and weather  conditions.</a:t>
            </a:r>
          </a:p>
          <a:p>
            <a:pPr marL="344488" indent="-344488">
              <a:buFont typeface="Arial" panose="020B0604020202020204" pitchFamily="34" charset="0"/>
              <a:buChar char="•"/>
            </a:pPr>
            <a:r>
              <a:rPr lang="en-US" b="1" dirty="0"/>
              <a:t>Perception:</a:t>
            </a:r>
            <a:r>
              <a:rPr lang="en-US" dirty="0"/>
              <a:t> </a:t>
            </a:r>
            <a:r>
              <a:rPr lang="en-US" sz="3800" dirty="0"/>
              <a:t>The car's cameras, radar, and lidar sensors gather information about its surroundings.</a:t>
            </a:r>
          </a:p>
          <a:p>
            <a:pPr marL="344488" indent="-344488">
              <a:buFont typeface="Arial" panose="020B0604020202020204" pitchFamily="34" charset="0"/>
              <a:buChar char="•"/>
            </a:pPr>
            <a:r>
              <a:rPr lang="en-US" b="1" dirty="0"/>
              <a:t>Action:</a:t>
            </a:r>
            <a:r>
              <a:rPr lang="en-US" dirty="0"/>
              <a:t> </a:t>
            </a:r>
            <a:r>
              <a:rPr lang="en-US" sz="3800" dirty="0"/>
              <a:t>The car's steering, acceleration, and braking systems allow it to navigate the environment.</a:t>
            </a:r>
          </a:p>
          <a:p>
            <a:endParaRPr lang="en-US" dirty="0"/>
          </a:p>
        </p:txBody>
      </p:sp>
    </p:spTree>
    <p:extLst>
      <p:ext uri="{BB962C8B-B14F-4D97-AF65-F5344CB8AC3E}">
        <p14:creationId xmlns:p14="http://schemas.microsoft.com/office/powerpoint/2010/main" val="824718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08B3B4-7B4E-B0DE-0E3E-8DAE1704F32D}"/>
              </a:ext>
            </a:extLst>
          </p:cNvPr>
          <p:cNvPicPr>
            <a:picLocks noChangeAspect="1"/>
          </p:cNvPicPr>
          <p:nvPr/>
        </p:nvPicPr>
        <p:blipFill>
          <a:blip r:embed="rId2"/>
          <a:stretch>
            <a:fillRect/>
          </a:stretch>
        </p:blipFill>
        <p:spPr>
          <a:xfrm>
            <a:off x="1382712" y="306916"/>
            <a:ext cx="10496550" cy="6831089"/>
          </a:xfrm>
          <a:prstGeom prst="rect">
            <a:avLst/>
          </a:prstGeom>
        </p:spPr>
      </p:pic>
    </p:spTree>
    <p:extLst>
      <p:ext uri="{BB962C8B-B14F-4D97-AF65-F5344CB8AC3E}">
        <p14:creationId xmlns:p14="http://schemas.microsoft.com/office/powerpoint/2010/main" val="3002520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54971" y="66349"/>
            <a:ext cx="3119841" cy="850554"/>
          </a:xfrm>
          <a:prstGeom prst="rect">
            <a:avLst/>
          </a:prstGeom>
        </p:spPr>
        <p:txBody>
          <a:bodyPr vert="horz" wrap="square" lIns="0" tIns="0" rIns="0" bIns="0" rtlCol="0">
            <a:spAutoFit/>
          </a:bodyPr>
          <a:lstStyle/>
          <a:p>
            <a:pPr marL="15954"/>
            <a:r>
              <a:rPr spc="-100" dirty="0"/>
              <a:t>P</a:t>
            </a:r>
            <a:r>
              <a:rPr spc="6" dirty="0"/>
              <a:t>e</a:t>
            </a:r>
            <a:r>
              <a:rPr spc="-75" dirty="0"/>
              <a:t>r</a:t>
            </a:r>
            <a:r>
              <a:rPr spc="-13" dirty="0"/>
              <a:t>c</a:t>
            </a:r>
            <a:r>
              <a:rPr spc="6" dirty="0"/>
              <a:t>e</a:t>
            </a:r>
            <a:r>
              <a:rPr spc="-31" dirty="0"/>
              <a:t>p</a:t>
            </a:r>
            <a:r>
              <a:rPr dirty="0"/>
              <a:t>t</a:t>
            </a:r>
            <a:r>
              <a:rPr spc="-13" dirty="0"/>
              <a:t>i</a:t>
            </a:r>
            <a:r>
              <a:rPr spc="6" dirty="0"/>
              <a:t>o</a:t>
            </a:r>
            <a:r>
              <a:rPr dirty="0"/>
              <a:t>n</a:t>
            </a:r>
          </a:p>
        </p:txBody>
      </p:sp>
      <p:sp>
        <p:nvSpPr>
          <p:cNvPr id="4" name="object 4"/>
          <p:cNvSpPr txBox="1"/>
          <p:nvPr/>
        </p:nvSpPr>
        <p:spPr>
          <a:xfrm>
            <a:off x="925512" y="916903"/>
            <a:ext cx="11154495" cy="4700646"/>
          </a:xfrm>
          <a:prstGeom prst="rect">
            <a:avLst/>
          </a:prstGeom>
        </p:spPr>
        <p:txBody>
          <a:bodyPr vert="horz" wrap="square" lIns="0" tIns="0" rIns="0" bIns="0" rtlCol="0">
            <a:spAutoFit/>
          </a:bodyPr>
          <a:lstStyle/>
          <a:p>
            <a:pPr marL="446705" indent="-430751">
              <a:buClr>
                <a:srgbClr val="000000"/>
              </a:buClr>
              <a:buFont typeface="Arial"/>
              <a:buChar char="•"/>
              <a:tabLst>
                <a:tab pos="445907" algn="l"/>
                <a:tab pos="446705" algn="l"/>
              </a:tabLst>
            </a:pPr>
            <a:r>
              <a:rPr sz="4020" i="1" spc="151" dirty="0">
                <a:solidFill>
                  <a:srgbClr val="7F7F00"/>
                </a:solidFill>
                <a:latin typeface="Arial"/>
                <a:cs typeface="Arial"/>
              </a:rPr>
              <a:t>Perception </a:t>
            </a:r>
            <a:r>
              <a:rPr sz="4020" dirty="0">
                <a:latin typeface="Arial"/>
                <a:cs typeface="Arial"/>
              </a:rPr>
              <a:t>is </a:t>
            </a:r>
            <a:r>
              <a:rPr sz="4020" spc="-13" dirty="0">
                <a:latin typeface="Arial"/>
                <a:cs typeface="Arial"/>
              </a:rPr>
              <a:t>the </a:t>
            </a:r>
            <a:r>
              <a:rPr sz="4020" spc="-6" dirty="0">
                <a:latin typeface="Arial"/>
                <a:cs typeface="Arial"/>
              </a:rPr>
              <a:t>result of </a:t>
            </a:r>
            <a:r>
              <a:rPr sz="4020" spc="-13" dirty="0">
                <a:latin typeface="Arial"/>
                <a:cs typeface="Arial"/>
              </a:rPr>
              <a:t>the</a:t>
            </a:r>
            <a:r>
              <a:rPr sz="4020" spc="-276" dirty="0">
                <a:latin typeface="Arial"/>
                <a:cs typeface="Arial"/>
              </a:rPr>
              <a:t> </a:t>
            </a:r>
            <a:r>
              <a:rPr sz="4020" spc="-13" dirty="0">
                <a:latin typeface="Arial"/>
                <a:cs typeface="Arial"/>
              </a:rPr>
              <a:t>function</a:t>
            </a:r>
            <a:endParaRPr sz="4020" dirty="0">
              <a:latin typeface="Arial"/>
              <a:cs typeface="Arial"/>
            </a:endParaRPr>
          </a:p>
          <a:p>
            <a:pPr marL="3863198">
              <a:spcBef>
                <a:spcPts val="860"/>
              </a:spcBef>
            </a:pPr>
            <a:r>
              <a:rPr sz="3517" i="1" spc="94" dirty="0">
                <a:solidFill>
                  <a:srgbClr val="7F7F00"/>
                </a:solidFill>
                <a:latin typeface="Arial"/>
                <a:cs typeface="Arial"/>
              </a:rPr>
              <a:t>see: </a:t>
            </a:r>
            <a:r>
              <a:rPr sz="3517" i="1" spc="-13" dirty="0">
                <a:solidFill>
                  <a:srgbClr val="7F7F00"/>
                </a:solidFill>
                <a:latin typeface="Arial"/>
                <a:cs typeface="Arial"/>
              </a:rPr>
              <a:t>S </a:t>
            </a:r>
            <a:r>
              <a:rPr lang="en-US" sz="3517" i="1" spc="-13" dirty="0">
                <a:solidFill>
                  <a:srgbClr val="7F7F00"/>
                </a:solidFill>
                <a:latin typeface="Arial"/>
                <a:cs typeface="Arial"/>
                <a:sym typeface="Wingdings" panose="05000000000000000000" pitchFamily="2" charset="2"/>
              </a:rPr>
              <a:t></a:t>
            </a:r>
            <a:r>
              <a:rPr sz="3517" spc="-1338" dirty="0">
                <a:solidFill>
                  <a:srgbClr val="7F7F00"/>
                </a:solidFill>
                <a:latin typeface="Courier New"/>
                <a:cs typeface="Courier New"/>
              </a:rPr>
              <a:t> </a:t>
            </a:r>
            <a:r>
              <a:rPr sz="3517" i="1" spc="-13" dirty="0">
                <a:solidFill>
                  <a:srgbClr val="7F7F00"/>
                </a:solidFill>
                <a:latin typeface="Arial"/>
                <a:cs typeface="Arial"/>
              </a:rPr>
              <a:t>P</a:t>
            </a:r>
            <a:endParaRPr sz="3517" dirty="0">
              <a:latin typeface="Arial"/>
              <a:cs typeface="Arial"/>
            </a:endParaRPr>
          </a:p>
          <a:p>
            <a:pPr marL="445907">
              <a:spcBef>
                <a:spcPts val="942"/>
              </a:spcBef>
            </a:pPr>
            <a:r>
              <a:rPr sz="4020" spc="-6" dirty="0">
                <a:latin typeface="Arial"/>
                <a:cs typeface="Arial"/>
              </a:rPr>
              <a:t>where</a:t>
            </a:r>
            <a:endParaRPr sz="4020" dirty="0">
              <a:latin typeface="Arial"/>
              <a:cs typeface="Arial"/>
            </a:endParaRPr>
          </a:p>
          <a:p>
            <a:pPr marL="950045" marR="331838" indent="-360555">
              <a:spcBef>
                <a:spcPts val="760"/>
              </a:spcBef>
            </a:pPr>
            <a:r>
              <a:rPr sz="3015" spc="-6" dirty="0">
                <a:solidFill>
                  <a:srgbClr val="7F7F00"/>
                </a:solidFill>
                <a:latin typeface="Arial"/>
                <a:cs typeface="Arial"/>
              </a:rPr>
              <a:t>– </a:t>
            </a:r>
            <a:r>
              <a:rPr sz="3015" i="1" spc="-6" dirty="0">
                <a:solidFill>
                  <a:srgbClr val="7F7F00"/>
                </a:solidFill>
                <a:latin typeface="Arial"/>
                <a:cs typeface="Arial"/>
              </a:rPr>
              <a:t>P </a:t>
            </a:r>
            <a:r>
              <a:rPr sz="3015" spc="-6" dirty="0">
                <a:latin typeface="Arial"/>
                <a:cs typeface="Arial"/>
              </a:rPr>
              <a:t>is a (non-empty) set of </a:t>
            </a:r>
            <a:r>
              <a:rPr sz="3015" i="1" spc="119" dirty="0">
                <a:solidFill>
                  <a:srgbClr val="7F7F00"/>
                </a:solidFill>
                <a:latin typeface="Arial"/>
                <a:cs typeface="Arial"/>
              </a:rPr>
              <a:t>percepts </a:t>
            </a:r>
            <a:r>
              <a:rPr sz="3015" spc="-6" dirty="0">
                <a:latin typeface="Arial"/>
                <a:cs typeface="Arial"/>
              </a:rPr>
              <a:t>(perceptual  inputs).</a:t>
            </a:r>
            <a:endParaRPr sz="3015" dirty="0">
              <a:latin typeface="Arial"/>
              <a:cs typeface="Arial"/>
            </a:endParaRPr>
          </a:p>
          <a:p>
            <a:pPr marL="445907" indent="-429953">
              <a:spcBef>
                <a:spcPts val="917"/>
              </a:spcBef>
              <a:buChar char="•"/>
              <a:tabLst>
                <a:tab pos="445907" algn="l"/>
                <a:tab pos="446705" algn="l"/>
              </a:tabLst>
            </a:pPr>
            <a:r>
              <a:rPr lang="en-US" sz="4020" spc="-13" dirty="0">
                <a:latin typeface="Arial"/>
                <a:cs typeface="Arial"/>
              </a:rPr>
              <a:t>Then, the </a:t>
            </a:r>
            <a:r>
              <a:rPr lang="en-US" sz="4020" i="1" spc="176" dirty="0">
                <a:solidFill>
                  <a:srgbClr val="7F7F00"/>
                </a:solidFill>
                <a:latin typeface="Arial"/>
                <a:cs typeface="Arial"/>
              </a:rPr>
              <a:t>action</a:t>
            </a:r>
            <a:r>
              <a:rPr lang="en-US" sz="4020" i="1" spc="-94" dirty="0">
                <a:solidFill>
                  <a:srgbClr val="7F7F00"/>
                </a:solidFill>
                <a:latin typeface="Arial"/>
                <a:cs typeface="Arial"/>
              </a:rPr>
              <a:t> </a:t>
            </a:r>
            <a:r>
              <a:rPr lang="en-US" sz="4020" spc="-6" dirty="0">
                <a:latin typeface="Arial"/>
                <a:cs typeface="Arial"/>
              </a:rPr>
              <a:t>becomes:</a:t>
            </a:r>
            <a:endParaRPr lang="en-US" sz="4020" dirty="0">
              <a:latin typeface="Arial"/>
              <a:cs typeface="Arial"/>
            </a:endParaRPr>
          </a:p>
          <a:p>
            <a:pPr marL="3486690">
              <a:spcBef>
                <a:spcPts val="860"/>
              </a:spcBef>
            </a:pPr>
            <a:r>
              <a:rPr lang="en-US" sz="3517" i="1" spc="157" dirty="0">
                <a:solidFill>
                  <a:srgbClr val="7F7F00"/>
                </a:solidFill>
                <a:latin typeface="Arial"/>
                <a:cs typeface="Arial"/>
              </a:rPr>
              <a:t>action: </a:t>
            </a:r>
            <a:r>
              <a:rPr lang="en-US" sz="3517" i="1" spc="-6" dirty="0">
                <a:solidFill>
                  <a:srgbClr val="7F7F00"/>
                </a:solidFill>
                <a:latin typeface="Arial"/>
                <a:cs typeface="Arial"/>
              </a:rPr>
              <a:t>P </a:t>
            </a:r>
            <a:r>
              <a:rPr lang="en-US" sz="3517" i="1" spc="-6" dirty="0">
                <a:solidFill>
                  <a:srgbClr val="7F7F00"/>
                </a:solidFill>
                <a:latin typeface="Arial"/>
                <a:cs typeface="Arial"/>
                <a:sym typeface="Wingdings" panose="05000000000000000000" pitchFamily="2" charset="2"/>
              </a:rPr>
              <a:t></a:t>
            </a:r>
            <a:r>
              <a:rPr lang="en-US" sz="3517" spc="-1495" dirty="0">
                <a:solidFill>
                  <a:srgbClr val="7F7F00"/>
                </a:solidFill>
                <a:latin typeface="Courier New"/>
                <a:cs typeface="Courier New"/>
              </a:rPr>
              <a:t> </a:t>
            </a:r>
            <a:r>
              <a:rPr lang="en-US" sz="3517" i="1" spc="182" dirty="0">
                <a:solidFill>
                  <a:srgbClr val="7F7F00"/>
                </a:solidFill>
                <a:latin typeface="Arial"/>
                <a:cs typeface="Arial"/>
              </a:rPr>
              <a:t>A</a:t>
            </a:r>
            <a:endParaRPr lang="en-US" sz="3517" dirty="0">
              <a:latin typeface="Arial"/>
              <a:cs typeface="Arial"/>
            </a:endParaRPr>
          </a:p>
          <a:p>
            <a:pPr marL="445907" marR="204208">
              <a:spcBef>
                <a:spcPts val="942"/>
              </a:spcBef>
            </a:pPr>
            <a:r>
              <a:rPr sz="4020" spc="-6" dirty="0">
                <a:latin typeface="Arial"/>
                <a:cs typeface="Arial"/>
              </a:rPr>
              <a:t>which maps sequences of percepts</a:t>
            </a:r>
            <a:r>
              <a:rPr sz="4020" spc="-207" dirty="0">
                <a:latin typeface="Arial"/>
                <a:cs typeface="Arial"/>
              </a:rPr>
              <a:t> </a:t>
            </a:r>
            <a:r>
              <a:rPr sz="4020" spc="-6" dirty="0">
                <a:latin typeface="Arial"/>
                <a:cs typeface="Arial"/>
              </a:rPr>
              <a:t>to  actions</a:t>
            </a:r>
            <a:endParaRPr sz="4020" dirty="0">
              <a:latin typeface="Arial"/>
              <a:cs typeface="Arial"/>
            </a:endParaRPr>
          </a:p>
        </p:txBody>
      </p:sp>
      <p:sp>
        <p:nvSpPr>
          <p:cNvPr id="6" name="TextBox 5">
            <a:extLst>
              <a:ext uri="{FF2B5EF4-FFF2-40B4-BE49-F238E27FC236}">
                <a16:creationId xmlns:a16="http://schemas.microsoft.com/office/drawing/2014/main" id="{09B456C2-DA73-14C6-71E2-2E77F07FA173}"/>
              </a:ext>
            </a:extLst>
          </p:cNvPr>
          <p:cNvSpPr txBox="1"/>
          <p:nvPr/>
        </p:nvSpPr>
        <p:spPr>
          <a:xfrm>
            <a:off x="1647591" y="6162543"/>
            <a:ext cx="10134600" cy="954107"/>
          </a:xfrm>
          <a:prstGeom prst="rect">
            <a:avLst/>
          </a:prstGeom>
          <a:noFill/>
        </p:spPr>
        <p:txBody>
          <a:bodyPr wrap="square">
            <a:spAutoFit/>
          </a:bodyPr>
          <a:lstStyle/>
          <a:p>
            <a:r>
              <a:rPr lang="en-US" sz="2800" dirty="0">
                <a:solidFill>
                  <a:srgbClr val="C00000"/>
                </a:solidFill>
              </a:rPr>
              <a:t>S → P: Camera detects red traffic light → interpreted as “red = stop.”</a:t>
            </a:r>
          </a:p>
          <a:p>
            <a:r>
              <a:rPr lang="en-US" sz="2800" dirty="0">
                <a:solidFill>
                  <a:srgbClr val="C00000"/>
                </a:solidFill>
              </a:rPr>
              <a:t>P → A: Percept “red = stop” → triggers action apply brakes.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59993" y="-19228"/>
            <a:ext cx="6061066" cy="850554"/>
          </a:xfrm>
          <a:prstGeom prst="rect">
            <a:avLst/>
          </a:prstGeom>
        </p:spPr>
        <p:txBody>
          <a:bodyPr vert="horz" wrap="square" lIns="0" tIns="0" rIns="0" bIns="0" rtlCol="0">
            <a:spAutoFit/>
          </a:bodyPr>
          <a:lstStyle/>
          <a:p>
            <a:pPr marL="15954"/>
            <a:r>
              <a:rPr spc="-19" dirty="0"/>
              <a:t>Perception</a:t>
            </a:r>
            <a:r>
              <a:rPr spc="-138" dirty="0"/>
              <a:t> </a:t>
            </a:r>
            <a:r>
              <a:rPr spc="-6" dirty="0"/>
              <a:t>ability</a:t>
            </a:r>
          </a:p>
        </p:txBody>
      </p:sp>
      <p:sp>
        <p:nvSpPr>
          <p:cNvPr id="11" name="object 11"/>
          <p:cNvSpPr txBox="1"/>
          <p:nvPr/>
        </p:nvSpPr>
        <p:spPr>
          <a:xfrm>
            <a:off x="353129" y="3824983"/>
            <a:ext cx="12916783" cy="3541739"/>
          </a:xfrm>
          <a:prstGeom prst="rect">
            <a:avLst/>
          </a:prstGeom>
        </p:spPr>
        <p:txBody>
          <a:bodyPr vert="horz" wrap="square" lIns="0" tIns="0" rIns="0" bIns="0" rtlCol="0">
            <a:spAutoFit/>
          </a:bodyPr>
          <a:lstStyle/>
          <a:p>
            <a:pPr>
              <a:tabLst>
                <a:tab pos="209393" algn="l"/>
              </a:tabLst>
            </a:pPr>
            <a:r>
              <a:rPr lang="en-US" sz="2800" i="1" spc="94" dirty="0">
                <a:latin typeface="Arial"/>
                <a:cs typeface="Arial"/>
              </a:rPr>
              <a:t>W</a:t>
            </a:r>
            <a:r>
              <a:rPr sz="2800" i="1" spc="94" dirty="0">
                <a:latin typeface="Arial"/>
                <a:cs typeface="Arial"/>
              </a:rPr>
              <a:t>here</a:t>
            </a:r>
            <a:r>
              <a:rPr lang="en-US" sz="2800" dirty="0">
                <a:latin typeface="Arial"/>
                <a:cs typeface="Arial"/>
              </a:rPr>
              <a:t> </a:t>
            </a:r>
            <a:r>
              <a:rPr sz="2800" i="1" spc="25" dirty="0">
                <a:solidFill>
                  <a:srgbClr val="7F7F00"/>
                </a:solidFill>
                <a:latin typeface="Arial"/>
                <a:cs typeface="Arial"/>
              </a:rPr>
              <a:t>E</a:t>
            </a:r>
            <a:r>
              <a:rPr sz="2800" spc="25" dirty="0">
                <a:latin typeface="Lucida Sans Unicode"/>
                <a:cs typeface="Lucida Sans Unicode"/>
              </a:rPr>
              <a:t>:</a:t>
            </a:r>
            <a:r>
              <a:rPr sz="2800" spc="-143" dirty="0">
                <a:latin typeface="Lucida Sans Unicode"/>
                <a:cs typeface="Lucida Sans Unicode"/>
              </a:rPr>
              <a:t> </a:t>
            </a:r>
            <a:r>
              <a:rPr sz="2800" spc="50" dirty="0">
                <a:latin typeface="Lucida Sans Unicode"/>
                <a:cs typeface="Lucida Sans Unicode"/>
              </a:rPr>
              <a:t>is</a:t>
            </a:r>
            <a:r>
              <a:rPr sz="2800" spc="-126" dirty="0">
                <a:latin typeface="Lucida Sans Unicode"/>
                <a:cs typeface="Lucida Sans Unicode"/>
              </a:rPr>
              <a:t> </a:t>
            </a:r>
            <a:r>
              <a:rPr sz="2800" spc="-57" dirty="0">
                <a:latin typeface="Lucida Sans Unicode"/>
                <a:cs typeface="Lucida Sans Unicode"/>
              </a:rPr>
              <a:t>the</a:t>
            </a:r>
            <a:r>
              <a:rPr sz="2800" spc="-126" dirty="0">
                <a:latin typeface="Lucida Sans Unicode"/>
                <a:cs typeface="Lucida Sans Unicode"/>
              </a:rPr>
              <a:t> </a:t>
            </a:r>
            <a:r>
              <a:rPr sz="2800" dirty="0">
                <a:latin typeface="Lucida Sans Unicode"/>
                <a:cs typeface="Lucida Sans Unicode"/>
              </a:rPr>
              <a:t>set</a:t>
            </a:r>
            <a:r>
              <a:rPr sz="2800" spc="-113" dirty="0">
                <a:latin typeface="Lucida Sans Unicode"/>
                <a:cs typeface="Lucida Sans Unicode"/>
              </a:rPr>
              <a:t> </a:t>
            </a:r>
            <a:r>
              <a:rPr sz="2800" spc="-57" dirty="0">
                <a:latin typeface="Lucida Sans Unicode"/>
                <a:cs typeface="Lucida Sans Unicode"/>
              </a:rPr>
              <a:t>of</a:t>
            </a:r>
            <a:r>
              <a:rPr sz="2800" spc="-126" dirty="0">
                <a:latin typeface="Lucida Sans Unicode"/>
                <a:cs typeface="Lucida Sans Unicode"/>
              </a:rPr>
              <a:t> </a:t>
            </a:r>
            <a:r>
              <a:rPr sz="2800" spc="-63" dirty="0">
                <a:latin typeface="Lucida Sans Unicode"/>
                <a:cs typeface="Lucida Sans Unicode"/>
              </a:rPr>
              <a:t>different</a:t>
            </a:r>
            <a:r>
              <a:rPr sz="2800" spc="-143" dirty="0">
                <a:latin typeface="Lucida Sans Unicode"/>
                <a:cs typeface="Lucida Sans Unicode"/>
              </a:rPr>
              <a:t> </a:t>
            </a:r>
            <a:r>
              <a:rPr sz="2800" spc="-6" dirty="0">
                <a:latin typeface="Lucida Sans Unicode"/>
                <a:cs typeface="Lucida Sans Unicode"/>
              </a:rPr>
              <a:t>perceived</a:t>
            </a:r>
            <a:r>
              <a:rPr sz="2800" spc="-94" dirty="0">
                <a:latin typeface="Lucida Sans Unicode"/>
                <a:cs typeface="Lucida Sans Unicode"/>
              </a:rPr>
              <a:t> </a:t>
            </a:r>
            <a:r>
              <a:rPr sz="2800" dirty="0">
                <a:latin typeface="Lucida Sans Unicode"/>
                <a:cs typeface="Lucida Sans Unicode"/>
              </a:rPr>
              <a:t>states</a:t>
            </a:r>
            <a:r>
              <a:rPr lang="en-US" sz="2800" dirty="0">
                <a:latin typeface="Lucida Sans Unicode"/>
                <a:cs typeface="Lucida Sans Unicode"/>
              </a:rPr>
              <a:t>.</a:t>
            </a:r>
          </a:p>
          <a:p>
            <a:pPr algn="l"/>
            <a:r>
              <a:rPr lang="en-US" sz="2800" dirty="0">
                <a:solidFill>
                  <a:srgbClr val="1F1F1F"/>
                </a:solidFill>
                <a:latin typeface="Google Sans"/>
              </a:rPr>
              <a:t> </a:t>
            </a:r>
            <a:r>
              <a:rPr lang="en-US" sz="3200" dirty="0">
                <a:solidFill>
                  <a:srgbClr val="1F1F1F"/>
                </a:solidFill>
                <a:latin typeface="Google Sans"/>
              </a:rPr>
              <a:t>Vision:</a:t>
            </a:r>
          </a:p>
          <a:p>
            <a:pPr marL="914400" lvl="1" indent="-457200">
              <a:buFont typeface="Arial" panose="020B0604020202020204" pitchFamily="34" charset="0"/>
              <a:buChar char="•"/>
            </a:pPr>
            <a:r>
              <a:rPr lang="en-US" sz="2800" dirty="0">
                <a:solidFill>
                  <a:srgbClr val="FF0000"/>
                </a:solidFill>
                <a:latin typeface="Google Sans"/>
              </a:rPr>
              <a:t>Color: Seeing the color "red" as opposed to "blue" is a distinct state.</a:t>
            </a:r>
          </a:p>
          <a:p>
            <a:pPr lvl="1">
              <a:buFont typeface="Arial" panose="020B0604020202020204" pitchFamily="34" charset="0"/>
              <a:buChar char="•"/>
            </a:pPr>
            <a:r>
              <a:rPr lang="en-US" sz="2800" dirty="0">
                <a:solidFill>
                  <a:srgbClr val="FF0000"/>
                </a:solidFill>
                <a:latin typeface="Google Sans"/>
              </a:rPr>
              <a:t>    Shape: Distinguishing a circle from a square represents two different states.</a:t>
            </a:r>
            <a:endParaRPr lang="en-US" sz="3015" dirty="0">
              <a:solidFill>
                <a:srgbClr val="FF0000"/>
              </a:solidFill>
              <a:latin typeface="Lucida Sans Unicode"/>
              <a:cs typeface="Lucida Sans Unicode"/>
            </a:endParaRPr>
          </a:p>
          <a:p>
            <a:r>
              <a:rPr lang="en-US" sz="3015" dirty="0">
                <a:latin typeface="Google Sans"/>
              </a:rPr>
              <a:t> </a:t>
            </a:r>
            <a:r>
              <a:rPr lang="en-US" sz="2800" dirty="0">
                <a:latin typeface="Google Sans"/>
              </a:rPr>
              <a:t>Hearing</a:t>
            </a:r>
            <a:r>
              <a:rPr lang="en-US" sz="2800" dirty="0">
                <a:solidFill>
                  <a:srgbClr val="FF0000"/>
                </a:solidFill>
                <a:latin typeface="Google Sans"/>
              </a:rPr>
              <a:t>:</a:t>
            </a:r>
          </a:p>
          <a:p>
            <a:pPr lvl="1">
              <a:buFont typeface="Arial" panose="020B0604020202020204" pitchFamily="34" charset="0"/>
              <a:buChar char="•"/>
            </a:pPr>
            <a:r>
              <a:rPr lang="en-US" sz="2800" dirty="0">
                <a:solidFill>
                  <a:srgbClr val="FF0000"/>
                </a:solidFill>
                <a:latin typeface="Google Sans"/>
              </a:rPr>
              <a:t>    Pitch: Distinguishing a high-pitched sound from a low-pitched sound represents different states.</a:t>
            </a:r>
          </a:p>
          <a:p>
            <a:pPr lvl="1">
              <a:buFont typeface="Arial" panose="020B0604020202020204" pitchFamily="34" charset="0"/>
              <a:buChar char="•"/>
            </a:pPr>
            <a:r>
              <a:rPr lang="en-US" sz="2800" dirty="0">
                <a:solidFill>
                  <a:srgbClr val="FF0000"/>
                </a:solidFill>
                <a:latin typeface="Google Sans"/>
              </a:rPr>
              <a:t>    Volume: Perceiving a sound as loud or soft are separate states.</a:t>
            </a:r>
            <a:endParaRPr lang="en-US" sz="2800" dirty="0">
              <a:solidFill>
                <a:srgbClr val="FF0000"/>
              </a:solidFill>
              <a:latin typeface="Lucida Sans Unicode"/>
              <a:cs typeface="Lucida Sans Unicode"/>
            </a:endParaRPr>
          </a:p>
        </p:txBody>
      </p:sp>
      <p:grpSp>
        <p:nvGrpSpPr>
          <p:cNvPr id="18" name="Group 17">
            <a:extLst>
              <a:ext uri="{FF2B5EF4-FFF2-40B4-BE49-F238E27FC236}">
                <a16:creationId xmlns:a16="http://schemas.microsoft.com/office/drawing/2014/main" id="{9AB1CDA4-A77D-F186-3AB7-2A68104B34DF}"/>
              </a:ext>
            </a:extLst>
          </p:cNvPr>
          <p:cNvGrpSpPr/>
          <p:nvPr/>
        </p:nvGrpSpPr>
        <p:grpSpPr>
          <a:xfrm>
            <a:off x="972417" y="222105"/>
            <a:ext cx="11038218" cy="3220043"/>
            <a:chOff x="988957" y="1774443"/>
            <a:chExt cx="8786745" cy="2563249"/>
          </a:xfrm>
        </p:grpSpPr>
        <p:sp>
          <p:nvSpPr>
            <p:cNvPr id="3" name="object 3"/>
            <p:cNvSpPr txBox="1"/>
            <p:nvPr/>
          </p:nvSpPr>
          <p:spPr>
            <a:xfrm>
              <a:off x="1538617" y="1774443"/>
              <a:ext cx="2112645" cy="704679"/>
            </a:xfrm>
            <a:prstGeom prst="rect">
              <a:avLst/>
            </a:prstGeom>
          </p:spPr>
          <p:txBody>
            <a:bodyPr vert="horz" wrap="square" lIns="0" tIns="0" rIns="0" bIns="0" rtlCol="0">
              <a:spAutoFit/>
            </a:bodyPr>
            <a:lstStyle/>
            <a:p>
              <a:pPr marL="15954" marR="6381">
                <a:lnSpc>
                  <a:spcPct val="120000"/>
                </a:lnSpc>
              </a:pPr>
              <a:r>
                <a:rPr sz="2512" i="1" spc="88" dirty="0">
                  <a:latin typeface="Arial"/>
                  <a:cs typeface="Arial"/>
                </a:rPr>
                <a:t>Non-existent  </a:t>
              </a:r>
              <a:r>
                <a:rPr sz="2512" i="1" spc="94" dirty="0">
                  <a:latin typeface="Arial"/>
                  <a:cs typeface="Arial"/>
                </a:rPr>
                <a:t>perceptual</a:t>
              </a:r>
              <a:r>
                <a:rPr sz="2512" i="1" spc="-138" dirty="0">
                  <a:latin typeface="Arial"/>
                  <a:cs typeface="Arial"/>
                </a:rPr>
                <a:t> </a:t>
              </a:r>
              <a:r>
                <a:rPr sz="2512" i="1" spc="113" dirty="0">
                  <a:latin typeface="Arial"/>
                  <a:cs typeface="Arial"/>
                </a:rPr>
                <a:t>ability</a:t>
              </a:r>
              <a:endParaRPr sz="2512" dirty="0">
                <a:latin typeface="Arial"/>
                <a:cs typeface="Arial"/>
              </a:endParaRPr>
            </a:p>
          </p:txBody>
        </p:sp>
        <p:sp>
          <p:nvSpPr>
            <p:cNvPr id="4" name="object 4"/>
            <p:cNvSpPr/>
            <p:nvPr/>
          </p:nvSpPr>
          <p:spPr>
            <a:xfrm>
              <a:off x="1790762" y="2909316"/>
              <a:ext cx="7220527" cy="868679"/>
            </a:xfrm>
            <a:prstGeom prst="rect">
              <a:avLst/>
            </a:prstGeom>
            <a:blipFill>
              <a:blip r:embed="rId2" cstate="print"/>
              <a:stretch>
                <a:fillRect/>
              </a:stretch>
            </a:blipFill>
          </p:spPr>
          <p:txBody>
            <a:bodyPr wrap="square" lIns="0" tIns="0" rIns="0" bIns="0" rtlCol="0"/>
            <a:lstStyle/>
            <a:p>
              <a:endParaRPr sz="2261"/>
            </a:p>
          </p:txBody>
        </p:sp>
        <p:sp>
          <p:nvSpPr>
            <p:cNvPr id="5" name="object 5"/>
            <p:cNvSpPr/>
            <p:nvPr/>
          </p:nvSpPr>
          <p:spPr>
            <a:xfrm>
              <a:off x="8749162" y="2606039"/>
              <a:ext cx="1019555" cy="1186434"/>
            </a:xfrm>
            <a:prstGeom prst="rect">
              <a:avLst/>
            </a:prstGeom>
            <a:blipFill>
              <a:blip r:embed="rId3" cstate="print"/>
              <a:stretch>
                <a:fillRect/>
              </a:stretch>
            </a:blipFill>
          </p:spPr>
          <p:txBody>
            <a:bodyPr wrap="square" lIns="0" tIns="0" rIns="0" bIns="0" rtlCol="0"/>
            <a:lstStyle/>
            <a:p>
              <a:endParaRPr sz="2261"/>
            </a:p>
          </p:txBody>
        </p:sp>
        <p:sp>
          <p:nvSpPr>
            <p:cNvPr id="6" name="object 6"/>
            <p:cNvSpPr/>
            <p:nvPr/>
          </p:nvSpPr>
          <p:spPr>
            <a:xfrm>
              <a:off x="988957" y="2606039"/>
              <a:ext cx="1019552" cy="1186434"/>
            </a:xfrm>
            <a:prstGeom prst="rect">
              <a:avLst/>
            </a:prstGeom>
            <a:blipFill>
              <a:blip r:embed="rId4" cstate="print"/>
              <a:stretch>
                <a:fillRect/>
              </a:stretch>
            </a:blipFill>
          </p:spPr>
          <p:txBody>
            <a:bodyPr wrap="square" lIns="0" tIns="0" rIns="0" bIns="0" rtlCol="0"/>
            <a:lstStyle/>
            <a:p>
              <a:endParaRPr sz="2261"/>
            </a:p>
          </p:txBody>
        </p:sp>
        <p:sp>
          <p:nvSpPr>
            <p:cNvPr id="7" name="object 7"/>
            <p:cNvSpPr txBox="1"/>
            <p:nvPr/>
          </p:nvSpPr>
          <p:spPr>
            <a:xfrm>
              <a:off x="1604149" y="3496562"/>
              <a:ext cx="492125" cy="307730"/>
            </a:xfrm>
            <a:prstGeom prst="rect">
              <a:avLst/>
            </a:prstGeom>
          </p:spPr>
          <p:txBody>
            <a:bodyPr vert="horz" wrap="square" lIns="0" tIns="0" rIns="0" bIns="0" rtlCol="0">
              <a:spAutoFit/>
            </a:bodyPr>
            <a:lstStyle/>
            <a:p>
              <a:pPr marL="15954"/>
              <a:r>
                <a:rPr sz="2512" dirty="0">
                  <a:latin typeface="Arial"/>
                  <a:cs typeface="Arial"/>
                </a:rPr>
                <a:t>M</a:t>
              </a:r>
              <a:r>
                <a:rPr sz="2512" spc="-13" dirty="0">
                  <a:latin typeface="Arial"/>
                  <a:cs typeface="Arial"/>
                </a:rPr>
                <a:t>I</a:t>
              </a:r>
              <a:r>
                <a:rPr sz="2512" spc="6" dirty="0">
                  <a:latin typeface="Arial"/>
                  <a:cs typeface="Arial"/>
                </a:rPr>
                <a:t>N</a:t>
              </a:r>
              <a:endParaRPr sz="2512">
                <a:latin typeface="Arial"/>
                <a:cs typeface="Arial"/>
              </a:endParaRPr>
            </a:p>
          </p:txBody>
        </p:sp>
        <p:sp>
          <p:nvSpPr>
            <p:cNvPr id="8" name="object 8"/>
            <p:cNvSpPr txBox="1"/>
            <p:nvPr/>
          </p:nvSpPr>
          <p:spPr>
            <a:xfrm>
              <a:off x="8375278" y="3479798"/>
              <a:ext cx="591185" cy="307730"/>
            </a:xfrm>
            <a:prstGeom prst="rect">
              <a:avLst/>
            </a:prstGeom>
          </p:spPr>
          <p:txBody>
            <a:bodyPr vert="horz" wrap="square" lIns="0" tIns="0" rIns="0" bIns="0" rtlCol="0">
              <a:spAutoFit/>
            </a:bodyPr>
            <a:lstStyle/>
            <a:p>
              <a:pPr marL="15954"/>
              <a:r>
                <a:rPr sz="2512" dirty="0">
                  <a:latin typeface="Arial"/>
                  <a:cs typeface="Arial"/>
                </a:rPr>
                <a:t>M</a:t>
              </a:r>
              <a:r>
                <a:rPr sz="2512" spc="143" dirty="0">
                  <a:latin typeface="Arial"/>
                  <a:cs typeface="Arial"/>
                </a:rPr>
                <a:t>A</a:t>
              </a:r>
              <a:r>
                <a:rPr sz="2512" spc="-6" dirty="0">
                  <a:latin typeface="Arial"/>
                  <a:cs typeface="Arial"/>
                </a:rPr>
                <a:t>X</a:t>
              </a:r>
              <a:endParaRPr sz="2512">
                <a:latin typeface="Arial"/>
                <a:cs typeface="Arial"/>
              </a:endParaRPr>
            </a:p>
          </p:txBody>
        </p:sp>
        <p:sp>
          <p:nvSpPr>
            <p:cNvPr id="9" name="object 9"/>
            <p:cNvSpPr txBox="1"/>
            <p:nvPr/>
          </p:nvSpPr>
          <p:spPr>
            <a:xfrm>
              <a:off x="8328034" y="2201162"/>
              <a:ext cx="1410970" cy="307730"/>
            </a:xfrm>
            <a:prstGeom prst="rect">
              <a:avLst/>
            </a:prstGeom>
          </p:spPr>
          <p:txBody>
            <a:bodyPr vert="horz" wrap="square" lIns="0" tIns="0" rIns="0" bIns="0" rtlCol="0">
              <a:spAutoFit/>
            </a:bodyPr>
            <a:lstStyle/>
            <a:p>
              <a:pPr marL="15954"/>
              <a:r>
                <a:rPr sz="2512" i="1" spc="107" dirty="0">
                  <a:latin typeface="Arial"/>
                  <a:cs typeface="Arial"/>
                </a:rPr>
                <a:t>Omniscient</a:t>
              </a:r>
              <a:endParaRPr sz="2512">
                <a:latin typeface="Arial"/>
                <a:cs typeface="Arial"/>
              </a:endParaRPr>
            </a:p>
          </p:txBody>
        </p:sp>
        <p:sp>
          <p:nvSpPr>
            <p:cNvPr id="12" name="object 12"/>
            <p:cNvSpPr/>
            <p:nvPr/>
          </p:nvSpPr>
          <p:spPr>
            <a:xfrm>
              <a:off x="1415677" y="3899153"/>
              <a:ext cx="7842884" cy="0"/>
            </a:xfrm>
            <a:custGeom>
              <a:avLst/>
              <a:gdLst/>
              <a:ahLst/>
              <a:cxnLst/>
              <a:rect l="l" t="t" r="r" b="b"/>
              <a:pathLst>
                <a:path w="7842884">
                  <a:moveTo>
                    <a:pt x="0" y="0"/>
                  </a:moveTo>
                  <a:lnTo>
                    <a:pt x="7842503" y="0"/>
                  </a:lnTo>
                </a:path>
              </a:pathLst>
            </a:custGeom>
            <a:ln w="56387">
              <a:solidFill>
                <a:srgbClr val="7F7F00"/>
              </a:solidFill>
            </a:ln>
          </p:spPr>
          <p:txBody>
            <a:bodyPr wrap="square" lIns="0" tIns="0" rIns="0" bIns="0" rtlCol="0"/>
            <a:lstStyle/>
            <a:p>
              <a:endParaRPr sz="2261"/>
            </a:p>
          </p:txBody>
        </p:sp>
        <p:sp>
          <p:nvSpPr>
            <p:cNvPr id="13" name="object 13"/>
            <p:cNvSpPr/>
            <p:nvPr/>
          </p:nvSpPr>
          <p:spPr>
            <a:xfrm>
              <a:off x="9258939" y="3777996"/>
              <a:ext cx="0" cy="213360"/>
            </a:xfrm>
            <a:custGeom>
              <a:avLst/>
              <a:gdLst/>
              <a:ahLst/>
              <a:cxnLst/>
              <a:rect l="l" t="t" r="r" b="b"/>
              <a:pathLst>
                <a:path h="213360">
                  <a:moveTo>
                    <a:pt x="0" y="0"/>
                  </a:moveTo>
                  <a:lnTo>
                    <a:pt x="0" y="213359"/>
                  </a:lnTo>
                </a:path>
              </a:pathLst>
            </a:custGeom>
            <a:ln w="28955">
              <a:solidFill>
                <a:srgbClr val="7F7F00"/>
              </a:solidFill>
            </a:ln>
          </p:spPr>
          <p:txBody>
            <a:bodyPr wrap="square" lIns="0" tIns="0" rIns="0" bIns="0" rtlCol="0"/>
            <a:lstStyle/>
            <a:p>
              <a:endParaRPr sz="2261"/>
            </a:p>
          </p:txBody>
        </p:sp>
        <p:sp>
          <p:nvSpPr>
            <p:cNvPr id="14" name="object 14"/>
            <p:cNvSpPr/>
            <p:nvPr/>
          </p:nvSpPr>
          <p:spPr>
            <a:xfrm>
              <a:off x="1416439" y="3777996"/>
              <a:ext cx="0" cy="213360"/>
            </a:xfrm>
            <a:custGeom>
              <a:avLst/>
              <a:gdLst/>
              <a:ahLst/>
              <a:cxnLst/>
              <a:rect l="l" t="t" r="r" b="b"/>
              <a:pathLst>
                <a:path h="213360">
                  <a:moveTo>
                    <a:pt x="0" y="0"/>
                  </a:moveTo>
                  <a:lnTo>
                    <a:pt x="0" y="213359"/>
                  </a:lnTo>
                </a:path>
              </a:pathLst>
            </a:custGeom>
            <a:ln w="28955">
              <a:solidFill>
                <a:srgbClr val="7F7F00"/>
              </a:solidFill>
            </a:ln>
          </p:spPr>
          <p:txBody>
            <a:bodyPr wrap="square" lIns="0" tIns="0" rIns="0" bIns="0" rtlCol="0"/>
            <a:lstStyle/>
            <a:p>
              <a:endParaRPr sz="2261"/>
            </a:p>
          </p:txBody>
        </p:sp>
        <p:sp>
          <p:nvSpPr>
            <p:cNvPr id="15" name="object 15"/>
            <p:cNvSpPr txBox="1"/>
            <p:nvPr/>
          </p:nvSpPr>
          <p:spPr>
            <a:xfrm>
              <a:off x="1121036" y="4029962"/>
              <a:ext cx="904875" cy="307730"/>
            </a:xfrm>
            <a:prstGeom prst="rect">
              <a:avLst/>
            </a:prstGeom>
          </p:spPr>
          <p:txBody>
            <a:bodyPr vert="horz" wrap="square" lIns="0" tIns="0" rIns="0" bIns="0" rtlCol="0">
              <a:spAutoFit/>
            </a:bodyPr>
            <a:lstStyle/>
            <a:p>
              <a:pPr marL="15954"/>
              <a:r>
                <a:rPr sz="2512" spc="50" dirty="0">
                  <a:latin typeface="Arial"/>
                  <a:cs typeface="Arial"/>
                </a:rPr>
                <a:t>| </a:t>
              </a:r>
              <a:r>
                <a:rPr sz="2512" i="1" spc="-6" dirty="0">
                  <a:latin typeface="Arial"/>
                  <a:cs typeface="Arial"/>
                </a:rPr>
                <a:t>E </a:t>
              </a:r>
              <a:r>
                <a:rPr sz="2512" spc="50" dirty="0">
                  <a:latin typeface="Arial"/>
                  <a:cs typeface="Arial"/>
                </a:rPr>
                <a:t>| </a:t>
              </a:r>
              <a:r>
                <a:rPr sz="2512" spc="6" dirty="0">
                  <a:latin typeface="Arial"/>
                  <a:cs typeface="Arial"/>
                </a:rPr>
                <a:t>=</a:t>
              </a:r>
              <a:r>
                <a:rPr sz="2512" spc="-276" dirty="0">
                  <a:latin typeface="Arial"/>
                  <a:cs typeface="Arial"/>
                </a:rPr>
                <a:t> </a:t>
              </a:r>
              <a:r>
                <a:rPr sz="2512" dirty="0">
                  <a:latin typeface="Arial"/>
                  <a:cs typeface="Arial"/>
                </a:rPr>
                <a:t>1</a:t>
              </a:r>
              <a:endParaRPr sz="2512">
                <a:latin typeface="Arial"/>
                <a:cs typeface="Arial"/>
              </a:endParaRPr>
            </a:p>
          </p:txBody>
        </p:sp>
        <p:sp>
          <p:nvSpPr>
            <p:cNvPr id="16" name="object 16"/>
            <p:cNvSpPr txBox="1"/>
            <p:nvPr/>
          </p:nvSpPr>
          <p:spPr>
            <a:xfrm>
              <a:off x="8559677" y="4029962"/>
              <a:ext cx="1216025" cy="307730"/>
            </a:xfrm>
            <a:prstGeom prst="rect">
              <a:avLst/>
            </a:prstGeom>
          </p:spPr>
          <p:txBody>
            <a:bodyPr vert="horz" wrap="square" lIns="0" tIns="0" rIns="0" bIns="0" rtlCol="0">
              <a:spAutoFit/>
            </a:bodyPr>
            <a:lstStyle/>
            <a:p>
              <a:pPr marL="15954"/>
              <a:r>
                <a:rPr sz="2512" spc="50" dirty="0">
                  <a:latin typeface="Arial"/>
                  <a:cs typeface="Arial"/>
                </a:rPr>
                <a:t>| </a:t>
              </a:r>
              <a:r>
                <a:rPr sz="2512" i="1" spc="-6" dirty="0">
                  <a:latin typeface="Arial"/>
                  <a:cs typeface="Arial"/>
                </a:rPr>
                <a:t>E </a:t>
              </a:r>
              <a:r>
                <a:rPr sz="2512" spc="50" dirty="0">
                  <a:latin typeface="Arial"/>
                  <a:cs typeface="Arial"/>
                </a:rPr>
                <a:t>| </a:t>
              </a:r>
              <a:r>
                <a:rPr sz="2512" spc="6" dirty="0">
                  <a:latin typeface="Arial"/>
                  <a:cs typeface="Arial"/>
                </a:rPr>
                <a:t>= </a:t>
              </a:r>
              <a:r>
                <a:rPr sz="2512" spc="50" dirty="0">
                  <a:latin typeface="Arial"/>
                  <a:cs typeface="Arial"/>
                </a:rPr>
                <a:t>| </a:t>
              </a:r>
              <a:r>
                <a:rPr sz="2512" i="1" spc="-6" dirty="0">
                  <a:latin typeface="Arial"/>
                  <a:cs typeface="Arial"/>
                </a:rPr>
                <a:t>S</a:t>
              </a:r>
              <a:r>
                <a:rPr sz="2512" i="1" spc="-333" dirty="0">
                  <a:latin typeface="Arial"/>
                  <a:cs typeface="Arial"/>
                </a:rPr>
                <a:t> </a:t>
              </a:r>
              <a:r>
                <a:rPr sz="2512" spc="50" dirty="0">
                  <a:latin typeface="Arial"/>
                  <a:cs typeface="Arial"/>
                </a:rPr>
                <a:t>|</a:t>
              </a:r>
              <a:endParaRPr sz="2512">
                <a:latin typeface="Arial"/>
                <a:cs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63D889-D7EC-B583-D3B1-B047BA5E6C1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EA7D9B5-25F2-1350-7640-A520FD5EAEE1}"/>
              </a:ext>
            </a:extLst>
          </p:cNvPr>
          <p:cNvSpPr txBox="1">
            <a:spLocks noGrp="1"/>
          </p:cNvSpPr>
          <p:nvPr>
            <p:ph type="title"/>
          </p:nvPr>
        </p:nvSpPr>
        <p:spPr>
          <a:xfrm>
            <a:off x="4032611" y="92183"/>
            <a:ext cx="6061066" cy="850554"/>
          </a:xfrm>
          <a:prstGeom prst="rect">
            <a:avLst/>
          </a:prstGeom>
        </p:spPr>
        <p:txBody>
          <a:bodyPr vert="horz" wrap="square" lIns="0" tIns="0" rIns="0" bIns="0" rtlCol="0">
            <a:spAutoFit/>
          </a:bodyPr>
          <a:lstStyle/>
          <a:p>
            <a:pPr marL="15954"/>
            <a:r>
              <a:rPr spc="-19" dirty="0"/>
              <a:t>Perception</a:t>
            </a:r>
            <a:r>
              <a:rPr spc="-138" dirty="0"/>
              <a:t> </a:t>
            </a:r>
            <a:r>
              <a:rPr spc="-6" dirty="0"/>
              <a:t>ability</a:t>
            </a:r>
          </a:p>
        </p:txBody>
      </p:sp>
      <p:sp>
        <p:nvSpPr>
          <p:cNvPr id="11" name="object 11">
            <a:extLst>
              <a:ext uri="{FF2B5EF4-FFF2-40B4-BE49-F238E27FC236}">
                <a16:creationId xmlns:a16="http://schemas.microsoft.com/office/drawing/2014/main" id="{2942B5DD-BDBD-DB2C-E4AF-8231CBB4391B}"/>
              </a:ext>
            </a:extLst>
          </p:cNvPr>
          <p:cNvSpPr txBox="1"/>
          <p:nvPr/>
        </p:nvSpPr>
        <p:spPr>
          <a:xfrm>
            <a:off x="207406" y="3452554"/>
            <a:ext cx="13226019" cy="4480778"/>
          </a:xfrm>
          <a:prstGeom prst="rect">
            <a:avLst/>
          </a:prstGeom>
        </p:spPr>
        <p:txBody>
          <a:bodyPr vert="horz" wrap="square" lIns="0" tIns="0" rIns="0" bIns="0" rtlCol="0">
            <a:spAutoFit/>
          </a:bodyPr>
          <a:lstStyle/>
          <a:p>
            <a:pPr marL="590288" indent="-574335">
              <a:spcBef>
                <a:spcPts val="2569"/>
              </a:spcBef>
              <a:buFont typeface="Arial" panose="020B0604020202020204" pitchFamily="34" charset="0"/>
              <a:buChar char="•"/>
            </a:pPr>
            <a:r>
              <a:rPr lang="en-US" sz="3200" spc="-75" dirty="0">
                <a:latin typeface="Arial"/>
                <a:cs typeface="Arial"/>
              </a:rPr>
              <a:t>Two </a:t>
            </a:r>
            <a:r>
              <a:rPr lang="en-US" sz="3200" spc="-13" dirty="0">
                <a:latin typeface="Arial"/>
                <a:cs typeface="Arial"/>
              </a:rPr>
              <a:t>different </a:t>
            </a:r>
            <a:r>
              <a:rPr lang="en-US" sz="3200" dirty="0">
                <a:latin typeface="Arial"/>
                <a:cs typeface="Arial"/>
              </a:rPr>
              <a:t>states </a:t>
            </a:r>
            <a:r>
              <a:rPr lang="en-US" sz="3200" i="1" spc="-25" dirty="0">
                <a:solidFill>
                  <a:srgbClr val="7F7F00"/>
                </a:solidFill>
                <a:latin typeface="Arial"/>
                <a:cs typeface="Arial"/>
              </a:rPr>
              <a:t>s</a:t>
            </a:r>
            <a:r>
              <a:rPr lang="en-US" sz="3200" i="1" spc="-38" baseline="-21021" dirty="0">
                <a:solidFill>
                  <a:srgbClr val="7F7F00"/>
                </a:solidFill>
                <a:latin typeface="Arial"/>
                <a:cs typeface="Arial"/>
              </a:rPr>
              <a:t>1</a:t>
            </a:r>
            <a:r>
              <a:rPr lang="en-US" sz="3200" spc="-25" dirty="0">
                <a:solidFill>
                  <a:srgbClr val="7F7F00"/>
                </a:solidFill>
                <a:latin typeface="Lucida Sans Unicode"/>
                <a:cs typeface="Lucida Sans Unicode"/>
              </a:rPr>
              <a:t>∈ </a:t>
            </a:r>
            <a:r>
              <a:rPr lang="en-US" sz="3200" i="1" spc="-13" dirty="0">
                <a:solidFill>
                  <a:srgbClr val="7F7F00"/>
                </a:solidFill>
                <a:latin typeface="Arial"/>
                <a:cs typeface="Arial"/>
              </a:rPr>
              <a:t>S </a:t>
            </a:r>
            <a:r>
              <a:rPr lang="en-US" sz="3200" spc="-6" dirty="0">
                <a:latin typeface="Arial"/>
                <a:cs typeface="Arial"/>
              </a:rPr>
              <a:t>and </a:t>
            </a:r>
            <a:r>
              <a:rPr lang="en-US" sz="3200" i="1" spc="107" dirty="0">
                <a:solidFill>
                  <a:srgbClr val="7F7F00"/>
                </a:solidFill>
                <a:latin typeface="Arial"/>
                <a:cs typeface="Arial"/>
              </a:rPr>
              <a:t>s</a:t>
            </a:r>
            <a:r>
              <a:rPr lang="en-US" sz="3200" i="1" spc="160" baseline="-21021" dirty="0">
                <a:solidFill>
                  <a:srgbClr val="7F7F00"/>
                </a:solidFill>
                <a:latin typeface="Arial"/>
                <a:cs typeface="Arial"/>
              </a:rPr>
              <a:t>2 </a:t>
            </a:r>
            <a:r>
              <a:rPr lang="en-US" sz="3200" spc="-283" dirty="0">
                <a:solidFill>
                  <a:srgbClr val="7F7F00"/>
                </a:solidFill>
                <a:latin typeface="Lucida Sans Unicode"/>
                <a:cs typeface="Lucida Sans Unicode"/>
              </a:rPr>
              <a:t>∈ </a:t>
            </a:r>
            <a:r>
              <a:rPr lang="en-US" sz="3200" i="1" spc="-13" dirty="0">
                <a:solidFill>
                  <a:srgbClr val="7F7F00"/>
                </a:solidFill>
                <a:latin typeface="Arial"/>
                <a:cs typeface="Arial"/>
              </a:rPr>
              <a:t>S </a:t>
            </a:r>
            <a:r>
              <a:rPr lang="en-US" sz="3200" spc="-6" dirty="0">
                <a:latin typeface="Arial"/>
                <a:cs typeface="Arial"/>
              </a:rPr>
              <a:t>(with </a:t>
            </a:r>
            <a:r>
              <a:rPr lang="en-US" sz="3200" i="1" spc="107" dirty="0">
                <a:solidFill>
                  <a:srgbClr val="7F7F00"/>
                </a:solidFill>
                <a:latin typeface="Arial"/>
                <a:cs typeface="Arial"/>
              </a:rPr>
              <a:t>s</a:t>
            </a:r>
            <a:r>
              <a:rPr lang="en-US" sz="3200" i="1" spc="160" baseline="-21021" dirty="0">
                <a:solidFill>
                  <a:srgbClr val="7F7F00"/>
                </a:solidFill>
                <a:latin typeface="Arial"/>
                <a:cs typeface="Arial"/>
              </a:rPr>
              <a:t>1 </a:t>
            </a:r>
            <a:r>
              <a:rPr lang="en-US" sz="3200" spc="-854" dirty="0">
                <a:solidFill>
                  <a:srgbClr val="7F7F00"/>
                </a:solidFill>
                <a:latin typeface="Lucida Sans Unicode"/>
                <a:cs typeface="Lucida Sans Unicode"/>
              </a:rPr>
              <a:t>≠    </a:t>
            </a:r>
            <a:r>
              <a:rPr lang="en-US" sz="3200" i="1" spc="69" dirty="0">
                <a:solidFill>
                  <a:srgbClr val="7F7F00"/>
                </a:solidFill>
                <a:latin typeface="Arial"/>
                <a:cs typeface="Arial"/>
              </a:rPr>
              <a:t>s</a:t>
            </a:r>
            <a:r>
              <a:rPr lang="en-US" sz="3200" i="1" spc="103" baseline="-21021" dirty="0">
                <a:solidFill>
                  <a:srgbClr val="7F7F00"/>
                </a:solidFill>
                <a:latin typeface="Arial"/>
                <a:cs typeface="Arial"/>
              </a:rPr>
              <a:t>2</a:t>
            </a:r>
            <a:r>
              <a:rPr lang="en-US" sz="3200" spc="69" dirty="0">
                <a:latin typeface="Arial"/>
                <a:cs typeface="Arial"/>
              </a:rPr>
              <a:t>)</a:t>
            </a:r>
            <a:r>
              <a:rPr lang="en-US" sz="3200" spc="446" dirty="0">
                <a:latin typeface="Arial"/>
                <a:cs typeface="Arial"/>
              </a:rPr>
              <a:t> </a:t>
            </a:r>
            <a:r>
              <a:rPr lang="en-US" sz="3200" dirty="0">
                <a:latin typeface="Arial"/>
                <a:cs typeface="Arial"/>
              </a:rPr>
              <a:t>are</a:t>
            </a:r>
          </a:p>
          <a:p>
            <a:pPr marL="15954"/>
            <a:r>
              <a:rPr lang="en-US" sz="3200" i="1" spc="163" dirty="0">
                <a:latin typeface="Arial"/>
                <a:cs typeface="Arial"/>
              </a:rPr>
              <a:t>indistinguishable </a:t>
            </a:r>
            <a:r>
              <a:rPr lang="en-US" sz="3200" spc="-6" dirty="0">
                <a:latin typeface="Arial"/>
                <a:cs typeface="Arial"/>
              </a:rPr>
              <a:t>if </a:t>
            </a:r>
            <a:r>
              <a:rPr lang="en-US" sz="3200" i="1" spc="44" dirty="0">
                <a:solidFill>
                  <a:srgbClr val="7F7F00"/>
                </a:solidFill>
                <a:latin typeface="Arial"/>
                <a:cs typeface="Arial"/>
              </a:rPr>
              <a:t>see( </a:t>
            </a:r>
            <a:r>
              <a:rPr lang="en-US" sz="3200" i="1" spc="107" dirty="0">
                <a:solidFill>
                  <a:srgbClr val="7F7F00"/>
                </a:solidFill>
                <a:latin typeface="Arial"/>
                <a:cs typeface="Arial"/>
              </a:rPr>
              <a:t>s</a:t>
            </a:r>
            <a:r>
              <a:rPr lang="en-US" sz="3200" i="1" spc="160" baseline="-21021" dirty="0">
                <a:solidFill>
                  <a:srgbClr val="7F7F00"/>
                </a:solidFill>
                <a:latin typeface="Arial"/>
                <a:cs typeface="Arial"/>
              </a:rPr>
              <a:t>1 </a:t>
            </a:r>
            <a:r>
              <a:rPr lang="en-US" sz="3200" i="1" dirty="0">
                <a:solidFill>
                  <a:srgbClr val="7F7F00"/>
                </a:solidFill>
                <a:latin typeface="Arial"/>
                <a:cs typeface="Arial"/>
              </a:rPr>
              <a:t>) </a:t>
            </a:r>
            <a:r>
              <a:rPr lang="en-US" sz="3200" i="1" spc="-6" dirty="0">
                <a:solidFill>
                  <a:srgbClr val="7F7F00"/>
                </a:solidFill>
                <a:latin typeface="Arial"/>
                <a:cs typeface="Arial"/>
              </a:rPr>
              <a:t>= </a:t>
            </a:r>
            <a:r>
              <a:rPr lang="en-US" sz="3200" i="1" spc="44" dirty="0">
                <a:solidFill>
                  <a:srgbClr val="7F7F00"/>
                </a:solidFill>
                <a:latin typeface="Arial"/>
                <a:cs typeface="Arial"/>
              </a:rPr>
              <a:t>see( </a:t>
            </a:r>
            <a:r>
              <a:rPr lang="en-US" sz="3200" i="1" spc="107" dirty="0">
                <a:solidFill>
                  <a:srgbClr val="7F7F00"/>
                </a:solidFill>
                <a:latin typeface="Arial"/>
                <a:cs typeface="Arial"/>
              </a:rPr>
              <a:t>s</a:t>
            </a:r>
            <a:r>
              <a:rPr lang="en-US" sz="3200" i="1" spc="160" baseline="-21021" dirty="0">
                <a:solidFill>
                  <a:srgbClr val="7F7F00"/>
                </a:solidFill>
                <a:latin typeface="Arial"/>
                <a:cs typeface="Arial"/>
              </a:rPr>
              <a:t>2</a:t>
            </a:r>
            <a:r>
              <a:rPr lang="en-US" sz="3200" i="1" spc="480" baseline="-21021" dirty="0">
                <a:solidFill>
                  <a:srgbClr val="7F7F00"/>
                </a:solidFill>
                <a:latin typeface="Arial"/>
                <a:cs typeface="Arial"/>
              </a:rPr>
              <a:t> </a:t>
            </a:r>
            <a:r>
              <a:rPr lang="en-US" sz="3200" i="1" dirty="0">
                <a:solidFill>
                  <a:srgbClr val="7F7F00"/>
                </a:solidFill>
                <a:latin typeface="Arial"/>
                <a:cs typeface="Arial"/>
              </a:rPr>
              <a:t>).</a:t>
            </a:r>
          </a:p>
          <a:p>
            <a:pPr marL="590288" indent="-574335">
              <a:buFont typeface="Arial" panose="020B0604020202020204" pitchFamily="34" charset="0"/>
              <a:buChar char="•"/>
            </a:pPr>
            <a:endParaRPr lang="en-US" sz="3200" i="1" dirty="0">
              <a:solidFill>
                <a:srgbClr val="7F7F00"/>
              </a:solidFill>
              <a:latin typeface="Arial"/>
              <a:cs typeface="Arial"/>
            </a:endParaRPr>
          </a:p>
          <a:p>
            <a:pPr marL="590288" indent="-574335">
              <a:buFont typeface="Arial" panose="020B0604020202020204" pitchFamily="34" charset="0"/>
              <a:buChar char="•"/>
            </a:pPr>
            <a:r>
              <a:rPr lang="en-US" sz="3200" spc="-13" dirty="0">
                <a:latin typeface="Arial"/>
                <a:cs typeface="Arial"/>
              </a:rPr>
              <a:t>s₁ and s₂ are indistinguishable if they are perceived the same way. </a:t>
            </a:r>
          </a:p>
          <a:p>
            <a:pPr marL="590288" indent="-574335">
              <a:buFont typeface="Arial" panose="020B0604020202020204" pitchFamily="34" charset="0"/>
              <a:buChar char="•"/>
            </a:pPr>
            <a:endParaRPr lang="en-US" sz="3200" spc="-13" dirty="0">
              <a:latin typeface="Arial"/>
              <a:cs typeface="Arial"/>
            </a:endParaRPr>
          </a:p>
          <a:p>
            <a:pPr marL="590288" indent="-574335">
              <a:buFont typeface="Arial" panose="020B0604020202020204" pitchFamily="34" charset="0"/>
              <a:buChar char="•"/>
            </a:pPr>
            <a:r>
              <a:rPr lang="en-US" sz="3200" spc="-13" dirty="0">
                <a:latin typeface="Arial"/>
                <a:cs typeface="Arial"/>
              </a:rPr>
              <a:t>This means that someone with limited perception ability might not be able to tell the difference between certain states, even if they are objectively different.</a:t>
            </a:r>
            <a:endParaRPr lang="en-US" sz="3200" i="1" dirty="0">
              <a:solidFill>
                <a:srgbClr val="7F7F00"/>
              </a:solidFill>
              <a:latin typeface="Arial"/>
              <a:cs typeface="Arial"/>
            </a:endParaRPr>
          </a:p>
          <a:p>
            <a:pPr marL="15954"/>
            <a:endParaRPr lang="en-US" sz="3517" dirty="0">
              <a:latin typeface="Arial"/>
              <a:cs typeface="Arial"/>
            </a:endParaRPr>
          </a:p>
        </p:txBody>
      </p:sp>
      <p:grpSp>
        <p:nvGrpSpPr>
          <p:cNvPr id="18" name="Group 17">
            <a:extLst>
              <a:ext uri="{FF2B5EF4-FFF2-40B4-BE49-F238E27FC236}">
                <a16:creationId xmlns:a16="http://schemas.microsoft.com/office/drawing/2014/main" id="{23903C3D-CCA1-BBA5-A85D-0CDE2238400B}"/>
              </a:ext>
            </a:extLst>
          </p:cNvPr>
          <p:cNvGrpSpPr/>
          <p:nvPr/>
        </p:nvGrpSpPr>
        <p:grpSpPr>
          <a:xfrm>
            <a:off x="993765" y="0"/>
            <a:ext cx="11038218" cy="3003924"/>
            <a:chOff x="988957" y="1946480"/>
            <a:chExt cx="8786745" cy="2391212"/>
          </a:xfrm>
        </p:grpSpPr>
        <p:sp>
          <p:nvSpPr>
            <p:cNvPr id="3" name="object 3">
              <a:extLst>
                <a:ext uri="{FF2B5EF4-FFF2-40B4-BE49-F238E27FC236}">
                  <a16:creationId xmlns:a16="http://schemas.microsoft.com/office/drawing/2014/main" id="{7D6CE075-8370-49D3-736B-B005A7B913B5}"/>
                </a:ext>
              </a:extLst>
            </p:cNvPr>
            <p:cNvSpPr txBox="1"/>
            <p:nvPr/>
          </p:nvSpPr>
          <p:spPr>
            <a:xfrm>
              <a:off x="1320465" y="1946480"/>
              <a:ext cx="2413349" cy="704679"/>
            </a:xfrm>
            <a:prstGeom prst="rect">
              <a:avLst/>
            </a:prstGeom>
          </p:spPr>
          <p:txBody>
            <a:bodyPr vert="horz" wrap="square" lIns="0" tIns="0" rIns="0" bIns="0" rtlCol="0">
              <a:spAutoFit/>
            </a:bodyPr>
            <a:lstStyle/>
            <a:p>
              <a:pPr marL="15954" marR="6381">
                <a:lnSpc>
                  <a:spcPct val="120000"/>
                </a:lnSpc>
              </a:pPr>
              <a:r>
                <a:rPr sz="2512" i="1" spc="88" dirty="0">
                  <a:latin typeface="Arial"/>
                  <a:cs typeface="Arial"/>
                </a:rPr>
                <a:t>Non-existent  </a:t>
              </a:r>
              <a:r>
                <a:rPr sz="2512" i="1" spc="94" dirty="0">
                  <a:latin typeface="Arial"/>
                  <a:cs typeface="Arial"/>
                </a:rPr>
                <a:t>perceptual</a:t>
              </a:r>
              <a:r>
                <a:rPr sz="2512" i="1" spc="-138" dirty="0">
                  <a:latin typeface="Arial"/>
                  <a:cs typeface="Arial"/>
                </a:rPr>
                <a:t> </a:t>
              </a:r>
              <a:r>
                <a:rPr sz="2512" i="1" spc="113" dirty="0">
                  <a:latin typeface="Arial"/>
                  <a:cs typeface="Arial"/>
                </a:rPr>
                <a:t>ability</a:t>
              </a:r>
              <a:endParaRPr sz="2512" dirty="0">
                <a:latin typeface="Arial"/>
                <a:cs typeface="Arial"/>
              </a:endParaRPr>
            </a:p>
          </p:txBody>
        </p:sp>
        <p:sp>
          <p:nvSpPr>
            <p:cNvPr id="4" name="object 4">
              <a:extLst>
                <a:ext uri="{FF2B5EF4-FFF2-40B4-BE49-F238E27FC236}">
                  <a16:creationId xmlns:a16="http://schemas.microsoft.com/office/drawing/2014/main" id="{E63F86CA-2092-04D2-F274-B734E85F373E}"/>
                </a:ext>
              </a:extLst>
            </p:cNvPr>
            <p:cNvSpPr/>
            <p:nvPr/>
          </p:nvSpPr>
          <p:spPr>
            <a:xfrm>
              <a:off x="1790762" y="2909316"/>
              <a:ext cx="7220527" cy="868679"/>
            </a:xfrm>
            <a:prstGeom prst="rect">
              <a:avLst/>
            </a:prstGeom>
            <a:blipFill>
              <a:blip r:embed="rId3" cstate="print"/>
              <a:stretch>
                <a:fillRect/>
              </a:stretch>
            </a:blipFill>
          </p:spPr>
          <p:txBody>
            <a:bodyPr wrap="square" lIns="0" tIns="0" rIns="0" bIns="0" rtlCol="0"/>
            <a:lstStyle/>
            <a:p>
              <a:endParaRPr sz="2261"/>
            </a:p>
          </p:txBody>
        </p:sp>
        <p:sp>
          <p:nvSpPr>
            <p:cNvPr id="5" name="object 5">
              <a:extLst>
                <a:ext uri="{FF2B5EF4-FFF2-40B4-BE49-F238E27FC236}">
                  <a16:creationId xmlns:a16="http://schemas.microsoft.com/office/drawing/2014/main" id="{03647434-2820-5278-71F7-F869712D00CE}"/>
                </a:ext>
              </a:extLst>
            </p:cNvPr>
            <p:cNvSpPr/>
            <p:nvPr/>
          </p:nvSpPr>
          <p:spPr>
            <a:xfrm>
              <a:off x="8749162" y="2606039"/>
              <a:ext cx="1019555" cy="1186434"/>
            </a:xfrm>
            <a:prstGeom prst="rect">
              <a:avLst/>
            </a:prstGeom>
            <a:blipFill>
              <a:blip r:embed="rId4" cstate="print"/>
              <a:stretch>
                <a:fillRect/>
              </a:stretch>
            </a:blipFill>
          </p:spPr>
          <p:txBody>
            <a:bodyPr wrap="square" lIns="0" tIns="0" rIns="0" bIns="0" rtlCol="0"/>
            <a:lstStyle/>
            <a:p>
              <a:endParaRPr sz="2261"/>
            </a:p>
          </p:txBody>
        </p:sp>
        <p:sp>
          <p:nvSpPr>
            <p:cNvPr id="6" name="object 6">
              <a:extLst>
                <a:ext uri="{FF2B5EF4-FFF2-40B4-BE49-F238E27FC236}">
                  <a16:creationId xmlns:a16="http://schemas.microsoft.com/office/drawing/2014/main" id="{B33F5884-30BD-DF53-42C2-4FF3A8610081}"/>
                </a:ext>
              </a:extLst>
            </p:cNvPr>
            <p:cNvSpPr/>
            <p:nvPr/>
          </p:nvSpPr>
          <p:spPr>
            <a:xfrm>
              <a:off x="988957" y="2606039"/>
              <a:ext cx="1019552" cy="1186434"/>
            </a:xfrm>
            <a:prstGeom prst="rect">
              <a:avLst/>
            </a:prstGeom>
            <a:blipFill>
              <a:blip r:embed="rId5" cstate="print"/>
              <a:stretch>
                <a:fillRect/>
              </a:stretch>
            </a:blipFill>
          </p:spPr>
          <p:txBody>
            <a:bodyPr wrap="square" lIns="0" tIns="0" rIns="0" bIns="0" rtlCol="0"/>
            <a:lstStyle/>
            <a:p>
              <a:endParaRPr sz="2261"/>
            </a:p>
          </p:txBody>
        </p:sp>
        <p:sp>
          <p:nvSpPr>
            <p:cNvPr id="7" name="object 7">
              <a:extLst>
                <a:ext uri="{FF2B5EF4-FFF2-40B4-BE49-F238E27FC236}">
                  <a16:creationId xmlns:a16="http://schemas.microsoft.com/office/drawing/2014/main" id="{B9CB190C-A54E-3E42-CB6F-4F077D1A9DAD}"/>
                </a:ext>
              </a:extLst>
            </p:cNvPr>
            <p:cNvSpPr txBox="1"/>
            <p:nvPr/>
          </p:nvSpPr>
          <p:spPr>
            <a:xfrm>
              <a:off x="1604149" y="3496562"/>
              <a:ext cx="492125" cy="307730"/>
            </a:xfrm>
            <a:prstGeom prst="rect">
              <a:avLst/>
            </a:prstGeom>
          </p:spPr>
          <p:txBody>
            <a:bodyPr vert="horz" wrap="square" lIns="0" tIns="0" rIns="0" bIns="0" rtlCol="0">
              <a:spAutoFit/>
            </a:bodyPr>
            <a:lstStyle/>
            <a:p>
              <a:pPr marL="15954"/>
              <a:r>
                <a:rPr sz="2512" dirty="0">
                  <a:latin typeface="Arial"/>
                  <a:cs typeface="Arial"/>
                </a:rPr>
                <a:t>M</a:t>
              </a:r>
              <a:r>
                <a:rPr sz="2512" spc="-13" dirty="0">
                  <a:latin typeface="Arial"/>
                  <a:cs typeface="Arial"/>
                </a:rPr>
                <a:t>I</a:t>
              </a:r>
              <a:r>
                <a:rPr sz="2512" spc="6" dirty="0">
                  <a:latin typeface="Arial"/>
                  <a:cs typeface="Arial"/>
                </a:rPr>
                <a:t>N</a:t>
              </a:r>
              <a:endParaRPr sz="2512">
                <a:latin typeface="Arial"/>
                <a:cs typeface="Arial"/>
              </a:endParaRPr>
            </a:p>
          </p:txBody>
        </p:sp>
        <p:sp>
          <p:nvSpPr>
            <p:cNvPr id="8" name="object 8">
              <a:extLst>
                <a:ext uri="{FF2B5EF4-FFF2-40B4-BE49-F238E27FC236}">
                  <a16:creationId xmlns:a16="http://schemas.microsoft.com/office/drawing/2014/main" id="{E5EE9A4C-3106-9D16-DBFA-E576E33FB295}"/>
                </a:ext>
              </a:extLst>
            </p:cNvPr>
            <p:cNvSpPr txBox="1"/>
            <p:nvPr/>
          </p:nvSpPr>
          <p:spPr>
            <a:xfrm>
              <a:off x="8375278" y="3479798"/>
              <a:ext cx="591185" cy="307730"/>
            </a:xfrm>
            <a:prstGeom prst="rect">
              <a:avLst/>
            </a:prstGeom>
          </p:spPr>
          <p:txBody>
            <a:bodyPr vert="horz" wrap="square" lIns="0" tIns="0" rIns="0" bIns="0" rtlCol="0">
              <a:spAutoFit/>
            </a:bodyPr>
            <a:lstStyle/>
            <a:p>
              <a:pPr marL="15954"/>
              <a:r>
                <a:rPr sz="2512" dirty="0">
                  <a:latin typeface="Arial"/>
                  <a:cs typeface="Arial"/>
                </a:rPr>
                <a:t>M</a:t>
              </a:r>
              <a:r>
                <a:rPr sz="2512" spc="143" dirty="0">
                  <a:latin typeface="Arial"/>
                  <a:cs typeface="Arial"/>
                </a:rPr>
                <a:t>A</a:t>
              </a:r>
              <a:r>
                <a:rPr sz="2512" spc="-6" dirty="0">
                  <a:latin typeface="Arial"/>
                  <a:cs typeface="Arial"/>
                </a:rPr>
                <a:t>X</a:t>
              </a:r>
              <a:endParaRPr sz="2512">
                <a:latin typeface="Arial"/>
                <a:cs typeface="Arial"/>
              </a:endParaRPr>
            </a:p>
          </p:txBody>
        </p:sp>
        <p:sp>
          <p:nvSpPr>
            <p:cNvPr id="9" name="object 9">
              <a:extLst>
                <a:ext uri="{FF2B5EF4-FFF2-40B4-BE49-F238E27FC236}">
                  <a16:creationId xmlns:a16="http://schemas.microsoft.com/office/drawing/2014/main" id="{B52E7D19-AC05-7207-D92F-BFD3D9DBB4E5}"/>
                </a:ext>
              </a:extLst>
            </p:cNvPr>
            <p:cNvSpPr txBox="1"/>
            <p:nvPr/>
          </p:nvSpPr>
          <p:spPr>
            <a:xfrm>
              <a:off x="8328034" y="2201162"/>
              <a:ext cx="1410970" cy="307730"/>
            </a:xfrm>
            <a:prstGeom prst="rect">
              <a:avLst/>
            </a:prstGeom>
          </p:spPr>
          <p:txBody>
            <a:bodyPr vert="horz" wrap="square" lIns="0" tIns="0" rIns="0" bIns="0" rtlCol="0">
              <a:spAutoFit/>
            </a:bodyPr>
            <a:lstStyle/>
            <a:p>
              <a:pPr marL="15954"/>
              <a:r>
                <a:rPr sz="2512" i="1" spc="107" dirty="0">
                  <a:latin typeface="Arial"/>
                  <a:cs typeface="Arial"/>
                </a:rPr>
                <a:t>Omniscient</a:t>
              </a:r>
              <a:endParaRPr sz="2512">
                <a:latin typeface="Arial"/>
                <a:cs typeface="Arial"/>
              </a:endParaRPr>
            </a:p>
          </p:txBody>
        </p:sp>
        <p:sp>
          <p:nvSpPr>
            <p:cNvPr id="12" name="object 12">
              <a:extLst>
                <a:ext uri="{FF2B5EF4-FFF2-40B4-BE49-F238E27FC236}">
                  <a16:creationId xmlns:a16="http://schemas.microsoft.com/office/drawing/2014/main" id="{FC209B2A-7AFD-CDEC-BF35-7722484689C4}"/>
                </a:ext>
              </a:extLst>
            </p:cNvPr>
            <p:cNvSpPr/>
            <p:nvPr/>
          </p:nvSpPr>
          <p:spPr>
            <a:xfrm>
              <a:off x="1415677" y="3899153"/>
              <a:ext cx="7842884" cy="0"/>
            </a:xfrm>
            <a:custGeom>
              <a:avLst/>
              <a:gdLst/>
              <a:ahLst/>
              <a:cxnLst/>
              <a:rect l="l" t="t" r="r" b="b"/>
              <a:pathLst>
                <a:path w="7842884">
                  <a:moveTo>
                    <a:pt x="0" y="0"/>
                  </a:moveTo>
                  <a:lnTo>
                    <a:pt x="7842503" y="0"/>
                  </a:lnTo>
                </a:path>
              </a:pathLst>
            </a:custGeom>
            <a:ln w="56387">
              <a:solidFill>
                <a:srgbClr val="7F7F00"/>
              </a:solidFill>
            </a:ln>
          </p:spPr>
          <p:txBody>
            <a:bodyPr wrap="square" lIns="0" tIns="0" rIns="0" bIns="0" rtlCol="0"/>
            <a:lstStyle/>
            <a:p>
              <a:endParaRPr sz="2261"/>
            </a:p>
          </p:txBody>
        </p:sp>
        <p:sp>
          <p:nvSpPr>
            <p:cNvPr id="13" name="object 13">
              <a:extLst>
                <a:ext uri="{FF2B5EF4-FFF2-40B4-BE49-F238E27FC236}">
                  <a16:creationId xmlns:a16="http://schemas.microsoft.com/office/drawing/2014/main" id="{91E36296-EC15-5CE4-C389-B4F0A8B9027C}"/>
                </a:ext>
              </a:extLst>
            </p:cNvPr>
            <p:cNvSpPr/>
            <p:nvPr/>
          </p:nvSpPr>
          <p:spPr>
            <a:xfrm>
              <a:off x="9258939" y="3777996"/>
              <a:ext cx="0" cy="213360"/>
            </a:xfrm>
            <a:custGeom>
              <a:avLst/>
              <a:gdLst/>
              <a:ahLst/>
              <a:cxnLst/>
              <a:rect l="l" t="t" r="r" b="b"/>
              <a:pathLst>
                <a:path h="213360">
                  <a:moveTo>
                    <a:pt x="0" y="0"/>
                  </a:moveTo>
                  <a:lnTo>
                    <a:pt x="0" y="213359"/>
                  </a:lnTo>
                </a:path>
              </a:pathLst>
            </a:custGeom>
            <a:ln w="28955">
              <a:solidFill>
                <a:srgbClr val="7F7F00"/>
              </a:solidFill>
            </a:ln>
          </p:spPr>
          <p:txBody>
            <a:bodyPr wrap="square" lIns="0" tIns="0" rIns="0" bIns="0" rtlCol="0"/>
            <a:lstStyle/>
            <a:p>
              <a:endParaRPr sz="2261"/>
            </a:p>
          </p:txBody>
        </p:sp>
        <p:sp>
          <p:nvSpPr>
            <p:cNvPr id="14" name="object 14">
              <a:extLst>
                <a:ext uri="{FF2B5EF4-FFF2-40B4-BE49-F238E27FC236}">
                  <a16:creationId xmlns:a16="http://schemas.microsoft.com/office/drawing/2014/main" id="{47A583E8-AF48-2C68-7168-B49823C9F634}"/>
                </a:ext>
              </a:extLst>
            </p:cNvPr>
            <p:cNvSpPr/>
            <p:nvPr/>
          </p:nvSpPr>
          <p:spPr>
            <a:xfrm>
              <a:off x="1416439" y="3777996"/>
              <a:ext cx="0" cy="213360"/>
            </a:xfrm>
            <a:custGeom>
              <a:avLst/>
              <a:gdLst/>
              <a:ahLst/>
              <a:cxnLst/>
              <a:rect l="l" t="t" r="r" b="b"/>
              <a:pathLst>
                <a:path h="213360">
                  <a:moveTo>
                    <a:pt x="0" y="0"/>
                  </a:moveTo>
                  <a:lnTo>
                    <a:pt x="0" y="213359"/>
                  </a:lnTo>
                </a:path>
              </a:pathLst>
            </a:custGeom>
            <a:ln w="28955">
              <a:solidFill>
                <a:srgbClr val="7F7F00"/>
              </a:solidFill>
            </a:ln>
          </p:spPr>
          <p:txBody>
            <a:bodyPr wrap="square" lIns="0" tIns="0" rIns="0" bIns="0" rtlCol="0"/>
            <a:lstStyle/>
            <a:p>
              <a:endParaRPr sz="2261"/>
            </a:p>
          </p:txBody>
        </p:sp>
        <p:sp>
          <p:nvSpPr>
            <p:cNvPr id="15" name="object 15">
              <a:extLst>
                <a:ext uri="{FF2B5EF4-FFF2-40B4-BE49-F238E27FC236}">
                  <a16:creationId xmlns:a16="http://schemas.microsoft.com/office/drawing/2014/main" id="{E1ACAEA9-648B-5C9F-E7A7-AE19C13FD6EA}"/>
                </a:ext>
              </a:extLst>
            </p:cNvPr>
            <p:cNvSpPr txBox="1"/>
            <p:nvPr/>
          </p:nvSpPr>
          <p:spPr>
            <a:xfrm>
              <a:off x="1121036" y="4029962"/>
              <a:ext cx="904875" cy="307730"/>
            </a:xfrm>
            <a:prstGeom prst="rect">
              <a:avLst/>
            </a:prstGeom>
          </p:spPr>
          <p:txBody>
            <a:bodyPr vert="horz" wrap="square" lIns="0" tIns="0" rIns="0" bIns="0" rtlCol="0">
              <a:spAutoFit/>
            </a:bodyPr>
            <a:lstStyle/>
            <a:p>
              <a:pPr marL="15954"/>
              <a:r>
                <a:rPr sz="2512" spc="50" dirty="0">
                  <a:latin typeface="Arial"/>
                  <a:cs typeface="Arial"/>
                </a:rPr>
                <a:t>| </a:t>
              </a:r>
              <a:r>
                <a:rPr sz="2512" i="1" spc="-6" dirty="0">
                  <a:latin typeface="Arial"/>
                  <a:cs typeface="Arial"/>
                </a:rPr>
                <a:t>E </a:t>
              </a:r>
              <a:r>
                <a:rPr sz="2512" spc="50" dirty="0">
                  <a:latin typeface="Arial"/>
                  <a:cs typeface="Arial"/>
                </a:rPr>
                <a:t>| </a:t>
              </a:r>
              <a:r>
                <a:rPr sz="2512" spc="6" dirty="0">
                  <a:latin typeface="Arial"/>
                  <a:cs typeface="Arial"/>
                </a:rPr>
                <a:t>=</a:t>
              </a:r>
              <a:r>
                <a:rPr sz="2512" spc="-276" dirty="0">
                  <a:latin typeface="Arial"/>
                  <a:cs typeface="Arial"/>
                </a:rPr>
                <a:t> </a:t>
              </a:r>
              <a:r>
                <a:rPr sz="2512" dirty="0">
                  <a:latin typeface="Arial"/>
                  <a:cs typeface="Arial"/>
                </a:rPr>
                <a:t>1</a:t>
              </a:r>
              <a:endParaRPr sz="2512">
                <a:latin typeface="Arial"/>
                <a:cs typeface="Arial"/>
              </a:endParaRPr>
            </a:p>
          </p:txBody>
        </p:sp>
        <p:sp>
          <p:nvSpPr>
            <p:cNvPr id="16" name="object 16">
              <a:extLst>
                <a:ext uri="{FF2B5EF4-FFF2-40B4-BE49-F238E27FC236}">
                  <a16:creationId xmlns:a16="http://schemas.microsoft.com/office/drawing/2014/main" id="{99B25769-4DB3-8300-7790-4E6993EDF42D}"/>
                </a:ext>
              </a:extLst>
            </p:cNvPr>
            <p:cNvSpPr txBox="1"/>
            <p:nvPr/>
          </p:nvSpPr>
          <p:spPr>
            <a:xfrm>
              <a:off x="8559677" y="4029962"/>
              <a:ext cx="1216025" cy="307730"/>
            </a:xfrm>
            <a:prstGeom prst="rect">
              <a:avLst/>
            </a:prstGeom>
          </p:spPr>
          <p:txBody>
            <a:bodyPr vert="horz" wrap="square" lIns="0" tIns="0" rIns="0" bIns="0" rtlCol="0">
              <a:spAutoFit/>
            </a:bodyPr>
            <a:lstStyle/>
            <a:p>
              <a:pPr marL="15954"/>
              <a:r>
                <a:rPr sz="2512" spc="50" dirty="0">
                  <a:latin typeface="Arial"/>
                  <a:cs typeface="Arial"/>
                </a:rPr>
                <a:t>| </a:t>
              </a:r>
              <a:r>
                <a:rPr sz="2512" i="1" spc="-6" dirty="0">
                  <a:latin typeface="Arial"/>
                  <a:cs typeface="Arial"/>
                </a:rPr>
                <a:t>E </a:t>
              </a:r>
              <a:r>
                <a:rPr sz="2512" spc="50" dirty="0">
                  <a:latin typeface="Arial"/>
                  <a:cs typeface="Arial"/>
                </a:rPr>
                <a:t>| </a:t>
              </a:r>
              <a:r>
                <a:rPr sz="2512" spc="6" dirty="0">
                  <a:latin typeface="Arial"/>
                  <a:cs typeface="Arial"/>
                </a:rPr>
                <a:t>= </a:t>
              </a:r>
              <a:r>
                <a:rPr sz="2512" spc="50" dirty="0">
                  <a:latin typeface="Arial"/>
                  <a:cs typeface="Arial"/>
                </a:rPr>
                <a:t>| </a:t>
              </a:r>
              <a:r>
                <a:rPr sz="2512" i="1" spc="-6" dirty="0">
                  <a:latin typeface="Arial"/>
                  <a:cs typeface="Arial"/>
                </a:rPr>
                <a:t>S</a:t>
              </a:r>
              <a:r>
                <a:rPr sz="2512" i="1" spc="-333" dirty="0">
                  <a:latin typeface="Arial"/>
                  <a:cs typeface="Arial"/>
                </a:rPr>
                <a:t> </a:t>
              </a:r>
              <a:r>
                <a:rPr sz="2512" spc="50" dirty="0">
                  <a:latin typeface="Arial"/>
                  <a:cs typeface="Arial"/>
                </a:rPr>
                <a:t>|</a:t>
              </a:r>
              <a:endParaRPr sz="2512">
                <a:latin typeface="Arial"/>
                <a:cs typeface="Arial"/>
              </a:endParaRPr>
            </a:p>
          </p:txBody>
        </p:sp>
      </p:grpSp>
    </p:spTree>
    <p:extLst>
      <p:ext uri="{BB962C8B-B14F-4D97-AF65-F5344CB8AC3E}">
        <p14:creationId xmlns:p14="http://schemas.microsoft.com/office/powerpoint/2010/main" val="2407689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0229" y="-11710"/>
            <a:ext cx="7328556" cy="850554"/>
          </a:xfrm>
          <a:prstGeom prst="rect">
            <a:avLst/>
          </a:prstGeom>
        </p:spPr>
        <p:txBody>
          <a:bodyPr vert="horz" wrap="square" lIns="0" tIns="0" rIns="0" bIns="0" rtlCol="0">
            <a:spAutoFit/>
          </a:bodyPr>
          <a:lstStyle/>
          <a:p>
            <a:pPr marL="15954"/>
            <a:r>
              <a:rPr spc="-13" dirty="0"/>
              <a:t>Agents </a:t>
            </a:r>
            <a:r>
              <a:rPr dirty="0"/>
              <a:t>and</a:t>
            </a:r>
            <a:r>
              <a:rPr spc="-94" dirty="0"/>
              <a:t> </a:t>
            </a:r>
            <a:r>
              <a:rPr spc="-19" dirty="0"/>
              <a:t>environments</a:t>
            </a:r>
          </a:p>
        </p:txBody>
      </p:sp>
      <p:sp>
        <p:nvSpPr>
          <p:cNvPr id="3" name="object 3"/>
          <p:cNvSpPr/>
          <p:nvPr/>
        </p:nvSpPr>
        <p:spPr>
          <a:xfrm>
            <a:off x="3461265" y="737702"/>
            <a:ext cx="6126408" cy="2766455"/>
          </a:xfrm>
          <a:prstGeom prst="rect">
            <a:avLst/>
          </a:prstGeom>
          <a:blipFill>
            <a:blip r:embed="rId2" cstate="print"/>
            <a:stretch>
              <a:fillRect/>
            </a:stretch>
          </a:blipFill>
        </p:spPr>
        <p:txBody>
          <a:bodyPr wrap="square" lIns="0" tIns="0" rIns="0" bIns="0" rtlCol="0"/>
          <a:lstStyle/>
          <a:p>
            <a:endParaRPr sz="2261"/>
          </a:p>
        </p:txBody>
      </p:sp>
      <p:sp>
        <p:nvSpPr>
          <p:cNvPr id="4" name="object 4"/>
          <p:cNvSpPr txBox="1"/>
          <p:nvPr/>
        </p:nvSpPr>
        <p:spPr>
          <a:xfrm>
            <a:off x="81756" y="4750061"/>
            <a:ext cx="13269912" cy="1833835"/>
          </a:xfrm>
          <a:prstGeom prst="rect">
            <a:avLst/>
          </a:prstGeom>
        </p:spPr>
        <p:txBody>
          <a:bodyPr vert="horz" wrap="square" lIns="0" tIns="0" rIns="0" bIns="0" rtlCol="0">
            <a:spAutoFit/>
          </a:bodyPr>
          <a:lstStyle/>
          <a:p>
            <a:pPr marL="446705">
              <a:lnSpc>
                <a:spcPts val="4585"/>
              </a:lnSpc>
            </a:pPr>
            <a:endParaRPr lang="en-US" sz="4000" dirty="0">
              <a:latin typeface="Calibri"/>
              <a:cs typeface="Calibri"/>
            </a:endParaRPr>
          </a:p>
          <a:p>
            <a:pPr marL="446705" marR="688404" indent="-430751">
              <a:lnSpc>
                <a:spcPts val="4346"/>
              </a:lnSpc>
              <a:spcBef>
                <a:spcPts val="1080"/>
              </a:spcBef>
              <a:buFont typeface="Arial"/>
              <a:buChar char="•"/>
              <a:tabLst>
                <a:tab pos="445907" algn="l"/>
                <a:tab pos="446705" algn="l"/>
              </a:tabLst>
            </a:pPr>
            <a:r>
              <a:rPr lang="en-US" sz="4000" spc="-6" dirty="0">
                <a:latin typeface="Calibri"/>
                <a:cs typeface="Calibri"/>
              </a:rPr>
              <a:t>The </a:t>
            </a:r>
            <a:r>
              <a:rPr lang="en-US" sz="4000" spc="19" dirty="0">
                <a:solidFill>
                  <a:srgbClr val="FF0000"/>
                </a:solidFill>
                <a:latin typeface="Calibri"/>
                <a:cs typeface="Calibri"/>
              </a:rPr>
              <a:t>agent program </a:t>
            </a:r>
            <a:r>
              <a:rPr lang="en-US" sz="4000" spc="-6" dirty="0">
                <a:latin typeface="Calibri"/>
                <a:cs typeface="Calibri"/>
              </a:rPr>
              <a:t>is an </a:t>
            </a:r>
            <a:r>
              <a:rPr lang="en-US" sz="4000" spc="-13" dirty="0">
                <a:latin typeface="Calibri"/>
                <a:cs typeface="Calibri"/>
              </a:rPr>
              <a:t>implementation </a:t>
            </a:r>
            <a:r>
              <a:rPr lang="en-US" sz="4000" spc="-6" dirty="0">
                <a:latin typeface="Calibri"/>
                <a:cs typeface="Calibri"/>
              </a:rPr>
              <a:t>of </a:t>
            </a:r>
            <a:r>
              <a:rPr lang="en-US" sz="4000" i="1" spc="-6" dirty="0">
                <a:latin typeface="Calibri"/>
                <a:cs typeface="Calibri"/>
              </a:rPr>
              <a:t>f  </a:t>
            </a:r>
            <a:r>
              <a:rPr lang="en-US" sz="4000" spc="-19" dirty="0">
                <a:latin typeface="Calibri"/>
                <a:cs typeface="Calibri"/>
              </a:rPr>
              <a:t>that </a:t>
            </a:r>
            <a:r>
              <a:rPr lang="en-US" sz="4000" spc="-6" dirty="0">
                <a:latin typeface="Calibri"/>
                <a:cs typeface="Calibri"/>
              </a:rPr>
              <a:t>runs on the </a:t>
            </a:r>
            <a:r>
              <a:rPr lang="en-US" sz="4000" spc="-25" dirty="0">
                <a:latin typeface="Calibri"/>
                <a:cs typeface="Calibri"/>
              </a:rPr>
              <a:t>physical </a:t>
            </a:r>
            <a:r>
              <a:rPr lang="en-US" sz="4000" spc="19" dirty="0">
                <a:solidFill>
                  <a:srgbClr val="FF0000"/>
                </a:solidFill>
                <a:latin typeface="Calibri"/>
                <a:cs typeface="Calibri"/>
              </a:rPr>
              <a:t>architecture </a:t>
            </a:r>
            <a:r>
              <a:rPr lang="en-US" sz="4000" spc="-25" dirty="0">
                <a:latin typeface="Calibri"/>
                <a:cs typeface="Calibri"/>
              </a:rPr>
              <a:t>to  </a:t>
            </a:r>
            <a:r>
              <a:rPr lang="en-US" sz="4000" spc="-13" dirty="0">
                <a:latin typeface="Calibri"/>
                <a:cs typeface="Calibri"/>
              </a:rPr>
              <a:t>produce</a:t>
            </a:r>
            <a:r>
              <a:rPr lang="en-US" sz="4000" spc="-138" dirty="0">
                <a:latin typeface="Calibri"/>
                <a:cs typeface="Calibri"/>
              </a:rPr>
              <a:t> </a:t>
            </a:r>
            <a:r>
              <a:rPr lang="en-US" sz="4000" i="1" spc="-6" dirty="0">
                <a:latin typeface="Calibri"/>
                <a:cs typeface="Calibri"/>
              </a:rPr>
              <a:t>f</a:t>
            </a:r>
            <a:endParaRPr lang="en-US" sz="4000" dirty="0">
              <a:latin typeface="Calibri"/>
              <a:cs typeface="Calibri"/>
            </a:endParaRPr>
          </a:p>
        </p:txBody>
      </p:sp>
      <p:sp>
        <p:nvSpPr>
          <p:cNvPr id="5" name="object 5"/>
          <p:cNvSpPr txBox="1"/>
          <p:nvPr/>
        </p:nvSpPr>
        <p:spPr>
          <a:xfrm>
            <a:off x="1458912" y="6583896"/>
            <a:ext cx="6997506" cy="618631"/>
          </a:xfrm>
          <a:prstGeom prst="rect">
            <a:avLst/>
          </a:prstGeom>
        </p:spPr>
        <p:txBody>
          <a:bodyPr vert="horz" wrap="square" lIns="0" tIns="0" rIns="0" bIns="0" rtlCol="0">
            <a:spAutoFit/>
          </a:bodyPr>
          <a:lstStyle/>
          <a:p>
            <a:pPr marL="446705" indent="-430751">
              <a:buFont typeface="Arial"/>
              <a:buChar char="•"/>
              <a:tabLst>
                <a:tab pos="445907" algn="l"/>
                <a:tab pos="446705" algn="l"/>
              </a:tabLst>
            </a:pPr>
            <a:r>
              <a:rPr sz="4000" spc="19" dirty="0">
                <a:latin typeface="Calibri"/>
                <a:cs typeface="Calibri"/>
              </a:rPr>
              <a:t>agent </a:t>
            </a:r>
            <a:r>
              <a:rPr sz="4000" dirty="0">
                <a:latin typeface="Calibri"/>
                <a:cs typeface="Calibri"/>
              </a:rPr>
              <a:t>= </a:t>
            </a:r>
            <a:r>
              <a:rPr sz="4000" spc="19" dirty="0">
                <a:latin typeface="Calibri"/>
                <a:cs typeface="Calibri"/>
              </a:rPr>
              <a:t>architecture </a:t>
            </a:r>
            <a:r>
              <a:rPr sz="4000" dirty="0">
                <a:latin typeface="Calibri"/>
                <a:cs typeface="Calibri"/>
              </a:rPr>
              <a:t>+</a:t>
            </a:r>
            <a:r>
              <a:rPr sz="4000" spc="-170" dirty="0">
                <a:latin typeface="Calibri"/>
                <a:cs typeface="Calibri"/>
              </a:rPr>
              <a:t> </a:t>
            </a:r>
            <a:r>
              <a:rPr sz="4000" spc="19" dirty="0">
                <a:latin typeface="Calibri"/>
                <a:cs typeface="Calibri"/>
              </a:rPr>
              <a:t>program</a:t>
            </a:r>
            <a:endParaRPr sz="4000" dirty="0">
              <a:latin typeface="Calibri"/>
              <a:cs typeface="Calibri"/>
            </a:endParaRPr>
          </a:p>
        </p:txBody>
      </p:sp>
      <p:sp>
        <p:nvSpPr>
          <p:cNvPr id="6" name="object 6"/>
          <p:cNvSpPr txBox="1"/>
          <p:nvPr/>
        </p:nvSpPr>
        <p:spPr>
          <a:xfrm>
            <a:off x="11560893" y="7564813"/>
            <a:ext cx="223359" cy="218008"/>
          </a:xfrm>
          <a:prstGeom prst="rect">
            <a:avLst/>
          </a:prstGeom>
        </p:spPr>
        <p:txBody>
          <a:bodyPr vert="horz" wrap="square" lIns="0" tIns="0" rIns="0" bIns="0" rtlCol="0">
            <a:spAutoFit/>
          </a:bodyPr>
          <a:lstStyle/>
          <a:p>
            <a:pPr marL="15954">
              <a:lnSpc>
                <a:spcPts val="1652"/>
              </a:lnSpc>
            </a:pPr>
            <a:r>
              <a:rPr sz="1507" dirty="0">
                <a:solidFill>
                  <a:srgbClr val="898989"/>
                </a:solidFill>
                <a:latin typeface="Gill Sans MT"/>
                <a:cs typeface="Gill Sans MT"/>
              </a:rPr>
              <a:t>10</a:t>
            </a:r>
            <a:endParaRPr sz="1507">
              <a:latin typeface="Gill Sans MT"/>
              <a:cs typeface="Gill Sans MT"/>
            </a:endParaRPr>
          </a:p>
        </p:txBody>
      </p:sp>
      <p:pic>
        <p:nvPicPr>
          <p:cNvPr id="8" name="Picture 7">
            <a:extLst>
              <a:ext uri="{FF2B5EF4-FFF2-40B4-BE49-F238E27FC236}">
                <a16:creationId xmlns:a16="http://schemas.microsoft.com/office/drawing/2014/main" id="{D7ABCEFE-C852-FD79-5033-98396EB1C4ED}"/>
              </a:ext>
            </a:extLst>
          </p:cNvPr>
          <p:cNvPicPr>
            <a:picLocks noChangeAspect="1"/>
          </p:cNvPicPr>
          <p:nvPr/>
        </p:nvPicPr>
        <p:blipFill>
          <a:blip r:embed="rId3"/>
          <a:stretch>
            <a:fillRect/>
          </a:stretch>
        </p:blipFill>
        <p:spPr>
          <a:xfrm>
            <a:off x="620712" y="3140572"/>
            <a:ext cx="7209556" cy="231119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439F5-E215-012F-96D7-EE5BC4B7C6F2}"/>
              </a:ext>
            </a:extLst>
          </p:cNvPr>
          <p:cNvSpPr>
            <a:spLocks noGrp="1"/>
          </p:cNvSpPr>
          <p:nvPr>
            <p:ph type="title"/>
          </p:nvPr>
        </p:nvSpPr>
        <p:spPr>
          <a:xfrm>
            <a:off x="3859317" y="-53009"/>
            <a:ext cx="5714790" cy="850554"/>
          </a:xfrm>
        </p:spPr>
        <p:txBody>
          <a:bodyPr/>
          <a:lstStyle/>
          <a:p>
            <a:r>
              <a:rPr lang="en-US" sz="5400" dirty="0"/>
              <a:t>Example</a:t>
            </a:r>
          </a:p>
        </p:txBody>
      </p:sp>
      <p:sp>
        <p:nvSpPr>
          <p:cNvPr id="5" name="Text Placeholder 4">
            <a:extLst>
              <a:ext uri="{FF2B5EF4-FFF2-40B4-BE49-F238E27FC236}">
                <a16:creationId xmlns:a16="http://schemas.microsoft.com/office/drawing/2014/main" id="{90A89CD9-43CE-6D4F-DE87-7F45D958F10B}"/>
              </a:ext>
            </a:extLst>
          </p:cNvPr>
          <p:cNvSpPr>
            <a:spLocks noGrp="1"/>
          </p:cNvSpPr>
          <p:nvPr>
            <p:ph type="body" idx="1"/>
          </p:nvPr>
        </p:nvSpPr>
        <p:spPr>
          <a:xfrm>
            <a:off x="277812" y="797545"/>
            <a:ext cx="12877800" cy="6401753"/>
          </a:xfrm>
        </p:spPr>
        <p:txBody>
          <a:bodyPr/>
          <a:lstStyle/>
          <a:p>
            <a:r>
              <a:rPr lang="en-US" sz="4000" dirty="0"/>
              <a:t>The agent function might map: (Ideal World)</a:t>
            </a:r>
          </a:p>
          <a:p>
            <a:pPr lvl="2">
              <a:buFont typeface="Arial" panose="020B0604020202020204" pitchFamily="34" charset="0"/>
              <a:buChar char="•"/>
            </a:pPr>
            <a:r>
              <a:rPr lang="en-US" sz="2800" dirty="0">
                <a:solidFill>
                  <a:srgbClr val="C00000"/>
                </a:solidFill>
              </a:rPr>
              <a:t> </a:t>
            </a:r>
            <a:r>
              <a:rPr lang="en-US" sz="2400" dirty="0">
                <a:solidFill>
                  <a:srgbClr val="C00000"/>
                </a:solidFill>
              </a:rPr>
              <a:t>Percept 1: "There’s dust in the corner"</a:t>
            </a:r>
          </a:p>
          <a:p>
            <a:pPr lvl="2">
              <a:buFont typeface="Arial" panose="020B0604020202020204" pitchFamily="34" charset="0"/>
              <a:buChar char="•"/>
            </a:pPr>
            <a:r>
              <a:rPr lang="en-US" sz="2400" dirty="0">
                <a:solidFill>
                  <a:srgbClr val="C00000"/>
                </a:solidFill>
              </a:rPr>
              <a:t> Percept 2: "The chair is in the way"</a:t>
            </a:r>
          </a:p>
          <a:p>
            <a:pPr lvl="2">
              <a:buFont typeface="Arial" panose="020B0604020202020204" pitchFamily="34" charset="0"/>
              <a:buChar char="•"/>
            </a:pPr>
            <a:r>
              <a:rPr lang="en-US" sz="2400" dirty="0">
                <a:solidFill>
                  <a:srgbClr val="C00000"/>
                </a:solidFill>
              </a:rPr>
              <a:t> Percept 3: "The battery is low“</a:t>
            </a:r>
          </a:p>
          <a:p>
            <a:r>
              <a:rPr lang="en-US" sz="4000" dirty="0"/>
              <a:t> into a perfect action like:</a:t>
            </a:r>
          </a:p>
          <a:p>
            <a:pPr lvl="2" indent="-457200">
              <a:buFont typeface="Arial" panose="020B0604020202020204" pitchFamily="34" charset="0"/>
              <a:buChar char="•"/>
            </a:pPr>
            <a:r>
              <a:rPr lang="en-US" sz="2800" dirty="0"/>
              <a:t> </a:t>
            </a:r>
            <a:r>
              <a:rPr lang="en-US" sz="2400" dirty="0">
                <a:solidFill>
                  <a:srgbClr val="C00000"/>
                </a:solidFill>
              </a:rPr>
              <a:t>Action: "Move around the chair, clean the dust in the corner, and return to the  charging dock before the battery dies."</a:t>
            </a:r>
          </a:p>
          <a:p>
            <a:r>
              <a:rPr lang="en-US" sz="4000" dirty="0"/>
              <a:t>Agent Program (Real-world):</a:t>
            </a:r>
          </a:p>
          <a:p>
            <a:pPr lvl="1">
              <a:buFont typeface="Arial" panose="020B0604020202020204" pitchFamily="34" charset="0"/>
              <a:buChar char="•"/>
            </a:pPr>
            <a:r>
              <a:rPr lang="en-US" sz="2400" dirty="0"/>
              <a:t> </a:t>
            </a:r>
            <a:r>
              <a:rPr lang="en-US" sz="2800" dirty="0">
                <a:solidFill>
                  <a:srgbClr val="C00000"/>
                </a:solidFill>
              </a:rPr>
              <a:t>Sensors are imperfect; environment changes.</a:t>
            </a:r>
          </a:p>
          <a:p>
            <a:pPr lvl="1">
              <a:buFont typeface="Arial" panose="020B0604020202020204" pitchFamily="34" charset="0"/>
              <a:buChar char="•"/>
            </a:pPr>
            <a:r>
              <a:rPr lang="en-US" sz="2800" dirty="0">
                <a:solidFill>
                  <a:srgbClr val="C00000"/>
                </a:solidFill>
              </a:rPr>
              <a:t> Approximates agent function using available data.</a:t>
            </a:r>
          </a:p>
          <a:p>
            <a:pPr lvl="1">
              <a:buFont typeface="Arial" panose="020B0604020202020204" pitchFamily="34" charset="0"/>
              <a:buChar char="•"/>
            </a:pPr>
            <a:r>
              <a:rPr lang="en-US" sz="2800" dirty="0">
                <a:solidFill>
                  <a:srgbClr val="C00000"/>
                </a:solidFill>
              </a:rPr>
              <a:t> Practical challenges:</a:t>
            </a:r>
            <a:endParaRPr lang="en-US" sz="8000" dirty="0">
              <a:solidFill>
                <a:srgbClr val="C00000"/>
              </a:solidFill>
            </a:endParaRPr>
          </a:p>
          <a:p>
            <a:pPr marL="1891619" lvl="3" indent="-285750">
              <a:buFont typeface="Arial" panose="020B0604020202020204" pitchFamily="34" charset="0"/>
              <a:buChar char="•"/>
            </a:pPr>
            <a:r>
              <a:rPr lang="en-US" sz="2400" dirty="0">
                <a:solidFill>
                  <a:srgbClr val="C00000"/>
                </a:solidFill>
              </a:rPr>
              <a:t>Detects dust but not as precisely.</a:t>
            </a:r>
          </a:p>
          <a:p>
            <a:pPr marL="1891619" lvl="3" indent="-285750">
              <a:buFont typeface="Arial" panose="020B0604020202020204" pitchFamily="34" charset="0"/>
              <a:buChar char="•"/>
            </a:pPr>
            <a:r>
              <a:rPr lang="en-US" sz="2400" dirty="0">
                <a:solidFill>
                  <a:srgbClr val="C00000"/>
                </a:solidFill>
              </a:rPr>
              <a:t>Bumps into furniture occasionally.</a:t>
            </a:r>
          </a:p>
          <a:p>
            <a:pPr marL="1891619" lvl="3" indent="-285750">
              <a:buFont typeface="Arial" panose="020B0604020202020204" pitchFamily="34" charset="0"/>
              <a:buChar char="•"/>
            </a:pPr>
            <a:r>
              <a:rPr lang="en-US" sz="2400" dirty="0">
                <a:solidFill>
                  <a:srgbClr val="C00000"/>
                </a:solidFill>
              </a:rPr>
              <a:t>Might return to the dock without finishing the cleaning if the battery is low.</a:t>
            </a:r>
          </a:p>
        </p:txBody>
      </p:sp>
    </p:spTree>
    <p:extLst>
      <p:ext uri="{BB962C8B-B14F-4D97-AF65-F5344CB8AC3E}">
        <p14:creationId xmlns:p14="http://schemas.microsoft.com/office/powerpoint/2010/main" val="3051616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1323" y="165967"/>
            <a:ext cx="4423298" cy="850554"/>
          </a:xfrm>
          <a:prstGeom prst="rect">
            <a:avLst/>
          </a:prstGeom>
        </p:spPr>
        <p:txBody>
          <a:bodyPr vert="horz" wrap="square" lIns="0" tIns="0" rIns="0" bIns="0" rtlCol="0">
            <a:spAutoFit/>
          </a:bodyPr>
          <a:lstStyle/>
          <a:p>
            <a:pPr marL="15954"/>
            <a:r>
              <a:rPr spc="-6" dirty="0"/>
              <a:t>Rational</a:t>
            </a:r>
            <a:r>
              <a:rPr spc="-138" dirty="0"/>
              <a:t> </a:t>
            </a:r>
            <a:r>
              <a:rPr spc="-13" dirty="0"/>
              <a:t>agents</a:t>
            </a:r>
          </a:p>
        </p:txBody>
      </p:sp>
      <p:sp>
        <p:nvSpPr>
          <p:cNvPr id="3" name="object 3"/>
          <p:cNvSpPr txBox="1"/>
          <p:nvPr/>
        </p:nvSpPr>
        <p:spPr>
          <a:xfrm>
            <a:off x="382978" y="1016521"/>
            <a:ext cx="12539989" cy="618631"/>
          </a:xfrm>
          <a:prstGeom prst="rect">
            <a:avLst/>
          </a:prstGeom>
        </p:spPr>
        <p:txBody>
          <a:bodyPr vert="horz" wrap="square" lIns="0" tIns="0" rIns="0" bIns="0" rtlCol="0">
            <a:spAutoFit/>
          </a:bodyPr>
          <a:lstStyle/>
          <a:p>
            <a:pPr marL="446705" indent="-430751">
              <a:buFont typeface="Arial"/>
              <a:buChar char="•"/>
              <a:tabLst>
                <a:tab pos="445907" algn="l"/>
                <a:tab pos="446705" algn="l"/>
              </a:tabLst>
            </a:pPr>
            <a:r>
              <a:rPr sz="4020" spc="50" dirty="0">
                <a:solidFill>
                  <a:srgbClr val="FF0000"/>
                </a:solidFill>
                <a:latin typeface="Calibri"/>
                <a:cs typeface="Calibri"/>
              </a:rPr>
              <a:t>Rationality:</a:t>
            </a:r>
            <a:r>
              <a:rPr lang="en-US" sz="4020" spc="50" dirty="0">
                <a:latin typeface="Calibri"/>
                <a:cs typeface="Calibri"/>
              </a:rPr>
              <a:t> </a:t>
            </a:r>
            <a:r>
              <a:rPr lang="en-US" sz="3600" spc="-19" dirty="0">
                <a:latin typeface="Calibri"/>
                <a:cs typeface="Calibri"/>
              </a:rPr>
              <a:t>At </a:t>
            </a:r>
            <a:r>
              <a:rPr lang="en-US" sz="3600" spc="-31" dirty="0">
                <a:latin typeface="Calibri"/>
                <a:cs typeface="Calibri"/>
              </a:rPr>
              <a:t>any </a:t>
            </a:r>
            <a:r>
              <a:rPr lang="en-US" sz="3600" spc="-19" dirty="0">
                <a:latin typeface="Calibri"/>
                <a:cs typeface="Calibri"/>
              </a:rPr>
              <a:t>given </a:t>
            </a:r>
            <a:r>
              <a:rPr lang="en-US" sz="3600" spc="-13" dirty="0">
                <a:latin typeface="Calibri"/>
                <a:cs typeface="Calibri"/>
              </a:rPr>
              <a:t>t</a:t>
            </a:r>
            <a:r>
              <a:rPr lang="en-US" sz="3600" dirty="0">
                <a:latin typeface="Calibri"/>
                <a:cs typeface="Calibri"/>
              </a:rPr>
              <a:t>i</a:t>
            </a:r>
            <a:r>
              <a:rPr lang="en-US" sz="3600" spc="-13" dirty="0">
                <a:latin typeface="Calibri"/>
                <a:cs typeface="Calibri"/>
              </a:rPr>
              <a:t>m</a:t>
            </a:r>
            <a:r>
              <a:rPr lang="en-US" sz="3600" spc="-6" dirty="0">
                <a:latin typeface="Calibri"/>
                <a:cs typeface="Calibri"/>
              </a:rPr>
              <a:t>e it </a:t>
            </a:r>
            <a:r>
              <a:rPr lang="en-US" sz="3600" spc="-19" dirty="0">
                <a:latin typeface="Calibri"/>
                <a:cs typeface="Calibri"/>
              </a:rPr>
              <a:t>depends on four things i.e.</a:t>
            </a:r>
          </a:p>
        </p:txBody>
      </p:sp>
      <p:sp>
        <p:nvSpPr>
          <p:cNvPr id="7" name="object 7"/>
          <p:cNvSpPr txBox="1"/>
          <p:nvPr/>
        </p:nvSpPr>
        <p:spPr>
          <a:xfrm>
            <a:off x="446716" y="1962636"/>
            <a:ext cx="12539991" cy="4577343"/>
          </a:xfrm>
          <a:prstGeom prst="rect">
            <a:avLst/>
          </a:prstGeom>
        </p:spPr>
        <p:txBody>
          <a:bodyPr vert="horz" wrap="square" lIns="0" tIns="0" rIns="0" bIns="0" rtlCol="0">
            <a:spAutoFit/>
          </a:bodyPr>
          <a:lstStyle/>
          <a:p>
            <a:pPr marL="1810749" lvl="1" indent="-646126">
              <a:spcBef>
                <a:spcPts val="540"/>
              </a:spcBef>
              <a:buAutoNum type="arabicPeriod"/>
              <a:tabLst>
                <a:tab pos="1236415" algn="l"/>
                <a:tab pos="1237213" algn="l"/>
              </a:tabLst>
            </a:pPr>
            <a:r>
              <a:rPr sz="3517" spc="13" dirty="0">
                <a:solidFill>
                  <a:srgbClr val="C00000"/>
                </a:solidFill>
                <a:latin typeface="Calibri"/>
                <a:cs typeface="Calibri"/>
              </a:rPr>
              <a:t>Performance </a:t>
            </a:r>
            <a:r>
              <a:rPr sz="3517" spc="19" dirty="0">
                <a:solidFill>
                  <a:srgbClr val="C00000"/>
                </a:solidFill>
                <a:latin typeface="Calibri"/>
                <a:cs typeface="Calibri"/>
              </a:rPr>
              <a:t>measure </a:t>
            </a:r>
            <a:r>
              <a:rPr sz="3517" spc="-19" dirty="0">
                <a:solidFill>
                  <a:srgbClr val="C00000"/>
                </a:solidFill>
                <a:latin typeface="Calibri"/>
                <a:cs typeface="Calibri"/>
              </a:rPr>
              <a:t>that </a:t>
            </a:r>
            <a:r>
              <a:rPr sz="3517" spc="-13" dirty="0">
                <a:solidFill>
                  <a:srgbClr val="C00000"/>
                </a:solidFill>
                <a:latin typeface="Calibri"/>
                <a:cs typeface="Calibri"/>
              </a:rPr>
              <a:t>defines</a:t>
            </a:r>
            <a:r>
              <a:rPr sz="3517" spc="88" dirty="0">
                <a:solidFill>
                  <a:srgbClr val="C00000"/>
                </a:solidFill>
                <a:latin typeface="Calibri"/>
                <a:cs typeface="Calibri"/>
              </a:rPr>
              <a:t> </a:t>
            </a:r>
            <a:r>
              <a:rPr sz="3517" spc="-6" dirty="0">
                <a:solidFill>
                  <a:srgbClr val="C00000"/>
                </a:solidFill>
                <a:latin typeface="Calibri"/>
                <a:cs typeface="Calibri"/>
              </a:rPr>
              <a:t>success</a:t>
            </a:r>
            <a:endParaRPr sz="3517" dirty="0">
              <a:solidFill>
                <a:srgbClr val="C00000"/>
              </a:solidFill>
              <a:latin typeface="Calibri"/>
              <a:cs typeface="Calibri"/>
            </a:endParaRPr>
          </a:p>
          <a:p>
            <a:pPr marL="1810749" lvl="1" indent="-646126">
              <a:spcBef>
                <a:spcPts val="420"/>
              </a:spcBef>
              <a:buAutoNum type="arabicPeriod"/>
              <a:tabLst>
                <a:tab pos="1236415" algn="l"/>
                <a:tab pos="1237213" algn="l"/>
              </a:tabLst>
            </a:pPr>
            <a:r>
              <a:rPr lang="en-US" sz="3517" spc="-19" dirty="0">
                <a:solidFill>
                  <a:srgbClr val="C00000"/>
                </a:solidFill>
                <a:latin typeface="Calibri"/>
                <a:cs typeface="Calibri"/>
              </a:rPr>
              <a:t>Agents</a:t>
            </a:r>
            <a:r>
              <a:rPr sz="3517" spc="-19" dirty="0">
                <a:solidFill>
                  <a:srgbClr val="C00000"/>
                </a:solidFill>
                <a:latin typeface="Calibri"/>
                <a:cs typeface="Calibri"/>
              </a:rPr>
              <a:t> </a:t>
            </a:r>
            <a:r>
              <a:rPr sz="3517" spc="31" dirty="0">
                <a:solidFill>
                  <a:srgbClr val="C00000"/>
                </a:solidFill>
                <a:latin typeface="Calibri"/>
                <a:cs typeface="Calibri"/>
              </a:rPr>
              <a:t>prior </a:t>
            </a:r>
            <a:r>
              <a:rPr sz="3517" spc="38" dirty="0">
                <a:solidFill>
                  <a:srgbClr val="C00000"/>
                </a:solidFill>
                <a:latin typeface="Calibri"/>
                <a:cs typeface="Calibri"/>
              </a:rPr>
              <a:t>knowledge </a:t>
            </a:r>
            <a:r>
              <a:rPr sz="3517" spc="-6" dirty="0">
                <a:solidFill>
                  <a:srgbClr val="C00000"/>
                </a:solidFill>
                <a:latin typeface="Calibri"/>
                <a:cs typeface="Calibri"/>
              </a:rPr>
              <a:t>of</a:t>
            </a:r>
            <a:r>
              <a:rPr sz="3517" spc="-57" dirty="0">
                <a:solidFill>
                  <a:srgbClr val="C00000"/>
                </a:solidFill>
                <a:latin typeface="Calibri"/>
                <a:cs typeface="Calibri"/>
              </a:rPr>
              <a:t> </a:t>
            </a:r>
            <a:r>
              <a:rPr sz="3517" spc="-25" dirty="0">
                <a:solidFill>
                  <a:srgbClr val="C00000"/>
                </a:solidFill>
                <a:latin typeface="Calibri"/>
                <a:cs typeface="Calibri"/>
              </a:rPr>
              <a:t>environment</a:t>
            </a:r>
            <a:endParaRPr sz="3517" dirty="0">
              <a:solidFill>
                <a:srgbClr val="C00000"/>
              </a:solidFill>
              <a:latin typeface="Calibri"/>
              <a:cs typeface="Calibri"/>
            </a:endParaRPr>
          </a:p>
          <a:p>
            <a:pPr marL="1811547" lvl="1" indent="-646923">
              <a:spcBef>
                <a:spcPts val="421"/>
              </a:spcBef>
              <a:buAutoNum type="arabicPeriod"/>
              <a:tabLst>
                <a:tab pos="1237213" algn="l"/>
                <a:tab pos="1238009" algn="l"/>
              </a:tabLst>
            </a:pPr>
            <a:r>
              <a:rPr sz="3517" spc="31" dirty="0">
                <a:solidFill>
                  <a:srgbClr val="C00000"/>
                </a:solidFill>
                <a:latin typeface="Calibri"/>
                <a:cs typeface="Calibri"/>
              </a:rPr>
              <a:t>Actions </a:t>
            </a:r>
            <a:r>
              <a:rPr sz="3517" spc="-19" dirty="0">
                <a:solidFill>
                  <a:srgbClr val="C00000"/>
                </a:solidFill>
                <a:latin typeface="Calibri"/>
                <a:cs typeface="Calibri"/>
              </a:rPr>
              <a:t>that agent can</a:t>
            </a:r>
            <a:r>
              <a:rPr sz="3517" spc="6" dirty="0">
                <a:solidFill>
                  <a:srgbClr val="C00000"/>
                </a:solidFill>
                <a:latin typeface="Calibri"/>
                <a:cs typeface="Calibri"/>
              </a:rPr>
              <a:t> </a:t>
            </a:r>
            <a:r>
              <a:rPr sz="3517" spc="-19" dirty="0">
                <a:solidFill>
                  <a:srgbClr val="C00000"/>
                </a:solidFill>
                <a:latin typeface="Calibri"/>
                <a:cs typeface="Calibri"/>
              </a:rPr>
              <a:t>perform</a:t>
            </a:r>
            <a:endParaRPr sz="3517" dirty="0">
              <a:solidFill>
                <a:srgbClr val="C00000"/>
              </a:solidFill>
              <a:latin typeface="Calibri"/>
              <a:cs typeface="Calibri"/>
            </a:endParaRPr>
          </a:p>
          <a:p>
            <a:pPr marL="1810749" lvl="1" indent="-646126">
              <a:spcBef>
                <a:spcPts val="415"/>
              </a:spcBef>
              <a:buAutoNum type="arabicPeriod"/>
              <a:tabLst>
                <a:tab pos="1236415" algn="l"/>
                <a:tab pos="1237213" algn="l"/>
              </a:tabLst>
            </a:pPr>
            <a:r>
              <a:rPr sz="3517" spc="-31" dirty="0">
                <a:solidFill>
                  <a:srgbClr val="C00000"/>
                </a:solidFill>
                <a:latin typeface="Calibri"/>
                <a:cs typeface="Calibri"/>
              </a:rPr>
              <a:t>Agent’s </a:t>
            </a:r>
            <a:r>
              <a:rPr sz="3517" spc="6" dirty="0">
                <a:solidFill>
                  <a:srgbClr val="C00000"/>
                </a:solidFill>
                <a:latin typeface="Calibri"/>
                <a:cs typeface="Calibri"/>
              </a:rPr>
              <a:t>percept </a:t>
            </a:r>
            <a:r>
              <a:rPr sz="3517" spc="-13" dirty="0">
                <a:solidFill>
                  <a:srgbClr val="C00000"/>
                </a:solidFill>
                <a:latin typeface="Calibri"/>
                <a:cs typeface="Calibri"/>
              </a:rPr>
              <a:t>sequence </a:t>
            </a:r>
            <a:r>
              <a:rPr sz="3517" spc="-19" dirty="0">
                <a:solidFill>
                  <a:srgbClr val="C00000"/>
                </a:solidFill>
                <a:latin typeface="Calibri"/>
                <a:cs typeface="Calibri"/>
              </a:rPr>
              <a:t>to</a:t>
            </a:r>
            <a:r>
              <a:rPr sz="3517" spc="126" dirty="0">
                <a:solidFill>
                  <a:srgbClr val="C00000"/>
                </a:solidFill>
                <a:latin typeface="Calibri"/>
                <a:cs typeface="Calibri"/>
              </a:rPr>
              <a:t> </a:t>
            </a:r>
            <a:r>
              <a:rPr sz="3517" spc="-25" dirty="0">
                <a:solidFill>
                  <a:srgbClr val="C00000"/>
                </a:solidFill>
                <a:latin typeface="Calibri"/>
                <a:cs typeface="Calibri"/>
              </a:rPr>
              <a:t>date</a:t>
            </a:r>
            <a:endParaRPr sz="3517" dirty="0">
              <a:solidFill>
                <a:srgbClr val="C00000"/>
              </a:solidFill>
              <a:latin typeface="Calibri"/>
              <a:cs typeface="Calibri"/>
            </a:endParaRPr>
          </a:p>
          <a:p>
            <a:pPr marL="446705" marR="6381" indent="-430751" algn="just">
              <a:lnSpc>
                <a:spcPct val="90500"/>
              </a:lnSpc>
              <a:spcBef>
                <a:spcPts val="1664"/>
              </a:spcBef>
              <a:buFont typeface="Arial"/>
              <a:buChar char="•"/>
              <a:tabLst>
                <a:tab pos="446705" algn="l"/>
              </a:tabLst>
            </a:pPr>
            <a:r>
              <a:rPr sz="4020" spc="50" dirty="0">
                <a:latin typeface="Calibri"/>
                <a:cs typeface="Calibri"/>
              </a:rPr>
              <a:t>Rational </a:t>
            </a:r>
            <a:r>
              <a:rPr sz="4020" spc="31" dirty="0">
                <a:latin typeface="Calibri"/>
                <a:cs typeface="Calibri"/>
              </a:rPr>
              <a:t>Agent: </a:t>
            </a:r>
            <a:r>
              <a:rPr sz="3200" spc="-25" dirty="0">
                <a:latin typeface="Calibri"/>
                <a:cs typeface="Calibri"/>
              </a:rPr>
              <a:t>For </a:t>
            </a:r>
            <a:r>
              <a:rPr sz="3200" spc="-6" dirty="0">
                <a:latin typeface="Calibri"/>
                <a:cs typeface="Calibri"/>
              </a:rPr>
              <a:t>each possible </a:t>
            </a:r>
            <a:r>
              <a:rPr sz="3200" spc="-19" dirty="0">
                <a:solidFill>
                  <a:srgbClr val="FF0000"/>
                </a:solidFill>
                <a:latin typeface="Calibri"/>
                <a:cs typeface="Calibri"/>
              </a:rPr>
              <a:t>percept </a:t>
            </a:r>
            <a:r>
              <a:rPr sz="3200" spc="-6" dirty="0">
                <a:solidFill>
                  <a:srgbClr val="FF0000"/>
                </a:solidFill>
                <a:latin typeface="Calibri"/>
                <a:cs typeface="Calibri"/>
              </a:rPr>
              <a:t>sequence</a:t>
            </a:r>
            <a:r>
              <a:rPr sz="3200" spc="-6" dirty="0">
                <a:latin typeface="Calibri"/>
                <a:cs typeface="Calibri"/>
              </a:rPr>
              <a:t>,  </a:t>
            </a:r>
            <a:r>
              <a:rPr sz="3200" dirty="0">
                <a:latin typeface="Calibri"/>
                <a:cs typeface="Calibri"/>
              </a:rPr>
              <a:t>a </a:t>
            </a:r>
            <a:r>
              <a:rPr sz="3200" spc="-25" dirty="0">
                <a:latin typeface="Calibri"/>
                <a:cs typeface="Calibri"/>
              </a:rPr>
              <a:t>rational agent </a:t>
            </a:r>
            <a:r>
              <a:rPr sz="3200" spc="-6" dirty="0">
                <a:latin typeface="Calibri"/>
                <a:cs typeface="Calibri"/>
              </a:rPr>
              <a:t>should select </a:t>
            </a:r>
            <a:r>
              <a:rPr sz="3200" spc="-13" dirty="0">
                <a:latin typeface="Calibri"/>
                <a:cs typeface="Calibri"/>
              </a:rPr>
              <a:t>an </a:t>
            </a:r>
            <a:r>
              <a:rPr sz="3200" spc="-6" dirty="0">
                <a:latin typeface="Calibri"/>
                <a:cs typeface="Calibri"/>
              </a:rPr>
              <a:t>action </a:t>
            </a:r>
            <a:r>
              <a:rPr sz="3200" spc="-13" dirty="0">
                <a:latin typeface="Calibri"/>
                <a:cs typeface="Calibri"/>
              </a:rPr>
              <a:t>that </a:t>
            </a:r>
            <a:r>
              <a:rPr sz="3200" spc="-6" dirty="0">
                <a:solidFill>
                  <a:srgbClr val="FF0000"/>
                </a:solidFill>
                <a:latin typeface="Calibri"/>
                <a:cs typeface="Calibri"/>
              </a:rPr>
              <a:t>is  </a:t>
            </a:r>
            <a:r>
              <a:rPr sz="3200" spc="-19" dirty="0">
                <a:solidFill>
                  <a:srgbClr val="FF0000"/>
                </a:solidFill>
                <a:latin typeface="Calibri"/>
                <a:cs typeface="Calibri"/>
              </a:rPr>
              <a:t>expected </a:t>
            </a:r>
            <a:r>
              <a:rPr sz="3200" spc="-13" dirty="0">
                <a:solidFill>
                  <a:srgbClr val="FF0000"/>
                </a:solidFill>
                <a:latin typeface="Calibri"/>
                <a:cs typeface="Calibri"/>
              </a:rPr>
              <a:t>to </a:t>
            </a:r>
            <a:r>
              <a:rPr sz="3200" spc="31" dirty="0">
                <a:solidFill>
                  <a:srgbClr val="FF0000"/>
                </a:solidFill>
                <a:latin typeface="Calibri"/>
                <a:cs typeface="Calibri"/>
              </a:rPr>
              <a:t>maximize </a:t>
            </a:r>
            <a:r>
              <a:rPr sz="3200" spc="38" dirty="0">
                <a:latin typeface="Calibri"/>
                <a:cs typeface="Calibri"/>
              </a:rPr>
              <a:t>its </a:t>
            </a:r>
            <a:r>
              <a:rPr sz="3200" spc="19" dirty="0">
                <a:solidFill>
                  <a:srgbClr val="FF0000"/>
                </a:solidFill>
                <a:latin typeface="Calibri"/>
                <a:cs typeface="Calibri"/>
              </a:rPr>
              <a:t>performance </a:t>
            </a:r>
            <a:r>
              <a:rPr sz="3200" spc="25" dirty="0">
                <a:solidFill>
                  <a:srgbClr val="FF0000"/>
                </a:solidFill>
                <a:latin typeface="Calibri"/>
                <a:cs typeface="Calibri"/>
              </a:rPr>
              <a:t>measure</a:t>
            </a:r>
            <a:r>
              <a:rPr sz="3200" spc="25" dirty="0">
                <a:latin typeface="Calibri"/>
                <a:cs typeface="Calibri"/>
              </a:rPr>
              <a:t>, </a:t>
            </a:r>
            <a:r>
              <a:rPr sz="3200" spc="-19" dirty="0">
                <a:latin typeface="Calibri"/>
                <a:cs typeface="Calibri"/>
              </a:rPr>
              <a:t>given</a:t>
            </a:r>
            <a:r>
              <a:rPr lang="en-US" sz="3200" spc="-19" dirty="0">
                <a:latin typeface="Calibri"/>
                <a:cs typeface="Calibri"/>
              </a:rPr>
              <a:t> </a:t>
            </a:r>
            <a:r>
              <a:rPr sz="3200" spc="-13" dirty="0">
                <a:latin typeface="Calibri"/>
                <a:cs typeface="Calibri"/>
              </a:rPr>
              <a:t>the evidence </a:t>
            </a:r>
            <a:r>
              <a:rPr sz="3200" spc="-19" dirty="0">
                <a:latin typeface="Calibri"/>
                <a:cs typeface="Calibri"/>
              </a:rPr>
              <a:t>provided by </a:t>
            </a:r>
            <a:r>
              <a:rPr sz="3200" dirty="0">
                <a:latin typeface="Calibri"/>
                <a:cs typeface="Calibri"/>
              </a:rPr>
              <a:t>the </a:t>
            </a:r>
            <a:r>
              <a:rPr sz="3200" spc="-19" dirty="0">
                <a:solidFill>
                  <a:srgbClr val="FF0000"/>
                </a:solidFill>
                <a:latin typeface="Calibri"/>
                <a:cs typeface="Calibri"/>
              </a:rPr>
              <a:t>percept </a:t>
            </a:r>
            <a:r>
              <a:rPr sz="3200" spc="-6" dirty="0">
                <a:solidFill>
                  <a:srgbClr val="FF0000"/>
                </a:solidFill>
                <a:latin typeface="Calibri"/>
                <a:cs typeface="Calibri"/>
              </a:rPr>
              <a:t>sequence </a:t>
            </a:r>
            <a:r>
              <a:rPr sz="3200" dirty="0">
                <a:latin typeface="Calibri"/>
                <a:cs typeface="Calibri"/>
              </a:rPr>
              <a:t>and  </a:t>
            </a:r>
            <a:r>
              <a:rPr sz="3200" spc="-19" dirty="0">
                <a:latin typeface="Calibri"/>
                <a:cs typeface="Calibri"/>
              </a:rPr>
              <a:t>whatever </a:t>
            </a:r>
            <a:r>
              <a:rPr sz="3200" spc="-13" dirty="0">
                <a:solidFill>
                  <a:srgbClr val="FF0000"/>
                </a:solidFill>
                <a:latin typeface="Calibri"/>
                <a:cs typeface="Calibri"/>
              </a:rPr>
              <a:t>built-in knowledge the </a:t>
            </a:r>
            <a:r>
              <a:rPr sz="3200" spc="-19" dirty="0">
                <a:solidFill>
                  <a:srgbClr val="FF0000"/>
                </a:solidFill>
                <a:latin typeface="Calibri"/>
                <a:cs typeface="Calibri"/>
              </a:rPr>
              <a:t>agent</a:t>
            </a:r>
            <a:r>
              <a:rPr sz="3200" spc="50" dirty="0">
                <a:solidFill>
                  <a:srgbClr val="FF0000"/>
                </a:solidFill>
                <a:latin typeface="Calibri"/>
                <a:cs typeface="Calibri"/>
              </a:rPr>
              <a:t> </a:t>
            </a:r>
            <a:r>
              <a:rPr sz="3200" spc="-6" dirty="0">
                <a:latin typeface="Calibri"/>
                <a:cs typeface="Calibri"/>
              </a:rPr>
              <a:t>has</a:t>
            </a:r>
            <a:r>
              <a:rPr sz="3517" spc="-6" dirty="0">
                <a:latin typeface="Calibri"/>
                <a:cs typeface="Calibri"/>
              </a:rPr>
              <a:t>.</a:t>
            </a:r>
            <a:endParaRPr sz="3517" dirty="0">
              <a:latin typeface="Calibri"/>
              <a:cs typeface="Calibri"/>
            </a:endParaRPr>
          </a:p>
        </p:txBody>
      </p:sp>
      <p:sp>
        <p:nvSpPr>
          <p:cNvPr id="8" name="object 8"/>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16</a:t>
            </a:fld>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7F49B58-A986-D6B8-4170-02A345E43E7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E9B15B-AAAC-5DD8-8B0D-31341AA16C29}"/>
              </a:ext>
            </a:extLst>
          </p:cNvPr>
          <p:cNvSpPr txBox="1">
            <a:spLocks noGrp="1"/>
          </p:cNvSpPr>
          <p:nvPr>
            <p:ph type="title"/>
          </p:nvPr>
        </p:nvSpPr>
        <p:spPr>
          <a:xfrm>
            <a:off x="3973512" y="6350"/>
            <a:ext cx="4423298" cy="850554"/>
          </a:xfrm>
          <a:prstGeom prst="rect">
            <a:avLst/>
          </a:prstGeom>
        </p:spPr>
        <p:txBody>
          <a:bodyPr vert="horz" wrap="square" lIns="0" tIns="0" rIns="0" bIns="0" rtlCol="0">
            <a:spAutoFit/>
          </a:bodyPr>
          <a:lstStyle/>
          <a:p>
            <a:pPr marL="15954"/>
            <a:r>
              <a:rPr spc="-6" dirty="0"/>
              <a:t>Rational</a:t>
            </a:r>
            <a:r>
              <a:rPr spc="-138" dirty="0"/>
              <a:t> </a:t>
            </a:r>
            <a:r>
              <a:rPr spc="-13" dirty="0"/>
              <a:t>agents</a:t>
            </a:r>
          </a:p>
        </p:txBody>
      </p:sp>
      <p:sp>
        <p:nvSpPr>
          <p:cNvPr id="7" name="object 7">
            <a:extLst>
              <a:ext uri="{FF2B5EF4-FFF2-40B4-BE49-F238E27FC236}">
                <a16:creationId xmlns:a16="http://schemas.microsoft.com/office/drawing/2014/main" id="{8954E063-3AD6-18CB-8133-4A10D96AFB3B}"/>
              </a:ext>
            </a:extLst>
          </p:cNvPr>
          <p:cNvSpPr txBox="1"/>
          <p:nvPr/>
        </p:nvSpPr>
        <p:spPr>
          <a:xfrm>
            <a:off x="239712" y="856904"/>
            <a:ext cx="13030200" cy="6096605"/>
          </a:xfrm>
          <a:prstGeom prst="rect">
            <a:avLst/>
          </a:prstGeom>
        </p:spPr>
        <p:txBody>
          <a:bodyPr vert="horz" wrap="square" lIns="0" tIns="0" rIns="0" bIns="0" rtlCol="0">
            <a:spAutoFit/>
          </a:bodyPr>
          <a:lstStyle/>
          <a:p>
            <a:pPr marL="15954">
              <a:tabLst>
                <a:tab pos="445907" algn="l"/>
                <a:tab pos="446705" algn="l"/>
              </a:tabLst>
            </a:pPr>
            <a:r>
              <a:rPr lang="en-US" sz="3517" dirty="0">
                <a:solidFill>
                  <a:srgbClr val="1F1F1F"/>
                </a:solidFill>
                <a:latin typeface="Google Sans"/>
              </a:rPr>
              <a:t>I</a:t>
            </a:r>
            <a:r>
              <a:rPr lang="en-US" sz="4020" spc="50" dirty="0">
                <a:latin typeface="Calibri"/>
                <a:cs typeface="Calibri"/>
              </a:rPr>
              <a:t>magine a </a:t>
            </a:r>
            <a:r>
              <a:rPr lang="en-US" sz="4020" spc="50" dirty="0">
                <a:solidFill>
                  <a:srgbClr val="FF0000"/>
                </a:solidFill>
                <a:latin typeface="Calibri"/>
                <a:cs typeface="Calibri"/>
              </a:rPr>
              <a:t>self-driving car as a rational agent</a:t>
            </a:r>
            <a:r>
              <a:rPr lang="en-US" sz="4020" spc="50" dirty="0">
                <a:latin typeface="Calibri"/>
                <a:cs typeface="Calibri"/>
              </a:rPr>
              <a:t>.</a:t>
            </a:r>
          </a:p>
          <a:p>
            <a:pPr marL="1021039" lvl="1" indent="-430751">
              <a:buFont typeface="Arial"/>
              <a:buChar char="•"/>
              <a:tabLst>
                <a:tab pos="445907" algn="l"/>
                <a:tab pos="446705" algn="l"/>
              </a:tabLst>
            </a:pPr>
            <a:r>
              <a:rPr lang="en-US" sz="3200" spc="50" dirty="0">
                <a:solidFill>
                  <a:srgbClr val="FF0000"/>
                </a:solidFill>
                <a:latin typeface="Calibri"/>
                <a:cs typeface="Calibri"/>
              </a:rPr>
              <a:t>Performance measure: </a:t>
            </a:r>
            <a:r>
              <a:rPr lang="en-US" sz="3200" spc="50" dirty="0">
                <a:latin typeface="Calibri"/>
                <a:cs typeface="Calibri"/>
              </a:rPr>
              <a:t>Safely reach the destination while minimizing travel time.</a:t>
            </a:r>
          </a:p>
          <a:p>
            <a:pPr marL="1021039" lvl="1" indent="-430751">
              <a:buFont typeface="Arial"/>
              <a:buChar char="•"/>
              <a:tabLst>
                <a:tab pos="445907" algn="l"/>
                <a:tab pos="446705" algn="l"/>
              </a:tabLst>
            </a:pPr>
            <a:r>
              <a:rPr lang="en-US" sz="3200" spc="50" dirty="0">
                <a:solidFill>
                  <a:srgbClr val="FF0000"/>
                </a:solidFill>
                <a:latin typeface="Calibri"/>
                <a:cs typeface="Calibri"/>
              </a:rPr>
              <a:t>Prior knowledge: </a:t>
            </a:r>
            <a:r>
              <a:rPr lang="en-US" sz="3200" spc="50" dirty="0">
                <a:latin typeface="Calibri"/>
                <a:cs typeface="Calibri"/>
              </a:rPr>
              <a:t>Traffic laws, road map, car's capabilities.</a:t>
            </a:r>
          </a:p>
          <a:p>
            <a:pPr marL="1021039" lvl="1" indent="-430751">
              <a:buFont typeface="Arial"/>
              <a:buChar char="•"/>
              <a:tabLst>
                <a:tab pos="445907" algn="l"/>
                <a:tab pos="446705" algn="l"/>
              </a:tabLst>
            </a:pPr>
            <a:r>
              <a:rPr lang="en-US" sz="3200" spc="50" dirty="0">
                <a:solidFill>
                  <a:srgbClr val="FF0000"/>
                </a:solidFill>
                <a:latin typeface="Calibri"/>
                <a:cs typeface="Calibri"/>
              </a:rPr>
              <a:t>Possible actions: </a:t>
            </a:r>
            <a:r>
              <a:rPr lang="en-US" sz="3200" spc="50" dirty="0">
                <a:latin typeface="Calibri"/>
                <a:cs typeface="Calibri"/>
              </a:rPr>
              <a:t>Accelerate, brake, change lanes, etc.</a:t>
            </a:r>
          </a:p>
          <a:p>
            <a:pPr marL="1021039" lvl="1" indent="-430751">
              <a:buFont typeface="Arial"/>
              <a:buChar char="•"/>
              <a:tabLst>
                <a:tab pos="445907" algn="l"/>
                <a:tab pos="446705" algn="l"/>
              </a:tabLst>
            </a:pPr>
            <a:r>
              <a:rPr lang="en-US" sz="3200" spc="50" dirty="0">
                <a:solidFill>
                  <a:srgbClr val="FF0000"/>
                </a:solidFill>
                <a:latin typeface="Calibri"/>
                <a:cs typeface="Calibri"/>
              </a:rPr>
              <a:t>Percept sequence: </a:t>
            </a:r>
            <a:r>
              <a:rPr lang="en-US" sz="3200" spc="50" dirty="0">
                <a:latin typeface="Calibri"/>
                <a:cs typeface="Calibri"/>
              </a:rPr>
              <a:t>Objects detected by sensors (other cars, pedestrians, traffic lights).</a:t>
            </a:r>
          </a:p>
          <a:p>
            <a:pPr marL="446705" indent="-430751">
              <a:buFont typeface="Arial"/>
              <a:buChar char="•"/>
              <a:tabLst>
                <a:tab pos="445907" algn="l"/>
                <a:tab pos="446705" algn="l"/>
              </a:tabLst>
            </a:pPr>
            <a:r>
              <a:rPr lang="en-US" sz="4020" spc="50" dirty="0">
                <a:latin typeface="Calibri"/>
                <a:cs typeface="Calibri"/>
              </a:rPr>
              <a:t>The car continuously perceives its </a:t>
            </a:r>
            <a:r>
              <a:rPr lang="en-US" sz="4020" spc="50" dirty="0">
                <a:solidFill>
                  <a:srgbClr val="C00000"/>
                </a:solidFill>
                <a:latin typeface="Calibri"/>
                <a:cs typeface="Calibri"/>
              </a:rPr>
              <a:t>surroundings, considers actions like changing lanes to overtake a slow car</a:t>
            </a:r>
            <a:r>
              <a:rPr lang="en-US" sz="4020" spc="50" dirty="0">
                <a:latin typeface="Calibri"/>
                <a:cs typeface="Calibri"/>
              </a:rPr>
              <a:t>, </a:t>
            </a:r>
            <a:r>
              <a:rPr lang="en-US" sz="4020" spc="50" dirty="0">
                <a:solidFill>
                  <a:srgbClr val="C00000"/>
                </a:solidFill>
                <a:latin typeface="Calibri"/>
                <a:cs typeface="Calibri"/>
              </a:rPr>
              <a:t>and selects the action that aligns best with its goals, </a:t>
            </a:r>
            <a:r>
              <a:rPr lang="en-US" sz="4020" spc="50" dirty="0">
                <a:latin typeface="Calibri"/>
                <a:cs typeface="Calibri"/>
              </a:rPr>
              <a:t>considering safety and efficiency.</a:t>
            </a:r>
          </a:p>
        </p:txBody>
      </p:sp>
      <p:sp>
        <p:nvSpPr>
          <p:cNvPr id="8" name="object 8">
            <a:extLst>
              <a:ext uri="{FF2B5EF4-FFF2-40B4-BE49-F238E27FC236}">
                <a16:creationId xmlns:a16="http://schemas.microsoft.com/office/drawing/2014/main" id="{CCA82E70-DD23-7275-CFEA-AA8068AFB4F9}"/>
              </a:ext>
            </a:extLst>
          </p:cNvPr>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17</a:t>
            </a:fld>
            <a:endParaRPr dirty="0"/>
          </a:p>
        </p:txBody>
      </p:sp>
    </p:spTree>
    <p:extLst>
      <p:ext uri="{BB962C8B-B14F-4D97-AF65-F5344CB8AC3E}">
        <p14:creationId xmlns:p14="http://schemas.microsoft.com/office/powerpoint/2010/main" val="2783015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6286" y="66349"/>
            <a:ext cx="7655616" cy="850554"/>
          </a:xfrm>
          <a:prstGeom prst="rect">
            <a:avLst/>
          </a:prstGeom>
        </p:spPr>
        <p:txBody>
          <a:bodyPr vert="horz" wrap="square" lIns="0" tIns="0" rIns="0" bIns="0" rtlCol="0">
            <a:spAutoFit/>
          </a:bodyPr>
          <a:lstStyle/>
          <a:p>
            <a:pPr marL="15954"/>
            <a:r>
              <a:rPr spc="-6" dirty="0"/>
              <a:t>Rationality </a:t>
            </a:r>
            <a:r>
              <a:rPr spc="-13" dirty="0"/>
              <a:t>vs</a:t>
            </a:r>
            <a:r>
              <a:rPr spc="-113" dirty="0"/>
              <a:t> </a:t>
            </a:r>
            <a:r>
              <a:rPr dirty="0"/>
              <a:t>Omniscience</a:t>
            </a:r>
          </a:p>
        </p:txBody>
      </p:sp>
      <p:sp>
        <p:nvSpPr>
          <p:cNvPr id="4" name="object 4"/>
          <p:cNvSpPr txBox="1"/>
          <p:nvPr/>
        </p:nvSpPr>
        <p:spPr>
          <a:xfrm>
            <a:off x="163512" y="1187450"/>
            <a:ext cx="14173200" cy="5570756"/>
          </a:xfrm>
          <a:prstGeom prst="rect">
            <a:avLst/>
          </a:prstGeom>
        </p:spPr>
        <p:txBody>
          <a:bodyPr vert="horz" wrap="square" lIns="0" tIns="0" rIns="0" bIns="0" rtlCol="0">
            <a:spAutoFit/>
          </a:bodyPr>
          <a:lstStyle/>
          <a:p>
            <a:pPr marL="446705" indent="-430751">
              <a:buFont typeface="Arial"/>
              <a:buChar char="•"/>
              <a:tabLst>
                <a:tab pos="446705" algn="l"/>
              </a:tabLst>
            </a:pPr>
            <a:r>
              <a:rPr sz="4400" spc="-13" dirty="0">
                <a:latin typeface="Calibri"/>
                <a:cs typeface="Calibri"/>
              </a:rPr>
              <a:t>Rational </a:t>
            </a:r>
            <a:r>
              <a:rPr sz="4400" spc="-6" dirty="0">
                <a:latin typeface="Calibri"/>
                <a:cs typeface="Calibri"/>
              </a:rPr>
              <a:t>is </a:t>
            </a:r>
            <a:r>
              <a:rPr sz="4400" spc="-31" dirty="0">
                <a:latin typeface="Calibri"/>
                <a:cs typeface="Calibri"/>
              </a:rPr>
              <a:t>different </a:t>
            </a:r>
            <a:r>
              <a:rPr sz="4400" spc="-19" dirty="0">
                <a:latin typeface="Calibri"/>
                <a:cs typeface="Calibri"/>
              </a:rPr>
              <a:t>from</a:t>
            </a:r>
            <a:r>
              <a:rPr sz="4400" spc="-119" dirty="0">
                <a:latin typeface="Calibri"/>
                <a:cs typeface="Calibri"/>
              </a:rPr>
              <a:t> </a:t>
            </a:r>
            <a:r>
              <a:rPr sz="4400" spc="38" dirty="0">
                <a:latin typeface="Calibri"/>
                <a:cs typeface="Calibri"/>
              </a:rPr>
              <a:t>omniscience</a:t>
            </a:r>
            <a:endParaRPr sz="4400" dirty="0">
              <a:latin typeface="Calibri"/>
              <a:cs typeface="Calibri"/>
            </a:endParaRPr>
          </a:p>
          <a:p>
            <a:pPr marL="950045" marR="1707050" lvl="1" indent="-359757">
              <a:spcBef>
                <a:spcPts val="999"/>
              </a:spcBef>
              <a:buFont typeface="Arial"/>
              <a:buChar char="–"/>
              <a:tabLst>
                <a:tab pos="950843" algn="l"/>
              </a:tabLst>
            </a:pPr>
            <a:r>
              <a:rPr lang="en-US" sz="3200" spc="-6" dirty="0">
                <a:latin typeface="Calibri"/>
                <a:cs typeface="Calibri"/>
              </a:rPr>
              <a:t>A rational agent chooses the best possible action given what it knows </a:t>
            </a:r>
          </a:p>
          <a:p>
            <a:pPr marL="950045" marR="1707050" lvl="1" indent="-359757">
              <a:spcBef>
                <a:spcPts val="999"/>
              </a:spcBef>
              <a:buFont typeface="Arial"/>
              <a:buChar char="–"/>
              <a:tabLst>
                <a:tab pos="950843" algn="l"/>
              </a:tabLst>
            </a:pPr>
            <a:r>
              <a:rPr lang="en-US" sz="3200" spc="-6" dirty="0">
                <a:latin typeface="Calibri"/>
                <a:cs typeface="Calibri"/>
              </a:rPr>
              <a:t>An omniscient agent would know everything about the world</a:t>
            </a:r>
          </a:p>
          <a:p>
            <a:pPr marL="950045" marR="1707050" lvl="1" indent="-359757">
              <a:spcBef>
                <a:spcPts val="999"/>
              </a:spcBef>
              <a:buFont typeface="Arial"/>
              <a:buChar char="–"/>
              <a:tabLst>
                <a:tab pos="950843" algn="l"/>
              </a:tabLst>
            </a:pPr>
            <a:r>
              <a:rPr sz="3200" spc="6" dirty="0">
                <a:solidFill>
                  <a:srgbClr val="C00000"/>
                </a:solidFill>
                <a:latin typeface="Calibri"/>
                <a:cs typeface="Calibri"/>
              </a:rPr>
              <a:t>E.g., </a:t>
            </a:r>
            <a:r>
              <a:rPr sz="3200" spc="-6" dirty="0">
                <a:solidFill>
                  <a:srgbClr val="C00000"/>
                </a:solidFill>
                <a:latin typeface="Calibri"/>
                <a:cs typeface="Calibri"/>
              </a:rPr>
              <a:t>in </a:t>
            </a:r>
            <a:r>
              <a:rPr sz="3200" spc="-25" dirty="0">
                <a:solidFill>
                  <a:srgbClr val="C00000"/>
                </a:solidFill>
                <a:latin typeface="Calibri"/>
                <a:cs typeface="Calibri"/>
              </a:rPr>
              <a:t>card </a:t>
            </a:r>
            <a:r>
              <a:rPr sz="3200" spc="-19" dirty="0">
                <a:solidFill>
                  <a:srgbClr val="C00000"/>
                </a:solidFill>
                <a:latin typeface="Calibri"/>
                <a:cs typeface="Calibri"/>
              </a:rPr>
              <a:t>game, </a:t>
            </a:r>
            <a:r>
              <a:rPr sz="3200" spc="-6" dirty="0">
                <a:solidFill>
                  <a:srgbClr val="C00000"/>
                </a:solidFill>
                <a:latin typeface="Calibri"/>
                <a:cs typeface="Calibri"/>
              </a:rPr>
              <a:t>don’t know </a:t>
            </a:r>
            <a:r>
              <a:rPr sz="3200" spc="-25" dirty="0">
                <a:solidFill>
                  <a:srgbClr val="C00000"/>
                </a:solidFill>
                <a:latin typeface="Calibri"/>
                <a:cs typeface="Calibri"/>
              </a:rPr>
              <a:t>cards </a:t>
            </a:r>
            <a:r>
              <a:rPr sz="3200" spc="-6" dirty="0">
                <a:solidFill>
                  <a:srgbClr val="C00000"/>
                </a:solidFill>
                <a:latin typeface="Calibri"/>
                <a:cs typeface="Calibri"/>
              </a:rPr>
              <a:t>of  </a:t>
            </a:r>
            <a:r>
              <a:rPr sz="3200" spc="-19" dirty="0">
                <a:solidFill>
                  <a:srgbClr val="C00000"/>
                </a:solidFill>
                <a:latin typeface="Calibri"/>
                <a:cs typeface="Calibri"/>
              </a:rPr>
              <a:t>others.</a:t>
            </a:r>
            <a:endParaRPr lang="en-US" sz="3200" spc="-19" dirty="0">
              <a:solidFill>
                <a:srgbClr val="C00000"/>
              </a:solidFill>
              <a:latin typeface="Calibri"/>
              <a:cs typeface="Calibri"/>
            </a:endParaRPr>
          </a:p>
          <a:p>
            <a:pPr marL="950045" marR="1707050" lvl="1" indent="-359757">
              <a:spcBef>
                <a:spcPts val="999"/>
              </a:spcBef>
              <a:buFont typeface="Arial"/>
              <a:buChar char="–"/>
              <a:tabLst>
                <a:tab pos="950843" algn="l"/>
              </a:tabLst>
            </a:pPr>
            <a:r>
              <a:rPr lang="en-US" sz="3200" dirty="0"/>
              <a:t>Rationality is about making </a:t>
            </a:r>
            <a:r>
              <a:rPr lang="en-US" sz="3200" dirty="0">
                <a:solidFill>
                  <a:srgbClr val="C00000"/>
                </a:solidFill>
              </a:rPr>
              <a:t>reasonable decisions </a:t>
            </a:r>
            <a:r>
              <a:rPr lang="en-US" sz="3200" dirty="0"/>
              <a:t>with </a:t>
            </a:r>
            <a:r>
              <a:rPr lang="en-US" sz="3200" dirty="0">
                <a:solidFill>
                  <a:srgbClr val="C00000"/>
                </a:solidFill>
              </a:rPr>
              <a:t>limited information</a:t>
            </a:r>
            <a:endParaRPr sz="3200" dirty="0">
              <a:solidFill>
                <a:srgbClr val="C00000"/>
              </a:solidFill>
              <a:latin typeface="Calibri"/>
              <a:cs typeface="Calibri"/>
            </a:endParaRPr>
          </a:p>
          <a:p>
            <a:pPr marL="446705" indent="-430751">
              <a:spcBef>
                <a:spcPts val="1043"/>
              </a:spcBef>
              <a:buFont typeface="Arial"/>
              <a:buChar char="•"/>
              <a:tabLst>
                <a:tab pos="446705" algn="l"/>
              </a:tabLst>
            </a:pPr>
            <a:r>
              <a:rPr sz="4400" spc="-13" dirty="0">
                <a:latin typeface="Calibri"/>
                <a:cs typeface="Calibri"/>
              </a:rPr>
              <a:t>Rational </a:t>
            </a:r>
            <a:r>
              <a:rPr sz="4400" spc="-6" dirty="0">
                <a:latin typeface="Calibri"/>
                <a:cs typeface="Calibri"/>
              </a:rPr>
              <a:t>is </a:t>
            </a:r>
            <a:r>
              <a:rPr sz="4400" spc="-31" dirty="0">
                <a:latin typeface="Calibri"/>
                <a:cs typeface="Calibri"/>
              </a:rPr>
              <a:t>different </a:t>
            </a:r>
            <a:r>
              <a:rPr sz="4400" spc="-19" dirty="0">
                <a:latin typeface="Calibri"/>
                <a:cs typeface="Calibri"/>
              </a:rPr>
              <a:t>from </a:t>
            </a:r>
            <a:r>
              <a:rPr sz="4400" spc="-6" dirty="0">
                <a:latin typeface="Calibri"/>
                <a:cs typeface="Calibri"/>
              </a:rPr>
              <a:t>being</a:t>
            </a:r>
            <a:r>
              <a:rPr sz="4400" spc="-69" dirty="0">
                <a:latin typeface="Calibri"/>
                <a:cs typeface="Calibri"/>
              </a:rPr>
              <a:t> </a:t>
            </a:r>
            <a:r>
              <a:rPr sz="4400" spc="-19" dirty="0">
                <a:latin typeface="Calibri"/>
                <a:cs typeface="Calibri"/>
              </a:rPr>
              <a:t>perfect</a:t>
            </a:r>
            <a:endParaRPr sz="4400" dirty="0">
              <a:latin typeface="Calibri"/>
              <a:cs typeface="Calibri"/>
            </a:endParaRPr>
          </a:p>
          <a:p>
            <a:pPr marL="950045" lvl="1" indent="-359757">
              <a:spcBef>
                <a:spcPts val="992"/>
              </a:spcBef>
              <a:buFont typeface="Arial"/>
              <a:buChar char="–"/>
              <a:tabLst>
                <a:tab pos="950843" algn="l"/>
              </a:tabLst>
            </a:pPr>
            <a:r>
              <a:rPr sz="3200" spc="-6" dirty="0">
                <a:latin typeface="Calibri"/>
                <a:cs typeface="Calibri"/>
              </a:rPr>
              <a:t>Rationality </a:t>
            </a:r>
            <a:r>
              <a:rPr sz="3200" spc="-19" dirty="0">
                <a:latin typeface="Calibri"/>
                <a:cs typeface="Calibri"/>
              </a:rPr>
              <a:t>maximizes </a:t>
            </a:r>
            <a:r>
              <a:rPr sz="3200" spc="19" dirty="0">
                <a:latin typeface="Calibri"/>
                <a:cs typeface="Calibri"/>
              </a:rPr>
              <a:t>expected</a:t>
            </a:r>
            <a:r>
              <a:rPr sz="3200" dirty="0">
                <a:latin typeface="Calibri"/>
                <a:cs typeface="Calibri"/>
              </a:rPr>
              <a:t> </a:t>
            </a:r>
            <a:r>
              <a:rPr sz="3200" spc="25" dirty="0">
                <a:latin typeface="Calibri"/>
                <a:cs typeface="Calibri"/>
              </a:rPr>
              <a:t>outcome</a:t>
            </a:r>
            <a:endParaRPr lang="en-US" sz="3200" spc="25" dirty="0">
              <a:latin typeface="Calibri"/>
              <a:cs typeface="Calibri"/>
            </a:endParaRPr>
          </a:p>
          <a:p>
            <a:pPr marL="950045"/>
            <a:r>
              <a:rPr sz="3200" spc="-6" dirty="0">
                <a:latin typeface="Calibri"/>
                <a:cs typeface="Calibri"/>
              </a:rPr>
              <a:t>while </a:t>
            </a:r>
            <a:r>
              <a:rPr sz="3200" spc="-19" dirty="0">
                <a:latin typeface="Calibri"/>
                <a:cs typeface="Calibri"/>
              </a:rPr>
              <a:t>perfection maximizes </a:t>
            </a:r>
            <a:r>
              <a:rPr sz="3200" spc="44" dirty="0">
                <a:latin typeface="Calibri"/>
                <a:cs typeface="Calibri"/>
              </a:rPr>
              <a:t>actual</a:t>
            </a:r>
            <a:r>
              <a:rPr sz="3200" spc="38" dirty="0">
                <a:latin typeface="Calibri"/>
                <a:cs typeface="Calibri"/>
              </a:rPr>
              <a:t> </a:t>
            </a:r>
            <a:r>
              <a:rPr sz="3200" spc="19" dirty="0">
                <a:latin typeface="Calibri"/>
                <a:cs typeface="Calibri"/>
              </a:rPr>
              <a:t>outcome.</a:t>
            </a:r>
            <a:endParaRPr sz="4020" dirty="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19</a:t>
            </a:fld>
            <a:endParaRPr dirty="0"/>
          </a:p>
        </p:txBody>
      </p:sp>
      <p:sp>
        <p:nvSpPr>
          <p:cNvPr id="2" name="object 2"/>
          <p:cNvSpPr txBox="1">
            <a:spLocks noGrp="1"/>
          </p:cNvSpPr>
          <p:nvPr>
            <p:ph type="title"/>
          </p:nvPr>
        </p:nvSpPr>
        <p:spPr>
          <a:xfrm>
            <a:off x="1957977" y="0"/>
            <a:ext cx="9517469" cy="850554"/>
          </a:xfrm>
          <a:prstGeom prst="rect">
            <a:avLst/>
          </a:prstGeom>
        </p:spPr>
        <p:txBody>
          <a:bodyPr vert="horz" wrap="square" lIns="0" tIns="0" rIns="0" bIns="0" rtlCol="0">
            <a:spAutoFit/>
          </a:bodyPr>
          <a:lstStyle/>
          <a:p>
            <a:pPr marL="15954"/>
            <a:r>
              <a:rPr dirty="0"/>
              <a:t>Specifying the </a:t>
            </a:r>
            <a:r>
              <a:rPr spc="-107" dirty="0"/>
              <a:t>Task</a:t>
            </a:r>
            <a:r>
              <a:rPr spc="-88" dirty="0"/>
              <a:t> </a:t>
            </a:r>
            <a:r>
              <a:rPr spc="-19" dirty="0"/>
              <a:t>Environments</a:t>
            </a:r>
          </a:p>
        </p:txBody>
      </p:sp>
      <p:sp>
        <p:nvSpPr>
          <p:cNvPr id="3" name="object 3"/>
          <p:cNvSpPr txBox="1"/>
          <p:nvPr/>
        </p:nvSpPr>
        <p:spPr>
          <a:xfrm>
            <a:off x="163512" y="1035050"/>
            <a:ext cx="13106400" cy="5770554"/>
          </a:xfrm>
          <a:prstGeom prst="rect">
            <a:avLst/>
          </a:prstGeom>
        </p:spPr>
        <p:txBody>
          <a:bodyPr vert="horz" wrap="square" lIns="0" tIns="0" rIns="0" bIns="0" rtlCol="0">
            <a:spAutoFit/>
          </a:bodyPr>
          <a:lstStyle/>
          <a:p>
            <a:pPr marL="446705" indent="-430751">
              <a:lnSpc>
                <a:spcPts val="3436"/>
              </a:lnSpc>
              <a:spcAft>
                <a:spcPts val="600"/>
              </a:spcAft>
              <a:buFont typeface="Arial"/>
              <a:buChar char="•"/>
              <a:tabLst>
                <a:tab pos="445907" algn="l"/>
                <a:tab pos="446705" algn="l"/>
                <a:tab pos="1353675" algn="l"/>
                <a:tab pos="3616713" algn="l"/>
                <a:tab pos="4341809" algn="l"/>
                <a:tab pos="6189253" algn="l"/>
                <a:tab pos="6930305" algn="l"/>
                <a:tab pos="8649320" algn="l"/>
                <a:tab pos="9194938" algn="l"/>
              </a:tabLst>
            </a:pPr>
            <a:r>
              <a:rPr sz="2800" spc="-214" dirty="0">
                <a:solidFill>
                  <a:srgbClr val="FF0000"/>
                </a:solidFill>
                <a:latin typeface="Calibri"/>
                <a:cs typeface="Calibri"/>
              </a:rPr>
              <a:t>T</a:t>
            </a:r>
            <a:r>
              <a:rPr sz="2800" spc="38" dirty="0">
                <a:solidFill>
                  <a:srgbClr val="FF0000"/>
                </a:solidFill>
                <a:latin typeface="Calibri"/>
                <a:cs typeface="Calibri"/>
              </a:rPr>
              <a:t>a</a:t>
            </a:r>
            <a:r>
              <a:rPr sz="2800" spc="25" dirty="0">
                <a:solidFill>
                  <a:srgbClr val="FF0000"/>
                </a:solidFill>
                <a:latin typeface="Calibri"/>
                <a:cs typeface="Calibri"/>
              </a:rPr>
              <a:t>s</a:t>
            </a:r>
            <a:r>
              <a:rPr sz="2800" spc="75" dirty="0">
                <a:solidFill>
                  <a:srgbClr val="FF0000"/>
                </a:solidFill>
                <a:latin typeface="Calibri"/>
                <a:cs typeface="Calibri"/>
              </a:rPr>
              <a:t>k</a:t>
            </a:r>
            <a:r>
              <a:rPr sz="2800" dirty="0">
                <a:solidFill>
                  <a:srgbClr val="FF0000"/>
                </a:solidFill>
                <a:latin typeface="Calibri"/>
                <a:cs typeface="Calibri"/>
              </a:rPr>
              <a:t>	</a:t>
            </a:r>
            <a:r>
              <a:rPr lang="en-US" sz="2800" spc="-6" dirty="0">
                <a:solidFill>
                  <a:srgbClr val="FF0000"/>
                </a:solidFill>
                <a:latin typeface="Calibri"/>
                <a:cs typeface="Calibri"/>
              </a:rPr>
              <a:t>Environments </a:t>
            </a:r>
            <a:r>
              <a:rPr sz="2800" dirty="0">
                <a:latin typeface="Calibri"/>
                <a:cs typeface="Calibri"/>
              </a:rPr>
              <a:t>a</a:t>
            </a:r>
            <a:r>
              <a:rPr sz="2800" spc="-50" dirty="0">
                <a:latin typeface="Calibri"/>
                <a:cs typeface="Calibri"/>
              </a:rPr>
              <a:t>r</a:t>
            </a:r>
            <a:r>
              <a:rPr sz="2800" spc="6" dirty="0">
                <a:latin typeface="Calibri"/>
                <a:cs typeface="Calibri"/>
              </a:rPr>
              <a:t>e</a:t>
            </a:r>
            <a:r>
              <a:rPr lang="en-US" sz="2800" spc="6" dirty="0">
                <a:latin typeface="Calibri"/>
                <a:cs typeface="Calibri"/>
              </a:rPr>
              <a:t> </a:t>
            </a:r>
            <a:r>
              <a:rPr sz="2800" dirty="0">
                <a:latin typeface="Calibri"/>
                <a:cs typeface="Calibri"/>
              </a:rPr>
              <a:t>e</a:t>
            </a:r>
            <a:r>
              <a:rPr sz="2800" spc="-6" dirty="0">
                <a:latin typeface="Calibri"/>
                <a:cs typeface="Calibri"/>
              </a:rPr>
              <a:t>s</a:t>
            </a:r>
            <a:r>
              <a:rPr sz="2800" spc="-13" dirty="0">
                <a:latin typeface="Calibri"/>
                <a:cs typeface="Calibri"/>
              </a:rPr>
              <a:t>s</a:t>
            </a:r>
            <a:r>
              <a:rPr sz="2800" dirty="0">
                <a:latin typeface="Calibri"/>
                <a:cs typeface="Calibri"/>
              </a:rPr>
              <a:t>e</a:t>
            </a:r>
            <a:r>
              <a:rPr sz="2800" spc="-31" dirty="0">
                <a:latin typeface="Calibri"/>
                <a:cs typeface="Calibri"/>
              </a:rPr>
              <a:t>n</a:t>
            </a:r>
            <a:r>
              <a:rPr sz="2800" dirty="0">
                <a:latin typeface="Calibri"/>
                <a:cs typeface="Calibri"/>
              </a:rPr>
              <a:t>tially</a:t>
            </a:r>
            <a:r>
              <a:rPr lang="en-US" sz="2800" dirty="0">
                <a:latin typeface="Calibri"/>
                <a:cs typeface="Calibri"/>
              </a:rPr>
              <a:t> </a:t>
            </a:r>
            <a:r>
              <a:rPr sz="2800" dirty="0">
                <a:latin typeface="Calibri"/>
                <a:cs typeface="Calibri"/>
              </a:rPr>
              <a:t>t</a:t>
            </a:r>
            <a:r>
              <a:rPr sz="2800" spc="-6" dirty="0">
                <a:latin typeface="Calibri"/>
                <a:cs typeface="Calibri"/>
              </a:rPr>
              <a:t>h</a:t>
            </a:r>
            <a:r>
              <a:rPr sz="2800" spc="6" dirty="0">
                <a:latin typeface="Calibri"/>
                <a:cs typeface="Calibri"/>
              </a:rPr>
              <a:t>e</a:t>
            </a:r>
            <a:r>
              <a:rPr lang="en-US" sz="2800" spc="6" dirty="0">
                <a:latin typeface="Calibri"/>
                <a:cs typeface="Calibri"/>
              </a:rPr>
              <a:t> </a:t>
            </a:r>
            <a:r>
              <a:rPr sz="2800" spc="19" dirty="0">
                <a:latin typeface="Calibri"/>
                <a:cs typeface="Calibri"/>
              </a:rPr>
              <a:t>p</a:t>
            </a:r>
            <a:r>
              <a:rPr sz="2800" spc="-13" dirty="0">
                <a:latin typeface="Calibri"/>
                <a:cs typeface="Calibri"/>
              </a:rPr>
              <a:t>r</a:t>
            </a:r>
            <a:r>
              <a:rPr sz="2800" spc="31" dirty="0">
                <a:latin typeface="Calibri"/>
                <a:cs typeface="Calibri"/>
              </a:rPr>
              <a:t>o</a:t>
            </a:r>
            <a:r>
              <a:rPr sz="2800" spc="19" dirty="0">
                <a:latin typeface="Calibri"/>
                <a:cs typeface="Calibri"/>
              </a:rPr>
              <a:t>b</a:t>
            </a:r>
            <a:r>
              <a:rPr sz="2800" spc="25" dirty="0">
                <a:latin typeface="Calibri"/>
                <a:cs typeface="Calibri"/>
              </a:rPr>
              <a:t>l</a:t>
            </a:r>
            <a:r>
              <a:rPr sz="2800" spc="19" dirty="0">
                <a:latin typeface="Calibri"/>
                <a:cs typeface="Calibri"/>
              </a:rPr>
              <a:t>e</a:t>
            </a:r>
            <a:r>
              <a:rPr sz="2800" spc="44" dirty="0">
                <a:latin typeface="Calibri"/>
                <a:cs typeface="Calibri"/>
              </a:rPr>
              <a:t>m</a:t>
            </a:r>
            <a:r>
              <a:rPr sz="2800" spc="25" dirty="0">
                <a:latin typeface="Calibri"/>
                <a:cs typeface="Calibri"/>
              </a:rPr>
              <a:t>s</a:t>
            </a:r>
            <a:r>
              <a:rPr lang="en-US" sz="2800" spc="25" dirty="0">
                <a:latin typeface="Calibri"/>
                <a:cs typeface="Calibri"/>
              </a:rPr>
              <a:t> </a:t>
            </a:r>
            <a:r>
              <a:rPr sz="2800" spc="-31" dirty="0">
                <a:latin typeface="Calibri"/>
                <a:cs typeface="Calibri"/>
              </a:rPr>
              <a:t>t</a:t>
            </a:r>
            <a:r>
              <a:rPr sz="2800" spc="-13" dirty="0">
                <a:latin typeface="Calibri"/>
                <a:cs typeface="Calibri"/>
              </a:rPr>
              <a:t>o</a:t>
            </a:r>
            <a:r>
              <a:rPr lang="en-US" sz="2800" spc="-13" dirty="0">
                <a:latin typeface="Calibri"/>
                <a:cs typeface="Calibri"/>
              </a:rPr>
              <a:t> </a:t>
            </a:r>
            <a:r>
              <a:rPr sz="2800" dirty="0">
                <a:latin typeface="Calibri"/>
                <a:cs typeface="Calibri"/>
              </a:rPr>
              <a:t>w</a:t>
            </a:r>
            <a:r>
              <a:rPr sz="2800" spc="-6" dirty="0">
                <a:latin typeface="Calibri"/>
                <a:cs typeface="Calibri"/>
              </a:rPr>
              <a:t>h</a:t>
            </a:r>
            <a:r>
              <a:rPr sz="2800" dirty="0">
                <a:latin typeface="Calibri"/>
                <a:cs typeface="Calibri"/>
              </a:rPr>
              <a:t>ic</a:t>
            </a:r>
            <a:r>
              <a:rPr sz="2800" spc="-6" dirty="0">
                <a:latin typeface="Calibri"/>
                <a:cs typeface="Calibri"/>
              </a:rPr>
              <a:t>h</a:t>
            </a:r>
            <a:r>
              <a:rPr lang="en-US" sz="2800" dirty="0">
                <a:latin typeface="Calibri"/>
                <a:cs typeface="Calibri"/>
              </a:rPr>
              <a:t> </a:t>
            </a:r>
            <a:r>
              <a:rPr sz="2800" spc="19" dirty="0">
                <a:latin typeface="Calibri"/>
                <a:cs typeface="Calibri"/>
              </a:rPr>
              <a:t>rational </a:t>
            </a:r>
            <a:r>
              <a:rPr sz="2800" spc="13" dirty="0">
                <a:latin typeface="Calibri"/>
                <a:cs typeface="Calibri"/>
              </a:rPr>
              <a:t>agents </a:t>
            </a:r>
            <a:r>
              <a:rPr sz="2800" spc="-13" dirty="0">
                <a:latin typeface="Calibri"/>
                <a:cs typeface="Calibri"/>
              </a:rPr>
              <a:t>are </a:t>
            </a:r>
            <a:r>
              <a:rPr sz="2800" dirty="0">
                <a:latin typeface="Calibri"/>
                <a:cs typeface="Calibri"/>
              </a:rPr>
              <a:t>the</a:t>
            </a:r>
            <a:r>
              <a:rPr sz="2800" spc="-113" dirty="0">
                <a:latin typeface="Calibri"/>
                <a:cs typeface="Calibri"/>
              </a:rPr>
              <a:t> </a:t>
            </a:r>
            <a:r>
              <a:rPr sz="2800" spc="25" dirty="0">
                <a:latin typeface="Calibri"/>
                <a:cs typeface="Calibri"/>
              </a:rPr>
              <a:t>solutions.</a:t>
            </a:r>
            <a:endParaRPr lang="en-US" sz="2800" spc="25" dirty="0">
              <a:latin typeface="Calibri"/>
              <a:cs typeface="Calibri"/>
            </a:endParaRPr>
          </a:p>
          <a:p>
            <a:pPr marL="446705" indent="-430751">
              <a:lnSpc>
                <a:spcPts val="3436"/>
              </a:lnSpc>
              <a:buFont typeface="Arial"/>
              <a:buChar char="•"/>
              <a:tabLst>
                <a:tab pos="445907" algn="l"/>
                <a:tab pos="446705" algn="l"/>
                <a:tab pos="1353675" algn="l"/>
                <a:tab pos="3616713" algn="l"/>
                <a:tab pos="4341809" algn="l"/>
                <a:tab pos="6189253" algn="l"/>
                <a:tab pos="6930305" algn="l"/>
                <a:tab pos="8649320" algn="l"/>
                <a:tab pos="9194938" algn="l"/>
              </a:tabLst>
            </a:pPr>
            <a:r>
              <a:rPr lang="en-US" sz="2800" dirty="0"/>
              <a:t>It defines </a:t>
            </a:r>
            <a:r>
              <a:rPr lang="en-US" sz="2800" dirty="0">
                <a:solidFill>
                  <a:srgbClr val="C00000"/>
                </a:solidFill>
              </a:rPr>
              <a:t>everything the agent needs to know and interact with </a:t>
            </a:r>
            <a:r>
              <a:rPr lang="en-US" sz="2800" dirty="0"/>
              <a:t>in order to act rationally.</a:t>
            </a:r>
            <a:endParaRPr sz="2800" dirty="0">
              <a:latin typeface="Calibri"/>
              <a:cs typeface="Calibri"/>
            </a:endParaRPr>
          </a:p>
          <a:p>
            <a:pPr marL="446705" marR="6381" indent="-430751" algn="just">
              <a:lnSpc>
                <a:spcPts val="3254"/>
              </a:lnSpc>
              <a:spcBef>
                <a:spcPts val="1558"/>
              </a:spcBef>
              <a:buFont typeface="Arial"/>
              <a:buChar char="•"/>
              <a:tabLst>
                <a:tab pos="446705" algn="l"/>
              </a:tabLst>
            </a:pPr>
            <a:r>
              <a:rPr sz="2800" spc="-6" dirty="0">
                <a:latin typeface="Calibri"/>
                <a:cs typeface="Calibri"/>
              </a:rPr>
              <a:t>In designing </a:t>
            </a:r>
            <a:r>
              <a:rPr sz="2800" dirty="0">
                <a:latin typeface="Calibri"/>
                <a:cs typeface="Calibri"/>
              </a:rPr>
              <a:t>an </a:t>
            </a:r>
            <a:r>
              <a:rPr sz="2800" spc="-13" dirty="0">
                <a:latin typeface="Calibri"/>
                <a:cs typeface="Calibri"/>
              </a:rPr>
              <a:t>agent </a:t>
            </a:r>
            <a:r>
              <a:rPr sz="2800" spc="-6" dirty="0">
                <a:latin typeface="Calibri"/>
                <a:cs typeface="Calibri"/>
              </a:rPr>
              <a:t>the </a:t>
            </a:r>
            <a:r>
              <a:rPr sz="2800" spc="-19" dirty="0">
                <a:latin typeface="Calibri"/>
                <a:cs typeface="Calibri"/>
              </a:rPr>
              <a:t>first step </a:t>
            </a:r>
            <a:r>
              <a:rPr sz="2800" spc="-13" dirty="0">
                <a:latin typeface="Calibri"/>
                <a:cs typeface="Calibri"/>
              </a:rPr>
              <a:t>must </a:t>
            </a:r>
            <a:r>
              <a:rPr sz="2800" spc="-25" dirty="0">
                <a:latin typeface="Calibri"/>
                <a:cs typeface="Calibri"/>
              </a:rPr>
              <a:t>always </a:t>
            </a:r>
            <a:r>
              <a:rPr sz="2800" dirty="0">
                <a:latin typeface="Calibri"/>
                <a:cs typeface="Calibri"/>
              </a:rPr>
              <a:t>be </a:t>
            </a:r>
            <a:r>
              <a:rPr sz="2800" spc="-25" dirty="0">
                <a:latin typeface="Calibri"/>
                <a:cs typeface="Calibri"/>
              </a:rPr>
              <a:t>to </a:t>
            </a:r>
            <a:r>
              <a:rPr sz="2800" spc="-6" dirty="0">
                <a:latin typeface="Calibri"/>
                <a:cs typeface="Calibri"/>
              </a:rPr>
              <a:t>specify </a:t>
            </a:r>
            <a:r>
              <a:rPr sz="2800" dirty="0">
                <a:solidFill>
                  <a:srgbClr val="FF0000"/>
                </a:solidFill>
                <a:latin typeface="Calibri"/>
                <a:cs typeface="Calibri"/>
              </a:rPr>
              <a:t>the </a:t>
            </a:r>
            <a:r>
              <a:rPr sz="2800" spc="31" dirty="0">
                <a:solidFill>
                  <a:srgbClr val="FF0000"/>
                </a:solidFill>
                <a:latin typeface="Calibri"/>
                <a:cs typeface="Calibri"/>
              </a:rPr>
              <a:t>task </a:t>
            </a:r>
            <a:r>
              <a:rPr sz="2800" spc="19" dirty="0">
                <a:solidFill>
                  <a:srgbClr val="FF0000"/>
                </a:solidFill>
                <a:latin typeface="Calibri"/>
                <a:cs typeface="Calibri"/>
              </a:rPr>
              <a:t>environment </a:t>
            </a:r>
            <a:r>
              <a:rPr sz="2800" dirty="0">
                <a:solidFill>
                  <a:srgbClr val="FF0000"/>
                </a:solidFill>
                <a:latin typeface="Calibri"/>
                <a:cs typeface="Calibri"/>
              </a:rPr>
              <a:t>as fully as </a:t>
            </a:r>
            <a:r>
              <a:rPr sz="2800" spc="-6" dirty="0">
                <a:solidFill>
                  <a:srgbClr val="FF0000"/>
                </a:solidFill>
                <a:latin typeface="Calibri"/>
                <a:cs typeface="Calibri"/>
              </a:rPr>
              <a:t>possible a.k.a </a:t>
            </a:r>
            <a:r>
              <a:rPr sz="2800" spc="-19" dirty="0">
                <a:solidFill>
                  <a:srgbClr val="FF0000"/>
                </a:solidFill>
                <a:latin typeface="Calibri"/>
                <a:cs typeface="Calibri"/>
              </a:rPr>
              <a:t>PEAS  </a:t>
            </a:r>
            <a:r>
              <a:rPr sz="2800" spc="-13" dirty="0">
                <a:solidFill>
                  <a:srgbClr val="FF0000"/>
                </a:solidFill>
                <a:latin typeface="Calibri"/>
                <a:cs typeface="Calibri"/>
              </a:rPr>
              <a:t>(Performance </a:t>
            </a:r>
            <a:r>
              <a:rPr sz="2800" spc="-6" dirty="0">
                <a:solidFill>
                  <a:srgbClr val="FF0000"/>
                </a:solidFill>
                <a:latin typeface="Calibri"/>
                <a:cs typeface="Calibri"/>
              </a:rPr>
              <a:t>measure, </a:t>
            </a:r>
            <a:r>
              <a:rPr sz="2800" spc="-13" dirty="0">
                <a:solidFill>
                  <a:srgbClr val="FF0000"/>
                </a:solidFill>
                <a:latin typeface="Calibri"/>
                <a:cs typeface="Calibri"/>
              </a:rPr>
              <a:t>Environment, Actuators,</a:t>
            </a:r>
            <a:r>
              <a:rPr sz="2800" spc="-94" dirty="0">
                <a:solidFill>
                  <a:srgbClr val="FF0000"/>
                </a:solidFill>
                <a:latin typeface="Calibri"/>
                <a:cs typeface="Calibri"/>
              </a:rPr>
              <a:t> </a:t>
            </a:r>
            <a:r>
              <a:rPr sz="2800" spc="-13" dirty="0">
                <a:solidFill>
                  <a:srgbClr val="FF0000"/>
                </a:solidFill>
                <a:latin typeface="Calibri"/>
                <a:cs typeface="Calibri"/>
              </a:rPr>
              <a:t>Sensors)</a:t>
            </a:r>
            <a:endParaRPr sz="2800" dirty="0">
              <a:solidFill>
                <a:srgbClr val="FF0000"/>
              </a:solidFill>
              <a:latin typeface="Calibri"/>
              <a:cs typeface="Calibri"/>
            </a:endParaRPr>
          </a:p>
          <a:p>
            <a:pPr marL="446705" marR="9572" indent="-430751" algn="just">
              <a:lnSpc>
                <a:spcPct val="80000"/>
              </a:lnSpc>
              <a:spcBef>
                <a:spcPts val="1533"/>
              </a:spcBef>
              <a:buFont typeface="Arial"/>
              <a:buChar char="•"/>
              <a:tabLst>
                <a:tab pos="446705" algn="l"/>
              </a:tabLst>
            </a:pPr>
            <a:r>
              <a:rPr sz="2800" spc="25" dirty="0">
                <a:latin typeface="Calibri"/>
                <a:cs typeface="Calibri"/>
              </a:rPr>
              <a:t>Example (Automated </a:t>
            </a:r>
            <a:r>
              <a:rPr sz="2800" spc="-6" dirty="0">
                <a:latin typeface="Calibri"/>
                <a:cs typeface="Calibri"/>
              </a:rPr>
              <a:t>Taxi): </a:t>
            </a:r>
            <a:r>
              <a:rPr sz="2800" spc="-31" dirty="0">
                <a:latin typeface="Calibri"/>
                <a:cs typeface="Calibri"/>
              </a:rPr>
              <a:t>Consider, </a:t>
            </a:r>
            <a:r>
              <a:rPr sz="2800" spc="-6" dirty="0">
                <a:latin typeface="Calibri"/>
                <a:cs typeface="Calibri"/>
              </a:rPr>
              <a:t>e.g., </a:t>
            </a:r>
            <a:r>
              <a:rPr sz="2800" dirty="0">
                <a:latin typeface="Calibri"/>
                <a:cs typeface="Calibri"/>
              </a:rPr>
              <a:t>the </a:t>
            </a:r>
            <a:r>
              <a:rPr sz="2800" spc="-13" dirty="0">
                <a:latin typeface="Calibri"/>
                <a:cs typeface="Calibri"/>
              </a:rPr>
              <a:t>task </a:t>
            </a:r>
            <a:r>
              <a:rPr sz="2800" spc="-6" dirty="0">
                <a:latin typeface="Calibri"/>
                <a:cs typeface="Calibri"/>
              </a:rPr>
              <a:t>of  designing </a:t>
            </a:r>
            <a:r>
              <a:rPr sz="2800" dirty="0">
                <a:latin typeface="Calibri"/>
                <a:cs typeface="Calibri"/>
              </a:rPr>
              <a:t>an </a:t>
            </a:r>
            <a:r>
              <a:rPr sz="2800" spc="-13" dirty="0">
                <a:latin typeface="Calibri"/>
                <a:cs typeface="Calibri"/>
              </a:rPr>
              <a:t>automated </a:t>
            </a:r>
            <a:r>
              <a:rPr sz="2800" spc="-19" dirty="0">
                <a:latin typeface="Calibri"/>
                <a:cs typeface="Calibri"/>
              </a:rPr>
              <a:t>taxi </a:t>
            </a:r>
            <a:r>
              <a:rPr sz="2800" spc="-6" dirty="0">
                <a:latin typeface="Calibri"/>
                <a:cs typeface="Calibri"/>
              </a:rPr>
              <a:t>driver</a:t>
            </a:r>
            <a:r>
              <a:rPr sz="2800" spc="-57" dirty="0">
                <a:latin typeface="Calibri"/>
                <a:cs typeface="Calibri"/>
              </a:rPr>
              <a:t> </a:t>
            </a:r>
            <a:r>
              <a:rPr sz="2800" spc="-13" dirty="0">
                <a:latin typeface="Calibri"/>
                <a:cs typeface="Calibri"/>
              </a:rPr>
              <a:t>agent:</a:t>
            </a:r>
            <a:endParaRPr sz="2800" dirty="0">
              <a:latin typeface="Calibri"/>
              <a:cs typeface="Calibri"/>
            </a:endParaRPr>
          </a:p>
          <a:p>
            <a:pPr marL="950045" marR="367734" lvl="1" indent="-359757">
              <a:lnSpc>
                <a:spcPct val="80000"/>
              </a:lnSpc>
              <a:spcBef>
                <a:spcPts val="1501"/>
              </a:spcBef>
              <a:buFont typeface="Arial"/>
              <a:buChar char="–"/>
              <a:tabLst>
                <a:tab pos="950843" algn="l"/>
              </a:tabLst>
            </a:pPr>
            <a:r>
              <a:rPr sz="2400" spc="13" dirty="0">
                <a:latin typeface="Calibri"/>
                <a:cs typeface="Calibri"/>
              </a:rPr>
              <a:t>Performance </a:t>
            </a:r>
            <a:r>
              <a:rPr sz="2400" spc="19" dirty="0">
                <a:latin typeface="Calibri"/>
                <a:cs typeface="Calibri"/>
              </a:rPr>
              <a:t>measure: </a:t>
            </a:r>
            <a:r>
              <a:rPr sz="2400" spc="-19" dirty="0">
                <a:latin typeface="Calibri"/>
                <a:cs typeface="Calibri"/>
              </a:rPr>
              <a:t>Safe, fast, </a:t>
            </a:r>
            <a:r>
              <a:rPr sz="2400" spc="-13" dirty="0">
                <a:latin typeface="Calibri"/>
                <a:cs typeface="Calibri"/>
              </a:rPr>
              <a:t>legal, </a:t>
            </a:r>
            <a:r>
              <a:rPr sz="2400" spc="-19" dirty="0">
                <a:latin typeface="Calibri"/>
                <a:cs typeface="Calibri"/>
              </a:rPr>
              <a:t>comfortable </a:t>
            </a:r>
            <a:r>
              <a:rPr sz="2400" dirty="0">
                <a:latin typeface="Calibri"/>
                <a:cs typeface="Calibri"/>
              </a:rPr>
              <a:t>trip,  </a:t>
            </a:r>
            <a:r>
              <a:rPr sz="2400" spc="-13" dirty="0">
                <a:latin typeface="Calibri"/>
                <a:cs typeface="Calibri"/>
              </a:rPr>
              <a:t>maximize</a:t>
            </a:r>
            <a:r>
              <a:rPr sz="2400" spc="-143" dirty="0">
                <a:latin typeface="Calibri"/>
                <a:cs typeface="Calibri"/>
              </a:rPr>
              <a:t> </a:t>
            </a:r>
            <a:r>
              <a:rPr sz="2400" spc="-13" dirty="0">
                <a:latin typeface="Calibri"/>
                <a:cs typeface="Calibri"/>
              </a:rPr>
              <a:t>profits</a:t>
            </a:r>
            <a:r>
              <a:rPr lang="en-US" sz="2400" spc="-13" dirty="0">
                <a:latin typeface="Calibri"/>
                <a:cs typeface="Calibri"/>
              </a:rPr>
              <a:t>.</a:t>
            </a:r>
            <a:endParaRPr sz="2400" dirty="0">
              <a:latin typeface="Calibri"/>
              <a:cs typeface="Calibri"/>
            </a:endParaRPr>
          </a:p>
          <a:p>
            <a:pPr marL="950045" lvl="1" indent="-359757">
              <a:spcBef>
                <a:spcPts val="898"/>
              </a:spcBef>
              <a:buFont typeface="Arial"/>
              <a:buChar char="–"/>
              <a:tabLst>
                <a:tab pos="950843" algn="l"/>
              </a:tabLst>
            </a:pPr>
            <a:r>
              <a:rPr sz="2400" spc="19" dirty="0">
                <a:latin typeface="Calibri"/>
                <a:cs typeface="Calibri"/>
              </a:rPr>
              <a:t>Environment: </a:t>
            </a:r>
            <a:r>
              <a:rPr sz="2400" spc="-13" dirty="0">
                <a:latin typeface="Calibri"/>
                <a:cs typeface="Calibri"/>
              </a:rPr>
              <a:t>Roads, </a:t>
            </a:r>
            <a:r>
              <a:rPr sz="2400" dirty="0">
                <a:latin typeface="Calibri"/>
                <a:cs typeface="Calibri"/>
              </a:rPr>
              <a:t>other </a:t>
            </a:r>
            <a:r>
              <a:rPr sz="2400" spc="-19" dirty="0">
                <a:latin typeface="Calibri"/>
                <a:cs typeface="Calibri"/>
              </a:rPr>
              <a:t>traffic, </a:t>
            </a:r>
            <a:r>
              <a:rPr sz="2400" spc="-6" dirty="0">
                <a:latin typeface="Calibri"/>
                <a:cs typeface="Calibri"/>
              </a:rPr>
              <a:t>pedestrians,</a:t>
            </a:r>
            <a:r>
              <a:rPr sz="2400" spc="-75" dirty="0">
                <a:latin typeface="Calibri"/>
                <a:cs typeface="Calibri"/>
              </a:rPr>
              <a:t> </a:t>
            </a:r>
            <a:r>
              <a:rPr sz="2400" spc="-13" dirty="0">
                <a:latin typeface="Calibri"/>
                <a:cs typeface="Calibri"/>
              </a:rPr>
              <a:t>customers</a:t>
            </a:r>
            <a:r>
              <a:rPr lang="en-US" sz="2400" spc="-13" dirty="0">
                <a:latin typeface="Calibri"/>
                <a:cs typeface="Calibri"/>
              </a:rPr>
              <a:t>.</a:t>
            </a:r>
            <a:endParaRPr sz="2400" dirty="0">
              <a:latin typeface="Calibri"/>
              <a:cs typeface="Calibri"/>
            </a:endParaRPr>
          </a:p>
          <a:p>
            <a:pPr marL="950045" lvl="1" indent="-359757">
              <a:spcBef>
                <a:spcPts val="716"/>
              </a:spcBef>
              <a:buFont typeface="Arial"/>
              <a:buChar char="–"/>
              <a:tabLst>
                <a:tab pos="950843" algn="l"/>
              </a:tabLst>
            </a:pPr>
            <a:r>
              <a:rPr sz="2400" spc="19" dirty="0">
                <a:latin typeface="Calibri"/>
                <a:cs typeface="Calibri"/>
              </a:rPr>
              <a:t>Actuators: </a:t>
            </a:r>
            <a:r>
              <a:rPr sz="2400" spc="-6" dirty="0">
                <a:latin typeface="Calibri"/>
                <a:cs typeface="Calibri"/>
              </a:rPr>
              <a:t>Steering </a:t>
            </a:r>
            <a:r>
              <a:rPr sz="2400" dirty="0">
                <a:latin typeface="Calibri"/>
                <a:cs typeface="Calibri"/>
              </a:rPr>
              <a:t>wheel, </a:t>
            </a:r>
            <a:r>
              <a:rPr sz="2400" spc="-31" dirty="0">
                <a:latin typeface="Calibri"/>
                <a:cs typeface="Calibri"/>
              </a:rPr>
              <a:t>accelerator, </a:t>
            </a:r>
            <a:r>
              <a:rPr sz="2400" spc="-25" dirty="0">
                <a:latin typeface="Calibri"/>
                <a:cs typeface="Calibri"/>
              </a:rPr>
              <a:t>brake, </a:t>
            </a:r>
            <a:r>
              <a:rPr sz="2400" spc="-6" dirty="0">
                <a:latin typeface="Calibri"/>
                <a:cs typeface="Calibri"/>
              </a:rPr>
              <a:t>signal,</a:t>
            </a:r>
            <a:r>
              <a:rPr sz="2400" spc="-82" dirty="0">
                <a:latin typeface="Calibri"/>
                <a:cs typeface="Calibri"/>
              </a:rPr>
              <a:t> </a:t>
            </a:r>
            <a:r>
              <a:rPr sz="2400" spc="-6" dirty="0">
                <a:latin typeface="Calibri"/>
                <a:cs typeface="Calibri"/>
              </a:rPr>
              <a:t>horn</a:t>
            </a:r>
            <a:r>
              <a:rPr lang="en-US" sz="2400" spc="-6" dirty="0">
                <a:latin typeface="Calibri"/>
                <a:cs typeface="Calibri"/>
              </a:rPr>
              <a:t>.</a:t>
            </a:r>
            <a:endParaRPr sz="2400" dirty="0">
              <a:latin typeface="Calibri"/>
              <a:cs typeface="Calibri"/>
            </a:endParaRPr>
          </a:p>
          <a:p>
            <a:pPr marL="950045" marR="589491" lvl="1" indent="-359757">
              <a:lnSpc>
                <a:spcPct val="80000"/>
              </a:lnSpc>
              <a:spcBef>
                <a:spcPts val="1985"/>
              </a:spcBef>
              <a:buFont typeface="Arial"/>
              <a:buChar char="–"/>
              <a:tabLst>
                <a:tab pos="950843" algn="l"/>
              </a:tabLst>
            </a:pPr>
            <a:r>
              <a:rPr sz="2400" spc="19" dirty="0">
                <a:latin typeface="Calibri"/>
                <a:cs typeface="Calibri"/>
              </a:rPr>
              <a:t>Sensors: </a:t>
            </a:r>
            <a:r>
              <a:rPr sz="2400" spc="-6" dirty="0">
                <a:latin typeface="Calibri"/>
                <a:cs typeface="Calibri"/>
              </a:rPr>
              <a:t>Cameras, </a:t>
            </a:r>
            <a:r>
              <a:rPr sz="2400" spc="-50" dirty="0">
                <a:latin typeface="Calibri"/>
                <a:cs typeface="Calibri"/>
              </a:rPr>
              <a:t>sonar, </a:t>
            </a:r>
            <a:r>
              <a:rPr sz="2400" spc="-25" dirty="0">
                <a:latin typeface="Calibri"/>
                <a:cs typeface="Calibri"/>
              </a:rPr>
              <a:t>speedometer, </a:t>
            </a:r>
            <a:r>
              <a:rPr sz="2400" spc="-6" dirty="0">
                <a:latin typeface="Calibri"/>
                <a:cs typeface="Calibri"/>
              </a:rPr>
              <a:t>GPS, </a:t>
            </a:r>
            <a:r>
              <a:rPr sz="2400" spc="-38" dirty="0">
                <a:latin typeface="Calibri"/>
                <a:cs typeface="Calibri"/>
              </a:rPr>
              <a:t>odometer,  </a:t>
            </a:r>
            <a:r>
              <a:rPr sz="2400" dirty="0">
                <a:latin typeface="Calibri"/>
                <a:cs typeface="Calibri"/>
              </a:rPr>
              <a:t>engine </a:t>
            </a:r>
            <a:r>
              <a:rPr sz="2400" spc="-13" dirty="0">
                <a:latin typeface="Calibri"/>
                <a:cs typeface="Calibri"/>
              </a:rPr>
              <a:t>sensors,</a:t>
            </a:r>
            <a:r>
              <a:rPr sz="2400" spc="-75" dirty="0">
                <a:latin typeface="Calibri"/>
                <a:cs typeface="Calibri"/>
              </a:rPr>
              <a:t> </a:t>
            </a:r>
            <a:r>
              <a:rPr sz="2400" spc="-25" dirty="0">
                <a:latin typeface="Calibri"/>
                <a:cs typeface="Calibri"/>
              </a:rPr>
              <a:t>keyboard</a:t>
            </a:r>
            <a:r>
              <a:rPr lang="en-US" sz="2600" spc="-25" dirty="0">
                <a:latin typeface="Calibri"/>
                <a:cs typeface="Calibri"/>
              </a:rPr>
              <a:t>.</a:t>
            </a:r>
            <a:endParaRPr sz="2600" dirty="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2478" y="-86812"/>
            <a:ext cx="5784190" cy="850554"/>
          </a:xfrm>
          <a:prstGeom prst="rect">
            <a:avLst/>
          </a:prstGeom>
        </p:spPr>
        <p:txBody>
          <a:bodyPr vert="horz" wrap="square" lIns="0" tIns="0" rIns="0" bIns="0" rtlCol="0">
            <a:spAutoFit/>
          </a:bodyPr>
          <a:lstStyle/>
          <a:p>
            <a:pPr marL="15954"/>
            <a:r>
              <a:rPr spc="-13" dirty="0"/>
              <a:t>PEAS </a:t>
            </a:r>
            <a:r>
              <a:rPr spc="-6" dirty="0"/>
              <a:t>- </a:t>
            </a:r>
            <a:r>
              <a:rPr spc="-19" dirty="0"/>
              <a:t>Example </a:t>
            </a:r>
            <a:r>
              <a:rPr dirty="0"/>
              <a:t>#</a:t>
            </a:r>
            <a:r>
              <a:rPr spc="-69" dirty="0"/>
              <a:t> </a:t>
            </a:r>
            <a:r>
              <a:rPr dirty="0"/>
              <a:t>02</a:t>
            </a:r>
          </a:p>
        </p:txBody>
      </p:sp>
      <p:sp>
        <p:nvSpPr>
          <p:cNvPr id="3" name="object 3"/>
          <p:cNvSpPr/>
          <p:nvPr/>
        </p:nvSpPr>
        <p:spPr>
          <a:xfrm>
            <a:off x="8240712" y="5065754"/>
            <a:ext cx="4891272" cy="2254984"/>
          </a:xfrm>
          <a:prstGeom prst="rect">
            <a:avLst/>
          </a:prstGeom>
          <a:blipFill>
            <a:blip r:embed="rId2" cstate="print"/>
            <a:stretch>
              <a:fillRect/>
            </a:stretch>
          </a:blipFill>
        </p:spPr>
        <p:txBody>
          <a:bodyPr wrap="square" lIns="0" tIns="0" rIns="0" bIns="0" rtlCol="0"/>
          <a:lstStyle/>
          <a:p>
            <a:endParaRPr sz="2261"/>
          </a:p>
        </p:txBody>
      </p:sp>
      <p:sp>
        <p:nvSpPr>
          <p:cNvPr id="4" name="object 4"/>
          <p:cNvSpPr txBox="1"/>
          <p:nvPr/>
        </p:nvSpPr>
        <p:spPr>
          <a:xfrm>
            <a:off x="620712" y="763742"/>
            <a:ext cx="10134099" cy="4302012"/>
          </a:xfrm>
          <a:prstGeom prst="rect">
            <a:avLst/>
          </a:prstGeom>
        </p:spPr>
        <p:txBody>
          <a:bodyPr vert="horz" wrap="square" lIns="0" tIns="0" rIns="0" bIns="0" rtlCol="0">
            <a:spAutoFit/>
          </a:bodyPr>
          <a:lstStyle/>
          <a:p>
            <a:pPr marL="15954"/>
            <a:r>
              <a:rPr sz="4522" spc="31" dirty="0">
                <a:latin typeface="Calibri"/>
                <a:cs typeface="Calibri"/>
              </a:rPr>
              <a:t>Agent: </a:t>
            </a:r>
            <a:r>
              <a:rPr sz="4522" spc="-13" dirty="0">
                <a:solidFill>
                  <a:srgbClr val="C00000"/>
                </a:solidFill>
                <a:latin typeface="Calibri"/>
                <a:cs typeface="Calibri"/>
              </a:rPr>
              <a:t>Part-Picking</a:t>
            </a:r>
            <a:r>
              <a:rPr sz="4522" spc="-126" dirty="0">
                <a:solidFill>
                  <a:srgbClr val="C00000"/>
                </a:solidFill>
                <a:latin typeface="Calibri"/>
                <a:cs typeface="Calibri"/>
              </a:rPr>
              <a:t> </a:t>
            </a:r>
            <a:r>
              <a:rPr sz="4522" spc="-25" dirty="0">
                <a:solidFill>
                  <a:srgbClr val="C00000"/>
                </a:solidFill>
                <a:latin typeface="Calibri"/>
                <a:cs typeface="Calibri"/>
              </a:rPr>
              <a:t>Robot</a:t>
            </a:r>
            <a:endParaRPr sz="4522" dirty="0">
              <a:latin typeface="Calibri"/>
              <a:cs typeface="Calibri"/>
            </a:endParaRPr>
          </a:p>
          <a:p>
            <a:pPr marL="662878" marR="6381" indent="-646923">
              <a:spcBef>
                <a:spcPts val="999"/>
              </a:spcBef>
              <a:buAutoNum type="arabicPeriod"/>
              <a:tabLst>
                <a:tab pos="662878" algn="l"/>
                <a:tab pos="663676" algn="l"/>
              </a:tabLst>
            </a:pPr>
            <a:r>
              <a:rPr sz="4020" spc="19" dirty="0">
                <a:latin typeface="Calibri"/>
                <a:cs typeface="Calibri"/>
              </a:rPr>
              <a:t>Performance </a:t>
            </a:r>
            <a:r>
              <a:rPr sz="4020" spc="31" dirty="0">
                <a:latin typeface="Calibri"/>
                <a:cs typeface="Calibri"/>
              </a:rPr>
              <a:t>measure: </a:t>
            </a:r>
            <a:r>
              <a:rPr sz="4020" spc="-31" dirty="0">
                <a:latin typeface="Calibri"/>
                <a:cs typeface="Calibri"/>
              </a:rPr>
              <a:t>Percentage </a:t>
            </a:r>
            <a:r>
              <a:rPr sz="4020" spc="-6" dirty="0">
                <a:latin typeface="Calibri"/>
                <a:cs typeface="Calibri"/>
              </a:rPr>
              <a:t>of parts in  </a:t>
            </a:r>
            <a:r>
              <a:rPr sz="4020" spc="-13" dirty="0">
                <a:latin typeface="Calibri"/>
                <a:cs typeface="Calibri"/>
              </a:rPr>
              <a:t>correct</a:t>
            </a:r>
            <a:r>
              <a:rPr sz="4020" spc="-182" dirty="0">
                <a:latin typeface="Calibri"/>
                <a:cs typeface="Calibri"/>
              </a:rPr>
              <a:t> </a:t>
            </a:r>
            <a:r>
              <a:rPr sz="4020" spc="-6" dirty="0">
                <a:latin typeface="Calibri"/>
                <a:cs typeface="Calibri"/>
              </a:rPr>
              <a:t>bins</a:t>
            </a:r>
            <a:endParaRPr sz="4020" dirty="0">
              <a:latin typeface="Calibri"/>
              <a:cs typeface="Calibri"/>
            </a:endParaRPr>
          </a:p>
          <a:p>
            <a:pPr marL="662878" indent="-646923">
              <a:spcBef>
                <a:spcPts val="961"/>
              </a:spcBef>
              <a:buAutoNum type="arabicPeriod"/>
              <a:tabLst>
                <a:tab pos="662878" algn="l"/>
                <a:tab pos="663676" algn="l"/>
              </a:tabLst>
            </a:pPr>
            <a:r>
              <a:rPr sz="4020" spc="31" dirty="0">
                <a:latin typeface="Calibri"/>
                <a:cs typeface="Calibri"/>
              </a:rPr>
              <a:t>Environment: </a:t>
            </a:r>
            <a:r>
              <a:rPr sz="4020" spc="-25" dirty="0">
                <a:latin typeface="Calibri"/>
                <a:cs typeface="Calibri"/>
              </a:rPr>
              <a:t>Conveyor </a:t>
            </a:r>
            <a:r>
              <a:rPr sz="4020" spc="-6" dirty="0">
                <a:latin typeface="Calibri"/>
                <a:cs typeface="Calibri"/>
              </a:rPr>
              <a:t>belt with parts,</a:t>
            </a:r>
            <a:r>
              <a:rPr sz="4020" spc="-75" dirty="0">
                <a:latin typeface="Calibri"/>
                <a:cs typeface="Calibri"/>
              </a:rPr>
              <a:t> </a:t>
            </a:r>
            <a:r>
              <a:rPr sz="4020" spc="-6" dirty="0">
                <a:latin typeface="Calibri"/>
                <a:cs typeface="Calibri"/>
              </a:rPr>
              <a:t>bins</a:t>
            </a:r>
            <a:endParaRPr sz="4020" dirty="0">
              <a:latin typeface="Calibri"/>
              <a:cs typeface="Calibri"/>
            </a:endParaRPr>
          </a:p>
          <a:p>
            <a:pPr marL="662878" indent="-646923">
              <a:spcBef>
                <a:spcPts val="961"/>
              </a:spcBef>
              <a:buAutoNum type="arabicPeriod"/>
              <a:tabLst>
                <a:tab pos="662878" algn="l"/>
                <a:tab pos="663676" algn="l"/>
              </a:tabLst>
            </a:pPr>
            <a:r>
              <a:rPr sz="4020" spc="31" dirty="0">
                <a:latin typeface="Calibri"/>
                <a:cs typeface="Calibri"/>
              </a:rPr>
              <a:t>Actuators: </a:t>
            </a:r>
            <a:r>
              <a:rPr sz="4020" spc="-19" dirty="0">
                <a:latin typeface="Calibri"/>
                <a:cs typeface="Calibri"/>
              </a:rPr>
              <a:t>Jointed </a:t>
            </a:r>
            <a:r>
              <a:rPr sz="4020" spc="-6" dirty="0">
                <a:latin typeface="Calibri"/>
                <a:cs typeface="Calibri"/>
              </a:rPr>
              <a:t>arm and</a:t>
            </a:r>
            <a:r>
              <a:rPr sz="4020" spc="-75" dirty="0">
                <a:latin typeface="Calibri"/>
                <a:cs typeface="Calibri"/>
              </a:rPr>
              <a:t> </a:t>
            </a:r>
            <a:r>
              <a:rPr sz="4020" spc="-6" dirty="0">
                <a:latin typeface="Calibri"/>
                <a:cs typeface="Calibri"/>
              </a:rPr>
              <a:t>hand</a:t>
            </a:r>
            <a:endParaRPr sz="4020" dirty="0">
              <a:latin typeface="Calibri"/>
              <a:cs typeface="Calibri"/>
            </a:endParaRPr>
          </a:p>
          <a:p>
            <a:pPr marL="662878" indent="-646923">
              <a:spcBef>
                <a:spcPts val="961"/>
              </a:spcBef>
              <a:buAutoNum type="arabicPeriod"/>
              <a:tabLst>
                <a:tab pos="662878" algn="l"/>
                <a:tab pos="663676" algn="l"/>
              </a:tabLst>
            </a:pPr>
            <a:r>
              <a:rPr sz="4020" spc="31" dirty="0">
                <a:latin typeface="Calibri"/>
                <a:cs typeface="Calibri"/>
              </a:rPr>
              <a:t>Sensors: </a:t>
            </a:r>
            <a:r>
              <a:rPr sz="4020" spc="-13" dirty="0">
                <a:latin typeface="Calibri"/>
                <a:cs typeface="Calibri"/>
              </a:rPr>
              <a:t>Camera, joint </a:t>
            </a:r>
            <a:r>
              <a:rPr sz="4020" spc="-6" dirty="0">
                <a:latin typeface="Calibri"/>
                <a:cs typeface="Calibri"/>
              </a:rPr>
              <a:t>angle</a:t>
            </a:r>
            <a:r>
              <a:rPr sz="4020" spc="-63" dirty="0">
                <a:latin typeface="Calibri"/>
                <a:cs typeface="Calibri"/>
              </a:rPr>
              <a:t> </a:t>
            </a:r>
            <a:r>
              <a:rPr sz="4020" spc="-19" dirty="0">
                <a:latin typeface="Calibri"/>
                <a:cs typeface="Calibri"/>
              </a:rPr>
              <a:t>sensors</a:t>
            </a:r>
            <a:endParaRPr sz="4020" dirty="0">
              <a:latin typeface="Calibri"/>
              <a:cs typeface="Calibri"/>
            </a:endParaRPr>
          </a:p>
        </p:txBody>
      </p:sp>
      <p:sp>
        <p:nvSpPr>
          <p:cNvPr id="5" name="object 5"/>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80341" y="24239"/>
            <a:ext cx="5816896" cy="850554"/>
          </a:xfrm>
          <a:prstGeom prst="rect">
            <a:avLst/>
          </a:prstGeom>
        </p:spPr>
        <p:txBody>
          <a:bodyPr vert="horz" wrap="square" lIns="0" tIns="0" rIns="0" bIns="0" rtlCol="0">
            <a:spAutoFit/>
          </a:bodyPr>
          <a:lstStyle/>
          <a:p>
            <a:pPr marL="15954"/>
            <a:r>
              <a:rPr spc="-19" dirty="0"/>
              <a:t>Autonomy </a:t>
            </a:r>
            <a:r>
              <a:rPr spc="-6" dirty="0"/>
              <a:t>in</a:t>
            </a:r>
            <a:r>
              <a:rPr spc="-107" dirty="0"/>
              <a:t> </a:t>
            </a:r>
            <a:r>
              <a:rPr spc="-13" dirty="0"/>
              <a:t>Agents</a:t>
            </a:r>
          </a:p>
        </p:txBody>
      </p:sp>
      <p:grpSp>
        <p:nvGrpSpPr>
          <p:cNvPr id="8" name="Group 7">
            <a:extLst>
              <a:ext uri="{FF2B5EF4-FFF2-40B4-BE49-F238E27FC236}">
                <a16:creationId xmlns:a16="http://schemas.microsoft.com/office/drawing/2014/main" id="{5BE8AF29-5072-BD8D-F15F-57FAA1D97742}"/>
              </a:ext>
            </a:extLst>
          </p:cNvPr>
          <p:cNvGrpSpPr/>
          <p:nvPr/>
        </p:nvGrpSpPr>
        <p:grpSpPr>
          <a:xfrm>
            <a:off x="1644652" y="868443"/>
            <a:ext cx="9490348" cy="1928063"/>
            <a:chOff x="1455301" y="1792223"/>
            <a:chExt cx="7554595" cy="1534795"/>
          </a:xfrm>
        </p:grpSpPr>
        <p:sp>
          <p:nvSpPr>
            <p:cNvPr id="3" name="object 3"/>
            <p:cNvSpPr/>
            <p:nvPr/>
          </p:nvSpPr>
          <p:spPr>
            <a:xfrm>
              <a:off x="1459873" y="1796795"/>
              <a:ext cx="7543800" cy="1524000"/>
            </a:xfrm>
            <a:custGeom>
              <a:avLst/>
              <a:gdLst/>
              <a:ahLst/>
              <a:cxnLst/>
              <a:rect l="l" t="t" r="r" b="b"/>
              <a:pathLst>
                <a:path w="7543800" h="1524000">
                  <a:moveTo>
                    <a:pt x="7290812" y="1523999"/>
                  </a:moveTo>
                  <a:lnTo>
                    <a:pt x="7290812" y="0"/>
                  </a:lnTo>
                  <a:lnTo>
                    <a:pt x="254504" y="0"/>
                  </a:lnTo>
                  <a:lnTo>
                    <a:pt x="208849" y="4112"/>
                  </a:lnTo>
                  <a:lnTo>
                    <a:pt x="165841" y="15963"/>
                  </a:lnTo>
                  <a:lnTo>
                    <a:pt x="126207" y="34826"/>
                  </a:lnTo>
                  <a:lnTo>
                    <a:pt x="90675" y="59973"/>
                  </a:lnTo>
                  <a:lnTo>
                    <a:pt x="59971" y="90676"/>
                  </a:lnTo>
                  <a:lnTo>
                    <a:pt x="34825" y="126209"/>
                  </a:lnTo>
                  <a:lnTo>
                    <a:pt x="15962" y="165844"/>
                  </a:lnTo>
                  <a:lnTo>
                    <a:pt x="4111" y="208852"/>
                  </a:lnTo>
                  <a:lnTo>
                    <a:pt x="0" y="254507"/>
                  </a:lnTo>
                  <a:lnTo>
                    <a:pt x="0" y="1271015"/>
                  </a:lnTo>
                  <a:lnTo>
                    <a:pt x="4111" y="1316618"/>
                  </a:lnTo>
                  <a:lnTo>
                    <a:pt x="15962" y="1359487"/>
                  </a:lnTo>
                  <a:lnTo>
                    <a:pt x="34825" y="1398919"/>
                  </a:lnTo>
                  <a:lnTo>
                    <a:pt x="59971" y="1434211"/>
                  </a:lnTo>
                  <a:lnTo>
                    <a:pt x="90675" y="1464662"/>
                  </a:lnTo>
                  <a:lnTo>
                    <a:pt x="126207" y="1489568"/>
                  </a:lnTo>
                  <a:lnTo>
                    <a:pt x="165841" y="1508228"/>
                  </a:lnTo>
                  <a:lnTo>
                    <a:pt x="208849" y="1519940"/>
                  </a:lnTo>
                  <a:lnTo>
                    <a:pt x="254504" y="1523999"/>
                  </a:lnTo>
                  <a:lnTo>
                    <a:pt x="7290812" y="1523999"/>
                  </a:lnTo>
                  <a:close/>
                </a:path>
                <a:path w="7543800" h="1524000">
                  <a:moveTo>
                    <a:pt x="7543796" y="1271015"/>
                  </a:moveTo>
                  <a:lnTo>
                    <a:pt x="7543796" y="254507"/>
                  </a:lnTo>
                  <a:lnTo>
                    <a:pt x="7539736" y="208852"/>
                  </a:lnTo>
                  <a:lnTo>
                    <a:pt x="7528025" y="165844"/>
                  </a:lnTo>
                  <a:lnTo>
                    <a:pt x="7509365" y="126209"/>
                  </a:lnTo>
                  <a:lnTo>
                    <a:pt x="7484459" y="90676"/>
                  </a:lnTo>
                  <a:lnTo>
                    <a:pt x="7484459" y="1434211"/>
                  </a:lnTo>
                  <a:lnTo>
                    <a:pt x="7509365" y="1398919"/>
                  </a:lnTo>
                  <a:lnTo>
                    <a:pt x="7528025" y="1359487"/>
                  </a:lnTo>
                  <a:lnTo>
                    <a:pt x="7539736" y="1316618"/>
                  </a:lnTo>
                  <a:lnTo>
                    <a:pt x="7543796" y="1271015"/>
                  </a:lnTo>
                  <a:close/>
                </a:path>
              </a:pathLst>
            </a:custGeom>
            <a:solidFill>
              <a:srgbClr val="4F80BC"/>
            </a:solidFill>
          </p:spPr>
          <p:txBody>
            <a:bodyPr wrap="square" lIns="0" tIns="0" rIns="0" bIns="0" rtlCol="0"/>
            <a:lstStyle/>
            <a:p>
              <a:endParaRPr sz="2261"/>
            </a:p>
          </p:txBody>
        </p:sp>
        <p:sp>
          <p:nvSpPr>
            <p:cNvPr id="4" name="object 4"/>
            <p:cNvSpPr/>
            <p:nvPr/>
          </p:nvSpPr>
          <p:spPr>
            <a:xfrm>
              <a:off x="1455301" y="1792223"/>
              <a:ext cx="7554595" cy="1534795"/>
            </a:xfrm>
            <a:custGeom>
              <a:avLst/>
              <a:gdLst/>
              <a:ahLst/>
              <a:cxnLst/>
              <a:rect l="l" t="t" r="r" b="b"/>
              <a:pathLst>
                <a:path w="7554595" h="1534795">
                  <a:moveTo>
                    <a:pt x="1523" y="1289303"/>
                  </a:moveTo>
                  <a:lnTo>
                    <a:pt x="1523" y="245363"/>
                  </a:lnTo>
                  <a:lnTo>
                    <a:pt x="0" y="259079"/>
                  </a:lnTo>
                  <a:lnTo>
                    <a:pt x="0" y="1275587"/>
                  </a:lnTo>
                  <a:lnTo>
                    <a:pt x="1523" y="1289303"/>
                  </a:lnTo>
                  <a:close/>
                </a:path>
                <a:path w="7554595" h="1534795">
                  <a:moveTo>
                    <a:pt x="7552940" y="1301495"/>
                  </a:moveTo>
                  <a:lnTo>
                    <a:pt x="7552940" y="233171"/>
                  </a:lnTo>
                  <a:lnTo>
                    <a:pt x="7551416" y="219455"/>
                  </a:lnTo>
                  <a:lnTo>
                    <a:pt x="7533128" y="158495"/>
                  </a:lnTo>
                  <a:lnTo>
                    <a:pt x="7510268" y="114299"/>
                  </a:lnTo>
                  <a:lnTo>
                    <a:pt x="7478264" y="76199"/>
                  </a:lnTo>
                  <a:lnTo>
                    <a:pt x="7440164" y="44195"/>
                  </a:lnTo>
                  <a:lnTo>
                    <a:pt x="7395968" y="21335"/>
                  </a:lnTo>
                  <a:lnTo>
                    <a:pt x="7335008" y="3047"/>
                  </a:lnTo>
                  <a:lnTo>
                    <a:pt x="7321292" y="1523"/>
                  </a:lnTo>
                  <a:lnTo>
                    <a:pt x="7309100" y="1523"/>
                  </a:lnTo>
                  <a:lnTo>
                    <a:pt x="7295384" y="0"/>
                  </a:lnTo>
                  <a:lnTo>
                    <a:pt x="259076" y="0"/>
                  </a:lnTo>
                  <a:lnTo>
                    <a:pt x="245360" y="1523"/>
                  </a:lnTo>
                  <a:lnTo>
                    <a:pt x="233168" y="1523"/>
                  </a:lnTo>
                  <a:lnTo>
                    <a:pt x="182876" y="12191"/>
                  </a:lnTo>
                  <a:lnTo>
                    <a:pt x="135632" y="32003"/>
                  </a:lnTo>
                  <a:lnTo>
                    <a:pt x="94484" y="59435"/>
                  </a:lnTo>
                  <a:lnTo>
                    <a:pt x="59435" y="94487"/>
                  </a:lnTo>
                  <a:lnTo>
                    <a:pt x="32003" y="135635"/>
                  </a:lnTo>
                  <a:lnTo>
                    <a:pt x="12191" y="182879"/>
                  </a:lnTo>
                  <a:lnTo>
                    <a:pt x="1523" y="233171"/>
                  </a:lnTo>
                  <a:lnTo>
                    <a:pt x="1523" y="1301495"/>
                  </a:lnTo>
                  <a:lnTo>
                    <a:pt x="3047" y="1315211"/>
                  </a:lnTo>
                  <a:lnTo>
                    <a:pt x="10667" y="1345691"/>
                  </a:lnTo>
                  <a:lnTo>
                    <a:pt x="10667" y="233171"/>
                  </a:lnTo>
                  <a:lnTo>
                    <a:pt x="12191" y="227075"/>
                  </a:lnTo>
                  <a:lnTo>
                    <a:pt x="12191" y="220979"/>
                  </a:lnTo>
                  <a:lnTo>
                    <a:pt x="21335" y="184403"/>
                  </a:lnTo>
                  <a:lnTo>
                    <a:pt x="21335" y="185927"/>
                  </a:lnTo>
                  <a:lnTo>
                    <a:pt x="28955" y="165607"/>
                  </a:lnTo>
                  <a:lnTo>
                    <a:pt x="28955" y="163067"/>
                  </a:lnTo>
                  <a:lnTo>
                    <a:pt x="39623" y="140207"/>
                  </a:lnTo>
                  <a:lnTo>
                    <a:pt x="51815" y="122597"/>
                  </a:lnTo>
                  <a:lnTo>
                    <a:pt x="51815" y="120395"/>
                  </a:lnTo>
                  <a:lnTo>
                    <a:pt x="67055" y="100583"/>
                  </a:lnTo>
                  <a:lnTo>
                    <a:pt x="82292" y="83958"/>
                  </a:lnTo>
                  <a:lnTo>
                    <a:pt x="82292" y="83819"/>
                  </a:lnTo>
                  <a:lnTo>
                    <a:pt x="83816" y="82295"/>
                  </a:lnTo>
                  <a:lnTo>
                    <a:pt x="100580" y="67055"/>
                  </a:lnTo>
                  <a:lnTo>
                    <a:pt x="120392" y="51815"/>
                  </a:lnTo>
                  <a:lnTo>
                    <a:pt x="120392" y="53339"/>
                  </a:lnTo>
                  <a:lnTo>
                    <a:pt x="140204" y="39623"/>
                  </a:lnTo>
                  <a:lnTo>
                    <a:pt x="161540" y="29667"/>
                  </a:lnTo>
                  <a:lnTo>
                    <a:pt x="161540" y="28955"/>
                  </a:lnTo>
                  <a:lnTo>
                    <a:pt x="184400" y="21812"/>
                  </a:lnTo>
                  <a:lnTo>
                    <a:pt x="184400" y="21335"/>
                  </a:lnTo>
                  <a:lnTo>
                    <a:pt x="220976" y="12191"/>
                  </a:lnTo>
                  <a:lnTo>
                    <a:pt x="233168" y="10667"/>
                  </a:lnTo>
                  <a:lnTo>
                    <a:pt x="7321292" y="10667"/>
                  </a:lnTo>
                  <a:lnTo>
                    <a:pt x="7333484" y="13715"/>
                  </a:lnTo>
                  <a:lnTo>
                    <a:pt x="7333484" y="12191"/>
                  </a:lnTo>
                  <a:lnTo>
                    <a:pt x="7370060" y="21335"/>
                  </a:lnTo>
                  <a:lnTo>
                    <a:pt x="7370060" y="21907"/>
                  </a:lnTo>
                  <a:lnTo>
                    <a:pt x="7391396" y="29908"/>
                  </a:lnTo>
                  <a:lnTo>
                    <a:pt x="7391396" y="28955"/>
                  </a:lnTo>
                  <a:lnTo>
                    <a:pt x="7414256" y="39623"/>
                  </a:lnTo>
                  <a:lnTo>
                    <a:pt x="7434068" y="53339"/>
                  </a:lnTo>
                  <a:lnTo>
                    <a:pt x="7434068" y="51815"/>
                  </a:lnTo>
                  <a:lnTo>
                    <a:pt x="7453880" y="67055"/>
                  </a:lnTo>
                  <a:lnTo>
                    <a:pt x="7470644" y="82422"/>
                  </a:lnTo>
                  <a:lnTo>
                    <a:pt x="7472168" y="83819"/>
                  </a:lnTo>
                  <a:lnTo>
                    <a:pt x="7472168" y="83958"/>
                  </a:lnTo>
                  <a:lnTo>
                    <a:pt x="7487408" y="100583"/>
                  </a:lnTo>
                  <a:lnTo>
                    <a:pt x="7502648" y="120395"/>
                  </a:lnTo>
                  <a:lnTo>
                    <a:pt x="7502648" y="122597"/>
                  </a:lnTo>
                  <a:lnTo>
                    <a:pt x="7514840" y="140207"/>
                  </a:lnTo>
                  <a:lnTo>
                    <a:pt x="7525508" y="163067"/>
                  </a:lnTo>
                  <a:lnTo>
                    <a:pt x="7525508" y="165607"/>
                  </a:lnTo>
                  <a:lnTo>
                    <a:pt x="7533128" y="185927"/>
                  </a:lnTo>
                  <a:lnTo>
                    <a:pt x="7533128" y="184403"/>
                  </a:lnTo>
                  <a:lnTo>
                    <a:pt x="7539224" y="208787"/>
                  </a:lnTo>
                  <a:lnTo>
                    <a:pt x="7542272" y="233171"/>
                  </a:lnTo>
                  <a:lnTo>
                    <a:pt x="7543796" y="246887"/>
                  </a:lnTo>
                  <a:lnTo>
                    <a:pt x="7543796" y="1345691"/>
                  </a:lnTo>
                  <a:lnTo>
                    <a:pt x="7551416" y="1315211"/>
                  </a:lnTo>
                  <a:lnTo>
                    <a:pt x="7552940" y="1301495"/>
                  </a:lnTo>
                  <a:close/>
                </a:path>
                <a:path w="7554595" h="1534795">
                  <a:moveTo>
                    <a:pt x="53339" y="1414271"/>
                  </a:moveTo>
                  <a:lnTo>
                    <a:pt x="39623" y="1394459"/>
                  </a:lnTo>
                  <a:lnTo>
                    <a:pt x="28955" y="1371599"/>
                  </a:lnTo>
                  <a:lnTo>
                    <a:pt x="28955" y="1373123"/>
                  </a:lnTo>
                  <a:lnTo>
                    <a:pt x="21335" y="1348739"/>
                  </a:lnTo>
                  <a:lnTo>
                    <a:pt x="21335" y="1350263"/>
                  </a:lnTo>
                  <a:lnTo>
                    <a:pt x="12191" y="1313687"/>
                  </a:lnTo>
                  <a:lnTo>
                    <a:pt x="10667" y="1299971"/>
                  </a:lnTo>
                  <a:lnTo>
                    <a:pt x="10667" y="1345691"/>
                  </a:lnTo>
                  <a:lnTo>
                    <a:pt x="32003" y="1399031"/>
                  </a:lnTo>
                  <a:lnTo>
                    <a:pt x="51815" y="1430273"/>
                  </a:lnTo>
                  <a:lnTo>
                    <a:pt x="51815" y="1414271"/>
                  </a:lnTo>
                  <a:lnTo>
                    <a:pt x="53339" y="1414271"/>
                  </a:lnTo>
                  <a:close/>
                </a:path>
                <a:path w="7554595" h="1534795">
                  <a:moveTo>
                    <a:pt x="13715" y="220979"/>
                  </a:moveTo>
                  <a:lnTo>
                    <a:pt x="12191" y="220979"/>
                  </a:lnTo>
                  <a:lnTo>
                    <a:pt x="12191" y="227075"/>
                  </a:lnTo>
                  <a:lnTo>
                    <a:pt x="13715" y="220979"/>
                  </a:lnTo>
                  <a:close/>
                </a:path>
                <a:path w="7554595" h="1534795">
                  <a:moveTo>
                    <a:pt x="30479" y="161543"/>
                  </a:moveTo>
                  <a:lnTo>
                    <a:pt x="28955" y="163067"/>
                  </a:lnTo>
                  <a:lnTo>
                    <a:pt x="28955" y="165607"/>
                  </a:lnTo>
                  <a:lnTo>
                    <a:pt x="30479" y="161543"/>
                  </a:lnTo>
                  <a:close/>
                </a:path>
                <a:path w="7554595" h="1534795">
                  <a:moveTo>
                    <a:pt x="53339" y="120395"/>
                  </a:moveTo>
                  <a:lnTo>
                    <a:pt x="51815" y="120395"/>
                  </a:lnTo>
                  <a:lnTo>
                    <a:pt x="51815" y="122597"/>
                  </a:lnTo>
                  <a:lnTo>
                    <a:pt x="53339" y="120395"/>
                  </a:lnTo>
                  <a:close/>
                </a:path>
                <a:path w="7554595" h="1534795">
                  <a:moveTo>
                    <a:pt x="83088" y="1451577"/>
                  </a:moveTo>
                  <a:lnTo>
                    <a:pt x="67055" y="1434083"/>
                  </a:lnTo>
                  <a:lnTo>
                    <a:pt x="51815" y="1414271"/>
                  </a:lnTo>
                  <a:lnTo>
                    <a:pt x="51815" y="1430273"/>
                  </a:lnTo>
                  <a:lnTo>
                    <a:pt x="59435" y="1440179"/>
                  </a:lnTo>
                  <a:lnTo>
                    <a:pt x="76196" y="1458467"/>
                  </a:lnTo>
                  <a:lnTo>
                    <a:pt x="82292" y="1464055"/>
                  </a:lnTo>
                  <a:lnTo>
                    <a:pt x="82292" y="1450847"/>
                  </a:lnTo>
                  <a:lnTo>
                    <a:pt x="83088" y="1451577"/>
                  </a:lnTo>
                  <a:close/>
                </a:path>
                <a:path w="7554595" h="1534795">
                  <a:moveTo>
                    <a:pt x="83816" y="82295"/>
                  </a:moveTo>
                  <a:lnTo>
                    <a:pt x="82292" y="83819"/>
                  </a:lnTo>
                  <a:lnTo>
                    <a:pt x="83088" y="83090"/>
                  </a:lnTo>
                  <a:lnTo>
                    <a:pt x="83816" y="82295"/>
                  </a:lnTo>
                  <a:close/>
                </a:path>
                <a:path w="7554595" h="1534795">
                  <a:moveTo>
                    <a:pt x="83088" y="83090"/>
                  </a:moveTo>
                  <a:lnTo>
                    <a:pt x="82292" y="83819"/>
                  </a:lnTo>
                  <a:lnTo>
                    <a:pt x="82292" y="83958"/>
                  </a:lnTo>
                  <a:lnTo>
                    <a:pt x="83088" y="83090"/>
                  </a:lnTo>
                  <a:close/>
                </a:path>
                <a:path w="7554595" h="1534795">
                  <a:moveTo>
                    <a:pt x="83816" y="1452371"/>
                  </a:moveTo>
                  <a:lnTo>
                    <a:pt x="83088" y="1451577"/>
                  </a:lnTo>
                  <a:lnTo>
                    <a:pt x="82292" y="1450847"/>
                  </a:lnTo>
                  <a:lnTo>
                    <a:pt x="83816" y="1452371"/>
                  </a:lnTo>
                  <a:close/>
                </a:path>
                <a:path w="7554595" h="1534795">
                  <a:moveTo>
                    <a:pt x="83816" y="1465452"/>
                  </a:moveTo>
                  <a:lnTo>
                    <a:pt x="83816" y="1452371"/>
                  </a:lnTo>
                  <a:lnTo>
                    <a:pt x="82292" y="1450847"/>
                  </a:lnTo>
                  <a:lnTo>
                    <a:pt x="82292" y="1464055"/>
                  </a:lnTo>
                  <a:lnTo>
                    <a:pt x="83816" y="1465452"/>
                  </a:lnTo>
                  <a:close/>
                </a:path>
                <a:path w="7554595" h="1534795">
                  <a:moveTo>
                    <a:pt x="83816" y="82422"/>
                  </a:moveTo>
                  <a:lnTo>
                    <a:pt x="83088" y="83090"/>
                  </a:lnTo>
                  <a:lnTo>
                    <a:pt x="83816" y="82422"/>
                  </a:lnTo>
                  <a:close/>
                </a:path>
                <a:path w="7554595" h="1534795">
                  <a:moveTo>
                    <a:pt x="163064" y="1515046"/>
                  </a:moveTo>
                  <a:lnTo>
                    <a:pt x="163064" y="1505711"/>
                  </a:lnTo>
                  <a:lnTo>
                    <a:pt x="140204" y="1495043"/>
                  </a:lnTo>
                  <a:lnTo>
                    <a:pt x="120392" y="1481327"/>
                  </a:lnTo>
                  <a:lnTo>
                    <a:pt x="120392" y="1482851"/>
                  </a:lnTo>
                  <a:lnTo>
                    <a:pt x="100580" y="1467611"/>
                  </a:lnTo>
                  <a:lnTo>
                    <a:pt x="83088" y="1451577"/>
                  </a:lnTo>
                  <a:lnTo>
                    <a:pt x="83816" y="1452371"/>
                  </a:lnTo>
                  <a:lnTo>
                    <a:pt x="83816" y="1465452"/>
                  </a:lnTo>
                  <a:lnTo>
                    <a:pt x="94484" y="1475231"/>
                  </a:lnTo>
                  <a:lnTo>
                    <a:pt x="114296" y="1490471"/>
                  </a:lnTo>
                  <a:lnTo>
                    <a:pt x="135632" y="1502663"/>
                  </a:lnTo>
                  <a:lnTo>
                    <a:pt x="158492" y="1513331"/>
                  </a:lnTo>
                  <a:lnTo>
                    <a:pt x="163064" y="1515046"/>
                  </a:lnTo>
                  <a:close/>
                </a:path>
                <a:path w="7554595" h="1534795">
                  <a:moveTo>
                    <a:pt x="163064" y="28955"/>
                  </a:moveTo>
                  <a:lnTo>
                    <a:pt x="161540" y="28955"/>
                  </a:lnTo>
                  <a:lnTo>
                    <a:pt x="161540" y="29667"/>
                  </a:lnTo>
                  <a:lnTo>
                    <a:pt x="163064" y="28955"/>
                  </a:lnTo>
                  <a:close/>
                </a:path>
                <a:path w="7554595" h="1534795">
                  <a:moveTo>
                    <a:pt x="185924" y="1513331"/>
                  </a:moveTo>
                  <a:lnTo>
                    <a:pt x="161540" y="1504187"/>
                  </a:lnTo>
                  <a:lnTo>
                    <a:pt x="163064" y="1505711"/>
                  </a:lnTo>
                  <a:lnTo>
                    <a:pt x="163064" y="1515046"/>
                  </a:lnTo>
                  <a:lnTo>
                    <a:pt x="182876" y="1522475"/>
                  </a:lnTo>
                  <a:lnTo>
                    <a:pt x="184400" y="1522856"/>
                  </a:lnTo>
                  <a:lnTo>
                    <a:pt x="184400" y="1513331"/>
                  </a:lnTo>
                  <a:lnTo>
                    <a:pt x="185924" y="1513331"/>
                  </a:lnTo>
                  <a:close/>
                </a:path>
                <a:path w="7554595" h="1534795">
                  <a:moveTo>
                    <a:pt x="185924" y="21335"/>
                  </a:moveTo>
                  <a:lnTo>
                    <a:pt x="184400" y="21335"/>
                  </a:lnTo>
                  <a:lnTo>
                    <a:pt x="184400" y="21812"/>
                  </a:lnTo>
                  <a:lnTo>
                    <a:pt x="185924" y="21335"/>
                  </a:lnTo>
                  <a:close/>
                </a:path>
                <a:path w="7554595" h="1534795">
                  <a:moveTo>
                    <a:pt x="7321292" y="1533143"/>
                  </a:moveTo>
                  <a:lnTo>
                    <a:pt x="7321292" y="1522475"/>
                  </a:lnTo>
                  <a:lnTo>
                    <a:pt x="7307576" y="1523999"/>
                  </a:lnTo>
                  <a:lnTo>
                    <a:pt x="246884" y="1523999"/>
                  </a:lnTo>
                  <a:lnTo>
                    <a:pt x="233168" y="1522475"/>
                  </a:lnTo>
                  <a:lnTo>
                    <a:pt x="208784" y="1519427"/>
                  </a:lnTo>
                  <a:lnTo>
                    <a:pt x="184400" y="1513331"/>
                  </a:lnTo>
                  <a:lnTo>
                    <a:pt x="184400" y="1522856"/>
                  </a:lnTo>
                  <a:lnTo>
                    <a:pt x="219452" y="1531619"/>
                  </a:lnTo>
                  <a:lnTo>
                    <a:pt x="233168" y="1533143"/>
                  </a:lnTo>
                  <a:lnTo>
                    <a:pt x="245360" y="1533143"/>
                  </a:lnTo>
                  <a:lnTo>
                    <a:pt x="259076" y="1534667"/>
                  </a:lnTo>
                  <a:lnTo>
                    <a:pt x="7295384" y="1534667"/>
                  </a:lnTo>
                  <a:lnTo>
                    <a:pt x="7309100" y="1533143"/>
                  </a:lnTo>
                  <a:lnTo>
                    <a:pt x="7321292" y="1533143"/>
                  </a:lnTo>
                  <a:close/>
                </a:path>
                <a:path w="7554595" h="1534795">
                  <a:moveTo>
                    <a:pt x="7370060" y="1522856"/>
                  </a:moveTo>
                  <a:lnTo>
                    <a:pt x="7370060" y="1513331"/>
                  </a:lnTo>
                  <a:lnTo>
                    <a:pt x="7345676" y="1519427"/>
                  </a:lnTo>
                  <a:lnTo>
                    <a:pt x="7333484" y="1520951"/>
                  </a:lnTo>
                  <a:lnTo>
                    <a:pt x="7319768" y="1522475"/>
                  </a:lnTo>
                  <a:lnTo>
                    <a:pt x="7321292" y="1522475"/>
                  </a:lnTo>
                  <a:lnTo>
                    <a:pt x="7321292" y="1533143"/>
                  </a:lnTo>
                  <a:lnTo>
                    <a:pt x="7335008" y="1531619"/>
                  </a:lnTo>
                  <a:lnTo>
                    <a:pt x="7370060" y="1522856"/>
                  </a:lnTo>
                  <a:close/>
                </a:path>
                <a:path w="7554595" h="1534795">
                  <a:moveTo>
                    <a:pt x="7370060" y="21907"/>
                  </a:moveTo>
                  <a:lnTo>
                    <a:pt x="7370060" y="21335"/>
                  </a:lnTo>
                  <a:lnTo>
                    <a:pt x="7368536" y="21335"/>
                  </a:lnTo>
                  <a:lnTo>
                    <a:pt x="7370060" y="21907"/>
                  </a:lnTo>
                  <a:close/>
                </a:path>
                <a:path w="7554595" h="1534795">
                  <a:moveTo>
                    <a:pt x="7392920" y="1504187"/>
                  </a:moveTo>
                  <a:lnTo>
                    <a:pt x="7368536" y="1513331"/>
                  </a:lnTo>
                  <a:lnTo>
                    <a:pt x="7370060" y="1513331"/>
                  </a:lnTo>
                  <a:lnTo>
                    <a:pt x="7370060" y="1522856"/>
                  </a:lnTo>
                  <a:lnTo>
                    <a:pt x="7371584" y="1522475"/>
                  </a:lnTo>
                  <a:lnTo>
                    <a:pt x="7391396" y="1515046"/>
                  </a:lnTo>
                  <a:lnTo>
                    <a:pt x="7391396" y="1505711"/>
                  </a:lnTo>
                  <a:lnTo>
                    <a:pt x="7392920" y="1504187"/>
                  </a:lnTo>
                  <a:close/>
                </a:path>
                <a:path w="7554595" h="1534795">
                  <a:moveTo>
                    <a:pt x="7392920" y="30479"/>
                  </a:moveTo>
                  <a:lnTo>
                    <a:pt x="7391396" y="28955"/>
                  </a:lnTo>
                  <a:lnTo>
                    <a:pt x="7391396" y="29908"/>
                  </a:lnTo>
                  <a:lnTo>
                    <a:pt x="7392920" y="30479"/>
                  </a:lnTo>
                  <a:close/>
                </a:path>
                <a:path w="7554595" h="1534795">
                  <a:moveTo>
                    <a:pt x="7471373" y="1451576"/>
                  </a:moveTo>
                  <a:lnTo>
                    <a:pt x="7453880" y="1467611"/>
                  </a:lnTo>
                  <a:lnTo>
                    <a:pt x="7434068" y="1482851"/>
                  </a:lnTo>
                  <a:lnTo>
                    <a:pt x="7434068" y="1481327"/>
                  </a:lnTo>
                  <a:lnTo>
                    <a:pt x="7414256" y="1495043"/>
                  </a:lnTo>
                  <a:lnTo>
                    <a:pt x="7391396" y="1505711"/>
                  </a:lnTo>
                  <a:lnTo>
                    <a:pt x="7391396" y="1515046"/>
                  </a:lnTo>
                  <a:lnTo>
                    <a:pt x="7440164" y="1490471"/>
                  </a:lnTo>
                  <a:lnTo>
                    <a:pt x="7470644" y="1465452"/>
                  </a:lnTo>
                  <a:lnTo>
                    <a:pt x="7470644" y="1452371"/>
                  </a:lnTo>
                  <a:lnTo>
                    <a:pt x="7471373" y="1451576"/>
                  </a:lnTo>
                  <a:close/>
                </a:path>
                <a:path w="7554595" h="1534795">
                  <a:moveTo>
                    <a:pt x="7472168" y="83819"/>
                  </a:moveTo>
                  <a:lnTo>
                    <a:pt x="7470644" y="82295"/>
                  </a:lnTo>
                  <a:lnTo>
                    <a:pt x="7471373" y="83091"/>
                  </a:lnTo>
                  <a:lnTo>
                    <a:pt x="7472168" y="83819"/>
                  </a:lnTo>
                  <a:close/>
                </a:path>
                <a:path w="7554595" h="1534795">
                  <a:moveTo>
                    <a:pt x="7471373" y="83091"/>
                  </a:moveTo>
                  <a:lnTo>
                    <a:pt x="7470644" y="82295"/>
                  </a:lnTo>
                  <a:lnTo>
                    <a:pt x="7471373" y="83091"/>
                  </a:lnTo>
                  <a:close/>
                </a:path>
                <a:path w="7554595" h="1534795">
                  <a:moveTo>
                    <a:pt x="7472168" y="1450847"/>
                  </a:moveTo>
                  <a:lnTo>
                    <a:pt x="7471373" y="1451576"/>
                  </a:lnTo>
                  <a:lnTo>
                    <a:pt x="7470644" y="1452371"/>
                  </a:lnTo>
                  <a:lnTo>
                    <a:pt x="7472168" y="1450847"/>
                  </a:lnTo>
                  <a:close/>
                </a:path>
                <a:path w="7554595" h="1534795">
                  <a:moveTo>
                    <a:pt x="7472168" y="1464055"/>
                  </a:moveTo>
                  <a:lnTo>
                    <a:pt x="7472168" y="1450847"/>
                  </a:lnTo>
                  <a:lnTo>
                    <a:pt x="7470644" y="1452371"/>
                  </a:lnTo>
                  <a:lnTo>
                    <a:pt x="7470644" y="1465452"/>
                  </a:lnTo>
                  <a:lnTo>
                    <a:pt x="7472168" y="1464055"/>
                  </a:lnTo>
                  <a:close/>
                </a:path>
                <a:path w="7554595" h="1534795">
                  <a:moveTo>
                    <a:pt x="7472168" y="83958"/>
                  </a:moveTo>
                  <a:lnTo>
                    <a:pt x="7472168" y="83819"/>
                  </a:lnTo>
                  <a:lnTo>
                    <a:pt x="7471373" y="83091"/>
                  </a:lnTo>
                  <a:lnTo>
                    <a:pt x="7472168" y="83958"/>
                  </a:lnTo>
                  <a:close/>
                </a:path>
                <a:path w="7554595" h="1534795">
                  <a:moveTo>
                    <a:pt x="7502648" y="1430273"/>
                  </a:moveTo>
                  <a:lnTo>
                    <a:pt x="7502648" y="1414271"/>
                  </a:lnTo>
                  <a:lnTo>
                    <a:pt x="7487408" y="1434083"/>
                  </a:lnTo>
                  <a:lnTo>
                    <a:pt x="7471373" y="1451576"/>
                  </a:lnTo>
                  <a:lnTo>
                    <a:pt x="7472168" y="1450847"/>
                  </a:lnTo>
                  <a:lnTo>
                    <a:pt x="7472168" y="1464055"/>
                  </a:lnTo>
                  <a:lnTo>
                    <a:pt x="7478264" y="1458467"/>
                  </a:lnTo>
                  <a:lnTo>
                    <a:pt x="7495028" y="1440179"/>
                  </a:lnTo>
                  <a:lnTo>
                    <a:pt x="7502648" y="1430273"/>
                  </a:lnTo>
                  <a:close/>
                </a:path>
                <a:path w="7554595" h="1534795">
                  <a:moveTo>
                    <a:pt x="7502648" y="122597"/>
                  </a:moveTo>
                  <a:lnTo>
                    <a:pt x="7502648" y="120395"/>
                  </a:lnTo>
                  <a:lnTo>
                    <a:pt x="7501124" y="120395"/>
                  </a:lnTo>
                  <a:lnTo>
                    <a:pt x="7502648" y="122597"/>
                  </a:lnTo>
                  <a:close/>
                </a:path>
                <a:path w="7554595" h="1534795">
                  <a:moveTo>
                    <a:pt x="7525508" y="1392500"/>
                  </a:moveTo>
                  <a:lnTo>
                    <a:pt x="7525508" y="1371599"/>
                  </a:lnTo>
                  <a:lnTo>
                    <a:pt x="7514840" y="1394459"/>
                  </a:lnTo>
                  <a:lnTo>
                    <a:pt x="7501124" y="1414271"/>
                  </a:lnTo>
                  <a:lnTo>
                    <a:pt x="7502648" y="1414271"/>
                  </a:lnTo>
                  <a:lnTo>
                    <a:pt x="7502648" y="1430273"/>
                  </a:lnTo>
                  <a:lnTo>
                    <a:pt x="7510268" y="1420367"/>
                  </a:lnTo>
                  <a:lnTo>
                    <a:pt x="7522460" y="1399031"/>
                  </a:lnTo>
                  <a:lnTo>
                    <a:pt x="7525508" y="1392500"/>
                  </a:lnTo>
                  <a:close/>
                </a:path>
                <a:path w="7554595" h="1534795">
                  <a:moveTo>
                    <a:pt x="7525508" y="165607"/>
                  </a:moveTo>
                  <a:lnTo>
                    <a:pt x="7525508" y="163067"/>
                  </a:lnTo>
                  <a:lnTo>
                    <a:pt x="7523984" y="161543"/>
                  </a:lnTo>
                  <a:lnTo>
                    <a:pt x="7525508" y="165607"/>
                  </a:lnTo>
                  <a:close/>
                </a:path>
                <a:path w="7554595" h="1534795">
                  <a:moveTo>
                    <a:pt x="7543796" y="1345691"/>
                  </a:moveTo>
                  <a:lnTo>
                    <a:pt x="7543796" y="1287779"/>
                  </a:lnTo>
                  <a:lnTo>
                    <a:pt x="7542272" y="1301495"/>
                  </a:lnTo>
                  <a:lnTo>
                    <a:pt x="7539224" y="1325879"/>
                  </a:lnTo>
                  <a:lnTo>
                    <a:pt x="7533128" y="1350263"/>
                  </a:lnTo>
                  <a:lnTo>
                    <a:pt x="7533128" y="1348739"/>
                  </a:lnTo>
                  <a:lnTo>
                    <a:pt x="7523984" y="1373123"/>
                  </a:lnTo>
                  <a:lnTo>
                    <a:pt x="7525508" y="1371599"/>
                  </a:lnTo>
                  <a:lnTo>
                    <a:pt x="7525508" y="1392500"/>
                  </a:lnTo>
                  <a:lnTo>
                    <a:pt x="7533128" y="1376171"/>
                  </a:lnTo>
                  <a:lnTo>
                    <a:pt x="7542272" y="1351787"/>
                  </a:lnTo>
                  <a:lnTo>
                    <a:pt x="7543796" y="1345691"/>
                  </a:lnTo>
                  <a:close/>
                </a:path>
                <a:path w="7554595" h="1534795">
                  <a:moveTo>
                    <a:pt x="7554464" y="1275587"/>
                  </a:moveTo>
                  <a:lnTo>
                    <a:pt x="7554464" y="259079"/>
                  </a:lnTo>
                  <a:lnTo>
                    <a:pt x="7552940" y="245363"/>
                  </a:lnTo>
                  <a:lnTo>
                    <a:pt x="7552940" y="1289303"/>
                  </a:lnTo>
                  <a:lnTo>
                    <a:pt x="7554464" y="1275587"/>
                  </a:lnTo>
                  <a:close/>
                </a:path>
              </a:pathLst>
            </a:custGeom>
            <a:solidFill>
              <a:srgbClr val="000000"/>
            </a:solidFill>
          </p:spPr>
          <p:txBody>
            <a:bodyPr wrap="square" lIns="0" tIns="0" rIns="0" bIns="0" rtlCol="0"/>
            <a:lstStyle/>
            <a:p>
              <a:endParaRPr sz="2261"/>
            </a:p>
          </p:txBody>
        </p:sp>
      </p:grpSp>
      <p:sp>
        <p:nvSpPr>
          <p:cNvPr id="6" name="object 6"/>
          <p:cNvSpPr txBox="1"/>
          <p:nvPr/>
        </p:nvSpPr>
        <p:spPr>
          <a:xfrm>
            <a:off x="1306512" y="1187450"/>
            <a:ext cx="9367501" cy="5506957"/>
          </a:xfrm>
          <a:prstGeom prst="rect">
            <a:avLst/>
          </a:prstGeom>
        </p:spPr>
        <p:txBody>
          <a:bodyPr vert="horz" wrap="square" lIns="0" tIns="0" rIns="0" bIns="0" rtlCol="0">
            <a:spAutoFit/>
          </a:bodyPr>
          <a:lstStyle/>
          <a:p>
            <a:pPr marL="742647" marR="245688" indent="-1595" algn="ctr"/>
            <a:r>
              <a:rPr lang="en-US" sz="3015" dirty="0">
                <a:solidFill>
                  <a:srgbClr val="FFFFFF"/>
                </a:solidFill>
                <a:latin typeface="Times New Roman"/>
                <a:cs typeface="Times New Roman"/>
              </a:rPr>
              <a:t>The </a:t>
            </a:r>
            <a:r>
              <a:rPr lang="en-US" sz="3015" spc="-25" dirty="0">
                <a:solidFill>
                  <a:srgbClr val="FFFFFF"/>
                </a:solidFill>
                <a:latin typeface="Cambria"/>
                <a:cs typeface="Cambria"/>
              </a:rPr>
              <a:t>autonomy </a:t>
            </a:r>
            <a:r>
              <a:rPr lang="en-US" sz="3015" spc="-6" dirty="0">
                <a:solidFill>
                  <a:srgbClr val="FFFFFF"/>
                </a:solidFill>
                <a:latin typeface="Times New Roman"/>
                <a:cs typeface="Times New Roman"/>
              </a:rPr>
              <a:t>of </a:t>
            </a:r>
            <a:r>
              <a:rPr lang="en-US" sz="3015" dirty="0">
                <a:solidFill>
                  <a:srgbClr val="FFFFFF"/>
                </a:solidFill>
                <a:latin typeface="Times New Roman"/>
                <a:cs typeface="Times New Roman"/>
              </a:rPr>
              <a:t>an agent is the extent to </a:t>
            </a:r>
            <a:r>
              <a:rPr lang="en-US" sz="3015" spc="-6" dirty="0">
                <a:solidFill>
                  <a:srgbClr val="FFFFFF"/>
                </a:solidFill>
                <a:latin typeface="Times New Roman"/>
                <a:cs typeface="Times New Roman"/>
              </a:rPr>
              <a:t>which </a:t>
            </a:r>
            <a:r>
              <a:rPr lang="en-US" sz="3015" dirty="0">
                <a:solidFill>
                  <a:srgbClr val="FFFFFF"/>
                </a:solidFill>
                <a:latin typeface="Times New Roman"/>
                <a:cs typeface="Times New Roman"/>
              </a:rPr>
              <a:t>its  </a:t>
            </a:r>
            <a:r>
              <a:rPr lang="en-US" sz="3015" dirty="0" err="1">
                <a:solidFill>
                  <a:srgbClr val="FFFFFF"/>
                </a:solidFill>
                <a:latin typeface="Times New Roman"/>
                <a:cs typeface="Times New Roman"/>
              </a:rPr>
              <a:t>behaviour</a:t>
            </a:r>
            <a:r>
              <a:rPr lang="en-US" sz="3015" dirty="0">
                <a:solidFill>
                  <a:srgbClr val="FFFFFF"/>
                </a:solidFill>
                <a:latin typeface="Times New Roman"/>
                <a:cs typeface="Times New Roman"/>
              </a:rPr>
              <a:t> is determined by </a:t>
            </a:r>
            <a:r>
              <a:rPr lang="en-US" sz="4020" spc="-100" dirty="0">
                <a:solidFill>
                  <a:srgbClr val="FFFFFF"/>
                </a:solidFill>
                <a:latin typeface="Georgia"/>
                <a:cs typeface="Georgia"/>
              </a:rPr>
              <a:t>its </a:t>
            </a:r>
            <a:r>
              <a:rPr lang="en-US" sz="4020" spc="-119" dirty="0">
                <a:solidFill>
                  <a:srgbClr val="FFFFFF"/>
                </a:solidFill>
                <a:latin typeface="Georgia"/>
                <a:cs typeface="Georgia"/>
              </a:rPr>
              <a:t>own </a:t>
            </a:r>
            <a:r>
              <a:rPr lang="en-US" sz="4020" spc="-75" dirty="0">
                <a:solidFill>
                  <a:srgbClr val="FFFFFF"/>
                </a:solidFill>
                <a:latin typeface="Georgia"/>
                <a:cs typeface="Georgia"/>
              </a:rPr>
              <a:t>experience</a:t>
            </a:r>
            <a:r>
              <a:rPr lang="en-US" sz="3015" spc="-75" dirty="0">
                <a:solidFill>
                  <a:srgbClr val="FFFFFF"/>
                </a:solidFill>
                <a:latin typeface="Times New Roman"/>
                <a:cs typeface="Times New Roman"/>
              </a:rPr>
              <a:t>,  </a:t>
            </a:r>
            <a:r>
              <a:rPr lang="en-US" sz="3015" dirty="0">
                <a:solidFill>
                  <a:srgbClr val="FFFFFF"/>
                </a:solidFill>
                <a:latin typeface="Times New Roman"/>
                <a:cs typeface="Times New Roman"/>
              </a:rPr>
              <a:t>rather than knowledge </a:t>
            </a:r>
            <a:r>
              <a:rPr lang="en-US" sz="3015" spc="-6" dirty="0">
                <a:solidFill>
                  <a:srgbClr val="FFFFFF"/>
                </a:solidFill>
                <a:latin typeface="Times New Roman"/>
                <a:cs typeface="Times New Roman"/>
              </a:rPr>
              <a:t>of</a:t>
            </a:r>
            <a:r>
              <a:rPr lang="en-US" sz="3015" spc="-170" dirty="0">
                <a:solidFill>
                  <a:srgbClr val="FFFFFF"/>
                </a:solidFill>
                <a:latin typeface="Times New Roman"/>
                <a:cs typeface="Times New Roman"/>
              </a:rPr>
              <a:t> </a:t>
            </a:r>
            <a:r>
              <a:rPr lang="en-US" sz="3015" spc="-19" dirty="0">
                <a:solidFill>
                  <a:srgbClr val="FFFFFF"/>
                </a:solidFill>
                <a:latin typeface="Times New Roman"/>
                <a:cs typeface="Times New Roman"/>
              </a:rPr>
              <a:t>designer.</a:t>
            </a:r>
            <a:endParaRPr lang="en-US" sz="3015" dirty="0">
              <a:latin typeface="Times New Roman"/>
              <a:cs typeface="Times New Roman"/>
            </a:endParaRPr>
          </a:p>
          <a:p>
            <a:pPr>
              <a:spcBef>
                <a:spcPts val="19"/>
              </a:spcBef>
            </a:pPr>
            <a:endParaRPr lang="en-US" sz="2889" dirty="0">
              <a:latin typeface="Times New Roman"/>
              <a:cs typeface="Times New Roman"/>
            </a:endParaRPr>
          </a:p>
          <a:p>
            <a:pPr marL="446705" indent="-430751">
              <a:buFont typeface="Arial"/>
              <a:buChar char="•"/>
              <a:tabLst>
                <a:tab pos="445907" algn="l"/>
                <a:tab pos="446705" algn="l"/>
              </a:tabLst>
            </a:pPr>
            <a:r>
              <a:rPr lang="en-US" sz="3517" spc="-13" dirty="0">
                <a:latin typeface="Calibri"/>
                <a:cs typeface="Calibri"/>
              </a:rPr>
              <a:t>Extremes</a:t>
            </a:r>
            <a:endParaRPr lang="en-US" sz="3517" dirty="0">
              <a:latin typeface="Calibri"/>
              <a:cs typeface="Calibri"/>
            </a:endParaRPr>
          </a:p>
          <a:p>
            <a:pPr marL="950045" lvl="1" indent="-359757">
              <a:spcBef>
                <a:spcPts val="754"/>
              </a:spcBef>
              <a:buFont typeface="Arial"/>
              <a:buChar char="–"/>
              <a:tabLst>
                <a:tab pos="950843" algn="l"/>
              </a:tabLst>
            </a:pPr>
            <a:r>
              <a:rPr lang="en-US" sz="3015" spc="-6" dirty="0">
                <a:latin typeface="Calibri"/>
                <a:cs typeface="Calibri"/>
              </a:rPr>
              <a:t>No </a:t>
            </a:r>
            <a:r>
              <a:rPr lang="en-US" sz="3015" spc="-13" dirty="0">
                <a:latin typeface="Calibri"/>
                <a:cs typeface="Calibri"/>
              </a:rPr>
              <a:t>autonomy </a:t>
            </a:r>
            <a:r>
              <a:rPr lang="en-US" sz="3015" dirty="0">
                <a:latin typeface="Calibri"/>
                <a:cs typeface="Calibri"/>
              </a:rPr>
              <a:t>– </a:t>
            </a:r>
            <a:r>
              <a:rPr lang="en-US" sz="3015" spc="-13" dirty="0">
                <a:latin typeface="Calibri"/>
                <a:cs typeface="Calibri"/>
              </a:rPr>
              <a:t>ignores</a:t>
            </a:r>
            <a:r>
              <a:rPr lang="en-US" sz="3015" spc="-100" dirty="0">
                <a:latin typeface="Calibri"/>
                <a:cs typeface="Calibri"/>
              </a:rPr>
              <a:t> </a:t>
            </a:r>
            <a:r>
              <a:rPr lang="en-US" sz="3015" spc="-13" dirty="0">
                <a:latin typeface="Calibri"/>
                <a:cs typeface="Calibri"/>
              </a:rPr>
              <a:t>environment/data</a:t>
            </a:r>
            <a:endParaRPr lang="en-US" sz="3015" dirty="0">
              <a:latin typeface="Calibri"/>
              <a:cs typeface="Calibri"/>
            </a:endParaRPr>
          </a:p>
          <a:p>
            <a:pPr marL="950045" lvl="1" indent="-359757">
              <a:spcBef>
                <a:spcPts val="716"/>
              </a:spcBef>
              <a:buFont typeface="Arial"/>
              <a:buChar char="–"/>
              <a:tabLst>
                <a:tab pos="950843" algn="l"/>
              </a:tabLst>
            </a:pPr>
            <a:r>
              <a:rPr lang="en-US" sz="3015" spc="-6" dirty="0">
                <a:latin typeface="Calibri"/>
                <a:cs typeface="Calibri"/>
              </a:rPr>
              <a:t>Complete </a:t>
            </a:r>
            <a:r>
              <a:rPr lang="en-US" sz="3015" spc="-13" dirty="0">
                <a:latin typeface="Calibri"/>
                <a:cs typeface="Calibri"/>
              </a:rPr>
              <a:t>autonomy </a:t>
            </a:r>
            <a:r>
              <a:rPr lang="en-US" sz="3015" dirty="0">
                <a:latin typeface="Calibri"/>
                <a:cs typeface="Calibri"/>
              </a:rPr>
              <a:t>– </a:t>
            </a:r>
            <a:r>
              <a:rPr lang="en-US" sz="3015" spc="-13" dirty="0">
                <a:latin typeface="Calibri"/>
                <a:cs typeface="Calibri"/>
              </a:rPr>
              <a:t>must </a:t>
            </a:r>
            <a:r>
              <a:rPr lang="en-US" sz="3015" dirty="0">
                <a:latin typeface="Calibri"/>
                <a:cs typeface="Calibri"/>
              </a:rPr>
              <a:t>act </a:t>
            </a:r>
            <a:r>
              <a:rPr lang="en-US" sz="3015" spc="-13" dirty="0">
                <a:latin typeface="Calibri"/>
                <a:cs typeface="Calibri"/>
              </a:rPr>
              <a:t>randomly/no</a:t>
            </a:r>
            <a:r>
              <a:rPr lang="en-US" sz="3015" spc="-107" dirty="0">
                <a:latin typeface="Calibri"/>
                <a:cs typeface="Calibri"/>
              </a:rPr>
              <a:t> </a:t>
            </a:r>
            <a:r>
              <a:rPr lang="en-US" sz="3015" spc="-19" dirty="0">
                <a:latin typeface="Calibri"/>
                <a:cs typeface="Calibri"/>
              </a:rPr>
              <a:t>program</a:t>
            </a:r>
            <a:endParaRPr lang="en-US" sz="3015" dirty="0">
              <a:latin typeface="Calibri"/>
              <a:cs typeface="Calibri"/>
            </a:endParaRPr>
          </a:p>
          <a:p>
            <a:pPr marL="446705" indent="-430751">
              <a:spcBef>
                <a:spcPts val="804"/>
              </a:spcBef>
              <a:buFont typeface="Arial"/>
              <a:buChar char="•"/>
              <a:tabLst>
                <a:tab pos="445907" algn="l"/>
                <a:tab pos="446705" algn="l"/>
              </a:tabLst>
            </a:pPr>
            <a:r>
              <a:rPr lang="en-US" sz="3517" spc="-19" dirty="0">
                <a:latin typeface="Calibri"/>
                <a:cs typeface="Calibri"/>
              </a:rPr>
              <a:t>Example: baby </a:t>
            </a:r>
            <a:r>
              <a:rPr lang="en-US" sz="3517" spc="-13" dirty="0">
                <a:latin typeface="Calibri"/>
                <a:cs typeface="Calibri"/>
              </a:rPr>
              <a:t>learning </a:t>
            </a:r>
            <a:r>
              <a:rPr lang="en-US" sz="3517" spc="-19" dirty="0">
                <a:latin typeface="Calibri"/>
                <a:cs typeface="Calibri"/>
              </a:rPr>
              <a:t>to</a:t>
            </a:r>
            <a:r>
              <a:rPr lang="en-US" sz="3517" spc="75" dirty="0">
                <a:latin typeface="Calibri"/>
                <a:cs typeface="Calibri"/>
              </a:rPr>
              <a:t> </a:t>
            </a:r>
            <a:r>
              <a:rPr lang="en-US" sz="3517" spc="-25" dirty="0">
                <a:latin typeface="Calibri"/>
                <a:cs typeface="Calibri"/>
              </a:rPr>
              <a:t>crawl</a:t>
            </a:r>
            <a:endParaRPr lang="en-US" sz="3517" dirty="0">
              <a:latin typeface="Calibri"/>
              <a:cs typeface="Calibri"/>
            </a:endParaRPr>
          </a:p>
          <a:p>
            <a:pPr marL="446705" indent="-430751">
              <a:spcBef>
                <a:spcPts val="842"/>
              </a:spcBef>
              <a:buFont typeface="Arial"/>
              <a:buChar char="•"/>
              <a:tabLst>
                <a:tab pos="445907" algn="l"/>
                <a:tab pos="446705" algn="l"/>
              </a:tabLst>
            </a:pPr>
            <a:r>
              <a:rPr lang="en-US" sz="3517" spc="-13" dirty="0">
                <a:latin typeface="Calibri"/>
                <a:cs typeface="Calibri"/>
              </a:rPr>
              <a:t>Ideal: design </a:t>
            </a:r>
            <a:r>
              <a:rPr lang="en-US" sz="3517" spc="-19" dirty="0">
                <a:latin typeface="Calibri"/>
                <a:cs typeface="Calibri"/>
              </a:rPr>
              <a:t>agents to </a:t>
            </a:r>
            <a:r>
              <a:rPr lang="en-US" sz="3517" spc="-31" dirty="0">
                <a:latin typeface="Calibri"/>
                <a:cs typeface="Calibri"/>
              </a:rPr>
              <a:t>have </a:t>
            </a:r>
            <a:r>
              <a:rPr lang="en-US" sz="3517" spc="-6" dirty="0">
                <a:latin typeface="Calibri"/>
                <a:cs typeface="Calibri"/>
              </a:rPr>
              <a:t>some</a:t>
            </a:r>
            <a:r>
              <a:rPr lang="en-US" sz="3517" spc="126" dirty="0">
                <a:latin typeface="Calibri"/>
                <a:cs typeface="Calibri"/>
              </a:rPr>
              <a:t> </a:t>
            </a:r>
            <a:r>
              <a:rPr lang="en-US" sz="3517" spc="-19" dirty="0">
                <a:latin typeface="Calibri"/>
                <a:cs typeface="Calibri"/>
              </a:rPr>
              <a:t>autonomy</a:t>
            </a:r>
            <a:endParaRPr lang="en-US" sz="3517" dirty="0">
              <a:latin typeface="Calibri"/>
              <a:cs typeface="Calibri"/>
            </a:endParaRPr>
          </a:p>
          <a:p>
            <a:pPr marL="950045" lvl="1" indent="-359757">
              <a:spcBef>
                <a:spcPts val="754"/>
              </a:spcBef>
              <a:buFont typeface="Arial"/>
              <a:buChar char="–"/>
              <a:tabLst>
                <a:tab pos="950843" algn="l"/>
              </a:tabLst>
            </a:pPr>
            <a:r>
              <a:rPr lang="en-US" sz="3015" spc="-13" dirty="0">
                <a:latin typeface="Calibri"/>
                <a:cs typeface="Calibri"/>
              </a:rPr>
              <a:t>Possibly </a:t>
            </a:r>
            <a:r>
              <a:rPr lang="en-US" sz="3015" spc="-6" dirty="0">
                <a:latin typeface="Calibri"/>
                <a:cs typeface="Calibri"/>
              </a:rPr>
              <a:t>become </a:t>
            </a:r>
            <a:r>
              <a:rPr lang="en-US" sz="3015" spc="-13" dirty="0">
                <a:latin typeface="Calibri"/>
                <a:cs typeface="Calibri"/>
              </a:rPr>
              <a:t>more </a:t>
            </a:r>
            <a:r>
              <a:rPr lang="en-US" sz="3015" spc="-6" dirty="0">
                <a:latin typeface="Calibri"/>
                <a:cs typeface="Calibri"/>
              </a:rPr>
              <a:t>autonomous </a:t>
            </a:r>
            <a:r>
              <a:rPr lang="en-US" sz="3015" dirty="0">
                <a:latin typeface="Calibri"/>
                <a:cs typeface="Calibri"/>
              </a:rPr>
              <a:t>with</a:t>
            </a:r>
            <a:r>
              <a:rPr lang="en-US" sz="3015" spc="-69" dirty="0">
                <a:latin typeface="Calibri"/>
                <a:cs typeface="Calibri"/>
              </a:rPr>
              <a:t> </a:t>
            </a:r>
            <a:r>
              <a:rPr lang="en-US" sz="3015" spc="-6" dirty="0">
                <a:latin typeface="Calibri"/>
                <a:cs typeface="Calibri"/>
              </a:rPr>
              <a:t>experience</a:t>
            </a:r>
            <a:endParaRPr lang="en-US" sz="3015" dirty="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D1B2439-3ECB-8B6E-C562-2ADBBCE969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6AEC6A3-4CA3-B313-13B5-FBBC24554029}"/>
              </a:ext>
            </a:extLst>
          </p:cNvPr>
          <p:cNvSpPr txBox="1">
            <a:spLocks noGrp="1"/>
          </p:cNvSpPr>
          <p:nvPr>
            <p:ph type="title"/>
          </p:nvPr>
        </p:nvSpPr>
        <p:spPr>
          <a:xfrm>
            <a:off x="3059112" y="196850"/>
            <a:ext cx="5816896" cy="850554"/>
          </a:xfrm>
          <a:prstGeom prst="rect">
            <a:avLst/>
          </a:prstGeom>
        </p:spPr>
        <p:txBody>
          <a:bodyPr vert="horz" wrap="square" lIns="0" tIns="0" rIns="0" bIns="0" rtlCol="0">
            <a:spAutoFit/>
          </a:bodyPr>
          <a:lstStyle/>
          <a:p>
            <a:pPr marL="15954"/>
            <a:r>
              <a:rPr spc="-19" dirty="0"/>
              <a:t>Autonomy </a:t>
            </a:r>
            <a:r>
              <a:rPr spc="-6" dirty="0"/>
              <a:t>in</a:t>
            </a:r>
            <a:r>
              <a:rPr spc="-107" dirty="0"/>
              <a:t> </a:t>
            </a:r>
            <a:r>
              <a:rPr spc="-13" dirty="0"/>
              <a:t>Agents</a:t>
            </a:r>
          </a:p>
        </p:txBody>
      </p:sp>
      <p:sp>
        <p:nvSpPr>
          <p:cNvPr id="7" name="TextBox 6">
            <a:extLst>
              <a:ext uri="{FF2B5EF4-FFF2-40B4-BE49-F238E27FC236}">
                <a16:creationId xmlns:a16="http://schemas.microsoft.com/office/drawing/2014/main" id="{BAD8A1C3-B143-4DED-2541-8468103478AA}"/>
              </a:ext>
            </a:extLst>
          </p:cNvPr>
          <p:cNvSpPr txBox="1"/>
          <p:nvPr/>
        </p:nvSpPr>
        <p:spPr>
          <a:xfrm>
            <a:off x="303128" y="1339850"/>
            <a:ext cx="12890583" cy="4893647"/>
          </a:xfrm>
          <a:prstGeom prst="rect">
            <a:avLst/>
          </a:prstGeom>
          <a:noFill/>
        </p:spPr>
        <p:txBody>
          <a:bodyPr wrap="square">
            <a:spAutoFit/>
          </a:bodyPr>
          <a:lstStyle/>
          <a:p>
            <a:pPr algn="l">
              <a:buFont typeface="Arial" panose="020B0604020202020204" pitchFamily="34" charset="0"/>
              <a:buChar char="•"/>
            </a:pPr>
            <a:r>
              <a:rPr lang="en-US" sz="3517" dirty="0">
                <a:solidFill>
                  <a:srgbClr val="1F1F1F"/>
                </a:solidFill>
                <a:latin typeface="+mj-lt"/>
              </a:rPr>
              <a:t> </a:t>
            </a:r>
            <a:r>
              <a:rPr lang="en-US" sz="3600" dirty="0">
                <a:latin typeface="+mj-lt"/>
                <a:cs typeface="Times New Roman" panose="02020603050405020304" pitchFamily="18" charset="0"/>
              </a:rPr>
              <a:t>Not completely determined by designer: </a:t>
            </a:r>
            <a:r>
              <a:rPr lang="en-US" sz="3200" dirty="0">
                <a:solidFill>
                  <a:srgbClr val="1F1F1F"/>
                </a:solidFill>
                <a:latin typeface="+mj-lt"/>
                <a:cs typeface="Times New Roman" panose="02020603050405020304" pitchFamily="18" charset="0"/>
              </a:rPr>
              <a:t>The car doesn't </a:t>
            </a:r>
            <a:r>
              <a:rPr lang="en-US" sz="3200" dirty="0">
                <a:solidFill>
                  <a:srgbClr val="C00000"/>
                </a:solidFill>
                <a:latin typeface="+mj-lt"/>
                <a:cs typeface="Times New Roman" panose="02020603050405020304" pitchFamily="18" charset="0"/>
              </a:rPr>
              <a:t>blindly follow a pre-programmed route</a:t>
            </a:r>
            <a:r>
              <a:rPr lang="en-US" sz="3200" dirty="0">
                <a:solidFill>
                  <a:srgbClr val="1F1F1F"/>
                </a:solidFill>
                <a:latin typeface="+mj-lt"/>
                <a:cs typeface="Times New Roman" panose="02020603050405020304" pitchFamily="18" charset="0"/>
              </a:rPr>
              <a:t>, but can adjust its speed, lane, and braking based on traffic conditions, obstacles, and other factors.</a:t>
            </a:r>
          </a:p>
          <a:p>
            <a:pPr algn="l">
              <a:buFont typeface="Arial" panose="020B0604020202020204" pitchFamily="34" charset="0"/>
              <a:buChar char="•"/>
            </a:pPr>
            <a:endParaRPr lang="en-US" sz="3600" dirty="0">
              <a:solidFill>
                <a:srgbClr val="1F1F1F"/>
              </a:solidFill>
              <a:latin typeface="+mj-lt"/>
              <a:cs typeface="Times New Roman" panose="02020603050405020304" pitchFamily="18" charset="0"/>
            </a:endParaRPr>
          </a:p>
          <a:p>
            <a:pPr algn="l">
              <a:buFont typeface="Arial" panose="020B0604020202020204" pitchFamily="34" charset="0"/>
              <a:buChar char="•"/>
            </a:pPr>
            <a:r>
              <a:rPr lang="en-US" sz="3600" dirty="0">
                <a:solidFill>
                  <a:srgbClr val="1F1F1F"/>
                </a:solidFill>
                <a:latin typeface="+mj-lt"/>
                <a:cs typeface="Times New Roman" panose="02020603050405020304" pitchFamily="18" charset="0"/>
              </a:rPr>
              <a:t> </a:t>
            </a:r>
            <a:r>
              <a:rPr lang="en-US" sz="3600" dirty="0">
                <a:latin typeface="+mj-lt"/>
                <a:cs typeface="Times New Roman" panose="02020603050405020304" pitchFamily="18" charset="0"/>
              </a:rPr>
              <a:t>Not completely random: </a:t>
            </a:r>
            <a:r>
              <a:rPr lang="en-US" sz="3200" dirty="0">
                <a:solidFill>
                  <a:srgbClr val="1F1F1F"/>
                </a:solidFill>
                <a:latin typeface="+mj-lt"/>
                <a:cs typeface="Times New Roman" panose="02020603050405020304" pitchFamily="18" charset="0"/>
              </a:rPr>
              <a:t>The car has </a:t>
            </a:r>
            <a:r>
              <a:rPr lang="en-US" sz="3200" dirty="0">
                <a:solidFill>
                  <a:srgbClr val="C00000"/>
                </a:solidFill>
                <a:latin typeface="+mj-lt"/>
                <a:cs typeface="Times New Roman" panose="02020603050405020304" pitchFamily="18" charset="0"/>
              </a:rPr>
              <a:t>clear goals (reach the destination safely) </a:t>
            </a:r>
            <a:r>
              <a:rPr lang="en-US" sz="3200" dirty="0">
                <a:solidFill>
                  <a:srgbClr val="1F1F1F"/>
                </a:solidFill>
                <a:latin typeface="+mj-lt"/>
                <a:cs typeface="Times New Roman" panose="02020603050405020304" pitchFamily="18" charset="0"/>
              </a:rPr>
              <a:t>and </a:t>
            </a:r>
            <a:r>
              <a:rPr lang="en-US" sz="3200" dirty="0">
                <a:solidFill>
                  <a:srgbClr val="C00000"/>
                </a:solidFill>
                <a:latin typeface="+mj-lt"/>
                <a:cs typeface="Times New Roman" panose="02020603050405020304" pitchFamily="18" charset="0"/>
              </a:rPr>
              <a:t>operates within traffic laws and safety regulations.</a:t>
            </a:r>
          </a:p>
          <a:p>
            <a:pPr algn="l">
              <a:buFont typeface="Arial" panose="020B0604020202020204" pitchFamily="34" charset="0"/>
              <a:buChar char="•"/>
            </a:pPr>
            <a:endParaRPr lang="en-US" sz="3600" dirty="0">
              <a:solidFill>
                <a:srgbClr val="1F1F1F"/>
              </a:solidFill>
              <a:latin typeface="+mj-lt"/>
              <a:cs typeface="Times New Roman" panose="02020603050405020304" pitchFamily="18" charset="0"/>
            </a:endParaRPr>
          </a:p>
          <a:p>
            <a:pPr algn="l">
              <a:buFont typeface="Arial" panose="020B0604020202020204" pitchFamily="34" charset="0"/>
              <a:buChar char="•"/>
            </a:pPr>
            <a:r>
              <a:rPr lang="en-US" sz="3600" dirty="0">
                <a:solidFill>
                  <a:srgbClr val="1F1F1F"/>
                </a:solidFill>
                <a:latin typeface="+mj-lt"/>
                <a:cs typeface="Times New Roman" panose="02020603050405020304" pitchFamily="18" charset="0"/>
              </a:rPr>
              <a:t> </a:t>
            </a:r>
            <a:r>
              <a:rPr lang="en-US" sz="3600" dirty="0">
                <a:latin typeface="+mj-lt"/>
                <a:cs typeface="Times New Roman" panose="02020603050405020304" pitchFamily="18" charset="0"/>
              </a:rPr>
              <a:t>Learns from experience: </a:t>
            </a:r>
            <a:r>
              <a:rPr lang="en-US" sz="3200" dirty="0">
                <a:solidFill>
                  <a:srgbClr val="1F1F1F"/>
                </a:solidFill>
                <a:latin typeface="+mj-lt"/>
                <a:cs typeface="Times New Roman" panose="02020603050405020304" pitchFamily="18" charset="0"/>
              </a:rPr>
              <a:t>Over time, the car's algorithms can improve by </a:t>
            </a:r>
            <a:r>
              <a:rPr lang="en-US" sz="3200" dirty="0">
                <a:solidFill>
                  <a:srgbClr val="C00000"/>
                </a:solidFill>
                <a:latin typeface="+mj-lt"/>
                <a:cs typeface="Times New Roman" panose="02020603050405020304" pitchFamily="18" charset="0"/>
              </a:rPr>
              <a:t>learning from driving data and past scenarios</a:t>
            </a:r>
            <a:r>
              <a:rPr lang="en-US" sz="3200" dirty="0">
                <a:solidFill>
                  <a:srgbClr val="1F1F1F"/>
                </a:solidFill>
                <a:latin typeface="+mj-lt"/>
                <a:cs typeface="Times New Roman" panose="02020603050405020304" pitchFamily="18" charset="0"/>
              </a:rPr>
              <a:t>.</a:t>
            </a:r>
            <a:endParaRPr lang="en-US" sz="3600" dirty="0">
              <a:solidFill>
                <a:srgbClr val="1F1F1F"/>
              </a:solidFill>
              <a:latin typeface="+mj-lt"/>
              <a:cs typeface="Times New Roman" panose="02020603050405020304" pitchFamily="18" charset="0"/>
            </a:endParaRPr>
          </a:p>
        </p:txBody>
      </p:sp>
    </p:spTree>
    <p:extLst>
      <p:ext uri="{BB962C8B-B14F-4D97-AF65-F5344CB8AC3E}">
        <p14:creationId xmlns:p14="http://schemas.microsoft.com/office/powerpoint/2010/main" val="1229059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4455" y="425450"/>
            <a:ext cx="5850400" cy="850554"/>
          </a:xfrm>
          <a:prstGeom prst="rect">
            <a:avLst/>
          </a:prstGeom>
        </p:spPr>
        <p:txBody>
          <a:bodyPr vert="horz" wrap="square" lIns="0" tIns="0" rIns="0" bIns="0" rtlCol="0">
            <a:spAutoFit/>
          </a:bodyPr>
          <a:lstStyle/>
          <a:p>
            <a:pPr marL="15954"/>
            <a:r>
              <a:rPr dirty="0">
                <a:latin typeface="Arial"/>
                <a:cs typeface="Arial"/>
              </a:rPr>
              <a:t>Environment</a:t>
            </a:r>
            <a:r>
              <a:rPr spc="-138" dirty="0">
                <a:latin typeface="Arial"/>
                <a:cs typeface="Arial"/>
              </a:rPr>
              <a:t> </a:t>
            </a:r>
            <a:r>
              <a:rPr dirty="0">
                <a:latin typeface="Arial"/>
                <a:cs typeface="Arial"/>
              </a:rPr>
              <a:t>types</a:t>
            </a:r>
          </a:p>
        </p:txBody>
      </p:sp>
      <p:sp>
        <p:nvSpPr>
          <p:cNvPr id="3" name="object 3"/>
          <p:cNvSpPr txBox="1"/>
          <p:nvPr/>
        </p:nvSpPr>
        <p:spPr>
          <a:xfrm>
            <a:off x="1611312" y="1898056"/>
            <a:ext cx="8396687" cy="3760388"/>
          </a:xfrm>
          <a:prstGeom prst="rect">
            <a:avLst/>
          </a:prstGeom>
        </p:spPr>
        <p:txBody>
          <a:bodyPr vert="horz" wrap="square" lIns="0" tIns="0" rIns="0" bIns="0" rtlCol="0">
            <a:spAutoFit/>
          </a:bodyPr>
          <a:lstStyle/>
          <a:p>
            <a:pPr marL="445907" indent="-429953">
              <a:buChar char="•"/>
              <a:tabLst>
                <a:tab pos="445907" algn="l"/>
                <a:tab pos="446705" algn="l"/>
              </a:tabLst>
            </a:pPr>
            <a:r>
              <a:rPr sz="3517" spc="-6" dirty="0">
                <a:solidFill>
                  <a:srgbClr val="6F2FA0"/>
                </a:solidFill>
                <a:latin typeface="Arial"/>
                <a:cs typeface="Arial"/>
              </a:rPr>
              <a:t>Fully observable </a:t>
            </a:r>
            <a:r>
              <a:rPr sz="3517" dirty="0">
                <a:latin typeface="Arial"/>
                <a:cs typeface="Arial"/>
              </a:rPr>
              <a:t>vs. </a:t>
            </a:r>
            <a:r>
              <a:rPr sz="3517" spc="-6" dirty="0">
                <a:solidFill>
                  <a:srgbClr val="00B04F"/>
                </a:solidFill>
                <a:latin typeface="Arial"/>
                <a:cs typeface="Arial"/>
              </a:rPr>
              <a:t>partially</a:t>
            </a:r>
            <a:r>
              <a:rPr sz="3517" spc="44" dirty="0">
                <a:solidFill>
                  <a:srgbClr val="00B04F"/>
                </a:solidFill>
                <a:latin typeface="Arial"/>
                <a:cs typeface="Arial"/>
              </a:rPr>
              <a:t> </a:t>
            </a:r>
            <a:r>
              <a:rPr sz="3517" spc="-6" dirty="0">
                <a:solidFill>
                  <a:srgbClr val="00B04F"/>
                </a:solidFill>
                <a:latin typeface="Arial"/>
                <a:cs typeface="Arial"/>
              </a:rPr>
              <a:t>observable</a:t>
            </a:r>
            <a:endParaRPr sz="3517" dirty="0">
              <a:latin typeface="Arial"/>
              <a:cs typeface="Arial"/>
            </a:endParaRPr>
          </a:p>
          <a:p>
            <a:pPr marL="445907" indent="-429953">
              <a:spcBef>
                <a:spcPts val="842"/>
              </a:spcBef>
              <a:buChar char="•"/>
              <a:tabLst>
                <a:tab pos="445907" algn="l"/>
                <a:tab pos="446705" algn="l"/>
              </a:tabLst>
            </a:pPr>
            <a:r>
              <a:rPr sz="3517" spc="-6" dirty="0">
                <a:solidFill>
                  <a:srgbClr val="6F2FA0"/>
                </a:solidFill>
                <a:latin typeface="Arial"/>
                <a:cs typeface="Arial"/>
              </a:rPr>
              <a:t>Deterministic </a:t>
            </a:r>
            <a:r>
              <a:rPr sz="3517" dirty="0">
                <a:latin typeface="Arial"/>
                <a:cs typeface="Arial"/>
              </a:rPr>
              <a:t>vs.</a:t>
            </a:r>
            <a:r>
              <a:rPr sz="3517" spc="-75" dirty="0">
                <a:latin typeface="Arial"/>
                <a:cs typeface="Arial"/>
              </a:rPr>
              <a:t> </a:t>
            </a:r>
            <a:r>
              <a:rPr sz="3517" dirty="0">
                <a:solidFill>
                  <a:srgbClr val="00B04F"/>
                </a:solidFill>
                <a:latin typeface="Arial"/>
                <a:cs typeface="Arial"/>
              </a:rPr>
              <a:t>stochastic</a:t>
            </a:r>
            <a:endParaRPr sz="3517" dirty="0">
              <a:latin typeface="Arial"/>
              <a:cs typeface="Arial"/>
            </a:endParaRPr>
          </a:p>
          <a:p>
            <a:pPr marL="445907" indent="-429953">
              <a:spcBef>
                <a:spcPts val="842"/>
              </a:spcBef>
              <a:buChar char="•"/>
              <a:tabLst>
                <a:tab pos="445907" algn="l"/>
                <a:tab pos="446705" algn="l"/>
              </a:tabLst>
            </a:pPr>
            <a:r>
              <a:rPr sz="3517" spc="-6" dirty="0">
                <a:solidFill>
                  <a:srgbClr val="6F2FA0"/>
                </a:solidFill>
                <a:latin typeface="Arial"/>
                <a:cs typeface="Arial"/>
              </a:rPr>
              <a:t>Episodic </a:t>
            </a:r>
            <a:r>
              <a:rPr sz="3517" dirty="0">
                <a:latin typeface="Arial"/>
                <a:cs typeface="Arial"/>
              </a:rPr>
              <a:t>vs.</a:t>
            </a:r>
            <a:r>
              <a:rPr sz="3517" spc="-69" dirty="0">
                <a:latin typeface="Arial"/>
                <a:cs typeface="Arial"/>
              </a:rPr>
              <a:t> </a:t>
            </a:r>
            <a:r>
              <a:rPr sz="3517" spc="-6" dirty="0">
                <a:solidFill>
                  <a:srgbClr val="00B04F"/>
                </a:solidFill>
                <a:latin typeface="Arial"/>
                <a:cs typeface="Arial"/>
              </a:rPr>
              <a:t>sequential</a:t>
            </a:r>
            <a:endParaRPr sz="3517" dirty="0">
              <a:latin typeface="Arial"/>
              <a:cs typeface="Arial"/>
            </a:endParaRPr>
          </a:p>
          <a:p>
            <a:pPr marL="445907" indent="-429953">
              <a:spcBef>
                <a:spcPts val="842"/>
              </a:spcBef>
              <a:buChar char="•"/>
              <a:tabLst>
                <a:tab pos="445907" algn="l"/>
                <a:tab pos="446705" algn="l"/>
              </a:tabLst>
            </a:pPr>
            <a:r>
              <a:rPr sz="3517" spc="-6" dirty="0">
                <a:solidFill>
                  <a:srgbClr val="6F2FA0"/>
                </a:solidFill>
                <a:latin typeface="Arial"/>
                <a:cs typeface="Arial"/>
              </a:rPr>
              <a:t>Static </a:t>
            </a:r>
            <a:r>
              <a:rPr sz="3517" dirty="0">
                <a:latin typeface="Arial"/>
                <a:cs typeface="Arial"/>
              </a:rPr>
              <a:t>vs.</a:t>
            </a:r>
            <a:r>
              <a:rPr sz="3517" spc="-107" dirty="0">
                <a:latin typeface="Arial"/>
                <a:cs typeface="Arial"/>
              </a:rPr>
              <a:t> </a:t>
            </a:r>
            <a:r>
              <a:rPr sz="3517" spc="-6" dirty="0">
                <a:solidFill>
                  <a:srgbClr val="00B04F"/>
                </a:solidFill>
                <a:latin typeface="Arial"/>
                <a:cs typeface="Arial"/>
              </a:rPr>
              <a:t>dynamic</a:t>
            </a:r>
            <a:endParaRPr sz="3517" dirty="0">
              <a:latin typeface="Arial"/>
              <a:cs typeface="Arial"/>
            </a:endParaRPr>
          </a:p>
          <a:p>
            <a:pPr marL="446705" indent="-430751">
              <a:spcBef>
                <a:spcPts val="842"/>
              </a:spcBef>
              <a:buChar char="•"/>
              <a:tabLst>
                <a:tab pos="445907" algn="l"/>
                <a:tab pos="446705" algn="l"/>
              </a:tabLst>
            </a:pPr>
            <a:r>
              <a:rPr sz="3517" spc="-6" dirty="0">
                <a:solidFill>
                  <a:srgbClr val="6F2FA0"/>
                </a:solidFill>
                <a:latin typeface="Arial"/>
                <a:cs typeface="Arial"/>
              </a:rPr>
              <a:t>Discrete </a:t>
            </a:r>
            <a:r>
              <a:rPr sz="3517" dirty="0">
                <a:latin typeface="Arial"/>
                <a:cs typeface="Arial"/>
              </a:rPr>
              <a:t>vs.</a:t>
            </a:r>
            <a:r>
              <a:rPr sz="3517" spc="-57" dirty="0">
                <a:latin typeface="Arial"/>
                <a:cs typeface="Arial"/>
              </a:rPr>
              <a:t> </a:t>
            </a:r>
            <a:r>
              <a:rPr sz="3517" spc="-6" dirty="0">
                <a:solidFill>
                  <a:srgbClr val="00B04F"/>
                </a:solidFill>
                <a:latin typeface="Arial"/>
                <a:cs typeface="Arial"/>
              </a:rPr>
              <a:t>continuous</a:t>
            </a:r>
            <a:endParaRPr sz="3517" dirty="0">
              <a:latin typeface="Arial"/>
              <a:cs typeface="Arial"/>
            </a:endParaRPr>
          </a:p>
          <a:p>
            <a:pPr marL="445907" indent="-429953">
              <a:spcBef>
                <a:spcPts val="842"/>
              </a:spcBef>
              <a:buChar char="•"/>
              <a:tabLst>
                <a:tab pos="445907" algn="l"/>
                <a:tab pos="446705" algn="l"/>
              </a:tabLst>
            </a:pPr>
            <a:r>
              <a:rPr sz="3517" spc="-6" dirty="0">
                <a:solidFill>
                  <a:srgbClr val="6F2FA0"/>
                </a:solidFill>
                <a:latin typeface="Arial"/>
                <a:cs typeface="Arial"/>
              </a:rPr>
              <a:t>Single agent </a:t>
            </a:r>
            <a:r>
              <a:rPr sz="3517" dirty="0">
                <a:latin typeface="Arial"/>
                <a:cs typeface="Arial"/>
              </a:rPr>
              <a:t>vs.</a:t>
            </a:r>
            <a:r>
              <a:rPr sz="3517" spc="-38" dirty="0">
                <a:latin typeface="Arial"/>
                <a:cs typeface="Arial"/>
              </a:rPr>
              <a:t> </a:t>
            </a:r>
            <a:r>
              <a:rPr sz="3517" spc="-6" dirty="0">
                <a:solidFill>
                  <a:srgbClr val="00B04F"/>
                </a:solidFill>
                <a:latin typeface="Arial"/>
                <a:cs typeface="Arial"/>
              </a:rPr>
              <a:t>multi-agent</a:t>
            </a:r>
            <a:endParaRPr sz="3517" dirty="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18701" y="104722"/>
            <a:ext cx="10215464" cy="695896"/>
          </a:xfrm>
          <a:prstGeom prst="rect">
            <a:avLst/>
          </a:prstGeom>
        </p:spPr>
        <p:txBody>
          <a:bodyPr vert="horz" wrap="square" lIns="0" tIns="0" rIns="0" bIns="0" rtlCol="0">
            <a:spAutoFit/>
          </a:bodyPr>
          <a:lstStyle/>
          <a:p>
            <a:pPr marL="15954"/>
            <a:r>
              <a:rPr sz="4522" dirty="0">
                <a:latin typeface="Arial"/>
                <a:cs typeface="Arial"/>
              </a:rPr>
              <a:t>Fully observable </a:t>
            </a:r>
            <a:r>
              <a:rPr sz="4522" spc="-6" dirty="0">
                <a:latin typeface="Arial"/>
                <a:cs typeface="Arial"/>
              </a:rPr>
              <a:t>vs. </a:t>
            </a:r>
            <a:r>
              <a:rPr sz="4522" dirty="0">
                <a:latin typeface="Arial"/>
                <a:cs typeface="Arial"/>
              </a:rPr>
              <a:t>partially</a:t>
            </a:r>
            <a:r>
              <a:rPr sz="4522" spc="-163" dirty="0">
                <a:latin typeface="Arial"/>
                <a:cs typeface="Arial"/>
              </a:rPr>
              <a:t> </a:t>
            </a:r>
            <a:r>
              <a:rPr sz="4522" dirty="0">
                <a:latin typeface="Arial"/>
                <a:cs typeface="Arial"/>
              </a:rPr>
              <a:t>observable</a:t>
            </a:r>
          </a:p>
        </p:txBody>
      </p:sp>
      <p:sp>
        <p:nvSpPr>
          <p:cNvPr id="3" name="object 3"/>
          <p:cNvSpPr txBox="1"/>
          <p:nvPr/>
        </p:nvSpPr>
        <p:spPr>
          <a:xfrm>
            <a:off x="1645689" y="954039"/>
            <a:ext cx="9493537" cy="1778051"/>
          </a:xfrm>
          <a:prstGeom prst="rect">
            <a:avLst/>
          </a:prstGeom>
        </p:spPr>
        <p:txBody>
          <a:bodyPr vert="horz" wrap="square" lIns="0" tIns="0" rIns="0" bIns="0" rtlCol="0">
            <a:spAutoFit/>
          </a:bodyPr>
          <a:lstStyle/>
          <a:p>
            <a:pPr marL="446705" marR="6381" indent="-430751">
              <a:buChar char="•"/>
              <a:tabLst>
                <a:tab pos="445907" algn="l"/>
                <a:tab pos="446705" algn="l"/>
              </a:tabLst>
            </a:pPr>
            <a:r>
              <a:rPr sz="3015" spc="-13" dirty="0">
                <a:latin typeface="Arial"/>
                <a:cs typeface="Arial"/>
              </a:rPr>
              <a:t>Do </a:t>
            </a:r>
            <a:r>
              <a:rPr sz="3015" spc="-6" dirty="0">
                <a:latin typeface="Arial"/>
                <a:cs typeface="Arial"/>
              </a:rPr>
              <a:t>the agent's sensors give it access </a:t>
            </a:r>
            <a:r>
              <a:rPr sz="3015" dirty="0">
                <a:latin typeface="Arial"/>
                <a:cs typeface="Arial"/>
              </a:rPr>
              <a:t>to </a:t>
            </a:r>
            <a:r>
              <a:rPr sz="3015" spc="-6" dirty="0">
                <a:latin typeface="Arial"/>
                <a:cs typeface="Arial"/>
              </a:rPr>
              <a:t>the complete  </a:t>
            </a:r>
            <a:r>
              <a:rPr sz="3015" dirty="0">
                <a:latin typeface="Arial"/>
                <a:cs typeface="Arial"/>
              </a:rPr>
              <a:t>state </a:t>
            </a:r>
            <a:r>
              <a:rPr sz="3015" spc="-6" dirty="0">
                <a:latin typeface="Arial"/>
                <a:cs typeface="Arial"/>
              </a:rPr>
              <a:t>of the</a:t>
            </a:r>
            <a:r>
              <a:rPr sz="3015" spc="-126" dirty="0">
                <a:latin typeface="Arial"/>
                <a:cs typeface="Arial"/>
              </a:rPr>
              <a:t> </a:t>
            </a:r>
            <a:r>
              <a:rPr sz="3015" spc="-6" dirty="0">
                <a:latin typeface="Arial"/>
                <a:cs typeface="Arial"/>
              </a:rPr>
              <a:t>environment?</a:t>
            </a:r>
            <a:endParaRPr sz="3015">
              <a:latin typeface="Arial"/>
              <a:cs typeface="Arial"/>
            </a:endParaRPr>
          </a:p>
          <a:p>
            <a:pPr marL="950045" marR="134011" indent="-360555">
              <a:spcBef>
                <a:spcPts val="603"/>
              </a:spcBef>
              <a:tabLst>
                <a:tab pos="950045" algn="l"/>
              </a:tabLst>
            </a:pPr>
            <a:r>
              <a:rPr sz="2512" dirty="0">
                <a:latin typeface="Arial"/>
                <a:cs typeface="Arial"/>
              </a:rPr>
              <a:t>–	For </a:t>
            </a:r>
            <a:r>
              <a:rPr sz="2512" spc="-6" dirty="0">
                <a:latin typeface="Arial"/>
                <a:cs typeface="Arial"/>
              </a:rPr>
              <a:t>any given </a:t>
            </a:r>
            <a:r>
              <a:rPr sz="2512" dirty="0">
                <a:latin typeface="Arial"/>
                <a:cs typeface="Arial"/>
              </a:rPr>
              <a:t>world </a:t>
            </a:r>
            <a:r>
              <a:rPr sz="2512" spc="-6" dirty="0">
                <a:latin typeface="Arial"/>
                <a:cs typeface="Arial"/>
              </a:rPr>
              <a:t>state, </a:t>
            </a:r>
            <a:r>
              <a:rPr sz="2512" dirty="0">
                <a:latin typeface="Arial"/>
                <a:cs typeface="Arial"/>
              </a:rPr>
              <a:t>are </a:t>
            </a:r>
            <a:r>
              <a:rPr sz="2512" spc="-6" dirty="0">
                <a:latin typeface="Arial"/>
                <a:cs typeface="Arial"/>
              </a:rPr>
              <a:t>the values of all</a:t>
            </a:r>
            <a:r>
              <a:rPr sz="2512" spc="-107" dirty="0">
                <a:latin typeface="Arial"/>
                <a:cs typeface="Arial"/>
              </a:rPr>
              <a:t> </a:t>
            </a:r>
            <a:r>
              <a:rPr sz="2512" dirty="0">
                <a:latin typeface="Arial"/>
                <a:cs typeface="Arial"/>
              </a:rPr>
              <a:t>the</a:t>
            </a:r>
            <a:r>
              <a:rPr sz="2512" spc="-19" dirty="0">
                <a:latin typeface="Arial"/>
                <a:cs typeface="Arial"/>
              </a:rPr>
              <a:t> </a:t>
            </a:r>
            <a:r>
              <a:rPr sz="2512" spc="-6" dirty="0">
                <a:latin typeface="Arial"/>
                <a:cs typeface="Arial"/>
              </a:rPr>
              <a:t>variables </a:t>
            </a:r>
            <a:r>
              <a:rPr sz="2512" dirty="0">
                <a:latin typeface="Arial"/>
                <a:cs typeface="Arial"/>
              </a:rPr>
              <a:t> known </a:t>
            </a:r>
            <a:r>
              <a:rPr sz="2512" spc="-6" dirty="0">
                <a:latin typeface="Arial"/>
                <a:cs typeface="Arial"/>
              </a:rPr>
              <a:t>to the</a:t>
            </a:r>
            <a:r>
              <a:rPr sz="2512" spc="-143" dirty="0">
                <a:latin typeface="Arial"/>
                <a:cs typeface="Arial"/>
              </a:rPr>
              <a:t> </a:t>
            </a:r>
            <a:r>
              <a:rPr sz="2512" spc="-6" dirty="0">
                <a:latin typeface="Arial"/>
                <a:cs typeface="Arial"/>
              </a:rPr>
              <a:t>agent?</a:t>
            </a:r>
            <a:endParaRPr sz="2512">
              <a:latin typeface="Arial"/>
              <a:cs typeface="Arial"/>
            </a:endParaRPr>
          </a:p>
        </p:txBody>
      </p:sp>
      <p:sp>
        <p:nvSpPr>
          <p:cNvPr id="4" name="object 4"/>
          <p:cNvSpPr txBox="1"/>
          <p:nvPr/>
        </p:nvSpPr>
        <p:spPr>
          <a:xfrm>
            <a:off x="6527667" y="4490124"/>
            <a:ext cx="765801" cy="695896"/>
          </a:xfrm>
          <a:prstGeom prst="rect">
            <a:avLst/>
          </a:prstGeom>
        </p:spPr>
        <p:txBody>
          <a:bodyPr vert="horz" wrap="square" lIns="0" tIns="0" rIns="0" bIns="0" rtlCol="0">
            <a:spAutoFit/>
          </a:bodyPr>
          <a:lstStyle/>
          <a:p>
            <a:pPr marL="15954"/>
            <a:r>
              <a:rPr sz="4522" spc="-6" dirty="0">
                <a:latin typeface="Arial"/>
                <a:cs typeface="Arial"/>
              </a:rPr>
              <a:t>vs.</a:t>
            </a:r>
            <a:endParaRPr sz="4522">
              <a:latin typeface="Arial"/>
              <a:cs typeface="Arial"/>
            </a:endParaRPr>
          </a:p>
        </p:txBody>
      </p:sp>
      <p:sp>
        <p:nvSpPr>
          <p:cNvPr id="5" name="object 5"/>
          <p:cNvSpPr/>
          <p:nvPr/>
        </p:nvSpPr>
        <p:spPr>
          <a:xfrm>
            <a:off x="2712156" y="2788051"/>
            <a:ext cx="3063204" cy="4663727"/>
          </a:xfrm>
          <a:prstGeom prst="rect">
            <a:avLst/>
          </a:prstGeom>
          <a:blipFill>
            <a:blip r:embed="rId2" cstate="print"/>
            <a:stretch>
              <a:fillRect/>
            </a:stretch>
          </a:blipFill>
        </p:spPr>
        <p:txBody>
          <a:bodyPr wrap="square" lIns="0" tIns="0" rIns="0" bIns="0" rtlCol="0"/>
          <a:lstStyle/>
          <a:p>
            <a:endParaRPr sz="2261"/>
          </a:p>
        </p:txBody>
      </p:sp>
      <p:sp>
        <p:nvSpPr>
          <p:cNvPr id="6" name="object 6"/>
          <p:cNvSpPr/>
          <p:nvPr/>
        </p:nvSpPr>
        <p:spPr>
          <a:xfrm>
            <a:off x="8003086" y="2732090"/>
            <a:ext cx="3109152" cy="4663727"/>
          </a:xfrm>
          <a:prstGeom prst="rect">
            <a:avLst/>
          </a:prstGeom>
          <a:blipFill>
            <a:blip r:embed="rId3" cstate="print"/>
            <a:stretch>
              <a:fillRect/>
            </a:stretch>
          </a:blipFill>
        </p:spPr>
        <p:txBody>
          <a:bodyPr wrap="square" lIns="0" tIns="0" rIns="0" bIns="0" rtlCol="0"/>
          <a:lstStyle/>
          <a:p>
            <a:endParaRPr sz="226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63073" y="303179"/>
            <a:ext cx="3120639" cy="850554"/>
          </a:xfrm>
          <a:prstGeom prst="rect">
            <a:avLst/>
          </a:prstGeom>
        </p:spPr>
        <p:txBody>
          <a:bodyPr vert="horz" wrap="square" lIns="0" tIns="0" rIns="0" bIns="0" rtlCol="0">
            <a:spAutoFit/>
          </a:bodyPr>
          <a:lstStyle/>
          <a:p>
            <a:pPr marL="15954"/>
            <a:r>
              <a:rPr dirty="0">
                <a:latin typeface="Arial"/>
                <a:cs typeface="Arial"/>
              </a:rPr>
              <a:t>Examples</a:t>
            </a:r>
          </a:p>
        </p:txBody>
      </p:sp>
      <p:sp>
        <p:nvSpPr>
          <p:cNvPr id="3" name="object 3"/>
          <p:cNvSpPr txBox="1"/>
          <p:nvPr/>
        </p:nvSpPr>
        <p:spPr>
          <a:xfrm>
            <a:off x="6623393" y="5703662"/>
            <a:ext cx="4901924" cy="1536959"/>
          </a:xfrm>
          <a:prstGeom prst="rect">
            <a:avLst/>
          </a:prstGeom>
        </p:spPr>
        <p:txBody>
          <a:bodyPr vert="horz" wrap="square" lIns="0" tIns="0" rIns="0" bIns="0" rtlCol="0">
            <a:spAutoFit/>
          </a:bodyPr>
          <a:lstStyle/>
          <a:p>
            <a:pPr marL="445907" marR="6381" indent="-430751">
              <a:lnSpc>
                <a:spcPct val="100699"/>
              </a:lnSpc>
            </a:pPr>
            <a:r>
              <a:rPr sz="5025" spc="50" dirty="0">
                <a:latin typeface="Calibri"/>
                <a:cs typeface="Calibri"/>
              </a:rPr>
              <a:t>Part </a:t>
            </a:r>
            <a:r>
              <a:rPr sz="5025" spc="57" dirty="0">
                <a:latin typeface="Calibri"/>
                <a:cs typeface="Calibri"/>
              </a:rPr>
              <a:t>Picking</a:t>
            </a:r>
            <a:r>
              <a:rPr sz="5025" spc="-119" dirty="0">
                <a:latin typeface="Calibri"/>
                <a:cs typeface="Calibri"/>
              </a:rPr>
              <a:t> </a:t>
            </a:r>
            <a:r>
              <a:rPr sz="5025" spc="57" dirty="0">
                <a:latin typeface="Calibri"/>
                <a:cs typeface="Calibri"/>
              </a:rPr>
              <a:t>Robot  (Fully)</a:t>
            </a:r>
            <a:endParaRPr sz="5025">
              <a:latin typeface="Calibri"/>
              <a:cs typeface="Calibri"/>
            </a:endParaRPr>
          </a:p>
        </p:txBody>
      </p:sp>
      <p:sp>
        <p:nvSpPr>
          <p:cNvPr id="4" name="object 4"/>
          <p:cNvSpPr/>
          <p:nvPr/>
        </p:nvSpPr>
        <p:spPr>
          <a:xfrm>
            <a:off x="1068143" y="1576254"/>
            <a:ext cx="11391437" cy="4018539"/>
          </a:xfrm>
          <a:prstGeom prst="rect">
            <a:avLst/>
          </a:prstGeom>
          <a:blipFill>
            <a:blip r:embed="rId2" cstate="print"/>
            <a:stretch>
              <a:fillRect/>
            </a:stretch>
          </a:blipFill>
        </p:spPr>
        <p:txBody>
          <a:bodyPr wrap="square" lIns="0" tIns="0" rIns="0" bIns="0" rtlCol="0"/>
          <a:lstStyle/>
          <a:p>
            <a:endParaRPr sz="2261"/>
          </a:p>
        </p:txBody>
      </p:sp>
      <p:sp>
        <p:nvSpPr>
          <p:cNvPr id="5" name="object 5"/>
          <p:cNvSpPr txBox="1"/>
          <p:nvPr/>
        </p:nvSpPr>
        <p:spPr>
          <a:xfrm>
            <a:off x="1837140" y="5703661"/>
            <a:ext cx="3271406" cy="1536959"/>
          </a:xfrm>
          <a:prstGeom prst="rect">
            <a:avLst/>
          </a:prstGeom>
        </p:spPr>
        <p:txBody>
          <a:bodyPr vert="horz" wrap="square" lIns="0" tIns="0" rIns="0" bIns="0" rtlCol="0">
            <a:spAutoFit/>
          </a:bodyPr>
          <a:lstStyle/>
          <a:p>
            <a:pPr marL="445907" marR="6381" indent="-430751">
              <a:lnSpc>
                <a:spcPct val="100699"/>
              </a:lnSpc>
            </a:pPr>
            <a:r>
              <a:rPr sz="5025" spc="57" dirty="0">
                <a:latin typeface="Calibri"/>
                <a:cs typeface="Calibri"/>
              </a:rPr>
              <a:t>Poker</a:t>
            </a:r>
            <a:r>
              <a:rPr sz="5025" spc="-107" dirty="0">
                <a:latin typeface="Calibri"/>
                <a:cs typeface="Calibri"/>
              </a:rPr>
              <a:t> </a:t>
            </a:r>
            <a:r>
              <a:rPr sz="5025" spc="44" dirty="0">
                <a:latin typeface="Calibri"/>
                <a:cs typeface="Calibri"/>
              </a:rPr>
              <a:t>Game  </a:t>
            </a:r>
            <a:r>
              <a:rPr sz="5025" spc="63" dirty="0">
                <a:latin typeface="Calibri"/>
                <a:cs typeface="Calibri"/>
              </a:rPr>
              <a:t>(Partially)</a:t>
            </a:r>
            <a:endParaRPr sz="5025">
              <a:latin typeface="Calibri"/>
              <a:cs typeface="Calibri"/>
            </a:endParaRPr>
          </a:p>
        </p:txBody>
      </p:sp>
      <p:sp>
        <p:nvSpPr>
          <p:cNvPr id="6" name="object 6"/>
          <p:cNvSpPr txBox="1"/>
          <p:nvPr/>
        </p:nvSpPr>
        <p:spPr>
          <a:xfrm>
            <a:off x="11510476" y="7352409"/>
            <a:ext cx="274412" cy="257350"/>
          </a:xfrm>
          <a:prstGeom prst="rect">
            <a:avLst/>
          </a:prstGeom>
        </p:spPr>
        <p:txBody>
          <a:bodyPr vert="horz" wrap="square" lIns="0" tIns="13561" rIns="0" bIns="0" rtlCol="0">
            <a:spAutoFit/>
          </a:bodyPr>
          <a:lstStyle/>
          <a:p>
            <a:pPr marL="31907">
              <a:lnSpc>
                <a:spcPts val="1903"/>
              </a:lnSpc>
              <a:spcBef>
                <a:spcPts val="107"/>
              </a:spcBef>
            </a:pPr>
            <a:r>
              <a:rPr sz="1759" spc="6" dirty="0">
                <a:latin typeface="Times New Roman"/>
                <a:cs typeface="Times New Roman"/>
              </a:rPr>
              <a:t>19</a:t>
            </a:r>
            <a:endParaRPr sz="1759">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199" y="123177"/>
            <a:ext cx="6956025" cy="695896"/>
          </a:xfrm>
          <a:prstGeom prst="rect">
            <a:avLst/>
          </a:prstGeom>
        </p:spPr>
        <p:txBody>
          <a:bodyPr vert="horz" wrap="square" lIns="0" tIns="0" rIns="0" bIns="0" rtlCol="0">
            <a:spAutoFit/>
          </a:bodyPr>
          <a:lstStyle/>
          <a:p>
            <a:pPr marL="15954"/>
            <a:r>
              <a:rPr sz="4522" spc="-6" dirty="0">
                <a:latin typeface="Arial"/>
                <a:cs typeface="Arial"/>
              </a:rPr>
              <a:t>Deterministic vs.</a:t>
            </a:r>
            <a:r>
              <a:rPr lang="en-US" sz="4522" spc="-6" dirty="0">
                <a:latin typeface="Arial"/>
                <a:cs typeface="Arial"/>
              </a:rPr>
              <a:t> </a:t>
            </a:r>
            <a:r>
              <a:rPr sz="4522" spc="-6" dirty="0">
                <a:latin typeface="Arial"/>
                <a:cs typeface="Arial"/>
              </a:rPr>
              <a:t>stochastic</a:t>
            </a:r>
            <a:endParaRPr sz="4522" dirty="0">
              <a:latin typeface="Arial"/>
              <a:cs typeface="Arial"/>
            </a:endParaRPr>
          </a:p>
        </p:txBody>
      </p:sp>
      <p:sp>
        <p:nvSpPr>
          <p:cNvPr id="3" name="object 3"/>
          <p:cNvSpPr txBox="1"/>
          <p:nvPr/>
        </p:nvSpPr>
        <p:spPr>
          <a:xfrm>
            <a:off x="315912" y="954038"/>
            <a:ext cx="12649200" cy="2616101"/>
          </a:xfrm>
          <a:prstGeom prst="rect">
            <a:avLst/>
          </a:prstGeom>
        </p:spPr>
        <p:txBody>
          <a:bodyPr vert="horz" wrap="square" lIns="0" tIns="0" rIns="0" bIns="0" rtlCol="0">
            <a:spAutoFit/>
          </a:bodyPr>
          <a:lstStyle/>
          <a:p>
            <a:pPr marL="446705" marR="303121" indent="-430751">
              <a:buChar char="•"/>
              <a:tabLst>
                <a:tab pos="445907" algn="l"/>
                <a:tab pos="446705" algn="l"/>
              </a:tabLst>
            </a:pPr>
            <a:r>
              <a:rPr sz="3200" dirty="0">
                <a:latin typeface="Arial"/>
                <a:cs typeface="Arial"/>
              </a:rPr>
              <a:t>Is </a:t>
            </a:r>
            <a:r>
              <a:rPr sz="3200" spc="-6" dirty="0">
                <a:latin typeface="Arial"/>
                <a:cs typeface="Arial"/>
              </a:rPr>
              <a:t>the </a:t>
            </a:r>
            <a:r>
              <a:rPr sz="3200" spc="-13" dirty="0">
                <a:latin typeface="Arial"/>
                <a:cs typeface="Arial"/>
              </a:rPr>
              <a:t>next </a:t>
            </a:r>
            <a:r>
              <a:rPr sz="3200" dirty="0">
                <a:latin typeface="Arial"/>
                <a:cs typeface="Arial"/>
              </a:rPr>
              <a:t>state </a:t>
            </a:r>
            <a:r>
              <a:rPr sz="3200" spc="-6" dirty="0">
                <a:latin typeface="Arial"/>
                <a:cs typeface="Arial"/>
              </a:rPr>
              <a:t>of the environment completely determined by the current </a:t>
            </a:r>
            <a:r>
              <a:rPr sz="3200" dirty="0">
                <a:latin typeface="Arial"/>
                <a:cs typeface="Arial"/>
              </a:rPr>
              <a:t>state </a:t>
            </a:r>
            <a:r>
              <a:rPr sz="3200" spc="-13" dirty="0">
                <a:latin typeface="Arial"/>
                <a:cs typeface="Arial"/>
              </a:rPr>
              <a:t>and </a:t>
            </a:r>
            <a:r>
              <a:rPr sz="3200" spc="-6" dirty="0">
                <a:latin typeface="Arial"/>
                <a:cs typeface="Arial"/>
              </a:rPr>
              <a:t>the agent’s</a:t>
            </a:r>
            <a:r>
              <a:rPr sz="3200" spc="13" dirty="0">
                <a:latin typeface="Arial"/>
                <a:cs typeface="Arial"/>
              </a:rPr>
              <a:t> </a:t>
            </a:r>
            <a:r>
              <a:rPr sz="3200" spc="-6" dirty="0">
                <a:latin typeface="Arial"/>
                <a:cs typeface="Arial"/>
              </a:rPr>
              <a:t>action?</a:t>
            </a:r>
            <a:endParaRPr sz="3200" dirty="0">
              <a:latin typeface="Arial"/>
              <a:cs typeface="Arial"/>
            </a:endParaRPr>
          </a:p>
          <a:p>
            <a:pPr marL="950045" marR="555988" lvl="1" indent="-359757">
              <a:spcBef>
                <a:spcPts val="603"/>
              </a:spcBef>
              <a:buChar char="–"/>
              <a:tabLst>
                <a:tab pos="950045" algn="l"/>
                <a:tab pos="950843" algn="l"/>
              </a:tabLst>
            </a:pPr>
            <a:r>
              <a:rPr sz="2400" spc="-6" dirty="0">
                <a:latin typeface="Arial"/>
                <a:cs typeface="Arial"/>
              </a:rPr>
              <a:t>Is the transition </a:t>
            </a:r>
            <a:r>
              <a:rPr sz="2400" dirty="0">
                <a:latin typeface="Arial"/>
                <a:cs typeface="Arial"/>
              </a:rPr>
              <a:t>model </a:t>
            </a:r>
            <a:r>
              <a:rPr sz="2400" spc="-6" dirty="0">
                <a:latin typeface="Arial"/>
                <a:cs typeface="Arial"/>
              </a:rPr>
              <a:t>deterministic </a:t>
            </a:r>
            <a:r>
              <a:rPr sz="2400" dirty="0">
                <a:latin typeface="Arial"/>
                <a:cs typeface="Arial"/>
              </a:rPr>
              <a:t>(unique </a:t>
            </a:r>
            <a:r>
              <a:rPr sz="2400" spc="6" dirty="0">
                <a:latin typeface="Arial"/>
                <a:cs typeface="Arial"/>
              </a:rPr>
              <a:t>successor </a:t>
            </a:r>
            <a:r>
              <a:rPr sz="2400" spc="-6" dirty="0">
                <a:latin typeface="Arial"/>
                <a:cs typeface="Arial"/>
              </a:rPr>
              <a:t>state  given </a:t>
            </a:r>
            <a:r>
              <a:rPr sz="2400" dirty="0">
                <a:latin typeface="Arial"/>
                <a:cs typeface="Arial"/>
              </a:rPr>
              <a:t>current </a:t>
            </a:r>
            <a:r>
              <a:rPr sz="2400" spc="-6" dirty="0">
                <a:latin typeface="Arial"/>
                <a:cs typeface="Arial"/>
              </a:rPr>
              <a:t>state </a:t>
            </a:r>
            <a:r>
              <a:rPr sz="2400" dirty="0">
                <a:latin typeface="Arial"/>
                <a:cs typeface="Arial"/>
              </a:rPr>
              <a:t>and action) or stochastic (distribution</a:t>
            </a:r>
            <a:r>
              <a:rPr sz="2400" spc="-339" dirty="0">
                <a:latin typeface="Arial"/>
                <a:cs typeface="Arial"/>
              </a:rPr>
              <a:t> </a:t>
            </a:r>
            <a:r>
              <a:rPr sz="2400" spc="-6" dirty="0">
                <a:latin typeface="Arial"/>
                <a:cs typeface="Arial"/>
              </a:rPr>
              <a:t>over  </a:t>
            </a:r>
            <a:r>
              <a:rPr sz="2400" dirty="0">
                <a:latin typeface="Arial"/>
                <a:cs typeface="Arial"/>
              </a:rPr>
              <a:t>successor </a:t>
            </a:r>
            <a:r>
              <a:rPr sz="2400" spc="-6" dirty="0">
                <a:latin typeface="Arial"/>
                <a:cs typeface="Arial"/>
              </a:rPr>
              <a:t>states given </a:t>
            </a:r>
            <a:r>
              <a:rPr sz="2400" dirty="0">
                <a:latin typeface="Arial"/>
                <a:cs typeface="Arial"/>
              </a:rPr>
              <a:t>current </a:t>
            </a:r>
            <a:r>
              <a:rPr sz="2400" spc="-6" dirty="0">
                <a:latin typeface="Arial"/>
                <a:cs typeface="Arial"/>
              </a:rPr>
              <a:t>state </a:t>
            </a:r>
            <a:r>
              <a:rPr sz="2400" dirty="0">
                <a:latin typeface="Arial"/>
                <a:cs typeface="Arial"/>
              </a:rPr>
              <a:t>and</a:t>
            </a:r>
            <a:r>
              <a:rPr sz="2400" spc="-256" dirty="0">
                <a:latin typeface="Arial"/>
                <a:cs typeface="Arial"/>
              </a:rPr>
              <a:t> </a:t>
            </a:r>
            <a:r>
              <a:rPr sz="2400" dirty="0">
                <a:latin typeface="Arial"/>
                <a:cs typeface="Arial"/>
              </a:rPr>
              <a:t>action)?</a:t>
            </a:r>
          </a:p>
          <a:p>
            <a:pPr marL="950045" marR="6381" lvl="1" indent="-359757">
              <a:spcBef>
                <a:spcPts val="597"/>
              </a:spcBef>
              <a:buChar char="–"/>
              <a:tabLst>
                <a:tab pos="950045" algn="l"/>
                <a:tab pos="950843" algn="l"/>
              </a:tabLst>
            </a:pPr>
            <a:r>
              <a:rPr sz="2400" spc="94" dirty="0">
                <a:solidFill>
                  <a:srgbClr val="FF0000"/>
                </a:solidFill>
                <a:latin typeface="Arial"/>
                <a:cs typeface="Arial"/>
              </a:rPr>
              <a:t>Strategic: </a:t>
            </a:r>
            <a:r>
              <a:rPr sz="2400" spc="-6" dirty="0">
                <a:latin typeface="Arial"/>
                <a:cs typeface="Arial"/>
              </a:rPr>
              <a:t>the environment </a:t>
            </a:r>
            <a:r>
              <a:rPr sz="2400" dirty="0">
                <a:latin typeface="Arial"/>
                <a:cs typeface="Arial"/>
              </a:rPr>
              <a:t>is </a:t>
            </a:r>
            <a:r>
              <a:rPr sz="2400" spc="-6" dirty="0">
                <a:latin typeface="Arial"/>
                <a:cs typeface="Arial"/>
              </a:rPr>
              <a:t>deterministic except for the </a:t>
            </a:r>
            <a:r>
              <a:rPr sz="2400" dirty="0">
                <a:latin typeface="Arial"/>
                <a:cs typeface="Arial"/>
              </a:rPr>
              <a:t>actions  </a:t>
            </a:r>
            <a:r>
              <a:rPr sz="2400" spc="-6" dirty="0">
                <a:latin typeface="Arial"/>
                <a:cs typeface="Arial"/>
              </a:rPr>
              <a:t>of other</a:t>
            </a:r>
            <a:r>
              <a:rPr sz="2400" spc="-132" dirty="0">
                <a:latin typeface="Arial"/>
                <a:cs typeface="Arial"/>
              </a:rPr>
              <a:t> </a:t>
            </a:r>
            <a:r>
              <a:rPr sz="2400" spc="-6" dirty="0">
                <a:latin typeface="Arial"/>
                <a:cs typeface="Arial"/>
              </a:rPr>
              <a:t>agents</a:t>
            </a:r>
            <a:endParaRPr sz="2400" dirty="0">
              <a:latin typeface="Arial"/>
              <a:cs typeface="Arial"/>
            </a:endParaRPr>
          </a:p>
        </p:txBody>
      </p:sp>
      <p:sp>
        <p:nvSpPr>
          <p:cNvPr id="5" name="object 5"/>
          <p:cNvSpPr txBox="1"/>
          <p:nvPr/>
        </p:nvSpPr>
        <p:spPr>
          <a:xfrm>
            <a:off x="6527667" y="5424400"/>
            <a:ext cx="765801" cy="695896"/>
          </a:xfrm>
          <a:prstGeom prst="rect">
            <a:avLst/>
          </a:prstGeom>
        </p:spPr>
        <p:txBody>
          <a:bodyPr vert="horz" wrap="square" lIns="0" tIns="0" rIns="0" bIns="0" rtlCol="0">
            <a:spAutoFit/>
          </a:bodyPr>
          <a:lstStyle/>
          <a:p>
            <a:pPr marL="15954"/>
            <a:r>
              <a:rPr sz="4522" spc="-6" dirty="0">
                <a:latin typeface="Arial"/>
                <a:cs typeface="Arial"/>
              </a:rPr>
              <a:t>vs.</a:t>
            </a:r>
            <a:endParaRPr sz="4522">
              <a:latin typeface="Arial"/>
              <a:cs typeface="Arial"/>
            </a:endParaRPr>
          </a:p>
        </p:txBody>
      </p:sp>
      <p:sp>
        <p:nvSpPr>
          <p:cNvPr id="6" name="object 6"/>
          <p:cNvSpPr/>
          <p:nvPr/>
        </p:nvSpPr>
        <p:spPr>
          <a:xfrm>
            <a:off x="7403227" y="4065106"/>
            <a:ext cx="4761367" cy="3446104"/>
          </a:xfrm>
          <a:prstGeom prst="rect">
            <a:avLst/>
          </a:prstGeom>
          <a:blipFill>
            <a:blip r:embed="rId2" cstate="print"/>
            <a:stretch>
              <a:fillRect/>
            </a:stretch>
          </a:blipFill>
        </p:spPr>
        <p:txBody>
          <a:bodyPr wrap="square" lIns="0" tIns="0" rIns="0" bIns="0" rtlCol="0"/>
          <a:lstStyle/>
          <a:p>
            <a:endParaRPr sz="2261"/>
          </a:p>
        </p:txBody>
      </p:sp>
      <p:pic>
        <p:nvPicPr>
          <p:cNvPr id="8" name="Picture 7">
            <a:extLst>
              <a:ext uri="{FF2B5EF4-FFF2-40B4-BE49-F238E27FC236}">
                <a16:creationId xmlns:a16="http://schemas.microsoft.com/office/drawing/2014/main" id="{E9C2E5F9-2C38-311A-BA53-EC2A2AAF051D}"/>
              </a:ext>
            </a:extLst>
          </p:cNvPr>
          <p:cNvPicPr>
            <a:picLocks noChangeAspect="1"/>
          </p:cNvPicPr>
          <p:nvPr/>
        </p:nvPicPr>
        <p:blipFill>
          <a:blip r:embed="rId3"/>
          <a:stretch>
            <a:fillRect/>
          </a:stretch>
        </p:blipFill>
        <p:spPr>
          <a:xfrm>
            <a:off x="2068512" y="4311650"/>
            <a:ext cx="3439913" cy="260382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8194" y="111615"/>
            <a:ext cx="5875927" cy="695896"/>
          </a:xfrm>
          <a:prstGeom prst="rect">
            <a:avLst/>
          </a:prstGeom>
        </p:spPr>
        <p:txBody>
          <a:bodyPr vert="horz" wrap="square" lIns="0" tIns="0" rIns="0" bIns="0" rtlCol="0">
            <a:spAutoFit/>
          </a:bodyPr>
          <a:lstStyle/>
          <a:p>
            <a:pPr marL="15954"/>
            <a:r>
              <a:rPr sz="4522" dirty="0">
                <a:latin typeface="Arial"/>
                <a:cs typeface="Arial"/>
              </a:rPr>
              <a:t>Episodic </a:t>
            </a:r>
            <a:r>
              <a:rPr sz="4522" spc="-6" dirty="0">
                <a:latin typeface="Arial"/>
                <a:cs typeface="Arial"/>
              </a:rPr>
              <a:t>vs.</a:t>
            </a:r>
            <a:r>
              <a:rPr sz="4522" spc="-132" dirty="0">
                <a:latin typeface="Arial"/>
                <a:cs typeface="Arial"/>
              </a:rPr>
              <a:t> </a:t>
            </a:r>
            <a:r>
              <a:rPr sz="4522" dirty="0">
                <a:latin typeface="Arial"/>
                <a:cs typeface="Arial"/>
              </a:rPr>
              <a:t>sequential</a:t>
            </a:r>
          </a:p>
        </p:txBody>
      </p:sp>
      <p:sp>
        <p:nvSpPr>
          <p:cNvPr id="3" name="object 3"/>
          <p:cNvSpPr txBox="1"/>
          <p:nvPr/>
        </p:nvSpPr>
        <p:spPr>
          <a:xfrm>
            <a:off x="163512" y="954039"/>
            <a:ext cx="12572999" cy="2462213"/>
          </a:xfrm>
          <a:prstGeom prst="rect">
            <a:avLst/>
          </a:prstGeom>
        </p:spPr>
        <p:txBody>
          <a:bodyPr vert="horz" wrap="square" lIns="0" tIns="0" rIns="0" bIns="0" rtlCol="0">
            <a:spAutoFit/>
          </a:bodyPr>
          <a:lstStyle/>
          <a:p>
            <a:pPr marL="446705" marR="374115" indent="-430751">
              <a:buChar char="•"/>
              <a:tabLst>
                <a:tab pos="445907" algn="l"/>
                <a:tab pos="446705" algn="l"/>
              </a:tabLst>
            </a:pPr>
            <a:r>
              <a:rPr lang="en-US" sz="3200" dirty="0"/>
              <a:t>Episodic: Agent receives a single percept per episode. Its action in this episode does not affect future percepts (e.g. classification)</a:t>
            </a:r>
          </a:p>
          <a:p>
            <a:pPr marL="446705" marR="374115" indent="-430751">
              <a:buChar char="•"/>
              <a:tabLst>
                <a:tab pos="445907" algn="l"/>
                <a:tab pos="446705" algn="l"/>
              </a:tabLst>
            </a:pPr>
            <a:endParaRPr lang="en-US" sz="3200" dirty="0">
              <a:latin typeface="Arial"/>
              <a:cs typeface="Arial"/>
            </a:endParaRPr>
          </a:p>
          <a:p>
            <a:pPr marL="446705" marR="374115" indent="-430751">
              <a:buChar char="•"/>
              <a:tabLst>
                <a:tab pos="445907" algn="l"/>
                <a:tab pos="446705" algn="l"/>
              </a:tabLst>
            </a:pPr>
            <a:r>
              <a:rPr lang="en-US" sz="3200" dirty="0"/>
              <a:t>Sequential: Agent receives a sequence of percepts. The current action affects future percepts. (e.g. navigation, game playing)</a:t>
            </a:r>
            <a:endParaRPr sz="3200" dirty="0"/>
          </a:p>
        </p:txBody>
      </p:sp>
      <p:sp>
        <p:nvSpPr>
          <p:cNvPr id="4" name="object 4"/>
          <p:cNvSpPr txBox="1"/>
          <p:nvPr/>
        </p:nvSpPr>
        <p:spPr>
          <a:xfrm>
            <a:off x="6527667" y="5506725"/>
            <a:ext cx="765801" cy="695896"/>
          </a:xfrm>
          <a:prstGeom prst="rect">
            <a:avLst/>
          </a:prstGeom>
        </p:spPr>
        <p:txBody>
          <a:bodyPr vert="horz" wrap="square" lIns="0" tIns="0" rIns="0" bIns="0" rtlCol="0">
            <a:spAutoFit/>
          </a:bodyPr>
          <a:lstStyle/>
          <a:p>
            <a:pPr marL="15954"/>
            <a:r>
              <a:rPr sz="4522" spc="-6" dirty="0">
                <a:latin typeface="Arial"/>
                <a:cs typeface="Arial"/>
              </a:rPr>
              <a:t>vs.</a:t>
            </a:r>
            <a:endParaRPr sz="4522">
              <a:latin typeface="Arial"/>
              <a:cs typeface="Arial"/>
            </a:endParaRPr>
          </a:p>
        </p:txBody>
      </p:sp>
      <p:sp>
        <p:nvSpPr>
          <p:cNvPr id="5" name="object 5"/>
          <p:cNvSpPr/>
          <p:nvPr/>
        </p:nvSpPr>
        <p:spPr>
          <a:xfrm>
            <a:off x="7704254" y="4629391"/>
            <a:ext cx="4437817" cy="2450563"/>
          </a:xfrm>
          <a:prstGeom prst="rect">
            <a:avLst/>
          </a:prstGeom>
          <a:blipFill>
            <a:blip r:embed="rId2" cstate="print"/>
            <a:stretch>
              <a:fillRect/>
            </a:stretch>
          </a:blipFill>
        </p:spPr>
        <p:txBody>
          <a:bodyPr wrap="square" lIns="0" tIns="0" rIns="0" bIns="0" rtlCol="0"/>
          <a:lstStyle/>
          <a:p>
            <a:endParaRPr sz="2261"/>
          </a:p>
        </p:txBody>
      </p:sp>
      <p:sp>
        <p:nvSpPr>
          <p:cNvPr id="6" name="object 6"/>
          <p:cNvSpPr/>
          <p:nvPr/>
        </p:nvSpPr>
        <p:spPr>
          <a:xfrm>
            <a:off x="1077912" y="3713834"/>
            <a:ext cx="5038969" cy="3767741"/>
          </a:xfrm>
          <a:prstGeom prst="rect">
            <a:avLst/>
          </a:prstGeom>
          <a:blipFill>
            <a:blip r:embed="rId3" cstate="print"/>
            <a:stretch>
              <a:fillRect/>
            </a:stretch>
          </a:blipFill>
        </p:spPr>
        <p:txBody>
          <a:bodyPr wrap="square" lIns="0" tIns="0" rIns="0" bIns="0" rtlCol="0"/>
          <a:lstStyle/>
          <a:p>
            <a:endParaRPr sz="226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86205" y="175969"/>
            <a:ext cx="4661014" cy="553998"/>
          </a:xfrm>
          <a:prstGeom prst="rect">
            <a:avLst/>
          </a:prstGeom>
        </p:spPr>
        <p:txBody>
          <a:bodyPr vert="horz" wrap="square" lIns="0" tIns="0" rIns="0" bIns="0" rtlCol="0">
            <a:spAutoFit/>
          </a:bodyPr>
          <a:lstStyle/>
          <a:p>
            <a:pPr marL="15954"/>
            <a:r>
              <a:rPr sz="3600" spc="-6" dirty="0">
                <a:latin typeface="Arial"/>
                <a:cs typeface="Arial"/>
              </a:rPr>
              <a:t>Static vs.</a:t>
            </a:r>
            <a:r>
              <a:rPr sz="3600" spc="-100" dirty="0">
                <a:latin typeface="Arial"/>
                <a:cs typeface="Arial"/>
              </a:rPr>
              <a:t> </a:t>
            </a:r>
            <a:r>
              <a:rPr sz="3600" dirty="0">
                <a:latin typeface="Arial"/>
                <a:cs typeface="Arial"/>
              </a:rPr>
              <a:t>dynamic</a:t>
            </a:r>
          </a:p>
        </p:txBody>
      </p:sp>
      <p:sp>
        <p:nvSpPr>
          <p:cNvPr id="3" name="object 3"/>
          <p:cNvSpPr txBox="1"/>
          <p:nvPr/>
        </p:nvSpPr>
        <p:spPr>
          <a:xfrm>
            <a:off x="392112" y="882650"/>
            <a:ext cx="12801600" cy="3233962"/>
          </a:xfrm>
          <a:prstGeom prst="rect">
            <a:avLst/>
          </a:prstGeom>
        </p:spPr>
        <p:txBody>
          <a:bodyPr vert="horz" wrap="square" lIns="0" tIns="0" rIns="0" bIns="0" rtlCol="0">
            <a:spAutoFit/>
          </a:bodyPr>
          <a:lstStyle/>
          <a:p>
            <a:pPr marL="445907" indent="-429953">
              <a:buChar char="•"/>
              <a:tabLst>
                <a:tab pos="445907" algn="l"/>
                <a:tab pos="446705" algn="l"/>
              </a:tabLst>
            </a:pPr>
            <a:r>
              <a:rPr sz="3015" dirty="0">
                <a:latin typeface="Arial"/>
                <a:cs typeface="Arial"/>
              </a:rPr>
              <a:t>Is </a:t>
            </a:r>
            <a:r>
              <a:rPr sz="3015" spc="-6" dirty="0">
                <a:latin typeface="Arial"/>
                <a:cs typeface="Arial"/>
              </a:rPr>
              <a:t>the world </a:t>
            </a:r>
            <a:r>
              <a:rPr sz="3015" spc="-13" dirty="0">
                <a:latin typeface="Arial"/>
                <a:cs typeface="Arial"/>
              </a:rPr>
              <a:t>changing while </a:t>
            </a:r>
            <a:r>
              <a:rPr sz="3015" spc="-6" dirty="0">
                <a:latin typeface="Arial"/>
                <a:cs typeface="Arial"/>
              </a:rPr>
              <a:t>the agent is</a:t>
            </a:r>
            <a:r>
              <a:rPr sz="3015" spc="132" dirty="0">
                <a:latin typeface="Arial"/>
                <a:cs typeface="Arial"/>
              </a:rPr>
              <a:t> </a:t>
            </a:r>
            <a:r>
              <a:rPr sz="3015" spc="-13" dirty="0">
                <a:latin typeface="Arial"/>
                <a:cs typeface="Arial"/>
              </a:rPr>
              <a:t>thinking?</a:t>
            </a:r>
            <a:endParaRPr lang="en-US" sz="3015" spc="-13" dirty="0">
              <a:latin typeface="Arial"/>
              <a:cs typeface="Arial"/>
            </a:endParaRPr>
          </a:p>
          <a:p>
            <a:pPr marL="445907" indent="-429953">
              <a:buChar char="•"/>
              <a:tabLst>
                <a:tab pos="445907" algn="l"/>
                <a:tab pos="446705" algn="l"/>
              </a:tabLst>
            </a:pPr>
            <a:r>
              <a:rPr lang="en-US" sz="3200" dirty="0">
                <a:solidFill>
                  <a:srgbClr val="FF0000"/>
                </a:solidFill>
              </a:rPr>
              <a:t>Static</a:t>
            </a:r>
            <a:r>
              <a:rPr lang="en-US" sz="3200" dirty="0"/>
              <a:t>: </a:t>
            </a:r>
            <a:r>
              <a:rPr lang="en-US" sz="2800" dirty="0"/>
              <a:t>Environment </a:t>
            </a:r>
            <a:r>
              <a:rPr lang="en-US" sz="2800" dirty="0" err="1"/>
              <a:t>doesnʼt</a:t>
            </a:r>
            <a:r>
              <a:rPr lang="en-US" sz="2800" dirty="0"/>
              <a:t> change unless </a:t>
            </a:r>
            <a:r>
              <a:rPr lang="en-US" sz="2800" dirty="0">
                <a:solidFill>
                  <a:srgbClr val="FF0000"/>
                </a:solidFill>
              </a:rPr>
              <a:t>agent performs an action. (e.g. crossword puzzles) </a:t>
            </a:r>
          </a:p>
          <a:p>
            <a:pPr marL="445907" indent="-429953">
              <a:buChar char="•"/>
              <a:tabLst>
                <a:tab pos="445907" algn="l"/>
                <a:tab pos="446705" algn="l"/>
              </a:tabLst>
            </a:pPr>
            <a:r>
              <a:rPr lang="en-US" sz="3200" dirty="0">
                <a:solidFill>
                  <a:srgbClr val="FF0000"/>
                </a:solidFill>
              </a:rPr>
              <a:t>Dynamic: </a:t>
            </a:r>
            <a:r>
              <a:rPr lang="en-US" sz="2800" dirty="0"/>
              <a:t>Environment changes even when the </a:t>
            </a:r>
            <a:r>
              <a:rPr lang="en-US" sz="2800" dirty="0">
                <a:solidFill>
                  <a:srgbClr val="FF0000"/>
                </a:solidFill>
              </a:rPr>
              <a:t>agent </a:t>
            </a:r>
            <a:r>
              <a:rPr lang="en-US" sz="2800" dirty="0" err="1">
                <a:solidFill>
                  <a:srgbClr val="FF0000"/>
                </a:solidFill>
              </a:rPr>
              <a:t>doesnʼt</a:t>
            </a:r>
            <a:r>
              <a:rPr lang="en-US" sz="2800" dirty="0">
                <a:solidFill>
                  <a:srgbClr val="FF0000"/>
                </a:solidFill>
              </a:rPr>
              <a:t> do anything</a:t>
            </a:r>
            <a:r>
              <a:rPr lang="en-US" sz="2800" dirty="0"/>
              <a:t>. </a:t>
            </a:r>
            <a:r>
              <a:rPr lang="en-US" sz="2800" dirty="0">
                <a:solidFill>
                  <a:srgbClr val="FF0000"/>
                </a:solidFill>
              </a:rPr>
              <a:t>(e.g. traffic) </a:t>
            </a:r>
            <a:endParaRPr lang="en-US" sz="3200" dirty="0">
              <a:solidFill>
                <a:srgbClr val="FF0000"/>
              </a:solidFill>
            </a:endParaRPr>
          </a:p>
          <a:p>
            <a:pPr marL="445907" indent="-429953">
              <a:buChar char="•"/>
              <a:tabLst>
                <a:tab pos="445907" algn="l"/>
                <a:tab pos="446705" algn="l"/>
              </a:tabLst>
            </a:pPr>
            <a:r>
              <a:rPr lang="en-US" sz="3200" dirty="0"/>
              <a:t>Semi-dynamic: </a:t>
            </a:r>
            <a:r>
              <a:rPr lang="en-US" sz="2800" dirty="0"/>
              <a:t>The environment is static, </a:t>
            </a:r>
            <a:r>
              <a:rPr lang="en-US" sz="2800" dirty="0">
                <a:solidFill>
                  <a:srgbClr val="FF0000"/>
                </a:solidFill>
              </a:rPr>
              <a:t>but the </a:t>
            </a:r>
            <a:r>
              <a:rPr lang="en-US" sz="2800" dirty="0" err="1">
                <a:solidFill>
                  <a:srgbClr val="FF0000"/>
                </a:solidFill>
              </a:rPr>
              <a:t>agentʼs</a:t>
            </a:r>
            <a:r>
              <a:rPr lang="en-US" sz="2800" dirty="0">
                <a:solidFill>
                  <a:srgbClr val="FF0000"/>
                </a:solidFill>
              </a:rPr>
              <a:t> performance score changes over time.</a:t>
            </a:r>
            <a:r>
              <a:rPr lang="en-US" sz="2800" dirty="0"/>
              <a:t> (e.g. chess against a clock)</a:t>
            </a:r>
            <a:endParaRPr sz="3015" dirty="0">
              <a:latin typeface="Arial"/>
              <a:cs typeface="Arial"/>
            </a:endParaRPr>
          </a:p>
        </p:txBody>
      </p:sp>
      <p:sp>
        <p:nvSpPr>
          <p:cNvPr id="4" name="object 4"/>
          <p:cNvSpPr txBox="1"/>
          <p:nvPr/>
        </p:nvSpPr>
        <p:spPr>
          <a:xfrm>
            <a:off x="4506912" y="6152424"/>
            <a:ext cx="765801" cy="695896"/>
          </a:xfrm>
          <a:prstGeom prst="rect">
            <a:avLst/>
          </a:prstGeom>
        </p:spPr>
        <p:txBody>
          <a:bodyPr vert="horz" wrap="square" lIns="0" tIns="0" rIns="0" bIns="0" rtlCol="0">
            <a:spAutoFit/>
          </a:bodyPr>
          <a:lstStyle/>
          <a:p>
            <a:pPr marL="15954"/>
            <a:r>
              <a:rPr sz="4522" spc="-6" dirty="0">
                <a:latin typeface="Arial"/>
                <a:cs typeface="Arial"/>
              </a:rPr>
              <a:t>vs.</a:t>
            </a:r>
            <a:endParaRPr sz="4522" dirty="0">
              <a:latin typeface="Arial"/>
              <a:cs typeface="Arial"/>
            </a:endParaRPr>
          </a:p>
        </p:txBody>
      </p:sp>
      <p:sp>
        <p:nvSpPr>
          <p:cNvPr id="5" name="object 5"/>
          <p:cNvSpPr/>
          <p:nvPr/>
        </p:nvSpPr>
        <p:spPr>
          <a:xfrm>
            <a:off x="6564311" y="4845050"/>
            <a:ext cx="3331649" cy="2443679"/>
          </a:xfrm>
          <a:prstGeom prst="rect">
            <a:avLst/>
          </a:prstGeom>
          <a:blipFill>
            <a:blip r:embed="rId2" cstate="print"/>
            <a:stretch>
              <a:fillRect/>
            </a:stretch>
          </a:blipFill>
        </p:spPr>
        <p:txBody>
          <a:bodyPr wrap="square" lIns="0" tIns="0" rIns="0" bIns="0" rtlCol="0"/>
          <a:lstStyle/>
          <a:p>
            <a:endParaRPr sz="2261"/>
          </a:p>
        </p:txBody>
      </p:sp>
      <p:sp>
        <p:nvSpPr>
          <p:cNvPr id="6" name="object 6"/>
          <p:cNvSpPr/>
          <p:nvPr/>
        </p:nvSpPr>
        <p:spPr>
          <a:xfrm>
            <a:off x="544512" y="4387850"/>
            <a:ext cx="3520133" cy="3025733"/>
          </a:xfrm>
          <a:prstGeom prst="rect">
            <a:avLst/>
          </a:prstGeom>
          <a:blipFill>
            <a:blip r:embed="rId3" cstate="print"/>
            <a:stretch>
              <a:fillRect/>
            </a:stretch>
          </a:blipFill>
        </p:spPr>
        <p:txBody>
          <a:bodyPr wrap="square" lIns="0" tIns="0" rIns="0" bIns="0" rtlCol="0"/>
          <a:lstStyle/>
          <a:p>
            <a:endParaRPr sz="226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9415" y="72357"/>
            <a:ext cx="5970854" cy="695896"/>
          </a:xfrm>
          <a:prstGeom prst="rect">
            <a:avLst/>
          </a:prstGeom>
        </p:spPr>
        <p:txBody>
          <a:bodyPr vert="horz" wrap="square" lIns="0" tIns="0" rIns="0" bIns="0" rtlCol="0">
            <a:spAutoFit/>
          </a:bodyPr>
          <a:lstStyle/>
          <a:p>
            <a:pPr marL="15954"/>
            <a:r>
              <a:rPr sz="4522" spc="-6" dirty="0">
                <a:latin typeface="Arial"/>
                <a:cs typeface="Arial"/>
              </a:rPr>
              <a:t>Discrete vs.</a:t>
            </a:r>
            <a:r>
              <a:rPr sz="4522" spc="-82" dirty="0">
                <a:latin typeface="Arial"/>
                <a:cs typeface="Arial"/>
              </a:rPr>
              <a:t> </a:t>
            </a:r>
            <a:r>
              <a:rPr sz="4522" dirty="0">
                <a:latin typeface="Arial"/>
                <a:cs typeface="Arial"/>
              </a:rPr>
              <a:t>continuous</a:t>
            </a:r>
          </a:p>
        </p:txBody>
      </p:sp>
      <p:sp>
        <p:nvSpPr>
          <p:cNvPr id="3" name="object 3"/>
          <p:cNvSpPr txBox="1"/>
          <p:nvPr/>
        </p:nvSpPr>
        <p:spPr>
          <a:xfrm>
            <a:off x="482578" y="922931"/>
            <a:ext cx="12177734" cy="2462213"/>
          </a:xfrm>
          <a:prstGeom prst="rect">
            <a:avLst/>
          </a:prstGeom>
        </p:spPr>
        <p:txBody>
          <a:bodyPr vert="horz" wrap="square" lIns="0" tIns="0" rIns="0" bIns="0" rtlCol="0">
            <a:spAutoFit/>
          </a:bodyPr>
          <a:lstStyle/>
          <a:p>
            <a:pPr marL="446705" marR="6381" indent="-430751">
              <a:buChar char="•"/>
              <a:tabLst>
                <a:tab pos="445907" algn="l"/>
                <a:tab pos="446705" algn="l"/>
              </a:tabLst>
            </a:pPr>
            <a:r>
              <a:rPr lang="en-US" sz="3200" dirty="0"/>
              <a:t>Continuous: </a:t>
            </a:r>
            <a:r>
              <a:rPr lang="en-US" sz="2800" dirty="0"/>
              <a:t>Time, percepts and actions are continuous. </a:t>
            </a:r>
          </a:p>
          <a:p>
            <a:pPr marL="903905" marR="6381" lvl="1" indent="-430751">
              <a:buChar char="•"/>
              <a:tabLst>
                <a:tab pos="445907" algn="l"/>
                <a:tab pos="446705" algn="l"/>
              </a:tabLst>
            </a:pPr>
            <a:r>
              <a:rPr lang="en-US" sz="3200" dirty="0"/>
              <a:t>Example: driving a car. </a:t>
            </a:r>
          </a:p>
          <a:p>
            <a:pPr marL="446705" marR="6381" indent="-430751">
              <a:buChar char="•"/>
              <a:tabLst>
                <a:tab pos="445907" algn="l"/>
                <a:tab pos="446705" algn="l"/>
              </a:tabLst>
            </a:pPr>
            <a:endParaRPr lang="en-US" sz="3200" dirty="0">
              <a:latin typeface="Arial"/>
              <a:cs typeface="Arial"/>
            </a:endParaRPr>
          </a:p>
          <a:p>
            <a:pPr marL="446705" marR="6381" indent="-430751">
              <a:buChar char="•"/>
              <a:tabLst>
                <a:tab pos="445907" algn="l"/>
                <a:tab pos="446705" algn="l"/>
              </a:tabLst>
            </a:pPr>
            <a:r>
              <a:rPr lang="en-US" sz="3200" dirty="0"/>
              <a:t>Discrete: </a:t>
            </a:r>
            <a:r>
              <a:rPr lang="en-US" sz="2800" dirty="0"/>
              <a:t>Time, percepts and actions are discrete. </a:t>
            </a:r>
          </a:p>
          <a:p>
            <a:pPr marL="903905" marR="6381" lvl="1" indent="-430751">
              <a:buChar char="•"/>
              <a:tabLst>
                <a:tab pos="445907" algn="l"/>
                <a:tab pos="446705" algn="l"/>
              </a:tabLst>
            </a:pPr>
            <a:r>
              <a:rPr lang="en-US" sz="3200" dirty="0"/>
              <a:t>Example: playing a board game.</a:t>
            </a:r>
            <a:endParaRPr sz="3200" dirty="0"/>
          </a:p>
        </p:txBody>
      </p:sp>
      <p:sp>
        <p:nvSpPr>
          <p:cNvPr id="4" name="object 4"/>
          <p:cNvSpPr txBox="1"/>
          <p:nvPr/>
        </p:nvSpPr>
        <p:spPr>
          <a:xfrm>
            <a:off x="6431942" y="5052986"/>
            <a:ext cx="765801" cy="695896"/>
          </a:xfrm>
          <a:prstGeom prst="rect">
            <a:avLst/>
          </a:prstGeom>
        </p:spPr>
        <p:txBody>
          <a:bodyPr vert="horz" wrap="square" lIns="0" tIns="0" rIns="0" bIns="0" rtlCol="0">
            <a:spAutoFit/>
          </a:bodyPr>
          <a:lstStyle/>
          <a:p>
            <a:pPr marL="15954"/>
            <a:r>
              <a:rPr sz="4522" spc="-6" dirty="0">
                <a:latin typeface="Arial"/>
                <a:cs typeface="Arial"/>
              </a:rPr>
              <a:t>vs.</a:t>
            </a:r>
            <a:endParaRPr sz="4522">
              <a:latin typeface="Arial"/>
              <a:cs typeface="Arial"/>
            </a:endParaRPr>
          </a:p>
        </p:txBody>
      </p:sp>
      <p:sp>
        <p:nvSpPr>
          <p:cNvPr id="5" name="object 5"/>
          <p:cNvSpPr/>
          <p:nvPr/>
        </p:nvSpPr>
        <p:spPr>
          <a:xfrm>
            <a:off x="7434517" y="4133837"/>
            <a:ext cx="4470363" cy="2967479"/>
          </a:xfrm>
          <a:prstGeom prst="rect">
            <a:avLst/>
          </a:prstGeom>
          <a:blipFill>
            <a:blip r:embed="rId2" cstate="print"/>
            <a:stretch>
              <a:fillRect/>
            </a:stretch>
          </a:blipFill>
        </p:spPr>
        <p:txBody>
          <a:bodyPr wrap="square" lIns="0" tIns="0" rIns="0" bIns="0" rtlCol="0"/>
          <a:lstStyle/>
          <a:p>
            <a:endParaRPr sz="2261"/>
          </a:p>
        </p:txBody>
      </p:sp>
      <p:sp>
        <p:nvSpPr>
          <p:cNvPr id="6" name="object 6"/>
          <p:cNvSpPr/>
          <p:nvPr/>
        </p:nvSpPr>
        <p:spPr>
          <a:xfrm>
            <a:off x="2449512" y="4083050"/>
            <a:ext cx="3553883" cy="3401093"/>
          </a:xfrm>
          <a:prstGeom prst="rect">
            <a:avLst/>
          </a:prstGeom>
          <a:blipFill>
            <a:blip r:embed="rId3" cstate="print"/>
            <a:stretch>
              <a:fillRect/>
            </a:stretch>
          </a:blipFill>
        </p:spPr>
        <p:txBody>
          <a:bodyPr wrap="square" lIns="0" tIns="0" rIns="0" bIns="0" rtlCol="0"/>
          <a:lstStyle/>
          <a:p>
            <a:endParaRPr sz="226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7503" y="80244"/>
            <a:ext cx="6958418" cy="695896"/>
          </a:xfrm>
          <a:prstGeom prst="rect">
            <a:avLst/>
          </a:prstGeom>
        </p:spPr>
        <p:txBody>
          <a:bodyPr vert="horz" wrap="square" lIns="0" tIns="0" rIns="0" bIns="0" rtlCol="0">
            <a:spAutoFit/>
          </a:bodyPr>
          <a:lstStyle/>
          <a:p>
            <a:pPr marL="15954"/>
            <a:r>
              <a:rPr sz="4522" dirty="0">
                <a:latin typeface="Arial"/>
                <a:cs typeface="Arial"/>
              </a:rPr>
              <a:t>Single-agent </a:t>
            </a:r>
            <a:r>
              <a:rPr sz="4522" spc="-6" dirty="0">
                <a:latin typeface="Arial"/>
                <a:cs typeface="Arial"/>
              </a:rPr>
              <a:t>vs.</a:t>
            </a:r>
            <a:r>
              <a:rPr sz="4522" spc="-163" dirty="0">
                <a:latin typeface="Arial"/>
                <a:cs typeface="Arial"/>
              </a:rPr>
              <a:t> </a:t>
            </a:r>
            <a:r>
              <a:rPr sz="4522" dirty="0">
                <a:latin typeface="Arial"/>
                <a:cs typeface="Arial"/>
              </a:rPr>
              <a:t>multiagent</a:t>
            </a:r>
          </a:p>
        </p:txBody>
      </p:sp>
      <p:sp>
        <p:nvSpPr>
          <p:cNvPr id="3" name="object 3"/>
          <p:cNvSpPr txBox="1"/>
          <p:nvPr/>
        </p:nvSpPr>
        <p:spPr>
          <a:xfrm>
            <a:off x="1645690" y="954039"/>
            <a:ext cx="8931951" cy="463973"/>
          </a:xfrm>
          <a:prstGeom prst="rect">
            <a:avLst/>
          </a:prstGeom>
        </p:spPr>
        <p:txBody>
          <a:bodyPr vert="horz" wrap="square" lIns="0" tIns="0" rIns="0" bIns="0" rtlCol="0">
            <a:spAutoFit/>
          </a:bodyPr>
          <a:lstStyle/>
          <a:p>
            <a:pPr marL="445907" indent="-429953">
              <a:buChar char="•"/>
              <a:tabLst>
                <a:tab pos="445907" algn="l"/>
                <a:tab pos="446705" algn="l"/>
              </a:tabLst>
            </a:pPr>
            <a:r>
              <a:rPr sz="3015" dirty="0">
                <a:latin typeface="Arial"/>
                <a:cs typeface="Arial"/>
              </a:rPr>
              <a:t>Is </a:t>
            </a:r>
            <a:r>
              <a:rPr sz="3015" spc="-6" dirty="0">
                <a:latin typeface="Arial"/>
                <a:cs typeface="Arial"/>
              </a:rPr>
              <a:t>an agent operating by itself </a:t>
            </a:r>
            <a:r>
              <a:rPr sz="3015" spc="-13" dirty="0">
                <a:latin typeface="Arial"/>
                <a:cs typeface="Arial"/>
              </a:rPr>
              <a:t>in </a:t>
            </a:r>
            <a:r>
              <a:rPr sz="3015" spc="-6" dirty="0">
                <a:latin typeface="Arial"/>
                <a:cs typeface="Arial"/>
              </a:rPr>
              <a:t>the</a:t>
            </a:r>
            <a:r>
              <a:rPr sz="3015" spc="6" dirty="0">
                <a:latin typeface="Arial"/>
                <a:cs typeface="Arial"/>
              </a:rPr>
              <a:t> </a:t>
            </a:r>
            <a:r>
              <a:rPr sz="3015" spc="-6" dirty="0">
                <a:latin typeface="Arial"/>
                <a:cs typeface="Arial"/>
              </a:rPr>
              <a:t>environment?</a:t>
            </a:r>
            <a:endParaRPr sz="3015">
              <a:latin typeface="Arial"/>
              <a:cs typeface="Arial"/>
            </a:endParaRPr>
          </a:p>
        </p:txBody>
      </p:sp>
      <p:sp>
        <p:nvSpPr>
          <p:cNvPr id="4" name="object 4"/>
          <p:cNvSpPr txBox="1"/>
          <p:nvPr/>
        </p:nvSpPr>
        <p:spPr>
          <a:xfrm>
            <a:off x="6512351" y="4490124"/>
            <a:ext cx="765801" cy="695896"/>
          </a:xfrm>
          <a:prstGeom prst="rect">
            <a:avLst/>
          </a:prstGeom>
        </p:spPr>
        <p:txBody>
          <a:bodyPr vert="horz" wrap="square" lIns="0" tIns="0" rIns="0" bIns="0" rtlCol="0">
            <a:spAutoFit/>
          </a:bodyPr>
          <a:lstStyle/>
          <a:p>
            <a:pPr marL="15954"/>
            <a:r>
              <a:rPr sz="4522" spc="-6" dirty="0">
                <a:latin typeface="Arial"/>
                <a:cs typeface="Arial"/>
              </a:rPr>
              <a:t>vs.</a:t>
            </a:r>
            <a:endParaRPr sz="4522">
              <a:latin typeface="Arial"/>
              <a:cs typeface="Arial"/>
            </a:endParaRPr>
          </a:p>
        </p:txBody>
      </p:sp>
      <p:sp>
        <p:nvSpPr>
          <p:cNvPr id="5" name="object 5"/>
          <p:cNvSpPr/>
          <p:nvPr/>
        </p:nvSpPr>
        <p:spPr>
          <a:xfrm>
            <a:off x="7481722" y="3012129"/>
            <a:ext cx="4723077" cy="3576289"/>
          </a:xfrm>
          <a:prstGeom prst="rect">
            <a:avLst/>
          </a:prstGeom>
          <a:blipFill>
            <a:blip r:embed="rId2" cstate="print"/>
            <a:stretch>
              <a:fillRect/>
            </a:stretch>
          </a:blipFill>
        </p:spPr>
        <p:txBody>
          <a:bodyPr wrap="square" lIns="0" tIns="0" rIns="0" bIns="0" rtlCol="0"/>
          <a:lstStyle/>
          <a:p>
            <a:endParaRPr sz="2261"/>
          </a:p>
        </p:txBody>
      </p:sp>
      <p:sp>
        <p:nvSpPr>
          <p:cNvPr id="6" name="object 6"/>
          <p:cNvSpPr/>
          <p:nvPr/>
        </p:nvSpPr>
        <p:spPr>
          <a:xfrm>
            <a:off x="1004962" y="3059992"/>
            <a:ext cx="5423784" cy="4068316"/>
          </a:xfrm>
          <a:prstGeom prst="rect">
            <a:avLst/>
          </a:prstGeom>
          <a:blipFill>
            <a:blip r:embed="rId3" cstate="print"/>
            <a:stretch>
              <a:fillRect/>
            </a:stretch>
          </a:blipFill>
        </p:spPr>
        <p:txBody>
          <a:bodyPr wrap="square" lIns="0" tIns="0" rIns="0" bIns="0" rtlCol="0"/>
          <a:lstStyle/>
          <a:p>
            <a:endParaRPr sz="226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 name="object 47"/>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31</a:t>
            </a:fld>
            <a:endParaRPr dirty="0"/>
          </a:p>
        </p:txBody>
      </p:sp>
      <p:sp>
        <p:nvSpPr>
          <p:cNvPr id="2" name="object 2"/>
          <p:cNvSpPr txBox="1"/>
          <p:nvPr/>
        </p:nvSpPr>
        <p:spPr>
          <a:xfrm>
            <a:off x="3353424" y="1289076"/>
            <a:ext cx="1388014" cy="347916"/>
          </a:xfrm>
          <a:prstGeom prst="rect">
            <a:avLst/>
          </a:prstGeom>
        </p:spPr>
        <p:txBody>
          <a:bodyPr vert="horz" wrap="square" lIns="0" tIns="0" rIns="0" bIns="0" rtlCol="0">
            <a:spAutoFit/>
          </a:bodyPr>
          <a:lstStyle/>
          <a:p>
            <a:pPr marL="15954"/>
            <a:r>
              <a:rPr sz="2261" spc="19" dirty="0">
                <a:latin typeface="Calibri"/>
                <a:cs typeface="Calibri"/>
              </a:rPr>
              <a:t>Observable</a:t>
            </a:r>
            <a:endParaRPr sz="2261">
              <a:latin typeface="Calibri"/>
              <a:cs typeface="Calibri"/>
            </a:endParaRPr>
          </a:p>
        </p:txBody>
      </p:sp>
      <p:sp>
        <p:nvSpPr>
          <p:cNvPr id="3" name="object 3"/>
          <p:cNvSpPr txBox="1"/>
          <p:nvPr/>
        </p:nvSpPr>
        <p:spPr>
          <a:xfrm>
            <a:off x="8345303" y="1289076"/>
            <a:ext cx="697198" cy="347916"/>
          </a:xfrm>
          <a:prstGeom prst="rect">
            <a:avLst/>
          </a:prstGeom>
        </p:spPr>
        <p:txBody>
          <a:bodyPr vert="horz" wrap="square" lIns="0" tIns="0" rIns="0" bIns="0" rtlCol="0">
            <a:spAutoFit/>
          </a:bodyPr>
          <a:lstStyle/>
          <a:p>
            <a:pPr marL="15954"/>
            <a:r>
              <a:rPr sz="2261" spc="13" dirty="0">
                <a:latin typeface="Calibri"/>
                <a:cs typeface="Calibri"/>
              </a:rPr>
              <a:t>Static</a:t>
            </a:r>
            <a:endParaRPr sz="2261">
              <a:latin typeface="Calibri"/>
              <a:cs typeface="Calibri"/>
            </a:endParaRPr>
          </a:p>
        </p:txBody>
      </p:sp>
      <p:sp>
        <p:nvSpPr>
          <p:cNvPr id="4" name="object 4"/>
          <p:cNvSpPr txBox="1"/>
          <p:nvPr/>
        </p:nvSpPr>
        <p:spPr>
          <a:xfrm>
            <a:off x="10833692" y="1289076"/>
            <a:ext cx="851954" cy="347916"/>
          </a:xfrm>
          <a:prstGeom prst="rect">
            <a:avLst/>
          </a:prstGeom>
        </p:spPr>
        <p:txBody>
          <a:bodyPr vert="horz" wrap="square" lIns="0" tIns="0" rIns="0" bIns="0" rtlCol="0">
            <a:spAutoFit/>
          </a:bodyPr>
          <a:lstStyle/>
          <a:p>
            <a:pPr marL="15954"/>
            <a:r>
              <a:rPr sz="2261" spc="57" dirty="0">
                <a:latin typeface="Calibri"/>
                <a:cs typeface="Calibri"/>
              </a:rPr>
              <a:t>A</a:t>
            </a:r>
            <a:r>
              <a:rPr sz="2261" spc="-31" dirty="0">
                <a:latin typeface="Calibri"/>
                <a:cs typeface="Calibri"/>
              </a:rPr>
              <a:t>g</a:t>
            </a:r>
            <a:r>
              <a:rPr sz="2261" spc="19" dirty="0">
                <a:latin typeface="Calibri"/>
                <a:cs typeface="Calibri"/>
              </a:rPr>
              <a:t>e</a:t>
            </a:r>
            <a:r>
              <a:rPr sz="2261" spc="13" dirty="0">
                <a:latin typeface="Calibri"/>
                <a:cs typeface="Calibri"/>
              </a:rPr>
              <a:t>n</a:t>
            </a:r>
            <a:r>
              <a:rPr sz="2261" spc="19" dirty="0">
                <a:latin typeface="Calibri"/>
                <a:cs typeface="Calibri"/>
              </a:rPr>
              <a:t>ts</a:t>
            </a:r>
            <a:endParaRPr sz="2261">
              <a:latin typeface="Calibri"/>
              <a:cs typeface="Calibri"/>
            </a:endParaRPr>
          </a:p>
        </p:txBody>
      </p:sp>
      <p:sp>
        <p:nvSpPr>
          <p:cNvPr id="5" name="object 5"/>
          <p:cNvSpPr txBox="1"/>
          <p:nvPr/>
        </p:nvSpPr>
        <p:spPr>
          <a:xfrm>
            <a:off x="9397505" y="1289076"/>
            <a:ext cx="1003518" cy="347916"/>
          </a:xfrm>
          <a:prstGeom prst="rect">
            <a:avLst/>
          </a:prstGeom>
        </p:spPr>
        <p:txBody>
          <a:bodyPr vert="horz" wrap="square" lIns="0" tIns="0" rIns="0" bIns="0" rtlCol="0">
            <a:spAutoFit/>
          </a:bodyPr>
          <a:lstStyle/>
          <a:p>
            <a:pPr marL="15954"/>
            <a:r>
              <a:rPr sz="2261" spc="6" dirty="0">
                <a:latin typeface="Calibri"/>
                <a:cs typeface="Calibri"/>
              </a:rPr>
              <a:t>Discrete</a:t>
            </a:r>
            <a:endParaRPr sz="2261">
              <a:latin typeface="Calibri"/>
              <a:cs typeface="Calibri"/>
            </a:endParaRPr>
          </a:p>
        </p:txBody>
      </p:sp>
      <p:sp>
        <p:nvSpPr>
          <p:cNvPr id="6" name="object 6"/>
          <p:cNvSpPr txBox="1"/>
          <p:nvPr/>
        </p:nvSpPr>
        <p:spPr>
          <a:xfrm>
            <a:off x="1458068" y="2054876"/>
            <a:ext cx="1384823" cy="347916"/>
          </a:xfrm>
          <a:prstGeom prst="rect">
            <a:avLst/>
          </a:prstGeom>
        </p:spPr>
        <p:txBody>
          <a:bodyPr vert="horz" wrap="square" lIns="0" tIns="0" rIns="0" bIns="0" rtlCol="0">
            <a:spAutoFit/>
          </a:bodyPr>
          <a:lstStyle/>
          <a:p>
            <a:pPr marL="15954"/>
            <a:r>
              <a:rPr sz="2261" dirty="0">
                <a:latin typeface="Calibri"/>
                <a:cs typeface="Calibri"/>
              </a:rPr>
              <a:t>Cross</a:t>
            </a:r>
            <a:r>
              <a:rPr sz="2261" spc="-126" dirty="0">
                <a:latin typeface="Calibri"/>
                <a:cs typeface="Calibri"/>
              </a:rPr>
              <a:t> </a:t>
            </a:r>
            <a:r>
              <a:rPr sz="2261" spc="-6" dirty="0">
                <a:latin typeface="Calibri"/>
                <a:cs typeface="Calibri"/>
              </a:rPr>
              <a:t>Word</a:t>
            </a:r>
            <a:endParaRPr sz="2261">
              <a:latin typeface="Calibri"/>
              <a:cs typeface="Calibri"/>
            </a:endParaRPr>
          </a:p>
        </p:txBody>
      </p:sp>
      <p:sp>
        <p:nvSpPr>
          <p:cNvPr id="7" name="object 7"/>
          <p:cNvSpPr txBox="1"/>
          <p:nvPr/>
        </p:nvSpPr>
        <p:spPr>
          <a:xfrm>
            <a:off x="1458068" y="2916402"/>
            <a:ext cx="713950" cy="347916"/>
          </a:xfrm>
          <a:prstGeom prst="rect">
            <a:avLst/>
          </a:prstGeom>
        </p:spPr>
        <p:txBody>
          <a:bodyPr vert="horz" wrap="square" lIns="0" tIns="0" rIns="0" bIns="0" rtlCol="0">
            <a:spAutoFit/>
          </a:bodyPr>
          <a:lstStyle/>
          <a:p>
            <a:pPr marL="15954"/>
            <a:r>
              <a:rPr sz="2261" dirty="0">
                <a:latin typeface="Calibri"/>
                <a:cs typeface="Calibri"/>
              </a:rPr>
              <a:t>P</a:t>
            </a:r>
            <a:r>
              <a:rPr sz="2261" spc="19" dirty="0">
                <a:latin typeface="Calibri"/>
                <a:cs typeface="Calibri"/>
              </a:rPr>
              <a:t>o</a:t>
            </a:r>
            <a:r>
              <a:rPr sz="2261" spc="-6" dirty="0">
                <a:latin typeface="Calibri"/>
                <a:cs typeface="Calibri"/>
              </a:rPr>
              <a:t>k</a:t>
            </a:r>
            <a:r>
              <a:rPr sz="2261" spc="19" dirty="0">
                <a:latin typeface="Calibri"/>
                <a:cs typeface="Calibri"/>
              </a:rPr>
              <a:t>e</a:t>
            </a:r>
            <a:r>
              <a:rPr sz="2261" spc="6" dirty="0">
                <a:latin typeface="Calibri"/>
                <a:cs typeface="Calibri"/>
              </a:rPr>
              <a:t>r</a:t>
            </a:r>
            <a:endParaRPr sz="2261">
              <a:latin typeface="Calibri"/>
              <a:cs typeface="Calibri"/>
            </a:endParaRPr>
          </a:p>
        </p:txBody>
      </p:sp>
      <p:sp>
        <p:nvSpPr>
          <p:cNvPr id="8" name="object 8"/>
          <p:cNvSpPr txBox="1"/>
          <p:nvPr/>
        </p:nvSpPr>
        <p:spPr>
          <a:xfrm>
            <a:off x="5281326" y="2916402"/>
            <a:ext cx="1210124" cy="347916"/>
          </a:xfrm>
          <a:prstGeom prst="rect">
            <a:avLst/>
          </a:prstGeom>
        </p:spPr>
        <p:txBody>
          <a:bodyPr vert="horz" wrap="square" lIns="0" tIns="0" rIns="0" bIns="0" rtlCol="0">
            <a:spAutoFit/>
          </a:bodyPr>
          <a:lstStyle/>
          <a:p>
            <a:pPr marL="15954"/>
            <a:r>
              <a:rPr sz="2261" spc="-13" dirty="0">
                <a:latin typeface="Calibri"/>
                <a:cs typeface="Calibri"/>
              </a:rPr>
              <a:t>Stochastic</a:t>
            </a:r>
            <a:endParaRPr sz="2261">
              <a:latin typeface="Calibri"/>
              <a:cs typeface="Calibri"/>
            </a:endParaRPr>
          </a:p>
        </p:txBody>
      </p:sp>
      <p:sp>
        <p:nvSpPr>
          <p:cNvPr id="9" name="object 9"/>
          <p:cNvSpPr txBox="1"/>
          <p:nvPr/>
        </p:nvSpPr>
        <p:spPr>
          <a:xfrm>
            <a:off x="5172201" y="1289077"/>
            <a:ext cx="2990612" cy="1143518"/>
          </a:xfrm>
          <a:prstGeom prst="rect">
            <a:avLst/>
          </a:prstGeom>
        </p:spPr>
        <p:txBody>
          <a:bodyPr vert="horz" wrap="square" lIns="0" tIns="0" rIns="0" bIns="0" rtlCol="0">
            <a:spAutoFit/>
          </a:bodyPr>
          <a:lstStyle/>
          <a:p>
            <a:pPr marL="15954">
              <a:tabLst>
                <a:tab pos="1833882" algn="l"/>
              </a:tabLst>
            </a:pPr>
            <a:r>
              <a:rPr sz="2261" spc="13" dirty="0">
                <a:latin typeface="Calibri"/>
                <a:cs typeface="Calibri"/>
              </a:rPr>
              <a:t>Deterministic	</a:t>
            </a:r>
            <a:r>
              <a:rPr sz="2261" spc="19" dirty="0">
                <a:latin typeface="Calibri"/>
                <a:cs typeface="Calibri"/>
              </a:rPr>
              <a:t>Episodic</a:t>
            </a:r>
            <a:endParaRPr sz="2261">
              <a:latin typeface="Calibri"/>
              <a:cs typeface="Calibri"/>
            </a:endParaRPr>
          </a:p>
          <a:p>
            <a:pPr>
              <a:spcBef>
                <a:spcPts val="63"/>
              </a:spcBef>
            </a:pPr>
            <a:endParaRPr sz="2826">
              <a:latin typeface="Times New Roman"/>
              <a:cs typeface="Times New Roman"/>
            </a:endParaRPr>
          </a:p>
          <a:p>
            <a:pPr marL="15954">
              <a:tabLst>
                <a:tab pos="1738160" algn="l"/>
              </a:tabLst>
            </a:pPr>
            <a:r>
              <a:rPr sz="2261" spc="-13" dirty="0">
                <a:latin typeface="Calibri"/>
                <a:cs typeface="Calibri"/>
              </a:rPr>
              <a:t>Deterministic	</a:t>
            </a:r>
            <a:r>
              <a:rPr sz="2261" spc="-6" dirty="0">
                <a:latin typeface="Calibri"/>
                <a:cs typeface="Calibri"/>
              </a:rPr>
              <a:t>Sequential</a:t>
            </a:r>
            <a:endParaRPr sz="2261">
              <a:latin typeface="Calibri"/>
              <a:cs typeface="Calibri"/>
            </a:endParaRPr>
          </a:p>
        </p:txBody>
      </p:sp>
      <p:sp>
        <p:nvSpPr>
          <p:cNvPr id="10" name="object 10"/>
          <p:cNvSpPr txBox="1"/>
          <p:nvPr/>
        </p:nvSpPr>
        <p:spPr>
          <a:xfrm>
            <a:off x="6851219" y="2916402"/>
            <a:ext cx="1267560" cy="347916"/>
          </a:xfrm>
          <a:prstGeom prst="rect">
            <a:avLst/>
          </a:prstGeom>
        </p:spPr>
        <p:txBody>
          <a:bodyPr vert="horz" wrap="square" lIns="0" tIns="0" rIns="0" bIns="0" rtlCol="0">
            <a:spAutoFit/>
          </a:bodyPr>
          <a:lstStyle/>
          <a:p>
            <a:pPr marL="15954"/>
            <a:r>
              <a:rPr sz="2261" spc="-6" dirty="0">
                <a:latin typeface="Calibri"/>
                <a:cs typeface="Calibri"/>
              </a:rPr>
              <a:t>Sequential</a:t>
            </a:r>
            <a:endParaRPr sz="2261">
              <a:latin typeface="Calibri"/>
              <a:cs typeface="Calibri"/>
            </a:endParaRPr>
          </a:p>
        </p:txBody>
      </p:sp>
      <p:sp>
        <p:nvSpPr>
          <p:cNvPr id="11" name="object 11"/>
          <p:cNvSpPr txBox="1"/>
          <p:nvPr/>
        </p:nvSpPr>
        <p:spPr>
          <a:xfrm>
            <a:off x="8535979" y="2054876"/>
            <a:ext cx="673267" cy="347916"/>
          </a:xfrm>
          <a:prstGeom prst="rect">
            <a:avLst/>
          </a:prstGeom>
        </p:spPr>
        <p:txBody>
          <a:bodyPr vert="horz" wrap="square" lIns="0" tIns="0" rIns="0" bIns="0" rtlCol="0">
            <a:spAutoFit/>
          </a:bodyPr>
          <a:lstStyle/>
          <a:p>
            <a:pPr marL="15954"/>
            <a:r>
              <a:rPr sz="2261" spc="-19" dirty="0">
                <a:latin typeface="Calibri"/>
                <a:cs typeface="Calibri"/>
              </a:rPr>
              <a:t>Static</a:t>
            </a:r>
            <a:endParaRPr sz="2261">
              <a:latin typeface="Calibri"/>
              <a:cs typeface="Calibri"/>
            </a:endParaRPr>
          </a:p>
        </p:txBody>
      </p:sp>
      <p:sp>
        <p:nvSpPr>
          <p:cNvPr id="12" name="object 12"/>
          <p:cNvSpPr txBox="1"/>
          <p:nvPr/>
        </p:nvSpPr>
        <p:spPr>
          <a:xfrm>
            <a:off x="8535979" y="3012127"/>
            <a:ext cx="673267" cy="347916"/>
          </a:xfrm>
          <a:prstGeom prst="rect">
            <a:avLst/>
          </a:prstGeom>
        </p:spPr>
        <p:txBody>
          <a:bodyPr vert="horz" wrap="square" lIns="0" tIns="0" rIns="0" bIns="0" rtlCol="0">
            <a:spAutoFit/>
          </a:bodyPr>
          <a:lstStyle/>
          <a:p>
            <a:pPr marL="15954"/>
            <a:r>
              <a:rPr sz="2261" spc="-19" dirty="0">
                <a:latin typeface="Calibri"/>
                <a:cs typeface="Calibri"/>
              </a:rPr>
              <a:t>Static</a:t>
            </a:r>
            <a:endParaRPr sz="2261">
              <a:latin typeface="Calibri"/>
              <a:cs typeface="Calibri"/>
            </a:endParaRPr>
          </a:p>
        </p:txBody>
      </p:sp>
      <p:sp>
        <p:nvSpPr>
          <p:cNvPr id="13" name="object 13"/>
          <p:cNvSpPr txBox="1"/>
          <p:nvPr/>
        </p:nvSpPr>
        <p:spPr>
          <a:xfrm>
            <a:off x="9384104" y="2068278"/>
            <a:ext cx="980385" cy="347916"/>
          </a:xfrm>
          <a:prstGeom prst="rect">
            <a:avLst/>
          </a:prstGeom>
        </p:spPr>
        <p:txBody>
          <a:bodyPr vert="horz" wrap="square" lIns="0" tIns="0" rIns="0" bIns="0" rtlCol="0">
            <a:spAutoFit/>
          </a:bodyPr>
          <a:lstStyle/>
          <a:p>
            <a:pPr marL="15954"/>
            <a:r>
              <a:rPr sz="2261" spc="-19" dirty="0">
                <a:latin typeface="Calibri"/>
                <a:cs typeface="Calibri"/>
              </a:rPr>
              <a:t>Discrete</a:t>
            </a:r>
            <a:endParaRPr sz="2261">
              <a:latin typeface="Calibri"/>
              <a:cs typeface="Calibri"/>
            </a:endParaRPr>
          </a:p>
        </p:txBody>
      </p:sp>
      <p:sp>
        <p:nvSpPr>
          <p:cNvPr id="14" name="object 14"/>
          <p:cNvSpPr txBox="1"/>
          <p:nvPr/>
        </p:nvSpPr>
        <p:spPr>
          <a:xfrm>
            <a:off x="9384104" y="3012127"/>
            <a:ext cx="980385" cy="347916"/>
          </a:xfrm>
          <a:prstGeom prst="rect">
            <a:avLst/>
          </a:prstGeom>
        </p:spPr>
        <p:txBody>
          <a:bodyPr vert="horz" wrap="square" lIns="0" tIns="0" rIns="0" bIns="0" rtlCol="0">
            <a:spAutoFit/>
          </a:bodyPr>
          <a:lstStyle/>
          <a:p>
            <a:pPr marL="15954"/>
            <a:r>
              <a:rPr sz="2261" spc="-19" dirty="0">
                <a:latin typeface="Calibri"/>
                <a:cs typeface="Calibri"/>
              </a:rPr>
              <a:t>Discrete</a:t>
            </a:r>
            <a:endParaRPr sz="2261">
              <a:latin typeface="Calibri"/>
              <a:cs typeface="Calibri"/>
            </a:endParaRPr>
          </a:p>
        </p:txBody>
      </p:sp>
      <p:sp>
        <p:nvSpPr>
          <p:cNvPr id="15" name="object 15"/>
          <p:cNvSpPr txBox="1"/>
          <p:nvPr/>
        </p:nvSpPr>
        <p:spPr>
          <a:xfrm>
            <a:off x="10819981" y="2068278"/>
            <a:ext cx="725915" cy="347916"/>
          </a:xfrm>
          <a:prstGeom prst="rect">
            <a:avLst/>
          </a:prstGeom>
        </p:spPr>
        <p:txBody>
          <a:bodyPr vert="horz" wrap="square" lIns="0" tIns="0" rIns="0" bIns="0" rtlCol="0">
            <a:spAutoFit/>
          </a:bodyPr>
          <a:lstStyle/>
          <a:p>
            <a:pPr marL="15954"/>
            <a:r>
              <a:rPr sz="2261" dirty="0">
                <a:latin typeface="Calibri"/>
                <a:cs typeface="Calibri"/>
              </a:rPr>
              <a:t>S</a:t>
            </a:r>
            <a:r>
              <a:rPr sz="2261" spc="-13" dirty="0">
                <a:latin typeface="Calibri"/>
                <a:cs typeface="Calibri"/>
              </a:rPr>
              <a:t>i</a:t>
            </a:r>
            <a:r>
              <a:rPr sz="2261" dirty="0">
                <a:latin typeface="Calibri"/>
                <a:cs typeface="Calibri"/>
              </a:rPr>
              <a:t>ng</a:t>
            </a:r>
            <a:r>
              <a:rPr sz="2261" spc="-13" dirty="0">
                <a:latin typeface="Calibri"/>
                <a:cs typeface="Calibri"/>
              </a:rPr>
              <a:t>l</a:t>
            </a:r>
            <a:r>
              <a:rPr sz="2261" dirty="0">
                <a:latin typeface="Calibri"/>
                <a:cs typeface="Calibri"/>
              </a:rPr>
              <a:t>e</a:t>
            </a:r>
            <a:endParaRPr sz="2261">
              <a:latin typeface="Calibri"/>
              <a:cs typeface="Calibri"/>
            </a:endParaRPr>
          </a:p>
        </p:txBody>
      </p:sp>
      <p:sp>
        <p:nvSpPr>
          <p:cNvPr id="16" name="object 16"/>
          <p:cNvSpPr txBox="1"/>
          <p:nvPr/>
        </p:nvSpPr>
        <p:spPr>
          <a:xfrm>
            <a:off x="10915706" y="3025529"/>
            <a:ext cx="654918" cy="347916"/>
          </a:xfrm>
          <a:prstGeom prst="rect">
            <a:avLst/>
          </a:prstGeom>
        </p:spPr>
        <p:txBody>
          <a:bodyPr vert="horz" wrap="square" lIns="0" tIns="0" rIns="0" bIns="0" rtlCol="0">
            <a:spAutoFit/>
          </a:bodyPr>
          <a:lstStyle/>
          <a:p>
            <a:pPr marL="15954"/>
            <a:r>
              <a:rPr sz="2261" spc="-6" dirty="0">
                <a:latin typeface="Calibri"/>
                <a:cs typeface="Calibri"/>
              </a:rPr>
              <a:t>M</a:t>
            </a:r>
            <a:r>
              <a:rPr sz="2261" dirty="0">
                <a:latin typeface="Calibri"/>
                <a:cs typeface="Calibri"/>
              </a:rPr>
              <a:t>u</a:t>
            </a:r>
            <a:r>
              <a:rPr sz="2261" spc="-13" dirty="0">
                <a:latin typeface="Calibri"/>
                <a:cs typeface="Calibri"/>
              </a:rPr>
              <a:t>lti</a:t>
            </a:r>
            <a:endParaRPr sz="2261">
              <a:latin typeface="Calibri"/>
              <a:cs typeface="Calibri"/>
            </a:endParaRPr>
          </a:p>
        </p:txBody>
      </p:sp>
      <p:sp>
        <p:nvSpPr>
          <p:cNvPr id="17" name="object 17"/>
          <p:cNvSpPr txBox="1">
            <a:spLocks noGrp="1"/>
          </p:cNvSpPr>
          <p:nvPr>
            <p:ph type="title"/>
          </p:nvPr>
        </p:nvSpPr>
        <p:spPr>
          <a:xfrm>
            <a:off x="5116592" y="85993"/>
            <a:ext cx="2749704" cy="850554"/>
          </a:xfrm>
          <a:prstGeom prst="rect">
            <a:avLst/>
          </a:prstGeom>
        </p:spPr>
        <p:txBody>
          <a:bodyPr vert="horz" wrap="square" lIns="0" tIns="0" rIns="0" bIns="0" rtlCol="0">
            <a:spAutoFit/>
          </a:bodyPr>
          <a:lstStyle/>
          <a:p>
            <a:pPr marL="15954"/>
            <a:r>
              <a:rPr dirty="0"/>
              <a:t>Su</a:t>
            </a:r>
            <a:r>
              <a:rPr spc="-6" dirty="0"/>
              <a:t>mma</a:t>
            </a:r>
            <a:r>
              <a:rPr spc="31" dirty="0"/>
              <a:t>r</a:t>
            </a:r>
            <a:r>
              <a:rPr spc="-6" dirty="0"/>
              <a:t>y</a:t>
            </a:r>
          </a:p>
        </p:txBody>
      </p:sp>
      <p:sp>
        <p:nvSpPr>
          <p:cNvPr id="18" name="object 18"/>
          <p:cNvSpPr txBox="1"/>
          <p:nvPr/>
        </p:nvSpPr>
        <p:spPr>
          <a:xfrm>
            <a:off x="3560190" y="2108482"/>
            <a:ext cx="575946" cy="347916"/>
          </a:xfrm>
          <a:prstGeom prst="rect">
            <a:avLst/>
          </a:prstGeom>
        </p:spPr>
        <p:txBody>
          <a:bodyPr vert="horz" wrap="square" lIns="0" tIns="0" rIns="0" bIns="0" rtlCol="0">
            <a:spAutoFit/>
          </a:bodyPr>
          <a:lstStyle/>
          <a:p>
            <a:pPr marL="15954"/>
            <a:r>
              <a:rPr sz="2261" dirty="0">
                <a:latin typeface="Calibri"/>
                <a:cs typeface="Calibri"/>
              </a:rPr>
              <a:t>Fu</a:t>
            </a:r>
            <a:r>
              <a:rPr sz="2261" spc="-13" dirty="0">
                <a:latin typeface="Calibri"/>
                <a:cs typeface="Calibri"/>
              </a:rPr>
              <a:t>ll</a:t>
            </a:r>
            <a:r>
              <a:rPr sz="2261" dirty="0">
                <a:latin typeface="Calibri"/>
                <a:cs typeface="Calibri"/>
              </a:rPr>
              <a:t>y</a:t>
            </a:r>
            <a:endParaRPr sz="2261">
              <a:latin typeface="Calibri"/>
              <a:cs typeface="Calibri"/>
            </a:endParaRPr>
          </a:p>
        </p:txBody>
      </p:sp>
      <p:sp>
        <p:nvSpPr>
          <p:cNvPr id="19" name="object 19"/>
          <p:cNvSpPr txBox="1"/>
          <p:nvPr/>
        </p:nvSpPr>
        <p:spPr>
          <a:xfrm>
            <a:off x="3560190" y="2820677"/>
            <a:ext cx="575946" cy="347916"/>
          </a:xfrm>
          <a:prstGeom prst="rect">
            <a:avLst/>
          </a:prstGeom>
        </p:spPr>
        <p:txBody>
          <a:bodyPr vert="horz" wrap="square" lIns="0" tIns="0" rIns="0" bIns="0" rtlCol="0">
            <a:spAutoFit/>
          </a:bodyPr>
          <a:lstStyle/>
          <a:p>
            <a:pPr marL="15954"/>
            <a:r>
              <a:rPr sz="2261" dirty="0">
                <a:latin typeface="Calibri"/>
                <a:cs typeface="Calibri"/>
              </a:rPr>
              <a:t>Fu</a:t>
            </a:r>
            <a:r>
              <a:rPr sz="2261" spc="-13" dirty="0">
                <a:latin typeface="Calibri"/>
                <a:cs typeface="Calibri"/>
              </a:rPr>
              <a:t>ll</a:t>
            </a:r>
            <a:r>
              <a:rPr sz="2261" dirty="0">
                <a:latin typeface="Calibri"/>
                <a:cs typeface="Calibri"/>
              </a:rPr>
              <a:t>y</a:t>
            </a:r>
            <a:endParaRPr sz="2261">
              <a:latin typeface="Calibri"/>
              <a:cs typeface="Calibri"/>
            </a:endParaRPr>
          </a:p>
        </p:txBody>
      </p:sp>
      <p:sp>
        <p:nvSpPr>
          <p:cNvPr id="20" name="object 20"/>
          <p:cNvSpPr txBox="1"/>
          <p:nvPr/>
        </p:nvSpPr>
        <p:spPr>
          <a:xfrm>
            <a:off x="1362336" y="3873653"/>
            <a:ext cx="1641686" cy="347916"/>
          </a:xfrm>
          <a:prstGeom prst="rect">
            <a:avLst/>
          </a:prstGeom>
        </p:spPr>
        <p:txBody>
          <a:bodyPr vert="horz" wrap="square" lIns="0" tIns="0" rIns="0" bIns="0" rtlCol="0">
            <a:spAutoFit/>
          </a:bodyPr>
          <a:lstStyle/>
          <a:p>
            <a:pPr marL="15954"/>
            <a:r>
              <a:rPr sz="2261" spc="25" dirty="0">
                <a:latin typeface="Calibri"/>
                <a:cs typeface="Calibri"/>
              </a:rPr>
              <a:t>B</a:t>
            </a:r>
            <a:r>
              <a:rPr sz="2261" spc="31" dirty="0">
                <a:latin typeface="Calibri"/>
                <a:cs typeface="Calibri"/>
              </a:rPr>
              <a:t>a</a:t>
            </a:r>
            <a:r>
              <a:rPr sz="2261" spc="-13" dirty="0">
                <a:latin typeface="Calibri"/>
                <a:cs typeface="Calibri"/>
              </a:rPr>
              <a:t>c</a:t>
            </a:r>
            <a:r>
              <a:rPr sz="2261" spc="25" dirty="0">
                <a:latin typeface="Calibri"/>
                <a:cs typeface="Calibri"/>
              </a:rPr>
              <a:t>k</a:t>
            </a:r>
            <a:r>
              <a:rPr sz="2261" spc="-19" dirty="0">
                <a:latin typeface="Calibri"/>
                <a:cs typeface="Calibri"/>
              </a:rPr>
              <a:t>g</a:t>
            </a:r>
            <a:r>
              <a:rPr sz="2261" spc="31" dirty="0">
                <a:latin typeface="Calibri"/>
                <a:cs typeface="Calibri"/>
              </a:rPr>
              <a:t>a</a:t>
            </a:r>
            <a:r>
              <a:rPr sz="2261" spc="25" dirty="0">
                <a:latin typeface="Calibri"/>
                <a:cs typeface="Calibri"/>
              </a:rPr>
              <a:t>mm</a:t>
            </a:r>
            <a:r>
              <a:rPr sz="2261" spc="19" dirty="0">
                <a:latin typeface="Calibri"/>
                <a:cs typeface="Calibri"/>
              </a:rPr>
              <a:t>o</a:t>
            </a:r>
            <a:r>
              <a:rPr sz="2261" spc="31" dirty="0">
                <a:latin typeface="Calibri"/>
                <a:cs typeface="Calibri"/>
              </a:rPr>
              <a:t>n</a:t>
            </a:r>
            <a:endParaRPr sz="2261">
              <a:latin typeface="Calibri"/>
              <a:cs typeface="Calibri"/>
            </a:endParaRPr>
          </a:p>
        </p:txBody>
      </p:sp>
      <p:sp>
        <p:nvSpPr>
          <p:cNvPr id="21" name="object 21"/>
          <p:cNvSpPr txBox="1"/>
          <p:nvPr/>
        </p:nvSpPr>
        <p:spPr>
          <a:xfrm>
            <a:off x="1362336" y="4884511"/>
            <a:ext cx="1265963" cy="347916"/>
          </a:xfrm>
          <a:prstGeom prst="rect">
            <a:avLst/>
          </a:prstGeom>
        </p:spPr>
        <p:txBody>
          <a:bodyPr vert="horz" wrap="square" lIns="0" tIns="0" rIns="0" bIns="0" rtlCol="0">
            <a:spAutoFit/>
          </a:bodyPr>
          <a:lstStyle/>
          <a:p>
            <a:pPr marL="15954"/>
            <a:r>
              <a:rPr sz="2261" spc="-13" dirty="0">
                <a:latin typeface="Calibri"/>
                <a:cs typeface="Calibri"/>
              </a:rPr>
              <a:t>Taxi</a:t>
            </a:r>
            <a:r>
              <a:rPr sz="2261" spc="-126" dirty="0">
                <a:latin typeface="Calibri"/>
                <a:cs typeface="Calibri"/>
              </a:rPr>
              <a:t> </a:t>
            </a:r>
            <a:r>
              <a:rPr sz="2261" spc="19" dirty="0">
                <a:latin typeface="Calibri"/>
                <a:cs typeface="Calibri"/>
              </a:rPr>
              <a:t>driver</a:t>
            </a:r>
            <a:endParaRPr sz="2261">
              <a:latin typeface="Calibri"/>
              <a:cs typeface="Calibri"/>
            </a:endParaRPr>
          </a:p>
        </p:txBody>
      </p:sp>
      <p:sp>
        <p:nvSpPr>
          <p:cNvPr id="22" name="object 22"/>
          <p:cNvSpPr txBox="1"/>
          <p:nvPr/>
        </p:nvSpPr>
        <p:spPr>
          <a:xfrm>
            <a:off x="1458062" y="6854532"/>
            <a:ext cx="1766926" cy="347916"/>
          </a:xfrm>
          <a:prstGeom prst="rect">
            <a:avLst/>
          </a:prstGeom>
        </p:spPr>
        <p:txBody>
          <a:bodyPr vert="horz" wrap="square" lIns="0" tIns="0" rIns="0" bIns="0" rtlCol="0">
            <a:spAutoFit/>
          </a:bodyPr>
          <a:lstStyle/>
          <a:p>
            <a:pPr marL="15954"/>
            <a:r>
              <a:rPr sz="2261" spc="13" dirty="0">
                <a:latin typeface="Calibri"/>
                <a:cs typeface="Calibri"/>
              </a:rPr>
              <a:t>Image</a:t>
            </a:r>
            <a:r>
              <a:rPr sz="2261" spc="-100" dirty="0">
                <a:latin typeface="Calibri"/>
                <a:cs typeface="Calibri"/>
              </a:rPr>
              <a:t> </a:t>
            </a:r>
            <a:r>
              <a:rPr sz="2261" spc="25" dirty="0">
                <a:latin typeface="Calibri"/>
                <a:cs typeface="Calibri"/>
              </a:rPr>
              <a:t>analysis</a:t>
            </a:r>
            <a:endParaRPr sz="2261">
              <a:latin typeface="Calibri"/>
              <a:cs typeface="Calibri"/>
            </a:endParaRPr>
          </a:p>
        </p:txBody>
      </p:sp>
      <p:sp>
        <p:nvSpPr>
          <p:cNvPr id="23" name="object 23"/>
          <p:cNvSpPr txBox="1"/>
          <p:nvPr/>
        </p:nvSpPr>
        <p:spPr>
          <a:xfrm>
            <a:off x="5267918" y="6841131"/>
            <a:ext cx="1587442" cy="347916"/>
          </a:xfrm>
          <a:prstGeom prst="rect">
            <a:avLst/>
          </a:prstGeom>
        </p:spPr>
        <p:txBody>
          <a:bodyPr vert="horz" wrap="square" lIns="0" tIns="0" rIns="0" bIns="0" rtlCol="0">
            <a:spAutoFit/>
          </a:bodyPr>
          <a:lstStyle/>
          <a:p>
            <a:pPr marL="15954"/>
            <a:r>
              <a:rPr sz="2261" spc="-13" dirty="0">
                <a:latin typeface="Calibri"/>
                <a:cs typeface="Calibri"/>
              </a:rPr>
              <a:t>Deterministic</a:t>
            </a:r>
            <a:endParaRPr sz="2261">
              <a:latin typeface="Calibri"/>
              <a:cs typeface="Calibri"/>
            </a:endParaRPr>
          </a:p>
        </p:txBody>
      </p:sp>
      <p:sp>
        <p:nvSpPr>
          <p:cNvPr id="24" name="object 24"/>
          <p:cNvSpPr txBox="1"/>
          <p:nvPr/>
        </p:nvSpPr>
        <p:spPr>
          <a:xfrm>
            <a:off x="5281320" y="3887055"/>
            <a:ext cx="1210124" cy="347916"/>
          </a:xfrm>
          <a:prstGeom prst="rect">
            <a:avLst/>
          </a:prstGeom>
        </p:spPr>
        <p:txBody>
          <a:bodyPr vert="horz" wrap="square" lIns="0" tIns="0" rIns="0" bIns="0" rtlCol="0">
            <a:spAutoFit/>
          </a:bodyPr>
          <a:lstStyle/>
          <a:p>
            <a:pPr marL="15954"/>
            <a:r>
              <a:rPr sz="2261" spc="-13" dirty="0">
                <a:latin typeface="Calibri"/>
                <a:cs typeface="Calibri"/>
              </a:rPr>
              <a:t>Stochastic</a:t>
            </a:r>
            <a:endParaRPr sz="2261">
              <a:latin typeface="Calibri"/>
              <a:cs typeface="Calibri"/>
            </a:endParaRPr>
          </a:p>
        </p:txBody>
      </p:sp>
      <p:sp>
        <p:nvSpPr>
          <p:cNvPr id="25" name="object 25"/>
          <p:cNvSpPr txBox="1"/>
          <p:nvPr/>
        </p:nvSpPr>
        <p:spPr>
          <a:xfrm>
            <a:off x="5281320" y="4940030"/>
            <a:ext cx="1210124" cy="347916"/>
          </a:xfrm>
          <a:prstGeom prst="rect">
            <a:avLst/>
          </a:prstGeom>
        </p:spPr>
        <p:txBody>
          <a:bodyPr vert="horz" wrap="square" lIns="0" tIns="0" rIns="0" bIns="0" rtlCol="0">
            <a:spAutoFit/>
          </a:bodyPr>
          <a:lstStyle/>
          <a:p>
            <a:pPr marL="15954"/>
            <a:r>
              <a:rPr sz="2261" spc="-13" dirty="0">
                <a:latin typeface="Calibri"/>
                <a:cs typeface="Calibri"/>
              </a:rPr>
              <a:t>Stochastic</a:t>
            </a:r>
            <a:endParaRPr sz="2261">
              <a:latin typeface="Calibri"/>
              <a:cs typeface="Calibri"/>
            </a:endParaRPr>
          </a:p>
        </p:txBody>
      </p:sp>
      <p:sp>
        <p:nvSpPr>
          <p:cNvPr id="26" name="object 26"/>
          <p:cNvSpPr txBox="1"/>
          <p:nvPr/>
        </p:nvSpPr>
        <p:spPr>
          <a:xfrm>
            <a:off x="5377045" y="5883880"/>
            <a:ext cx="1210124" cy="347916"/>
          </a:xfrm>
          <a:prstGeom prst="rect">
            <a:avLst/>
          </a:prstGeom>
        </p:spPr>
        <p:txBody>
          <a:bodyPr vert="horz" wrap="square" lIns="0" tIns="0" rIns="0" bIns="0" rtlCol="0">
            <a:spAutoFit/>
          </a:bodyPr>
          <a:lstStyle/>
          <a:p>
            <a:pPr marL="15954"/>
            <a:r>
              <a:rPr sz="2261" spc="-13" dirty="0">
                <a:latin typeface="Calibri"/>
                <a:cs typeface="Calibri"/>
              </a:rPr>
              <a:t>Stochastic</a:t>
            </a:r>
            <a:endParaRPr sz="2261">
              <a:latin typeface="Calibri"/>
              <a:cs typeface="Calibri"/>
            </a:endParaRPr>
          </a:p>
        </p:txBody>
      </p:sp>
      <p:sp>
        <p:nvSpPr>
          <p:cNvPr id="27" name="object 27"/>
          <p:cNvSpPr txBox="1"/>
          <p:nvPr/>
        </p:nvSpPr>
        <p:spPr>
          <a:xfrm>
            <a:off x="6895246" y="3873653"/>
            <a:ext cx="1267560" cy="347916"/>
          </a:xfrm>
          <a:prstGeom prst="rect">
            <a:avLst/>
          </a:prstGeom>
        </p:spPr>
        <p:txBody>
          <a:bodyPr vert="horz" wrap="square" lIns="0" tIns="0" rIns="0" bIns="0" rtlCol="0">
            <a:spAutoFit/>
          </a:bodyPr>
          <a:lstStyle/>
          <a:p>
            <a:pPr marL="15954"/>
            <a:r>
              <a:rPr sz="2261" spc="-6" dirty="0">
                <a:latin typeface="Calibri"/>
                <a:cs typeface="Calibri"/>
              </a:rPr>
              <a:t>Sequential</a:t>
            </a:r>
            <a:endParaRPr sz="2261">
              <a:latin typeface="Calibri"/>
              <a:cs typeface="Calibri"/>
            </a:endParaRPr>
          </a:p>
        </p:txBody>
      </p:sp>
      <p:sp>
        <p:nvSpPr>
          <p:cNvPr id="28" name="object 28"/>
          <p:cNvSpPr txBox="1"/>
          <p:nvPr/>
        </p:nvSpPr>
        <p:spPr>
          <a:xfrm>
            <a:off x="6990971" y="4926630"/>
            <a:ext cx="1267560" cy="347916"/>
          </a:xfrm>
          <a:prstGeom prst="rect">
            <a:avLst/>
          </a:prstGeom>
        </p:spPr>
        <p:txBody>
          <a:bodyPr vert="horz" wrap="square" lIns="0" tIns="0" rIns="0" bIns="0" rtlCol="0">
            <a:spAutoFit/>
          </a:bodyPr>
          <a:lstStyle/>
          <a:p>
            <a:pPr marL="15954"/>
            <a:r>
              <a:rPr sz="2261" spc="-6" dirty="0">
                <a:latin typeface="Calibri"/>
                <a:cs typeface="Calibri"/>
              </a:rPr>
              <a:t>Sequential</a:t>
            </a:r>
            <a:endParaRPr sz="2261">
              <a:latin typeface="Calibri"/>
              <a:cs typeface="Calibri"/>
            </a:endParaRPr>
          </a:p>
        </p:txBody>
      </p:sp>
      <p:sp>
        <p:nvSpPr>
          <p:cNvPr id="29" name="object 29"/>
          <p:cNvSpPr txBox="1"/>
          <p:nvPr/>
        </p:nvSpPr>
        <p:spPr>
          <a:xfrm>
            <a:off x="7086697" y="5883880"/>
            <a:ext cx="989957" cy="347916"/>
          </a:xfrm>
          <a:prstGeom prst="rect">
            <a:avLst/>
          </a:prstGeom>
        </p:spPr>
        <p:txBody>
          <a:bodyPr vert="horz" wrap="square" lIns="0" tIns="0" rIns="0" bIns="0" rtlCol="0">
            <a:spAutoFit/>
          </a:bodyPr>
          <a:lstStyle/>
          <a:p>
            <a:pPr marL="15954"/>
            <a:r>
              <a:rPr sz="2261" spc="-6" dirty="0">
                <a:latin typeface="Calibri"/>
                <a:cs typeface="Calibri"/>
              </a:rPr>
              <a:t>E</a:t>
            </a:r>
            <a:r>
              <a:rPr sz="2261" dirty="0">
                <a:latin typeface="Calibri"/>
                <a:cs typeface="Calibri"/>
              </a:rPr>
              <a:t>p</a:t>
            </a:r>
            <a:r>
              <a:rPr sz="2261" spc="-13" dirty="0">
                <a:latin typeface="Calibri"/>
                <a:cs typeface="Calibri"/>
              </a:rPr>
              <a:t>i</a:t>
            </a:r>
            <a:r>
              <a:rPr sz="2261" dirty="0">
                <a:latin typeface="Calibri"/>
                <a:cs typeface="Calibri"/>
              </a:rPr>
              <a:t>s</a:t>
            </a:r>
            <a:r>
              <a:rPr sz="2261" spc="-6" dirty="0">
                <a:latin typeface="Calibri"/>
                <a:cs typeface="Calibri"/>
              </a:rPr>
              <a:t>o</a:t>
            </a:r>
            <a:r>
              <a:rPr sz="2261" dirty="0">
                <a:latin typeface="Calibri"/>
                <a:cs typeface="Calibri"/>
              </a:rPr>
              <a:t>d</a:t>
            </a:r>
            <a:r>
              <a:rPr sz="2261" spc="-13" dirty="0">
                <a:latin typeface="Calibri"/>
                <a:cs typeface="Calibri"/>
              </a:rPr>
              <a:t>ic</a:t>
            </a:r>
            <a:endParaRPr sz="2261">
              <a:latin typeface="Calibri"/>
              <a:cs typeface="Calibri"/>
            </a:endParaRPr>
          </a:p>
        </p:txBody>
      </p:sp>
      <p:sp>
        <p:nvSpPr>
          <p:cNvPr id="30" name="object 30"/>
          <p:cNvSpPr txBox="1"/>
          <p:nvPr/>
        </p:nvSpPr>
        <p:spPr>
          <a:xfrm>
            <a:off x="7086697" y="6841131"/>
            <a:ext cx="989957" cy="347916"/>
          </a:xfrm>
          <a:prstGeom prst="rect">
            <a:avLst/>
          </a:prstGeom>
        </p:spPr>
        <p:txBody>
          <a:bodyPr vert="horz" wrap="square" lIns="0" tIns="0" rIns="0" bIns="0" rtlCol="0">
            <a:spAutoFit/>
          </a:bodyPr>
          <a:lstStyle/>
          <a:p>
            <a:pPr marL="15954"/>
            <a:r>
              <a:rPr sz="2261" spc="-6" dirty="0">
                <a:latin typeface="Calibri"/>
                <a:cs typeface="Calibri"/>
              </a:rPr>
              <a:t>E</a:t>
            </a:r>
            <a:r>
              <a:rPr sz="2261" dirty="0">
                <a:latin typeface="Calibri"/>
                <a:cs typeface="Calibri"/>
              </a:rPr>
              <a:t>p</a:t>
            </a:r>
            <a:r>
              <a:rPr sz="2261" spc="-13" dirty="0">
                <a:latin typeface="Calibri"/>
                <a:cs typeface="Calibri"/>
              </a:rPr>
              <a:t>i</a:t>
            </a:r>
            <a:r>
              <a:rPr sz="2261" dirty="0">
                <a:latin typeface="Calibri"/>
                <a:cs typeface="Calibri"/>
              </a:rPr>
              <a:t>s</a:t>
            </a:r>
            <a:r>
              <a:rPr sz="2261" spc="-6" dirty="0">
                <a:latin typeface="Calibri"/>
                <a:cs typeface="Calibri"/>
              </a:rPr>
              <a:t>o</a:t>
            </a:r>
            <a:r>
              <a:rPr sz="2261" dirty="0">
                <a:latin typeface="Calibri"/>
                <a:cs typeface="Calibri"/>
              </a:rPr>
              <a:t>d</a:t>
            </a:r>
            <a:r>
              <a:rPr sz="2261" spc="-13" dirty="0">
                <a:latin typeface="Calibri"/>
                <a:cs typeface="Calibri"/>
              </a:rPr>
              <a:t>ic</a:t>
            </a:r>
            <a:endParaRPr sz="2261">
              <a:latin typeface="Calibri"/>
              <a:cs typeface="Calibri"/>
            </a:endParaRPr>
          </a:p>
        </p:txBody>
      </p:sp>
      <p:sp>
        <p:nvSpPr>
          <p:cNvPr id="31" name="object 31"/>
          <p:cNvSpPr txBox="1"/>
          <p:nvPr/>
        </p:nvSpPr>
        <p:spPr>
          <a:xfrm>
            <a:off x="8535974" y="3887055"/>
            <a:ext cx="673267" cy="347916"/>
          </a:xfrm>
          <a:prstGeom prst="rect">
            <a:avLst/>
          </a:prstGeom>
        </p:spPr>
        <p:txBody>
          <a:bodyPr vert="horz" wrap="square" lIns="0" tIns="0" rIns="0" bIns="0" rtlCol="0">
            <a:spAutoFit/>
          </a:bodyPr>
          <a:lstStyle/>
          <a:p>
            <a:pPr marL="15954"/>
            <a:r>
              <a:rPr sz="2261" spc="-19" dirty="0">
                <a:latin typeface="Calibri"/>
                <a:cs typeface="Calibri"/>
              </a:rPr>
              <a:t>Static</a:t>
            </a:r>
            <a:endParaRPr sz="2261">
              <a:latin typeface="Calibri"/>
              <a:cs typeface="Calibri"/>
            </a:endParaRPr>
          </a:p>
        </p:txBody>
      </p:sp>
      <p:sp>
        <p:nvSpPr>
          <p:cNvPr id="32" name="object 32"/>
          <p:cNvSpPr txBox="1"/>
          <p:nvPr/>
        </p:nvSpPr>
        <p:spPr>
          <a:xfrm>
            <a:off x="8426846" y="4926630"/>
            <a:ext cx="1043404" cy="347916"/>
          </a:xfrm>
          <a:prstGeom prst="rect">
            <a:avLst/>
          </a:prstGeom>
        </p:spPr>
        <p:txBody>
          <a:bodyPr vert="horz" wrap="square" lIns="0" tIns="0" rIns="0" bIns="0" rtlCol="0">
            <a:spAutoFit/>
          </a:bodyPr>
          <a:lstStyle/>
          <a:p>
            <a:pPr marL="15954"/>
            <a:r>
              <a:rPr sz="2261" spc="-13" dirty="0">
                <a:latin typeface="Calibri"/>
                <a:cs typeface="Calibri"/>
              </a:rPr>
              <a:t>D</a:t>
            </a:r>
            <a:r>
              <a:rPr sz="2261" dirty="0">
                <a:latin typeface="Calibri"/>
                <a:cs typeface="Calibri"/>
              </a:rPr>
              <a:t>ynam</a:t>
            </a:r>
            <a:r>
              <a:rPr sz="2261" spc="-13" dirty="0">
                <a:latin typeface="Calibri"/>
                <a:cs typeface="Calibri"/>
              </a:rPr>
              <a:t>ic</a:t>
            </a:r>
            <a:endParaRPr sz="2261">
              <a:latin typeface="Calibri"/>
              <a:cs typeface="Calibri"/>
            </a:endParaRPr>
          </a:p>
        </p:txBody>
      </p:sp>
      <p:sp>
        <p:nvSpPr>
          <p:cNvPr id="33" name="object 33"/>
          <p:cNvSpPr txBox="1"/>
          <p:nvPr/>
        </p:nvSpPr>
        <p:spPr>
          <a:xfrm>
            <a:off x="8426846" y="5883880"/>
            <a:ext cx="1043404" cy="347916"/>
          </a:xfrm>
          <a:prstGeom prst="rect">
            <a:avLst/>
          </a:prstGeom>
        </p:spPr>
        <p:txBody>
          <a:bodyPr vert="horz" wrap="square" lIns="0" tIns="0" rIns="0" bIns="0" rtlCol="0">
            <a:spAutoFit/>
          </a:bodyPr>
          <a:lstStyle/>
          <a:p>
            <a:pPr marL="15954"/>
            <a:r>
              <a:rPr sz="2261" spc="-13" dirty="0">
                <a:latin typeface="Calibri"/>
                <a:cs typeface="Calibri"/>
              </a:rPr>
              <a:t>D</a:t>
            </a:r>
            <a:r>
              <a:rPr sz="2261" dirty="0">
                <a:latin typeface="Calibri"/>
                <a:cs typeface="Calibri"/>
              </a:rPr>
              <a:t>ynam</a:t>
            </a:r>
            <a:r>
              <a:rPr sz="2261" spc="-13" dirty="0">
                <a:latin typeface="Calibri"/>
                <a:cs typeface="Calibri"/>
              </a:rPr>
              <a:t>ic</a:t>
            </a:r>
            <a:endParaRPr sz="2261">
              <a:latin typeface="Calibri"/>
              <a:cs typeface="Calibri"/>
            </a:endParaRPr>
          </a:p>
        </p:txBody>
      </p:sp>
      <p:sp>
        <p:nvSpPr>
          <p:cNvPr id="34" name="object 34"/>
          <p:cNvSpPr txBox="1"/>
          <p:nvPr/>
        </p:nvSpPr>
        <p:spPr>
          <a:xfrm>
            <a:off x="8522572" y="6841131"/>
            <a:ext cx="603067" cy="347916"/>
          </a:xfrm>
          <a:prstGeom prst="rect">
            <a:avLst/>
          </a:prstGeom>
        </p:spPr>
        <p:txBody>
          <a:bodyPr vert="horz" wrap="square" lIns="0" tIns="0" rIns="0" bIns="0" rtlCol="0">
            <a:spAutoFit/>
          </a:bodyPr>
          <a:lstStyle/>
          <a:p>
            <a:pPr marL="15954"/>
            <a:r>
              <a:rPr sz="2261" dirty="0">
                <a:latin typeface="Calibri"/>
                <a:cs typeface="Calibri"/>
              </a:rPr>
              <a:t>Sem</a:t>
            </a:r>
            <a:r>
              <a:rPr sz="2261" spc="-13" dirty="0">
                <a:latin typeface="Calibri"/>
                <a:cs typeface="Calibri"/>
              </a:rPr>
              <a:t>i</a:t>
            </a:r>
            <a:endParaRPr sz="2261">
              <a:latin typeface="Calibri"/>
              <a:cs typeface="Calibri"/>
            </a:endParaRPr>
          </a:p>
        </p:txBody>
      </p:sp>
      <p:sp>
        <p:nvSpPr>
          <p:cNvPr id="35" name="object 35"/>
          <p:cNvSpPr txBox="1"/>
          <p:nvPr/>
        </p:nvSpPr>
        <p:spPr>
          <a:xfrm>
            <a:off x="9384098" y="3887055"/>
            <a:ext cx="980385" cy="347916"/>
          </a:xfrm>
          <a:prstGeom prst="rect">
            <a:avLst/>
          </a:prstGeom>
        </p:spPr>
        <p:txBody>
          <a:bodyPr vert="horz" wrap="square" lIns="0" tIns="0" rIns="0" bIns="0" rtlCol="0">
            <a:spAutoFit/>
          </a:bodyPr>
          <a:lstStyle/>
          <a:p>
            <a:pPr marL="15954"/>
            <a:r>
              <a:rPr sz="2261" spc="-19" dirty="0">
                <a:latin typeface="Calibri"/>
                <a:cs typeface="Calibri"/>
              </a:rPr>
              <a:t>Discrete</a:t>
            </a:r>
            <a:endParaRPr sz="2261">
              <a:latin typeface="Calibri"/>
              <a:cs typeface="Calibri"/>
            </a:endParaRPr>
          </a:p>
        </p:txBody>
      </p:sp>
      <p:sp>
        <p:nvSpPr>
          <p:cNvPr id="36" name="object 36"/>
          <p:cNvSpPr txBox="1"/>
          <p:nvPr/>
        </p:nvSpPr>
        <p:spPr>
          <a:xfrm>
            <a:off x="9671273" y="4940030"/>
            <a:ext cx="646941" cy="347916"/>
          </a:xfrm>
          <a:prstGeom prst="rect">
            <a:avLst/>
          </a:prstGeom>
        </p:spPr>
        <p:txBody>
          <a:bodyPr vert="horz" wrap="square" lIns="0" tIns="0" rIns="0" bIns="0" rtlCol="0">
            <a:spAutoFit/>
          </a:bodyPr>
          <a:lstStyle/>
          <a:p>
            <a:pPr marL="15954"/>
            <a:r>
              <a:rPr sz="2261" spc="-6" dirty="0">
                <a:latin typeface="Calibri"/>
                <a:cs typeface="Calibri"/>
              </a:rPr>
              <a:t>Co</a:t>
            </a:r>
            <a:r>
              <a:rPr sz="2261" spc="-19" dirty="0">
                <a:latin typeface="Calibri"/>
                <a:cs typeface="Calibri"/>
              </a:rPr>
              <a:t>n</a:t>
            </a:r>
            <a:r>
              <a:rPr sz="2261" spc="-13" dirty="0">
                <a:latin typeface="Calibri"/>
                <a:cs typeface="Calibri"/>
              </a:rPr>
              <a:t>ti</a:t>
            </a:r>
            <a:endParaRPr sz="2261">
              <a:latin typeface="Calibri"/>
              <a:cs typeface="Calibri"/>
            </a:endParaRPr>
          </a:p>
        </p:txBody>
      </p:sp>
      <p:sp>
        <p:nvSpPr>
          <p:cNvPr id="37" name="object 37"/>
          <p:cNvSpPr txBox="1"/>
          <p:nvPr/>
        </p:nvSpPr>
        <p:spPr>
          <a:xfrm>
            <a:off x="9671273" y="5883880"/>
            <a:ext cx="646941" cy="347916"/>
          </a:xfrm>
          <a:prstGeom prst="rect">
            <a:avLst/>
          </a:prstGeom>
        </p:spPr>
        <p:txBody>
          <a:bodyPr vert="horz" wrap="square" lIns="0" tIns="0" rIns="0" bIns="0" rtlCol="0">
            <a:spAutoFit/>
          </a:bodyPr>
          <a:lstStyle/>
          <a:p>
            <a:pPr marL="15954"/>
            <a:r>
              <a:rPr sz="2261" spc="-6" dirty="0">
                <a:latin typeface="Calibri"/>
                <a:cs typeface="Calibri"/>
              </a:rPr>
              <a:t>Co</a:t>
            </a:r>
            <a:r>
              <a:rPr sz="2261" spc="-19" dirty="0">
                <a:latin typeface="Calibri"/>
                <a:cs typeface="Calibri"/>
              </a:rPr>
              <a:t>n</a:t>
            </a:r>
            <a:r>
              <a:rPr sz="2261" spc="-13" dirty="0">
                <a:latin typeface="Calibri"/>
                <a:cs typeface="Calibri"/>
              </a:rPr>
              <a:t>ti</a:t>
            </a:r>
            <a:endParaRPr sz="2261">
              <a:latin typeface="Calibri"/>
              <a:cs typeface="Calibri"/>
            </a:endParaRPr>
          </a:p>
        </p:txBody>
      </p:sp>
      <p:sp>
        <p:nvSpPr>
          <p:cNvPr id="38" name="object 38"/>
          <p:cNvSpPr txBox="1"/>
          <p:nvPr/>
        </p:nvSpPr>
        <p:spPr>
          <a:xfrm>
            <a:off x="9766998" y="6841131"/>
            <a:ext cx="646941" cy="347916"/>
          </a:xfrm>
          <a:prstGeom prst="rect">
            <a:avLst/>
          </a:prstGeom>
        </p:spPr>
        <p:txBody>
          <a:bodyPr vert="horz" wrap="square" lIns="0" tIns="0" rIns="0" bIns="0" rtlCol="0">
            <a:spAutoFit/>
          </a:bodyPr>
          <a:lstStyle/>
          <a:p>
            <a:pPr marL="15954"/>
            <a:r>
              <a:rPr sz="2261" spc="-6" dirty="0">
                <a:latin typeface="Calibri"/>
                <a:cs typeface="Calibri"/>
              </a:rPr>
              <a:t>Co</a:t>
            </a:r>
            <a:r>
              <a:rPr sz="2261" spc="-19" dirty="0">
                <a:latin typeface="Calibri"/>
                <a:cs typeface="Calibri"/>
              </a:rPr>
              <a:t>n</a:t>
            </a:r>
            <a:r>
              <a:rPr sz="2261" spc="-13" dirty="0">
                <a:latin typeface="Calibri"/>
                <a:cs typeface="Calibri"/>
              </a:rPr>
              <a:t>ti</a:t>
            </a:r>
            <a:endParaRPr sz="2261">
              <a:latin typeface="Calibri"/>
              <a:cs typeface="Calibri"/>
            </a:endParaRPr>
          </a:p>
        </p:txBody>
      </p:sp>
      <p:sp>
        <p:nvSpPr>
          <p:cNvPr id="39" name="object 39"/>
          <p:cNvSpPr txBox="1"/>
          <p:nvPr/>
        </p:nvSpPr>
        <p:spPr>
          <a:xfrm>
            <a:off x="10819973" y="5801556"/>
            <a:ext cx="725915" cy="347916"/>
          </a:xfrm>
          <a:prstGeom prst="rect">
            <a:avLst/>
          </a:prstGeom>
        </p:spPr>
        <p:txBody>
          <a:bodyPr vert="horz" wrap="square" lIns="0" tIns="0" rIns="0" bIns="0" rtlCol="0">
            <a:spAutoFit/>
          </a:bodyPr>
          <a:lstStyle/>
          <a:p>
            <a:pPr marL="15954"/>
            <a:r>
              <a:rPr sz="2261" dirty="0">
                <a:latin typeface="Calibri"/>
                <a:cs typeface="Calibri"/>
              </a:rPr>
              <a:t>S</a:t>
            </a:r>
            <a:r>
              <a:rPr sz="2261" spc="-13" dirty="0">
                <a:latin typeface="Calibri"/>
                <a:cs typeface="Calibri"/>
              </a:rPr>
              <a:t>i</a:t>
            </a:r>
            <a:r>
              <a:rPr sz="2261" dirty="0">
                <a:latin typeface="Calibri"/>
                <a:cs typeface="Calibri"/>
              </a:rPr>
              <a:t>ng</a:t>
            </a:r>
            <a:r>
              <a:rPr sz="2261" spc="-13" dirty="0">
                <a:latin typeface="Calibri"/>
                <a:cs typeface="Calibri"/>
              </a:rPr>
              <a:t>l</a:t>
            </a:r>
            <a:r>
              <a:rPr sz="2261" dirty="0">
                <a:latin typeface="Calibri"/>
                <a:cs typeface="Calibri"/>
              </a:rPr>
              <a:t>e</a:t>
            </a:r>
            <a:endParaRPr sz="2261">
              <a:latin typeface="Calibri"/>
              <a:cs typeface="Calibri"/>
            </a:endParaRPr>
          </a:p>
        </p:txBody>
      </p:sp>
      <p:sp>
        <p:nvSpPr>
          <p:cNvPr id="40" name="object 40"/>
          <p:cNvSpPr txBox="1"/>
          <p:nvPr/>
        </p:nvSpPr>
        <p:spPr>
          <a:xfrm>
            <a:off x="10915698" y="6758807"/>
            <a:ext cx="725915" cy="347916"/>
          </a:xfrm>
          <a:prstGeom prst="rect">
            <a:avLst/>
          </a:prstGeom>
        </p:spPr>
        <p:txBody>
          <a:bodyPr vert="horz" wrap="square" lIns="0" tIns="0" rIns="0" bIns="0" rtlCol="0">
            <a:spAutoFit/>
          </a:bodyPr>
          <a:lstStyle/>
          <a:p>
            <a:pPr marL="15954"/>
            <a:r>
              <a:rPr sz="2261" dirty="0">
                <a:latin typeface="Calibri"/>
                <a:cs typeface="Calibri"/>
              </a:rPr>
              <a:t>S</a:t>
            </a:r>
            <a:r>
              <a:rPr sz="2261" spc="-13" dirty="0">
                <a:latin typeface="Calibri"/>
                <a:cs typeface="Calibri"/>
              </a:rPr>
              <a:t>i</a:t>
            </a:r>
            <a:r>
              <a:rPr sz="2261" dirty="0">
                <a:latin typeface="Calibri"/>
                <a:cs typeface="Calibri"/>
              </a:rPr>
              <a:t>ng</a:t>
            </a:r>
            <a:r>
              <a:rPr sz="2261" spc="-13" dirty="0">
                <a:latin typeface="Calibri"/>
                <a:cs typeface="Calibri"/>
              </a:rPr>
              <a:t>l</a:t>
            </a:r>
            <a:r>
              <a:rPr sz="2261" dirty="0">
                <a:latin typeface="Calibri"/>
                <a:cs typeface="Calibri"/>
              </a:rPr>
              <a:t>e</a:t>
            </a:r>
            <a:endParaRPr sz="2261">
              <a:latin typeface="Calibri"/>
              <a:cs typeface="Calibri"/>
            </a:endParaRPr>
          </a:p>
        </p:txBody>
      </p:sp>
      <p:sp>
        <p:nvSpPr>
          <p:cNvPr id="41" name="object 41"/>
          <p:cNvSpPr txBox="1"/>
          <p:nvPr/>
        </p:nvSpPr>
        <p:spPr>
          <a:xfrm>
            <a:off x="10915698" y="3887055"/>
            <a:ext cx="654918" cy="347916"/>
          </a:xfrm>
          <a:prstGeom prst="rect">
            <a:avLst/>
          </a:prstGeom>
        </p:spPr>
        <p:txBody>
          <a:bodyPr vert="horz" wrap="square" lIns="0" tIns="0" rIns="0" bIns="0" rtlCol="0">
            <a:spAutoFit/>
          </a:bodyPr>
          <a:lstStyle/>
          <a:p>
            <a:pPr marL="15954"/>
            <a:r>
              <a:rPr sz="2261" spc="-6" dirty="0">
                <a:latin typeface="Calibri"/>
                <a:cs typeface="Calibri"/>
              </a:rPr>
              <a:t>M</a:t>
            </a:r>
            <a:r>
              <a:rPr sz="2261" dirty="0">
                <a:latin typeface="Calibri"/>
                <a:cs typeface="Calibri"/>
              </a:rPr>
              <a:t>u</a:t>
            </a:r>
            <a:r>
              <a:rPr sz="2261" spc="-13" dirty="0">
                <a:latin typeface="Calibri"/>
                <a:cs typeface="Calibri"/>
              </a:rPr>
              <a:t>lti</a:t>
            </a:r>
            <a:endParaRPr sz="2261">
              <a:latin typeface="Calibri"/>
              <a:cs typeface="Calibri"/>
            </a:endParaRPr>
          </a:p>
        </p:txBody>
      </p:sp>
      <p:sp>
        <p:nvSpPr>
          <p:cNvPr id="42" name="object 42"/>
          <p:cNvSpPr txBox="1"/>
          <p:nvPr/>
        </p:nvSpPr>
        <p:spPr>
          <a:xfrm>
            <a:off x="10915698" y="4844305"/>
            <a:ext cx="654918" cy="347916"/>
          </a:xfrm>
          <a:prstGeom prst="rect">
            <a:avLst/>
          </a:prstGeom>
        </p:spPr>
        <p:txBody>
          <a:bodyPr vert="horz" wrap="square" lIns="0" tIns="0" rIns="0" bIns="0" rtlCol="0">
            <a:spAutoFit/>
          </a:bodyPr>
          <a:lstStyle/>
          <a:p>
            <a:pPr marL="15954"/>
            <a:r>
              <a:rPr sz="2261" spc="-6" dirty="0">
                <a:latin typeface="Calibri"/>
                <a:cs typeface="Calibri"/>
              </a:rPr>
              <a:t>M</a:t>
            </a:r>
            <a:r>
              <a:rPr sz="2261" dirty="0">
                <a:latin typeface="Calibri"/>
                <a:cs typeface="Calibri"/>
              </a:rPr>
              <a:t>u</a:t>
            </a:r>
            <a:r>
              <a:rPr sz="2261" spc="-13" dirty="0">
                <a:latin typeface="Calibri"/>
                <a:cs typeface="Calibri"/>
              </a:rPr>
              <a:t>lti</a:t>
            </a:r>
            <a:endParaRPr sz="2261">
              <a:latin typeface="Calibri"/>
              <a:cs typeface="Calibri"/>
            </a:endParaRPr>
          </a:p>
        </p:txBody>
      </p:sp>
      <p:sp>
        <p:nvSpPr>
          <p:cNvPr id="43" name="object 43"/>
          <p:cNvSpPr txBox="1"/>
          <p:nvPr/>
        </p:nvSpPr>
        <p:spPr>
          <a:xfrm>
            <a:off x="3669310" y="6841131"/>
            <a:ext cx="575946" cy="347916"/>
          </a:xfrm>
          <a:prstGeom prst="rect">
            <a:avLst/>
          </a:prstGeom>
        </p:spPr>
        <p:txBody>
          <a:bodyPr vert="horz" wrap="square" lIns="0" tIns="0" rIns="0" bIns="0" rtlCol="0">
            <a:spAutoFit/>
          </a:bodyPr>
          <a:lstStyle/>
          <a:p>
            <a:pPr marL="15954"/>
            <a:r>
              <a:rPr sz="2261" dirty="0">
                <a:latin typeface="Calibri"/>
                <a:cs typeface="Calibri"/>
              </a:rPr>
              <a:t>Fu</a:t>
            </a:r>
            <a:r>
              <a:rPr sz="2261" spc="-13" dirty="0">
                <a:latin typeface="Calibri"/>
                <a:cs typeface="Calibri"/>
              </a:rPr>
              <a:t>ll</a:t>
            </a:r>
            <a:r>
              <a:rPr sz="2261" dirty="0">
                <a:latin typeface="Calibri"/>
                <a:cs typeface="Calibri"/>
              </a:rPr>
              <a:t>y</a:t>
            </a:r>
            <a:endParaRPr sz="2261">
              <a:latin typeface="Calibri"/>
              <a:cs typeface="Calibri"/>
            </a:endParaRPr>
          </a:p>
        </p:txBody>
      </p:sp>
      <p:sp>
        <p:nvSpPr>
          <p:cNvPr id="44" name="object 44"/>
          <p:cNvSpPr txBox="1"/>
          <p:nvPr/>
        </p:nvSpPr>
        <p:spPr>
          <a:xfrm>
            <a:off x="3560184" y="3777928"/>
            <a:ext cx="970812" cy="347916"/>
          </a:xfrm>
          <a:prstGeom prst="rect">
            <a:avLst/>
          </a:prstGeom>
        </p:spPr>
        <p:txBody>
          <a:bodyPr vert="horz" wrap="square" lIns="0" tIns="0" rIns="0" bIns="0" rtlCol="0">
            <a:spAutoFit/>
          </a:bodyPr>
          <a:lstStyle/>
          <a:p>
            <a:pPr marL="15954"/>
            <a:r>
              <a:rPr sz="2261" spc="-63" dirty="0">
                <a:latin typeface="Calibri"/>
                <a:cs typeface="Calibri"/>
              </a:rPr>
              <a:t>P</a:t>
            </a:r>
            <a:r>
              <a:rPr sz="2261" spc="-6" dirty="0">
                <a:latin typeface="Calibri"/>
                <a:cs typeface="Calibri"/>
              </a:rPr>
              <a:t>ar</a:t>
            </a:r>
            <a:r>
              <a:rPr sz="2261" spc="-13" dirty="0">
                <a:latin typeface="Calibri"/>
                <a:cs typeface="Calibri"/>
              </a:rPr>
              <a:t>ti</a:t>
            </a:r>
            <a:r>
              <a:rPr sz="2261" spc="-6" dirty="0">
                <a:latin typeface="Calibri"/>
                <a:cs typeface="Calibri"/>
              </a:rPr>
              <a:t>al</a:t>
            </a:r>
            <a:r>
              <a:rPr sz="2261" spc="-13" dirty="0">
                <a:latin typeface="Calibri"/>
                <a:cs typeface="Calibri"/>
              </a:rPr>
              <a:t>l</a:t>
            </a:r>
            <a:r>
              <a:rPr sz="2261" dirty="0">
                <a:latin typeface="Calibri"/>
                <a:cs typeface="Calibri"/>
              </a:rPr>
              <a:t>y</a:t>
            </a:r>
            <a:endParaRPr sz="2261">
              <a:latin typeface="Calibri"/>
              <a:cs typeface="Calibri"/>
            </a:endParaRPr>
          </a:p>
        </p:txBody>
      </p:sp>
      <p:sp>
        <p:nvSpPr>
          <p:cNvPr id="45" name="object 45"/>
          <p:cNvSpPr txBox="1"/>
          <p:nvPr/>
        </p:nvSpPr>
        <p:spPr>
          <a:xfrm>
            <a:off x="3560184" y="4869195"/>
            <a:ext cx="970812" cy="347916"/>
          </a:xfrm>
          <a:prstGeom prst="rect">
            <a:avLst/>
          </a:prstGeom>
        </p:spPr>
        <p:txBody>
          <a:bodyPr vert="horz" wrap="square" lIns="0" tIns="0" rIns="0" bIns="0" rtlCol="0">
            <a:spAutoFit/>
          </a:bodyPr>
          <a:lstStyle/>
          <a:p>
            <a:pPr marL="15954"/>
            <a:r>
              <a:rPr sz="2261" spc="-63" dirty="0">
                <a:latin typeface="Calibri"/>
                <a:cs typeface="Calibri"/>
              </a:rPr>
              <a:t>P</a:t>
            </a:r>
            <a:r>
              <a:rPr sz="2261" spc="-6" dirty="0">
                <a:latin typeface="Calibri"/>
                <a:cs typeface="Calibri"/>
              </a:rPr>
              <a:t>ar</a:t>
            </a:r>
            <a:r>
              <a:rPr sz="2261" spc="-13" dirty="0">
                <a:latin typeface="Calibri"/>
                <a:cs typeface="Calibri"/>
              </a:rPr>
              <a:t>ti</a:t>
            </a:r>
            <a:r>
              <a:rPr sz="2261" spc="-6" dirty="0">
                <a:latin typeface="Calibri"/>
                <a:cs typeface="Calibri"/>
              </a:rPr>
              <a:t>al</a:t>
            </a:r>
            <a:r>
              <a:rPr sz="2261" spc="-13" dirty="0">
                <a:latin typeface="Calibri"/>
                <a:cs typeface="Calibri"/>
              </a:rPr>
              <a:t>l</a:t>
            </a:r>
            <a:r>
              <a:rPr sz="2261" dirty="0">
                <a:latin typeface="Calibri"/>
                <a:cs typeface="Calibri"/>
              </a:rPr>
              <a:t>y</a:t>
            </a:r>
            <a:endParaRPr sz="2261">
              <a:latin typeface="Calibri"/>
              <a:cs typeface="Calibri"/>
            </a:endParaRPr>
          </a:p>
        </p:txBody>
      </p:sp>
      <p:sp>
        <p:nvSpPr>
          <p:cNvPr id="46" name="object 46"/>
          <p:cNvSpPr txBox="1"/>
          <p:nvPr/>
        </p:nvSpPr>
        <p:spPr>
          <a:xfrm>
            <a:off x="1262782" y="5897281"/>
            <a:ext cx="3237104" cy="348044"/>
          </a:xfrm>
          <a:prstGeom prst="rect">
            <a:avLst/>
          </a:prstGeom>
        </p:spPr>
        <p:txBody>
          <a:bodyPr vert="horz" wrap="square" lIns="0" tIns="0" rIns="0" bIns="0" rtlCol="0">
            <a:spAutoFit/>
          </a:bodyPr>
          <a:lstStyle/>
          <a:p>
            <a:pPr marL="15954"/>
            <a:r>
              <a:rPr sz="2261" spc="13" dirty="0">
                <a:latin typeface="Calibri"/>
                <a:cs typeface="Calibri"/>
              </a:rPr>
              <a:t>Part </a:t>
            </a:r>
            <a:r>
              <a:rPr sz="2261" spc="25" dirty="0">
                <a:latin typeface="Calibri"/>
                <a:cs typeface="Calibri"/>
              </a:rPr>
              <a:t>picking </a:t>
            </a:r>
            <a:r>
              <a:rPr sz="2261" spc="13" dirty="0">
                <a:latin typeface="Calibri"/>
                <a:cs typeface="Calibri"/>
              </a:rPr>
              <a:t>robot</a:t>
            </a:r>
            <a:r>
              <a:rPr sz="2261" spc="459" dirty="0">
                <a:latin typeface="Calibri"/>
                <a:cs typeface="Calibri"/>
              </a:rPr>
              <a:t> </a:t>
            </a:r>
            <a:r>
              <a:rPr sz="3392" spc="-19" baseline="3086" dirty="0">
                <a:latin typeface="Calibri"/>
                <a:cs typeface="Calibri"/>
              </a:rPr>
              <a:t>Partially</a:t>
            </a:r>
            <a:endParaRPr sz="3392" baseline="3086">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32</a:t>
            </a:fld>
            <a:endParaRPr dirty="0"/>
          </a:p>
        </p:txBody>
      </p:sp>
      <p:sp>
        <p:nvSpPr>
          <p:cNvPr id="2" name="object 2"/>
          <p:cNvSpPr txBox="1">
            <a:spLocks noGrp="1"/>
          </p:cNvSpPr>
          <p:nvPr>
            <p:ph type="title"/>
          </p:nvPr>
        </p:nvSpPr>
        <p:spPr>
          <a:xfrm>
            <a:off x="4969264" y="66349"/>
            <a:ext cx="3493169" cy="850554"/>
          </a:xfrm>
          <a:prstGeom prst="rect">
            <a:avLst/>
          </a:prstGeom>
        </p:spPr>
        <p:txBody>
          <a:bodyPr vert="horz" wrap="square" lIns="0" tIns="0" rIns="0" bIns="0" rtlCol="0">
            <a:spAutoFit/>
          </a:bodyPr>
          <a:lstStyle/>
          <a:p>
            <a:pPr marL="15954"/>
            <a:r>
              <a:rPr spc="-19" dirty="0"/>
              <a:t>Agent</a:t>
            </a:r>
            <a:r>
              <a:rPr spc="-126" dirty="0"/>
              <a:t> </a:t>
            </a:r>
            <a:r>
              <a:rPr spc="-50" dirty="0"/>
              <a:t>Types</a:t>
            </a:r>
          </a:p>
        </p:txBody>
      </p:sp>
      <p:sp>
        <p:nvSpPr>
          <p:cNvPr id="3" name="object 3"/>
          <p:cNvSpPr txBox="1"/>
          <p:nvPr/>
        </p:nvSpPr>
        <p:spPr>
          <a:xfrm>
            <a:off x="1450411" y="1409689"/>
            <a:ext cx="9290920" cy="5126147"/>
          </a:xfrm>
          <a:prstGeom prst="rect">
            <a:avLst/>
          </a:prstGeom>
        </p:spPr>
        <p:txBody>
          <a:bodyPr vert="horz" wrap="square" lIns="0" tIns="0" rIns="0" bIns="0" rtlCol="0">
            <a:spAutoFit/>
          </a:bodyPr>
          <a:lstStyle/>
          <a:p>
            <a:pPr marL="446705" marR="6381" indent="-430751">
              <a:buFont typeface="Arial"/>
              <a:buChar char="•"/>
              <a:tabLst>
                <a:tab pos="446705" algn="l"/>
              </a:tabLst>
            </a:pPr>
            <a:r>
              <a:rPr sz="4522" spc="-19" dirty="0">
                <a:latin typeface="Calibri"/>
                <a:cs typeface="Calibri"/>
              </a:rPr>
              <a:t>Four </a:t>
            </a:r>
            <a:r>
              <a:rPr sz="4522" spc="-6" dirty="0">
                <a:latin typeface="Calibri"/>
                <a:cs typeface="Calibri"/>
              </a:rPr>
              <a:t>basic types </a:t>
            </a:r>
            <a:r>
              <a:rPr sz="4522" dirty="0">
                <a:latin typeface="Calibri"/>
                <a:cs typeface="Calibri"/>
              </a:rPr>
              <a:t>in </a:t>
            </a:r>
            <a:r>
              <a:rPr sz="4522" spc="-13" dirty="0">
                <a:latin typeface="Calibri"/>
                <a:cs typeface="Calibri"/>
              </a:rPr>
              <a:t>order </a:t>
            </a:r>
            <a:r>
              <a:rPr sz="4522" spc="-6" dirty="0">
                <a:latin typeface="Calibri"/>
                <a:cs typeface="Calibri"/>
              </a:rPr>
              <a:t>of </a:t>
            </a:r>
            <a:r>
              <a:rPr sz="4522" spc="-13" dirty="0">
                <a:latin typeface="Calibri"/>
                <a:cs typeface="Calibri"/>
              </a:rPr>
              <a:t>increasing  </a:t>
            </a:r>
            <a:r>
              <a:rPr sz="4522" spc="-19" dirty="0">
                <a:latin typeface="Calibri"/>
                <a:cs typeface="Calibri"/>
              </a:rPr>
              <a:t>generality:</a:t>
            </a:r>
            <a:endParaRPr sz="4522">
              <a:latin typeface="Calibri"/>
              <a:cs typeface="Calibri"/>
            </a:endParaRPr>
          </a:p>
          <a:p>
            <a:pPr marL="1237213" lvl="1" indent="-646923">
              <a:spcBef>
                <a:spcPts val="999"/>
              </a:spcBef>
              <a:buAutoNum type="arabicPeriod"/>
              <a:tabLst>
                <a:tab pos="1237213" algn="l"/>
                <a:tab pos="1238009" algn="l"/>
              </a:tabLst>
            </a:pPr>
            <a:r>
              <a:rPr sz="4020" spc="50" dirty="0">
                <a:latin typeface="Calibri"/>
                <a:cs typeface="Calibri"/>
              </a:rPr>
              <a:t>Simple </a:t>
            </a:r>
            <a:r>
              <a:rPr sz="4020" spc="19" dirty="0">
                <a:latin typeface="Calibri"/>
                <a:cs typeface="Calibri"/>
              </a:rPr>
              <a:t>reflex</a:t>
            </a:r>
            <a:r>
              <a:rPr sz="4020" spc="-157" dirty="0">
                <a:latin typeface="Calibri"/>
                <a:cs typeface="Calibri"/>
              </a:rPr>
              <a:t> </a:t>
            </a:r>
            <a:r>
              <a:rPr sz="4020" spc="25" dirty="0">
                <a:latin typeface="Calibri"/>
                <a:cs typeface="Calibri"/>
              </a:rPr>
              <a:t>agents</a:t>
            </a:r>
            <a:endParaRPr sz="4020">
              <a:latin typeface="Calibri"/>
              <a:cs typeface="Calibri"/>
            </a:endParaRPr>
          </a:p>
          <a:p>
            <a:pPr marL="1237213" lvl="1" indent="-646923">
              <a:spcBef>
                <a:spcPts val="961"/>
              </a:spcBef>
              <a:buAutoNum type="arabicPeriod"/>
              <a:tabLst>
                <a:tab pos="1237213" algn="l"/>
                <a:tab pos="1238009" algn="l"/>
              </a:tabLst>
            </a:pPr>
            <a:r>
              <a:rPr sz="4020" spc="25" dirty="0">
                <a:latin typeface="Calibri"/>
                <a:cs typeface="Calibri"/>
              </a:rPr>
              <a:t>Reflex agents </a:t>
            </a:r>
            <a:r>
              <a:rPr sz="4020" spc="69" dirty="0">
                <a:latin typeface="Calibri"/>
                <a:cs typeface="Calibri"/>
              </a:rPr>
              <a:t>with</a:t>
            </a:r>
            <a:r>
              <a:rPr sz="4020" spc="-126" dirty="0">
                <a:latin typeface="Calibri"/>
                <a:cs typeface="Calibri"/>
              </a:rPr>
              <a:t> </a:t>
            </a:r>
            <a:r>
              <a:rPr sz="4020" spc="38" dirty="0">
                <a:latin typeface="Calibri"/>
                <a:cs typeface="Calibri"/>
              </a:rPr>
              <a:t>state/model</a:t>
            </a:r>
            <a:endParaRPr sz="4020">
              <a:latin typeface="Calibri"/>
              <a:cs typeface="Calibri"/>
            </a:endParaRPr>
          </a:p>
          <a:p>
            <a:pPr marL="1237213" lvl="1" indent="-646923">
              <a:spcBef>
                <a:spcPts val="961"/>
              </a:spcBef>
              <a:buAutoNum type="arabicPeriod"/>
              <a:tabLst>
                <a:tab pos="1237213" algn="l"/>
                <a:tab pos="1238009" algn="l"/>
              </a:tabLst>
            </a:pPr>
            <a:r>
              <a:rPr sz="4020" spc="38" dirty="0">
                <a:latin typeface="Calibri"/>
                <a:cs typeface="Calibri"/>
              </a:rPr>
              <a:t>Goal-based</a:t>
            </a:r>
            <a:r>
              <a:rPr sz="4020" spc="-151" dirty="0">
                <a:latin typeface="Calibri"/>
                <a:cs typeface="Calibri"/>
              </a:rPr>
              <a:t> </a:t>
            </a:r>
            <a:r>
              <a:rPr sz="4020" spc="25" dirty="0">
                <a:latin typeface="Calibri"/>
                <a:cs typeface="Calibri"/>
              </a:rPr>
              <a:t>agents</a:t>
            </a:r>
            <a:endParaRPr sz="4020">
              <a:latin typeface="Calibri"/>
              <a:cs typeface="Calibri"/>
            </a:endParaRPr>
          </a:p>
          <a:p>
            <a:pPr marL="1237213" lvl="1" indent="-646923">
              <a:spcBef>
                <a:spcPts val="961"/>
              </a:spcBef>
              <a:buAutoNum type="arabicPeriod"/>
              <a:tabLst>
                <a:tab pos="1237213" algn="l"/>
                <a:tab pos="1238009" algn="l"/>
              </a:tabLst>
            </a:pPr>
            <a:r>
              <a:rPr sz="4020" spc="44" dirty="0">
                <a:latin typeface="Calibri"/>
                <a:cs typeface="Calibri"/>
              </a:rPr>
              <a:t>Utility-based</a:t>
            </a:r>
            <a:r>
              <a:rPr sz="4020" spc="-113" dirty="0">
                <a:latin typeface="Calibri"/>
                <a:cs typeface="Calibri"/>
              </a:rPr>
              <a:t> </a:t>
            </a:r>
            <a:r>
              <a:rPr sz="4020" spc="25" dirty="0">
                <a:latin typeface="Calibri"/>
                <a:cs typeface="Calibri"/>
              </a:rPr>
              <a:t>agents</a:t>
            </a:r>
            <a:endParaRPr sz="4020">
              <a:latin typeface="Calibri"/>
              <a:cs typeface="Calibri"/>
            </a:endParaRPr>
          </a:p>
          <a:p>
            <a:pPr marL="1237213" lvl="1" indent="-646923">
              <a:spcBef>
                <a:spcPts val="961"/>
              </a:spcBef>
              <a:buAutoNum type="arabicPeriod"/>
              <a:tabLst>
                <a:tab pos="1237213" algn="l"/>
                <a:tab pos="1238009" algn="l"/>
              </a:tabLst>
            </a:pPr>
            <a:r>
              <a:rPr sz="4020" spc="31" dirty="0">
                <a:latin typeface="Calibri"/>
                <a:cs typeface="Calibri"/>
              </a:rPr>
              <a:t>Learning </a:t>
            </a:r>
            <a:r>
              <a:rPr sz="4020" spc="38" dirty="0">
                <a:latin typeface="Calibri"/>
                <a:cs typeface="Calibri"/>
              </a:rPr>
              <a:t>based</a:t>
            </a:r>
            <a:r>
              <a:rPr sz="4020" spc="-157" dirty="0">
                <a:latin typeface="Calibri"/>
                <a:cs typeface="Calibri"/>
              </a:rPr>
              <a:t> </a:t>
            </a:r>
            <a:r>
              <a:rPr sz="4020" spc="31" dirty="0">
                <a:latin typeface="Calibri"/>
                <a:cs typeface="Calibri"/>
              </a:rPr>
              <a:t>Agents</a:t>
            </a:r>
            <a:endParaRPr sz="4020">
              <a:latin typeface="Calibri"/>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6325" y="8913"/>
            <a:ext cx="5958091" cy="850554"/>
          </a:xfrm>
          <a:prstGeom prst="rect">
            <a:avLst/>
          </a:prstGeom>
        </p:spPr>
        <p:txBody>
          <a:bodyPr vert="horz" wrap="square" lIns="0" tIns="0" rIns="0" bIns="0" rtlCol="0">
            <a:spAutoFit/>
          </a:bodyPr>
          <a:lstStyle/>
          <a:p>
            <a:pPr marL="15954"/>
            <a:r>
              <a:rPr spc="-6" dirty="0"/>
              <a:t>Simple </a:t>
            </a:r>
            <a:r>
              <a:rPr spc="-44" dirty="0"/>
              <a:t>Reflex</a:t>
            </a:r>
            <a:r>
              <a:rPr spc="-107" dirty="0"/>
              <a:t> </a:t>
            </a:r>
            <a:r>
              <a:rPr spc="-13" dirty="0"/>
              <a:t>Agents</a:t>
            </a:r>
          </a:p>
        </p:txBody>
      </p:sp>
      <p:sp>
        <p:nvSpPr>
          <p:cNvPr id="4" name="object 4"/>
          <p:cNvSpPr/>
          <p:nvPr/>
        </p:nvSpPr>
        <p:spPr>
          <a:xfrm>
            <a:off x="1833941" y="5500983"/>
            <a:ext cx="9417437" cy="2000655"/>
          </a:xfrm>
          <a:prstGeom prst="rect">
            <a:avLst/>
          </a:prstGeom>
          <a:blipFill>
            <a:blip r:embed="rId2" cstate="print"/>
            <a:stretch>
              <a:fillRect/>
            </a:stretch>
          </a:blipFill>
        </p:spPr>
        <p:txBody>
          <a:bodyPr wrap="square" lIns="0" tIns="0" rIns="0" bIns="0" rtlCol="0"/>
          <a:lstStyle/>
          <a:p>
            <a:endParaRPr sz="2261"/>
          </a:p>
        </p:txBody>
      </p:sp>
      <p:sp>
        <p:nvSpPr>
          <p:cNvPr id="5" name="object 5"/>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33</a:t>
            </a:fld>
            <a:endParaRPr dirty="0"/>
          </a:p>
        </p:txBody>
      </p:sp>
      <p:pic>
        <p:nvPicPr>
          <p:cNvPr id="6" name="Picture 2" descr="Simple Reflex Agent">
            <a:extLst>
              <a:ext uri="{FF2B5EF4-FFF2-40B4-BE49-F238E27FC236}">
                <a16:creationId xmlns:a16="http://schemas.microsoft.com/office/drawing/2014/main" id="{A6CF24C3-4C18-69F7-38C2-AA279D4C3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3941" y="867445"/>
            <a:ext cx="9753600" cy="464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7666" y="46594"/>
            <a:ext cx="5958091" cy="850554"/>
          </a:xfrm>
          <a:prstGeom prst="rect">
            <a:avLst/>
          </a:prstGeom>
        </p:spPr>
        <p:txBody>
          <a:bodyPr vert="horz" wrap="square" lIns="0" tIns="0" rIns="0" bIns="0" rtlCol="0">
            <a:spAutoFit/>
          </a:bodyPr>
          <a:lstStyle/>
          <a:p>
            <a:pPr marL="15954"/>
            <a:r>
              <a:rPr spc="-6" dirty="0"/>
              <a:t>Simple </a:t>
            </a:r>
            <a:r>
              <a:rPr spc="-44" dirty="0"/>
              <a:t>Reflex</a:t>
            </a:r>
            <a:r>
              <a:rPr spc="-107" dirty="0"/>
              <a:t> </a:t>
            </a:r>
            <a:r>
              <a:rPr spc="-13" dirty="0"/>
              <a:t>Agents</a:t>
            </a:r>
          </a:p>
        </p:txBody>
      </p:sp>
      <p:sp>
        <p:nvSpPr>
          <p:cNvPr id="4" name="object 4"/>
          <p:cNvSpPr txBox="1"/>
          <p:nvPr/>
        </p:nvSpPr>
        <p:spPr>
          <a:xfrm>
            <a:off x="315912" y="892844"/>
            <a:ext cx="12496800" cy="5770811"/>
          </a:xfrm>
          <a:prstGeom prst="rect">
            <a:avLst/>
          </a:prstGeom>
        </p:spPr>
        <p:txBody>
          <a:bodyPr vert="horz" wrap="square" lIns="0" tIns="0" rIns="0" bIns="0" rtlCol="0">
            <a:spAutoFit/>
          </a:bodyPr>
          <a:lstStyle/>
          <a:p>
            <a:pPr marL="446705" indent="-430751">
              <a:buFont typeface="Arial"/>
              <a:buChar char="•"/>
              <a:tabLst>
                <a:tab pos="445907" algn="l"/>
                <a:tab pos="446705" algn="l"/>
              </a:tabLst>
            </a:pPr>
            <a:r>
              <a:rPr sz="3600" spc="-6" dirty="0">
                <a:latin typeface="Calibri"/>
                <a:cs typeface="Calibri"/>
              </a:rPr>
              <a:t>Simple </a:t>
            </a:r>
            <a:r>
              <a:rPr sz="3600" dirty="0">
                <a:latin typeface="Calibri"/>
                <a:cs typeface="Calibri"/>
              </a:rPr>
              <a:t>but </a:t>
            </a:r>
            <a:r>
              <a:rPr sz="3600" spc="-6" dirty="0">
                <a:latin typeface="Calibri"/>
                <a:cs typeface="Calibri"/>
              </a:rPr>
              <a:t>very </a:t>
            </a:r>
            <a:r>
              <a:rPr sz="3600" spc="-13" dirty="0">
                <a:latin typeface="Calibri"/>
                <a:cs typeface="Calibri"/>
              </a:rPr>
              <a:t>limited</a:t>
            </a:r>
            <a:r>
              <a:rPr sz="3600" spc="57" dirty="0">
                <a:latin typeface="Calibri"/>
                <a:cs typeface="Calibri"/>
              </a:rPr>
              <a:t> </a:t>
            </a:r>
            <a:r>
              <a:rPr sz="3600" spc="-13" dirty="0">
                <a:latin typeface="Calibri"/>
                <a:cs typeface="Calibri"/>
              </a:rPr>
              <a:t>intelligence.</a:t>
            </a:r>
            <a:endParaRPr sz="3600" dirty="0">
              <a:latin typeface="Calibri"/>
              <a:cs typeface="Calibri"/>
            </a:endParaRPr>
          </a:p>
          <a:p>
            <a:pPr marL="446705" indent="-430751">
              <a:spcBef>
                <a:spcPts val="603"/>
              </a:spcBef>
              <a:buFont typeface="Arial"/>
              <a:buChar char="•"/>
              <a:tabLst>
                <a:tab pos="445907" algn="l"/>
                <a:tab pos="446705" algn="l"/>
              </a:tabLst>
            </a:pPr>
            <a:r>
              <a:rPr sz="3600" spc="31" dirty="0">
                <a:solidFill>
                  <a:srgbClr val="FF0000"/>
                </a:solidFill>
                <a:latin typeface="Calibri"/>
                <a:cs typeface="Calibri"/>
              </a:rPr>
              <a:t>Action</a:t>
            </a:r>
            <a:r>
              <a:rPr sz="3600" spc="-57" dirty="0">
                <a:solidFill>
                  <a:srgbClr val="FF0000"/>
                </a:solidFill>
                <a:latin typeface="Calibri"/>
                <a:cs typeface="Calibri"/>
              </a:rPr>
              <a:t> </a:t>
            </a:r>
            <a:r>
              <a:rPr sz="3600" spc="25" dirty="0">
                <a:solidFill>
                  <a:srgbClr val="FF0000"/>
                </a:solidFill>
                <a:latin typeface="Calibri"/>
                <a:cs typeface="Calibri"/>
              </a:rPr>
              <a:t>does</a:t>
            </a:r>
            <a:r>
              <a:rPr sz="3600" spc="-13" dirty="0">
                <a:solidFill>
                  <a:srgbClr val="FF0000"/>
                </a:solidFill>
                <a:latin typeface="Calibri"/>
                <a:cs typeface="Calibri"/>
              </a:rPr>
              <a:t> </a:t>
            </a:r>
            <a:r>
              <a:rPr sz="3600" spc="25" dirty="0">
                <a:solidFill>
                  <a:srgbClr val="FF0000"/>
                </a:solidFill>
                <a:latin typeface="Calibri"/>
                <a:cs typeface="Calibri"/>
              </a:rPr>
              <a:t>not</a:t>
            </a:r>
            <a:r>
              <a:rPr sz="3600" spc="-25" dirty="0">
                <a:solidFill>
                  <a:srgbClr val="FF0000"/>
                </a:solidFill>
                <a:latin typeface="Calibri"/>
                <a:cs typeface="Calibri"/>
              </a:rPr>
              <a:t> </a:t>
            </a:r>
            <a:r>
              <a:rPr sz="3600" spc="25" dirty="0">
                <a:solidFill>
                  <a:srgbClr val="FF0000"/>
                </a:solidFill>
                <a:latin typeface="Calibri"/>
                <a:cs typeface="Calibri"/>
              </a:rPr>
              <a:t>depend</a:t>
            </a:r>
            <a:r>
              <a:rPr sz="3600" spc="-13" dirty="0">
                <a:solidFill>
                  <a:srgbClr val="FF0000"/>
                </a:solidFill>
                <a:latin typeface="Calibri"/>
                <a:cs typeface="Calibri"/>
              </a:rPr>
              <a:t> </a:t>
            </a:r>
            <a:r>
              <a:rPr sz="3600" spc="31" dirty="0">
                <a:solidFill>
                  <a:srgbClr val="FF0000"/>
                </a:solidFill>
                <a:latin typeface="Calibri"/>
                <a:cs typeface="Calibri"/>
              </a:rPr>
              <a:t>on</a:t>
            </a:r>
            <a:r>
              <a:rPr sz="3600" spc="-25" dirty="0">
                <a:solidFill>
                  <a:srgbClr val="FF0000"/>
                </a:solidFill>
                <a:latin typeface="Calibri"/>
                <a:cs typeface="Calibri"/>
              </a:rPr>
              <a:t> </a:t>
            </a:r>
            <a:r>
              <a:rPr sz="3600" spc="13" dirty="0">
                <a:solidFill>
                  <a:srgbClr val="FF0000"/>
                </a:solidFill>
                <a:latin typeface="Calibri"/>
                <a:cs typeface="Calibri"/>
              </a:rPr>
              <a:t>percept</a:t>
            </a:r>
            <a:r>
              <a:rPr sz="3600" spc="-13" dirty="0">
                <a:solidFill>
                  <a:srgbClr val="FF0000"/>
                </a:solidFill>
                <a:latin typeface="Calibri"/>
                <a:cs typeface="Calibri"/>
              </a:rPr>
              <a:t> </a:t>
            </a:r>
            <a:r>
              <a:rPr sz="3600" dirty="0">
                <a:solidFill>
                  <a:srgbClr val="FF0000"/>
                </a:solidFill>
                <a:latin typeface="Calibri"/>
                <a:cs typeface="Calibri"/>
              </a:rPr>
              <a:t>history,</a:t>
            </a:r>
            <a:r>
              <a:rPr sz="3600" spc="-25" dirty="0">
                <a:solidFill>
                  <a:srgbClr val="FF0000"/>
                </a:solidFill>
                <a:latin typeface="Calibri"/>
                <a:cs typeface="Calibri"/>
              </a:rPr>
              <a:t> </a:t>
            </a:r>
            <a:r>
              <a:rPr sz="3600" spc="38" dirty="0">
                <a:solidFill>
                  <a:srgbClr val="FF0000"/>
                </a:solidFill>
                <a:latin typeface="Calibri"/>
                <a:cs typeface="Calibri"/>
              </a:rPr>
              <a:t>only</a:t>
            </a:r>
            <a:r>
              <a:rPr sz="3600" spc="-25" dirty="0">
                <a:solidFill>
                  <a:srgbClr val="FF0000"/>
                </a:solidFill>
                <a:latin typeface="Calibri"/>
                <a:cs typeface="Calibri"/>
              </a:rPr>
              <a:t> </a:t>
            </a:r>
            <a:r>
              <a:rPr sz="3600" spc="31" dirty="0">
                <a:solidFill>
                  <a:srgbClr val="FF0000"/>
                </a:solidFill>
                <a:latin typeface="Calibri"/>
                <a:cs typeface="Calibri"/>
              </a:rPr>
              <a:t>on</a:t>
            </a:r>
            <a:r>
              <a:rPr sz="3600" spc="-19" dirty="0">
                <a:solidFill>
                  <a:srgbClr val="FF0000"/>
                </a:solidFill>
                <a:latin typeface="Calibri"/>
                <a:cs typeface="Calibri"/>
              </a:rPr>
              <a:t> </a:t>
            </a:r>
            <a:r>
              <a:rPr sz="3600" spc="6" dirty="0">
                <a:solidFill>
                  <a:srgbClr val="FF0000"/>
                </a:solidFill>
                <a:latin typeface="Calibri"/>
                <a:cs typeface="Calibri"/>
              </a:rPr>
              <a:t>current</a:t>
            </a:r>
            <a:r>
              <a:rPr sz="3600" spc="-13" dirty="0">
                <a:solidFill>
                  <a:srgbClr val="FF0000"/>
                </a:solidFill>
                <a:latin typeface="Calibri"/>
                <a:cs typeface="Calibri"/>
              </a:rPr>
              <a:t> </a:t>
            </a:r>
            <a:r>
              <a:rPr sz="3600" spc="13" dirty="0">
                <a:solidFill>
                  <a:srgbClr val="FF0000"/>
                </a:solidFill>
                <a:latin typeface="Calibri"/>
                <a:cs typeface="Calibri"/>
              </a:rPr>
              <a:t>percept.</a:t>
            </a:r>
            <a:endParaRPr sz="3600" dirty="0">
              <a:solidFill>
                <a:srgbClr val="FF0000"/>
              </a:solidFill>
              <a:latin typeface="Calibri"/>
              <a:cs typeface="Calibri"/>
            </a:endParaRPr>
          </a:p>
          <a:p>
            <a:pPr marL="446705" indent="-430751">
              <a:spcBef>
                <a:spcPts val="603"/>
              </a:spcBef>
              <a:buFont typeface="Arial"/>
              <a:buChar char="•"/>
              <a:tabLst>
                <a:tab pos="445907" algn="l"/>
                <a:tab pos="446705" algn="l"/>
              </a:tabLst>
            </a:pPr>
            <a:r>
              <a:rPr lang="en-US" sz="3600" spc="-19" dirty="0">
                <a:latin typeface="Calibri"/>
                <a:cs typeface="Calibri"/>
              </a:rPr>
              <a:t>Therefore,</a:t>
            </a:r>
            <a:r>
              <a:rPr sz="3600" spc="-19" dirty="0">
                <a:latin typeface="Calibri"/>
                <a:cs typeface="Calibri"/>
              </a:rPr>
              <a:t> </a:t>
            </a:r>
            <a:r>
              <a:rPr sz="3600" dirty="0">
                <a:latin typeface="Calibri"/>
                <a:cs typeface="Calibri"/>
              </a:rPr>
              <a:t>no </a:t>
            </a:r>
            <a:r>
              <a:rPr sz="3600" spc="-6" dirty="0">
                <a:latin typeface="Calibri"/>
                <a:cs typeface="Calibri"/>
              </a:rPr>
              <a:t>memory</a:t>
            </a:r>
            <a:r>
              <a:rPr sz="3600" spc="-38" dirty="0">
                <a:latin typeface="Calibri"/>
                <a:cs typeface="Calibri"/>
              </a:rPr>
              <a:t> </a:t>
            </a:r>
            <a:r>
              <a:rPr sz="3600" spc="-13" dirty="0">
                <a:latin typeface="Calibri"/>
                <a:cs typeface="Calibri"/>
              </a:rPr>
              <a:t>requirements.</a:t>
            </a:r>
            <a:endParaRPr sz="3600" dirty="0">
              <a:latin typeface="Calibri"/>
              <a:cs typeface="Calibri"/>
            </a:endParaRPr>
          </a:p>
          <a:p>
            <a:pPr marL="446705" indent="-430751">
              <a:spcBef>
                <a:spcPts val="603"/>
              </a:spcBef>
              <a:buFont typeface="Arial"/>
              <a:buChar char="•"/>
              <a:tabLst>
                <a:tab pos="445907" algn="l"/>
                <a:tab pos="446705" algn="l"/>
              </a:tabLst>
            </a:pPr>
            <a:endParaRPr lang="en-US" sz="4000" dirty="0"/>
          </a:p>
          <a:p>
            <a:pPr marL="446705" indent="-430751">
              <a:spcBef>
                <a:spcPts val="603"/>
              </a:spcBef>
              <a:buFont typeface="Arial"/>
              <a:buChar char="•"/>
              <a:tabLst>
                <a:tab pos="445907" algn="l"/>
                <a:tab pos="446705" algn="l"/>
              </a:tabLst>
            </a:pPr>
            <a:endParaRPr lang="en-US" sz="4000" dirty="0"/>
          </a:p>
          <a:p>
            <a:pPr marL="446705" indent="-430751">
              <a:spcBef>
                <a:spcPts val="603"/>
              </a:spcBef>
              <a:buFont typeface="Arial"/>
              <a:buChar char="•"/>
              <a:tabLst>
                <a:tab pos="445907" algn="l"/>
                <a:tab pos="446705" algn="l"/>
              </a:tabLst>
            </a:pPr>
            <a:endParaRPr lang="en-US" sz="4000" dirty="0"/>
          </a:p>
          <a:p>
            <a:pPr marL="446705" indent="-430751">
              <a:spcBef>
                <a:spcPts val="603"/>
              </a:spcBef>
              <a:buFont typeface="Arial"/>
              <a:buChar char="•"/>
              <a:tabLst>
                <a:tab pos="445907" algn="l"/>
                <a:tab pos="446705" algn="l"/>
              </a:tabLst>
            </a:pPr>
            <a:r>
              <a:rPr lang="en-US" sz="4000" dirty="0"/>
              <a:t>hard to verify success for complex tasks </a:t>
            </a:r>
          </a:p>
          <a:p>
            <a:pPr marL="950045" lvl="1" indent="-359757">
              <a:spcBef>
                <a:spcPts val="603"/>
              </a:spcBef>
              <a:buFont typeface="Arial"/>
              <a:buChar char="–"/>
              <a:tabLst>
                <a:tab pos="950045" algn="l"/>
                <a:tab pos="950843" algn="l"/>
              </a:tabLst>
            </a:pPr>
            <a:r>
              <a:rPr lang="en-US" sz="3600" spc="-13" dirty="0">
                <a:latin typeface="Calibri"/>
                <a:cs typeface="Calibri"/>
              </a:rPr>
              <a:t> good for simple agents (bar code scanners, e.g.)</a:t>
            </a:r>
            <a:endParaRPr sz="3015" spc="-13" dirty="0">
              <a:latin typeface="Calibri"/>
              <a:cs typeface="Calibri"/>
            </a:endParaRPr>
          </a:p>
        </p:txBody>
      </p:sp>
      <p:pic>
        <p:nvPicPr>
          <p:cNvPr id="5" name="Picture 4">
            <a:extLst>
              <a:ext uri="{FF2B5EF4-FFF2-40B4-BE49-F238E27FC236}">
                <a16:creationId xmlns:a16="http://schemas.microsoft.com/office/drawing/2014/main" id="{395060D2-16EC-DAF4-1B4A-993193002ABF}"/>
              </a:ext>
            </a:extLst>
          </p:cNvPr>
          <p:cNvPicPr>
            <a:picLocks noChangeAspect="1"/>
          </p:cNvPicPr>
          <p:nvPr/>
        </p:nvPicPr>
        <p:blipFill>
          <a:blip r:embed="rId2"/>
          <a:stretch>
            <a:fillRect/>
          </a:stretch>
        </p:blipFill>
        <p:spPr>
          <a:xfrm>
            <a:off x="5573712" y="3397250"/>
            <a:ext cx="4819650" cy="126682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15003" y="66349"/>
            <a:ext cx="7599777" cy="850554"/>
          </a:xfrm>
          <a:prstGeom prst="rect">
            <a:avLst/>
          </a:prstGeom>
        </p:spPr>
        <p:txBody>
          <a:bodyPr vert="horz" wrap="square" lIns="0" tIns="0" rIns="0" bIns="0" rtlCol="0">
            <a:spAutoFit/>
          </a:bodyPr>
          <a:lstStyle/>
          <a:p>
            <a:pPr marL="15954"/>
            <a:r>
              <a:rPr dirty="0"/>
              <a:t>Model-based </a:t>
            </a:r>
            <a:r>
              <a:rPr spc="-38" dirty="0"/>
              <a:t>reflex</a:t>
            </a:r>
            <a:r>
              <a:rPr spc="-132" dirty="0"/>
              <a:t> </a:t>
            </a:r>
            <a:r>
              <a:rPr spc="-13" dirty="0"/>
              <a:t>agents</a:t>
            </a:r>
          </a:p>
        </p:txBody>
      </p:sp>
      <p:sp>
        <p:nvSpPr>
          <p:cNvPr id="3" name="object 3"/>
          <p:cNvSpPr txBox="1"/>
          <p:nvPr/>
        </p:nvSpPr>
        <p:spPr>
          <a:xfrm>
            <a:off x="7783512" y="968036"/>
            <a:ext cx="6167338" cy="2982611"/>
          </a:xfrm>
          <a:prstGeom prst="rect">
            <a:avLst/>
          </a:prstGeom>
        </p:spPr>
        <p:txBody>
          <a:bodyPr vert="horz" wrap="square" lIns="0" tIns="0" rIns="0" bIns="0" rtlCol="0">
            <a:spAutoFit/>
          </a:bodyPr>
          <a:lstStyle/>
          <a:p>
            <a:pPr marL="358161" marR="1014658" indent="-342208">
              <a:buClr>
                <a:srgbClr val="4E81BD"/>
              </a:buClr>
              <a:buSzPct val="83333"/>
              <a:buFont typeface="Courier New"/>
              <a:buChar char="•"/>
              <a:tabLst>
                <a:tab pos="358959" algn="l"/>
              </a:tabLst>
            </a:pPr>
            <a:r>
              <a:rPr sz="2400" spc="-6" dirty="0">
                <a:latin typeface="Georgia"/>
                <a:cs typeface="Georgia"/>
              </a:rPr>
              <a:t>Know </a:t>
            </a:r>
            <a:r>
              <a:rPr sz="2400" spc="-13" dirty="0">
                <a:latin typeface="Georgia"/>
                <a:cs typeface="Georgia"/>
              </a:rPr>
              <a:t>how</a:t>
            </a:r>
            <a:r>
              <a:rPr sz="2400" spc="-75" dirty="0">
                <a:latin typeface="Georgia"/>
                <a:cs typeface="Georgia"/>
              </a:rPr>
              <a:t> </a:t>
            </a:r>
            <a:r>
              <a:rPr sz="2400" spc="-6" dirty="0">
                <a:latin typeface="Georgia"/>
                <a:cs typeface="Georgia"/>
              </a:rPr>
              <a:t>world evolves</a:t>
            </a:r>
            <a:endParaRPr sz="2400" dirty="0">
              <a:latin typeface="Georgia"/>
              <a:cs typeface="Georgia"/>
            </a:endParaRPr>
          </a:p>
          <a:p>
            <a:pPr marL="704358" marR="6381" indent="-344601">
              <a:spcBef>
                <a:spcPts val="502"/>
              </a:spcBef>
              <a:tabLst>
                <a:tab pos="704358" algn="l"/>
              </a:tabLst>
            </a:pPr>
            <a:r>
              <a:rPr sz="1100" spc="421" dirty="0">
                <a:solidFill>
                  <a:srgbClr val="C04F4C"/>
                </a:solidFill>
                <a:latin typeface="Courier New"/>
                <a:cs typeface="Courier New"/>
              </a:rPr>
              <a:t>0	</a:t>
            </a:r>
            <a:r>
              <a:rPr spc="-6" dirty="0">
                <a:solidFill>
                  <a:srgbClr val="1E487C"/>
                </a:solidFill>
                <a:latin typeface="Georgia"/>
                <a:cs typeface="Georgia"/>
              </a:rPr>
              <a:t>Overtaking </a:t>
            </a:r>
            <a:r>
              <a:rPr spc="-13" dirty="0">
                <a:solidFill>
                  <a:srgbClr val="1E487C"/>
                </a:solidFill>
                <a:latin typeface="Georgia"/>
                <a:cs typeface="Georgia"/>
              </a:rPr>
              <a:t>car gets</a:t>
            </a:r>
            <a:r>
              <a:rPr spc="50" dirty="0">
                <a:solidFill>
                  <a:srgbClr val="1E487C"/>
                </a:solidFill>
                <a:latin typeface="Georgia"/>
                <a:cs typeface="Georgia"/>
              </a:rPr>
              <a:t> </a:t>
            </a:r>
            <a:r>
              <a:rPr spc="-13" dirty="0">
                <a:solidFill>
                  <a:srgbClr val="1E487C"/>
                </a:solidFill>
                <a:latin typeface="Georgia"/>
                <a:cs typeface="Georgia"/>
              </a:rPr>
              <a:t>closer</a:t>
            </a:r>
            <a:r>
              <a:rPr spc="13" dirty="0">
                <a:solidFill>
                  <a:srgbClr val="1E487C"/>
                </a:solidFill>
                <a:latin typeface="Georgia"/>
                <a:cs typeface="Georgia"/>
              </a:rPr>
              <a:t> </a:t>
            </a:r>
            <a:r>
              <a:rPr spc="-13" dirty="0">
                <a:solidFill>
                  <a:srgbClr val="1E487C"/>
                </a:solidFill>
                <a:latin typeface="Georgia"/>
                <a:cs typeface="Georgia"/>
              </a:rPr>
              <a:t>from </a:t>
            </a:r>
            <a:r>
              <a:rPr spc="-6" dirty="0">
                <a:solidFill>
                  <a:srgbClr val="1E487C"/>
                </a:solidFill>
                <a:latin typeface="Georgia"/>
                <a:cs typeface="Georgia"/>
              </a:rPr>
              <a:t> </a:t>
            </a:r>
            <a:r>
              <a:rPr spc="-13" dirty="0">
                <a:solidFill>
                  <a:srgbClr val="1E487C"/>
                </a:solidFill>
                <a:latin typeface="Georgia"/>
                <a:cs typeface="Georgia"/>
              </a:rPr>
              <a:t>behind</a:t>
            </a:r>
            <a:endParaRPr lang="en-US" spc="-13" dirty="0">
              <a:solidFill>
                <a:srgbClr val="1E487C"/>
              </a:solidFill>
              <a:latin typeface="Georgia"/>
              <a:cs typeface="Georgia"/>
            </a:endParaRPr>
          </a:p>
          <a:p>
            <a:pPr marL="704358" marR="6381" indent="-344601">
              <a:spcBef>
                <a:spcPts val="502"/>
              </a:spcBef>
              <a:tabLst>
                <a:tab pos="704358" algn="l"/>
              </a:tabLst>
            </a:pPr>
            <a:endParaRPr dirty="0">
              <a:latin typeface="Georgia"/>
              <a:cs typeface="Georgia"/>
            </a:endParaRPr>
          </a:p>
          <a:p>
            <a:pPr marL="358161" marR="574335" indent="-342208">
              <a:spcBef>
                <a:spcPts val="691"/>
              </a:spcBef>
              <a:buClr>
                <a:srgbClr val="4E81BD"/>
              </a:buClr>
              <a:buSzPct val="85416"/>
              <a:buFont typeface="Courier New"/>
              <a:buChar char="•"/>
              <a:tabLst>
                <a:tab pos="358959" algn="l"/>
              </a:tabLst>
            </a:pPr>
            <a:r>
              <a:rPr sz="2400" spc="-6" dirty="0">
                <a:latin typeface="Georgia"/>
                <a:cs typeface="Georgia"/>
              </a:rPr>
              <a:t>How agents</a:t>
            </a:r>
            <a:r>
              <a:rPr sz="2400" spc="-69" dirty="0">
                <a:latin typeface="Georgia"/>
                <a:cs typeface="Georgia"/>
              </a:rPr>
              <a:t> </a:t>
            </a:r>
            <a:r>
              <a:rPr sz="2400" spc="-6" dirty="0">
                <a:latin typeface="Georgia"/>
                <a:cs typeface="Georgia"/>
              </a:rPr>
              <a:t>actions  affect the</a:t>
            </a:r>
            <a:r>
              <a:rPr sz="2400" spc="-132" dirty="0">
                <a:latin typeface="Georgia"/>
                <a:cs typeface="Georgia"/>
              </a:rPr>
              <a:t> </a:t>
            </a:r>
            <a:r>
              <a:rPr sz="2400" spc="-6" dirty="0">
                <a:latin typeface="Georgia"/>
                <a:cs typeface="Georgia"/>
              </a:rPr>
              <a:t>world</a:t>
            </a:r>
            <a:endParaRPr lang="en-US" sz="2400" spc="-6" dirty="0">
              <a:latin typeface="Georgia"/>
              <a:cs typeface="Georgia"/>
            </a:endParaRPr>
          </a:p>
          <a:p>
            <a:pPr marL="358161" marR="574335" indent="-342208">
              <a:spcBef>
                <a:spcPts val="691"/>
              </a:spcBef>
              <a:buClr>
                <a:srgbClr val="4E81BD"/>
              </a:buClr>
              <a:buSzPct val="85416"/>
              <a:buFont typeface="Courier New"/>
              <a:buChar char="•"/>
              <a:tabLst>
                <a:tab pos="358959" algn="l"/>
              </a:tabLst>
            </a:pPr>
            <a:r>
              <a:rPr lang="en-US" sz="1400" spc="421" dirty="0">
                <a:solidFill>
                  <a:srgbClr val="C04F4C"/>
                </a:solidFill>
                <a:latin typeface="Courier New"/>
                <a:cs typeface="Courier New"/>
              </a:rPr>
              <a:t>0	</a:t>
            </a:r>
            <a:r>
              <a:rPr lang="en-US" spc="-6" dirty="0">
                <a:solidFill>
                  <a:srgbClr val="1E487C"/>
                </a:solidFill>
                <a:latin typeface="Georgia"/>
              </a:rPr>
              <a:t>Wheel turned clockwise takes you right</a:t>
            </a:r>
          </a:p>
          <a:p>
            <a:pPr marL="358161" marR="574335" indent="-342208">
              <a:spcBef>
                <a:spcPts val="691"/>
              </a:spcBef>
              <a:buClr>
                <a:srgbClr val="4E81BD"/>
              </a:buClr>
              <a:buSzPct val="85416"/>
              <a:buFont typeface="Courier New"/>
              <a:buChar char="•"/>
              <a:tabLst>
                <a:tab pos="358959" algn="l"/>
              </a:tabLst>
            </a:pPr>
            <a:endParaRPr lang="en-US" sz="2400" spc="-6" dirty="0">
              <a:latin typeface="Georgia"/>
              <a:cs typeface="Georgia"/>
            </a:endParaRPr>
          </a:p>
          <a:p>
            <a:pPr marL="358161" marR="574335" indent="-342208">
              <a:spcBef>
                <a:spcPts val="691"/>
              </a:spcBef>
              <a:buClr>
                <a:srgbClr val="4E81BD"/>
              </a:buClr>
              <a:buSzPct val="85416"/>
              <a:buFont typeface="Courier New"/>
              <a:buChar char="•"/>
              <a:tabLst>
                <a:tab pos="358959" algn="l"/>
              </a:tabLst>
            </a:pPr>
            <a:endParaRPr sz="3015" dirty="0">
              <a:latin typeface="Georgia"/>
              <a:cs typeface="Georgia"/>
            </a:endParaRPr>
          </a:p>
        </p:txBody>
      </p:sp>
      <p:sp>
        <p:nvSpPr>
          <p:cNvPr id="7" name="object 7"/>
          <p:cNvSpPr txBox="1"/>
          <p:nvPr/>
        </p:nvSpPr>
        <p:spPr>
          <a:xfrm>
            <a:off x="5116512" y="3413373"/>
            <a:ext cx="8117110" cy="1008375"/>
          </a:xfrm>
          <a:prstGeom prst="rect">
            <a:avLst/>
          </a:prstGeom>
        </p:spPr>
        <p:txBody>
          <a:bodyPr vert="horz" wrap="square" lIns="0" tIns="145183" rIns="0" bIns="0" rtlCol="0">
            <a:spAutoFit/>
          </a:bodyPr>
          <a:lstStyle/>
          <a:p>
            <a:pPr marL="4860306" marR="55040" indent="-343005">
              <a:spcBef>
                <a:spcPts val="1143"/>
              </a:spcBef>
            </a:pPr>
            <a:r>
              <a:rPr sz="2512" spc="-94" dirty="0">
                <a:solidFill>
                  <a:srgbClr val="4E81BD"/>
                </a:solidFill>
                <a:latin typeface="Courier New"/>
                <a:cs typeface="Courier New"/>
              </a:rPr>
              <a:t>• </a:t>
            </a:r>
            <a:r>
              <a:rPr sz="2800" spc="-6" dirty="0">
                <a:latin typeface="Georgia"/>
                <a:cs typeface="Georgia"/>
              </a:rPr>
              <a:t>Model base</a:t>
            </a:r>
            <a:r>
              <a:rPr sz="2800" spc="-207" dirty="0">
                <a:latin typeface="Georgia"/>
                <a:cs typeface="Georgia"/>
              </a:rPr>
              <a:t> </a:t>
            </a:r>
            <a:r>
              <a:rPr sz="2800" spc="-6" dirty="0">
                <a:latin typeface="Georgia"/>
                <a:cs typeface="Georgia"/>
              </a:rPr>
              <a:t>agents  update their</a:t>
            </a:r>
            <a:r>
              <a:rPr sz="2800" spc="-100" dirty="0">
                <a:latin typeface="Georgia"/>
                <a:cs typeface="Georgia"/>
              </a:rPr>
              <a:t> </a:t>
            </a:r>
            <a:r>
              <a:rPr sz="2800" spc="-6" dirty="0">
                <a:latin typeface="Georgia"/>
                <a:cs typeface="Georgia"/>
              </a:rPr>
              <a:t>state</a:t>
            </a:r>
            <a:endParaRPr sz="3015" dirty="0">
              <a:latin typeface="Georgia"/>
              <a:cs typeface="Georgia"/>
            </a:endParaRPr>
          </a:p>
        </p:txBody>
      </p:sp>
      <p:sp>
        <p:nvSpPr>
          <p:cNvPr id="8" name="object 8"/>
          <p:cNvSpPr/>
          <p:nvPr/>
        </p:nvSpPr>
        <p:spPr>
          <a:xfrm>
            <a:off x="925512" y="5115468"/>
            <a:ext cx="7894750" cy="2441032"/>
          </a:xfrm>
          <a:prstGeom prst="rect">
            <a:avLst/>
          </a:prstGeom>
          <a:blipFill>
            <a:blip r:embed="rId2" cstate="print"/>
            <a:stretch>
              <a:fillRect/>
            </a:stretch>
          </a:blipFill>
        </p:spPr>
        <p:txBody>
          <a:bodyPr wrap="square" lIns="0" tIns="0" rIns="0" bIns="0" rtlCol="0"/>
          <a:lstStyle/>
          <a:p>
            <a:endParaRPr sz="2261"/>
          </a:p>
        </p:txBody>
      </p:sp>
      <p:sp>
        <p:nvSpPr>
          <p:cNvPr id="9" name="object 9"/>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35</a:t>
            </a:fld>
            <a:endParaRPr dirty="0"/>
          </a:p>
        </p:txBody>
      </p:sp>
      <p:pic>
        <p:nvPicPr>
          <p:cNvPr id="4" name="Picture 4" descr="Model-Based Reflex Agent">
            <a:extLst>
              <a:ext uri="{FF2B5EF4-FFF2-40B4-BE49-F238E27FC236}">
                <a16:creationId xmlns:a16="http://schemas.microsoft.com/office/drawing/2014/main" id="{11E05996-A52B-E5B6-B2A8-ABEE3008A1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775" y="916903"/>
            <a:ext cx="7853337" cy="41567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36</a:t>
            </a:fld>
            <a:endParaRPr dirty="0"/>
          </a:p>
        </p:txBody>
      </p:sp>
      <p:sp>
        <p:nvSpPr>
          <p:cNvPr id="2" name="object 2"/>
          <p:cNvSpPr txBox="1">
            <a:spLocks noGrp="1"/>
          </p:cNvSpPr>
          <p:nvPr>
            <p:ph type="title"/>
          </p:nvPr>
        </p:nvSpPr>
        <p:spPr>
          <a:xfrm>
            <a:off x="4061790" y="66349"/>
            <a:ext cx="5304767" cy="850554"/>
          </a:xfrm>
          <a:prstGeom prst="rect">
            <a:avLst/>
          </a:prstGeom>
        </p:spPr>
        <p:txBody>
          <a:bodyPr vert="horz" wrap="square" lIns="0" tIns="0" rIns="0" bIns="0" rtlCol="0">
            <a:spAutoFit/>
          </a:bodyPr>
          <a:lstStyle/>
          <a:p>
            <a:pPr marL="15954"/>
            <a:r>
              <a:rPr dirty="0"/>
              <a:t>Goal-based</a:t>
            </a:r>
            <a:r>
              <a:rPr spc="-138" dirty="0"/>
              <a:t> </a:t>
            </a:r>
            <a:r>
              <a:rPr spc="-13" dirty="0"/>
              <a:t>agents</a:t>
            </a:r>
          </a:p>
        </p:txBody>
      </p:sp>
      <p:sp>
        <p:nvSpPr>
          <p:cNvPr id="3" name="object 3"/>
          <p:cNvSpPr txBox="1"/>
          <p:nvPr/>
        </p:nvSpPr>
        <p:spPr>
          <a:xfrm>
            <a:off x="392112" y="1187450"/>
            <a:ext cx="10439400" cy="5035930"/>
          </a:xfrm>
          <a:prstGeom prst="rect">
            <a:avLst/>
          </a:prstGeom>
        </p:spPr>
        <p:txBody>
          <a:bodyPr vert="horz" wrap="square" lIns="0" tIns="0" rIns="0" bIns="0" rtlCol="0">
            <a:spAutoFit/>
          </a:bodyPr>
          <a:lstStyle/>
          <a:p>
            <a:pPr marL="446705" indent="-430751">
              <a:buFont typeface="Arial"/>
              <a:buChar char="•"/>
              <a:tabLst>
                <a:tab pos="446705" algn="l"/>
              </a:tabLst>
            </a:pPr>
            <a:r>
              <a:rPr sz="4522" spc="-6" dirty="0">
                <a:latin typeface="Calibri"/>
                <a:cs typeface="Calibri"/>
              </a:rPr>
              <a:t>knowing </a:t>
            </a:r>
            <a:r>
              <a:rPr sz="4522" spc="-50" dirty="0">
                <a:latin typeface="Calibri"/>
                <a:cs typeface="Calibri"/>
              </a:rPr>
              <a:t>state </a:t>
            </a:r>
            <a:r>
              <a:rPr sz="4522" dirty="0">
                <a:latin typeface="Calibri"/>
                <a:cs typeface="Calibri"/>
              </a:rPr>
              <a:t>and </a:t>
            </a:r>
            <a:r>
              <a:rPr sz="4522" spc="-19" dirty="0">
                <a:latin typeface="Calibri"/>
                <a:cs typeface="Calibri"/>
              </a:rPr>
              <a:t>environment?</a:t>
            </a:r>
            <a:r>
              <a:rPr sz="4522" spc="-107" dirty="0">
                <a:latin typeface="Calibri"/>
                <a:cs typeface="Calibri"/>
              </a:rPr>
              <a:t> </a:t>
            </a:r>
            <a:r>
              <a:rPr sz="4522" spc="-6" dirty="0">
                <a:latin typeface="Calibri"/>
                <a:cs typeface="Calibri"/>
              </a:rPr>
              <a:t>Enough?</a:t>
            </a:r>
            <a:endParaRPr sz="4522" dirty="0">
              <a:latin typeface="Calibri"/>
              <a:cs typeface="Calibri"/>
            </a:endParaRPr>
          </a:p>
          <a:p>
            <a:pPr marL="950045" lvl="1" indent="-359757">
              <a:spcBef>
                <a:spcPts val="999"/>
              </a:spcBef>
              <a:buFont typeface="Arial"/>
              <a:buChar char="–"/>
              <a:tabLst>
                <a:tab pos="950843" algn="l"/>
              </a:tabLst>
            </a:pPr>
            <a:r>
              <a:rPr sz="4020" spc="-88" dirty="0">
                <a:latin typeface="Calibri"/>
                <a:cs typeface="Calibri"/>
              </a:rPr>
              <a:t>Taxi </a:t>
            </a:r>
            <a:r>
              <a:rPr sz="4020" spc="-13" dirty="0">
                <a:latin typeface="Calibri"/>
                <a:cs typeface="Calibri"/>
              </a:rPr>
              <a:t>can go left, right,</a:t>
            </a:r>
            <a:r>
              <a:rPr sz="4020" spc="63" dirty="0">
                <a:latin typeface="Calibri"/>
                <a:cs typeface="Calibri"/>
              </a:rPr>
              <a:t> </a:t>
            </a:r>
            <a:r>
              <a:rPr sz="4020" spc="-25" dirty="0">
                <a:latin typeface="Calibri"/>
                <a:cs typeface="Calibri"/>
              </a:rPr>
              <a:t>straight</a:t>
            </a:r>
            <a:endParaRPr sz="4020" dirty="0">
              <a:latin typeface="Calibri"/>
              <a:cs typeface="Calibri"/>
            </a:endParaRPr>
          </a:p>
          <a:p>
            <a:pPr marL="446705" indent="-430751">
              <a:spcBef>
                <a:spcPts val="1049"/>
              </a:spcBef>
              <a:buFont typeface="Arial"/>
              <a:buChar char="•"/>
              <a:tabLst>
                <a:tab pos="446705" algn="l"/>
              </a:tabLst>
            </a:pPr>
            <a:r>
              <a:rPr sz="4522" spc="-31" dirty="0">
                <a:latin typeface="Calibri"/>
                <a:cs typeface="Calibri"/>
              </a:rPr>
              <a:t>Have </a:t>
            </a:r>
            <a:r>
              <a:rPr sz="4522" dirty="0">
                <a:latin typeface="Calibri"/>
                <a:cs typeface="Calibri"/>
              </a:rPr>
              <a:t>a</a:t>
            </a:r>
            <a:r>
              <a:rPr sz="4522" spc="-119" dirty="0">
                <a:latin typeface="Calibri"/>
                <a:cs typeface="Calibri"/>
              </a:rPr>
              <a:t> </a:t>
            </a:r>
            <a:r>
              <a:rPr sz="4522" spc="-13" dirty="0">
                <a:latin typeface="Calibri"/>
                <a:cs typeface="Calibri"/>
              </a:rPr>
              <a:t>goal</a:t>
            </a:r>
            <a:endParaRPr sz="4522" dirty="0">
              <a:latin typeface="Calibri"/>
              <a:cs typeface="Calibri"/>
            </a:endParaRPr>
          </a:p>
          <a:p>
            <a:pPr marL="950045" lvl="1" indent="-359757">
              <a:spcBef>
                <a:spcPts val="999"/>
              </a:spcBef>
              <a:buFont typeface="Arial"/>
              <a:buChar char="–"/>
              <a:tabLst>
                <a:tab pos="950843" algn="l"/>
              </a:tabLst>
            </a:pPr>
            <a:r>
              <a:rPr sz="4020" spc="-6" dirty="0">
                <a:latin typeface="Calibri"/>
                <a:cs typeface="Calibri"/>
              </a:rPr>
              <a:t>A </a:t>
            </a:r>
            <a:r>
              <a:rPr sz="4020" spc="-13" dirty="0">
                <a:latin typeface="Calibri"/>
                <a:cs typeface="Calibri"/>
              </a:rPr>
              <a:t>destination </a:t>
            </a:r>
            <a:r>
              <a:rPr sz="4020" spc="-25" dirty="0">
                <a:latin typeface="Calibri"/>
                <a:cs typeface="Calibri"/>
              </a:rPr>
              <a:t>to </a:t>
            </a:r>
            <a:r>
              <a:rPr sz="4020" spc="-19" dirty="0">
                <a:latin typeface="Calibri"/>
                <a:cs typeface="Calibri"/>
              </a:rPr>
              <a:t>get</a:t>
            </a:r>
            <a:r>
              <a:rPr sz="4020" spc="-44" dirty="0">
                <a:latin typeface="Calibri"/>
                <a:cs typeface="Calibri"/>
              </a:rPr>
              <a:t> </a:t>
            </a:r>
            <a:r>
              <a:rPr sz="4020" spc="-25" dirty="0">
                <a:latin typeface="Calibri"/>
                <a:cs typeface="Calibri"/>
              </a:rPr>
              <a:t>to</a:t>
            </a:r>
            <a:endParaRPr sz="4020" dirty="0">
              <a:latin typeface="Calibri"/>
              <a:cs typeface="Calibri"/>
            </a:endParaRPr>
          </a:p>
          <a:p>
            <a:pPr marL="446705" marR="1346496" indent="-430751">
              <a:spcBef>
                <a:spcPts val="961"/>
              </a:spcBef>
              <a:buFont typeface="Arial"/>
              <a:buChar char="•"/>
              <a:tabLst>
                <a:tab pos="445907" algn="l"/>
                <a:tab pos="446705" algn="l"/>
              </a:tabLst>
            </a:pPr>
            <a:r>
              <a:rPr sz="4020" spc="-6" dirty="0">
                <a:latin typeface="Calibri"/>
                <a:cs typeface="Calibri"/>
              </a:rPr>
              <a:t>Uses </a:t>
            </a:r>
            <a:r>
              <a:rPr sz="4020" spc="-13" dirty="0">
                <a:latin typeface="Calibri"/>
                <a:cs typeface="Calibri"/>
              </a:rPr>
              <a:t>knowledge </a:t>
            </a:r>
            <a:r>
              <a:rPr sz="4020" spc="-6" dirty="0">
                <a:latin typeface="Calibri"/>
                <a:cs typeface="Calibri"/>
              </a:rPr>
              <a:t>about </a:t>
            </a:r>
            <a:r>
              <a:rPr sz="4020" dirty="0">
                <a:latin typeface="Calibri"/>
                <a:cs typeface="Calibri"/>
              </a:rPr>
              <a:t>a </a:t>
            </a:r>
            <a:r>
              <a:rPr sz="4020" spc="-13" dirty="0">
                <a:latin typeface="Calibri"/>
                <a:cs typeface="Calibri"/>
              </a:rPr>
              <a:t>goal </a:t>
            </a:r>
            <a:r>
              <a:rPr sz="4020" spc="-25" dirty="0">
                <a:latin typeface="Calibri"/>
                <a:cs typeface="Calibri"/>
              </a:rPr>
              <a:t>to </a:t>
            </a:r>
            <a:r>
              <a:rPr sz="4020" spc="-6" dirty="0">
                <a:latin typeface="Calibri"/>
                <a:cs typeface="Calibri"/>
              </a:rPr>
              <a:t>guide its  actions</a:t>
            </a:r>
            <a:endParaRPr sz="4020" dirty="0">
              <a:latin typeface="Calibri"/>
              <a:cs typeface="Calibri"/>
            </a:endParaRPr>
          </a:p>
          <a:p>
            <a:pPr marL="950045" lvl="1" indent="-359757">
              <a:spcBef>
                <a:spcPts val="860"/>
              </a:spcBef>
              <a:buFont typeface="Arial"/>
              <a:buChar char="–"/>
              <a:tabLst>
                <a:tab pos="950843" algn="l"/>
              </a:tabLst>
            </a:pPr>
            <a:r>
              <a:rPr sz="3517" dirty="0">
                <a:latin typeface="Calibri"/>
                <a:cs typeface="Calibri"/>
              </a:rPr>
              <a:t>E.g., </a:t>
            </a:r>
            <a:r>
              <a:rPr sz="3517" spc="-13" dirty="0">
                <a:latin typeface="Calibri"/>
                <a:cs typeface="Calibri"/>
              </a:rPr>
              <a:t>Search,</a:t>
            </a:r>
            <a:r>
              <a:rPr sz="3517" spc="-88" dirty="0">
                <a:latin typeface="Calibri"/>
                <a:cs typeface="Calibri"/>
              </a:rPr>
              <a:t> </a:t>
            </a:r>
            <a:r>
              <a:rPr sz="3517" spc="-13" dirty="0">
                <a:latin typeface="Calibri"/>
                <a:cs typeface="Calibri"/>
              </a:rPr>
              <a:t>planning</a:t>
            </a:r>
            <a:endParaRPr sz="3517" dirty="0">
              <a:latin typeface="Calibri"/>
              <a:cs typeface="Calibri"/>
            </a:endParaRPr>
          </a:p>
        </p:txBody>
      </p:sp>
      <p:pic>
        <p:nvPicPr>
          <p:cNvPr id="6" name="Picture 5">
            <a:extLst>
              <a:ext uri="{FF2B5EF4-FFF2-40B4-BE49-F238E27FC236}">
                <a16:creationId xmlns:a16="http://schemas.microsoft.com/office/drawing/2014/main" id="{4D05315E-3B84-F739-C95A-75D780C89D56}"/>
              </a:ext>
            </a:extLst>
          </p:cNvPr>
          <p:cNvPicPr>
            <a:picLocks noChangeAspect="1"/>
          </p:cNvPicPr>
          <p:nvPr/>
        </p:nvPicPr>
        <p:blipFill>
          <a:blip r:embed="rId2"/>
          <a:stretch>
            <a:fillRect/>
          </a:stretch>
        </p:blipFill>
        <p:spPr>
          <a:xfrm>
            <a:off x="6945312" y="6223380"/>
            <a:ext cx="6107113" cy="100278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61790" y="104639"/>
            <a:ext cx="5304767" cy="850554"/>
          </a:xfrm>
          <a:prstGeom prst="rect">
            <a:avLst/>
          </a:prstGeom>
        </p:spPr>
        <p:txBody>
          <a:bodyPr vert="horz" wrap="square" lIns="0" tIns="0" rIns="0" bIns="0" rtlCol="0">
            <a:spAutoFit/>
          </a:bodyPr>
          <a:lstStyle/>
          <a:p>
            <a:pPr marL="15954"/>
            <a:r>
              <a:rPr dirty="0"/>
              <a:t>Goal-based</a:t>
            </a:r>
            <a:r>
              <a:rPr spc="-138" dirty="0"/>
              <a:t> </a:t>
            </a:r>
            <a:r>
              <a:rPr spc="-13" dirty="0"/>
              <a:t>agents</a:t>
            </a:r>
          </a:p>
        </p:txBody>
      </p:sp>
      <p:sp>
        <p:nvSpPr>
          <p:cNvPr id="3" name="object 3"/>
          <p:cNvSpPr/>
          <p:nvPr/>
        </p:nvSpPr>
        <p:spPr>
          <a:xfrm>
            <a:off x="3365541" y="1576252"/>
            <a:ext cx="6166611" cy="3924730"/>
          </a:xfrm>
          <a:prstGeom prst="rect">
            <a:avLst/>
          </a:prstGeom>
          <a:blipFill>
            <a:blip r:embed="rId2" cstate="print"/>
            <a:stretch>
              <a:fillRect/>
            </a:stretch>
          </a:blipFill>
        </p:spPr>
        <p:txBody>
          <a:bodyPr wrap="square" lIns="0" tIns="0" rIns="0" bIns="0" rtlCol="0"/>
          <a:lstStyle/>
          <a:p>
            <a:endParaRPr sz="2261"/>
          </a:p>
        </p:txBody>
      </p:sp>
      <p:sp>
        <p:nvSpPr>
          <p:cNvPr id="4" name="object 4"/>
          <p:cNvSpPr txBox="1"/>
          <p:nvPr/>
        </p:nvSpPr>
        <p:spPr>
          <a:xfrm>
            <a:off x="1262782" y="5925999"/>
            <a:ext cx="9861283" cy="978217"/>
          </a:xfrm>
          <a:prstGeom prst="rect">
            <a:avLst/>
          </a:prstGeom>
        </p:spPr>
        <p:txBody>
          <a:bodyPr vert="horz" wrap="square" lIns="0" tIns="0" rIns="0" bIns="0" rtlCol="0">
            <a:spAutoFit/>
          </a:bodyPr>
          <a:lstStyle/>
          <a:p>
            <a:pPr marL="358161" marR="210589" indent="-342208">
              <a:lnSpc>
                <a:spcPct val="80000"/>
              </a:lnSpc>
              <a:buClr>
                <a:srgbClr val="4E81BD"/>
              </a:buClr>
              <a:buSzPct val="83333"/>
              <a:buFont typeface="Arial"/>
              <a:buChar char="•"/>
              <a:tabLst>
                <a:tab pos="358161" algn="l"/>
                <a:tab pos="358959" algn="l"/>
              </a:tabLst>
            </a:pPr>
            <a:r>
              <a:rPr sz="2638" dirty="0">
                <a:latin typeface="Georgia"/>
                <a:cs typeface="Georgia"/>
              </a:rPr>
              <a:t>Reflex </a:t>
            </a:r>
            <a:r>
              <a:rPr sz="2638" spc="-6" dirty="0">
                <a:latin typeface="Georgia"/>
                <a:cs typeface="Georgia"/>
              </a:rPr>
              <a:t>agent </a:t>
            </a:r>
            <a:r>
              <a:rPr sz="2638" dirty="0">
                <a:latin typeface="Georgia"/>
                <a:cs typeface="Georgia"/>
              </a:rPr>
              <a:t>breaks </a:t>
            </a:r>
            <a:r>
              <a:rPr sz="2638" spc="-6" dirty="0">
                <a:latin typeface="Georgia"/>
                <a:cs typeface="Georgia"/>
              </a:rPr>
              <a:t>when it </a:t>
            </a:r>
            <a:r>
              <a:rPr sz="2638" dirty="0">
                <a:latin typeface="Georgia"/>
                <a:cs typeface="Georgia"/>
              </a:rPr>
              <a:t>sees brake </a:t>
            </a:r>
            <a:r>
              <a:rPr sz="2638" spc="-6" dirty="0">
                <a:latin typeface="Georgia"/>
                <a:cs typeface="Georgia"/>
              </a:rPr>
              <a:t>lights. Goal based agent  reasons</a:t>
            </a:r>
            <a:endParaRPr sz="2638">
              <a:latin typeface="Georgia"/>
              <a:cs typeface="Georgia"/>
            </a:endParaRPr>
          </a:p>
          <a:p>
            <a:pPr marL="360555">
              <a:spcBef>
                <a:spcPts val="19"/>
              </a:spcBef>
              <a:tabLst>
                <a:tab pos="704358" algn="l"/>
              </a:tabLst>
            </a:pPr>
            <a:r>
              <a:rPr sz="1445" spc="25" dirty="0">
                <a:solidFill>
                  <a:srgbClr val="C04F4C"/>
                </a:solidFill>
                <a:latin typeface="Arial"/>
                <a:cs typeface="Arial"/>
              </a:rPr>
              <a:t>–	</a:t>
            </a:r>
            <a:r>
              <a:rPr sz="2136" dirty="0">
                <a:solidFill>
                  <a:srgbClr val="1E487C"/>
                </a:solidFill>
                <a:latin typeface="Georgia"/>
                <a:cs typeface="Georgia"/>
              </a:rPr>
              <a:t>Brake light  </a:t>
            </a:r>
            <a:r>
              <a:rPr sz="2136" spc="-6" dirty="0">
                <a:solidFill>
                  <a:srgbClr val="1E487C"/>
                </a:solidFill>
                <a:latin typeface="Georgia"/>
                <a:cs typeface="Georgia"/>
              </a:rPr>
              <a:t>-&gt;  </a:t>
            </a:r>
            <a:r>
              <a:rPr sz="2136" dirty="0">
                <a:solidFill>
                  <a:srgbClr val="1E487C"/>
                </a:solidFill>
                <a:latin typeface="Georgia"/>
                <a:cs typeface="Georgia"/>
              </a:rPr>
              <a:t>car </a:t>
            </a:r>
            <a:r>
              <a:rPr sz="2136" spc="6" dirty="0">
                <a:solidFill>
                  <a:srgbClr val="1E487C"/>
                </a:solidFill>
                <a:latin typeface="Georgia"/>
                <a:cs typeface="Georgia"/>
              </a:rPr>
              <a:t>in </a:t>
            </a:r>
            <a:r>
              <a:rPr sz="2136" dirty="0">
                <a:solidFill>
                  <a:srgbClr val="1E487C"/>
                </a:solidFill>
                <a:latin typeface="Georgia"/>
                <a:cs typeface="Georgia"/>
              </a:rPr>
              <a:t>front is </a:t>
            </a:r>
            <a:r>
              <a:rPr sz="2136" spc="-6" dirty="0">
                <a:solidFill>
                  <a:srgbClr val="1E487C"/>
                </a:solidFill>
                <a:latin typeface="Georgia"/>
                <a:cs typeface="Georgia"/>
              </a:rPr>
              <a:t>stopping -&gt; I </a:t>
            </a:r>
            <a:r>
              <a:rPr sz="2136" dirty="0">
                <a:solidFill>
                  <a:srgbClr val="1E487C"/>
                </a:solidFill>
                <a:latin typeface="Georgia"/>
                <a:cs typeface="Georgia"/>
              </a:rPr>
              <a:t>should </a:t>
            </a:r>
            <a:r>
              <a:rPr sz="2136" spc="-6" dirty="0">
                <a:solidFill>
                  <a:srgbClr val="1E487C"/>
                </a:solidFill>
                <a:latin typeface="Georgia"/>
                <a:cs typeface="Georgia"/>
              </a:rPr>
              <a:t>stop -&gt; I </a:t>
            </a:r>
            <a:r>
              <a:rPr sz="2136" dirty="0">
                <a:solidFill>
                  <a:srgbClr val="1E487C"/>
                </a:solidFill>
                <a:latin typeface="Georgia"/>
                <a:cs typeface="Georgia"/>
              </a:rPr>
              <a:t>should use</a:t>
            </a:r>
            <a:r>
              <a:rPr sz="2136" spc="-44" dirty="0">
                <a:solidFill>
                  <a:srgbClr val="1E487C"/>
                </a:solidFill>
                <a:latin typeface="Georgia"/>
                <a:cs typeface="Georgia"/>
              </a:rPr>
              <a:t> </a:t>
            </a:r>
            <a:r>
              <a:rPr sz="2136" dirty="0">
                <a:solidFill>
                  <a:srgbClr val="1E487C"/>
                </a:solidFill>
                <a:latin typeface="Georgia"/>
                <a:cs typeface="Georgia"/>
              </a:rPr>
              <a:t>brake</a:t>
            </a:r>
            <a:endParaRPr sz="2136">
              <a:latin typeface="Georgia"/>
              <a:cs typeface="Georgia"/>
            </a:endParaRPr>
          </a:p>
        </p:txBody>
      </p:sp>
      <p:sp>
        <p:nvSpPr>
          <p:cNvPr id="5" name="object 5"/>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37</a:t>
            </a:fld>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38</a:t>
            </a:fld>
            <a:endParaRPr dirty="0"/>
          </a:p>
        </p:txBody>
      </p:sp>
      <p:sp>
        <p:nvSpPr>
          <p:cNvPr id="2" name="object 2"/>
          <p:cNvSpPr txBox="1">
            <a:spLocks noGrp="1"/>
          </p:cNvSpPr>
          <p:nvPr>
            <p:ph type="title"/>
          </p:nvPr>
        </p:nvSpPr>
        <p:spPr>
          <a:xfrm>
            <a:off x="3668712" y="25400"/>
            <a:ext cx="5714790" cy="807913"/>
          </a:xfrm>
          <a:prstGeom prst="rect">
            <a:avLst/>
          </a:prstGeom>
        </p:spPr>
        <p:txBody>
          <a:bodyPr vert="horz" wrap="square" lIns="0" tIns="0" rIns="0" bIns="0" rtlCol="0">
            <a:spAutoFit/>
          </a:bodyPr>
          <a:lstStyle/>
          <a:p>
            <a:pPr marL="15954">
              <a:lnSpc>
                <a:spcPts val="6344"/>
              </a:lnSpc>
            </a:pPr>
            <a:r>
              <a:rPr spc="-6" dirty="0"/>
              <a:t>Utility-based</a:t>
            </a:r>
            <a:r>
              <a:rPr spc="-75" dirty="0"/>
              <a:t> </a:t>
            </a:r>
            <a:r>
              <a:rPr spc="-13" dirty="0"/>
              <a:t>agents</a:t>
            </a:r>
          </a:p>
        </p:txBody>
      </p:sp>
      <p:sp>
        <p:nvSpPr>
          <p:cNvPr id="3" name="object 3"/>
          <p:cNvSpPr txBox="1">
            <a:spLocks noGrp="1"/>
          </p:cNvSpPr>
          <p:nvPr>
            <p:ph type="body" idx="1"/>
          </p:nvPr>
        </p:nvSpPr>
        <p:spPr>
          <a:xfrm>
            <a:off x="733892" y="833313"/>
            <a:ext cx="11965640" cy="6078587"/>
          </a:xfrm>
          <a:prstGeom prst="rect">
            <a:avLst/>
          </a:prstGeom>
        </p:spPr>
        <p:txBody>
          <a:bodyPr vert="horz" wrap="square" lIns="0" tIns="0" rIns="0" bIns="0" rtlCol="0">
            <a:spAutoFit/>
          </a:bodyPr>
          <a:lstStyle/>
          <a:p>
            <a:pPr marL="446705" indent="-430751">
              <a:lnSpc>
                <a:spcPts val="4535"/>
              </a:lnSpc>
              <a:buFont typeface="Arial"/>
              <a:buChar char="•"/>
              <a:tabLst>
                <a:tab pos="445907" algn="l"/>
                <a:tab pos="446705" algn="l"/>
              </a:tabLst>
            </a:pPr>
            <a:r>
              <a:rPr sz="3000" spc="-6" dirty="0"/>
              <a:t>Goals </a:t>
            </a:r>
            <a:r>
              <a:rPr sz="3000" spc="-19" dirty="0"/>
              <a:t>are </a:t>
            </a:r>
            <a:r>
              <a:rPr sz="3000" spc="-6" dirty="0"/>
              <a:t>not </a:t>
            </a:r>
            <a:r>
              <a:rPr sz="3000" spc="-31" dirty="0"/>
              <a:t>always</a:t>
            </a:r>
            <a:r>
              <a:rPr sz="3000" spc="-13" dirty="0"/>
              <a:t> </a:t>
            </a:r>
            <a:r>
              <a:rPr sz="3000" spc="-6" dirty="0"/>
              <a:t>enough</a:t>
            </a:r>
          </a:p>
          <a:p>
            <a:pPr marL="950045" lvl="1" indent="-359757">
              <a:spcBef>
                <a:spcPts val="860"/>
              </a:spcBef>
              <a:buFont typeface="Arial"/>
              <a:buChar char="–"/>
              <a:tabLst>
                <a:tab pos="950843" algn="l"/>
              </a:tabLst>
            </a:pPr>
            <a:r>
              <a:rPr sz="3000" spc="-25" dirty="0">
                <a:latin typeface="Calibri"/>
                <a:cs typeface="Calibri"/>
              </a:rPr>
              <a:t>Many </a:t>
            </a:r>
            <a:r>
              <a:rPr sz="3000" spc="-6" dirty="0">
                <a:latin typeface="Calibri"/>
                <a:cs typeface="Calibri"/>
              </a:rPr>
              <a:t>action </a:t>
            </a:r>
            <a:r>
              <a:rPr sz="3000" spc="-13" dirty="0">
                <a:latin typeface="Calibri"/>
                <a:cs typeface="Calibri"/>
              </a:rPr>
              <a:t>sequences </a:t>
            </a:r>
            <a:r>
              <a:rPr sz="3000" spc="-19" dirty="0">
                <a:latin typeface="Calibri"/>
                <a:cs typeface="Calibri"/>
              </a:rPr>
              <a:t>get </a:t>
            </a:r>
            <a:r>
              <a:rPr sz="3000" spc="-25" dirty="0">
                <a:latin typeface="Calibri"/>
                <a:cs typeface="Calibri"/>
              </a:rPr>
              <a:t>taxi </a:t>
            </a:r>
            <a:r>
              <a:rPr sz="3000" spc="-19" dirty="0">
                <a:latin typeface="Calibri"/>
                <a:cs typeface="Calibri"/>
              </a:rPr>
              <a:t>to</a:t>
            </a:r>
            <a:r>
              <a:rPr sz="3000" spc="163" dirty="0">
                <a:latin typeface="Calibri"/>
                <a:cs typeface="Calibri"/>
              </a:rPr>
              <a:t> </a:t>
            </a:r>
            <a:r>
              <a:rPr sz="3000" spc="-19" dirty="0">
                <a:latin typeface="Calibri"/>
                <a:cs typeface="Calibri"/>
              </a:rPr>
              <a:t>destination</a:t>
            </a:r>
            <a:endParaRPr sz="3000" dirty="0">
              <a:latin typeface="Calibri"/>
              <a:cs typeface="Calibri"/>
            </a:endParaRPr>
          </a:p>
          <a:p>
            <a:pPr marL="950045" lvl="1" indent="-359757">
              <a:spcBef>
                <a:spcPts val="842"/>
              </a:spcBef>
              <a:buFont typeface="Arial"/>
              <a:buChar char="–"/>
              <a:tabLst>
                <a:tab pos="950843" algn="l"/>
              </a:tabLst>
            </a:pPr>
            <a:r>
              <a:rPr sz="3000" spc="-13" dirty="0">
                <a:latin typeface="Calibri"/>
                <a:cs typeface="Calibri"/>
              </a:rPr>
              <a:t>Consider other things. How </a:t>
            </a:r>
            <a:r>
              <a:rPr sz="3000" spc="-31" dirty="0">
                <a:latin typeface="Calibri"/>
                <a:cs typeface="Calibri"/>
              </a:rPr>
              <a:t>fast, </a:t>
            </a:r>
            <a:r>
              <a:rPr sz="3000" spc="-13" dirty="0">
                <a:latin typeface="Calibri"/>
                <a:cs typeface="Calibri"/>
              </a:rPr>
              <a:t>how</a:t>
            </a:r>
            <a:r>
              <a:rPr sz="3000" spc="220" dirty="0">
                <a:latin typeface="Calibri"/>
                <a:cs typeface="Calibri"/>
              </a:rPr>
              <a:t> </a:t>
            </a:r>
            <a:r>
              <a:rPr sz="3000" spc="-19" dirty="0">
                <a:latin typeface="Calibri"/>
                <a:cs typeface="Calibri"/>
              </a:rPr>
              <a:t>safe…..</a:t>
            </a:r>
            <a:endParaRPr lang="en-US" sz="3000" spc="-19" dirty="0">
              <a:latin typeface="Calibri"/>
              <a:cs typeface="Calibri"/>
            </a:endParaRPr>
          </a:p>
          <a:p>
            <a:pPr marL="571500" lvl="1" indent="-571500">
              <a:spcBef>
                <a:spcPts val="842"/>
              </a:spcBef>
              <a:buFont typeface="Arial" panose="020B0604020202020204" pitchFamily="34" charset="0"/>
              <a:buChar char="•"/>
              <a:tabLst>
                <a:tab pos="950843" algn="l"/>
              </a:tabLst>
            </a:pPr>
            <a:r>
              <a:rPr lang="en-US" sz="3000" spc="-6" dirty="0">
                <a:solidFill>
                  <a:schemeClr val="tx1"/>
                </a:solidFill>
                <a:latin typeface="Calibri"/>
                <a:cs typeface="Calibri"/>
              </a:rPr>
              <a:t>Agent can choose between multiple actions to achieve its goal. Which is best?</a:t>
            </a:r>
          </a:p>
          <a:p>
            <a:pPr marL="571500" lvl="1" indent="-571500">
              <a:spcBef>
                <a:spcPts val="842"/>
              </a:spcBef>
              <a:buFont typeface="Arial" panose="020B0604020202020204" pitchFamily="34" charset="0"/>
              <a:buChar char="•"/>
              <a:tabLst>
                <a:tab pos="950843" algn="l"/>
              </a:tabLst>
            </a:pPr>
            <a:r>
              <a:rPr lang="en-US" sz="3000" dirty="0"/>
              <a:t>Agent may have </a:t>
            </a:r>
            <a:r>
              <a:rPr lang="en-US" sz="3000" spc="-6" dirty="0">
                <a:solidFill>
                  <a:srgbClr val="FF0000"/>
                </a:solidFill>
                <a:latin typeface="Calibri"/>
                <a:cs typeface="Calibri"/>
              </a:rPr>
              <a:t>conflicting goals</a:t>
            </a:r>
            <a:r>
              <a:rPr lang="en-US" sz="3000" dirty="0"/>
              <a:t>. Which one to pursue first? </a:t>
            </a:r>
            <a:endParaRPr lang="en-US" sz="3000" spc="-6" dirty="0">
              <a:solidFill>
                <a:schemeClr val="tx1"/>
              </a:solidFill>
              <a:latin typeface="Calibri"/>
              <a:cs typeface="Calibri"/>
            </a:endParaRPr>
          </a:p>
          <a:p>
            <a:pPr marL="446705" indent="-430751">
              <a:spcBef>
                <a:spcPts val="961"/>
              </a:spcBef>
              <a:buFont typeface="Arial"/>
              <a:buChar char="•"/>
              <a:tabLst>
                <a:tab pos="445907" algn="l"/>
                <a:tab pos="446705" algn="l"/>
              </a:tabLst>
            </a:pPr>
            <a:r>
              <a:rPr lang="en-US" sz="3000" dirty="0">
                <a:latin typeface="+mn-lt"/>
                <a:cs typeface="+mn-cs"/>
              </a:rPr>
              <a:t>Agents may have a </a:t>
            </a:r>
            <a:r>
              <a:rPr lang="en-US" sz="3000" dirty="0">
                <a:solidFill>
                  <a:srgbClr val="FF0000"/>
                </a:solidFill>
                <a:latin typeface="+mn-lt"/>
                <a:cs typeface="+mn-cs"/>
              </a:rPr>
              <a:t>utility function</a:t>
            </a:r>
            <a:r>
              <a:rPr lang="en-US" sz="3000" dirty="0">
                <a:latin typeface="+mn-lt"/>
                <a:cs typeface="+mn-cs"/>
              </a:rPr>
              <a:t>, which (ideally) approximates the external performance measure.</a:t>
            </a:r>
          </a:p>
          <a:p>
            <a:pPr marL="1047489" lvl="1" indent="-457200">
              <a:spcBef>
                <a:spcPts val="961"/>
              </a:spcBef>
              <a:buFont typeface="Arial" panose="020B0604020202020204" pitchFamily="34" charset="0"/>
              <a:buChar char="•"/>
              <a:tabLst>
                <a:tab pos="445907" algn="l"/>
                <a:tab pos="446705" algn="l"/>
              </a:tabLst>
            </a:pPr>
            <a:r>
              <a:rPr lang="en-US" sz="3000" spc="-6" dirty="0">
                <a:latin typeface="Calibri"/>
                <a:cs typeface="Calibri"/>
              </a:rPr>
              <a:t>Economics: money.</a:t>
            </a:r>
          </a:p>
          <a:p>
            <a:pPr marL="1047488" lvl="1" indent="-457200">
              <a:spcBef>
                <a:spcPts val="842"/>
              </a:spcBef>
              <a:buFont typeface="Arial" panose="020B0604020202020204" pitchFamily="34" charset="0"/>
              <a:buChar char="•"/>
              <a:tabLst>
                <a:tab pos="950843" algn="l"/>
              </a:tabLst>
            </a:pPr>
            <a:r>
              <a:rPr lang="en-US" sz="3000" spc="-6" dirty="0">
                <a:latin typeface="Calibri"/>
                <a:cs typeface="Calibri"/>
              </a:rPr>
              <a:t>Biology: number of offspring</a:t>
            </a:r>
            <a:r>
              <a:rPr lang="en-US" sz="3000" spc="-19" dirty="0">
                <a:latin typeface="Calibri"/>
                <a:cs typeface="Calibri"/>
              </a:rPr>
              <a:t>.</a:t>
            </a:r>
            <a:endParaRPr lang="en-US" sz="3000" dirty="0">
              <a:latin typeface="Calibri"/>
              <a:cs typeface="Calibri"/>
            </a:endParaRPr>
          </a:p>
          <a:p>
            <a:pPr marL="1047488" lvl="1" indent="-457200">
              <a:spcBef>
                <a:spcPts val="842"/>
              </a:spcBef>
              <a:buFont typeface="Arial" panose="020B0604020202020204" pitchFamily="34" charset="0"/>
              <a:buChar char="•"/>
              <a:tabLst>
                <a:tab pos="950843" algn="l"/>
              </a:tabLst>
            </a:pPr>
            <a:r>
              <a:rPr lang="en-US" sz="3000" spc="-69" dirty="0">
                <a:latin typeface="Calibri"/>
                <a:cs typeface="Calibri"/>
              </a:rPr>
              <a:t>Your</a:t>
            </a:r>
            <a:r>
              <a:rPr lang="en-US" sz="3000" spc="-138" dirty="0">
                <a:latin typeface="Calibri"/>
                <a:cs typeface="Calibri"/>
              </a:rPr>
              <a:t> </a:t>
            </a:r>
            <a:r>
              <a:rPr lang="en-US" sz="3000" spc="-25" dirty="0">
                <a:latin typeface="Calibri"/>
                <a:cs typeface="Calibri"/>
              </a:rPr>
              <a:t>life?</a:t>
            </a:r>
            <a:endParaRPr lang="en-US" sz="3000" dirty="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56938" y="66349"/>
            <a:ext cx="5714790" cy="850554"/>
          </a:xfrm>
          <a:prstGeom prst="rect">
            <a:avLst/>
          </a:prstGeom>
        </p:spPr>
        <p:txBody>
          <a:bodyPr vert="horz" wrap="square" lIns="0" tIns="0" rIns="0" bIns="0" rtlCol="0">
            <a:spAutoFit/>
          </a:bodyPr>
          <a:lstStyle/>
          <a:p>
            <a:pPr marL="15954"/>
            <a:r>
              <a:rPr spc="-6" dirty="0"/>
              <a:t>Utility-based</a:t>
            </a:r>
            <a:r>
              <a:rPr spc="-75" dirty="0"/>
              <a:t> </a:t>
            </a:r>
            <a:r>
              <a:rPr spc="-13" dirty="0"/>
              <a:t>agents</a:t>
            </a:r>
          </a:p>
        </p:txBody>
      </p:sp>
      <p:sp>
        <p:nvSpPr>
          <p:cNvPr id="3" name="object 3"/>
          <p:cNvSpPr/>
          <p:nvPr/>
        </p:nvSpPr>
        <p:spPr>
          <a:xfrm>
            <a:off x="2982639" y="1671977"/>
            <a:ext cx="7753735" cy="4937502"/>
          </a:xfrm>
          <a:prstGeom prst="rect">
            <a:avLst/>
          </a:prstGeom>
          <a:blipFill>
            <a:blip r:embed="rId2" cstate="print"/>
            <a:stretch>
              <a:fillRect/>
            </a:stretch>
          </a:blipFill>
        </p:spPr>
        <p:txBody>
          <a:bodyPr wrap="square" lIns="0" tIns="0" rIns="0" bIns="0" rtlCol="0"/>
          <a:lstStyle/>
          <a:p>
            <a:endParaRPr sz="2261"/>
          </a:p>
        </p:txBody>
      </p:sp>
      <p:sp>
        <p:nvSpPr>
          <p:cNvPr id="4" name="object 4"/>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39</a:t>
            </a:fld>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11560893" y="7551632"/>
            <a:ext cx="223359" cy="230896"/>
          </a:xfrm>
          <a:prstGeom prst="rect">
            <a:avLst/>
          </a:prstGeom>
        </p:spPr>
        <p:txBody>
          <a:bodyPr vert="horz" wrap="square" lIns="0" tIns="12763" rIns="0" bIns="0" rtlCol="0">
            <a:spAutoFit/>
          </a:bodyPr>
          <a:lstStyle/>
          <a:p>
            <a:pPr marL="15954">
              <a:lnSpc>
                <a:spcPts val="1652"/>
              </a:lnSpc>
              <a:spcBef>
                <a:spcPts val="100"/>
              </a:spcBef>
            </a:pPr>
            <a:r>
              <a:rPr sz="1507" dirty="0">
                <a:solidFill>
                  <a:srgbClr val="898989"/>
                </a:solidFill>
                <a:latin typeface="Gill Sans MT"/>
                <a:cs typeface="Gill Sans MT"/>
              </a:rPr>
              <a:t>40</a:t>
            </a:r>
            <a:endParaRPr sz="1507">
              <a:latin typeface="Gill Sans MT"/>
              <a:cs typeface="Gill Sans MT"/>
            </a:endParaRPr>
          </a:p>
        </p:txBody>
      </p:sp>
      <p:sp>
        <p:nvSpPr>
          <p:cNvPr id="2" name="object 2"/>
          <p:cNvSpPr txBox="1">
            <a:spLocks noGrp="1"/>
          </p:cNvSpPr>
          <p:nvPr>
            <p:ph type="title"/>
          </p:nvPr>
        </p:nvSpPr>
        <p:spPr>
          <a:xfrm>
            <a:off x="2776825" y="0"/>
            <a:ext cx="7879773" cy="850554"/>
          </a:xfrm>
          <a:prstGeom prst="rect">
            <a:avLst/>
          </a:prstGeom>
        </p:spPr>
        <p:txBody>
          <a:bodyPr vert="horz" wrap="square" lIns="0" tIns="0" rIns="0" bIns="0" rtlCol="0">
            <a:spAutoFit/>
          </a:bodyPr>
          <a:lstStyle/>
          <a:p>
            <a:pPr marL="15954"/>
            <a:r>
              <a:rPr dirty="0"/>
              <a:t>Learning </a:t>
            </a:r>
            <a:r>
              <a:rPr spc="-57" dirty="0"/>
              <a:t>agents(Taxi</a:t>
            </a:r>
            <a:r>
              <a:rPr spc="-75" dirty="0"/>
              <a:t> </a:t>
            </a:r>
            <a:r>
              <a:rPr spc="-13" dirty="0"/>
              <a:t>driver)</a:t>
            </a:r>
          </a:p>
        </p:txBody>
      </p:sp>
      <p:sp>
        <p:nvSpPr>
          <p:cNvPr id="3" name="object 3"/>
          <p:cNvSpPr txBox="1"/>
          <p:nvPr/>
        </p:nvSpPr>
        <p:spPr>
          <a:xfrm>
            <a:off x="425171" y="1035050"/>
            <a:ext cx="11359081" cy="6052811"/>
          </a:xfrm>
          <a:prstGeom prst="rect">
            <a:avLst/>
          </a:prstGeom>
        </p:spPr>
        <p:txBody>
          <a:bodyPr vert="horz" wrap="square" lIns="0" tIns="0" rIns="0" bIns="0" rtlCol="0">
            <a:spAutoFit/>
          </a:bodyPr>
          <a:lstStyle/>
          <a:p>
            <a:pPr marL="375711" indent="-359757">
              <a:buFont typeface="Arial"/>
              <a:buChar char="–"/>
              <a:tabLst>
                <a:tab pos="376508" algn="l"/>
              </a:tabLst>
            </a:pPr>
            <a:r>
              <a:rPr sz="3015" spc="-13" dirty="0">
                <a:latin typeface="Calibri"/>
                <a:cs typeface="Calibri"/>
              </a:rPr>
              <a:t>Performance</a:t>
            </a:r>
            <a:r>
              <a:rPr sz="3015" spc="-107" dirty="0">
                <a:latin typeface="Calibri"/>
                <a:cs typeface="Calibri"/>
              </a:rPr>
              <a:t> </a:t>
            </a:r>
            <a:r>
              <a:rPr sz="3015" spc="-6" dirty="0">
                <a:latin typeface="Calibri"/>
                <a:cs typeface="Calibri"/>
              </a:rPr>
              <a:t>element</a:t>
            </a:r>
            <a:endParaRPr sz="3015" dirty="0">
              <a:latin typeface="Calibri"/>
              <a:cs typeface="Calibri"/>
            </a:endParaRPr>
          </a:p>
          <a:p>
            <a:pPr marL="877456" lvl="1" indent="-287167">
              <a:spcBef>
                <a:spcPts val="634"/>
              </a:spcBef>
              <a:buFont typeface="Arial"/>
              <a:buChar char="•"/>
              <a:tabLst>
                <a:tab pos="876658" algn="l"/>
                <a:tab pos="877456" algn="l"/>
              </a:tabLst>
            </a:pPr>
            <a:r>
              <a:rPr sz="2512" spc="-6" dirty="0">
                <a:latin typeface="Calibri"/>
                <a:cs typeface="Calibri"/>
              </a:rPr>
              <a:t>How it currently</a:t>
            </a:r>
            <a:r>
              <a:rPr sz="2512" spc="-88" dirty="0">
                <a:latin typeface="Calibri"/>
                <a:cs typeface="Calibri"/>
              </a:rPr>
              <a:t> </a:t>
            </a:r>
            <a:r>
              <a:rPr sz="2512" spc="-13" dirty="0">
                <a:latin typeface="Calibri"/>
                <a:cs typeface="Calibri"/>
              </a:rPr>
              <a:t>drives</a:t>
            </a:r>
            <a:endParaRPr sz="2512" dirty="0">
              <a:latin typeface="Calibri"/>
              <a:cs typeface="Calibri"/>
            </a:endParaRPr>
          </a:p>
          <a:p>
            <a:pPr marL="375711" indent="-359757">
              <a:spcBef>
                <a:spcPts val="685"/>
              </a:spcBef>
              <a:buFont typeface="Arial"/>
              <a:buChar char="–"/>
              <a:tabLst>
                <a:tab pos="376508" algn="l"/>
              </a:tabLst>
            </a:pPr>
            <a:r>
              <a:rPr sz="3015" spc="-75" dirty="0">
                <a:latin typeface="Calibri"/>
                <a:cs typeface="Calibri"/>
              </a:rPr>
              <a:t>Taxi </a:t>
            </a:r>
            <a:r>
              <a:rPr sz="3015" spc="-6" dirty="0">
                <a:latin typeface="Calibri"/>
                <a:cs typeface="Calibri"/>
              </a:rPr>
              <a:t>driver </a:t>
            </a:r>
            <a:r>
              <a:rPr sz="3015" spc="-19" dirty="0">
                <a:latin typeface="Calibri"/>
                <a:cs typeface="Calibri"/>
              </a:rPr>
              <a:t>Makes </a:t>
            </a:r>
            <a:r>
              <a:rPr sz="3015" dirty="0">
                <a:latin typeface="Calibri"/>
                <a:cs typeface="Calibri"/>
              </a:rPr>
              <a:t>quick </a:t>
            </a:r>
            <a:r>
              <a:rPr sz="3015" spc="-13" dirty="0">
                <a:latin typeface="Calibri"/>
                <a:cs typeface="Calibri"/>
              </a:rPr>
              <a:t>left </a:t>
            </a:r>
            <a:r>
              <a:rPr sz="3015" spc="-6" dirty="0">
                <a:latin typeface="Calibri"/>
                <a:cs typeface="Calibri"/>
              </a:rPr>
              <a:t>turn </a:t>
            </a:r>
            <a:r>
              <a:rPr sz="3015" spc="-13" dirty="0">
                <a:latin typeface="Calibri"/>
                <a:cs typeface="Calibri"/>
              </a:rPr>
              <a:t>across </a:t>
            </a:r>
            <a:r>
              <a:rPr sz="3015" spc="-6" dirty="0">
                <a:latin typeface="Calibri"/>
                <a:cs typeface="Calibri"/>
              </a:rPr>
              <a:t>3</a:t>
            </a:r>
            <a:r>
              <a:rPr sz="3015" dirty="0">
                <a:latin typeface="Calibri"/>
                <a:cs typeface="Calibri"/>
              </a:rPr>
              <a:t> lanes</a:t>
            </a:r>
          </a:p>
          <a:p>
            <a:pPr marL="877456" marR="6381" lvl="1" indent="-287167">
              <a:spcBef>
                <a:spcPts val="634"/>
              </a:spcBef>
              <a:buFont typeface="Arial"/>
              <a:buChar char="•"/>
              <a:tabLst>
                <a:tab pos="876658" algn="l"/>
                <a:tab pos="877456" algn="l"/>
              </a:tabLst>
            </a:pPr>
            <a:r>
              <a:rPr sz="2512" spc="-6" dirty="0">
                <a:latin typeface="Calibri"/>
                <a:cs typeface="Calibri"/>
              </a:rPr>
              <a:t>Critics observe </a:t>
            </a:r>
            <a:r>
              <a:rPr sz="2512" dirty="0">
                <a:latin typeface="Calibri"/>
                <a:cs typeface="Calibri"/>
              </a:rPr>
              <a:t>shocking language </a:t>
            </a:r>
            <a:r>
              <a:rPr sz="2512" spc="-6" dirty="0">
                <a:latin typeface="Calibri"/>
                <a:cs typeface="Calibri"/>
              </a:rPr>
              <a:t>by passenger </a:t>
            </a:r>
            <a:r>
              <a:rPr sz="2512" dirty="0">
                <a:latin typeface="Calibri"/>
                <a:cs typeface="Calibri"/>
              </a:rPr>
              <a:t>and </a:t>
            </a:r>
            <a:r>
              <a:rPr sz="2512" spc="-6" dirty="0">
                <a:latin typeface="Calibri"/>
                <a:cs typeface="Calibri"/>
              </a:rPr>
              <a:t>other </a:t>
            </a:r>
            <a:r>
              <a:rPr sz="2512" spc="-19" dirty="0">
                <a:latin typeface="Calibri"/>
                <a:cs typeface="Calibri"/>
              </a:rPr>
              <a:t>drivers </a:t>
            </a:r>
            <a:r>
              <a:rPr sz="2512" dirty="0">
                <a:latin typeface="Calibri"/>
                <a:cs typeface="Calibri"/>
              </a:rPr>
              <a:t>and  </a:t>
            </a:r>
            <a:r>
              <a:rPr sz="2512" spc="-13" dirty="0">
                <a:latin typeface="Calibri"/>
                <a:cs typeface="Calibri"/>
              </a:rPr>
              <a:t>informs </a:t>
            </a:r>
            <a:r>
              <a:rPr sz="2512" dirty="0">
                <a:latin typeface="Calibri"/>
                <a:cs typeface="Calibri"/>
              </a:rPr>
              <a:t>bad</a:t>
            </a:r>
            <a:r>
              <a:rPr sz="2512" spc="-107" dirty="0">
                <a:latin typeface="Calibri"/>
                <a:cs typeface="Calibri"/>
              </a:rPr>
              <a:t> </a:t>
            </a:r>
            <a:r>
              <a:rPr sz="2512" dirty="0">
                <a:latin typeface="Calibri"/>
                <a:cs typeface="Calibri"/>
              </a:rPr>
              <a:t>action</a:t>
            </a:r>
          </a:p>
          <a:p>
            <a:pPr marL="877456" lvl="1" indent="-287167">
              <a:spcBef>
                <a:spcPts val="597"/>
              </a:spcBef>
              <a:buFont typeface="Arial"/>
              <a:buChar char="•"/>
              <a:tabLst>
                <a:tab pos="876658" algn="l"/>
                <a:tab pos="877456" algn="l"/>
              </a:tabLst>
            </a:pPr>
            <a:r>
              <a:rPr sz="2512" dirty="0">
                <a:latin typeface="Calibri"/>
                <a:cs typeface="Calibri"/>
              </a:rPr>
              <a:t>Learning </a:t>
            </a:r>
            <a:r>
              <a:rPr sz="2512" spc="-13" dirty="0">
                <a:latin typeface="Calibri"/>
                <a:cs typeface="Calibri"/>
              </a:rPr>
              <a:t>element </a:t>
            </a:r>
            <a:r>
              <a:rPr sz="2512" spc="-6" dirty="0">
                <a:latin typeface="Calibri"/>
                <a:cs typeface="Calibri"/>
              </a:rPr>
              <a:t>tries </a:t>
            </a:r>
            <a:r>
              <a:rPr sz="2512" spc="-19" dirty="0">
                <a:latin typeface="Calibri"/>
                <a:cs typeface="Calibri"/>
              </a:rPr>
              <a:t>to </a:t>
            </a:r>
            <a:r>
              <a:rPr sz="2512" dirty="0">
                <a:latin typeface="Calibri"/>
                <a:cs typeface="Calibri"/>
              </a:rPr>
              <a:t>modify </a:t>
            </a:r>
            <a:r>
              <a:rPr sz="2512" spc="-6" dirty="0">
                <a:latin typeface="Calibri"/>
                <a:cs typeface="Calibri"/>
              </a:rPr>
              <a:t>performance </a:t>
            </a:r>
            <a:r>
              <a:rPr sz="2512" spc="-13" dirty="0">
                <a:latin typeface="Calibri"/>
                <a:cs typeface="Calibri"/>
              </a:rPr>
              <a:t>elements </a:t>
            </a:r>
            <a:r>
              <a:rPr sz="2512" spc="-19" dirty="0">
                <a:latin typeface="Calibri"/>
                <a:cs typeface="Calibri"/>
              </a:rPr>
              <a:t>for</a:t>
            </a:r>
            <a:r>
              <a:rPr sz="2512" spc="107" dirty="0">
                <a:latin typeface="Calibri"/>
                <a:cs typeface="Calibri"/>
              </a:rPr>
              <a:t> </a:t>
            </a:r>
            <a:r>
              <a:rPr sz="2512" spc="-6" dirty="0">
                <a:latin typeface="Calibri"/>
                <a:cs typeface="Calibri"/>
              </a:rPr>
              <a:t>future</a:t>
            </a:r>
            <a:endParaRPr sz="2512" dirty="0">
              <a:latin typeface="Calibri"/>
              <a:cs typeface="Calibri"/>
            </a:endParaRPr>
          </a:p>
          <a:p>
            <a:pPr marL="877456" marR="94127" lvl="1" indent="-287167">
              <a:spcBef>
                <a:spcPts val="597"/>
              </a:spcBef>
              <a:buFont typeface="Arial"/>
              <a:buChar char="•"/>
              <a:tabLst>
                <a:tab pos="876658" algn="l"/>
                <a:tab pos="877456" algn="l"/>
              </a:tabLst>
            </a:pPr>
            <a:r>
              <a:rPr sz="2512" spc="-13" dirty="0">
                <a:latin typeface="Calibri"/>
                <a:cs typeface="Calibri"/>
              </a:rPr>
              <a:t>Problem </a:t>
            </a:r>
            <a:r>
              <a:rPr sz="2512" spc="-19" dirty="0">
                <a:latin typeface="Calibri"/>
                <a:cs typeface="Calibri"/>
              </a:rPr>
              <a:t>generator </a:t>
            </a:r>
            <a:r>
              <a:rPr sz="2512" spc="-6" dirty="0">
                <a:latin typeface="Calibri"/>
                <a:cs typeface="Calibri"/>
              </a:rPr>
              <a:t>suggests </a:t>
            </a:r>
            <a:r>
              <a:rPr sz="2512" spc="-13" dirty="0">
                <a:latin typeface="Calibri"/>
                <a:cs typeface="Calibri"/>
              </a:rPr>
              <a:t>experiment </a:t>
            </a:r>
            <a:r>
              <a:rPr sz="2512" dirty="0">
                <a:latin typeface="Calibri"/>
                <a:cs typeface="Calibri"/>
              </a:rPr>
              <a:t>out </a:t>
            </a:r>
            <a:r>
              <a:rPr sz="2512" spc="-6" dirty="0">
                <a:latin typeface="Calibri"/>
                <a:cs typeface="Calibri"/>
              </a:rPr>
              <a:t>something called </a:t>
            </a:r>
            <a:r>
              <a:rPr sz="2512" spc="-25" dirty="0">
                <a:latin typeface="Calibri"/>
                <a:cs typeface="Calibri"/>
              </a:rPr>
              <a:t>Brakes  </a:t>
            </a:r>
            <a:r>
              <a:rPr sz="2512" dirty="0">
                <a:latin typeface="Calibri"/>
                <a:cs typeface="Calibri"/>
              </a:rPr>
              <a:t>on </a:t>
            </a:r>
            <a:r>
              <a:rPr sz="2512" spc="-19" dirty="0">
                <a:latin typeface="Calibri"/>
                <a:cs typeface="Calibri"/>
              </a:rPr>
              <a:t>different </a:t>
            </a:r>
            <a:r>
              <a:rPr sz="2512" spc="-13" dirty="0">
                <a:latin typeface="Calibri"/>
                <a:cs typeface="Calibri"/>
              </a:rPr>
              <a:t>Road</a:t>
            </a:r>
            <a:r>
              <a:rPr sz="2512" spc="-57" dirty="0">
                <a:latin typeface="Calibri"/>
                <a:cs typeface="Calibri"/>
              </a:rPr>
              <a:t> </a:t>
            </a:r>
            <a:r>
              <a:rPr sz="2512" spc="-6" dirty="0">
                <a:latin typeface="Calibri"/>
                <a:cs typeface="Calibri"/>
              </a:rPr>
              <a:t>conditions</a:t>
            </a:r>
            <a:endParaRPr sz="2512" dirty="0">
              <a:latin typeface="Calibri"/>
              <a:cs typeface="Calibri"/>
            </a:endParaRPr>
          </a:p>
          <a:p>
            <a:pPr marL="459468" indent="-443514">
              <a:spcBef>
                <a:spcPts val="685"/>
              </a:spcBef>
              <a:buFont typeface="Arial"/>
              <a:buChar char="–"/>
              <a:tabLst>
                <a:tab pos="459468" algn="l"/>
                <a:tab pos="460265" algn="l"/>
              </a:tabLst>
            </a:pPr>
            <a:r>
              <a:rPr sz="3015" spc="-13" dirty="0">
                <a:latin typeface="Calibri"/>
                <a:cs typeface="Calibri"/>
              </a:rPr>
              <a:t>Exploration </a:t>
            </a:r>
            <a:r>
              <a:rPr sz="3015" spc="-19" dirty="0">
                <a:latin typeface="Calibri"/>
                <a:cs typeface="Calibri"/>
              </a:rPr>
              <a:t>vs.</a:t>
            </a:r>
            <a:r>
              <a:rPr sz="3015" spc="-88" dirty="0">
                <a:latin typeface="Calibri"/>
                <a:cs typeface="Calibri"/>
              </a:rPr>
              <a:t> </a:t>
            </a:r>
            <a:r>
              <a:rPr sz="3015" spc="-6" dirty="0">
                <a:latin typeface="Calibri"/>
                <a:cs typeface="Calibri"/>
              </a:rPr>
              <a:t>Exploitation</a:t>
            </a:r>
            <a:endParaRPr sz="3015" dirty="0">
              <a:latin typeface="Calibri"/>
              <a:cs typeface="Calibri"/>
            </a:endParaRPr>
          </a:p>
          <a:p>
            <a:pPr marL="877456" lvl="1" indent="-287167">
              <a:spcBef>
                <a:spcPts val="634"/>
              </a:spcBef>
              <a:buFont typeface="Arial"/>
              <a:buChar char="•"/>
              <a:tabLst>
                <a:tab pos="876658" algn="l"/>
                <a:tab pos="877456" algn="l"/>
              </a:tabLst>
            </a:pPr>
            <a:r>
              <a:rPr sz="2512" dirty="0">
                <a:latin typeface="Calibri"/>
                <a:cs typeface="Calibri"/>
              </a:rPr>
              <a:t>Learning </a:t>
            </a:r>
            <a:r>
              <a:rPr sz="2512" spc="-6" dirty="0">
                <a:latin typeface="Calibri"/>
                <a:cs typeface="Calibri"/>
              </a:rPr>
              <a:t>experience can </a:t>
            </a:r>
            <a:r>
              <a:rPr sz="2512" dirty="0">
                <a:latin typeface="Calibri"/>
                <a:cs typeface="Calibri"/>
              </a:rPr>
              <a:t>be </a:t>
            </a:r>
            <a:r>
              <a:rPr sz="2512" spc="-13" dirty="0">
                <a:latin typeface="Calibri"/>
                <a:cs typeface="Calibri"/>
              </a:rPr>
              <a:t>costly </a:t>
            </a:r>
            <a:r>
              <a:rPr sz="2512" dirty="0">
                <a:latin typeface="Calibri"/>
                <a:cs typeface="Calibri"/>
              </a:rPr>
              <a:t>in the short</a:t>
            </a:r>
            <a:r>
              <a:rPr sz="2512" spc="-69" dirty="0">
                <a:latin typeface="Calibri"/>
                <a:cs typeface="Calibri"/>
              </a:rPr>
              <a:t> </a:t>
            </a:r>
            <a:r>
              <a:rPr sz="2512" dirty="0">
                <a:latin typeface="Calibri"/>
                <a:cs typeface="Calibri"/>
              </a:rPr>
              <a:t>run</a:t>
            </a:r>
          </a:p>
          <a:p>
            <a:pPr marL="877456" lvl="1" indent="-287167">
              <a:spcBef>
                <a:spcPts val="597"/>
              </a:spcBef>
              <a:buFont typeface="Arial"/>
              <a:buChar char="•"/>
              <a:tabLst>
                <a:tab pos="876658" algn="l"/>
                <a:tab pos="877456" algn="l"/>
              </a:tabLst>
            </a:pPr>
            <a:r>
              <a:rPr sz="2512" dirty="0">
                <a:latin typeface="Calibri"/>
                <a:cs typeface="Calibri"/>
              </a:rPr>
              <a:t>shocking language </a:t>
            </a:r>
            <a:r>
              <a:rPr sz="2512" spc="-19" dirty="0">
                <a:latin typeface="Calibri"/>
                <a:cs typeface="Calibri"/>
              </a:rPr>
              <a:t>from </a:t>
            </a:r>
            <a:r>
              <a:rPr sz="2512" spc="-6" dirty="0">
                <a:latin typeface="Calibri"/>
                <a:cs typeface="Calibri"/>
              </a:rPr>
              <a:t>other</a:t>
            </a:r>
            <a:r>
              <a:rPr sz="2512" spc="-94" dirty="0">
                <a:latin typeface="Calibri"/>
                <a:cs typeface="Calibri"/>
              </a:rPr>
              <a:t> </a:t>
            </a:r>
            <a:r>
              <a:rPr sz="2512" spc="-19" dirty="0">
                <a:latin typeface="Calibri"/>
                <a:cs typeface="Calibri"/>
              </a:rPr>
              <a:t>drivers</a:t>
            </a:r>
            <a:endParaRPr sz="2512" dirty="0">
              <a:latin typeface="Calibri"/>
              <a:cs typeface="Calibri"/>
            </a:endParaRPr>
          </a:p>
          <a:p>
            <a:pPr marL="877456" lvl="1" indent="-287167">
              <a:spcBef>
                <a:spcPts val="597"/>
              </a:spcBef>
              <a:buFont typeface="Arial"/>
              <a:buChar char="•"/>
              <a:tabLst>
                <a:tab pos="876658" algn="l"/>
                <a:tab pos="877456" algn="l"/>
              </a:tabLst>
            </a:pPr>
            <a:r>
              <a:rPr sz="2512" spc="-6" dirty="0">
                <a:latin typeface="Calibri"/>
                <a:cs typeface="Calibri"/>
              </a:rPr>
              <a:t>Less</a:t>
            </a:r>
            <a:r>
              <a:rPr sz="2512" spc="-107" dirty="0">
                <a:latin typeface="Calibri"/>
                <a:cs typeface="Calibri"/>
              </a:rPr>
              <a:t> </a:t>
            </a:r>
            <a:r>
              <a:rPr sz="2512" spc="-6" dirty="0">
                <a:latin typeface="Calibri"/>
                <a:cs typeface="Calibri"/>
              </a:rPr>
              <a:t>tip</a:t>
            </a:r>
            <a:endParaRPr sz="2512" dirty="0">
              <a:latin typeface="Calibri"/>
              <a:cs typeface="Calibri"/>
            </a:endParaRPr>
          </a:p>
          <a:p>
            <a:pPr marL="877456" lvl="1" indent="-287167">
              <a:spcBef>
                <a:spcPts val="597"/>
              </a:spcBef>
              <a:buFont typeface="Arial"/>
              <a:buChar char="•"/>
              <a:tabLst>
                <a:tab pos="876658" algn="l"/>
                <a:tab pos="877456" algn="l"/>
              </a:tabLst>
            </a:pPr>
            <a:r>
              <a:rPr sz="2512" spc="-19" dirty="0">
                <a:latin typeface="Calibri"/>
                <a:cs typeface="Calibri"/>
              </a:rPr>
              <a:t>Fewer</a:t>
            </a:r>
            <a:r>
              <a:rPr sz="2512" spc="-69" dirty="0">
                <a:latin typeface="Calibri"/>
                <a:cs typeface="Calibri"/>
              </a:rPr>
              <a:t> </a:t>
            </a:r>
            <a:r>
              <a:rPr sz="2512" spc="-13" dirty="0">
                <a:latin typeface="Calibri"/>
                <a:cs typeface="Calibri"/>
              </a:rPr>
              <a:t>passengers</a:t>
            </a:r>
            <a:endParaRPr sz="2512" dirty="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6605" y="66349"/>
            <a:ext cx="4534978" cy="850554"/>
          </a:xfrm>
          <a:prstGeom prst="rect">
            <a:avLst/>
          </a:prstGeom>
        </p:spPr>
        <p:txBody>
          <a:bodyPr vert="horz" wrap="square" lIns="0" tIns="0" rIns="0" bIns="0" rtlCol="0">
            <a:spAutoFit/>
          </a:bodyPr>
          <a:lstStyle/>
          <a:p>
            <a:pPr marL="15954"/>
            <a:r>
              <a:rPr dirty="0"/>
              <a:t>Learning</a:t>
            </a:r>
            <a:r>
              <a:rPr spc="-138" dirty="0"/>
              <a:t> </a:t>
            </a:r>
            <a:r>
              <a:rPr spc="-13" dirty="0"/>
              <a:t>agents</a:t>
            </a:r>
          </a:p>
        </p:txBody>
      </p:sp>
      <p:sp>
        <p:nvSpPr>
          <p:cNvPr id="3" name="object 3"/>
          <p:cNvSpPr/>
          <p:nvPr/>
        </p:nvSpPr>
        <p:spPr>
          <a:xfrm>
            <a:off x="1259590" y="2342055"/>
            <a:ext cx="5839232" cy="4102777"/>
          </a:xfrm>
          <a:prstGeom prst="rect">
            <a:avLst/>
          </a:prstGeom>
          <a:blipFill>
            <a:blip r:embed="rId2" cstate="print"/>
            <a:stretch>
              <a:fillRect/>
            </a:stretch>
          </a:blipFill>
        </p:spPr>
        <p:txBody>
          <a:bodyPr wrap="square" lIns="0" tIns="0" rIns="0" bIns="0" rtlCol="0"/>
          <a:lstStyle/>
          <a:p>
            <a:endParaRPr sz="2261"/>
          </a:p>
        </p:txBody>
      </p:sp>
      <p:sp>
        <p:nvSpPr>
          <p:cNvPr id="4" name="object 4"/>
          <p:cNvSpPr txBox="1"/>
          <p:nvPr/>
        </p:nvSpPr>
        <p:spPr>
          <a:xfrm>
            <a:off x="7197744" y="1717925"/>
            <a:ext cx="4537369" cy="4032129"/>
          </a:xfrm>
          <a:prstGeom prst="rect">
            <a:avLst/>
          </a:prstGeom>
        </p:spPr>
        <p:txBody>
          <a:bodyPr vert="horz" wrap="square" lIns="0" tIns="0" rIns="0" bIns="0" rtlCol="0">
            <a:spAutoFit/>
          </a:bodyPr>
          <a:lstStyle/>
          <a:p>
            <a:pPr marL="358161" marR="127630" indent="-342208" algn="just">
              <a:buClr>
                <a:srgbClr val="4E81BD"/>
              </a:buClr>
              <a:buSzPct val="83333"/>
              <a:buFont typeface="Courier New"/>
              <a:buChar char="•"/>
              <a:tabLst>
                <a:tab pos="358959" algn="l"/>
              </a:tabLst>
            </a:pPr>
            <a:r>
              <a:rPr sz="3015" spc="-6" dirty="0">
                <a:latin typeface="Georgia"/>
                <a:cs typeface="Georgia"/>
              </a:rPr>
              <a:t>Performance element </a:t>
            </a:r>
            <a:r>
              <a:rPr sz="3015" dirty="0">
                <a:latin typeface="Georgia"/>
                <a:cs typeface="Georgia"/>
              </a:rPr>
              <a:t>is  </a:t>
            </a:r>
            <a:r>
              <a:rPr sz="3015" spc="-6" dirty="0">
                <a:latin typeface="Georgia"/>
                <a:cs typeface="Georgia"/>
              </a:rPr>
              <a:t>what was previously the  whole</a:t>
            </a:r>
            <a:r>
              <a:rPr sz="3015" spc="-119" dirty="0">
                <a:latin typeface="Georgia"/>
                <a:cs typeface="Georgia"/>
              </a:rPr>
              <a:t> </a:t>
            </a:r>
            <a:r>
              <a:rPr sz="3015" dirty="0">
                <a:latin typeface="Georgia"/>
                <a:cs typeface="Georgia"/>
              </a:rPr>
              <a:t>agent</a:t>
            </a:r>
            <a:endParaRPr sz="3015">
              <a:latin typeface="Georgia"/>
              <a:cs typeface="Georgia"/>
            </a:endParaRPr>
          </a:p>
          <a:p>
            <a:pPr marL="932496" lvl="1" indent="-342208">
              <a:spcBef>
                <a:spcPts val="722"/>
              </a:spcBef>
              <a:buClr>
                <a:srgbClr val="4E81BD"/>
              </a:buClr>
              <a:buSzPct val="85416"/>
              <a:buFont typeface="Courier New"/>
              <a:buChar char="•"/>
              <a:tabLst>
                <a:tab pos="933294" algn="l"/>
              </a:tabLst>
            </a:pPr>
            <a:r>
              <a:rPr sz="3015" spc="-6" dirty="0">
                <a:latin typeface="Georgia"/>
                <a:cs typeface="Georgia"/>
              </a:rPr>
              <a:t>Input</a:t>
            </a:r>
            <a:r>
              <a:rPr sz="3015" spc="-126" dirty="0">
                <a:latin typeface="Georgia"/>
                <a:cs typeface="Georgia"/>
              </a:rPr>
              <a:t> </a:t>
            </a:r>
            <a:r>
              <a:rPr sz="3015" spc="-6" dirty="0">
                <a:latin typeface="Georgia"/>
                <a:cs typeface="Georgia"/>
              </a:rPr>
              <a:t>sensor</a:t>
            </a:r>
            <a:endParaRPr sz="3015">
              <a:latin typeface="Georgia"/>
              <a:cs typeface="Georgia"/>
            </a:endParaRPr>
          </a:p>
          <a:p>
            <a:pPr marL="932496" lvl="1" indent="-342208">
              <a:spcBef>
                <a:spcPts val="722"/>
              </a:spcBef>
              <a:buClr>
                <a:srgbClr val="4E81BD"/>
              </a:buClr>
              <a:buSzPct val="83333"/>
              <a:buFont typeface="Courier New"/>
              <a:buChar char="•"/>
              <a:tabLst>
                <a:tab pos="933294" algn="l"/>
              </a:tabLst>
            </a:pPr>
            <a:r>
              <a:rPr sz="3015" spc="-6" dirty="0">
                <a:latin typeface="Georgia"/>
                <a:cs typeface="Georgia"/>
              </a:rPr>
              <a:t>Output</a:t>
            </a:r>
            <a:r>
              <a:rPr sz="3015" spc="-126" dirty="0">
                <a:latin typeface="Georgia"/>
                <a:cs typeface="Georgia"/>
              </a:rPr>
              <a:t> </a:t>
            </a:r>
            <a:r>
              <a:rPr sz="3015" spc="-6" dirty="0">
                <a:latin typeface="Georgia"/>
                <a:cs typeface="Georgia"/>
              </a:rPr>
              <a:t>action</a:t>
            </a:r>
            <a:endParaRPr sz="3015">
              <a:latin typeface="Georgia"/>
              <a:cs typeface="Georgia"/>
            </a:endParaRPr>
          </a:p>
          <a:p>
            <a:pPr marL="358161" indent="-342208">
              <a:spcBef>
                <a:spcPts val="722"/>
              </a:spcBef>
              <a:buClr>
                <a:srgbClr val="4E81BD"/>
              </a:buClr>
              <a:buSzPct val="83333"/>
              <a:buFont typeface="Courier New"/>
              <a:buChar char="•"/>
              <a:tabLst>
                <a:tab pos="358959" algn="l"/>
              </a:tabLst>
            </a:pPr>
            <a:r>
              <a:rPr sz="3015" dirty="0">
                <a:latin typeface="Georgia"/>
                <a:cs typeface="Georgia"/>
              </a:rPr>
              <a:t>Learning</a:t>
            </a:r>
            <a:r>
              <a:rPr sz="3015" spc="-113" dirty="0">
                <a:latin typeface="Georgia"/>
                <a:cs typeface="Georgia"/>
              </a:rPr>
              <a:t> </a:t>
            </a:r>
            <a:r>
              <a:rPr sz="3015" spc="-6" dirty="0">
                <a:latin typeface="Georgia"/>
                <a:cs typeface="Georgia"/>
              </a:rPr>
              <a:t>element</a:t>
            </a:r>
            <a:endParaRPr sz="3015">
              <a:latin typeface="Georgia"/>
              <a:cs typeface="Georgia"/>
            </a:endParaRPr>
          </a:p>
          <a:p>
            <a:pPr marL="932496" marR="6381" lvl="1" indent="-342208">
              <a:spcBef>
                <a:spcPts val="697"/>
              </a:spcBef>
              <a:buClr>
                <a:srgbClr val="4E81BD"/>
              </a:buClr>
              <a:buSzPct val="84782"/>
              <a:buFont typeface="Courier New"/>
              <a:buChar char="•"/>
              <a:tabLst>
                <a:tab pos="933294" algn="l"/>
              </a:tabLst>
            </a:pPr>
            <a:r>
              <a:rPr sz="2889" spc="-6" dirty="0">
                <a:latin typeface="Georgia"/>
                <a:cs typeface="Georgia"/>
              </a:rPr>
              <a:t>Modifies</a:t>
            </a:r>
            <a:r>
              <a:rPr sz="2889" spc="-75" dirty="0">
                <a:latin typeface="Georgia"/>
                <a:cs typeface="Georgia"/>
              </a:rPr>
              <a:t> </a:t>
            </a:r>
            <a:r>
              <a:rPr sz="2889" dirty="0">
                <a:latin typeface="Georgia"/>
                <a:cs typeface="Georgia"/>
              </a:rPr>
              <a:t>performance  </a:t>
            </a:r>
            <a:r>
              <a:rPr sz="2889" spc="-6" dirty="0">
                <a:latin typeface="Georgia"/>
                <a:cs typeface="Georgia"/>
              </a:rPr>
              <a:t>element.</a:t>
            </a:r>
            <a:endParaRPr sz="2889">
              <a:latin typeface="Georgia"/>
              <a:cs typeface="Georgia"/>
            </a:endParaRPr>
          </a:p>
        </p:txBody>
      </p:sp>
      <p:sp>
        <p:nvSpPr>
          <p:cNvPr id="5" name="object 5"/>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41</a:t>
            </a:fld>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6605" y="66349"/>
            <a:ext cx="4534978" cy="850554"/>
          </a:xfrm>
          <a:prstGeom prst="rect">
            <a:avLst/>
          </a:prstGeom>
        </p:spPr>
        <p:txBody>
          <a:bodyPr vert="horz" wrap="square" lIns="0" tIns="0" rIns="0" bIns="0" rtlCol="0">
            <a:spAutoFit/>
          </a:bodyPr>
          <a:lstStyle/>
          <a:p>
            <a:pPr marL="15954"/>
            <a:r>
              <a:rPr dirty="0"/>
              <a:t>Learning</a:t>
            </a:r>
            <a:r>
              <a:rPr spc="-138" dirty="0"/>
              <a:t> </a:t>
            </a:r>
            <a:r>
              <a:rPr spc="-13" dirty="0"/>
              <a:t>agents</a:t>
            </a:r>
          </a:p>
        </p:txBody>
      </p:sp>
      <p:sp>
        <p:nvSpPr>
          <p:cNvPr id="3" name="object 3"/>
          <p:cNvSpPr/>
          <p:nvPr/>
        </p:nvSpPr>
        <p:spPr>
          <a:xfrm>
            <a:off x="1259591" y="2342055"/>
            <a:ext cx="5349118" cy="3758167"/>
          </a:xfrm>
          <a:prstGeom prst="rect">
            <a:avLst/>
          </a:prstGeom>
          <a:blipFill>
            <a:blip r:embed="rId2" cstate="print"/>
            <a:stretch>
              <a:fillRect/>
            </a:stretch>
          </a:blipFill>
        </p:spPr>
        <p:txBody>
          <a:bodyPr wrap="square" lIns="0" tIns="0" rIns="0" bIns="0" rtlCol="0"/>
          <a:lstStyle/>
          <a:p>
            <a:endParaRPr sz="2261"/>
          </a:p>
        </p:txBody>
      </p:sp>
      <p:sp>
        <p:nvSpPr>
          <p:cNvPr id="4" name="object 4"/>
          <p:cNvSpPr txBox="1"/>
          <p:nvPr/>
        </p:nvSpPr>
        <p:spPr>
          <a:xfrm>
            <a:off x="6814843" y="1717925"/>
            <a:ext cx="5161179" cy="5491440"/>
          </a:xfrm>
          <a:prstGeom prst="rect">
            <a:avLst/>
          </a:prstGeom>
        </p:spPr>
        <p:txBody>
          <a:bodyPr vert="horz" wrap="square" lIns="0" tIns="0" rIns="0" bIns="0" rtlCol="0">
            <a:spAutoFit/>
          </a:bodyPr>
          <a:lstStyle/>
          <a:p>
            <a:pPr marL="358161" marR="913352" indent="-342208">
              <a:buClr>
                <a:srgbClr val="4E81BD"/>
              </a:buClr>
              <a:buSzPct val="83333"/>
              <a:buFont typeface="Courier New"/>
              <a:buChar char="•"/>
              <a:tabLst>
                <a:tab pos="358959" algn="l"/>
              </a:tabLst>
            </a:pPr>
            <a:r>
              <a:rPr sz="3015" spc="-6" dirty="0">
                <a:latin typeface="Georgia"/>
                <a:cs typeface="Georgia"/>
              </a:rPr>
              <a:t>Critic: </a:t>
            </a:r>
            <a:r>
              <a:rPr sz="3015" spc="-13" dirty="0">
                <a:latin typeface="Georgia"/>
                <a:cs typeface="Georgia"/>
              </a:rPr>
              <a:t>how </a:t>
            </a:r>
            <a:r>
              <a:rPr sz="3015" spc="-6" dirty="0">
                <a:latin typeface="Georgia"/>
                <a:cs typeface="Georgia"/>
              </a:rPr>
              <a:t>the </a:t>
            </a:r>
            <a:r>
              <a:rPr sz="3015" dirty="0">
                <a:latin typeface="Georgia"/>
                <a:cs typeface="Georgia"/>
              </a:rPr>
              <a:t>agent</a:t>
            </a:r>
            <a:r>
              <a:rPr sz="3015" spc="-100" dirty="0">
                <a:latin typeface="Georgia"/>
                <a:cs typeface="Georgia"/>
              </a:rPr>
              <a:t> </a:t>
            </a:r>
            <a:r>
              <a:rPr sz="3015" dirty="0">
                <a:latin typeface="Georgia"/>
                <a:cs typeface="Georgia"/>
              </a:rPr>
              <a:t>is  </a:t>
            </a:r>
            <a:r>
              <a:rPr sz="3015" spc="-6" dirty="0">
                <a:latin typeface="Georgia"/>
                <a:cs typeface="Georgia"/>
              </a:rPr>
              <a:t>doing</a:t>
            </a:r>
            <a:endParaRPr sz="3015">
              <a:latin typeface="Georgia"/>
              <a:cs typeface="Georgia"/>
            </a:endParaRPr>
          </a:p>
          <a:p>
            <a:pPr marL="932496" lvl="1" indent="-342208">
              <a:spcBef>
                <a:spcPts val="697"/>
              </a:spcBef>
              <a:buClr>
                <a:srgbClr val="4E81BD"/>
              </a:buClr>
              <a:buSzPct val="84782"/>
              <a:buFont typeface="Courier New"/>
              <a:buChar char="•"/>
              <a:tabLst>
                <a:tab pos="933294" algn="l"/>
              </a:tabLst>
            </a:pPr>
            <a:r>
              <a:rPr sz="2889" spc="-6" dirty="0">
                <a:latin typeface="Georgia"/>
                <a:cs typeface="Georgia"/>
              </a:rPr>
              <a:t>Input:</a:t>
            </a:r>
            <a:r>
              <a:rPr sz="2889" spc="-44" dirty="0">
                <a:latin typeface="Georgia"/>
                <a:cs typeface="Georgia"/>
              </a:rPr>
              <a:t> </a:t>
            </a:r>
            <a:r>
              <a:rPr sz="2889" spc="-6" dirty="0">
                <a:latin typeface="Georgia"/>
                <a:cs typeface="Georgia"/>
              </a:rPr>
              <a:t>checkmate?</a:t>
            </a:r>
            <a:endParaRPr sz="2889">
              <a:latin typeface="Georgia"/>
              <a:cs typeface="Georgia"/>
            </a:endParaRPr>
          </a:p>
          <a:p>
            <a:pPr marL="932496" lvl="1" indent="-342208">
              <a:spcBef>
                <a:spcPts val="691"/>
              </a:spcBef>
              <a:buClr>
                <a:srgbClr val="4E81BD"/>
              </a:buClr>
              <a:buSzPct val="84782"/>
              <a:buFont typeface="Courier New"/>
              <a:buChar char="•"/>
              <a:tabLst>
                <a:tab pos="933294" algn="l"/>
              </a:tabLst>
            </a:pPr>
            <a:r>
              <a:rPr sz="2889" spc="-6" dirty="0">
                <a:latin typeface="Georgia"/>
                <a:cs typeface="Georgia"/>
              </a:rPr>
              <a:t>Fixed</a:t>
            </a:r>
            <a:endParaRPr sz="2889">
              <a:latin typeface="Georgia"/>
              <a:cs typeface="Georgia"/>
            </a:endParaRPr>
          </a:p>
          <a:p>
            <a:pPr lvl="1">
              <a:spcBef>
                <a:spcPts val="13"/>
              </a:spcBef>
              <a:buClr>
                <a:srgbClr val="4E81BD"/>
              </a:buClr>
              <a:buFont typeface="Courier New"/>
              <a:buChar char="•"/>
            </a:pPr>
            <a:endParaRPr sz="4208">
              <a:latin typeface="Times New Roman"/>
              <a:cs typeface="Times New Roman"/>
            </a:endParaRPr>
          </a:p>
          <a:p>
            <a:pPr marL="358161" indent="-342208">
              <a:buClr>
                <a:srgbClr val="4E81BD"/>
              </a:buClr>
              <a:buSzPct val="84782"/>
              <a:buFont typeface="Courier New"/>
              <a:buChar char="•"/>
              <a:tabLst>
                <a:tab pos="358959" algn="l"/>
              </a:tabLst>
            </a:pPr>
            <a:r>
              <a:rPr sz="2889" dirty="0">
                <a:latin typeface="Georgia"/>
                <a:cs typeface="Georgia"/>
              </a:rPr>
              <a:t>Problem</a:t>
            </a:r>
            <a:r>
              <a:rPr sz="2889" spc="-163" dirty="0">
                <a:latin typeface="Georgia"/>
                <a:cs typeface="Georgia"/>
              </a:rPr>
              <a:t> </a:t>
            </a:r>
            <a:r>
              <a:rPr sz="2889" dirty="0">
                <a:latin typeface="Georgia"/>
                <a:cs typeface="Georgia"/>
              </a:rPr>
              <a:t>generator</a:t>
            </a:r>
            <a:endParaRPr sz="2889">
              <a:latin typeface="Georgia"/>
              <a:cs typeface="Georgia"/>
            </a:endParaRPr>
          </a:p>
          <a:p>
            <a:pPr marL="932496" marR="6381" lvl="1" indent="-342208">
              <a:spcBef>
                <a:spcPts val="691"/>
              </a:spcBef>
              <a:buClr>
                <a:srgbClr val="4E81BD"/>
              </a:buClr>
              <a:buSzPct val="84782"/>
              <a:buFont typeface="Courier New"/>
              <a:buChar char="•"/>
              <a:tabLst>
                <a:tab pos="933294" algn="l"/>
              </a:tabLst>
            </a:pPr>
            <a:r>
              <a:rPr sz="2889" dirty="0">
                <a:latin typeface="Georgia"/>
                <a:cs typeface="Georgia"/>
              </a:rPr>
              <a:t>Tries to solve the</a:t>
            </a:r>
            <a:r>
              <a:rPr sz="2889" spc="-138" dirty="0">
                <a:latin typeface="Georgia"/>
                <a:cs typeface="Georgia"/>
              </a:rPr>
              <a:t> </a:t>
            </a:r>
            <a:r>
              <a:rPr sz="2889" dirty="0">
                <a:latin typeface="Georgia"/>
                <a:cs typeface="Georgia"/>
              </a:rPr>
              <a:t>problem  </a:t>
            </a:r>
            <a:r>
              <a:rPr sz="2889" spc="-6" dirty="0">
                <a:latin typeface="Georgia"/>
                <a:cs typeface="Georgia"/>
              </a:rPr>
              <a:t>differently instead </a:t>
            </a:r>
            <a:r>
              <a:rPr sz="2889" dirty="0">
                <a:latin typeface="Georgia"/>
                <a:cs typeface="Georgia"/>
              </a:rPr>
              <a:t>of  </a:t>
            </a:r>
            <a:r>
              <a:rPr sz="2889" spc="-6" dirty="0">
                <a:latin typeface="Georgia"/>
                <a:cs typeface="Georgia"/>
              </a:rPr>
              <a:t>optimizing.</a:t>
            </a:r>
            <a:endParaRPr sz="2889">
              <a:latin typeface="Georgia"/>
              <a:cs typeface="Georgia"/>
            </a:endParaRPr>
          </a:p>
          <a:p>
            <a:pPr marL="932496" marR="119653" lvl="1" indent="-342208">
              <a:spcBef>
                <a:spcPts val="691"/>
              </a:spcBef>
              <a:buClr>
                <a:srgbClr val="4E81BD"/>
              </a:buClr>
              <a:buSzPct val="84782"/>
              <a:buFont typeface="Courier New"/>
              <a:buChar char="•"/>
              <a:tabLst>
                <a:tab pos="933294" algn="l"/>
              </a:tabLst>
            </a:pPr>
            <a:r>
              <a:rPr sz="2889" dirty="0">
                <a:latin typeface="Georgia"/>
                <a:cs typeface="Georgia"/>
              </a:rPr>
              <a:t>Suggests </a:t>
            </a:r>
            <a:r>
              <a:rPr sz="2889" spc="88" dirty="0">
                <a:latin typeface="Verdana"/>
                <a:cs typeface="Verdana"/>
              </a:rPr>
              <a:t>exploring</a:t>
            </a:r>
            <a:r>
              <a:rPr sz="2889" spc="-396" dirty="0">
                <a:latin typeface="Verdana"/>
                <a:cs typeface="Verdana"/>
              </a:rPr>
              <a:t> </a:t>
            </a:r>
            <a:r>
              <a:rPr sz="2889" spc="-6" dirty="0">
                <a:latin typeface="Georgia"/>
                <a:cs typeface="Georgia"/>
              </a:rPr>
              <a:t>new  actions </a:t>
            </a:r>
            <a:r>
              <a:rPr sz="2889" dirty="0">
                <a:latin typeface="Georgia"/>
                <a:cs typeface="Georgia"/>
              </a:rPr>
              <a:t>-&gt; </a:t>
            </a:r>
            <a:r>
              <a:rPr sz="2889" spc="-6" dirty="0">
                <a:latin typeface="Georgia"/>
                <a:cs typeface="Georgia"/>
              </a:rPr>
              <a:t>new</a:t>
            </a:r>
            <a:r>
              <a:rPr sz="2889" spc="-57" dirty="0">
                <a:latin typeface="Georgia"/>
                <a:cs typeface="Georgia"/>
              </a:rPr>
              <a:t> </a:t>
            </a:r>
            <a:r>
              <a:rPr sz="2889" dirty="0">
                <a:latin typeface="Georgia"/>
                <a:cs typeface="Georgia"/>
              </a:rPr>
              <a:t>problems.</a:t>
            </a:r>
            <a:endParaRPr sz="2889">
              <a:latin typeface="Georgia"/>
              <a:cs typeface="Georgia"/>
            </a:endParaRPr>
          </a:p>
        </p:txBody>
      </p:sp>
      <p:sp>
        <p:nvSpPr>
          <p:cNvPr id="5" name="object 5"/>
          <p:cNvSpPr txBox="1">
            <a:spLocks noGrp="1"/>
          </p:cNvSpPr>
          <p:nvPr>
            <p:ph type="sldNum" sz="quarter" idx="7"/>
          </p:nvPr>
        </p:nvSpPr>
        <p:spPr>
          <a:xfrm>
            <a:off x="14503158" y="7551634"/>
            <a:ext cx="320675" cy="230896"/>
          </a:xfrm>
          <a:prstGeom prst="rect">
            <a:avLst/>
          </a:prstGeom>
        </p:spPr>
        <p:txBody>
          <a:bodyPr vert="horz" wrap="square" lIns="0" tIns="12763" rIns="0" bIns="0" rtlCol="0">
            <a:spAutoFit/>
          </a:bodyPr>
          <a:lstStyle/>
          <a:p>
            <a:pPr marL="31907">
              <a:lnSpc>
                <a:spcPts val="1652"/>
              </a:lnSpc>
              <a:spcBef>
                <a:spcPts val="100"/>
              </a:spcBef>
            </a:pPr>
            <a:fld id="{81D60167-4931-47E6-BA6A-407CBD079E47}" type="slidenum">
              <a:rPr dirty="0"/>
              <a:pPr marL="31907">
                <a:lnSpc>
                  <a:spcPts val="1652"/>
                </a:lnSpc>
                <a:spcBef>
                  <a:spcPts val="100"/>
                </a:spcBef>
              </a:pPr>
              <a:t>42</a:t>
            </a:fld>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49674" y="2725275"/>
            <a:ext cx="2332501" cy="850554"/>
          </a:xfrm>
          <a:prstGeom prst="rect">
            <a:avLst/>
          </a:prstGeom>
        </p:spPr>
        <p:txBody>
          <a:bodyPr vert="horz" wrap="square" lIns="0" tIns="0" rIns="0" bIns="0" rtlCol="0">
            <a:spAutoFit/>
          </a:bodyPr>
          <a:lstStyle/>
          <a:p>
            <a:pPr marL="15954"/>
            <a:r>
              <a:rPr dirty="0"/>
              <a:t>The</a:t>
            </a:r>
            <a:r>
              <a:rPr spc="-132" dirty="0"/>
              <a:t> </a:t>
            </a:r>
            <a:r>
              <a:rPr dirty="0"/>
              <a:t>End</a:t>
            </a:r>
          </a:p>
        </p:txBody>
      </p:sp>
      <p:sp>
        <p:nvSpPr>
          <p:cNvPr id="4" name="object 4"/>
          <p:cNvSpPr txBox="1"/>
          <p:nvPr/>
        </p:nvSpPr>
        <p:spPr>
          <a:xfrm>
            <a:off x="11560893" y="7551632"/>
            <a:ext cx="223359" cy="230896"/>
          </a:xfrm>
          <a:prstGeom prst="rect">
            <a:avLst/>
          </a:prstGeom>
        </p:spPr>
        <p:txBody>
          <a:bodyPr vert="horz" wrap="square" lIns="0" tIns="12763" rIns="0" bIns="0" rtlCol="0">
            <a:spAutoFit/>
          </a:bodyPr>
          <a:lstStyle/>
          <a:p>
            <a:pPr marL="15954">
              <a:lnSpc>
                <a:spcPts val="1652"/>
              </a:lnSpc>
              <a:spcBef>
                <a:spcPts val="100"/>
              </a:spcBef>
            </a:pPr>
            <a:r>
              <a:rPr sz="1507" dirty="0">
                <a:solidFill>
                  <a:srgbClr val="898989"/>
                </a:solidFill>
                <a:latin typeface="Gill Sans MT"/>
                <a:cs typeface="Gill Sans MT"/>
              </a:rPr>
              <a:t>41</a:t>
            </a:r>
            <a:endParaRPr sz="1507">
              <a:latin typeface="Gill Sans MT"/>
              <a:cs typeface="Gill Sans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4823951FA9BF42B980A03718EB0B18" ma:contentTypeVersion="3" ma:contentTypeDescription="Create a new document." ma:contentTypeScope="" ma:versionID="83cb9b3dcaf276b9eb74d806d95a1dd8">
  <xsd:schema xmlns:xsd="http://www.w3.org/2001/XMLSchema" xmlns:xs="http://www.w3.org/2001/XMLSchema" xmlns:p="http://schemas.microsoft.com/office/2006/metadata/properties" xmlns:ns2="6bf15077-4e46-4e3a-99a0-3fd5e4d406d3" targetNamespace="http://schemas.microsoft.com/office/2006/metadata/properties" ma:root="true" ma:fieldsID="5722cf350847c68a0f09e51844e13762" ns2:_="">
    <xsd:import namespace="6bf15077-4e46-4e3a-99a0-3fd5e4d406d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15077-4e46-4e3a-99a0-3fd5e4d406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C1E1BEC-22AC-4FDF-9BEF-7C70E0B45FA9}"/>
</file>

<file path=customXml/itemProps2.xml><?xml version="1.0" encoding="utf-8"?>
<ds:datastoreItem xmlns:ds="http://schemas.openxmlformats.org/officeDocument/2006/customXml" ds:itemID="{A2D3FA26-D022-4383-B2D9-D97CA48700D3}"/>
</file>

<file path=customXml/itemProps3.xml><?xml version="1.0" encoding="utf-8"?>
<ds:datastoreItem xmlns:ds="http://schemas.openxmlformats.org/officeDocument/2006/customXml" ds:itemID="{B6EE3B4E-E7EC-43EE-BAF9-DC3DEC9F71FA}"/>
</file>

<file path=docProps/app.xml><?xml version="1.0" encoding="utf-8"?>
<Properties xmlns="http://schemas.openxmlformats.org/officeDocument/2006/extended-properties" xmlns:vt="http://schemas.openxmlformats.org/officeDocument/2006/docPropsVTypes">
  <Template/>
  <TotalTime>6174</TotalTime>
  <Words>2244</Words>
  <Application>Microsoft Office PowerPoint</Application>
  <PresentationFormat>Custom</PresentationFormat>
  <Paragraphs>326</Paragraphs>
  <Slides>43</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Aptos</vt:lpstr>
      <vt:lpstr>Arial</vt:lpstr>
      <vt:lpstr>Calibri</vt:lpstr>
      <vt:lpstr>Cambria</vt:lpstr>
      <vt:lpstr>Courier New</vt:lpstr>
      <vt:lpstr>Georgia</vt:lpstr>
      <vt:lpstr>Gill Sans MT</vt:lpstr>
      <vt:lpstr>Google Sans</vt:lpstr>
      <vt:lpstr>Lucida Sans Unicode</vt:lpstr>
      <vt:lpstr>Times New Roman</vt:lpstr>
      <vt:lpstr>Verdana</vt:lpstr>
      <vt:lpstr>Office Theme</vt:lpstr>
      <vt:lpstr>Today’s Outline</vt:lpstr>
      <vt:lpstr>PowerPoint Presentation</vt:lpstr>
      <vt:lpstr>AI Entities </vt:lpstr>
      <vt:lpstr>Agent Definition (2)</vt:lpstr>
      <vt:lpstr>Agent Definition (3)</vt:lpstr>
      <vt:lpstr>PowerPoint Presentation</vt:lpstr>
      <vt:lpstr>PowerPoint Presentation</vt:lpstr>
      <vt:lpstr>Example: The vacuum world</vt:lpstr>
      <vt:lpstr>Example: </vt:lpstr>
      <vt:lpstr>PowerPoint Presentation</vt:lpstr>
      <vt:lpstr>Perception</vt:lpstr>
      <vt:lpstr>Perception ability</vt:lpstr>
      <vt:lpstr>Perception ability</vt:lpstr>
      <vt:lpstr>Agents and environments</vt:lpstr>
      <vt:lpstr>Example</vt:lpstr>
      <vt:lpstr>Rational agents</vt:lpstr>
      <vt:lpstr>Rational agents</vt:lpstr>
      <vt:lpstr>Rationality vs Omniscience</vt:lpstr>
      <vt:lpstr>Specifying the Task Environments</vt:lpstr>
      <vt:lpstr>PEAS - Example # 02</vt:lpstr>
      <vt:lpstr>Autonomy in Agents</vt:lpstr>
      <vt:lpstr>Autonomy in Agents</vt:lpstr>
      <vt:lpstr>Environment types</vt:lpstr>
      <vt:lpstr>Fully observable vs. partially observable</vt:lpstr>
      <vt:lpstr>Examples</vt:lpstr>
      <vt:lpstr>Deterministic vs. stochastic</vt:lpstr>
      <vt:lpstr>Episodic vs. sequential</vt:lpstr>
      <vt:lpstr>Static vs. dynamic</vt:lpstr>
      <vt:lpstr>Discrete vs. continuous</vt:lpstr>
      <vt:lpstr>Single-agent vs. multiagent</vt:lpstr>
      <vt:lpstr>Summary</vt:lpstr>
      <vt:lpstr>Agent Types</vt:lpstr>
      <vt:lpstr>Simple Reflex Agents</vt:lpstr>
      <vt:lpstr>Simple Reflex Agents</vt:lpstr>
      <vt:lpstr>Model-based reflex agents</vt:lpstr>
      <vt:lpstr>Goal-based agents</vt:lpstr>
      <vt:lpstr>Goal-based agents</vt:lpstr>
      <vt:lpstr>Utility-based agents</vt:lpstr>
      <vt:lpstr>Utility-based agents</vt:lpstr>
      <vt:lpstr>Learning agents(Taxi driver)</vt:lpstr>
      <vt:lpstr>Learning agents</vt:lpstr>
      <vt:lpstr>Learning agents</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Lecture set 02.pptx</dc:title>
  <dc:creator>hafeez</dc:creator>
  <cp:lastModifiedBy>Dr. Khurram Jadoon khan Asstt. Professor FCS</cp:lastModifiedBy>
  <cp:revision>1</cp:revision>
  <dcterms:created xsi:type="dcterms:W3CDTF">2024-02-03T12:55:38Z</dcterms:created>
  <dcterms:modified xsi:type="dcterms:W3CDTF">2025-09-12T05:58:25Z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2016-02-01T00:00:00Z</vt:filetime>
  </property>
  <property fmtid="{D5CDD505-2E9C-101B-9397-08002B2CF9AE}" pid="3" name="Creator">
    <vt:lpwstr>Bullzip PDF Printer (10.10.0.2307)</vt:lpwstr>
  </property>
  <property fmtid="{D5CDD505-2E9C-101B-9397-08002B2CF9AE}" pid="4" name="LastSaved">
    <vt:filetime>2024-02-03T00:00:00Z</vt:filetime>
  </property>
  <property fmtid="{D5CDD505-2E9C-101B-9397-08002B2CF9AE}" pid="5" name="ContentTypeId">
    <vt:lpwstr>0x0101006E4823951FA9BF42B980A03718EB0B18</vt:lpwstr>
  </property>
</Properties>
</file>