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9"/>
  </p:notesMasterIdLst>
  <p:handoutMasterIdLst>
    <p:handoutMasterId r:id="rId20"/>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croservices Architecture: Why It’s Used, Examples, Advantages &amp; Disadvantages" id="{05006544-9117-42C9-968E-85C6E4A2393B}">
          <p14:sldIdLst>
            <p14:sldId id="2561"/>
          </p14:sldIdLst>
        </p14:section>
        <p14:section name="Introduction to Microservices Architecture" id="{BEC429D5-9E5C-45A7-9B62-A1680A6A374D}">
          <p14:sldIdLst>
            <p14:sldId id="2562"/>
            <p14:sldId id="2563"/>
          </p14:sldIdLst>
        </p14:section>
        <p14:section name="Why Microservices Are Used" id="{8F56C423-9568-462E-9BF7-EA21C41F0688}">
          <p14:sldIdLst>
            <p14:sldId id="2564"/>
            <p14:sldId id="2565"/>
          </p14:sldIdLst>
        </p14:section>
        <p14:section name="Practical Examples of Microservices" id="{451CFC0E-EC99-4556-ACF9-B9A69EB5F467}">
          <p14:sldIdLst>
            <p14:sldId id="2566"/>
            <p14:sldId id="2567"/>
          </p14:sldIdLst>
        </p14:section>
        <p14:section name="Advantages and Disadvantages" id="{A72C04E9-B36C-47BA-99F8-2C55CB067DBC}">
          <p14:sldIdLst>
            <p14:sldId id="2568"/>
            <p14:sldId id="2569"/>
            <p14:sldId id="2570"/>
          </p14:sldIdLst>
        </p14:section>
        <p14:section name="When to Use Microservices" id="{5955C635-AE5D-495D-B0C1-3684F4E44240}">
          <p14:sldIdLst>
            <p14:sldId id="2571"/>
            <p14:sldId id="2572"/>
          </p14:sldIdLst>
        </p14:section>
        <p14:section name="Conclusion and Q&amp;A" id="{4501E858-CA22-45D9-8176-8CCD3C3B17BD}">
          <p14:sldIdLst>
            <p14:sldId id="2573"/>
            <p14:sldId id="25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B89083-92FF-474C-9978-EAA73F13C9B3}" v="17" dt="2025-11-18T13:44:18.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napToGrid="0">
      <p:cViewPr>
        <p:scale>
          <a:sx n="100" d="100"/>
          <a:sy n="100" d="100"/>
        </p:scale>
        <p:origin x="58" y="-547"/>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11/18/2025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06710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and Definition</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342313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Microservices architecture is a modern approach to software design that structures an application as a collection of small, independent services. Each service is responsible for a specific business capability and communicates with other services through lightweight protocols, typically HTTP APIs. Unlike monolithic architectures, where all components are tightly coupled and deployed as a single unit, microservices allow for modularity and independence. This means that each service can be developed, deployed, and scaled separately, enabling teams to work in parallel and adopt different technologies for different services. The architecture promotes agility, flexibility, and resilience, making it particularly suitable for large-scale, complex applications that require frequent updates and rapid innovation. By breaking down applications into smaller components, organizations can achieve better fault isolation, faster time-to-market, and improved scalability. However, this approach also introduces challenges such as increased complexity in managing distributed systems and ensuring data consistency across services.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936005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Benefits and Motivations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160462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Organizations adopt microservices architecture for several compelling reasons. Scalability is one of the primary drivers; individual services can be scaled independently based on demand, which optimizes resource usage and reduces costs. Flexibility is another major advantage, as teams can choose the most suitable technology stack for each service without being constrained by a single platform. This autonomy accelerates development and fosters innovation. Faster deployment cycles are also a significant benefit, as updates to one service do not require redeploying the entire application, reducing downtime and improving responsiveness to market changes. Additionally, microservices enhance resilience because failures in one service are less likely to impact the entire system, improving overall reliability. These benefits make microservices particularly attractive for businesses operating in dynamic environments where rapid adaptation and continuous delivery are critical to success.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29621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Industry Use Cases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1722661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leading technology companies have successfully implemented microservices architecture to achieve scalability and flexibility. Netflix is a prime example, using microservices to manage streaming, recommendations, and billing systems independently. This approach allows Netflix to handle massive traffic and deliver personalized experiences efficiently. Amazon also leverages microservices for its e-commerce platform, separating services such as product catalog, payment processing, and shipping logistics. This modularity enables Amazon to innovate rapidly and maintain high availability across its global operations. Uber employs microservices to manage ride matching, payment transactions, and real-time notifications, ensuring seamless user experiences even during peak demand. These examples illustrate how microservices empower organizations to build robust, scalable systems that can evolve quickly to meet changing customer needs.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653241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Advantages of Microservices, Disadvantages of Microservices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780273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Microservices architecture offers numerous advantages that make it appealing for modern software development. Independent deployment is a key benefit, allowing teams to release updates to individual services without affecting the entire application. This reduces downtime and accelerates delivery cycles. Technology diversity is another advantage, as teams can select the best tools and frameworks for each service, fostering innovation and efficiency. Improved fault isolation ensures that issues in one service do not cascade across the system, enhancing reliability and user experience. Additionally, microservices enable better scalability by allowing organizations to allocate resources to specific services based on demand, optimizing performance and cost-effectiveness. These benefits collectively contribute to greater agility, resilience, and competitiveness in fast-paced markets.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023413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their advantages, microservices come with challenges that organizations must address. Increased complexity is a major drawback, as managing multiple services requires sophisticated orchestration, monitoring, and deployment strategies. Network latency can become an issue due to the high volume of inter-service communication, potentially impacting performance if not optimized. Data consistency is another concern, as maintaining transactional integrity across distributed services is inherently difficult. Furthermore, infrastructure costs can rise because microservices often require more servers, containers, and advanced tooling for observability and security. These disadvantages highlight the importance of careful planning and robust DevOps practices when adopting microservices architecture.</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2848856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Ideal Scenarios for Adoption</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815749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Microservices architecture is best suited for large, complex applications that require frequent updates and continuous delivery. It is particularly beneficial for organizations with multiple development teams working on different components of a system, as it enables parallel development and reduces dependencies. Applications that demand high scalability, such as e-commerce platforms, streaming services, and ride-sharing apps, can greatly benefit from microservices. However, for smaller projects or systems with limited complexity, the overhead of managing microservices may outweigh the benefits. Therefore, organizations should carefully assess their requirements, resources, and long-term goals before deciding to implement microservices.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138678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Discussion</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930130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summary, microservices architecture represents a significant shift from traditional monolithic design, offering enhanced scalability, flexibility, and resilience. It is widely adopted by industry leaders such as Netflix, Amazon, and Uber to meet the demands of modern, dynamic markets. While the advantages are compelling, organizations must also consider the challenges, including complexity, latency, and cost. Microservices are most effective for large-scale applications that require rapid innovation and frequent updates. As we conclude, consider whether microservices align with your organization’s goals and technical capabilities. Now, let’s open the floor for questions and discussion on how microservices might fit into your projects.</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1503902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dirty="0"/>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dirty="0"/>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dirty="0"/>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dirty="0"/>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dirty="0"/>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dirty="0"/>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dirty="0"/>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dirty="0"/>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dirty="0"/>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dirty="0"/>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dirty="0"/>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dirty="0"/>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dirty="0"/>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dirty="0"/>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dirty="0"/>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dirty="0"/>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dirty="0"/>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dirty="0"/>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dirty="0"/>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dirty="0"/>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dirty="0"/>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dirty="0"/>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dirty="0"/>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dirty="0"/>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endParaRPr lang="en-US" dirty="0"/>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0F8F-ED39-0C64-1B34-3512D3D1C17E}"/>
              </a:ext>
            </a:extLst>
          </p:cNvPr>
          <p:cNvSpPr>
            <a:spLocks noGrp="1"/>
          </p:cNvSpPr>
          <p:nvPr>
            <p:ph type="ctrTitle"/>
          </p:nvPr>
        </p:nvSpPr>
        <p:spPr>
          <a:xfrm>
            <a:off x="612648" y="697234"/>
            <a:ext cx="5852160" cy="2925456"/>
          </a:xfrm>
        </p:spPr>
        <p:txBody>
          <a:bodyPr anchor="b">
            <a:normAutofit/>
          </a:bodyPr>
          <a:lstStyle/>
          <a:p>
            <a:r>
              <a:rPr lang="en-US" sz="3700"/>
              <a:t>Microservices Architecture: Why It’s Used, Examples, Advantages &amp; Disadvantages</a:t>
            </a:r>
          </a:p>
        </p:txBody>
      </p:sp>
      <p:sp>
        <p:nvSpPr>
          <p:cNvPr id="3" name="Subtitle 2">
            <a:extLst>
              <a:ext uri="{FF2B5EF4-FFF2-40B4-BE49-F238E27FC236}">
                <a16:creationId xmlns:a16="http://schemas.microsoft.com/office/drawing/2014/main" id="{C9A15342-F717-66F4-6210-D913350F501B}"/>
              </a:ext>
            </a:extLst>
          </p:cNvPr>
          <p:cNvSpPr>
            <a:spLocks noGrp="1"/>
          </p:cNvSpPr>
          <p:nvPr>
            <p:ph type="subTitle" idx="1"/>
          </p:nvPr>
        </p:nvSpPr>
        <p:spPr>
          <a:xfrm>
            <a:off x="612648" y="4143898"/>
            <a:ext cx="5852160" cy="1545336"/>
          </a:xfrm>
        </p:spPr>
        <p:txBody>
          <a:bodyPr anchor="t">
            <a:normAutofit/>
          </a:bodyPr>
          <a:lstStyle/>
          <a:p>
            <a:r>
              <a:rPr lang="en-US"/>
              <a:t>Understanding modular design for scalable software solutions</a:t>
            </a:r>
          </a:p>
        </p:txBody>
      </p:sp>
    </p:spTree>
    <p:extLst>
      <p:ext uri="{BB962C8B-B14F-4D97-AF65-F5344CB8AC3E}">
        <p14:creationId xmlns:p14="http://schemas.microsoft.com/office/powerpoint/2010/main" val="203184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0FC88-8673-D980-6112-8DB0A16D8899}"/>
              </a:ext>
            </a:extLst>
          </p:cNvPr>
          <p:cNvSpPr>
            <a:spLocks noGrp="1"/>
          </p:cNvSpPr>
          <p:nvPr>
            <p:ph type="ctrTitle"/>
          </p:nvPr>
        </p:nvSpPr>
        <p:spPr>
          <a:xfrm>
            <a:off x="612648" y="1417671"/>
            <a:ext cx="7909560" cy="4754529"/>
          </a:xfrm>
        </p:spPr>
        <p:txBody>
          <a:bodyPr anchor="b">
            <a:normAutofit/>
          </a:bodyPr>
          <a:lstStyle/>
          <a:p>
            <a:r>
              <a:rPr lang="en-US"/>
              <a:t>Introduction to Microservices Architecture</a:t>
            </a:r>
          </a:p>
        </p:txBody>
      </p:sp>
    </p:spTree>
    <p:extLst>
      <p:ext uri="{BB962C8B-B14F-4D97-AF65-F5344CB8AC3E}">
        <p14:creationId xmlns:p14="http://schemas.microsoft.com/office/powerpoint/2010/main" val="41194711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BB8C-6D6B-EBF4-6826-6B444FCB3027}"/>
              </a:ext>
            </a:extLst>
          </p:cNvPr>
          <p:cNvSpPr>
            <a:spLocks noGrp="1"/>
          </p:cNvSpPr>
          <p:nvPr>
            <p:ph type="title"/>
          </p:nvPr>
        </p:nvSpPr>
        <p:spPr>
          <a:xfrm>
            <a:off x="7924800" y="671136"/>
            <a:ext cx="3657474" cy="909797"/>
          </a:xfrm>
        </p:spPr>
        <p:txBody>
          <a:bodyPr anchor="b">
            <a:normAutofit/>
          </a:bodyPr>
          <a:lstStyle/>
          <a:p>
            <a:r>
              <a:rPr lang="en-US"/>
              <a:t>Overview and Definition</a:t>
            </a:r>
          </a:p>
        </p:txBody>
      </p:sp>
      <p:pic>
        <p:nvPicPr>
          <p:cNvPr id="5" name="Content Placeholder 4" descr="Blockchain on technology background.Digital visualization of the token with lines and digital icons. The glowing lines of the included working servers, united in a single network.">
            <a:extLst>
              <a:ext uri="{FF2B5EF4-FFF2-40B4-BE49-F238E27FC236}">
                <a16:creationId xmlns:a16="http://schemas.microsoft.com/office/drawing/2014/main" id="{A8CE3ED2-E4D8-4D6F-94FF-F6163A6092D1}"/>
              </a:ext>
            </a:extLst>
          </p:cNvPr>
          <p:cNvPicPr>
            <a:picLocks noGrp="1" noChangeAspect="1"/>
          </p:cNvPicPr>
          <p:nvPr>
            <p:ph type="pic" sz="quarter" idx="18"/>
          </p:nvPr>
        </p:nvPicPr>
        <p:blipFill>
          <a:blip r:embed="rId3"/>
          <a:srcRect l="29511" r="13916" b="-1"/>
          <a:stretch>
            <a:fillRect/>
          </a:stretch>
        </p:blipFill>
        <p:spPr>
          <a:xfrm>
            <a:off x="272796" y="269622"/>
            <a:ext cx="6766560" cy="6309360"/>
          </a:xfrm>
          <a:prstGeom prst="rect">
            <a:avLst/>
          </a:prstGeom>
          <a:noFill/>
        </p:spPr>
      </p:pic>
      <p:sp>
        <p:nvSpPr>
          <p:cNvPr id="4" name="Content Placeholder 3">
            <a:extLst>
              <a:ext uri="{FF2B5EF4-FFF2-40B4-BE49-F238E27FC236}">
                <a16:creationId xmlns:a16="http://schemas.microsoft.com/office/drawing/2014/main" id="{EFE2EDD5-ACED-A286-0952-E13B0D91C9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801" y="2133602"/>
            <a:ext cx="3657600" cy="3352800"/>
          </a:xfrm>
        </p:spPr>
        <p:txBody>
          <a:bodyPr>
            <a:normAutofit/>
          </a:bodyPr>
          <a:lstStyle/>
          <a:p>
            <a:pPr marL="0" indent="0">
              <a:lnSpc>
                <a:spcPct val="110000"/>
              </a:lnSpc>
              <a:spcBef>
                <a:spcPts val="2500"/>
              </a:spcBef>
              <a:buFont typeface="Arial" panose="020B0604020202020204" pitchFamily="34" charset="0"/>
              <a:buNone/>
            </a:pPr>
            <a:r>
              <a:rPr lang="en-US" sz="1200" b="1"/>
              <a:t>Microservices Architecture Concept</a:t>
            </a:r>
          </a:p>
          <a:p>
            <a:pPr marL="0" lvl="1" indent="0">
              <a:lnSpc>
                <a:spcPct val="110000"/>
              </a:lnSpc>
              <a:buFont typeface="Arial" panose="020B0604020202020204" pitchFamily="34" charset="0"/>
              <a:buNone/>
            </a:pPr>
            <a:r>
              <a:rPr lang="en-US" sz="1200"/>
              <a:t>Microservices structure applications as small, independent services focused on specific business capabilities.</a:t>
            </a:r>
          </a:p>
          <a:p>
            <a:pPr marL="0" indent="0">
              <a:lnSpc>
                <a:spcPct val="110000"/>
              </a:lnSpc>
              <a:spcBef>
                <a:spcPts val="2500"/>
              </a:spcBef>
              <a:buFont typeface="Arial" panose="020B0604020202020204" pitchFamily="34" charset="0"/>
              <a:buNone/>
            </a:pPr>
            <a:r>
              <a:rPr lang="en-US" sz="1200" b="1"/>
              <a:t>Advantages Over Monolithic</a:t>
            </a:r>
          </a:p>
          <a:p>
            <a:pPr marL="0" lvl="1" indent="0">
              <a:lnSpc>
                <a:spcPct val="110000"/>
              </a:lnSpc>
              <a:buFont typeface="Arial" panose="020B0604020202020204" pitchFamily="34" charset="0"/>
              <a:buNone/>
            </a:pPr>
            <a:r>
              <a:rPr lang="en-US" sz="1200"/>
              <a:t>Microservices enable modularity, parallel development, scalability, and flexibility unlike tightly-coupled monoliths.</a:t>
            </a:r>
          </a:p>
          <a:p>
            <a:pPr marL="0" indent="0">
              <a:lnSpc>
                <a:spcPct val="110000"/>
              </a:lnSpc>
              <a:spcBef>
                <a:spcPts val="2500"/>
              </a:spcBef>
              <a:buFont typeface="Arial" panose="020B0604020202020204" pitchFamily="34" charset="0"/>
              <a:buNone/>
            </a:pPr>
            <a:r>
              <a:rPr lang="en-US" sz="1200" b="1"/>
              <a:t>Challenges of Microservices</a:t>
            </a:r>
          </a:p>
          <a:p>
            <a:pPr marL="0" lvl="1" indent="0">
              <a:lnSpc>
                <a:spcPct val="110000"/>
              </a:lnSpc>
              <a:buFont typeface="Arial" panose="020B0604020202020204" pitchFamily="34" charset="0"/>
              <a:buNone/>
            </a:pPr>
            <a:r>
              <a:rPr lang="en-US" sz="1200"/>
              <a:t>Managing distributed systems and ensuring data consistency are key challenges in microservices architecture.</a:t>
            </a:r>
          </a:p>
        </p:txBody>
      </p:sp>
    </p:spTree>
    <p:extLst>
      <p:ext uri="{BB962C8B-B14F-4D97-AF65-F5344CB8AC3E}">
        <p14:creationId xmlns:p14="http://schemas.microsoft.com/office/powerpoint/2010/main" val="36262770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15F52-C99C-0A14-10F6-C123D1AB4E2B}"/>
              </a:ext>
            </a:extLst>
          </p:cNvPr>
          <p:cNvSpPr>
            <a:spLocks noGrp="1"/>
          </p:cNvSpPr>
          <p:nvPr>
            <p:ph type="ctrTitle"/>
          </p:nvPr>
        </p:nvSpPr>
        <p:spPr>
          <a:xfrm>
            <a:off x="612648" y="1417671"/>
            <a:ext cx="7909560" cy="4754529"/>
          </a:xfrm>
        </p:spPr>
        <p:txBody>
          <a:bodyPr anchor="b">
            <a:normAutofit/>
          </a:bodyPr>
          <a:lstStyle/>
          <a:p>
            <a:r>
              <a:rPr lang="en-US"/>
              <a:t>Why Microservices Are Used</a:t>
            </a:r>
          </a:p>
        </p:txBody>
      </p:sp>
    </p:spTree>
    <p:extLst>
      <p:ext uri="{BB962C8B-B14F-4D97-AF65-F5344CB8AC3E}">
        <p14:creationId xmlns:p14="http://schemas.microsoft.com/office/powerpoint/2010/main" val="34411888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EE42-AAB9-FE7C-FE5B-B74DA1DD580C}"/>
              </a:ext>
            </a:extLst>
          </p:cNvPr>
          <p:cNvSpPr>
            <a:spLocks noGrp="1"/>
          </p:cNvSpPr>
          <p:nvPr>
            <p:ph type="title"/>
          </p:nvPr>
        </p:nvSpPr>
        <p:spPr>
          <a:xfrm>
            <a:off x="612647" y="709099"/>
            <a:ext cx="3956305" cy="891101"/>
          </a:xfrm>
        </p:spPr>
        <p:txBody>
          <a:bodyPr anchor="b">
            <a:normAutofit/>
          </a:bodyPr>
          <a:lstStyle/>
          <a:p>
            <a:r>
              <a:rPr lang="en-US" sz="2700"/>
              <a:t>Key Benefits and Motivations</a:t>
            </a:r>
          </a:p>
        </p:txBody>
      </p:sp>
      <p:pic>
        <p:nvPicPr>
          <p:cNvPr id="5" name="Content Placeholder 4" descr="3d flow chart.">
            <a:extLst>
              <a:ext uri="{FF2B5EF4-FFF2-40B4-BE49-F238E27FC236}">
                <a16:creationId xmlns:a16="http://schemas.microsoft.com/office/drawing/2014/main" id="{8C41A9F8-B0DE-4C4B-98D3-3B6DC52601D3}"/>
              </a:ext>
            </a:extLst>
          </p:cNvPr>
          <p:cNvPicPr>
            <a:picLocks noGrp="1" noChangeAspect="1"/>
          </p:cNvPicPr>
          <p:nvPr>
            <p:ph type="pic" sz="quarter" idx="15"/>
          </p:nvPr>
        </p:nvPicPr>
        <p:blipFill>
          <a:blip r:embed="rId3"/>
          <a:stretch/>
        </p:blipFill>
        <p:spPr>
          <a:xfrm>
            <a:off x="986599" y="3120872"/>
            <a:ext cx="4224528" cy="2112264"/>
          </a:xfrm>
          <a:prstGeom prst="rect">
            <a:avLst/>
          </a:prstGeom>
          <a:noFill/>
        </p:spPr>
      </p:pic>
      <p:sp>
        <p:nvSpPr>
          <p:cNvPr id="4" name="Content Placeholder 3">
            <a:extLst>
              <a:ext uri="{FF2B5EF4-FFF2-40B4-BE49-F238E27FC236}">
                <a16:creationId xmlns:a16="http://schemas.microsoft.com/office/drawing/2014/main" id="{657C8661-2DD4-AAEF-F757-C8FA891AAA6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Scalability</a:t>
            </a:r>
          </a:p>
          <a:p>
            <a:pPr marL="0" lvl="1" indent="0">
              <a:buFont typeface="Arial" panose="020B0604020202020204" pitchFamily="34" charset="0"/>
              <a:buNone/>
            </a:pPr>
            <a:r>
              <a:t>Microservices allow independent scaling of services, optimizing resource use and reducing costs effectively.</a:t>
            </a:r>
            <a:endParaRPr lang="en-US"/>
          </a:p>
          <a:p>
            <a:pPr marL="0" indent="0">
              <a:spcBef>
                <a:spcPts val="2500"/>
              </a:spcBef>
              <a:buFont typeface="Arial" panose="020B0604020202020204" pitchFamily="34" charset="0"/>
              <a:buNone/>
            </a:pPr>
            <a:r>
              <a:rPr lang="en-US" b="1"/>
              <a:t>Flexibility and Innovation</a:t>
            </a:r>
          </a:p>
          <a:p>
            <a:pPr marL="0" lvl="1" indent="0">
              <a:buFont typeface="Arial" panose="020B0604020202020204" pitchFamily="34" charset="0"/>
              <a:buNone/>
            </a:pPr>
            <a:r>
              <a:t>Teams can choose technologies freely per service, accelerating development and fostering innovation.</a:t>
            </a:r>
            <a:endParaRPr lang="en-US"/>
          </a:p>
          <a:p>
            <a:pPr marL="0" indent="0">
              <a:spcBef>
                <a:spcPts val="2500"/>
              </a:spcBef>
              <a:buFont typeface="Arial" panose="020B0604020202020204" pitchFamily="34" charset="0"/>
              <a:buNone/>
            </a:pPr>
            <a:r>
              <a:rPr lang="en-US" b="1"/>
              <a:t>Faster Deployment</a:t>
            </a:r>
          </a:p>
          <a:p>
            <a:pPr marL="0" lvl="1" indent="0">
              <a:buFont typeface="Arial" panose="020B0604020202020204" pitchFamily="34" charset="0"/>
              <a:buNone/>
            </a:pPr>
            <a:r>
              <a:t>Updates to a single service enable faster deployment cycles, reducing downtime and improving responsiveness.</a:t>
            </a:r>
            <a:endParaRPr lang="en-US"/>
          </a:p>
          <a:p>
            <a:pPr marL="0" indent="0">
              <a:spcBef>
                <a:spcPts val="2500"/>
              </a:spcBef>
              <a:buFont typeface="Arial" panose="020B0604020202020204" pitchFamily="34" charset="0"/>
              <a:buNone/>
            </a:pPr>
            <a:r>
              <a:rPr lang="en-US" b="1"/>
              <a:t>Enhanced Resilience</a:t>
            </a:r>
          </a:p>
          <a:p>
            <a:pPr marL="0" lvl="1" indent="0">
              <a:buFont typeface="Arial" panose="020B0604020202020204" pitchFamily="34" charset="0"/>
              <a:buNone/>
            </a:pPr>
            <a:r>
              <a:t>Failures in one service do not affect the whole system, increasing overall system reliability.</a:t>
            </a:r>
            <a:endParaRPr lang="en-US"/>
          </a:p>
        </p:txBody>
      </p:sp>
    </p:spTree>
    <p:extLst>
      <p:ext uri="{BB962C8B-B14F-4D97-AF65-F5344CB8AC3E}">
        <p14:creationId xmlns:p14="http://schemas.microsoft.com/office/powerpoint/2010/main" val="19533109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46991-1884-A1DB-A98F-68AA52CAFBA3}"/>
              </a:ext>
            </a:extLst>
          </p:cNvPr>
          <p:cNvSpPr>
            <a:spLocks noGrp="1"/>
          </p:cNvSpPr>
          <p:nvPr>
            <p:ph type="ctrTitle"/>
          </p:nvPr>
        </p:nvSpPr>
        <p:spPr>
          <a:xfrm>
            <a:off x="612648" y="1417671"/>
            <a:ext cx="7909560" cy="4754529"/>
          </a:xfrm>
        </p:spPr>
        <p:txBody>
          <a:bodyPr anchor="b">
            <a:normAutofit/>
          </a:bodyPr>
          <a:lstStyle/>
          <a:p>
            <a:r>
              <a:rPr lang="en-US"/>
              <a:t>Practical Examples of Microservices</a:t>
            </a:r>
          </a:p>
        </p:txBody>
      </p:sp>
    </p:spTree>
    <p:extLst>
      <p:ext uri="{BB962C8B-B14F-4D97-AF65-F5344CB8AC3E}">
        <p14:creationId xmlns:p14="http://schemas.microsoft.com/office/powerpoint/2010/main" val="21060135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DD36B-81AA-9236-827E-88DFE7EF4337}"/>
              </a:ext>
            </a:extLst>
          </p:cNvPr>
          <p:cNvSpPr>
            <a:spLocks noGrp="1"/>
          </p:cNvSpPr>
          <p:nvPr>
            <p:ph type="title"/>
          </p:nvPr>
        </p:nvSpPr>
        <p:spPr>
          <a:xfrm>
            <a:off x="7924800" y="671136"/>
            <a:ext cx="3657474" cy="909797"/>
          </a:xfrm>
        </p:spPr>
        <p:txBody>
          <a:bodyPr anchor="b">
            <a:normAutofit/>
          </a:bodyPr>
          <a:lstStyle/>
          <a:p>
            <a:r>
              <a:rPr lang="en-US"/>
              <a:t>Industry Use Cases</a:t>
            </a:r>
          </a:p>
        </p:txBody>
      </p:sp>
      <p:pic>
        <p:nvPicPr>
          <p:cNvPr id="5" name="Content Placeholder 4" descr="Desktop computers connected in a network.See all my">
            <a:extLst>
              <a:ext uri="{FF2B5EF4-FFF2-40B4-BE49-F238E27FC236}">
                <a16:creationId xmlns:a16="http://schemas.microsoft.com/office/drawing/2014/main" id="{6977FFE0-4119-4047-A9E4-F34587A4228B}"/>
              </a:ext>
            </a:extLst>
          </p:cNvPr>
          <p:cNvPicPr>
            <a:picLocks noGrp="1" noChangeAspect="1"/>
          </p:cNvPicPr>
          <p:nvPr>
            <p:ph type="pic" sz="quarter" idx="18"/>
          </p:nvPr>
        </p:nvPicPr>
        <p:blipFill>
          <a:blip r:embed="rId3"/>
          <a:srcRect l="10432" r="9132" b="-1"/>
          <a:stretch>
            <a:fillRect/>
          </a:stretch>
        </p:blipFill>
        <p:spPr>
          <a:xfrm>
            <a:off x="272796" y="269622"/>
            <a:ext cx="6766560" cy="6309360"/>
          </a:xfrm>
          <a:prstGeom prst="rect">
            <a:avLst/>
          </a:prstGeom>
          <a:noFill/>
        </p:spPr>
      </p:pic>
      <p:sp>
        <p:nvSpPr>
          <p:cNvPr id="4" name="Content Placeholder 3">
            <a:extLst>
              <a:ext uri="{FF2B5EF4-FFF2-40B4-BE49-F238E27FC236}">
                <a16:creationId xmlns:a16="http://schemas.microsoft.com/office/drawing/2014/main" id="{2CBA7AA6-00BB-2FC6-2491-CD150DBF2B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801" y="2133602"/>
            <a:ext cx="3657600" cy="3352800"/>
          </a:xfrm>
        </p:spPr>
        <p:txBody>
          <a:bodyPr>
            <a:normAutofit/>
          </a:bodyPr>
          <a:lstStyle/>
          <a:p>
            <a:pPr marL="0" indent="0">
              <a:lnSpc>
                <a:spcPct val="110000"/>
              </a:lnSpc>
              <a:spcBef>
                <a:spcPts val="2500"/>
              </a:spcBef>
              <a:buFont typeface="Arial" panose="020B0604020202020204" pitchFamily="34" charset="0"/>
              <a:buNone/>
            </a:pPr>
            <a:r>
              <a:rPr lang="en-US" sz="1200" b="1"/>
              <a:t>Microservices in Streaming</a:t>
            </a:r>
          </a:p>
          <a:p>
            <a:pPr marL="0" lvl="1" indent="0">
              <a:lnSpc>
                <a:spcPct val="110000"/>
              </a:lnSpc>
              <a:buFont typeface="Arial" panose="020B0604020202020204" pitchFamily="34" charset="0"/>
              <a:buNone/>
            </a:pPr>
            <a:r>
              <a:rPr lang="en-US" sz="1200"/>
              <a:t>Microservices enable streaming platforms to independently manage content delivery, recommendations, and billing.</a:t>
            </a:r>
          </a:p>
          <a:p>
            <a:pPr marL="0" indent="0">
              <a:lnSpc>
                <a:spcPct val="110000"/>
              </a:lnSpc>
              <a:spcBef>
                <a:spcPts val="2500"/>
              </a:spcBef>
              <a:buFont typeface="Arial" panose="020B0604020202020204" pitchFamily="34" charset="0"/>
              <a:buNone/>
            </a:pPr>
            <a:r>
              <a:rPr lang="en-US" sz="1200" b="1"/>
              <a:t>E-commerce Platform Modularity</a:t>
            </a:r>
          </a:p>
          <a:p>
            <a:pPr marL="0" lvl="1" indent="0">
              <a:lnSpc>
                <a:spcPct val="110000"/>
              </a:lnSpc>
              <a:buFont typeface="Arial" panose="020B0604020202020204" pitchFamily="34" charset="0"/>
              <a:buNone/>
            </a:pPr>
            <a:r>
              <a:rPr lang="en-US" sz="1200"/>
              <a:t>Microservices help e-commerce sites separate product catalog, payment, and shipping for rapid innovation.</a:t>
            </a:r>
          </a:p>
          <a:p>
            <a:pPr marL="0" indent="0">
              <a:lnSpc>
                <a:spcPct val="110000"/>
              </a:lnSpc>
              <a:spcBef>
                <a:spcPts val="2500"/>
              </a:spcBef>
              <a:buFont typeface="Arial" panose="020B0604020202020204" pitchFamily="34" charset="0"/>
              <a:buNone/>
            </a:pPr>
            <a:r>
              <a:rPr lang="en-US" sz="1200" b="1"/>
              <a:t>Ride-Hailing System Scalability</a:t>
            </a:r>
          </a:p>
          <a:p>
            <a:pPr marL="0" lvl="1" indent="0">
              <a:lnSpc>
                <a:spcPct val="110000"/>
              </a:lnSpc>
              <a:buFont typeface="Arial" panose="020B0604020202020204" pitchFamily="34" charset="0"/>
              <a:buNone/>
            </a:pPr>
            <a:r>
              <a:rPr lang="en-US" sz="1200"/>
              <a:t>Microservices support ride matching, payments, and notifications ensuring smooth user experiences under high demand.</a:t>
            </a:r>
          </a:p>
        </p:txBody>
      </p:sp>
    </p:spTree>
    <p:extLst>
      <p:ext uri="{BB962C8B-B14F-4D97-AF65-F5344CB8AC3E}">
        <p14:creationId xmlns:p14="http://schemas.microsoft.com/office/powerpoint/2010/main" val="294136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234B6-152E-450F-4CD3-1376362A6115}"/>
              </a:ext>
            </a:extLst>
          </p:cNvPr>
          <p:cNvSpPr>
            <a:spLocks noGrp="1"/>
          </p:cNvSpPr>
          <p:nvPr>
            <p:ph type="ctrTitle"/>
          </p:nvPr>
        </p:nvSpPr>
        <p:spPr>
          <a:xfrm>
            <a:off x="612648" y="1417671"/>
            <a:ext cx="7909560" cy="4754529"/>
          </a:xfrm>
        </p:spPr>
        <p:txBody>
          <a:bodyPr anchor="b">
            <a:normAutofit/>
          </a:bodyPr>
          <a:lstStyle/>
          <a:p>
            <a:r>
              <a:rPr lang="en-US" sz="6500"/>
              <a:t>Advantages and Disadvantages</a:t>
            </a:r>
          </a:p>
        </p:txBody>
      </p:sp>
    </p:spTree>
    <p:extLst>
      <p:ext uri="{BB962C8B-B14F-4D97-AF65-F5344CB8AC3E}">
        <p14:creationId xmlns:p14="http://schemas.microsoft.com/office/powerpoint/2010/main" val="41416573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57C2E-58D9-9858-0A8C-3E0E912C2DAC}"/>
              </a:ext>
            </a:extLst>
          </p:cNvPr>
          <p:cNvSpPr>
            <a:spLocks noGrp="1"/>
          </p:cNvSpPr>
          <p:nvPr>
            <p:ph type="title"/>
          </p:nvPr>
        </p:nvSpPr>
        <p:spPr>
          <a:xfrm>
            <a:off x="609600" y="709099"/>
            <a:ext cx="8019289" cy="891101"/>
          </a:xfrm>
        </p:spPr>
        <p:txBody>
          <a:bodyPr anchor="b">
            <a:normAutofit/>
          </a:bodyPr>
          <a:lstStyle/>
          <a:p>
            <a:r>
              <a:rPr lang="en-US"/>
              <a:t>Advantages of Microservices</a:t>
            </a:r>
          </a:p>
        </p:txBody>
      </p:sp>
      <p:sp>
        <p:nvSpPr>
          <p:cNvPr id="4" name="Content Placeholder 3">
            <a:extLst>
              <a:ext uri="{FF2B5EF4-FFF2-40B4-BE49-F238E27FC236}">
                <a16:creationId xmlns:a16="http://schemas.microsoft.com/office/drawing/2014/main" id="{87260DA6-893B-64C1-4825-E7EED2A68B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b="1"/>
              <a:t>Independent Deployment</a:t>
            </a:r>
          </a:p>
          <a:p>
            <a:pPr marL="0" lvl="1" indent="0">
              <a:buFont typeface="Arial" panose="020B0604020202020204" pitchFamily="34" charset="0"/>
              <a:buNone/>
            </a:pPr>
            <a:r>
              <a:t>Microservices allow updates to individual services without impacting the entire system, reducing downtime.</a:t>
            </a:r>
            <a:endParaRPr lang="en-US"/>
          </a:p>
          <a:p>
            <a:pPr marL="0" indent="0">
              <a:spcBef>
                <a:spcPts val="2500"/>
              </a:spcBef>
              <a:buFont typeface="Arial" panose="020B0604020202020204" pitchFamily="34" charset="0"/>
              <a:buNone/>
            </a:pPr>
            <a:r>
              <a:rPr lang="en-US" b="1"/>
              <a:t>Technology Diversity</a:t>
            </a:r>
          </a:p>
          <a:p>
            <a:pPr marL="0" lvl="1" indent="0">
              <a:buFont typeface="Arial" panose="020B0604020202020204" pitchFamily="34" charset="0"/>
              <a:buNone/>
            </a:pPr>
            <a:r>
              <a:t>Teams can choose diverse tools and frameworks for each microservice, promoting innovation and efficiency.</a:t>
            </a:r>
            <a:endParaRPr lang="en-US"/>
          </a:p>
          <a:p>
            <a:pPr marL="0" indent="0">
              <a:spcBef>
                <a:spcPts val="2500"/>
              </a:spcBef>
              <a:buFont typeface="Arial" panose="020B0604020202020204" pitchFamily="34" charset="0"/>
              <a:buNone/>
            </a:pPr>
            <a:r>
              <a:rPr lang="en-US" b="1"/>
              <a:t>Fault Isolation</a:t>
            </a:r>
          </a:p>
          <a:p>
            <a:pPr marL="0" lvl="1" indent="0">
              <a:buFont typeface="Arial" panose="020B0604020202020204" pitchFamily="34" charset="0"/>
              <a:buNone/>
            </a:pPr>
            <a:r>
              <a:t>Issues in one service do not affect others, enhancing system reliability and user experience.</a:t>
            </a:r>
            <a:endParaRPr lang="en-US"/>
          </a:p>
          <a:p>
            <a:pPr marL="0" indent="0">
              <a:spcBef>
                <a:spcPts val="2500"/>
              </a:spcBef>
              <a:buFont typeface="Arial" panose="020B0604020202020204" pitchFamily="34" charset="0"/>
              <a:buNone/>
            </a:pPr>
            <a:r>
              <a:rPr lang="en-US" b="1"/>
              <a:t>Scalability and Resource Allocation</a:t>
            </a:r>
          </a:p>
          <a:p>
            <a:pPr marL="0" lvl="1" indent="0">
              <a:buFont typeface="Arial" panose="020B0604020202020204" pitchFamily="34" charset="0"/>
              <a:buNone/>
            </a:pPr>
            <a:r>
              <a:t>Resources can be allocated to specific services as needed, optimizing performance and costs.</a:t>
            </a:r>
            <a:endParaRPr lang="en-US"/>
          </a:p>
        </p:txBody>
      </p:sp>
      <p:pic>
        <p:nvPicPr>
          <p:cNvPr id="5" name="Content Placeholder 4" descr="Cloud computing concept isolated on white background">
            <a:extLst>
              <a:ext uri="{FF2B5EF4-FFF2-40B4-BE49-F238E27FC236}">
                <a16:creationId xmlns:a16="http://schemas.microsoft.com/office/drawing/2014/main" id="{A1246825-76CD-4CFB-BCB3-FF6FA8AFB06D}"/>
              </a:ext>
            </a:extLst>
          </p:cNvPr>
          <p:cNvPicPr>
            <a:picLocks noGrp="1" noChangeAspect="1"/>
          </p:cNvPicPr>
          <p:nvPr>
            <p:ph type="pic" sz="quarter" idx="18"/>
          </p:nvPr>
        </p:nvPicPr>
        <p:blipFill>
          <a:blip r:embed="rId3"/>
          <a:srcRect l="34751" r="36770"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2813572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9834-15D5-D53D-0B86-A2C53403CCB0}"/>
              </a:ext>
            </a:extLst>
          </p:cNvPr>
          <p:cNvSpPr>
            <a:spLocks noGrp="1"/>
          </p:cNvSpPr>
          <p:nvPr>
            <p:ph type="title"/>
          </p:nvPr>
        </p:nvSpPr>
        <p:spPr>
          <a:xfrm>
            <a:off x="609600" y="709099"/>
            <a:ext cx="8019289" cy="891101"/>
          </a:xfrm>
        </p:spPr>
        <p:txBody>
          <a:bodyPr anchor="b">
            <a:normAutofit/>
          </a:bodyPr>
          <a:lstStyle/>
          <a:p>
            <a:r>
              <a:rPr lang="en-US"/>
              <a:t>Disadvantages of Microservices</a:t>
            </a:r>
          </a:p>
        </p:txBody>
      </p:sp>
      <p:sp>
        <p:nvSpPr>
          <p:cNvPr id="4" name="Content Placeholder 3">
            <a:extLst>
              <a:ext uri="{FF2B5EF4-FFF2-40B4-BE49-F238E27FC236}">
                <a16:creationId xmlns:a16="http://schemas.microsoft.com/office/drawing/2014/main" id="{F725C7E7-326D-BE6B-8D24-BAA064A2BB0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b="1"/>
              <a:t>Increased Complexity</a:t>
            </a:r>
          </a:p>
          <a:p>
            <a:pPr marL="0" lvl="1" indent="0">
              <a:lnSpc>
                <a:spcPct val="110000"/>
              </a:lnSpc>
              <a:buFont typeface="Arial" panose="020B0604020202020204" pitchFamily="34" charset="0"/>
              <a:buNone/>
            </a:pPr>
            <a:r>
              <a:t>Managing numerous microservices demands sophisticated orchestration, monitoring, and deployment systems to handle complexity.</a:t>
            </a:r>
            <a:endParaRPr lang="en-US"/>
          </a:p>
          <a:p>
            <a:pPr marL="0" indent="0">
              <a:lnSpc>
                <a:spcPct val="110000"/>
              </a:lnSpc>
              <a:spcBef>
                <a:spcPts val="2500"/>
              </a:spcBef>
              <a:buFont typeface="Arial" panose="020B0604020202020204" pitchFamily="34" charset="0"/>
              <a:buNone/>
            </a:pPr>
            <a:r>
              <a:rPr lang="en-US" b="1"/>
              <a:t>Network Latency Issues</a:t>
            </a:r>
          </a:p>
          <a:p>
            <a:pPr marL="0" lvl="1" indent="0">
              <a:lnSpc>
                <a:spcPct val="110000"/>
              </a:lnSpc>
              <a:buFont typeface="Arial" panose="020B0604020202020204" pitchFamily="34" charset="0"/>
              <a:buNone/>
            </a:pPr>
            <a:r>
              <a:t>High volumes of communication between services can cause network latency, impacting overall system performance.</a:t>
            </a:r>
            <a:endParaRPr lang="en-US"/>
          </a:p>
          <a:p>
            <a:pPr marL="0" indent="0">
              <a:lnSpc>
                <a:spcPct val="110000"/>
              </a:lnSpc>
              <a:spcBef>
                <a:spcPts val="2500"/>
              </a:spcBef>
              <a:buFont typeface="Arial" panose="020B0604020202020204" pitchFamily="34" charset="0"/>
              <a:buNone/>
            </a:pPr>
            <a:r>
              <a:rPr lang="en-US" b="1"/>
              <a:t>Data Consistency Challenges</a:t>
            </a:r>
          </a:p>
          <a:p>
            <a:pPr marL="0" lvl="1" indent="0">
              <a:lnSpc>
                <a:spcPct val="110000"/>
              </a:lnSpc>
              <a:buFont typeface="Arial" panose="020B0604020202020204" pitchFamily="34" charset="0"/>
              <a:buNone/>
            </a:pPr>
            <a:r>
              <a:t>Maintaining transactional integrity across distributed services is difficult, risking data inconsistency.</a:t>
            </a:r>
            <a:endParaRPr lang="en-US"/>
          </a:p>
          <a:p>
            <a:pPr marL="0" indent="0">
              <a:lnSpc>
                <a:spcPct val="110000"/>
              </a:lnSpc>
              <a:spcBef>
                <a:spcPts val="2500"/>
              </a:spcBef>
              <a:buFont typeface="Arial" panose="020B0604020202020204" pitchFamily="34" charset="0"/>
              <a:buNone/>
            </a:pPr>
            <a:r>
              <a:rPr lang="en-US" b="1"/>
              <a:t>Rising Infrastructure Costs</a:t>
            </a:r>
          </a:p>
          <a:p>
            <a:pPr marL="0" lvl="1" indent="0">
              <a:lnSpc>
                <a:spcPct val="110000"/>
              </a:lnSpc>
              <a:buFont typeface="Arial" panose="020B0604020202020204" pitchFamily="34" charset="0"/>
              <a:buNone/>
            </a:pPr>
            <a:r>
              <a:t>Microservices often require more servers and advanced tools, increasing infrastructure and operational expenses.</a:t>
            </a:r>
            <a:endParaRPr lang="en-US"/>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08EB6DC7-BF36-45E8-96D3-8442616F288F}"/>
              </a:ext>
            </a:extLst>
          </p:cNvPr>
          <p:cNvPicPr>
            <a:picLocks noGrp="1" noChangeAspect="1"/>
          </p:cNvPicPr>
          <p:nvPr>
            <p:ph type="pic" sz="quarter" idx="18"/>
          </p:nvPr>
        </p:nvPicPr>
        <p:blipFill>
          <a:blip r:embed="rId3"/>
          <a:srcRect l="25168" r="46353"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21778625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9DC8-C7B3-5EC7-D823-8CADDF04E545}"/>
              </a:ext>
            </a:extLst>
          </p:cNvPr>
          <p:cNvSpPr>
            <a:spLocks noGrp="1"/>
          </p:cNvSpPr>
          <p:nvPr>
            <p:ph type="ctrTitle"/>
          </p:nvPr>
        </p:nvSpPr>
        <p:spPr>
          <a:xfrm>
            <a:off x="612648" y="1417671"/>
            <a:ext cx="7909560" cy="4754529"/>
          </a:xfrm>
        </p:spPr>
        <p:txBody>
          <a:bodyPr anchor="b">
            <a:normAutofit/>
          </a:bodyPr>
          <a:lstStyle/>
          <a:p>
            <a:r>
              <a:rPr lang="en-US"/>
              <a:t>When to Use Microservices</a:t>
            </a:r>
          </a:p>
        </p:txBody>
      </p:sp>
    </p:spTree>
    <p:extLst>
      <p:ext uri="{BB962C8B-B14F-4D97-AF65-F5344CB8AC3E}">
        <p14:creationId xmlns:p14="http://schemas.microsoft.com/office/powerpoint/2010/main" val="3063271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C36E8-451F-5781-3DF5-CEFC7ED3914E}"/>
              </a:ext>
            </a:extLst>
          </p:cNvPr>
          <p:cNvSpPr>
            <a:spLocks noGrp="1"/>
          </p:cNvSpPr>
          <p:nvPr>
            <p:ph type="title"/>
          </p:nvPr>
        </p:nvSpPr>
        <p:spPr>
          <a:xfrm>
            <a:off x="609600" y="709099"/>
            <a:ext cx="8019289" cy="891101"/>
          </a:xfrm>
        </p:spPr>
        <p:txBody>
          <a:bodyPr anchor="b">
            <a:normAutofit/>
          </a:bodyPr>
          <a:lstStyle/>
          <a:p>
            <a:r>
              <a:rPr lang="en-US"/>
              <a:t>Ideal Scenarios for Adoption</a:t>
            </a:r>
          </a:p>
        </p:txBody>
      </p:sp>
      <p:sp>
        <p:nvSpPr>
          <p:cNvPr id="4" name="Content Placeholder 3">
            <a:extLst>
              <a:ext uri="{FF2B5EF4-FFF2-40B4-BE49-F238E27FC236}">
                <a16:creationId xmlns:a16="http://schemas.microsoft.com/office/drawing/2014/main" id="{95229BE8-D1CE-D4F4-ECBE-F459E1A5A9C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sz="1300" b="1"/>
              <a:t>Suitability for Complex Systems</a:t>
            </a:r>
          </a:p>
          <a:p>
            <a:pPr marL="0" lvl="1" indent="0">
              <a:lnSpc>
                <a:spcPct val="110000"/>
              </a:lnSpc>
              <a:buFont typeface="Arial" panose="020B0604020202020204" pitchFamily="34" charset="0"/>
              <a:buNone/>
            </a:pPr>
            <a:r>
              <a:rPr lang="en-US" sz="1300"/>
              <a:t>Microservices are ideal for large, complex applications requiring frequent updates and continuous delivery.</a:t>
            </a:r>
          </a:p>
          <a:p>
            <a:pPr marL="0" indent="0">
              <a:lnSpc>
                <a:spcPct val="110000"/>
              </a:lnSpc>
              <a:spcBef>
                <a:spcPts val="2500"/>
              </a:spcBef>
              <a:buFont typeface="Arial" panose="020B0604020202020204" pitchFamily="34" charset="0"/>
              <a:buNone/>
            </a:pPr>
            <a:r>
              <a:rPr lang="en-US" sz="1300" b="1"/>
              <a:t>Supports Multiple Teams</a:t>
            </a:r>
          </a:p>
          <a:p>
            <a:pPr marL="0" lvl="1" indent="0">
              <a:lnSpc>
                <a:spcPct val="110000"/>
              </a:lnSpc>
              <a:buFont typeface="Arial" panose="020B0604020202020204" pitchFamily="34" charset="0"/>
              <a:buNone/>
            </a:pPr>
            <a:r>
              <a:rPr lang="en-US" sz="1300"/>
              <a:t>Enables parallel development by multiple teams working on different system components, reducing dependencies.</a:t>
            </a:r>
          </a:p>
          <a:p>
            <a:pPr marL="0" indent="0">
              <a:lnSpc>
                <a:spcPct val="110000"/>
              </a:lnSpc>
              <a:spcBef>
                <a:spcPts val="2500"/>
              </a:spcBef>
              <a:buFont typeface="Arial" panose="020B0604020202020204" pitchFamily="34" charset="0"/>
              <a:buNone/>
            </a:pPr>
            <a:r>
              <a:rPr lang="en-US" sz="1300" b="1"/>
              <a:t>High Scalability Needs</a:t>
            </a:r>
          </a:p>
          <a:p>
            <a:pPr marL="0" lvl="1" indent="0">
              <a:lnSpc>
                <a:spcPct val="110000"/>
              </a:lnSpc>
              <a:buFont typeface="Arial" panose="020B0604020202020204" pitchFamily="34" charset="0"/>
              <a:buNone/>
            </a:pPr>
            <a:r>
              <a:rPr lang="en-US" sz="1300"/>
              <a:t>Benefits applications demanding high scalability, such as e-commerce, streaming, and ride-sharing platforms.</a:t>
            </a:r>
          </a:p>
          <a:p>
            <a:pPr marL="0" indent="0">
              <a:lnSpc>
                <a:spcPct val="110000"/>
              </a:lnSpc>
              <a:spcBef>
                <a:spcPts val="2500"/>
              </a:spcBef>
              <a:buFont typeface="Arial" panose="020B0604020202020204" pitchFamily="34" charset="0"/>
              <a:buNone/>
            </a:pPr>
            <a:r>
              <a:rPr lang="en-US" sz="1300" b="1"/>
              <a:t>Consideration for Smaller Projects</a:t>
            </a:r>
          </a:p>
          <a:p>
            <a:pPr marL="0" lvl="1" indent="0">
              <a:lnSpc>
                <a:spcPct val="110000"/>
              </a:lnSpc>
              <a:buFont typeface="Arial" panose="020B0604020202020204" pitchFamily="34" charset="0"/>
              <a:buNone/>
            </a:pPr>
            <a:r>
              <a:rPr lang="en-US" sz="1300"/>
              <a:t>Smaller or less complex projects may find microservices overhead outweighs benefits, requiring careful assessment.</a:t>
            </a:r>
          </a:p>
        </p:txBody>
      </p:sp>
      <p:pic>
        <p:nvPicPr>
          <p:cNvPr id="5" name="Content Placeholder 4" descr="Files and folders communication concept. Folders network on digital screen.">
            <a:extLst>
              <a:ext uri="{FF2B5EF4-FFF2-40B4-BE49-F238E27FC236}">
                <a16:creationId xmlns:a16="http://schemas.microsoft.com/office/drawing/2014/main" id="{954D0E54-609A-4BC8-BE44-BAD86AD156D1}"/>
              </a:ext>
            </a:extLst>
          </p:cNvPr>
          <p:cNvPicPr>
            <a:picLocks noGrp="1" noChangeAspect="1"/>
          </p:cNvPicPr>
          <p:nvPr>
            <p:ph type="pic" sz="quarter" idx="18"/>
          </p:nvPr>
        </p:nvPicPr>
        <p:blipFill>
          <a:blip r:embed="rId3"/>
          <a:srcRect l="40584" r="38057"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1966953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9C6A-BDB4-AC2B-2EA3-004C22709985}"/>
              </a:ext>
            </a:extLst>
          </p:cNvPr>
          <p:cNvSpPr>
            <a:spLocks noGrp="1"/>
          </p:cNvSpPr>
          <p:nvPr>
            <p:ph type="ctrTitle"/>
          </p:nvPr>
        </p:nvSpPr>
        <p:spPr>
          <a:xfrm>
            <a:off x="612648" y="1417671"/>
            <a:ext cx="7909560" cy="4754529"/>
          </a:xfrm>
        </p:spPr>
        <p:txBody>
          <a:bodyPr anchor="b">
            <a:normAutofit/>
          </a:bodyPr>
          <a:lstStyle/>
          <a:p>
            <a:r>
              <a:rPr lang="en-US"/>
              <a:t>Conclusion and Q&amp;A</a:t>
            </a:r>
          </a:p>
        </p:txBody>
      </p:sp>
    </p:spTree>
    <p:extLst>
      <p:ext uri="{BB962C8B-B14F-4D97-AF65-F5344CB8AC3E}">
        <p14:creationId xmlns:p14="http://schemas.microsoft.com/office/powerpoint/2010/main" val="18559856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D75E1-8AEE-1C8F-A3ED-BF23DB138A1E}"/>
              </a:ext>
            </a:extLst>
          </p:cNvPr>
          <p:cNvSpPr>
            <a:spLocks noGrp="1"/>
          </p:cNvSpPr>
          <p:nvPr>
            <p:ph type="title"/>
          </p:nvPr>
        </p:nvSpPr>
        <p:spPr>
          <a:xfrm>
            <a:off x="609600" y="709099"/>
            <a:ext cx="8019289" cy="891101"/>
          </a:xfrm>
        </p:spPr>
        <p:txBody>
          <a:bodyPr anchor="b">
            <a:normAutofit/>
          </a:bodyPr>
          <a:lstStyle/>
          <a:p>
            <a:r>
              <a:rPr lang="en-US"/>
              <a:t>Summary and Discussion</a:t>
            </a:r>
          </a:p>
        </p:txBody>
      </p:sp>
      <p:sp>
        <p:nvSpPr>
          <p:cNvPr id="4" name="Content Placeholder 3">
            <a:extLst>
              <a:ext uri="{FF2B5EF4-FFF2-40B4-BE49-F238E27FC236}">
                <a16:creationId xmlns:a16="http://schemas.microsoft.com/office/drawing/2014/main" id="{D1B4C869-D7BC-7213-EF3C-D97C8A51566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b="1"/>
              <a:t>Benefits of Microservices</a:t>
            </a:r>
          </a:p>
          <a:p>
            <a:pPr marL="0" lvl="1" indent="0">
              <a:lnSpc>
                <a:spcPct val="110000"/>
              </a:lnSpc>
              <a:buFont typeface="Arial" panose="020B0604020202020204" pitchFamily="34" charset="0"/>
              <a:buNone/>
            </a:pPr>
            <a:r>
              <a:t>Microservices enhance scalability, flexibility, and resilience compared to traditional monolithic designs.</a:t>
            </a:r>
            <a:endParaRPr lang="en-US"/>
          </a:p>
          <a:p>
            <a:pPr marL="0" indent="0">
              <a:lnSpc>
                <a:spcPct val="110000"/>
              </a:lnSpc>
              <a:spcBef>
                <a:spcPts val="2500"/>
              </a:spcBef>
              <a:buFont typeface="Arial" panose="020B0604020202020204" pitchFamily="34" charset="0"/>
              <a:buNone/>
            </a:pPr>
            <a:r>
              <a:rPr lang="en-US" b="1"/>
              <a:t>Challenges of Microservices</a:t>
            </a:r>
          </a:p>
          <a:p>
            <a:pPr marL="0" lvl="1" indent="0">
              <a:lnSpc>
                <a:spcPct val="110000"/>
              </a:lnSpc>
              <a:buFont typeface="Arial" panose="020B0604020202020204" pitchFamily="34" charset="0"/>
              <a:buNone/>
            </a:pPr>
            <a:r>
              <a:t>Organizations face complexity, latency, and cost challenges when adopting microservices architecture.</a:t>
            </a:r>
            <a:endParaRPr lang="en-US"/>
          </a:p>
          <a:p>
            <a:pPr marL="0" indent="0">
              <a:lnSpc>
                <a:spcPct val="110000"/>
              </a:lnSpc>
              <a:spcBef>
                <a:spcPts val="2500"/>
              </a:spcBef>
              <a:buFont typeface="Arial" panose="020B0604020202020204" pitchFamily="34" charset="0"/>
              <a:buNone/>
            </a:pPr>
            <a:r>
              <a:rPr lang="en-US" b="1"/>
              <a:t>Ideal Use Cases</a:t>
            </a:r>
          </a:p>
          <a:p>
            <a:pPr marL="0" lvl="1" indent="0">
              <a:lnSpc>
                <a:spcPct val="110000"/>
              </a:lnSpc>
              <a:buFont typeface="Arial" panose="020B0604020202020204" pitchFamily="34" charset="0"/>
              <a:buNone/>
            </a:pPr>
            <a:r>
              <a:t>Microservices suit large-scale applications requiring rapid innovation and frequent updates.</a:t>
            </a:r>
            <a:endParaRPr lang="en-US"/>
          </a:p>
          <a:p>
            <a:pPr marL="0" indent="0">
              <a:lnSpc>
                <a:spcPct val="110000"/>
              </a:lnSpc>
              <a:spcBef>
                <a:spcPts val="2500"/>
              </a:spcBef>
              <a:buFont typeface="Arial" panose="020B0604020202020204" pitchFamily="34" charset="0"/>
              <a:buNone/>
            </a:pPr>
            <a:r>
              <a:rPr lang="en-US" b="1"/>
              <a:t>Consideration for Adoption</a:t>
            </a:r>
          </a:p>
          <a:p>
            <a:pPr marL="0" lvl="1" indent="0">
              <a:lnSpc>
                <a:spcPct val="110000"/>
              </a:lnSpc>
              <a:buFont typeface="Arial" panose="020B0604020202020204" pitchFamily="34" charset="0"/>
              <a:buNone/>
            </a:pPr>
            <a:r>
              <a:t>Evaluate alignment of microservices with organizational goals and technical capabilities before adoption.</a:t>
            </a:r>
            <a:endParaRPr lang="en-US"/>
          </a:p>
        </p:txBody>
      </p:sp>
      <p:pic>
        <p:nvPicPr>
          <p:cNvPr id="5" name="Content Placeholder 4" descr="Abstract network background image, 3D generated.">
            <a:extLst>
              <a:ext uri="{FF2B5EF4-FFF2-40B4-BE49-F238E27FC236}">
                <a16:creationId xmlns:a16="http://schemas.microsoft.com/office/drawing/2014/main" id="{9A43AC86-2B5C-43A7-AC5F-34F6EA561FF1}"/>
              </a:ext>
            </a:extLst>
          </p:cNvPr>
          <p:cNvPicPr>
            <a:picLocks noGrp="1" noChangeAspect="1"/>
          </p:cNvPicPr>
          <p:nvPr>
            <p:ph type="pic" sz="quarter" idx="18"/>
          </p:nvPr>
        </p:nvPicPr>
        <p:blipFill>
          <a:blip r:embed="rId3"/>
          <a:srcRect l="46275" r="28379" b="2"/>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216952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4823951FA9BF42B980A03718EB0B18" ma:contentTypeVersion="3" ma:contentTypeDescription="Create a new document." ma:contentTypeScope="" ma:versionID="25a50b09105562264fb4b1a4f834e0bb">
  <xsd:schema xmlns:xsd="http://www.w3.org/2001/XMLSchema" xmlns:xs="http://www.w3.org/2001/XMLSchema" xmlns:p="http://schemas.microsoft.com/office/2006/metadata/properties" xmlns:ns2="6bf15077-4e46-4e3a-99a0-3fd5e4d406d3" targetNamespace="http://schemas.microsoft.com/office/2006/metadata/properties" ma:root="true" ma:fieldsID="ff57562ea5f29b8a889136f2d3c08a42" ns2:_="">
    <xsd:import namespace="6bf15077-4e46-4e3a-99a0-3fd5e4d406d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15077-4e46-4e3a-99a0-3fd5e4d40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1D2C50-62E1-49D9-80F7-849542DCF59D}"/>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4B99ED26-B189-4BA1-99D0-1112D8C2F106}">
  <ds:schemaRefs>
    <ds:schemaRef ds:uri="http://purl.org/dc/elements/1.1/"/>
    <ds:schemaRef ds:uri="http://schemas.microsoft.com/office/2006/documentManagement/types"/>
    <ds:schemaRef ds:uri="http://schemas.microsoft.com/office/infopath/2007/PartnerControls"/>
    <ds:schemaRef ds:uri="http://www.w3.org/XML/1998/namespace"/>
    <ds:schemaRef ds:uri="230e9df3-be65-4c73-a93b-d1236ebd677e"/>
    <ds:schemaRef ds:uri="http://schemas.microsoft.com/sharepoint/v3"/>
    <ds:schemaRef ds:uri="http://purl.org/dc/dcmitype/"/>
    <ds:schemaRef ds:uri="71af3243-3dd4-4a8d-8c0d-dd76da1f02a5"/>
    <ds:schemaRef ds:uri="http://purl.org/dc/terms/"/>
    <ds:schemaRef ds:uri="http://schemas.openxmlformats.org/package/2006/metadata/core-properties"/>
    <ds:schemaRef ds:uri="16c05727-aa75-4e4a-9b5f-8a80a1165891"/>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628</TotalTime>
  <Words>5</Words>
  <Application>Microsoft Office PowerPoint</Application>
  <PresentationFormat>Widescreen</PresentationFormat>
  <Paragraphs>3</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Solace</vt:lpstr>
      <vt:lpstr>Microservices Architecture: Why It’s Used, Examples, Advantages &amp; Disadvantages</vt:lpstr>
      <vt:lpstr>Introduction to Microservices Architecture</vt:lpstr>
      <vt:lpstr>Overview and Definition</vt:lpstr>
      <vt:lpstr>Why Microservices Are Used</vt:lpstr>
      <vt:lpstr>Key Benefits and Motivations</vt:lpstr>
      <vt:lpstr>Practical Examples of Microservices</vt:lpstr>
      <vt:lpstr>Industry Use Cases</vt:lpstr>
      <vt:lpstr>Advantages and Disadvantages</vt:lpstr>
      <vt:lpstr>Advantages of Microservices</vt:lpstr>
      <vt:lpstr>Disadvantages of Microservices</vt:lpstr>
      <vt:lpstr>When to Use Microservices</vt:lpstr>
      <vt:lpstr>Ideal Scenarios for Adoption</vt:lpstr>
      <vt:lpstr>Conclusion and Q&amp;A</vt:lpstr>
      <vt:lpstr>Summary and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created xsi:type="dcterms:W3CDTF">2025-05-21T23:03:00Z</dcterms:created>
  <dcterms:modified xsi:type="dcterms:W3CDTF">2025-11-18T18:15:08Z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0x0101006E4823951FA9BF42B980A03718EB0B18</vt:lpwstr>
  </property>
  <property fmtid="{D5CDD505-2E9C-101B-9397-08002B2CF9AE}" pid="3" name="MediaServiceImageTags">
    <vt:lpwstr/>
  </property>
</Properties>
</file>