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4630400" cy="8229600"/>
  <p:notesSz cx="8229600" cy="14630400"/>
  <p:embeddedFontLst>
    <p:embeddedFont>
      <p:font typeface="Bitter Medium"/>
      <p:regular r:id="rId25"/>
    </p:embeddedFont>
    <p:embeddedFont>
      <p:font typeface="Bitter Medium"/>
      <p:regular r:id="rId26"/>
    </p:embeddedFont>
    <p:embeddedFont>
      <p:font typeface="Bitter Medium"/>
      <p:regular r:id="rId27"/>
    </p:embeddedFont>
    <p:embeddedFont>
      <p:font typeface="Bitter Medium"/>
      <p:regular r:id="rId28"/>
    </p:embeddedFont>
    <p:embeddedFont>
      <p:font typeface="Open Sans"/>
      <p:regular r:id="rId29"/>
    </p:embeddedFont>
    <p:embeddedFont>
      <p:font typeface="Open Sans"/>
      <p:regular r:id="rId30"/>
    </p:embeddedFont>
    <p:embeddedFont>
      <p:font typeface="Open Sans"/>
      <p:regular r:id="rId31"/>
    </p:embeddedFont>
    <p:embeddedFont>
      <p:font typeface="Open Sans"/>
      <p:regular r:id="rId3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34"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32"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customXml" Target="../customXml/item3.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sv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sv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sv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svg"/><Relationship Id="rId16" Type="http://schemas.openxmlformats.org/officeDocument/2006/relationships/slideLayout" Target="../slideLayouts/slideLayout13.xml"/><Relationship Id="rId1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3.png"/><Relationship Id="rId4" Type="http://schemas.openxmlformats.org/officeDocument/2006/relationships/image" Target="../media/image-17-4.svg"/><Relationship Id="rId5" Type="http://schemas.openxmlformats.org/officeDocument/2006/relationships/image" Target="../media/image-17-5.png"/><Relationship Id="rId6" Type="http://schemas.openxmlformats.org/officeDocument/2006/relationships/image" Target="../media/image-17-6.svg"/><Relationship Id="rId7" Type="http://schemas.openxmlformats.org/officeDocument/2006/relationships/slideLayout" Target="../slideLayouts/slideLayout18.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869525"/>
            <a:ext cx="7556421" cy="1240155"/>
          </a:xfrm>
          <a:prstGeom prst="rect">
            <a:avLst/>
          </a:prstGeom>
          <a:noFill/>
          <a:ln/>
        </p:spPr>
        <p:txBody>
          <a:bodyPr wrap="square" lIns="0" tIns="0" rIns="0" bIns="0" rtlCol="0" anchor="t"/>
          <a:lstStyle/>
          <a:p>
            <a:pPr algn="l" indent="0" marL="0">
              <a:lnSpc>
                <a:spcPts val="4850"/>
              </a:lnSpc>
              <a:buNone/>
            </a:pPr>
            <a:r>
              <a:rPr lang="en-US" sz="3900" dirty="0">
                <a:solidFill>
                  <a:srgbClr val="2C3F42"/>
                </a:solidFill>
                <a:latin typeface="Bitter Medium" pitchFamily="34" charset="0"/>
                <a:ea typeface="Bitter Medium" pitchFamily="34" charset="-122"/>
                <a:cs typeface="Bitter Medium" pitchFamily="34" charset="-120"/>
              </a:rPr>
              <a:t>Introduction to Software Architecture</a:t>
            </a:r>
            <a:endParaRPr lang="en-US" sz="3900" dirty="0"/>
          </a:p>
        </p:txBody>
      </p:sp>
      <p:sp>
        <p:nvSpPr>
          <p:cNvPr id="4" name="Text 1"/>
          <p:cNvSpPr/>
          <p:nvPr/>
        </p:nvSpPr>
        <p:spPr>
          <a:xfrm>
            <a:off x="793790" y="4407337"/>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Building complex software systems without a clear blueprint is like constructing a skyscraper without architectural plans. Software architecture provides the essential framework that transforms ideas into robust, scalable systems.</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37924"/>
          </a:xfrm>
          <a:prstGeom prst="rect">
            <a:avLst/>
          </a:prstGeom>
        </p:spPr>
      </p:pic>
      <p:sp>
        <p:nvSpPr>
          <p:cNvPr id="3" name="Text 0"/>
          <p:cNvSpPr/>
          <p:nvPr/>
        </p:nvSpPr>
        <p:spPr>
          <a:xfrm>
            <a:off x="780098" y="2974181"/>
            <a:ext cx="5658088" cy="487561"/>
          </a:xfrm>
          <a:prstGeom prst="rect">
            <a:avLst/>
          </a:prstGeom>
          <a:noFill/>
          <a:ln/>
        </p:spPr>
        <p:txBody>
          <a:bodyPr wrap="none" lIns="0" tIns="0" rIns="0" bIns="0" rtlCol="0" anchor="t"/>
          <a:lstStyle/>
          <a:p>
            <a:pPr algn="l" indent="0" marL="0">
              <a:lnSpc>
                <a:spcPts val="3800"/>
              </a:lnSpc>
              <a:buNone/>
            </a:pPr>
            <a:r>
              <a:rPr lang="en-US" sz="3050" dirty="0">
                <a:solidFill>
                  <a:srgbClr val="2C3F42"/>
                </a:solidFill>
                <a:latin typeface="Bitter Medium" pitchFamily="34" charset="0"/>
                <a:ea typeface="Bitter Medium" pitchFamily="34" charset="-122"/>
                <a:cs typeface="Bitter Medium" pitchFamily="34" charset="-120"/>
              </a:rPr>
              <a:t>What is Software Architecture?</a:t>
            </a:r>
            <a:endParaRPr lang="en-US" sz="3050" dirty="0"/>
          </a:p>
        </p:txBody>
      </p:sp>
      <p:sp>
        <p:nvSpPr>
          <p:cNvPr id="4" name="Text 1"/>
          <p:cNvSpPr/>
          <p:nvPr/>
        </p:nvSpPr>
        <p:spPr>
          <a:xfrm>
            <a:off x="780098" y="3754279"/>
            <a:ext cx="13070205" cy="623887"/>
          </a:xfrm>
          <a:prstGeom prst="rect">
            <a:avLst/>
          </a:prstGeom>
          <a:noFill/>
          <a:ln/>
        </p:spPr>
        <p:txBody>
          <a:bodyPr wrap="square" lIns="0" tIns="0" rIns="0" bIns="0" rtlCol="0" anchor="t"/>
          <a:lstStyle/>
          <a:p>
            <a:pPr algn="l" indent="0" marL="0">
              <a:lnSpc>
                <a:spcPts val="2450"/>
              </a:lnSpc>
              <a:buNone/>
            </a:pPr>
            <a:r>
              <a:rPr lang="en-US" sz="1500" dirty="0">
                <a:solidFill>
                  <a:srgbClr val="2B2E3C"/>
                </a:solidFill>
                <a:latin typeface="Open Sans" pitchFamily="34" charset="0"/>
                <a:ea typeface="Open Sans" pitchFamily="34" charset="-122"/>
                <a:cs typeface="Open Sans" pitchFamily="34" charset="-120"/>
              </a:rPr>
              <a:t>Software architecture is the </a:t>
            </a:r>
            <a:pPr algn="l" indent="0" marL="0">
              <a:lnSpc>
                <a:spcPts val="2450"/>
              </a:lnSpc>
              <a:buNone/>
            </a:pPr>
            <a:r>
              <a:rPr lang="en-US" sz="1500" b="1" dirty="0">
                <a:solidFill>
                  <a:srgbClr val="2B2E3C"/>
                </a:solidFill>
                <a:latin typeface="Open Sans" pitchFamily="34" charset="0"/>
                <a:ea typeface="Open Sans" pitchFamily="34" charset="-122"/>
                <a:cs typeface="Open Sans" pitchFamily="34" charset="-120"/>
              </a:rPr>
              <a:t>high-level structure</a:t>
            </a:r>
            <a:pPr algn="l" indent="0" marL="0">
              <a:lnSpc>
                <a:spcPts val="2450"/>
              </a:lnSpc>
              <a:buNone/>
            </a:pPr>
            <a:r>
              <a:rPr lang="en-US" sz="1500" dirty="0">
                <a:solidFill>
                  <a:srgbClr val="2B2E3C"/>
                </a:solidFill>
                <a:latin typeface="Open Sans" pitchFamily="34" charset="0"/>
                <a:ea typeface="Open Sans" pitchFamily="34" charset="-122"/>
                <a:cs typeface="Open Sans" pitchFamily="34" charset="-120"/>
              </a:rPr>
              <a:t> of a software system—the fundamental organization that shapes everything that follows. It's the master plan that defines how your system will grow, adapt, and succeed over time.</a:t>
            </a:r>
            <a:endParaRPr lang="en-US" sz="1500" dirty="0"/>
          </a:p>
        </p:txBody>
      </p:sp>
      <p:sp>
        <p:nvSpPr>
          <p:cNvPr id="5" name="Shape 2"/>
          <p:cNvSpPr/>
          <p:nvPr/>
        </p:nvSpPr>
        <p:spPr>
          <a:xfrm>
            <a:off x="780098" y="4597479"/>
            <a:ext cx="6437590" cy="1450896"/>
          </a:xfrm>
          <a:prstGeom prst="roundRect">
            <a:avLst>
              <a:gd name="adj" fmla="val 5646"/>
            </a:avLst>
          </a:prstGeom>
          <a:solidFill>
            <a:srgbClr val="FCE2CF"/>
          </a:solidFill>
          <a:ln w="7620">
            <a:solidFill>
              <a:srgbClr val="E2C8B5"/>
            </a:solidFill>
            <a:prstDash val="solid"/>
          </a:ln>
        </p:spPr>
      </p:sp>
      <p:sp>
        <p:nvSpPr>
          <p:cNvPr id="6" name="Text 3"/>
          <p:cNvSpPr/>
          <p:nvPr/>
        </p:nvSpPr>
        <p:spPr>
          <a:xfrm>
            <a:off x="982742" y="4800124"/>
            <a:ext cx="2437924" cy="304800"/>
          </a:xfrm>
          <a:prstGeom prst="rect">
            <a:avLst/>
          </a:prstGeom>
          <a:noFill/>
          <a:ln/>
        </p:spPr>
        <p:txBody>
          <a:bodyPr wrap="none" lIns="0" tIns="0" rIns="0" bIns="0" rtlCol="0" anchor="t"/>
          <a:lstStyle/>
          <a:p>
            <a:pPr algn="l" indent="0" marL="0">
              <a:lnSpc>
                <a:spcPts val="2350"/>
              </a:lnSpc>
              <a:buNone/>
            </a:pPr>
            <a:r>
              <a:rPr lang="en-US" sz="1900" dirty="0">
                <a:solidFill>
                  <a:srgbClr val="2B2E3C"/>
                </a:solidFill>
                <a:latin typeface="Bitter Medium" pitchFamily="34" charset="0"/>
                <a:ea typeface="Bitter Medium" pitchFamily="34" charset="-122"/>
                <a:cs typeface="Bitter Medium" pitchFamily="34" charset="-120"/>
              </a:rPr>
              <a:t>Major Components</a:t>
            </a:r>
            <a:endParaRPr lang="en-US" sz="1900" dirty="0"/>
          </a:p>
        </p:txBody>
      </p:sp>
      <p:sp>
        <p:nvSpPr>
          <p:cNvPr id="7" name="Text 4"/>
          <p:cNvSpPr/>
          <p:nvPr/>
        </p:nvSpPr>
        <p:spPr>
          <a:xfrm>
            <a:off x="982742" y="5221843"/>
            <a:ext cx="6032302" cy="623887"/>
          </a:xfrm>
          <a:prstGeom prst="rect">
            <a:avLst/>
          </a:prstGeom>
          <a:noFill/>
          <a:ln/>
        </p:spPr>
        <p:txBody>
          <a:bodyPr wrap="square" lIns="0" tIns="0" rIns="0" bIns="0" rtlCol="0" anchor="t"/>
          <a:lstStyle/>
          <a:p>
            <a:pPr algn="l" indent="0" marL="0">
              <a:lnSpc>
                <a:spcPts val="2450"/>
              </a:lnSpc>
              <a:buNone/>
            </a:pPr>
            <a:r>
              <a:rPr lang="en-US" sz="1500" dirty="0">
                <a:solidFill>
                  <a:srgbClr val="2B2E3C"/>
                </a:solidFill>
                <a:latin typeface="Open Sans" pitchFamily="34" charset="0"/>
                <a:ea typeface="Open Sans" pitchFamily="34" charset="-122"/>
                <a:cs typeface="Open Sans" pitchFamily="34" charset="-120"/>
              </a:rPr>
              <a:t>The building blocks of your system—services, modules, databases, and APIs that form the foundation</a:t>
            </a:r>
            <a:endParaRPr lang="en-US" sz="1500" dirty="0"/>
          </a:p>
        </p:txBody>
      </p:sp>
      <p:sp>
        <p:nvSpPr>
          <p:cNvPr id="8" name="Shape 5"/>
          <p:cNvSpPr/>
          <p:nvPr/>
        </p:nvSpPr>
        <p:spPr>
          <a:xfrm>
            <a:off x="7412712" y="4597479"/>
            <a:ext cx="6437590" cy="1450896"/>
          </a:xfrm>
          <a:prstGeom prst="roundRect">
            <a:avLst>
              <a:gd name="adj" fmla="val 5646"/>
            </a:avLst>
          </a:prstGeom>
          <a:solidFill>
            <a:srgbClr val="FCE2CF"/>
          </a:solidFill>
          <a:ln w="7620">
            <a:solidFill>
              <a:srgbClr val="E2C8B5"/>
            </a:solidFill>
            <a:prstDash val="solid"/>
          </a:ln>
        </p:spPr>
      </p:sp>
      <p:sp>
        <p:nvSpPr>
          <p:cNvPr id="9" name="Text 6"/>
          <p:cNvSpPr/>
          <p:nvPr/>
        </p:nvSpPr>
        <p:spPr>
          <a:xfrm>
            <a:off x="7615357" y="4800124"/>
            <a:ext cx="2437924" cy="304800"/>
          </a:xfrm>
          <a:prstGeom prst="rect">
            <a:avLst/>
          </a:prstGeom>
          <a:noFill/>
          <a:ln/>
        </p:spPr>
        <p:txBody>
          <a:bodyPr wrap="none" lIns="0" tIns="0" rIns="0" bIns="0" rtlCol="0" anchor="t"/>
          <a:lstStyle/>
          <a:p>
            <a:pPr algn="l" indent="0" marL="0">
              <a:lnSpc>
                <a:spcPts val="2350"/>
              </a:lnSpc>
              <a:buNone/>
            </a:pPr>
            <a:r>
              <a:rPr lang="en-US" sz="1900" dirty="0">
                <a:solidFill>
                  <a:srgbClr val="2B2E3C"/>
                </a:solidFill>
                <a:latin typeface="Bitter Medium" pitchFamily="34" charset="0"/>
                <a:ea typeface="Bitter Medium" pitchFamily="34" charset="-122"/>
                <a:cs typeface="Bitter Medium" pitchFamily="34" charset="-120"/>
              </a:rPr>
              <a:t>Interactions</a:t>
            </a:r>
            <a:endParaRPr lang="en-US" sz="1900" dirty="0"/>
          </a:p>
        </p:txBody>
      </p:sp>
      <p:sp>
        <p:nvSpPr>
          <p:cNvPr id="10" name="Text 7"/>
          <p:cNvSpPr/>
          <p:nvPr/>
        </p:nvSpPr>
        <p:spPr>
          <a:xfrm>
            <a:off x="7615357" y="5221843"/>
            <a:ext cx="6032302" cy="623887"/>
          </a:xfrm>
          <a:prstGeom prst="rect">
            <a:avLst/>
          </a:prstGeom>
          <a:noFill/>
          <a:ln/>
        </p:spPr>
        <p:txBody>
          <a:bodyPr wrap="square" lIns="0" tIns="0" rIns="0" bIns="0" rtlCol="0" anchor="t"/>
          <a:lstStyle/>
          <a:p>
            <a:pPr algn="l" indent="0" marL="0">
              <a:lnSpc>
                <a:spcPts val="2450"/>
              </a:lnSpc>
              <a:buNone/>
            </a:pPr>
            <a:r>
              <a:rPr lang="en-US" sz="1500" dirty="0">
                <a:solidFill>
                  <a:srgbClr val="2B2E3C"/>
                </a:solidFill>
                <a:latin typeface="Open Sans" pitchFamily="34" charset="0"/>
                <a:ea typeface="Open Sans" pitchFamily="34" charset="-122"/>
                <a:cs typeface="Open Sans" pitchFamily="34" charset="-120"/>
              </a:rPr>
              <a:t>How components communicate, share data, and coordinate to deliver functionality</a:t>
            </a:r>
            <a:endParaRPr lang="en-US" sz="1500" dirty="0"/>
          </a:p>
        </p:txBody>
      </p:sp>
      <p:sp>
        <p:nvSpPr>
          <p:cNvPr id="11" name="Shape 8"/>
          <p:cNvSpPr/>
          <p:nvPr/>
        </p:nvSpPr>
        <p:spPr>
          <a:xfrm>
            <a:off x="780098" y="6243399"/>
            <a:ext cx="6437590" cy="1450896"/>
          </a:xfrm>
          <a:prstGeom prst="roundRect">
            <a:avLst>
              <a:gd name="adj" fmla="val 5646"/>
            </a:avLst>
          </a:prstGeom>
          <a:solidFill>
            <a:srgbClr val="FCE2CF"/>
          </a:solidFill>
          <a:ln w="7620">
            <a:solidFill>
              <a:srgbClr val="E2C8B5"/>
            </a:solidFill>
            <a:prstDash val="solid"/>
          </a:ln>
        </p:spPr>
      </p:sp>
      <p:sp>
        <p:nvSpPr>
          <p:cNvPr id="12" name="Text 9"/>
          <p:cNvSpPr/>
          <p:nvPr/>
        </p:nvSpPr>
        <p:spPr>
          <a:xfrm>
            <a:off x="982742" y="6446044"/>
            <a:ext cx="2437924" cy="304800"/>
          </a:xfrm>
          <a:prstGeom prst="rect">
            <a:avLst/>
          </a:prstGeom>
          <a:noFill/>
          <a:ln/>
        </p:spPr>
        <p:txBody>
          <a:bodyPr wrap="none" lIns="0" tIns="0" rIns="0" bIns="0" rtlCol="0" anchor="t"/>
          <a:lstStyle/>
          <a:p>
            <a:pPr algn="l" indent="0" marL="0">
              <a:lnSpc>
                <a:spcPts val="2350"/>
              </a:lnSpc>
              <a:buNone/>
            </a:pPr>
            <a:r>
              <a:rPr lang="en-US" sz="1900" dirty="0">
                <a:solidFill>
                  <a:srgbClr val="2B2E3C"/>
                </a:solidFill>
                <a:latin typeface="Bitter Medium" pitchFamily="34" charset="0"/>
                <a:ea typeface="Bitter Medium" pitchFamily="34" charset="-122"/>
                <a:cs typeface="Bitter Medium" pitchFamily="34" charset="-120"/>
              </a:rPr>
              <a:t>Technology Choices</a:t>
            </a:r>
            <a:endParaRPr lang="en-US" sz="1900" dirty="0"/>
          </a:p>
        </p:txBody>
      </p:sp>
      <p:sp>
        <p:nvSpPr>
          <p:cNvPr id="13" name="Text 10"/>
          <p:cNvSpPr/>
          <p:nvPr/>
        </p:nvSpPr>
        <p:spPr>
          <a:xfrm>
            <a:off x="982742" y="6867763"/>
            <a:ext cx="6032302" cy="623887"/>
          </a:xfrm>
          <a:prstGeom prst="rect">
            <a:avLst/>
          </a:prstGeom>
          <a:noFill/>
          <a:ln/>
        </p:spPr>
        <p:txBody>
          <a:bodyPr wrap="square" lIns="0" tIns="0" rIns="0" bIns="0" rtlCol="0" anchor="t"/>
          <a:lstStyle/>
          <a:p>
            <a:pPr algn="l" indent="0" marL="0">
              <a:lnSpc>
                <a:spcPts val="2450"/>
              </a:lnSpc>
              <a:buNone/>
            </a:pPr>
            <a:r>
              <a:rPr lang="en-US" sz="1500" dirty="0">
                <a:solidFill>
                  <a:srgbClr val="2B2E3C"/>
                </a:solidFill>
                <a:latin typeface="Open Sans" pitchFamily="34" charset="0"/>
                <a:ea typeface="Open Sans" pitchFamily="34" charset="-122"/>
                <a:cs typeface="Open Sans" pitchFamily="34" charset="-120"/>
              </a:rPr>
              <a:t>Decisions about frameworks, languages, platforms, and constraints that shape implementation</a:t>
            </a:r>
            <a:endParaRPr lang="en-US" sz="1500" dirty="0"/>
          </a:p>
        </p:txBody>
      </p:sp>
      <p:sp>
        <p:nvSpPr>
          <p:cNvPr id="14" name="Shape 11"/>
          <p:cNvSpPr/>
          <p:nvPr/>
        </p:nvSpPr>
        <p:spPr>
          <a:xfrm>
            <a:off x="7412712" y="6243399"/>
            <a:ext cx="6437590" cy="1450896"/>
          </a:xfrm>
          <a:prstGeom prst="roundRect">
            <a:avLst>
              <a:gd name="adj" fmla="val 5646"/>
            </a:avLst>
          </a:prstGeom>
          <a:solidFill>
            <a:srgbClr val="FCE2CF"/>
          </a:solidFill>
          <a:ln w="7620">
            <a:solidFill>
              <a:srgbClr val="E2C8B5"/>
            </a:solidFill>
            <a:prstDash val="solid"/>
          </a:ln>
        </p:spPr>
      </p:sp>
      <p:sp>
        <p:nvSpPr>
          <p:cNvPr id="15" name="Text 12"/>
          <p:cNvSpPr/>
          <p:nvPr/>
        </p:nvSpPr>
        <p:spPr>
          <a:xfrm>
            <a:off x="7615357" y="6446044"/>
            <a:ext cx="2437924" cy="304800"/>
          </a:xfrm>
          <a:prstGeom prst="rect">
            <a:avLst/>
          </a:prstGeom>
          <a:noFill/>
          <a:ln/>
        </p:spPr>
        <p:txBody>
          <a:bodyPr wrap="none" lIns="0" tIns="0" rIns="0" bIns="0" rtlCol="0" anchor="t"/>
          <a:lstStyle/>
          <a:p>
            <a:pPr algn="l" indent="0" marL="0">
              <a:lnSpc>
                <a:spcPts val="2350"/>
              </a:lnSpc>
              <a:buNone/>
            </a:pPr>
            <a:r>
              <a:rPr lang="en-US" sz="1900" dirty="0">
                <a:solidFill>
                  <a:srgbClr val="2B2E3C"/>
                </a:solidFill>
                <a:latin typeface="Bitter Medium" pitchFamily="34" charset="0"/>
                <a:ea typeface="Bitter Medium" pitchFamily="34" charset="-122"/>
                <a:cs typeface="Bitter Medium" pitchFamily="34" charset="-120"/>
              </a:rPr>
              <a:t>Quality Attributes</a:t>
            </a:r>
            <a:endParaRPr lang="en-US" sz="1900" dirty="0"/>
          </a:p>
        </p:txBody>
      </p:sp>
      <p:sp>
        <p:nvSpPr>
          <p:cNvPr id="16" name="Text 13"/>
          <p:cNvSpPr/>
          <p:nvPr/>
        </p:nvSpPr>
        <p:spPr>
          <a:xfrm>
            <a:off x="7615357" y="6867763"/>
            <a:ext cx="6032302" cy="623887"/>
          </a:xfrm>
          <a:prstGeom prst="rect">
            <a:avLst/>
          </a:prstGeom>
          <a:noFill/>
          <a:ln/>
        </p:spPr>
        <p:txBody>
          <a:bodyPr wrap="square" lIns="0" tIns="0" rIns="0" bIns="0" rtlCol="0" anchor="t"/>
          <a:lstStyle/>
          <a:p>
            <a:pPr algn="l" indent="0" marL="0">
              <a:lnSpc>
                <a:spcPts val="2450"/>
              </a:lnSpc>
              <a:buNone/>
            </a:pPr>
            <a:r>
              <a:rPr lang="en-US" sz="1500" dirty="0">
                <a:solidFill>
                  <a:srgbClr val="2B2E3C"/>
                </a:solidFill>
                <a:latin typeface="Open Sans" pitchFamily="34" charset="0"/>
                <a:ea typeface="Open Sans" pitchFamily="34" charset="-122"/>
                <a:cs typeface="Open Sans" pitchFamily="34" charset="-120"/>
              </a:rPr>
              <a:t>How the system meets non-functional requirements like performance, security, and scalability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358390"/>
            <a:ext cx="13042821" cy="2480786"/>
          </a:xfrm>
          <a:prstGeom prst="rect">
            <a:avLst/>
          </a:prstGeom>
          <a:noFill/>
          <a:ln/>
        </p:spPr>
        <p:txBody>
          <a:bodyPr wrap="square" lIns="0" tIns="0" rIns="0" bIns="0" rtlCol="0" anchor="t"/>
          <a:lstStyle/>
          <a:p>
            <a:pPr algn="l" indent="0" marL="0">
              <a:lnSpc>
                <a:spcPts val="9750"/>
              </a:lnSpc>
              <a:buNone/>
            </a:pPr>
            <a:r>
              <a:rPr lang="en-US" sz="7800" dirty="0">
                <a:solidFill>
                  <a:srgbClr val="2C3F42"/>
                </a:solidFill>
                <a:latin typeface="Bitter Medium" pitchFamily="34" charset="0"/>
                <a:ea typeface="Bitter Medium" pitchFamily="34" charset="-122"/>
                <a:cs typeface="Bitter Medium" pitchFamily="34" charset="-120"/>
              </a:rPr>
              <a:t>Why Software Architecture is Important </a:t>
            </a:r>
            <a:endParaRPr lang="en-US" sz="7800" dirty="0"/>
          </a:p>
        </p:txBody>
      </p:sp>
      <p:sp>
        <p:nvSpPr>
          <p:cNvPr id="3" name="Text 1"/>
          <p:cNvSpPr/>
          <p:nvPr/>
        </p:nvSpPr>
        <p:spPr>
          <a:xfrm>
            <a:off x="793790" y="5236012"/>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The difference between successful systems and failed projects often comes down to architectural decisions made early in development. Good architecture isn't optional—it's fundamental to long-term success.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468041"/>
            <a:ext cx="4806077" cy="496133"/>
          </a:xfrm>
          <a:prstGeom prst="rect">
            <a:avLst/>
          </a:prstGeom>
          <a:noFill/>
          <a:ln/>
        </p:spPr>
        <p:txBody>
          <a:bodyPr wrap="none" lIns="0" tIns="0" rIns="0" bIns="0" rtlCol="0" anchor="t"/>
          <a:lstStyle/>
          <a:p>
            <a:pPr algn="l" indent="0" marL="0">
              <a:lnSpc>
                <a:spcPts val="3900"/>
              </a:lnSpc>
              <a:buNone/>
            </a:pPr>
            <a:r>
              <a:rPr lang="en-US" sz="3100" dirty="0">
                <a:solidFill>
                  <a:srgbClr val="2C3F42"/>
                </a:solidFill>
                <a:latin typeface="Bitter Medium" pitchFamily="34" charset="0"/>
                <a:ea typeface="Bitter Medium" pitchFamily="34" charset="-122"/>
                <a:cs typeface="Bitter Medium" pitchFamily="34" charset="-120"/>
              </a:rPr>
              <a:t>The Complexity Challenge</a:t>
            </a:r>
            <a:endParaRPr lang="en-US" sz="3100" dirty="0"/>
          </a:p>
        </p:txBody>
      </p:sp>
      <p:sp>
        <p:nvSpPr>
          <p:cNvPr id="3" name="Text 1"/>
          <p:cNvSpPr/>
          <p:nvPr/>
        </p:nvSpPr>
        <p:spPr>
          <a:xfrm>
            <a:off x="793790" y="2440424"/>
            <a:ext cx="7632025" cy="1270159"/>
          </a:xfrm>
          <a:prstGeom prst="rect">
            <a:avLst/>
          </a:prstGeom>
          <a:noFill/>
          <a:ln/>
        </p:spPr>
        <p:txBody>
          <a:bodyPr wrap="square" lIns="0" tIns="0" rIns="0" bIns="0" rtlCol="0" anchor="t"/>
          <a:lstStyle/>
          <a:p>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Without proper architecture, development teams face mounting technical debt, integration nightmares, and systems that become impossible to maintain or scale. </a:t>
            </a:r>
            <a:pPr algn="l" indent="0" marL="0">
              <a:lnSpc>
                <a:spcPts val="2500"/>
              </a:lnSpc>
              <a:buNone/>
            </a:pPr>
            <a:r>
              <a:rPr lang="en-US" sz="1550" dirty="0">
                <a:solidFill>
                  <a:srgbClr val="2B2E3C"/>
                </a:solidFill>
                <a:highlight>
                  <a:srgbClr val="FBE2D1"/>
                </a:highlight>
                <a:latin typeface="Open Sans" pitchFamily="34" charset="0"/>
                <a:ea typeface="Open Sans" pitchFamily="34" charset="-122"/>
                <a:cs typeface="Open Sans" pitchFamily="34" charset="-120"/>
              </a:rPr>
              <a:t>Software architecture provides the high-level blueprint</a:t>
            </a:r>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 that guides how systems are organized and how all parts interact cohesively.</a:t>
            </a:r>
            <a:endParaRPr lang="en-US" sz="1550" dirty="0"/>
          </a:p>
        </p:txBody>
      </p:sp>
      <p:sp>
        <p:nvSpPr>
          <p:cNvPr id="4" name="Text 2"/>
          <p:cNvSpPr/>
          <p:nvPr/>
        </p:nvSpPr>
        <p:spPr>
          <a:xfrm>
            <a:off x="793790" y="3889177"/>
            <a:ext cx="7632025" cy="2540318"/>
          </a:xfrm>
          <a:prstGeom prst="rect">
            <a:avLst/>
          </a:prstGeom>
          <a:noFill/>
          <a:ln/>
        </p:spPr>
        <p:txBody>
          <a:bodyPr wrap="square" lIns="0" tIns="0" rIns="0" bIns="0" rtlCol="0" anchor="t"/>
          <a:lstStyle/>
          <a:p>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Knight Capital Group, a major U.S. trading firm, lost </a:t>
            </a:r>
            <a:pPr algn="l" indent="0" marL="0">
              <a:lnSpc>
                <a:spcPts val="2500"/>
              </a:lnSpc>
              <a:buNone/>
            </a:pPr>
            <a:r>
              <a:rPr lang="en-US" sz="1550" b="1" dirty="0">
                <a:solidFill>
                  <a:srgbClr val="2B2E3C"/>
                </a:solidFill>
                <a:latin typeface="Open Sans" pitchFamily="34" charset="0"/>
                <a:ea typeface="Open Sans" pitchFamily="34" charset="-122"/>
                <a:cs typeface="Open Sans" pitchFamily="34" charset="-120"/>
              </a:rPr>
              <a:t>$440 million in just 45 minutes</a:t>
            </a:r>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 due to a software architecture failure.During an upgrade, legacy code (“Power Peg”) that shouldn’t have been active was accidentally left running on one of its trading servers.That bug caused their algorithm to fire off millions of erroneous trades at inflated prices, wreaking havoc in the stock market. The crash wiped out much of Knight’s capital and forced the firm to raise emergency funding.In the end, the incident highlighted how fragile high-frequency trading systems can be without robust testing and deployment processes.</a:t>
            </a:r>
            <a:endParaRPr lang="en-US" sz="1550" dirty="0"/>
          </a:p>
        </p:txBody>
      </p:sp>
      <p:sp>
        <p:nvSpPr>
          <p:cNvPr id="5" name="Text 3"/>
          <p:cNvSpPr/>
          <p:nvPr/>
        </p:nvSpPr>
        <p:spPr>
          <a:xfrm>
            <a:off x="8917543" y="2584252"/>
            <a:ext cx="4926568" cy="654963"/>
          </a:xfrm>
          <a:prstGeom prst="rect">
            <a:avLst/>
          </a:prstGeom>
          <a:noFill/>
          <a:ln/>
        </p:spPr>
        <p:txBody>
          <a:bodyPr wrap="none" lIns="0" tIns="0" rIns="0" bIns="0" rtlCol="0" anchor="t"/>
          <a:lstStyle/>
          <a:p>
            <a:pPr algn="ctr" indent="0" marL="0">
              <a:lnSpc>
                <a:spcPts val="5150"/>
              </a:lnSpc>
              <a:buNone/>
            </a:pPr>
            <a:r>
              <a:rPr lang="en-US" sz="5150" dirty="0">
                <a:solidFill>
                  <a:srgbClr val="2B2E3C"/>
                </a:solidFill>
                <a:latin typeface="Bitter Medium" pitchFamily="34" charset="0"/>
                <a:ea typeface="Bitter Medium" pitchFamily="34" charset="-122"/>
                <a:cs typeface="Bitter Medium" pitchFamily="34" charset="-120"/>
              </a:rPr>
              <a:t>80%</a:t>
            </a:r>
            <a:endParaRPr lang="en-US" sz="5150" dirty="0"/>
          </a:p>
        </p:txBody>
      </p:sp>
      <p:sp>
        <p:nvSpPr>
          <p:cNvPr id="6" name="Text 4"/>
          <p:cNvSpPr/>
          <p:nvPr/>
        </p:nvSpPr>
        <p:spPr>
          <a:xfrm>
            <a:off x="10044351" y="3487222"/>
            <a:ext cx="2672834" cy="310158"/>
          </a:xfrm>
          <a:prstGeom prst="rect">
            <a:avLst/>
          </a:prstGeom>
          <a:noFill/>
          <a:ln/>
        </p:spPr>
        <p:txBody>
          <a:bodyPr wrap="none" lIns="0" tIns="0" rIns="0" bIns="0" rtlCol="0" anchor="t"/>
          <a:lstStyle/>
          <a:p>
            <a:pPr algn="ctr" indent="0" marL="0">
              <a:lnSpc>
                <a:spcPts val="2400"/>
              </a:lnSpc>
              <a:buNone/>
            </a:pPr>
            <a:r>
              <a:rPr lang="en-US" sz="1950" dirty="0">
                <a:solidFill>
                  <a:srgbClr val="2B2E3C"/>
                </a:solidFill>
                <a:latin typeface="Bitter Medium" pitchFamily="34" charset="0"/>
                <a:ea typeface="Bitter Medium" pitchFamily="34" charset="-122"/>
                <a:cs typeface="Bitter Medium" pitchFamily="34" charset="-120"/>
              </a:rPr>
              <a:t>Projects Exceed Budget</a:t>
            </a:r>
            <a:endParaRPr lang="en-US" sz="1950" dirty="0"/>
          </a:p>
        </p:txBody>
      </p:sp>
      <p:sp>
        <p:nvSpPr>
          <p:cNvPr id="7" name="Text 5"/>
          <p:cNvSpPr/>
          <p:nvPr/>
        </p:nvSpPr>
        <p:spPr>
          <a:xfrm>
            <a:off x="8917543" y="3995738"/>
            <a:ext cx="4926568" cy="317540"/>
          </a:xfrm>
          <a:prstGeom prst="rect">
            <a:avLst/>
          </a:prstGeom>
          <a:noFill/>
          <a:ln/>
        </p:spPr>
        <p:txBody>
          <a:bodyPr wrap="none" lIns="0" tIns="0" rIns="0" bIns="0" rtlCol="0" anchor="t"/>
          <a:lstStyle/>
          <a:p>
            <a:pPr algn="ctr" indent="0" marL="0">
              <a:lnSpc>
                <a:spcPts val="2500"/>
              </a:lnSpc>
              <a:buNone/>
            </a:pPr>
            <a:r>
              <a:rPr lang="en-US" sz="1550" dirty="0">
                <a:solidFill>
                  <a:srgbClr val="2B2E3C"/>
                </a:solidFill>
                <a:latin typeface="Open Sans" pitchFamily="34" charset="0"/>
                <a:ea typeface="Open Sans" pitchFamily="34" charset="-122"/>
                <a:cs typeface="Open Sans" pitchFamily="34" charset="-120"/>
              </a:rPr>
              <a:t>Due to poor architectural decisions</a:t>
            </a:r>
            <a:endParaRPr lang="en-US" sz="1550" dirty="0"/>
          </a:p>
        </p:txBody>
      </p:sp>
      <p:sp>
        <p:nvSpPr>
          <p:cNvPr id="8" name="Text 6"/>
          <p:cNvSpPr/>
          <p:nvPr/>
        </p:nvSpPr>
        <p:spPr>
          <a:xfrm>
            <a:off x="8917543" y="4809292"/>
            <a:ext cx="4926568" cy="654963"/>
          </a:xfrm>
          <a:prstGeom prst="rect">
            <a:avLst/>
          </a:prstGeom>
          <a:noFill/>
          <a:ln/>
        </p:spPr>
        <p:txBody>
          <a:bodyPr wrap="none" lIns="0" tIns="0" rIns="0" bIns="0" rtlCol="0" anchor="t"/>
          <a:lstStyle/>
          <a:p>
            <a:pPr algn="ctr" indent="0" marL="0">
              <a:lnSpc>
                <a:spcPts val="5150"/>
              </a:lnSpc>
              <a:buNone/>
            </a:pPr>
            <a:r>
              <a:rPr lang="en-US" sz="5150" dirty="0">
                <a:solidFill>
                  <a:srgbClr val="2B2E3C"/>
                </a:solidFill>
                <a:latin typeface="Bitter Medium" pitchFamily="34" charset="0"/>
                <a:ea typeface="Bitter Medium" pitchFamily="34" charset="-122"/>
                <a:cs typeface="Bitter Medium" pitchFamily="34" charset="-120"/>
              </a:rPr>
              <a:t>3x</a:t>
            </a:r>
            <a:endParaRPr lang="en-US" sz="5150" dirty="0"/>
          </a:p>
        </p:txBody>
      </p:sp>
      <p:sp>
        <p:nvSpPr>
          <p:cNvPr id="9" name="Text 7"/>
          <p:cNvSpPr/>
          <p:nvPr/>
        </p:nvSpPr>
        <p:spPr>
          <a:xfrm>
            <a:off x="10140315" y="5712262"/>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2B2E3C"/>
                </a:solidFill>
                <a:latin typeface="Bitter Medium" pitchFamily="34" charset="0"/>
                <a:ea typeface="Bitter Medium" pitchFamily="34" charset="-122"/>
                <a:cs typeface="Bitter Medium" pitchFamily="34" charset="-120"/>
              </a:rPr>
              <a:t>Development Time</a:t>
            </a:r>
            <a:endParaRPr lang="en-US" sz="1950" dirty="0"/>
          </a:p>
        </p:txBody>
      </p:sp>
      <p:sp>
        <p:nvSpPr>
          <p:cNvPr id="10" name="Text 8"/>
          <p:cNvSpPr/>
          <p:nvPr/>
        </p:nvSpPr>
        <p:spPr>
          <a:xfrm>
            <a:off x="8917543" y="6220777"/>
            <a:ext cx="4926568" cy="317540"/>
          </a:xfrm>
          <a:prstGeom prst="rect">
            <a:avLst/>
          </a:prstGeom>
          <a:noFill/>
          <a:ln/>
        </p:spPr>
        <p:txBody>
          <a:bodyPr wrap="none" lIns="0" tIns="0" rIns="0" bIns="0" rtlCol="0" anchor="t"/>
          <a:lstStyle/>
          <a:p>
            <a:pPr algn="ctr" indent="0" marL="0">
              <a:lnSpc>
                <a:spcPts val="2500"/>
              </a:lnSpc>
              <a:buNone/>
            </a:pPr>
            <a:r>
              <a:rPr lang="en-US" sz="1550" dirty="0">
                <a:solidFill>
                  <a:srgbClr val="2B2E3C"/>
                </a:solidFill>
                <a:latin typeface="Open Sans" pitchFamily="34" charset="0"/>
                <a:ea typeface="Open Sans" pitchFamily="34" charset="-122"/>
                <a:cs typeface="Open Sans" pitchFamily="34" charset="-120"/>
              </a:rPr>
              <a:t>Lost fixing architectural issues</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71644" y="530543"/>
            <a:ext cx="7326035" cy="482322"/>
          </a:xfrm>
          <a:prstGeom prst="rect">
            <a:avLst/>
          </a:prstGeom>
          <a:noFill/>
          <a:ln/>
        </p:spPr>
        <p:txBody>
          <a:bodyPr wrap="none" lIns="0" tIns="0" rIns="0" bIns="0" rtlCol="0" anchor="t"/>
          <a:lstStyle/>
          <a:p>
            <a:pPr algn="l" indent="0" marL="0">
              <a:lnSpc>
                <a:spcPts val="3750"/>
              </a:lnSpc>
              <a:buNone/>
            </a:pPr>
            <a:r>
              <a:rPr lang="en-US" sz="3000" dirty="0">
                <a:solidFill>
                  <a:srgbClr val="2C3F42"/>
                </a:solidFill>
                <a:latin typeface="Bitter Medium" pitchFamily="34" charset="0"/>
                <a:ea typeface="Bitter Medium" pitchFamily="34" charset="-122"/>
                <a:cs typeface="Bitter Medium" pitchFamily="34" charset="-120"/>
              </a:rPr>
              <a:t>Six Critical Benefits of Good Architecture</a:t>
            </a:r>
            <a:endParaRPr lang="en-US" sz="3000" dirty="0"/>
          </a:p>
        </p:txBody>
      </p:sp>
      <p:sp>
        <p:nvSpPr>
          <p:cNvPr id="3" name="Text 1"/>
          <p:cNvSpPr/>
          <p:nvPr/>
        </p:nvSpPr>
        <p:spPr>
          <a:xfrm>
            <a:off x="771644" y="1398627"/>
            <a:ext cx="192881" cy="241102"/>
          </a:xfrm>
          <a:prstGeom prst="rect">
            <a:avLst/>
          </a:prstGeom>
          <a:noFill/>
          <a:ln/>
        </p:spPr>
        <p:txBody>
          <a:bodyPr wrap="none" lIns="0" tIns="0" rIns="0" bIns="0" rtlCol="0" anchor="t"/>
          <a:lstStyle/>
          <a:p>
            <a:pPr algn="l" indent="0" marL="0">
              <a:lnSpc>
                <a:spcPts val="2400"/>
              </a:lnSpc>
              <a:buNone/>
            </a:pPr>
            <a:r>
              <a:rPr lang="en-US" sz="1500" dirty="0">
                <a:solidFill>
                  <a:srgbClr val="2B2E3C"/>
                </a:solidFill>
                <a:latin typeface="Bitter Light" pitchFamily="34" charset="0"/>
                <a:ea typeface="Bitter Light" pitchFamily="34" charset="-122"/>
                <a:cs typeface="Bitter Light" pitchFamily="34" charset="-120"/>
              </a:rPr>
              <a:t>01</a:t>
            </a:r>
            <a:endParaRPr lang="en-US" sz="1500" dirty="0"/>
          </a:p>
        </p:txBody>
      </p:sp>
      <p:sp>
        <p:nvSpPr>
          <p:cNvPr id="4" name="Shape 2"/>
          <p:cNvSpPr/>
          <p:nvPr/>
        </p:nvSpPr>
        <p:spPr>
          <a:xfrm>
            <a:off x="771644" y="1703665"/>
            <a:ext cx="6447115" cy="22860"/>
          </a:xfrm>
          <a:prstGeom prst="rect">
            <a:avLst/>
          </a:prstGeom>
          <a:solidFill>
            <a:srgbClr val="D2600F"/>
          </a:solidFill>
          <a:ln/>
        </p:spPr>
      </p:sp>
      <p:sp>
        <p:nvSpPr>
          <p:cNvPr id="5" name="Text 3"/>
          <p:cNvSpPr/>
          <p:nvPr/>
        </p:nvSpPr>
        <p:spPr>
          <a:xfrm>
            <a:off x="771644" y="1845826"/>
            <a:ext cx="2411611" cy="301466"/>
          </a:xfrm>
          <a:prstGeom prst="rect">
            <a:avLst/>
          </a:prstGeom>
          <a:noFill/>
          <a:ln/>
        </p:spPr>
        <p:txBody>
          <a:bodyPr wrap="none" lIns="0" tIns="0" rIns="0" bIns="0" rtlCol="0" anchor="t"/>
          <a:lstStyle/>
          <a:p>
            <a:pPr algn="l" indent="0" marL="0">
              <a:lnSpc>
                <a:spcPts val="2350"/>
              </a:lnSpc>
              <a:buNone/>
            </a:pPr>
            <a:r>
              <a:rPr lang="en-US" sz="1850" dirty="0">
                <a:solidFill>
                  <a:srgbClr val="2B2E3C"/>
                </a:solidFill>
                <a:latin typeface="Bitter Medium" pitchFamily="34" charset="0"/>
                <a:ea typeface="Bitter Medium" pitchFamily="34" charset="-122"/>
                <a:cs typeface="Bitter Medium" pitchFamily="34" charset="-120"/>
              </a:rPr>
              <a:t>Reduces Complexity</a:t>
            </a:r>
            <a:endParaRPr lang="en-US" sz="1850" dirty="0"/>
          </a:p>
        </p:txBody>
      </p:sp>
      <p:sp>
        <p:nvSpPr>
          <p:cNvPr id="6" name="Text 4"/>
          <p:cNvSpPr/>
          <p:nvPr/>
        </p:nvSpPr>
        <p:spPr>
          <a:xfrm>
            <a:off x="771644" y="2263021"/>
            <a:ext cx="6447115" cy="617220"/>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Breaks large, overwhelming systems into manageable, understandable parts that teams can work on independently</a:t>
            </a:r>
            <a:endParaRPr lang="en-US" sz="1500" dirty="0"/>
          </a:p>
        </p:txBody>
      </p:sp>
      <p:sp>
        <p:nvSpPr>
          <p:cNvPr id="7" name="Text 5"/>
          <p:cNvSpPr/>
          <p:nvPr/>
        </p:nvSpPr>
        <p:spPr>
          <a:xfrm>
            <a:off x="7411641" y="1398627"/>
            <a:ext cx="192881" cy="241102"/>
          </a:xfrm>
          <a:prstGeom prst="rect">
            <a:avLst/>
          </a:prstGeom>
          <a:noFill/>
          <a:ln/>
        </p:spPr>
        <p:txBody>
          <a:bodyPr wrap="none" lIns="0" tIns="0" rIns="0" bIns="0" rtlCol="0" anchor="t"/>
          <a:lstStyle/>
          <a:p>
            <a:pPr algn="l" indent="0" marL="0">
              <a:lnSpc>
                <a:spcPts val="2400"/>
              </a:lnSpc>
              <a:buNone/>
            </a:pPr>
            <a:r>
              <a:rPr lang="en-US" sz="1500" dirty="0">
                <a:solidFill>
                  <a:srgbClr val="2B2E3C"/>
                </a:solidFill>
                <a:latin typeface="Bitter Light" pitchFamily="34" charset="0"/>
                <a:ea typeface="Bitter Light" pitchFamily="34" charset="-122"/>
                <a:cs typeface="Bitter Light" pitchFamily="34" charset="-120"/>
              </a:rPr>
              <a:t>02</a:t>
            </a:r>
            <a:endParaRPr lang="en-US" sz="1500" dirty="0"/>
          </a:p>
        </p:txBody>
      </p:sp>
      <p:sp>
        <p:nvSpPr>
          <p:cNvPr id="8" name="Shape 6"/>
          <p:cNvSpPr/>
          <p:nvPr/>
        </p:nvSpPr>
        <p:spPr>
          <a:xfrm>
            <a:off x="7411641" y="1703665"/>
            <a:ext cx="6447115" cy="22860"/>
          </a:xfrm>
          <a:prstGeom prst="rect">
            <a:avLst/>
          </a:prstGeom>
          <a:solidFill>
            <a:srgbClr val="D2600F"/>
          </a:solidFill>
          <a:ln/>
        </p:spPr>
      </p:sp>
      <p:sp>
        <p:nvSpPr>
          <p:cNvPr id="9" name="Text 7"/>
          <p:cNvSpPr/>
          <p:nvPr/>
        </p:nvSpPr>
        <p:spPr>
          <a:xfrm>
            <a:off x="7411641" y="1845826"/>
            <a:ext cx="2841665" cy="301466"/>
          </a:xfrm>
          <a:prstGeom prst="rect">
            <a:avLst/>
          </a:prstGeom>
          <a:noFill/>
          <a:ln/>
        </p:spPr>
        <p:txBody>
          <a:bodyPr wrap="none" lIns="0" tIns="0" rIns="0" bIns="0" rtlCol="0" anchor="t"/>
          <a:lstStyle/>
          <a:p>
            <a:pPr algn="l" indent="0" marL="0">
              <a:lnSpc>
                <a:spcPts val="2350"/>
              </a:lnSpc>
              <a:buNone/>
            </a:pPr>
            <a:r>
              <a:rPr lang="en-US" sz="1850" dirty="0">
                <a:solidFill>
                  <a:srgbClr val="2B2E3C"/>
                </a:solidFill>
                <a:latin typeface="Bitter Medium" pitchFamily="34" charset="0"/>
                <a:ea typeface="Bitter Medium" pitchFamily="34" charset="-122"/>
                <a:cs typeface="Bitter Medium" pitchFamily="34" charset="-120"/>
              </a:rPr>
              <a:t>Improves Maintainability</a:t>
            </a:r>
            <a:endParaRPr lang="en-US" sz="1850" dirty="0"/>
          </a:p>
        </p:txBody>
      </p:sp>
      <p:sp>
        <p:nvSpPr>
          <p:cNvPr id="10" name="Text 8"/>
          <p:cNvSpPr/>
          <p:nvPr/>
        </p:nvSpPr>
        <p:spPr>
          <a:xfrm>
            <a:off x="7411641" y="2263021"/>
            <a:ext cx="6447115" cy="617220"/>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Clear structure makes debugging faster, updates easier, and onboarding new developers smoother</a:t>
            </a:r>
            <a:endParaRPr lang="en-US" sz="1500" dirty="0"/>
          </a:p>
        </p:txBody>
      </p:sp>
      <p:sp>
        <p:nvSpPr>
          <p:cNvPr id="11" name="Text 9"/>
          <p:cNvSpPr/>
          <p:nvPr/>
        </p:nvSpPr>
        <p:spPr>
          <a:xfrm>
            <a:off x="771644" y="3217783"/>
            <a:ext cx="192881" cy="241102"/>
          </a:xfrm>
          <a:prstGeom prst="rect">
            <a:avLst/>
          </a:prstGeom>
          <a:noFill/>
          <a:ln/>
        </p:spPr>
        <p:txBody>
          <a:bodyPr wrap="none" lIns="0" tIns="0" rIns="0" bIns="0" rtlCol="0" anchor="t"/>
          <a:lstStyle/>
          <a:p>
            <a:pPr algn="l" indent="0" marL="0">
              <a:lnSpc>
                <a:spcPts val="2400"/>
              </a:lnSpc>
              <a:buNone/>
            </a:pPr>
            <a:r>
              <a:rPr lang="en-US" sz="1500" dirty="0">
                <a:solidFill>
                  <a:srgbClr val="2B2E3C"/>
                </a:solidFill>
                <a:latin typeface="Bitter Light" pitchFamily="34" charset="0"/>
                <a:ea typeface="Bitter Light" pitchFamily="34" charset="-122"/>
                <a:cs typeface="Bitter Light" pitchFamily="34" charset="-120"/>
              </a:rPr>
              <a:t>03</a:t>
            </a:r>
            <a:endParaRPr lang="en-US" sz="1500" dirty="0"/>
          </a:p>
        </p:txBody>
      </p:sp>
      <p:sp>
        <p:nvSpPr>
          <p:cNvPr id="12" name="Shape 10"/>
          <p:cNvSpPr/>
          <p:nvPr/>
        </p:nvSpPr>
        <p:spPr>
          <a:xfrm>
            <a:off x="771644" y="3522821"/>
            <a:ext cx="6447115" cy="22860"/>
          </a:xfrm>
          <a:prstGeom prst="rect">
            <a:avLst/>
          </a:prstGeom>
          <a:solidFill>
            <a:srgbClr val="D2600F"/>
          </a:solidFill>
          <a:ln/>
        </p:spPr>
      </p:sp>
      <p:sp>
        <p:nvSpPr>
          <p:cNvPr id="13" name="Text 11"/>
          <p:cNvSpPr/>
          <p:nvPr/>
        </p:nvSpPr>
        <p:spPr>
          <a:xfrm>
            <a:off x="771644" y="3664982"/>
            <a:ext cx="2411611" cy="301466"/>
          </a:xfrm>
          <a:prstGeom prst="rect">
            <a:avLst/>
          </a:prstGeom>
          <a:noFill/>
          <a:ln/>
        </p:spPr>
        <p:txBody>
          <a:bodyPr wrap="none" lIns="0" tIns="0" rIns="0" bIns="0" rtlCol="0" anchor="t"/>
          <a:lstStyle/>
          <a:p>
            <a:pPr algn="l" indent="0" marL="0">
              <a:lnSpc>
                <a:spcPts val="2350"/>
              </a:lnSpc>
              <a:buNone/>
            </a:pPr>
            <a:r>
              <a:rPr lang="en-US" sz="1850" dirty="0">
                <a:solidFill>
                  <a:srgbClr val="2B2E3C"/>
                </a:solidFill>
                <a:latin typeface="Bitter Medium" pitchFamily="34" charset="0"/>
                <a:ea typeface="Bitter Medium" pitchFamily="34" charset="-122"/>
                <a:cs typeface="Bitter Medium" pitchFamily="34" charset="-120"/>
              </a:rPr>
              <a:t>Ensures Scalability</a:t>
            </a:r>
            <a:endParaRPr lang="en-US" sz="1850" dirty="0"/>
          </a:p>
        </p:txBody>
      </p:sp>
      <p:sp>
        <p:nvSpPr>
          <p:cNvPr id="14" name="Text 12"/>
          <p:cNvSpPr/>
          <p:nvPr/>
        </p:nvSpPr>
        <p:spPr>
          <a:xfrm>
            <a:off x="771644" y="4082177"/>
            <a:ext cx="6447115" cy="617220"/>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Supports growing numbers of users, increasing data volumes, and expanding traffic without system rewrites</a:t>
            </a:r>
            <a:endParaRPr lang="en-US" sz="1500" dirty="0"/>
          </a:p>
        </p:txBody>
      </p:sp>
      <p:sp>
        <p:nvSpPr>
          <p:cNvPr id="15" name="Text 13"/>
          <p:cNvSpPr/>
          <p:nvPr/>
        </p:nvSpPr>
        <p:spPr>
          <a:xfrm>
            <a:off x="7411641" y="3217783"/>
            <a:ext cx="192881" cy="241102"/>
          </a:xfrm>
          <a:prstGeom prst="rect">
            <a:avLst/>
          </a:prstGeom>
          <a:noFill/>
          <a:ln/>
        </p:spPr>
        <p:txBody>
          <a:bodyPr wrap="none" lIns="0" tIns="0" rIns="0" bIns="0" rtlCol="0" anchor="t"/>
          <a:lstStyle/>
          <a:p>
            <a:pPr algn="l" indent="0" marL="0">
              <a:lnSpc>
                <a:spcPts val="2400"/>
              </a:lnSpc>
              <a:buNone/>
            </a:pPr>
            <a:r>
              <a:rPr lang="en-US" sz="1500" dirty="0">
                <a:solidFill>
                  <a:srgbClr val="2B2E3C"/>
                </a:solidFill>
                <a:latin typeface="Bitter Light" pitchFamily="34" charset="0"/>
                <a:ea typeface="Bitter Light" pitchFamily="34" charset="-122"/>
                <a:cs typeface="Bitter Light" pitchFamily="34" charset="-120"/>
              </a:rPr>
              <a:t>04</a:t>
            </a:r>
            <a:endParaRPr lang="en-US" sz="1500" dirty="0"/>
          </a:p>
        </p:txBody>
      </p:sp>
      <p:sp>
        <p:nvSpPr>
          <p:cNvPr id="16" name="Shape 14"/>
          <p:cNvSpPr/>
          <p:nvPr/>
        </p:nvSpPr>
        <p:spPr>
          <a:xfrm>
            <a:off x="7411641" y="3522821"/>
            <a:ext cx="6447115" cy="22860"/>
          </a:xfrm>
          <a:prstGeom prst="rect">
            <a:avLst/>
          </a:prstGeom>
          <a:solidFill>
            <a:srgbClr val="D2600F"/>
          </a:solidFill>
          <a:ln/>
        </p:spPr>
      </p:sp>
      <p:sp>
        <p:nvSpPr>
          <p:cNvPr id="17" name="Text 15"/>
          <p:cNvSpPr/>
          <p:nvPr/>
        </p:nvSpPr>
        <p:spPr>
          <a:xfrm>
            <a:off x="7411641" y="3664982"/>
            <a:ext cx="2411611" cy="301466"/>
          </a:xfrm>
          <a:prstGeom prst="rect">
            <a:avLst/>
          </a:prstGeom>
          <a:noFill/>
          <a:ln/>
        </p:spPr>
        <p:txBody>
          <a:bodyPr wrap="none" lIns="0" tIns="0" rIns="0" bIns="0" rtlCol="0" anchor="t"/>
          <a:lstStyle/>
          <a:p>
            <a:pPr algn="l" indent="0" marL="0">
              <a:lnSpc>
                <a:spcPts val="2350"/>
              </a:lnSpc>
              <a:buNone/>
            </a:pPr>
            <a:r>
              <a:rPr lang="en-US" sz="1850" dirty="0">
                <a:solidFill>
                  <a:srgbClr val="2B2E3C"/>
                </a:solidFill>
                <a:latin typeface="Bitter Medium" pitchFamily="34" charset="0"/>
                <a:ea typeface="Bitter Medium" pitchFamily="34" charset="-122"/>
                <a:cs typeface="Bitter Medium" pitchFamily="34" charset="-120"/>
              </a:rPr>
              <a:t>Aligns Teams</a:t>
            </a:r>
            <a:endParaRPr lang="en-US" sz="1850" dirty="0"/>
          </a:p>
        </p:txBody>
      </p:sp>
      <p:sp>
        <p:nvSpPr>
          <p:cNvPr id="18" name="Text 16"/>
          <p:cNvSpPr/>
          <p:nvPr/>
        </p:nvSpPr>
        <p:spPr>
          <a:xfrm>
            <a:off x="7411641" y="4082177"/>
            <a:ext cx="6447115" cy="617220"/>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Provides shared understanding across developers, designers, testers, and business stakeholders</a:t>
            </a:r>
            <a:endParaRPr lang="en-US" sz="1500" dirty="0"/>
          </a:p>
        </p:txBody>
      </p:sp>
      <p:sp>
        <p:nvSpPr>
          <p:cNvPr id="19" name="Text 17"/>
          <p:cNvSpPr/>
          <p:nvPr/>
        </p:nvSpPr>
        <p:spPr>
          <a:xfrm>
            <a:off x="771644" y="5036939"/>
            <a:ext cx="192881" cy="241102"/>
          </a:xfrm>
          <a:prstGeom prst="rect">
            <a:avLst/>
          </a:prstGeom>
          <a:noFill/>
          <a:ln/>
        </p:spPr>
        <p:txBody>
          <a:bodyPr wrap="none" lIns="0" tIns="0" rIns="0" bIns="0" rtlCol="0" anchor="t"/>
          <a:lstStyle/>
          <a:p>
            <a:pPr algn="l" indent="0" marL="0">
              <a:lnSpc>
                <a:spcPts val="2400"/>
              </a:lnSpc>
              <a:buNone/>
            </a:pPr>
            <a:r>
              <a:rPr lang="en-US" sz="1500" dirty="0">
                <a:solidFill>
                  <a:srgbClr val="2B2E3C"/>
                </a:solidFill>
                <a:latin typeface="Bitter Light" pitchFamily="34" charset="0"/>
                <a:ea typeface="Bitter Light" pitchFamily="34" charset="-122"/>
                <a:cs typeface="Bitter Light" pitchFamily="34" charset="-120"/>
              </a:rPr>
              <a:t>05</a:t>
            </a:r>
            <a:endParaRPr lang="en-US" sz="1500" dirty="0"/>
          </a:p>
        </p:txBody>
      </p:sp>
      <p:sp>
        <p:nvSpPr>
          <p:cNvPr id="20" name="Shape 18"/>
          <p:cNvSpPr/>
          <p:nvPr/>
        </p:nvSpPr>
        <p:spPr>
          <a:xfrm>
            <a:off x="771644" y="5341977"/>
            <a:ext cx="6447115" cy="22860"/>
          </a:xfrm>
          <a:prstGeom prst="rect">
            <a:avLst/>
          </a:prstGeom>
          <a:solidFill>
            <a:srgbClr val="D2600F"/>
          </a:solidFill>
          <a:ln/>
        </p:spPr>
      </p:sp>
      <p:sp>
        <p:nvSpPr>
          <p:cNvPr id="21" name="Text 19"/>
          <p:cNvSpPr/>
          <p:nvPr/>
        </p:nvSpPr>
        <p:spPr>
          <a:xfrm>
            <a:off x="771644" y="5484138"/>
            <a:ext cx="3486150" cy="301466"/>
          </a:xfrm>
          <a:prstGeom prst="rect">
            <a:avLst/>
          </a:prstGeom>
          <a:noFill/>
          <a:ln/>
        </p:spPr>
        <p:txBody>
          <a:bodyPr wrap="none" lIns="0" tIns="0" rIns="0" bIns="0" rtlCol="0" anchor="t"/>
          <a:lstStyle/>
          <a:p>
            <a:pPr algn="l" indent="0" marL="0">
              <a:lnSpc>
                <a:spcPts val="2350"/>
              </a:lnSpc>
              <a:buNone/>
            </a:pPr>
            <a:r>
              <a:rPr lang="en-US" sz="1850" dirty="0">
                <a:solidFill>
                  <a:srgbClr val="2B2E3C"/>
                </a:solidFill>
                <a:latin typeface="Bitter Medium" pitchFamily="34" charset="0"/>
                <a:ea typeface="Bitter Medium" pitchFamily="34" charset="-122"/>
                <a:cs typeface="Bitter Medium" pitchFamily="34" charset="-120"/>
              </a:rPr>
              <a:t>Enhances Reliability &amp; Security</a:t>
            </a:r>
            <a:endParaRPr lang="en-US" sz="1850" dirty="0"/>
          </a:p>
        </p:txBody>
      </p:sp>
      <p:sp>
        <p:nvSpPr>
          <p:cNvPr id="22" name="Text 20"/>
          <p:cNvSpPr/>
          <p:nvPr/>
        </p:nvSpPr>
        <p:spPr>
          <a:xfrm>
            <a:off x="771644" y="5901333"/>
            <a:ext cx="6447115" cy="617220"/>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Architectural decisions proactively avoid bottlenecks, vulnerabilities, and single points of failure</a:t>
            </a:r>
            <a:endParaRPr lang="en-US" sz="1500" dirty="0"/>
          </a:p>
        </p:txBody>
      </p:sp>
      <p:sp>
        <p:nvSpPr>
          <p:cNvPr id="23" name="Text 21"/>
          <p:cNvSpPr/>
          <p:nvPr/>
        </p:nvSpPr>
        <p:spPr>
          <a:xfrm>
            <a:off x="7411641" y="5036939"/>
            <a:ext cx="192881" cy="241102"/>
          </a:xfrm>
          <a:prstGeom prst="rect">
            <a:avLst/>
          </a:prstGeom>
          <a:noFill/>
          <a:ln/>
        </p:spPr>
        <p:txBody>
          <a:bodyPr wrap="none" lIns="0" tIns="0" rIns="0" bIns="0" rtlCol="0" anchor="t"/>
          <a:lstStyle/>
          <a:p>
            <a:pPr algn="l" indent="0" marL="0">
              <a:lnSpc>
                <a:spcPts val="2400"/>
              </a:lnSpc>
              <a:buNone/>
            </a:pPr>
            <a:r>
              <a:rPr lang="en-US" sz="1500" dirty="0">
                <a:solidFill>
                  <a:srgbClr val="2B2E3C"/>
                </a:solidFill>
                <a:latin typeface="Bitter Light" pitchFamily="34" charset="0"/>
                <a:ea typeface="Bitter Light" pitchFamily="34" charset="-122"/>
                <a:cs typeface="Bitter Light" pitchFamily="34" charset="-120"/>
              </a:rPr>
              <a:t>06</a:t>
            </a:r>
            <a:endParaRPr lang="en-US" sz="1500" dirty="0"/>
          </a:p>
        </p:txBody>
      </p:sp>
      <p:sp>
        <p:nvSpPr>
          <p:cNvPr id="24" name="Shape 22"/>
          <p:cNvSpPr/>
          <p:nvPr/>
        </p:nvSpPr>
        <p:spPr>
          <a:xfrm>
            <a:off x="7411641" y="5341977"/>
            <a:ext cx="6447115" cy="22860"/>
          </a:xfrm>
          <a:prstGeom prst="rect">
            <a:avLst/>
          </a:prstGeom>
          <a:solidFill>
            <a:srgbClr val="D2600F"/>
          </a:solidFill>
          <a:ln/>
        </p:spPr>
      </p:sp>
      <p:sp>
        <p:nvSpPr>
          <p:cNvPr id="25" name="Text 23"/>
          <p:cNvSpPr/>
          <p:nvPr/>
        </p:nvSpPr>
        <p:spPr>
          <a:xfrm>
            <a:off x="7411641" y="5484138"/>
            <a:ext cx="2411611" cy="301466"/>
          </a:xfrm>
          <a:prstGeom prst="rect">
            <a:avLst/>
          </a:prstGeom>
          <a:noFill/>
          <a:ln/>
        </p:spPr>
        <p:txBody>
          <a:bodyPr wrap="none" lIns="0" tIns="0" rIns="0" bIns="0" rtlCol="0" anchor="t"/>
          <a:lstStyle/>
          <a:p>
            <a:pPr algn="l" indent="0" marL="0">
              <a:lnSpc>
                <a:spcPts val="2350"/>
              </a:lnSpc>
              <a:buNone/>
            </a:pPr>
            <a:r>
              <a:rPr lang="en-US" sz="1850" dirty="0">
                <a:solidFill>
                  <a:srgbClr val="2B2E3C"/>
                </a:solidFill>
                <a:latin typeface="Bitter Medium" pitchFamily="34" charset="0"/>
                <a:ea typeface="Bitter Medium" pitchFamily="34" charset="-122"/>
                <a:cs typeface="Bitter Medium" pitchFamily="34" charset="-120"/>
              </a:rPr>
              <a:t>Enables Evolution</a:t>
            </a:r>
            <a:endParaRPr lang="en-US" sz="1850" dirty="0"/>
          </a:p>
        </p:txBody>
      </p:sp>
      <p:sp>
        <p:nvSpPr>
          <p:cNvPr id="26" name="Text 24"/>
          <p:cNvSpPr/>
          <p:nvPr/>
        </p:nvSpPr>
        <p:spPr>
          <a:xfrm>
            <a:off x="7411641" y="5901333"/>
            <a:ext cx="6447115" cy="617220"/>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New features can be added, technologies can be upgraded, and business needs can be met without breaking existing functionality</a:t>
            </a:r>
            <a:endParaRPr lang="en-US" sz="1500" dirty="0"/>
          </a:p>
        </p:txBody>
      </p:sp>
      <p:sp>
        <p:nvSpPr>
          <p:cNvPr id="27" name="Shape 25"/>
          <p:cNvSpPr/>
          <p:nvPr/>
        </p:nvSpPr>
        <p:spPr>
          <a:xfrm>
            <a:off x="771644" y="6880265"/>
            <a:ext cx="13087112" cy="819745"/>
          </a:xfrm>
          <a:prstGeom prst="roundRect">
            <a:avLst>
              <a:gd name="adj" fmla="val 9885"/>
            </a:avLst>
          </a:prstGeom>
          <a:solidFill>
            <a:srgbClr val="FAD3B8"/>
          </a:solidFill>
          <a:ln/>
        </p:spPr>
      </p:sp>
      <p:pic>
        <p:nvPicPr>
          <p:cNvPr id="28" name="Image 0" descr="preencoded.png">    </p:cNvPr>
          <p:cNvPicPr>
            <a:picLocks noChangeAspect="1"/>
          </p:cNvPicPr>
          <p:nvPr/>
        </p:nvPicPr>
        <p:blipFill>
          <a:blip r:embed="rId1"/>
          <a:stretch>
            <a:fillRect/>
          </a:stretch>
        </p:blipFill>
        <p:spPr>
          <a:xfrm>
            <a:off x="964525" y="7181136"/>
            <a:ext cx="241102" cy="192881"/>
          </a:xfrm>
          <a:prstGeom prst="rect">
            <a:avLst/>
          </a:prstGeom>
        </p:spPr>
      </p:pic>
      <p:sp>
        <p:nvSpPr>
          <p:cNvPr id="29" name="Text 26"/>
          <p:cNvSpPr/>
          <p:nvPr/>
        </p:nvSpPr>
        <p:spPr>
          <a:xfrm>
            <a:off x="1398508" y="7121366"/>
            <a:ext cx="12267367" cy="308610"/>
          </a:xfrm>
          <a:prstGeom prst="rect">
            <a:avLst/>
          </a:prstGeom>
          <a:noFill/>
          <a:ln/>
        </p:spPr>
        <p:txBody>
          <a:bodyPr wrap="none" lIns="0" tIns="0" rIns="0" bIns="0" rtlCol="0" anchor="t"/>
          <a:lstStyle/>
          <a:p>
            <a:pPr algn="l" indent="0" marL="0">
              <a:lnSpc>
                <a:spcPts val="2400"/>
              </a:lnSpc>
              <a:buNone/>
            </a:pPr>
            <a:r>
              <a:rPr lang="en-US" sz="1500" b="1" dirty="0">
                <a:solidFill>
                  <a:srgbClr val="000000"/>
                </a:solidFill>
                <a:latin typeface="Open Sans" pitchFamily="34" charset="0"/>
                <a:ea typeface="Open Sans" pitchFamily="34" charset="-122"/>
                <a:cs typeface="Open Sans" pitchFamily="34" charset="-120"/>
              </a:rPr>
              <a:t>Bottom line:</a:t>
            </a:r>
            <a:pPr algn="l" indent="0" marL="0">
              <a:lnSpc>
                <a:spcPts val="2400"/>
              </a:lnSpc>
              <a:buNone/>
            </a:pPr>
            <a:r>
              <a:rPr lang="en-US" sz="1500" dirty="0">
                <a:solidFill>
                  <a:srgbClr val="000000"/>
                </a:solidFill>
                <a:latin typeface="Open Sans" pitchFamily="34" charset="0"/>
                <a:ea typeface="Open Sans" pitchFamily="34" charset="-122"/>
                <a:cs typeface="Open Sans" pitchFamily="34" charset="-120"/>
              </a:rPr>
              <a:t> Good architecture equals lower costs, fewer failures, better performance, and happier teams.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8411"/>
          </a:xfrm>
          <a:prstGeom prst="rect">
            <a:avLst/>
          </a:prstGeom>
        </p:spPr>
      </p:pic>
      <p:sp>
        <p:nvSpPr>
          <p:cNvPr id="3" name="Text 0"/>
          <p:cNvSpPr/>
          <p:nvPr/>
        </p:nvSpPr>
        <p:spPr>
          <a:xfrm>
            <a:off x="6254591" y="528161"/>
            <a:ext cx="5234940" cy="480060"/>
          </a:xfrm>
          <a:prstGeom prst="rect">
            <a:avLst/>
          </a:prstGeom>
          <a:noFill/>
          <a:ln/>
        </p:spPr>
        <p:txBody>
          <a:bodyPr wrap="none" lIns="0" tIns="0" rIns="0" bIns="0" rtlCol="0" anchor="t"/>
          <a:lstStyle/>
          <a:p>
            <a:pPr algn="l" indent="0" marL="0">
              <a:lnSpc>
                <a:spcPts val="3750"/>
              </a:lnSpc>
              <a:buNone/>
            </a:pPr>
            <a:r>
              <a:rPr lang="en-US" sz="3000" dirty="0">
                <a:solidFill>
                  <a:srgbClr val="2C3F42"/>
                </a:solidFill>
                <a:latin typeface="Bitter Medium" pitchFamily="34" charset="0"/>
                <a:ea typeface="Bitter Medium" pitchFamily="34" charset="-122"/>
                <a:cs typeface="Bitter Medium" pitchFamily="34" charset="-120"/>
              </a:rPr>
              <a:t>The Cost of Poor Architecture</a:t>
            </a:r>
            <a:endParaRPr lang="en-US" sz="3000" dirty="0"/>
          </a:p>
        </p:txBody>
      </p:sp>
      <p:sp>
        <p:nvSpPr>
          <p:cNvPr id="4" name="Shape 1"/>
          <p:cNvSpPr/>
          <p:nvPr/>
        </p:nvSpPr>
        <p:spPr>
          <a:xfrm>
            <a:off x="6254591" y="1296233"/>
            <a:ext cx="7607618" cy="1459468"/>
          </a:xfrm>
          <a:prstGeom prst="roundRect">
            <a:avLst>
              <a:gd name="adj" fmla="val 7518"/>
            </a:avLst>
          </a:prstGeom>
          <a:solidFill>
            <a:srgbClr val="FFF8F0"/>
          </a:solidFill>
          <a:ln w="22860">
            <a:solidFill>
              <a:srgbClr val="D2600F"/>
            </a:solidFill>
            <a:prstDash val="solid"/>
          </a:ln>
        </p:spPr>
      </p:sp>
      <p:sp>
        <p:nvSpPr>
          <p:cNvPr id="5" name="Shape 2"/>
          <p:cNvSpPr/>
          <p:nvPr/>
        </p:nvSpPr>
        <p:spPr>
          <a:xfrm>
            <a:off x="6231731" y="1296233"/>
            <a:ext cx="91440" cy="1459468"/>
          </a:xfrm>
          <a:prstGeom prst="roundRect">
            <a:avLst>
              <a:gd name="adj" fmla="val 88222"/>
            </a:avLst>
          </a:prstGeom>
          <a:solidFill>
            <a:srgbClr val="D2600F"/>
          </a:solidFill>
          <a:ln/>
        </p:spPr>
      </p:sp>
      <p:sp>
        <p:nvSpPr>
          <p:cNvPr id="6" name="Text 3"/>
          <p:cNvSpPr/>
          <p:nvPr/>
        </p:nvSpPr>
        <p:spPr>
          <a:xfrm>
            <a:off x="6538079" y="1511141"/>
            <a:ext cx="3292316" cy="300157"/>
          </a:xfrm>
          <a:prstGeom prst="rect">
            <a:avLst/>
          </a:prstGeom>
          <a:noFill/>
          <a:ln/>
        </p:spPr>
        <p:txBody>
          <a:bodyPr wrap="none" lIns="0" tIns="0" rIns="0" bIns="0" rtlCol="0" anchor="t"/>
          <a:lstStyle/>
          <a:p>
            <a:pPr algn="l" indent="0" marL="0">
              <a:lnSpc>
                <a:spcPts val="2350"/>
              </a:lnSpc>
              <a:buNone/>
            </a:pPr>
            <a:r>
              <a:rPr lang="en-US" sz="1850" dirty="0">
                <a:solidFill>
                  <a:srgbClr val="2B2E3C"/>
                </a:solidFill>
                <a:latin typeface="Bitter Medium" pitchFamily="34" charset="0"/>
                <a:ea typeface="Bitter Medium" pitchFamily="34" charset="-122"/>
                <a:cs typeface="Bitter Medium" pitchFamily="34" charset="-120"/>
              </a:rPr>
              <a:t>Technical Debt Accumulation</a:t>
            </a:r>
            <a:endParaRPr lang="en-US" sz="1850" dirty="0"/>
          </a:p>
        </p:txBody>
      </p:sp>
      <p:sp>
        <p:nvSpPr>
          <p:cNvPr id="7" name="Text 4"/>
          <p:cNvSpPr/>
          <p:nvPr/>
        </p:nvSpPr>
        <p:spPr>
          <a:xfrm>
            <a:off x="6538079" y="1926431"/>
            <a:ext cx="7109222" cy="614363"/>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Quick fixes and shortcuts compound over time, making every change progressively more difficult and risky</a:t>
            </a:r>
            <a:endParaRPr lang="en-US" sz="1500" dirty="0"/>
          </a:p>
        </p:txBody>
      </p:sp>
      <p:sp>
        <p:nvSpPr>
          <p:cNvPr id="8" name="Shape 5"/>
          <p:cNvSpPr/>
          <p:nvPr/>
        </p:nvSpPr>
        <p:spPr>
          <a:xfrm>
            <a:off x="6254591" y="2947749"/>
            <a:ext cx="7607618" cy="1459468"/>
          </a:xfrm>
          <a:prstGeom prst="roundRect">
            <a:avLst>
              <a:gd name="adj" fmla="val 7518"/>
            </a:avLst>
          </a:prstGeom>
          <a:solidFill>
            <a:srgbClr val="FFF8F0"/>
          </a:solidFill>
          <a:ln w="22860">
            <a:solidFill>
              <a:srgbClr val="D2600F"/>
            </a:solidFill>
            <a:prstDash val="solid"/>
          </a:ln>
        </p:spPr>
      </p:sp>
      <p:sp>
        <p:nvSpPr>
          <p:cNvPr id="9" name="Shape 6"/>
          <p:cNvSpPr/>
          <p:nvPr/>
        </p:nvSpPr>
        <p:spPr>
          <a:xfrm>
            <a:off x="6231731" y="2947749"/>
            <a:ext cx="91440" cy="1459468"/>
          </a:xfrm>
          <a:prstGeom prst="roundRect">
            <a:avLst>
              <a:gd name="adj" fmla="val 88222"/>
            </a:avLst>
          </a:prstGeom>
          <a:solidFill>
            <a:srgbClr val="D2600F"/>
          </a:solidFill>
          <a:ln/>
        </p:spPr>
      </p:sp>
      <p:sp>
        <p:nvSpPr>
          <p:cNvPr id="10" name="Text 7"/>
          <p:cNvSpPr/>
          <p:nvPr/>
        </p:nvSpPr>
        <p:spPr>
          <a:xfrm>
            <a:off x="6538079" y="3162657"/>
            <a:ext cx="2837021" cy="300157"/>
          </a:xfrm>
          <a:prstGeom prst="rect">
            <a:avLst/>
          </a:prstGeom>
          <a:noFill/>
          <a:ln/>
        </p:spPr>
        <p:txBody>
          <a:bodyPr wrap="none" lIns="0" tIns="0" rIns="0" bIns="0" rtlCol="0" anchor="t"/>
          <a:lstStyle/>
          <a:p>
            <a:pPr algn="l" indent="0" marL="0">
              <a:lnSpc>
                <a:spcPts val="2350"/>
              </a:lnSpc>
              <a:buNone/>
            </a:pPr>
            <a:r>
              <a:rPr lang="en-US" sz="1850" dirty="0">
                <a:solidFill>
                  <a:srgbClr val="2B2E3C"/>
                </a:solidFill>
                <a:latin typeface="Bitter Medium" pitchFamily="34" charset="0"/>
                <a:ea typeface="Bitter Medium" pitchFamily="34" charset="-122"/>
                <a:cs typeface="Bitter Medium" pitchFamily="34" charset="-120"/>
              </a:rPr>
              <a:t>Performance Bottlenecks</a:t>
            </a:r>
            <a:endParaRPr lang="en-US" sz="1850" dirty="0"/>
          </a:p>
        </p:txBody>
      </p:sp>
      <p:sp>
        <p:nvSpPr>
          <p:cNvPr id="11" name="Text 8"/>
          <p:cNvSpPr/>
          <p:nvPr/>
        </p:nvSpPr>
        <p:spPr>
          <a:xfrm>
            <a:off x="6538079" y="3577947"/>
            <a:ext cx="7109222" cy="614363"/>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Systems slow to a crawl under load because fundamental structural issues can't be patched away</a:t>
            </a:r>
            <a:endParaRPr lang="en-US" sz="1500" dirty="0"/>
          </a:p>
        </p:txBody>
      </p:sp>
      <p:sp>
        <p:nvSpPr>
          <p:cNvPr id="12" name="Shape 9"/>
          <p:cNvSpPr/>
          <p:nvPr/>
        </p:nvSpPr>
        <p:spPr>
          <a:xfrm>
            <a:off x="6254591" y="4599265"/>
            <a:ext cx="7607618" cy="1459468"/>
          </a:xfrm>
          <a:prstGeom prst="roundRect">
            <a:avLst>
              <a:gd name="adj" fmla="val 7518"/>
            </a:avLst>
          </a:prstGeom>
          <a:solidFill>
            <a:srgbClr val="FFF8F0"/>
          </a:solidFill>
          <a:ln w="22860">
            <a:solidFill>
              <a:srgbClr val="D2600F"/>
            </a:solidFill>
            <a:prstDash val="solid"/>
          </a:ln>
        </p:spPr>
      </p:sp>
      <p:sp>
        <p:nvSpPr>
          <p:cNvPr id="13" name="Shape 10"/>
          <p:cNvSpPr/>
          <p:nvPr/>
        </p:nvSpPr>
        <p:spPr>
          <a:xfrm>
            <a:off x="6231731" y="4599265"/>
            <a:ext cx="91440" cy="1459468"/>
          </a:xfrm>
          <a:prstGeom prst="roundRect">
            <a:avLst>
              <a:gd name="adj" fmla="val 88222"/>
            </a:avLst>
          </a:prstGeom>
          <a:solidFill>
            <a:srgbClr val="D2600F"/>
          </a:solidFill>
          <a:ln/>
        </p:spPr>
      </p:sp>
      <p:sp>
        <p:nvSpPr>
          <p:cNvPr id="14" name="Text 11"/>
          <p:cNvSpPr/>
          <p:nvPr/>
        </p:nvSpPr>
        <p:spPr>
          <a:xfrm>
            <a:off x="6538079" y="4814173"/>
            <a:ext cx="2643545" cy="300157"/>
          </a:xfrm>
          <a:prstGeom prst="rect">
            <a:avLst/>
          </a:prstGeom>
          <a:noFill/>
          <a:ln/>
        </p:spPr>
        <p:txBody>
          <a:bodyPr wrap="none" lIns="0" tIns="0" rIns="0" bIns="0" rtlCol="0" anchor="t"/>
          <a:lstStyle/>
          <a:p>
            <a:pPr algn="l" indent="0" marL="0">
              <a:lnSpc>
                <a:spcPts val="2350"/>
              </a:lnSpc>
              <a:buNone/>
            </a:pPr>
            <a:r>
              <a:rPr lang="en-US" sz="1850" dirty="0">
                <a:solidFill>
                  <a:srgbClr val="2B2E3C"/>
                </a:solidFill>
                <a:latin typeface="Bitter Medium" pitchFamily="34" charset="0"/>
                <a:ea typeface="Bitter Medium" pitchFamily="34" charset="-122"/>
                <a:cs typeface="Bitter Medium" pitchFamily="34" charset="-120"/>
              </a:rPr>
              <a:t>Security Vulnerabilities</a:t>
            </a:r>
            <a:endParaRPr lang="en-US" sz="1850" dirty="0"/>
          </a:p>
        </p:txBody>
      </p:sp>
      <p:sp>
        <p:nvSpPr>
          <p:cNvPr id="15" name="Text 12"/>
          <p:cNvSpPr/>
          <p:nvPr/>
        </p:nvSpPr>
        <p:spPr>
          <a:xfrm>
            <a:off x="6538079" y="5229463"/>
            <a:ext cx="7109222" cy="614363"/>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Architectural flaws create attack surfaces that no amount of code-level security can fully address</a:t>
            </a:r>
            <a:endParaRPr lang="en-US" sz="1500" dirty="0"/>
          </a:p>
        </p:txBody>
      </p:sp>
      <p:sp>
        <p:nvSpPr>
          <p:cNvPr id="16" name="Shape 13"/>
          <p:cNvSpPr/>
          <p:nvPr/>
        </p:nvSpPr>
        <p:spPr>
          <a:xfrm>
            <a:off x="6254591" y="6250781"/>
            <a:ext cx="7607618" cy="1459468"/>
          </a:xfrm>
          <a:prstGeom prst="roundRect">
            <a:avLst>
              <a:gd name="adj" fmla="val 7518"/>
            </a:avLst>
          </a:prstGeom>
          <a:solidFill>
            <a:srgbClr val="FFF8F0"/>
          </a:solidFill>
          <a:ln w="22860">
            <a:solidFill>
              <a:srgbClr val="D2600F"/>
            </a:solidFill>
            <a:prstDash val="solid"/>
          </a:ln>
        </p:spPr>
      </p:sp>
      <p:sp>
        <p:nvSpPr>
          <p:cNvPr id="17" name="Shape 14"/>
          <p:cNvSpPr/>
          <p:nvPr/>
        </p:nvSpPr>
        <p:spPr>
          <a:xfrm>
            <a:off x="6231731" y="6250781"/>
            <a:ext cx="91440" cy="1459468"/>
          </a:xfrm>
          <a:prstGeom prst="roundRect">
            <a:avLst>
              <a:gd name="adj" fmla="val 88222"/>
            </a:avLst>
          </a:prstGeom>
          <a:solidFill>
            <a:srgbClr val="D2600F"/>
          </a:solidFill>
          <a:ln/>
        </p:spPr>
      </p:sp>
      <p:sp>
        <p:nvSpPr>
          <p:cNvPr id="18" name="Text 15"/>
          <p:cNvSpPr/>
          <p:nvPr/>
        </p:nvSpPr>
        <p:spPr>
          <a:xfrm>
            <a:off x="6538079" y="6465689"/>
            <a:ext cx="2553057" cy="300157"/>
          </a:xfrm>
          <a:prstGeom prst="rect">
            <a:avLst/>
          </a:prstGeom>
          <a:noFill/>
          <a:ln/>
        </p:spPr>
        <p:txBody>
          <a:bodyPr wrap="none" lIns="0" tIns="0" rIns="0" bIns="0" rtlCol="0" anchor="t"/>
          <a:lstStyle/>
          <a:p>
            <a:pPr algn="l" indent="0" marL="0">
              <a:lnSpc>
                <a:spcPts val="2350"/>
              </a:lnSpc>
              <a:buNone/>
            </a:pPr>
            <a:r>
              <a:rPr lang="en-US" sz="1850" dirty="0">
                <a:solidFill>
                  <a:srgbClr val="2B2E3C"/>
                </a:solidFill>
                <a:latin typeface="Bitter Medium" pitchFamily="34" charset="0"/>
                <a:ea typeface="Bitter Medium" pitchFamily="34" charset="-122"/>
                <a:cs typeface="Bitter Medium" pitchFamily="34" charset="-120"/>
              </a:rPr>
              <a:t>Development Paralysis</a:t>
            </a:r>
            <a:endParaRPr lang="en-US" sz="1850" dirty="0"/>
          </a:p>
        </p:txBody>
      </p:sp>
      <p:sp>
        <p:nvSpPr>
          <p:cNvPr id="19" name="Text 16"/>
          <p:cNvSpPr/>
          <p:nvPr/>
        </p:nvSpPr>
        <p:spPr>
          <a:xfrm>
            <a:off x="6538079" y="6880979"/>
            <a:ext cx="7109222" cy="614363"/>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Teams fear making changes because the system is so fragile that any modification might break everything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386126"/>
            <a:ext cx="7669649" cy="496133"/>
          </a:xfrm>
          <a:prstGeom prst="rect">
            <a:avLst/>
          </a:prstGeom>
          <a:noFill/>
          <a:ln/>
        </p:spPr>
        <p:txBody>
          <a:bodyPr wrap="none" lIns="0" tIns="0" rIns="0" bIns="0" rtlCol="0" anchor="t"/>
          <a:lstStyle/>
          <a:p>
            <a:pPr algn="l" indent="0" marL="0">
              <a:lnSpc>
                <a:spcPts val="3900"/>
              </a:lnSpc>
              <a:buNone/>
            </a:pPr>
            <a:r>
              <a:rPr lang="en-US" sz="3100" dirty="0">
                <a:solidFill>
                  <a:srgbClr val="2C3F42"/>
                </a:solidFill>
                <a:latin typeface="Bitter Medium" pitchFamily="34" charset="0"/>
                <a:ea typeface="Bitter Medium" pitchFamily="34" charset="-122"/>
                <a:cs typeface="Bitter Medium" pitchFamily="34" charset="-120"/>
              </a:rPr>
              <a:t>Real-World Example: Netflix Architecture</a:t>
            </a:r>
            <a:endParaRPr lang="en-US" sz="3100" dirty="0"/>
          </a:p>
        </p:txBody>
      </p:sp>
      <p:pic>
        <p:nvPicPr>
          <p:cNvPr id="3" name="Image 0" descr="preencoded.png">    </p:cNvPr>
          <p:cNvPicPr>
            <a:picLocks noChangeAspect="1"/>
          </p:cNvPicPr>
          <p:nvPr/>
        </p:nvPicPr>
        <p:blipFill>
          <a:blip r:embed="rId1"/>
          <a:stretch>
            <a:fillRect/>
          </a:stretch>
        </p:blipFill>
        <p:spPr>
          <a:xfrm>
            <a:off x="793790" y="2403158"/>
            <a:ext cx="6279356" cy="3532108"/>
          </a:xfrm>
          <a:prstGeom prst="rect">
            <a:avLst/>
          </a:prstGeom>
        </p:spPr>
      </p:pic>
      <p:sp>
        <p:nvSpPr>
          <p:cNvPr id="4" name="Text 1"/>
          <p:cNvSpPr/>
          <p:nvPr/>
        </p:nvSpPr>
        <p:spPr>
          <a:xfrm>
            <a:off x="7564874" y="2358509"/>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Netflix's architecture demonstrates software architecture in action. Their system handles over 200 million subscribers streaming billions of hours of content monthly.</a:t>
            </a:r>
            <a:endParaRPr lang="en-US" sz="1550" dirty="0"/>
          </a:p>
        </p:txBody>
      </p:sp>
      <p:sp>
        <p:nvSpPr>
          <p:cNvPr id="5" name="Text 2"/>
          <p:cNvSpPr/>
          <p:nvPr/>
        </p:nvSpPr>
        <p:spPr>
          <a:xfrm>
            <a:off x="7564874" y="3489722"/>
            <a:ext cx="6279356" cy="317540"/>
          </a:xfrm>
          <a:prstGeom prst="rect">
            <a:avLst/>
          </a:prstGeom>
          <a:noFill/>
          <a:ln/>
        </p:spPr>
        <p:txBody>
          <a:bodyPr wrap="none" lIns="0" tIns="0" rIns="0" bIns="0" rtlCol="0" anchor="t"/>
          <a:lstStyle/>
          <a:p>
            <a:pPr algn="l" indent="0" marL="0">
              <a:lnSpc>
                <a:spcPts val="2500"/>
              </a:lnSpc>
              <a:buNone/>
            </a:pPr>
            <a:r>
              <a:rPr lang="en-US" sz="1550" b="1" dirty="0">
                <a:solidFill>
                  <a:srgbClr val="2B2E3C"/>
                </a:solidFill>
                <a:latin typeface="Open Sans" pitchFamily="34" charset="0"/>
                <a:ea typeface="Open Sans" pitchFamily="34" charset="-122"/>
                <a:cs typeface="Open Sans" pitchFamily="34" charset="-120"/>
              </a:rPr>
              <a:t>Key architectural decisions:</a:t>
            </a:r>
            <a:endParaRPr lang="en-US" sz="1550" dirty="0"/>
          </a:p>
        </p:txBody>
      </p:sp>
      <p:sp>
        <p:nvSpPr>
          <p:cNvPr id="6" name="Text 3"/>
          <p:cNvSpPr/>
          <p:nvPr/>
        </p:nvSpPr>
        <p:spPr>
          <a:xfrm>
            <a:off x="7564874" y="3985855"/>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B2E3C"/>
                </a:solidFill>
                <a:latin typeface="Open Sans" pitchFamily="34" charset="0"/>
                <a:ea typeface="Open Sans" pitchFamily="34" charset="-122"/>
                <a:cs typeface="Open Sans" pitchFamily="34" charset="-120"/>
              </a:rPr>
              <a:t>Microservices architecture with 700+ independent services</a:t>
            </a:r>
            <a:endParaRPr lang="en-US" sz="1550" dirty="0"/>
          </a:p>
        </p:txBody>
      </p:sp>
      <p:sp>
        <p:nvSpPr>
          <p:cNvPr id="7" name="Text 4"/>
          <p:cNvSpPr/>
          <p:nvPr/>
        </p:nvSpPr>
        <p:spPr>
          <a:xfrm>
            <a:off x="7564874" y="4372808"/>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B2E3C"/>
                </a:solidFill>
                <a:latin typeface="Open Sans" pitchFamily="34" charset="0"/>
                <a:ea typeface="Open Sans" pitchFamily="34" charset="-122"/>
                <a:cs typeface="Open Sans" pitchFamily="34" charset="-120"/>
              </a:rPr>
              <a:t>Cloud-based infrastructure on AWS for global scalability</a:t>
            </a:r>
            <a:endParaRPr lang="en-US" sz="1550" dirty="0"/>
          </a:p>
        </p:txBody>
      </p:sp>
      <p:sp>
        <p:nvSpPr>
          <p:cNvPr id="8" name="Text 5"/>
          <p:cNvSpPr/>
          <p:nvPr/>
        </p:nvSpPr>
        <p:spPr>
          <a:xfrm>
            <a:off x="7564874" y="4759762"/>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B2E3C"/>
                </a:solidFill>
                <a:latin typeface="Open Sans" pitchFamily="34" charset="0"/>
                <a:ea typeface="Open Sans" pitchFamily="34" charset="-122"/>
                <a:cs typeface="Open Sans" pitchFamily="34" charset="-120"/>
              </a:rPr>
              <a:t>Content delivery network (CDN) for performance</a:t>
            </a:r>
            <a:endParaRPr lang="en-US" sz="1550" dirty="0"/>
          </a:p>
        </p:txBody>
      </p:sp>
      <p:sp>
        <p:nvSpPr>
          <p:cNvPr id="9" name="Text 6"/>
          <p:cNvSpPr/>
          <p:nvPr/>
        </p:nvSpPr>
        <p:spPr>
          <a:xfrm>
            <a:off x="7564874" y="5146715"/>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B2E3C"/>
                </a:solidFill>
                <a:latin typeface="Open Sans" pitchFamily="34" charset="0"/>
                <a:ea typeface="Open Sans" pitchFamily="34" charset="-122"/>
                <a:cs typeface="Open Sans" pitchFamily="34" charset="-120"/>
              </a:rPr>
              <a:t>Chaos engineering to ensure reliability</a:t>
            </a:r>
            <a:endParaRPr lang="en-US" sz="1550" dirty="0"/>
          </a:p>
        </p:txBody>
      </p:sp>
      <p:sp>
        <p:nvSpPr>
          <p:cNvPr id="10" name="Text 7"/>
          <p:cNvSpPr/>
          <p:nvPr/>
        </p:nvSpPr>
        <p:spPr>
          <a:xfrm>
            <a:off x="7564874" y="5533668"/>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B2E3C"/>
                </a:solidFill>
                <a:latin typeface="Open Sans" pitchFamily="34" charset="0"/>
                <a:ea typeface="Open Sans" pitchFamily="34" charset="-122"/>
                <a:cs typeface="Open Sans" pitchFamily="34" charset="-120"/>
              </a:rPr>
              <a:t>Event-driven communication between services</a:t>
            </a:r>
            <a:endParaRPr lang="en-US" sz="1550" dirty="0"/>
          </a:p>
        </p:txBody>
      </p:sp>
      <p:sp>
        <p:nvSpPr>
          <p:cNvPr id="11" name="Text 8"/>
          <p:cNvSpPr/>
          <p:nvPr/>
        </p:nvSpPr>
        <p:spPr>
          <a:xfrm>
            <a:off x="7564874" y="6029801"/>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These architectural choices enable Netflix to scale globally, deploy updates hundreds of times daily, and maintain 99.99% uptime.</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57106" y="498277"/>
            <a:ext cx="7829788" cy="821531"/>
          </a:xfrm>
          <a:prstGeom prst="rect">
            <a:avLst/>
          </a:prstGeom>
          <a:noFill/>
          <a:ln/>
        </p:spPr>
        <p:txBody>
          <a:bodyPr wrap="square" lIns="0" tIns="0" rIns="0" bIns="0" rtlCol="0" anchor="t"/>
          <a:lstStyle/>
          <a:p>
            <a:pPr algn="l" indent="0" marL="0">
              <a:lnSpc>
                <a:spcPts val="3200"/>
              </a:lnSpc>
              <a:buNone/>
            </a:pPr>
            <a:r>
              <a:rPr lang="en-US" sz="2550" dirty="0">
                <a:solidFill>
                  <a:srgbClr val="2C3F42"/>
                </a:solidFill>
                <a:latin typeface="Bitter Medium" pitchFamily="34" charset="0"/>
                <a:ea typeface="Bitter Medium" pitchFamily="34" charset="-122"/>
                <a:cs typeface="Bitter Medium" pitchFamily="34" charset="-120"/>
              </a:rPr>
              <a:t>Architecture vs. Design: Understanding the Distinction</a:t>
            </a:r>
            <a:endParaRPr lang="en-US" sz="2550" dirty="0"/>
          </a:p>
        </p:txBody>
      </p:sp>
      <p:sp>
        <p:nvSpPr>
          <p:cNvPr id="4" name="Text 1"/>
          <p:cNvSpPr/>
          <p:nvPr/>
        </p:nvSpPr>
        <p:spPr>
          <a:xfrm>
            <a:off x="657106" y="1566148"/>
            <a:ext cx="7829788" cy="525780"/>
          </a:xfrm>
          <a:prstGeom prst="rect">
            <a:avLst/>
          </a:prstGeom>
          <a:noFill/>
          <a:ln/>
        </p:spPr>
        <p:txBody>
          <a:bodyPr wrap="square" lIns="0" tIns="0" rIns="0" bIns="0" rtlCol="0" anchor="t"/>
          <a:lstStyle/>
          <a:p>
            <a:pPr algn="l" indent="0" marL="0">
              <a:lnSpc>
                <a:spcPts val="2050"/>
              </a:lnSpc>
              <a:buNone/>
            </a:pPr>
            <a:r>
              <a:rPr lang="en-US" sz="1250" dirty="0">
                <a:solidFill>
                  <a:srgbClr val="2B2E3C"/>
                </a:solidFill>
                <a:latin typeface="Open Sans" pitchFamily="34" charset="0"/>
                <a:ea typeface="Open Sans" pitchFamily="34" charset="-122"/>
                <a:cs typeface="Open Sans" pitchFamily="34" charset="-120"/>
              </a:rPr>
              <a:t>While architecture and design are related, they operate at different levels of abstraction and have distinct purposes. Understanding this difference is crucial for effective software development.</a:t>
            </a:r>
            <a:endParaRPr lang="en-US" sz="1250" dirty="0"/>
          </a:p>
        </p:txBody>
      </p:sp>
      <p:sp>
        <p:nvSpPr>
          <p:cNvPr id="5" name="Shape 2"/>
          <p:cNvSpPr/>
          <p:nvPr/>
        </p:nvSpPr>
        <p:spPr>
          <a:xfrm>
            <a:off x="657106" y="2276713"/>
            <a:ext cx="22860" cy="5454610"/>
          </a:xfrm>
          <a:prstGeom prst="roundRect">
            <a:avLst>
              <a:gd name="adj" fmla="val 301872"/>
            </a:avLst>
          </a:prstGeom>
          <a:solidFill>
            <a:srgbClr val="E2C8B5"/>
          </a:solidFill>
          <a:ln/>
        </p:spPr>
      </p:sp>
      <p:sp>
        <p:nvSpPr>
          <p:cNvPr id="6" name="Shape 3"/>
          <p:cNvSpPr/>
          <p:nvPr/>
        </p:nvSpPr>
        <p:spPr>
          <a:xfrm>
            <a:off x="679966" y="2276713"/>
            <a:ext cx="7829788" cy="2563058"/>
          </a:xfrm>
          <a:prstGeom prst="rect">
            <a:avLst/>
          </a:prstGeom>
          <a:solidFill>
            <a:srgbClr val="FCE2CF"/>
          </a:solidFill>
          <a:ln w="7620">
            <a:solidFill>
              <a:srgbClr val="E2C8B5"/>
            </a:solidFill>
            <a:prstDash val="solid"/>
          </a:ln>
        </p:spPr>
      </p:sp>
      <p:sp>
        <p:nvSpPr>
          <p:cNvPr id="7" name="Text 4"/>
          <p:cNvSpPr/>
          <p:nvPr/>
        </p:nvSpPr>
        <p:spPr>
          <a:xfrm>
            <a:off x="844153" y="2448520"/>
            <a:ext cx="2122884" cy="256699"/>
          </a:xfrm>
          <a:prstGeom prst="rect">
            <a:avLst/>
          </a:prstGeom>
          <a:noFill/>
          <a:ln/>
        </p:spPr>
        <p:txBody>
          <a:bodyPr wrap="none" lIns="0" tIns="0" rIns="0" bIns="0" rtlCol="0" anchor="t"/>
          <a:lstStyle/>
          <a:p>
            <a:pPr algn="l" indent="0" marL="0">
              <a:lnSpc>
                <a:spcPts val="2000"/>
              </a:lnSpc>
              <a:buNone/>
            </a:pPr>
            <a:r>
              <a:rPr lang="en-US" sz="1600" dirty="0">
                <a:solidFill>
                  <a:srgbClr val="2B2E3C"/>
                </a:solidFill>
                <a:latin typeface="Bitter Medium" pitchFamily="34" charset="0"/>
                <a:ea typeface="Bitter Medium" pitchFamily="34" charset="-122"/>
                <a:cs typeface="Bitter Medium" pitchFamily="34" charset="-120"/>
              </a:rPr>
              <a:t>Software Architecture</a:t>
            </a:r>
            <a:endParaRPr lang="en-US" sz="1600" dirty="0"/>
          </a:p>
        </p:txBody>
      </p:sp>
      <p:sp>
        <p:nvSpPr>
          <p:cNvPr id="8" name="Text 5"/>
          <p:cNvSpPr/>
          <p:nvPr/>
        </p:nvSpPr>
        <p:spPr>
          <a:xfrm>
            <a:off x="844153" y="2803684"/>
            <a:ext cx="7493794" cy="262890"/>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B2E3C"/>
                </a:solidFill>
                <a:latin typeface="Open Sans" pitchFamily="34" charset="0"/>
                <a:ea typeface="Open Sans" pitchFamily="34" charset="-122"/>
                <a:cs typeface="Open Sans" pitchFamily="34" charset="-120"/>
              </a:rPr>
              <a:t>High-level structure of the </a:t>
            </a:r>
            <a:pPr algn="l" indent="0" marL="0">
              <a:lnSpc>
                <a:spcPts val="2050"/>
              </a:lnSpc>
              <a:buNone/>
            </a:pPr>
            <a:r>
              <a:rPr lang="en-US" sz="1250" i="1" dirty="0">
                <a:solidFill>
                  <a:srgbClr val="2B2E3C"/>
                </a:solidFill>
                <a:latin typeface="Open Sans" pitchFamily="34" charset="0"/>
                <a:ea typeface="Open Sans" pitchFamily="34" charset="-122"/>
                <a:cs typeface="Open Sans" pitchFamily="34" charset="-120"/>
              </a:rPr>
              <a:t>entire system</a:t>
            </a:r>
            <a:endParaRPr lang="en-US" sz="1250" dirty="0"/>
          </a:p>
        </p:txBody>
      </p:sp>
      <p:sp>
        <p:nvSpPr>
          <p:cNvPr id="9" name="Text 6"/>
          <p:cNvSpPr/>
          <p:nvPr/>
        </p:nvSpPr>
        <p:spPr>
          <a:xfrm>
            <a:off x="844153" y="3123962"/>
            <a:ext cx="7493794" cy="262890"/>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B2E3C"/>
                </a:solidFill>
                <a:latin typeface="Open Sans" pitchFamily="34" charset="0"/>
                <a:ea typeface="Open Sans" pitchFamily="34" charset="-122"/>
                <a:cs typeface="Open Sans" pitchFamily="34" charset="-120"/>
              </a:rPr>
              <a:t>Focuses on components, modules, and their interactions</a:t>
            </a:r>
            <a:endParaRPr lang="en-US" sz="1250" dirty="0"/>
          </a:p>
        </p:txBody>
      </p:sp>
      <p:sp>
        <p:nvSpPr>
          <p:cNvPr id="10" name="Text 7"/>
          <p:cNvSpPr/>
          <p:nvPr/>
        </p:nvSpPr>
        <p:spPr>
          <a:xfrm>
            <a:off x="844153" y="3444240"/>
            <a:ext cx="7493794" cy="262890"/>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B2E3C"/>
                </a:solidFill>
                <a:latin typeface="Open Sans" pitchFamily="34" charset="0"/>
                <a:ea typeface="Open Sans" pitchFamily="34" charset="-122"/>
                <a:cs typeface="Open Sans" pitchFamily="34" charset="-120"/>
              </a:rPr>
              <a:t>Addresses </a:t>
            </a:r>
            <a:pPr algn="l" indent="0" marL="0">
              <a:lnSpc>
                <a:spcPts val="2050"/>
              </a:lnSpc>
              <a:buNone/>
            </a:pPr>
            <a:r>
              <a:rPr lang="en-US" sz="1250" b="1" dirty="0">
                <a:solidFill>
                  <a:srgbClr val="2B2E3C"/>
                </a:solidFill>
                <a:latin typeface="Open Sans" pitchFamily="34" charset="0"/>
                <a:ea typeface="Open Sans" pitchFamily="34" charset="-122"/>
                <a:cs typeface="Open Sans" pitchFamily="34" charset="-120"/>
              </a:rPr>
              <a:t>non-functional requirements</a:t>
            </a:r>
            <a:pPr algn="l" indent="0" marL="0">
              <a:lnSpc>
                <a:spcPts val="2050"/>
              </a:lnSpc>
              <a:buNone/>
            </a:pPr>
            <a:r>
              <a:rPr lang="en-US" sz="1250" dirty="0">
                <a:solidFill>
                  <a:srgbClr val="2B2E3C"/>
                </a:solidFill>
                <a:latin typeface="Open Sans" pitchFamily="34" charset="0"/>
                <a:ea typeface="Open Sans" pitchFamily="34" charset="-122"/>
                <a:cs typeface="Open Sans" pitchFamily="34" charset="-120"/>
              </a:rPr>
              <a:t> (scalability, performance, security)</a:t>
            </a:r>
            <a:endParaRPr lang="en-US" sz="1250" dirty="0"/>
          </a:p>
        </p:txBody>
      </p:sp>
      <p:sp>
        <p:nvSpPr>
          <p:cNvPr id="11" name="Text 8"/>
          <p:cNvSpPr/>
          <p:nvPr/>
        </p:nvSpPr>
        <p:spPr>
          <a:xfrm>
            <a:off x="844153" y="3764518"/>
            <a:ext cx="7493794" cy="262890"/>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B2E3C"/>
                </a:solidFill>
                <a:latin typeface="Open Sans" pitchFamily="34" charset="0"/>
                <a:ea typeface="Open Sans" pitchFamily="34" charset="-122"/>
                <a:cs typeface="Open Sans" pitchFamily="34" charset="-120"/>
              </a:rPr>
              <a:t>Long-term and relatively stable</a:t>
            </a:r>
            <a:endParaRPr lang="en-US" sz="1250" dirty="0"/>
          </a:p>
        </p:txBody>
      </p:sp>
      <p:sp>
        <p:nvSpPr>
          <p:cNvPr id="12" name="Text 9"/>
          <p:cNvSpPr/>
          <p:nvPr/>
        </p:nvSpPr>
        <p:spPr>
          <a:xfrm>
            <a:off x="844153" y="4084796"/>
            <a:ext cx="7493794" cy="262890"/>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B2E3C"/>
                </a:solidFill>
                <a:latin typeface="Open Sans" pitchFamily="34" charset="0"/>
                <a:ea typeface="Open Sans" pitchFamily="34" charset="-122"/>
                <a:cs typeface="Open Sans" pitchFamily="34" charset="-120"/>
              </a:rPr>
              <a:t>Decisions are difficult and expensive to reverse</a:t>
            </a:r>
            <a:endParaRPr lang="en-US" sz="1250" dirty="0"/>
          </a:p>
        </p:txBody>
      </p:sp>
      <p:sp>
        <p:nvSpPr>
          <p:cNvPr id="13" name="Text 10"/>
          <p:cNvSpPr/>
          <p:nvPr/>
        </p:nvSpPr>
        <p:spPr>
          <a:xfrm>
            <a:off x="844153" y="4405074"/>
            <a:ext cx="7493794" cy="262890"/>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D2600F"/>
                </a:solidFill>
                <a:latin typeface="Open Sans" pitchFamily="34" charset="0"/>
                <a:ea typeface="Open Sans" pitchFamily="34" charset="-122"/>
                <a:cs typeface="Open Sans" pitchFamily="34" charset="-120"/>
              </a:rPr>
              <a:t>Example:</a:t>
            </a:r>
            <a:pPr algn="l" indent="0" marL="0">
              <a:lnSpc>
                <a:spcPts val="2050"/>
              </a:lnSpc>
              <a:buNone/>
            </a:pPr>
            <a:r>
              <a:rPr lang="en-US" sz="1250" dirty="0">
                <a:solidFill>
                  <a:srgbClr val="2B2E3C"/>
                </a:solidFill>
                <a:latin typeface="Open Sans" pitchFamily="34" charset="0"/>
                <a:ea typeface="Open Sans" pitchFamily="34" charset="-122"/>
                <a:cs typeface="Open Sans" pitchFamily="34" charset="-120"/>
              </a:rPr>
              <a:t> "Use microservices architecture with API gateway and event bus"</a:t>
            </a:r>
            <a:endParaRPr lang="en-US" sz="1250" dirty="0"/>
          </a:p>
        </p:txBody>
      </p:sp>
      <p:sp>
        <p:nvSpPr>
          <p:cNvPr id="14" name="Shape 11"/>
          <p:cNvSpPr/>
          <p:nvPr/>
        </p:nvSpPr>
        <p:spPr>
          <a:xfrm>
            <a:off x="679966" y="5168265"/>
            <a:ext cx="7829788" cy="2563058"/>
          </a:xfrm>
          <a:prstGeom prst="rect">
            <a:avLst/>
          </a:prstGeom>
          <a:solidFill>
            <a:srgbClr val="FCE2CF"/>
          </a:solidFill>
          <a:ln w="7620">
            <a:solidFill>
              <a:srgbClr val="E2C8B5"/>
            </a:solidFill>
            <a:prstDash val="solid"/>
          </a:ln>
        </p:spPr>
      </p:sp>
      <p:sp>
        <p:nvSpPr>
          <p:cNvPr id="15" name="Text 12"/>
          <p:cNvSpPr/>
          <p:nvPr/>
        </p:nvSpPr>
        <p:spPr>
          <a:xfrm>
            <a:off x="844153" y="5340072"/>
            <a:ext cx="2053709" cy="256699"/>
          </a:xfrm>
          <a:prstGeom prst="rect">
            <a:avLst/>
          </a:prstGeom>
          <a:noFill/>
          <a:ln/>
        </p:spPr>
        <p:txBody>
          <a:bodyPr wrap="none" lIns="0" tIns="0" rIns="0" bIns="0" rtlCol="0" anchor="t"/>
          <a:lstStyle/>
          <a:p>
            <a:pPr algn="l" indent="0" marL="0">
              <a:lnSpc>
                <a:spcPts val="2000"/>
              </a:lnSpc>
              <a:buNone/>
            </a:pPr>
            <a:r>
              <a:rPr lang="en-US" sz="1600" dirty="0">
                <a:solidFill>
                  <a:srgbClr val="2B2E3C"/>
                </a:solidFill>
                <a:latin typeface="Bitter Medium" pitchFamily="34" charset="0"/>
                <a:ea typeface="Bitter Medium" pitchFamily="34" charset="-122"/>
                <a:cs typeface="Bitter Medium" pitchFamily="34" charset="-120"/>
              </a:rPr>
              <a:t>Software Design</a:t>
            </a:r>
            <a:endParaRPr lang="en-US" sz="1600" dirty="0"/>
          </a:p>
        </p:txBody>
      </p:sp>
      <p:sp>
        <p:nvSpPr>
          <p:cNvPr id="16" name="Text 13"/>
          <p:cNvSpPr/>
          <p:nvPr/>
        </p:nvSpPr>
        <p:spPr>
          <a:xfrm>
            <a:off x="844153" y="5695236"/>
            <a:ext cx="7493794" cy="262890"/>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B2E3C"/>
                </a:solidFill>
                <a:latin typeface="Open Sans" pitchFamily="34" charset="0"/>
                <a:ea typeface="Open Sans" pitchFamily="34" charset="-122"/>
                <a:cs typeface="Open Sans" pitchFamily="34" charset="-120"/>
              </a:rPr>
              <a:t>Low-level implementation details within components</a:t>
            </a:r>
            <a:endParaRPr lang="en-US" sz="1250" dirty="0"/>
          </a:p>
        </p:txBody>
      </p:sp>
      <p:sp>
        <p:nvSpPr>
          <p:cNvPr id="17" name="Text 14"/>
          <p:cNvSpPr/>
          <p:nvPr/>
        </p:nvSpPr>
        <p:spPr>
          <a:xfrm>
            <a:off x="844153" y="6015514"/>
            <a:ext cx="7493794" cy="262890"/>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B2E3C"/>
                </a:solidFill>
                <a:latin typeface="Open Sans" pitchFamily="34" charset="0"/>
                <a:ea typeface="Open Sans" pitchFamily="34" charset="-122"/>
                <a:cs typeface="Open Sans" pitchFamily="34" charset="-120"/>
              </a:rPr>
              <a:t>Focuses on classes, functions, algorithms, and data structures</a:t>
            </a:r>
            <a:endParaRPr lang="en-US" sz="1250" dirty="0"/>
          </a:p>
        </p:txBody>
      </p:sp>
      <p:sp>
        <p:nvSpPr>
          <p:cNvPr id="18" name="Text 15"/>
          <p:cNvSpPr/>
          <p:nvPr/>
        </p:nvSpPr>
        <p:spPr>
          <a:xfrm>
            <a:off x="844153" y="6335792"/>
            <a:ext cx="7493794" cy="262890"/>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B2E3C"/>
                </a:solidFill>
                <a:latin typeface="Open Sans" pitchFamily="34" charset="0"/>
                <a:ea typeface="Open Sans" pitchFamily="34" charset="-122"/>
                <a:cs typeface="Open Sans" pitchFamily="34" charset="-120"/>
              </a:rPr>
              <a:t>Addresses </a:t>
            </a:r>
            <a:pPr algn="l" indent="0" marL="0">
              <a:lnSpc>
                <a:spcPts val="2050"/>
              </a:lnSpc>
              <a:buNone/>
            </a:pPr>
            <a:r>
              <a:rPr lang="en-US" sz="1250" b="1" dirty="0">
                <a:solidFill>
                  <a:srgbClr val="2B2E3C"/>
                </a:solidFill>
                <a:latin typeface="Open Sans" pitchFamily="34" charset="0"/>
                <a:ea typeface="Open Sans" pitchFamily="34" charset="-122"/>
                <a:cs typeface="Open Sans" pitchFamily="34" charset="-120"/>
              </a:rPr>
              <a:t>functional requirements</a:t>
            </a:r>
            <a:pPr algn="l" indent="0" marL="0">
              <a:lnSpc>
                <a:spcPts val="2050"/>
              </a:lnSpc>
              <a:buNone/>
            </a:pPr>
            <a:r>
              <a:rPr lang="en-US" sz="1250" dirty="0">
                <a:solidFill>
                  <a:srgbClr val="2B2E3C"/>
                </a:solidFill>
                <a:latin typeface="Open Sans" pitchFamily="34" charset="0"/>
                <a:ea typeface="Open Sans" pitchFamily="34" charset="-122"/>
                <a:cs typeface="Open Sans" pitchFamily="34" charset="-120"/>
              </a:rPr>
              <a:t> (what the system does)</a:t>
            </a:r>
            <a:endParaRPr lang="en-US" sz="1250" dirty="0"/>
          </a:p>
        </p:txBody>
      </p:sp>
      <p:sp>
        <p:nvSpPr>
          <p:cNvPr id="19" name="Text 16"/>
          <p:cNvSpPr/>
          <p:nvPr/>
        </p:nvSpPr>
        <p:spPr>
          <a:xfrm>
            <a:off x="844153" y="6656070"/>
            <a:ext cx="7493794" cy="262890"/>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B2E3C"/>
                </a:solidFill>
                <a:latin typeface="Open Sans" pitchFamily="34" charset="0"/>
                <a:ea typeface="Open Sans" pitchFamily="34" charset="-122"/>
                <a:cs typeface="Open Sans" pitchFamily="34" charset="-120"/>
              </a:rPr>
              <a:t>Can change frequently during development</a:t>
            </a:r>
            <a:endParaRPr lang="en-US" sz="1250" dirty="0"/>
          </a:p>
        </p:txBody>
      </p:sp>
      <p:sp>
        <p:nvSpPr>
          <p:cNvPr id="20" name="Text 17"/>
          <p:cNvSpPr/>
          <p:nvPr/>
        </p:nvSpPr>
        <p:spPr>
          <a:xfrm>
            <a:off x="844153" y="6976348"/>
            <a:ext cx="7493794" cy="262890"/>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B2E3C"/>
                </a:solidFill>
                <a:latin typeface="Open Sans" pitchFamily="34" charset="0"/>
                <a:ea typeface="Open Sans" pitchFamily="34" charset="-122"/>
                <a:cs typeface="Open Sans" pitchFamily="34" charset="-120"/>
              </a:rPr>
              <a:t>Decisions can be modified with relative ease</a:t>
            </a:r>
            <a:endParaRPr lang="en-US" sz="1250" dirty="0"/>
          </a:p>
        </p:txBody>
      </p:sp>
      <p:sp>
        <p:nvSpPr>
          <p:cNvPr id="21" name="Text 18"/>
          <p:cNvSpPr/>
          <p:nvPr/>
        </p:nvSpPr>
        <p:spPr>
          <a:xfrm>
            <a:off x="844153" y="7296626"/>
            <a:ext cx="7493794" cy="262890"/>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D2600F"/>
                </a:solidFill>
                <a:latin typeface="Open Sans" pitchFamily="34" charset="0"/>
                <a:ea typeface="Open Sans" pitchFamily="34" charset="-122"/>
                <a:cs typeface="Open Sans" pitchFamily="34" charset="-120"/>
              </a:rPr>
              <a:t>Example:</a:t>
            </a:r>
            <a:pPr algn="l" indent="0" marL="0">
              <a:lnSpc>
                <a:spcPts val="2050"/>
              </a:lnSpc>
              <a:buNone/>
            </a:pPr>
            <a:r>
              <a:rPr lang="en-US" sz="1250" dirty="0">
                <a:solidFill>
                  <a:srgbClr val="2B2E3C"/>
                </a:solidFill>
                <a:latin typeface="Open Sans" pitchFamily="34" charset="0"/>
                <a:ea typeface="Open Sans" pitchFamily="34" charset="-122"/>
                <a:cs typeface="Open Sans" pitchFamily="34" charset="-120"/>
              </a:rPr>
              <a:t> "UserService class calls authenticate() method from AuthModule"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463159"/>
            <a:ext cx="8772049" cy="496133"/>
          </a:xfrm>
          <a:prstGeom prst="rect">
            <a:avLst/>
          </a:prstGeom>
          <a:noFill/>
          <a:ln/>
        </p:spPr>
        <p:txBody>
          <a:bodyPr wrap="none" lIns="0" tIns="0" rIns="0" bIns="0" rtlCol="0" anchor="t"/>
          <a:lstStyle/>
          <a:p>
            <a:pPr algn="l" indent="0" marL="0">
              <a:lnSpc>
                <a:spcPts val="3900"/>
              </a:lnSpc>
              <a:buNone/>
            </a:pPr>
            <a:r>
              <a:rPr lang="en-US" sz="3100" dirty="0">
                <a:solidFill>
                  <a:srgbClr val="2C3F42"/>
                </a:solidFill>
                <a:latin typeface="Bitter Medium" pitchFamily="34" charset="0"/>
                <a:ea typeface="Bitter Medium" pitchFamily="34" charset="-122"/>
                <a:cs typeface="Bitter Medium" pitchFamily="34" charset="-120"/>
              </a:rPr>
              <a:t>Real-World Comparison: E-Commerce Platform</a:t>
            </a:r>
            <a:endParaRPr lang="en-US" sz="3100" dirty="0"/>
          </a:p>
        </p:txBody>
      </p:sp>
      <p:sp>
        <p:nvSpPr>
          <p:cNvPr id="3" name="Text 1"/>
          <p:cNvSpPr/>
          <p:nvPr/>
        </p:nvSpPr>
        <p:spPr>
          <a:xfrm>
            <a:off x="793790" y="2455307"/>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2C3F42"/>
                </a:solidFill>
                <a:latin typeface="Bitter Medium" pitchFamily="34" charset="0"/>
                <a:ea typeface="Bitter Medium" pitchFamily="34" charset="-122"/>
                <a:cs typeface="Bitter Medium" pitchFamily="34" charset="-120"/>
              </a:rPr>
              <a:t>Architectural Level</a:t>
            </a:r>
            <a:endParaRPr lang="en-US" sz="2300" dirty="0"/>
          </a:p>
        </p:txBody>
      </p:sp>
      <p:sp>
        <p:nvSpPr>
          <p:cNvPr id="4" name="Text 2"/>
          <p:cNvSpPr/>
          <p:nvPr/>
        </p:nvSpPr>
        <p:spPr>
          <a:xfrm>
            <a:off x="793790" y="3025735"/>
            <a:ext cx="6279356" cy="317540"/>
          </a:xfrm>
          <a:prstGeom prst="rect">
            <a:avLst/>
          </a:prstGeom>
          <a:noFill/>
          <a:ln/>
        </p:spPr>
        <p:txBody>
          <a:bodyPr wrap="none" lIns="0" tIns="0" rIns="0" bIns="0" rtlCol="0" anchor="t"/>
          <a:lstStyle/>
          <a:p>
            <a:pPr algn="l" indent="0" marL="0">
              <a:lnSpc>
                <a:spcPts val="2500"/>
              </a:lnSpc>
              <a:buNone/>
            </a:pPr>
            <a:r>
              <a:rPr lang="en-US" sz="1550" b="1" dirty="0">
                <a:solidFill>
                  <a:srgbClr val="2B2E3C"/>
                </a:solidFill>
                <a:latin typeface="Open Sans" pitchFamily="34" charset="0"/>
                <a:ea typeface="Open Sans" pitchFamily="34" charset="-122"/>
                <a:cs typeface="Open Sans" pitchFamily="34" charset="-120"/>
              </a:rPr>
              <a:t>Decisions that shape the entire system:</a:t>
            </a:r>
            <a:endParaRPr lang="en-US" sz="1550" dirty="0"/>
          </a:p>
        </p:txBody>
      </p:sp>
      <p:sp>
        <p:nvSpPr>
          <p:cNvPr id="5" name="Text 3"/>
          <p:cNvSpPr/>
          <p:nvPr/>
        </p:nvSpPr>
        <p:spPr>
          <a:xfrm>
            <a:off x="793790" y="3521869"/>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B2E3C"/>
                </a:solidFill>
                <a:latin typeface="Open Sans" pitchFamily="34" charset="0"/>
                <a:ea typeface="Open Sans" pitchFamily="34" charset="-122"/>
                <a:cs typeface="Open Sans" pitchFamily="34" charset="-120"/>
              </a:rPr>
              <a:t>Deploy as microservices on Kubernetes</a:t>
            </a:r>
            <a:endParaRPr lang="en-US" sz="1550" dirty="0"/>
          </a:p>
        </p:txBody>
      </p:sp>
      <p:sp>
        <p:nvSpPr>
          <p:cNvPr id="6" name="Text 4"/>
          <p:cNvSpPr/>
          <p:nvPr/>
        </p:nvSpPr>
        <p:spPr>
          <a:xfrm>
            <a:off x="793790" y="3908822"/>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B2E3C"/>
                </a:solidFill>
                <a:latin typeface="Open Sans" pitchFamily="34" charset="0"/>
                <a:ea typeface="Open Sans" pitchFamily="34" charset="-122"/>
                <a:cs typeface="Open Sans" pitchFamily="34" charset="-120"/>
              </a:rPr>
              <a:t>Use PostgreSQL for transactional data, MongoDB for product catalog</a:t>
            </a:r>
            <a:endParaRPr lang="en-US" sz="1550" dirty="0"/>
          </a:p>
        </p:txBody>
      </p:sp>
      <p:sp>
        <p:nvSpPr>
          <p:cNvPr id="7" name="Text 5"/>
          <p:cNvSpPr/>
          <p:nvPr/>
        </p:nvSpPr>
        <p:spPr>
          <a:xfrm>
            <a:off x="793790" y="4613315"/>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B2E3C"/>
                </a:solidFill>
                <a:latin typeface="Open Sans" pitchFamily="34" charset="0"/>
                <a:ea typeface="Open Sans" pitchFamily="34" charset="-122"/>
                <a:cs typeface="Open Sans" pitchFamily="34" charset="-120"/>
              </a:rPr>
              <a:t>Implement CQRS pattern for order processing</a:t>
            </a:r>
            <a:endParaRPr lang="en-US" sz="1550" dirty="0"/>
          </a:p>
        </p:txBody>
      </p:sp>
      <p:sp>
        <p:nvSpPr>
          <p:cNvPr id="8" name="Text 6"/>
          <p:cNvSpPr/>
          <p:nvPr/>
        </p:nvSpPr>
        <p:spPr>
          <a:xfrm>
            <a:off x="793790" y="5000268"/>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B2E3C"/>
                </a:solidFill>
                <a:latin typeface="Open Sans" pitchFamily="34" charset="0"/>
                <a:ea typeface="Open Sans" pitchFamily="34" charset="-122"/>
                <a:cs typeface="Open Sans" pitchFamily="34" charset="-120"/>
              </a:rPr>
              <a:t>Cache frequently accessed data with Redis</a:t>
            </a:r>
            <a:endParaRPr lang="en-US" sz="1550" dirty="0"/>
          </a:p>
        </p:txBody>
      </p:sp>
      <p:sp>
        <p:nvSpPr>
          <p:cNvPr id="9" name="Text 7"/>
          <p:cNvSpPr/>
          <p:nvPr/>
        </p:nvSpPr>
        <p:spPr>
          <a:xfrm>
            <a:off x="793790" y="5387221"/>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B2E3C"/>
                </a:solidFill>
                <a:latin typeface="Open Sans" pitchFamily="34" charset="0"/>
                <a:ea typeface="Open Sans" pitchFamily="34" charset="-122"/>
                <a:cs typeface="Open Sans" pitchFamily="34" charset="-120"/>
              </a:rPr>
              <a:t>Use message queues for asynchronous processing</a:t>
            </a:r>
            <a:endParaRPr lang="en-US" sz="1550" dirty="0"/>
          </a:p>
        </p:txBody>
      </p:sp>
      <p:sp>
        <p:nvSpPr>
          <p:cNvPr id="10" name="Text 8"/>
          <p:cNvSpPr/>
          <p:nvPr/>
        </p:nvSpPr>
        <p:spPr>
          <a:xfrm>
            <a:off x="793790" y="5774174"/>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B2E3C"/>
                </a:solidFill>
                <a:latin typeface="Open Sans" pitchFamily="34" charset="0"/>
                <a:ea typeface="Open Sans" pitchFamily="34" charset="-122"/>
                <a:cs typeface="Open Sans" pitchFamily="34" charset="-120"/>
              </a:rPr>
              <a:t>Deploy across multiple regions for disaster recovery</a:t>
            </a:r>
            <a:endParaRPr lang="en-US" sz="1550" dirty="0"/>
          </a:p>
        </p:txBody>
      </p:sp>
      <p:sp>
        <p:nvSpPr>
          <p:cNvPr id="11" name="Text 9"/>
          <p:cNvSpPr/>
          <p:nvPr/>
        </p:nvSpPr>
        <p:spPr>
          <a:xfrm>
            <a:off x="793790" y="6270308"/>
            <a:ext cx="6279356" cy="317540"/>
          </a:xfrm>
          <a:prstGeom prst="rect">
            <a:avLst/>
          </a:prstGeom>
          <a:noFill/>
          <a:ln/>
        </p:spPr>
        <p:txBody>
          <a:bodyPr wrap="none" lIns="0" tIns="0" rIns="0" bIns="0" rtlCol="0" anchor="t"/>
          <a:lstStyle/>
          <a:p>
            <a:pPr algn="l" indent="0" marL="0">
              <a:lnSpc>
                <a:spcPts val="2500"/>
              </a:lnSpc>
              <a:buNone/>
            </a:pPr>
            <a:r>
              <a:rPr lang="en-US" sz="1550" dirty="0">
                <a:solidFill>
                  <a:srgbClr val="2B2E3C"/>
                </a:solidFill>
                <a:highlight>
                  <a:srgbClr val="FBE2D1"/>
                </a:highlight>
                <a:latin typeface="Open Sans" pitchFamily="34" charset="0"/>
                <a:ea typeface="Open Sans" pitchFamily="34" charset="-122"/>
                <a:cs typeface="Open Sans" pitchFamily="34" charset="-120"/>
              </a:rPr>
              <a:t>These decisions affect the entire team and are expensive to change.</a:t>
            </a:r>
            <a:endParaRPr lang="en-US" sz="1550" dirty="0"/>
          </a:p>
        </p:txBody>
      </p:sp>
      <p:sp>
        <p:nvSpPr>
          <p:cNvPr id="12" name="Text 10"/>
          <p:cNvSpPr/>
          <p:nvPr/>
        </p:nvSpPr>
        <p:spPr>
          <a:xfrm>
            <a:off x="7564874" y="2455307"/>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2C3F42"/>
                </a:solidFill>
                <a:latin typeface="Bitter Medium" pitchFamily="34" charset="0"/>
                <a:ea typeface="Bitter Medium" pitchFamily="34" charset="-122"/>
                <a:cs typeface="Bitter Medium" pitchFamily="34" charset="-120"/>
              </a:rPr>
              <a:t>Design Level</a:t>
            </a:r>
            <a:endParaRPr lang="en-US" sz="2300" dirty="0"/>
          </a:p>
        </p:txBody>
      </p:sp>
      <p:sp>
        <p:nvSpPr>
          <p:cNvPr id="13" name="Text 11"/>
          <p:cNvSpPr/>
          <p:nvPr/>
        </p:nvSpPr>
        <p:spPr>
          <a:xfrm>
            <a:off x="7564874" y="3025735"/>
            <a:ext cx="6279356" cy="317540"/>
          </a:xfrm>
          <a:prstGeom prst="rect">
            <a:avLst/>
          </a:prstGeom>
          <a:noFill/>
          <a:ln/>
        </p:spPr>
        <p:txBody>
          <a:bodyPr wrap="none" lIns="0" tIns="0" rIns="0" bIns="0" rtlCol="0" anchor="t"/>
          <a:lstStyle/>
          <a:p>
            <a:pPr algn="l" indent="0" marL="0">
              <a:lnSpc>
                <a:spcPts val="2500"/>
              </a:lnSpc>
              <a:buNone/>
            </a:pPr>
            <a:r>
              <a:rPr lang="en-US" sz="1550" b="1" dirty="0">
                <a:solidFill>
                  <a:srgbClr val="2B2E3C"/>
                </a:solidFill>
                <a:latin typeface="Open Sans" pitchFamily="34" charset="0"/>
                <a:ea typeface="Open Sans" pitchFamily="34" charset="-122"/>
                <a:cs typeface="Open Sans" pitchFamily="34" charset="-120"/>
              </a:rPr>
              <a:t>Implementation details within services:</a:t>
            </a:r>
            <a:endParaRPr lang="en-US" sz="1550" dirty="0"/>
          </a:p>
        </p:txBody>
      </p:sp>
      <p:sp>
        <p:nvSpPr>
          <p:cNvPr id="14" name="Text 12"/>
          <p:cNvSpPr/>
          <p:nvPr/>
        </p:nvSpPr>
        <p:spPr>
          <a:xfrm>
            <a:off x="7564874" y="3521869"/>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B2E3C"/>
                </a:solidFill>
                <a:latin typeface="Open Sans" pitchFamily="34" charset="0"/>
                <a:ea typeface="Open Sans" pitchFamily="34" charset="-122"/>
                <a:cs typeface="Open Sans" pitchFamily="34" charset="-120"/>
              </a:rPr>
              <a:t>Create ProductRepository class with CRUD methods</a:t>
            </a:r>
            <a:endParaRPr lang="en-US" sz="1550" dirty="0"/>
          </a:p>
        </p:txBody>
      </p:sp>
      <p:sp>
        <p:nvSpPr>
          <p:cNvPr id="15" name="Text 13"/>
          <p:cNvSpPr/>
          <p:nvPr/>
        </p:nvSpPr>
        <p:spPr>
          <a:xfrm>
            <a:off x="7564874" y="3908822"/>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B2E3C"/>
                </a:solidFill>
                <a:latin typeface="Open Sans" pitchFamily="34" charset="0"/>
                <a:ea typeface="Open Sans" pitchFamily="34" charset="-122"/>
                <a:cs typeface="Open Sans" pitchFamily="34" charset="-120"/>
              </a:rPr>
              <a:t>Implement factory pattern for payment processors</a:t>
            </a:r>
            <a:endParaRPr lang="en-US" sz="1550" dirty="0"/>
          </a:p>
        </p:txBody>
      </p:sp>
      <p:sp>
        <p:nvSpPr>
          <p:cNvPr id="16" name="Text 14"/>
          <p:cNvSpPr/>
          <p:nvPr/>
        </p:nvSpPr>
        <p:spPr>
          <a:xfrm>
            <a:off x="7564874" y="4295775"/>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B2E3C"/>
                </a:solidFill>
                <a:latin typeface="Open Sans" pitchFamily="34" charset="0"/>
                <a:ea typeface="Open Sans" pitchFamily="34" charset="-122"/>
                <a:cs typeface="Open Sans" pitchFamily="34" charset="-120"/>
              </a:rPr>
              <a:t>Use strategy pattern for shipping calculations</a:t>
            </a:r>
            <a:endParaRPr lang="en-US" sz="1550" dirty="0"/>
          </a:p>
        </p:txBody>
      </p:sp>
      <p:sp>
        <p:nvSpPr>
          <p:cNvPr id="17" name="Text 15"/>
          <p:cNvSpPr/>
          <p:nvPr/>
        </p:nvSpPr>
        <p:spPr>
          <a:xfrm>
            <a:off x="7564874" y="4682728"/>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B2E3C"/>
                </a:solidFill>
                <a:latin typeface="Open Sans" pitchFamily="34" charset="0"/>
                <a:ea typeface="Open Sans" pitchFamily="34" charset="-122"/>
                <a:cs typeface="Open Sans" pitchFamily="34" charset="-120"/>
              </a:rPr>
              <a:t>Write unit tests with 80% coverage target</a:t>
            </a:r>
            <a:endParaRPr lang="en-US" sz="1550" dirty="0"/>
          </a:p>
        </p:txBody>
      </p:sp>
      <p:sp>
        <p:nvSpPr>
          <p:cNvPr id="18" name="Text 16"/>
          <p:cNvSpPr/>
          <p:nvPr/>
        </p:nvSpPr>
        <p:spPr>
          <a:xfrm>
            <a:off x="7564874" y="5069681"/>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B2E3C"/>
                </a:solidFill>
                <a:latin typeface="Open Sans" pitchFamily="34" charset="0"/>
                <a:ea typeface="Open Sans" pitchFamily="34" charset="-122"/>
                <a:cs typeface="Open Sans" pitchFamily="34" charset="-120"/>
              </a:rPr>
              <a:t>Apply observer pattern for inventory updates</a:t>
            </a:r>
            <a:endParaRPr lang="en-US" sz="1550" dirty="0"/>
          </a:p>
        </p:txBody>
      </p:sp>
      <p:sp>
        <p:nvSpPr>
          <p:cNvPr id="19" name="Text 17"/>
          <p:cNvSpPr/>
          <p:nvPr/>
        </p:nvSpPr>
        <p:spPr>
          <a:xfrm>
            <a:off x="7564874" y="5456634"/>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B2E3C"/>
                </a:solidFill>
                <a:latin typeface="Open Sans" pitchFamily="34" charset="0"/>
                <a:ea typeface="Open Sans" pitchFamily="34" charset="-122"/>
                <a:cs typeface="Open Sans" pitchFamily="34" charset="-120"/>
              </a:rPr>
              <a:t>Structure folders by feature modules</a:t>
            </a:r>
            <a:endParaRPr lang="en-US" sz="1550" dirty="0"/>
          </a:p>
        </p:txBody>
      </p:sp>
      <p:sp>
        <p:nvSpPr>
          <p:cNvPr id="20" name="Text 18"/>
          <p:cNvSpPr/>
          <p:nvPr/>
        </p:nvSpPr>
        <p:spPr>
          <a:xfrm>
            <a:off x="7564874" y="5952768"/>
            <a:ext cx="6279356" cy="317540"/>
          </a:xfrm>
          <a:prstGeom prst="rect">
            <a:avLst/>
          </a:prstGeom>
          <a:noFill/>
          <a:ln/>
        </p:spPr>
        <p:txBody>
          <a:bodyPr wrap="none" lIns="0" tIns="0" rIns="0" bIns="0" rtlCol="0" anchor="t"/>
          <a:lstStyle/>
          <a:p>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These decisions affect specific modules and can evolve as needed.</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2497455"/>
            <a:ext cx="6728341" cy="496133"/>
          </a:xfrm>
          <a:prstGeom prst="rect">
            <a:avLst/>
          </a:prstGeom>
          <a:noFill/>
          <a:ln/>
        </p:spPr>
        <p:txBody>
          <a:bodyPr wrap="none" lIns="0" tIns="0" rIns="0" bIns="0" rtlCol="0" anchor="t"/>
          <a:lstStyle/>
          <a:p>
            <a:pPr algn="l" indent="0" marL="0">
              <a:lnSpc>
                <a:spcPts val="3900"/>
              </a:lnSpc>
              <a:buNone/>
            </a:pPr>
            <a:r>
              <a:rPr lang="en-US" sz="3100" dirty="0">
                <a:solidFill>
                  <a:srgbClr val="2C3F42"/>
                </a:solidFill>
                <a:latin typeface="Bitter Medium" pitchFamily="34" charset="0"/>
                <a:ea typeface="Bitter Medium" pitchFamily="34" charset="-122"/>
                <a:cs typeface="Bitter Medium" pitchFamily="34" charset="-120"/>
              </a:rPr>
              <a:t>Quick Check: Architecture vs. Design</a:t>
            </a:r>
            <a:endParaRPr lang="en-US" sz="3100" dirty="0"/>
          </a:p>
        </p:txBody>
      </p:sp>
      <p:sp>
        <p:nvSpPr>
          <p:cNvPr id="3" name="Text 1"/>
          <p:cNvSpPr/>
          <p:nvPr/>
        </p:nvSpPr>
        <p:spPr>
          <a:xfrm>
            <a:off x="793790" y="3072884"/>
            <a:ext cx="9524881" cy="496133"/>
          </a:xfrm>
          <a:prstGeom prst="rect">
            <a:avLst/>
          </a:prstGeom>
          <a:noFill/>
          <a:ln/>
        </p:spPr>
        <p:txBody>
          <a:bodyPr wrap="none" lIns="0" tIns="0" rIns="0" bIns="0" rtlCol="0" anchor="t"/>
          <a:lstStyle/>
          <a:p>
            <a:pPr algn="l" indent="0" marL="0">
              <a:lnSpc>
                <a:spcPts val="3900"/>
              </a:lnSpc>
              <a:buNone/>
            </a:pPr>
            <a:r>
              <a:rPr lang="en-US" sz="3100" dirty="0">
                <a:solidFill>
                  <a:srgbClr val="2C3F42"/>
                </a:solidFill>
                <a:latin typeface="Bitter Medium" pitchFamily="34" charset="0"/>
                <a:ea typeface="Bitter Medium" pitchFamily="34" charset="-122"/>
                <a:cs typeface="Bitter Medium" pitchFamily="34" charset="-120"/>
              </a:rPr>
              <a:t>Let's see how well we've understood the distinction!</a:t>
            </a:r>
            <a:endParaRPr lang="en-US" sz="3100" dirty="0"/>
          </a:p>
        </p:txBody>
      </p:sp>
      <p:sp>
        <p:nvSpPr>
          <p:cNvPr id="4" name="Text 2"/>
          <p:cNvSpPr/>
          <p:nvPr/>
        </p:nvSpPr>
        <p:spPr>
          <a:xfrm>
            <a:off x="793790" y="3866674"/>
            <a:ext cx="13042821"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1"/>
            </a:pPr>
            <a:r>
              <a:rPr lang="en-US" sz="1550" dirty="0">
                <a:solidFill>
                  <a:srgbClr val="2B2E3C"/>
                </a:solidFill>
                <a:latin typeface="Open Sans" pitchFamily="34" charset="0"/>
                <a:ea typeface="Open Sans" pitchFamily="34" charset="-122"/>
                <a:cs typeface="Open Sans" pitchFamily="34" charset="-120"/>
              </a:rPr>
              <a:t>Deciding the whole app will have a “Frontend,” “Backend,” and “Database.”</a:t>
            </a:r>
            <a:endParaRPr lang="en-US" sz="1550" dirty="0"/>
          </a:p>
        </p:txBody>
      </p:sp>
      <p:sp>
        <p:nvSpPr>
          <p:cNvPr id="5" name="Text 3"/>
          <p:cNvSpPr/>
          <p:nvPr/>
        </p:nvSpPr>
        <p:spPr>
          <a:xfrm>
            <a:off x="793790" y="4253627"/>
            <a:ext cx="13042821"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2"/>
            </a:pPr>
            <a:r>
              <a:rPr lang="en-US" sz="1550" dirty="0">
                <a:solidFill>
                  <a:srgbClr val="2B2E3C"/>
                </a:solidFill>
                <a:latin typeface="Open Sans" pitchFamily="34" charset="0"/>
                <a:ea typeface="Open Sans" pitchFamily="34" charset="-122"/>
                <a:cs typeface="Open Sans" pitchFamily="34" charset="-120"/>
              </a:rPr>
              <a:t>Creating a class called </a:t>
            </a:r>
            <a:pPr algn="l" indent="0" marL="0">
              <a:lnSpc>
                <a:spcPts val="2500"/>
              </a:lnSpc>
              <a:buNone/>
            </a:pPr>
            <a:r>
              <a:rPr lang="en-US" sz="1550" dirty="0">
                <a:solidFill>
                  <a:srgbClr val="2B2E3C"/>
                </a:solidFill>
                <a:highlight>
                  <a:srgbClr val="F2EBE3"/>
                </a:highlight>
                <a:latin typeface="Consolas" pitchFamily="34" charset="0"/>
                <a:ea typeface="Consolas" pitchFamily="34" charset="-122"/>
                <a:cs typeface="Consolas" pitchFamily="34" charset="-120"/>
              </a:rPr>
              <a:t>LoginForm</a:t>
            </a:r>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 with fields for username and password.</a:t>
            </a:r>
            <a:endParaRPr lang="en-US" sz="1550" dirty="0"/>
          </a:p>
        </p:txBody>
      </p:sp>
      <p:sp>
        <p:nvSpPr>
          <p:cNvPr id="6" name="Text 4"/>
          <p:cNvSpPr/>
          <p:nvPr/>
        </p:nvSpPr>
        <p:spPr>
          <a:xfrm>
            <a:off x="793790" y="4640580"/>
            <a:ext cx="13042821"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3"/>
            </a:pPr>
            <a:r>
              <a:rPr lang="en-US" sz="1550" dirty="0">
                <a:solidFill>
                  <a:srgbClr val="2B2E3C"/>
                </a:solidFill>
                <a:latin typeface="Open Sans" pitchFamily="34" charset="0"/>
                <a:ea typeface="Open Sans" pitchFamily="34" charset="-122"/>
                <a:cs typeface="Open Sans" pitchFamily="34" charset="-120"/>
              </a:rPr>
              <a:t>Choosing to build the system using Cloud services (AWS/Azure).</a:t>
            </a:r>
            <a:endParaRPr lang="en-US" sz="1550" dirty="0"/>
          </a:p>
        </p:txBody>
      </p:sp>
      <p:sp>
        <p:nvSpPr>
          <p:cNvPr id="7" name="Text 5"/>
          <p:cNvSpPr/>
          <p:nvPr/>
        </p:nvSpPr>
        <p:spPr>
          <a:xfrm>
            <a:off x="793790" y="5027533"/>
            <a:ext cx="13042821"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4"/>
            </a:pPr>
            <a:r>
              <a:rPr lang="en-US" sz="1550" dirty="0">
                <a:solidFill>
                  <a:srgbClr val="2B2E3C"/>
                </a:solidFill>
                <a:latin typeface="Open Sans" pitchFamily="34" charset="0"/>
                <a:ea typeface="Open Sans" pitchFamily="34" charset="-122"/>
                <a:cs typeface="Open Sans" pitchFamily="34" charset="-120"/>
              </a:rPr>
              <a:t>Writing the logic for how a button works when clicked.</a:t>
            </a:r>
            <a:endParaRPr lang="en-US" sz="1550" dirty="0"/>
          </a:p>
        </p:txBody>
      </p:sp>
      <p:sp>
        <p:nvSpPr>
          <p:cNvPr id="8" name="Text 6"/>
          <p:cNvSpPr/>
          <p:nvPr/>
        </p:nvSpPr>
        <p:spPr>
          <a:xfrm>
            <a:off x="793790" y="5414486"/>
            <a:ext cx="13042821"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5"/>
            </a:pPr>
            <a:r>
              <a:rPr lang="en-US" sz="1550" dirty="0">
                <a:solidFill>
                  <a:srgbClr val="2B2E3C"/>
                </a:solidFill>
                <a:latin typeface="Open Sans" pitchFamily="34" charset="0"/>
                <a:ea typeface="Open Sans" pitchFamily="34" charset="-122"/>
                <a:cs typeface="Open Sans" pitchFamily="34" charset="-120"/>
              </a:rPr>
              <a:t>Choosing a database type: SQL or NoSQL.</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428155"/>
            <a:ext cx="13042821" cy="317540"/>
          </a:xfrm>
          <a:prstGeom prst="rect">
            <a:avLst/>
          </a:prstGeom>
          <a:noFill/>
          <a:ln/>
        </p:spPr>
        <p:txBody>
          <a:bodyPr wrap="none" lIns="0" tIns="0" rIns="0" bIns="0" rtlCol="0" anchor="t"/>
          <a:lstStyle/>
          <a:p>
            <a:pPr algn="l" indent="0" marL="0">
              <a:lnSpc>
                <a:spcPts val="2500"/>
              </a:lnSpc>
              <a:buNone/>
            </a:pPr>
            <a:endParaRPr lang="en-US" sz="1550" dirty="0"/>
          </a:p>
        </p:txBody>
      </p:sp>
      <p:sp>
        <p:nvSpPr>
          <p:cNvPr id="3" name="Text 1"/>
          <p:cNvSpPr/>
          <p:nvPr/>
        </p:nvSpPr>
        <p:spPr>
          <a:xfrm>
            <a:off x="2353389" y="1944053"/>
            <a:ext cx="9923621" cy="1240393"/>
          </a:xfrm>
          <a:prstGeom prst="rect">
            <a:avLst/>
          </a:prstGeom>
          <a:noFill/>
          <a:ln/>
        </p:spPr>
        <p:txBody>
          <a:bodyPr wrap="none" lIns="0" tIns="0" rIns="0" bIns="0" rtlCol="0" anchor="t"/>
          <a:lstStyle/>
          <a:p>
            <a:pPr algn="ctr" indent="0" marL="0">
              <a:lnSpc>
                <a:spcPts val="9750"/>
              </a:lnSpc>
              <a:buNone/>
            </a:pPr>
            <a:r>
              <a:rPr lang="en-US" sz="7800" dirty="0">
                <a:solidFill>
                  <a:srgbClr val="2C3F42"/>
                </a:solidFill>
                <a:latin typeface="Bitter Medium" pitchFamily="34" charset="0"/>
                <a:ea typeface="Bitter Medium" pitchFamily="34" charset="-122"/>
                <a:cs typeface="Bitter Medium" pitchFamily="34" charset="-120"/>
              </a:rPr>
              <a:t>Architectural Views</a:t>
            </a:r>
            <a:endParaRPr lang="en-US" sz="7800" dirty="0"/>
          </a:p>
        </p:txBody>
      </p:sp>
      <p:sp>
        <p:nvSpPr>
          <p:cNvPr id="4" name="Text 2"/>
          <p:cNvSpPr/>
          <p:nvPr/>
        </p:nvSpPr>
        <p:spPr>
          <a:xfrm>
            <a:off x="793790" y="3482102"/>
            <a:ext cx="13042821" cy="793909"/>
          </a:xfrm>
          <a:prstGeom prst="rect">
            <a:avLst/>
          </a:prstGeom>
          <a:noFill/>
          <a:ln/>
        </p:spPr>
        <p:txBody>
          <a:bodyPr wrap="square" lIns="0" tIns="0" rIns="0" bIns="0" rtlCol="0" anchor="t"/>
          <a:lstStyle/>
          <a:p>
            <a:pPr algn="l" indent="0" marL="0">
              <a:lnSpc>
                <a:spcPts val="3100"/>
              </a:lnSpc>
              <a:buNone/>
            </a:pPr>
            <a:r>
              <a:rPr lang="en-US" sz="1950" dirty="0">
                <a:solidFill>
                  <a:srgbClr val="2B2E3C"/>
                </a:solidFill>
                <a:latin typeface="Open Sans" pitchFamily="34" charset="0"/>
                <a:ea typeface="Open Sans" pitchFamily="34" charset="-122"/>
                <a:cs typeface="Open Sans" pitchFamily="34" charset="-120"/>
              </a:rPr>
              <a:t>Complex systems cannot be fully captured in a single diagram. Different stakeholders need different perspectives to understand and work with the architecture effectively.</a:t>
            </a:r>
            <a:endParaRPr lang="en-US" sz="1950" dirty="0"/>
          </a:p>
        </p:txBody>
      </p:sp>
      <p:sp>
        <p:nvSpPr>
          <p:cNvPr id="5" name="Text 3"/>
          <p:cNvSpPr/>
          <p:nvPr/>
        </p:nvSpPr>
        <p:spPr>
          <a:xfrm>
            <a:off x="793790" y="4499253"/>
            <a:ext cx="13042821" cy="317540"/>
          </a:xfrm>
          <a:prstGeom prst="rect">
            <a:avLst/>
          </a:prstGeom>
          <a:noFill/>
          <a:ln/>
        </p:spPr>
        <p:txBody>
          <a:bodyPr wrap="none" lIns="0" tIns="0" rIns="0" bIns="0" rtlCol="0" anchor="t"/>
          <a:lstStyle/>
          <a:p>
            <a:pPr algn="l" indent="0" marL="0">
              <a:lnSpc>
                <a:spcPts val="2500"/>
              </a:lnSpc>
              <a:buNone/>
            </a:pPr>
            <a:endParaRPr lang="en-US" sz="1550" dirty="0"/>
          </a:p>
        </p:txBody>
      </p:sp>
      <p:sp>
        <p:nvSpPr>
          <p:cNvPr id="6" name="Text 4"/>
          <p:cNvSpPr/>
          <p:nvPr/>
        </p:nvSpPr>
        <p:spPr>
          <a:xfrm>
            <a:off x="793790" y="5040035"/>
            <a:ext cx="13042821" cy="317540"/>
          </a:xfrm>
          <a:prstGeom prst="rect">
            <a:avLst/>
          </a:prstGeom>
          <a:noFill/>
          <a:ln/>
        </p:spPr>
        <p:txBody>
          <a:bodyPr wrap="none" lIns="0" tIns="0" rIns="0" bIns="0" rtlCol="0" anchor="t"/>
          <a:lstStyle/>
          <a:p>
            <a:pPr algn="l" indent="0" marL="0">
              <a:lnSpc>
                <a:spcPts val="2500"/>
              </a:lnSpc>
              <a:buNone/>
            </a:pPr>
            <a:endParaRPr lang="en-US" sz="1550" dirty="0"/>
          </a:p>
        </p:txBody>
      </p:sp>
      <p:sp>
        <p:nvSpPr>
          <p:cNvPr id="7" name="Text 5"/>
          <p:cNvSpPr/>
          <p:nvPr/>
        </p:nvSpPr>
        <p:spPr>
          <a:xfrm>
            <a:off x="793790" y="5580817"/>
            <a:ext cx="13042821" cy="317540"/>
          </a:xfrm>
          <a:prstGeom prst="rect">
            <a:avLst/>
          </a:prstGeom>
          <a:noFill/>
          <a:ln/>
        </p:spPr>
        <p:txBody>
          <a:bodyPr wrap="none" lIns="0" tIns="0" rIns="0" bIns="0" rtlCol="0" anchor="t"/>
          <a:lstStyle/>
          <a:p>
            <a:pPr algn="l" indent="0" marL="0">
              <a:lnSpc>
                <a:spcPts val="2500"/>
              </a:lnSpc>
              <a:buNone/>
            </a:pPr>
            <a:endParaRPr lang="en-US" sz="1550" dirty="0"/>
          </a:p>
        </p:txBody>
      </p:sp>
      <p:sp>
        <p:nvSpPr>
          <p:cNvPr id="8" name="Text 6"/>
          <p:cNvSpPr/>
          <p:nvPr/>
        </p:nvSpPr>
        <p:spPr>
          <a:xfrm>
            <a:off x="793790" y="6121598"/>
            <a:ext cx="13042821" cy="317540"/>
          </a:xfrm>
          <a:prstGeom prst="rect">
            <a:avLst/>
          </a:prstGeom>
          <a:noFill/>
          <a:ln/>
        </p:spPr>
        <p:txBody>
          <a:bodyPr wrap="none" lIns="0" tIns="0" rIns="0" bIns="0" rtlCol="0" anchor="t"/>
          <a:lstStyle/>
          <a:p>
            <a:pPr algn="l" indent="0" marL="0">
              <a:lnSpc>
                <a:spcPts val="2500"/>
              </a:lnSpc>
              <a:buNone/>
            </a:pPr>
            <a:endParaRPr lang="en-US" sz="1550" dirty="0"/>
          </a:p>
        </p:txBody>
      </p:sp>
      <p:sp>
        <p:nvSpPr>
          <p:cNvPr id="9" name="Text 7"/>
          <p:cNvSpPr/>
          <p:nvPr/>
        </p:nvSpPr>
        <p:spPr>
          <a:xfrm>
            <a:off x="793790" y="6662380"/>
            <a:ext cx="13042821" cy="317540"/>
          </a:xfrm>
          <a:prstGeom prst="rect">
            <a:avLst/>
          </a:prstGeom>
          <a:noFill/>
          <a:ln/>
        </p:spPr>
        <p:txBody>
          <a:bodyPr wrap="none" lIns="0" tIns="0" rIns="0" bIns="0" rtlCol="0" anchor="t"/>
          <a:lstStyle/>
          <a:p>
            <a:pPr algn="l" indent="0" marL="0">
              <a:lnSpc>
                <a:spcPts val="2500"/>
              </a:lnSpc>
              <a:buNone/>
            </a:pP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956667"/>
            <a:ext cx="6154936" cy="496133"/>
          </a:xfrm>
          <a:prstGeom prst="rect">
            <a:avLst/>
          </a:prstGeom>
          <a:noFill/>
          <a:ln/>
        </p:spPr>
        <p:txBody>
          <a:bodyPr wrap="none" lIns="0" tIns="0" rIns="0" bIns="0" rtlCol="0" anchor="t"/>
          <a:lstStyle/>
          <a:p>
            <a:pPr algn="l" indent="0" marL="0">
              <a:lnSpc>
                <a:spcPts val="3900"/>
              </a:lnSpc>
              <a:buNone/>
            </a:pPr>
            <a:r>
              <a:rPr lang="en-US" sz="3100" dirty="0">
                <a:solidFill>
                  <a:srgbClr val="2C3F42"/>
                </a:solidFill>
                <a:latin typeface="Bitter Medium" pitchFamily="34" charset="0"/>
                <a:ea typeface="Bitter Medium" pitchFamily="34" charset="-122"/>
                <a:cs typeface="Bitter Medium" pitchFamily="34" charset="-120"/>
              </a:rPr>
              <a:t>The 4+1 Architectural View Model</a:t>
            </a:r>
            <a:endParaRPr lang="en-US" sz="3100" dirty="0"/>
          </a:p>
        </p:txBody>
      </p:sp>
      <p:sp>
        <p:nvSpPr>
          <p:cNvPr id="3" name="Text 1"/>
          <p:cNvSpPr/>
          <p:nvPr/>
        </p:nvSpPr>
        <p:spPr>
          <a:xfrm>
            <a:off x="793790" y="1849636"/>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The 4+1 model, developed by Philippe Kruchten, provides a comprehensive framework for documenting software architecture through multiple complementary views. Each view addresses specific concerns and serves different stakeholders.</a:t>
            </a:r>
            <a:endParaRPr lang="en-US" sz="1550" dirty="0"/>
          </a:p>
        </p:txBody>
      </p:sp>
      <p:sp>
        <p:nvSpPr>
          <p:cNvPr id="4" name="Text 2"/>
          <p:cNvSpPr/>
          <p:nvPr/>
        </p:nvSpPr>
        <p:spPr>
          <a:xfrm>
            <a:off x="2254091" y="3242548"/>
            <a:ext cx="2480905" cy="310158"/>
          </a:xfrm>
          <a:prstGeom prst="rect">
            <a:avLst/>
          </a:prstGeom>
          <a:noFill/>
          <a:ln/>
        </p:spPr>
        <p:txBody>
          <a:bodyPr wrap="none" lIns="0" tIns="0" rIns="0" bIns="0" rtlCol="0" anchor="t"/>
          <a:lstStyle/>
          <a:p>
            <a:pPr algn="r" indent="0" marL="0">
              <a:lnSpc>
                <a:spcPts val="2400"/>
              </a:lnSpc>
              <a:buNone/>
            </a:pPr>
            <a:r>
              <a:rPr lang="en-US" sz="1950" dirty="0">
                <a:solidFill>
                  <a:srgbClr val="2B2E3C"/>
                </a:solidFill>
                <a:latin typeface="Bitter Medium" pitchFamily="34" charset="0"/>
                <a:ea typeface="Bitter Medium" pitchFamily="34" charset="-122"/>
                <a:cs typeface="Bitter Medium" pitchFamily="34" charset="-120"/>
              </a:rPr>
              <a:t>Logical View</a:t>
            </a:r>
            <a:endParaRPr lang="en-US" sz="1950" dirty="0"/>
          </a:p>
        </p:txBody>
      </p:sp>
      <p:sp>
        <p:nvSpPr>
          <p:cNvPr id="5" name="Text 3"/>
          <p:cNvSpPr/>
          <p:nvPr/>
        </p:nvSpPr>
        <p:spPr>
          <a:xfrm>
            <a:off x="793790" y="3671768"/>
            <a:ext cx="3941207" cy="635079"/>
          </a:xfrm>
          <a:prstGeom prst="rect">
            <a:avLst/>
          </a:prstGeom>
          <a:noFill/>
          <a:ln/>
        </p:spPr>
        <p:txBody>
          <a:bodyPr wrap="square" lIns="0" tIns="0" rIns="0" bIns="0" rtlCol="0" anchor="t"/>
          <a:lstStyle/>
          <a:p>
            <a:pPr algn="r" indent="0" marL="0">
              <a:lnSpc>
                <a:spcPts val="2500"/>
              </a:lnSpc>
              <a:buNone/>
            </a:pPr>
            <a:r>
              <a:rPr lang="en-US" sz="1550" b="1" dirty="0">
                <a:solidFill>
                  <a:srgbClr val="2B2E3C"/>
                </a:solidFill>
                <a:latin typeface="Open Sans" pitchFamily="34" charset="0"/>
                <a:ea typeface="Open Sans" pitchFamily="34" charset="-122"/>
                <a:cs typeface="Open Sans" pitchFamily="34" charset="-120"/>
              </a:rPr>
              <a:t>What it does:</a:t>
            </a:r>
            <a:pPr algn="r" indent="0" marL="0">
              <a:lnSpc>
                <a:spcPts val="2500"/>
              </a:lnSpc>
              <a:buNone/>
            </a:pPr>
            <a:r>
              <a:rPr lang="en-US" sz="1550" dirty="0">
                <a:solidFill>
                  <a:srgbClr val="2B2E3C"/>
                </a:solidFill>
                <a:latin typeface="Open Sans" pitchFamily="34" charset="0"/>
                <a:ea typeface="Open Sans" pitchFamily="34" charset="-122"/>
                <a:cs typeface="Open Sans" pitchFamily="34" charset="-120"/>
              </a:rPr>
              <a:t> Functional components and relationships</a:t>
            </a:r>
            <a:endParaRPr lang="en-US" sz="1550" dirty="0"/>
          </a:p>
        </p:txBody>
      </p:sp>
      <p:pic>
        <p:nvPicPr>
          <p:cNvPr id="6" name="Image 0" descr="preencoded.png">    </p:cNvPr>
          <p:cNvPicPr>
            <a:picLocks noChangeAspect="1"/>
          </p:cNvPicPr>
          <p:nvPr/>
        </p:nvPicPr>
        <p:blipFill>
          <a:blip r:embed="rId1"/>
          <a:stretch>
            <a:fillRect/>
          </a:stretch>
        </p:blipFill>
        <p:spPr>
          <a:xfrm>
            <a:off x="5032653" y="2707958"/>
            <a:ext cx="4564975" cy="4564975"/>
          </a:xfrm>
          <a:prstGeom prst="rect">
            <a:avLst/>
          </a:prstGeom>
        </p:spPr>
      </p:pic>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74008" y="3902690"/>
            <a:ext cx="296942" cy="296942"/>
          </a:xfrm>
          <a:prstGeom prst="rect">
            <a:avLst/>
          </a:prstGeom>
        </p:spPr>
      </p:pic>
      <p:sp>
        <p:nvSpPr>
          <p:cNvPr id="8" name="Text 4"/>
          <p:cNvSpPr/>
          <p:nvPr/>
        </p:nvSpPr>
        <p:spPr>
          <a:xfrm>
            <a:off x="9895284" y="283737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B2E3C"/>
                </a:solidFill>
                <a:latin typeface="Bitter Medium" pitchFamily="34" charset="0"/>
                <a:ea typeface="Bitter Medium" pitchFamily="34" charset="-122"/>
                <a:cs typeface="Bitter Medium" pitchFamily="34" charset="-120"/>
              </a:rPr>
              <a:t>Development View</a:t>
            </a:r>
            <a:endParaRPr lang="en-US" sz="1950" dirty="0"/>
          </a:p>
        </p:txBody>
      </p:sp>
      <p:sp>
        <p:nvSpPr>
          <p:cNvPr id="9" name="Text 5"/>
          <p:cNvSpPr/>
          <p:nvPr/>
        </p:nvSpPr>
        <p:spPr>
          <a:xfrm>
            <a:off x="9895284" y="3266599"/>
            <a:ext cx="3941326" cy="635079"/>
          </a:xfrm>
          <a:prstGeom prst="rect">
            <a:avLst/>
          </a:prstGeom>
          <a:noFill/>
          <a:ln/>
        </p:spPr>
        <p:txBody>
          <a:bodyPr wrap="square" lIns="0" tIns="0" rIns="0" bIns="0" rtlCol="0" anchor="t"/>
          <a:lstStyle/>
          <a:p>
            <a:pPr algn="l" indent="0" marL="0">
              <a:lnSpc>
                <a:spcPts val="2500"/>
              </a:lnSpc>
              <a:buNone/>
            </a:pPr>
            <a:r>
              <a:rPr lang="en-US" sz="1550" b="1" dirty="0">
                <a:solidFill>
                  <a:srgbClr val="2B2E3C"/>
                </a:solidFill>
                <a:latin typeface="Open Sans" pitchFamily="34" charset="0"/>
                <a:ea typeface="Open Sans" pitchFamily="34" charset="-122"/>
                <a:cs typeface="Open Sans" pitchFamily="34" charset="-120"/>
              </a:rPr>
              <a:t>How it's built:</a:t>
            </a:r>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 Code organization and structure</a:t>
            </a:r>
            <a:endParaRPr lang="en-US" sz="1550" dirty="0"/>
          </a:p>
        </p:txBody>
      </p:sp>
      <p:pic>
        <p:nvPicPr>
          <p:cNvPr id="10" name="Image 2" descr="preencoded.png">    </p:cNvPr>
          <p:cNvPicPr>
            <a:picLocks noChangeAspect="1"/>
          </p:cNvPicPr>
          <p:nvPr/>
        </p:nvPicPr>
        <p:blipFill>
          <a:blip r:embed="rId4"/>
          <a:stretch>
            <a:fillRect/>
          </a:stretch>
        </p:blipFill>
        <p:spPr>
          <a:xfrm>
            <a:off x="5032653" y="2707958"/>
            <a:ext cx="4564975" cy="4564975"/>
          </a:xfrm>
          <a:prstGeom prst="rect">
            <a:avLst/>
          </a:prstGeom>
        </p:spPr>
      </p:pic>
      <p:pic>
        <p:nvPicPr>
          <p:cNvPr id="11"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60303" y="3322260"/>
            <a:ext cx="296942" cy="296942"/>
          </a:xfrm>
          <a:prstGeom prst="rect">
            <a:avLst/>
          </a:prstGeom>
        </p:spPr>
      </p:pic>
      <p:sp>
        <p:nvSpPr>
          <p:cNvPr id="12" name="Text 6"/>
          <p:cNvSpPr/>
          <p:nvPr/>
        </p:nvSpPr>
        <p:spPr>
          <a:xfrm>
            <a:off x="9994463" y="445817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B2E3C"/>
                </a:solidFill>
                <a:latin typeface="Bitter Medium" pitchFamily="34" charset="0"/>
                <a:ea typeface="Bitter Medium" pitchFamily="34" charset="-122"/>
                <a:cs typeface="Bitter Medium" pitchFamily="34" charset="-120"/>
              </a:rPr>
              <a:t>Process View</a:t>
            </a:r>
            <a:endParaRPr lang="en-US" sz="1950" dirty="0"/>
          </a:p>
        </p:txBody>
      </p:sp>
      <p:sp>
        <p:nvSpPr>
          <p:cNvPr id="13" name="Text 7"/>
          <p:cNvSpPr/>
          <p:nvPr/>
        </p:nvSpPr>
        <p:spPr>
          <a:xfrm>
            <a:off x="9994463" y="4887397"/>
            <a:ext cx="3842147" cy="635079"/>
          </a:xfrm>
          <a:prstGeom prst="rect">
            <a:avLst/>
          </a:prstGeom>
          <a:noFill/>
          <a:ln/>
        </p:spPr>
        <p:txBody>
          <a:bodyPr wrap="square" lIns="0" tIns="0" rIns="0" bIns="0" rtlCol="0" anchor="t"/>
          <a:lstStyle/>
          <a:p>
            <a:pPr algn="l" indent="0" marL="0">
              <a:lnSpc>
                <a:spcPts val="2500"/>
              </a:lnSpc>
              <a:buNone/>
            </a:pPr>
            <a:r>
              <a:rPr lang="en-US" sz="1550" b="1" dirty="0">
                <a:solidFill>
                  <a:srgbClr val="2B2E3C"/>
                </a:solidFill>
                <a:latin typeface="Open Sans" pitchFamily="34" charset="0"/>
                <a:ea typeface="Open Sans" pitchFamily="34" charset="-122"/>
                <a:cs typeface="Open Sans" pitchFamily="34" charset="-120"/>
              </a:rPr>
              <a:t>How it runs:</a:t>
            </a:r>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 Runtime behavior and concurrency</a:t>
            </a:r>
            <a:endParaRPr lang="en-US" sz="1550" dirty="0"/>
          </a:p>
        </p:txBody>
      </p:sp>
      <p:pic>
        <p:nvPicPr>
          <p:cNvPr id="14" name="Image 4" descr="preencoded.png">    </p:cNvPr>
          <p:cNvPicPr>
            <a:picLocks noChangeAspect="1"/>
          </p:cNvPicPr>
          <p:nvPr/>
        </p:nvPicPr>
        <p:blipFill>
          <a:blip r:embed="rId7"/>
          <a:stretch>
            <a:fillRect/>
          </a:stretch>
        </p:blipFill>
        <p:spPr>
          <a:xfrm>
            <a:off x="5032653" y="2707958"/>
            <a:ext cx="4564975" cy="4564975"/>
          </a:xfrm>
          <a:prstGeom prst="rect">
            <a:avLst/>
          </a:prstGeom>
        </p:spPr>
      </p:pic>
      <p:pic>
        <p:nvPicPr>
          <p:cNvPr id="15"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764250" y="4841855"/>
            <a:ext cx="296942" cy="296942"/>
          </a:xfrm>
          <a:prstGeom prst="rect">
            <a:avLst/>
          </a:prstGeom>
        </p:spPr>
      </p:pic>
      <p:sp>
        <p:nvSpPr>
          <p:cNvPr id="16" name="Text 8"/>
          <p:cNvSpPr/>
          <p:nvPr/>
        </p:nvSpPr>
        <p:spPr>
          <a:xfrm>
            <a:off x="9895284" y="607909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B2E3C"/>
                </a:solidFill>
                <a:latin typeface="Bitter Medium" pitchFamily="34" charset="0"/>
                <a:ea typeface="Bitter Medium" pitchFamily="34" charset="-122"/>
                <a:cs typeface="Bitter Medium" pitchFamily="34" charset="-120"/>
              </a:rPr>
              <a:t>Physical View</a:t>
            </a:r>
            <a:endParaRPr lang="en-US" sz="1950" dirty="0"/>
          </a:p>
        </p:txBody>
      </p:sp>
      <p:sp>
        <p:nvSpPr>
          <p:cNvPr id="17" name="Text 9"/>
          <p:cNvSpPr/>
          <p:nvPr/>
        </p:nvSpPr>
        <p:spPr>
          <a:xfrm>
            <a:off x="9895284" y="6508313"/>
            <a:ext cx="3941326" cy="635079"/>
          </a:xfrm>
          <a:prstGeom prst="rect">
            <a:avLst/>
          </a:prstGeom>
          <a:noFill/>
          <a:ln/>
        </p:spPr>
        <p:txBody>
          <a:bodyPr wrap="square" lIns="0" tIns="0" rIns="0" bIns="0" rtlCol="0" anchor="t"/>
          <a:lstStyle/>
          <a:p>
            <a:pPr algn="l" indent="0" marL="0">
              <a:lnSpc>
                <a:spcPts val="2500"/>
              </a:lnSpc>
              <a:buNone/>
            </a:pPr>
            <a:r>
              <a:rPr lang="en-US" sz="1550" b="1" dirty="0">
                <a:solidFill>
                  <a:srgbClr val="2B2E3C"/>
                </a:solidFill>
                <a:latin typeface="Open Sans" pitchFamily="34" charset="0"/>
                <a:ea typeface="Open Sans" pitchFamily="34" charset="-122"/>
                <a:cs typeface="Open Sans" pitchFamily="34" charset="-120"/>
              </a:rPr>
              <a:t>Where it runs:</a:t>
            </a:r>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 Infrastructure and deployment</a:t>
            </a:r>
            <a:endParaRPr lang="en-US" sz="1550" dirty="0"/>
          </a:p>
        </p:txBody>
      </p:sp>
      <p:pic>
        <p:nvPicPr>
          <p:cNvPr id="18" name="Image 6" descr="preencoded.png">    </p:cNvPr>
          <p:cNvPicPr>
            <a:picLocks noChangeAspect="1"/>
          </p:cNvPicPr>
          <p:nvPr/>
        </p:nvPicPr>
        <p:blipFill>
          <a:blip r:embed="rId10"/>
          <a:stretch>
            <a:fillRect/>
          </a:stretch>
        </p:blipFill>
        <p:spPr>
          <a:xfrm>
            <a:off x="5032653" y="2707958"/>
            <a:ext cx="4564975" cy="4564975"/>
          </a:xfrm>
          <a:prstGeom prst="rect">
            <a:avLst/>
          </a:prstGeom>
        </p:spPr>
      </p:pic>
      <p:pic>
        <p:nvPicPr>
          <p:cNvPr id="19" name="Image 7"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60303" y="6361450"/>
            <a:ext cx="296942" cy="296942"/>
          </a:xfrm>
          <a:prstGeom prst="rect">
            <a:avLst/>
          </a:prstGeom>
        </p:spPr>
      </p:pic>
      <p:sp>
        <p:nvSpPr>
          <p:cNvPr id="20" name="Text 10"/>
          <p:cNvSpPr/>
          <p:nvPr/>
        </p:nvSpPr>
        <p:spPr>
          <a:xfrm>
            <a:off x="2254091" y="5673804"/>
            <a:ext cx="2480905" cy="310158"/>
          </a:xfrm>
          <a:prstGeom prst="rect">
            <a:avLst/>
          </a:prstGeom>
          <a:noFill/>
          <a:ln/>
        </p:spPr>
        <p:txBody>
          <a:bodyPr wrap="none" lIns="0" tIns="0" rIns="0" bIns="0" rtlCol="0" anchor="t"/>
          <a:lstStyle/>
          <a:p>
            <a:pPr algn="r" indent="0" marL="0">
              <a:lnSpc>
                <a:spcPts val="2400"/>
              </a:lnSpc>
              <a:buNone/>
            </a:pPr>
            <a:r>
              <a:rPr lang="en-US" sz="1950" dirty="0">
                <a:solidFill>
                  <a:srgbClr val="2B2E3C"/>
                </a:solidFill>
                <a:latin typeface="Bitter Medium" pitchFamily="34" charset="0"/>
                <a:ea typeface="Bitter Medium" pitchFamily="34" charset="-122"/>
                <a:cs typeface="Bitter Medium" pitchFamily="34" charset="-120"/>
              </a:rPr>
              <a:t>Scenarios</a:t>
            </a:r>
            <a:endParaRPr lang="en-US" sz="1950" dirty="0"/>
          </a:p>
        </p:txBody>
      </p:sp>
      <p:sp>
        <p:nvSpPr>
          <p:cNvPr id="21" name="Text 11"/>
          <p:cNvSpPr/>
          <p:nvPr/>
        </p:nvSpPr>
        <p:spPr>
          <a:xfrm>
            <a:off x="793790" y="6103025"/>
            <a:ext cx="3941207" cy="635079"/>
          </a:xfrm>
          <a:prstGeom prst="rect">
            <a:avLst/>
          </a:prstGeom>
          <a:noFill/>
          <a:ln/>
        </p:spPr>
        <p:txBody>
          <a:bodyPr wrap="square" lIns="0" tIns="0" rIns="0" bIns="0" rtlCol="0" anchor="t"/>
          <a:lstStyle/>
          <a:p>
            <a:pPr algn="r" indent="0" marL="0">
              <a:lnSpc>
                <a:spcPts val="2500"/>
              </a:lnSpc>
              <a:buNone/>
            </a:pPr>
            <a:r>
              <a:rPr lang="en-US" sz="1550" b="1" dirty="0">
                <a:solidFill>
                  <a:srgbClr val="2B2E3C"/>
                </a:solidFill>
                <a:latin typeface="Open Sans" pitchFamily="34" charset="0"/>
                <a:ea typeface="Open Sans" pitchFamily="34" charset="-122"/>
                <a:cs typeface="Open Sans" pitchFamily="34" charset="-120"/>
              </a:rPr>
              <a:t>Why it works:</a:t>
            </a:r>
            <a:pPr algn="r" indent="0" marL="0">
              <a:lnSpc>
                <a:spcPts val="2500"/>
              </a:lnSpc>
              <a:buNone/>
            </a:pPr>
            <a:r>
              <a:rPr lang="en-US" sz="1550" dirty="0">
                <a:solidFill>
                  <a:srgbClr val="2B2E3C"/>
                </a:solidFill>
                <a:latin typeface="Open Sans" pitchFamily="34" charset="0"/>
                <a:ea typeface="Open Sans" pitchFamily="34" charset="-122"/>
                <a:cs typeface="Open Sans" pitchFamily="34" charset="-120"/>
              </a:rPr>
              <a:t> Use cases tying all views together</a:t>
            </a:r>
            <a:endParaRPr lang="en-US" sz="1550" dirty="0"/>
          </a:p>
        </p:txBody>
      </p:sp>
      <p:pic>
        <p:nvPicPr>
          <p:cNvPr id="22" name="Image 8" descr="preencoded.png">    </p:cNvPr>
          <p:cNvPicPr>
            <a:picLocks noChangeAspect="1"/>
          </p:cNvPicPr>
          <p:nvPr/>
        </p:nvPicPr>
        <p:blipFill>
          <a:blip r:embed="rId13"/>
          <a:stretch>
            <a:fillRect/>
          </a:stretch>
        </p:blipFill>
        <p:spPr>
          <a:xfrm>
            <a:off x="5032653" y="2707958"/>
            <a:ext cx="4564975" cy="4564975"/>
          </a:xfrm>
          <a:prstGeom prst="rect">
            <a:avLst/>
          </a:prstGeom>
        </p:spPr>
      </p:pic>
      <p:pic>
        <p:nvPicPr>
          <p:cNvPr id="23" name="Image 9" descr="preencoded.pn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874008" y="5781020"/>
            <a:ext cx="296942" cy="29694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52939" y="448866"/>
            <a:ext cx="5250061" cy="408027"/>
          </a:xfrm>
          <a:prstGeom prst="rect">
            <a:avLst/>
          </a:prstGeom>
          <a:noFill/>
          <a:ln/>
        </p:spPr>
        <p:txBody>
          <a:bodyPr wrap="none" lIns="0" tIns="0" rIns="0" bIns="0" rtlCol="0" anchor="t"/>
          <a:lstStyle/>
          <a:p>
            <a:pPr algn="l" indent="0" marL="0">
              <a:lnSpc>
                <a:spcPts val="3200"/>
              </a:lnSpc>
              <a:buNone/>
            </a:pPr>
            <a:r>
              <a:rPr lang="en-US" sz="2550" dirty="0">
                <a:solidFill>
                  <a:srgbClr val="2C3F42"/>
                </a:solidFill>
                <a:latin typeface="Bitter Medium" pitchFamily="34" charset="0"/>
                <a:ea typeface="Bitter Medium" pitchFamily="34" charset="-122"/>
                <a:cs typeface="Bitter Medium" pitchFamily="34" charset="-120"/>
              </a:rPr>
              <a:t>Logical View: System Functionality</a:t>
            </a:r>
            <a:endParaRPr lang="en-US" sz="2550" dirty="0"/>
          </a:p>
        </p:txBody>
      </p:sp>
      <p:sp>
        <p:nvSpPr>
          <p:cNvPr id="3" name="Text 1"/>
          <p:cNvSpPr/>
          <p:nvPr/>
        </p:nvSpPr>
        <p:spPr>
          <a:xfrm>
            <a:off x="652939" y="1264920"/>
            <a:ext cx="2040374" cy="255032"/>
          </a:xfrm>
          <a:prstGeom prst="rect">
            <a:avLst/>
          </a:prstGeom>
          <a:noFill/>
          <a:ln/>
        </p:spPr>
        <p:txBody>
          <a:bodyPr wrap="none" lIns="0" tIns="0" rIns="0" bIns="0" rtlCol="0" anchor="t"/>
          <a:lstStyle/>
          <a:p>
            <a:pPr algn="l" indent="0" marL="0">
              <a:lnSpc>
                <a:spcPts val="2000"/>
              </a:lnSpc>
              <a:buNone/>
            </a:pPr>
            <a:r>
              <a:rPr lang="en-US" sz="1600" dirty="0">
                <a:solidFill>
                  <a:srgbClr val="2C3F42"/>
                </a:solidFill>
                <a:latin typeface="Bitter Medium" pitchFamily="34" charset="0"/>
                <a:ea typeface="Bitter Medium" pitchFamily="34" charset="-122"/>
                <a:cs typeface="Bitter Medium" pitchFamily="34" charset="-120"/>
              </a:rPr>
              <a:t>Purpose</a:t>
            </a:r>
            <a:endParaRPr lang="en-US" sz="1600" dirty="0"/>
          </a:p>
        </p:txBody>
      </p:sp>
      <p:sp>
        <p:nvSpPr>
          <p:cNvPr id="4" name="Text 2"/>
          <p:cNvSpPr/>
          <p:nvPr/>
        </p:nvSpPr>
        <p:spPr>
          <a:xfrm>
            <a:off x="652939" y="1683187"/>
            <a:ext cx="5777032" cy="783312"/>
          </a:xfrm>
          <a:prstGeom prst="rect">
            <a:avLst/>
          </a:prstGeom>
          <a:noFill/>
          <a:ln/>
        </p:spPr>
        <p:txBody>
          <a:bodyPr wrap="square" lIns="0" tIns="0" rIns="0" bIns="0" rtlCol="0" anchor="t"/>
          <a:lstStyle/>
          <a:p>
            <a:pPr algn="l" indent="0" marL="0">
              <a:lnSpc>
                <a:spcPts val="2050"/>
              </a:lnSpc>
              <a:buNone/>
            </a:pPr>
            <a:r>
              <a:rPr lang="en-US" sz="1250" dirty="0">
                <a:solidFill>
                  <a:srgbClr val="2B2E3C"/>
                </a:solidFill>
                <a:latin typeface="Open Sans" pitchFamily="34" charset="0"/>
                <a:ea typeface="Open Sans" pitchFamily="34" charset="-122"/>
                <a:cs typeface="Open Sans" pitchFamily="34" charset="-120"/>
              </a:rPr>
              <a:t>Shows the system's functional parts, focusing on </a:t>
            </a:r>
            <a:pPr algn="l" indent="0" marL="0">
              <a:lnSpc>
                <a:spcPts val="2050"/>
              </a:lnSpc>
              <a:buNone/>
            </a:pPr>
            <a:r>
              <a:rPr lang="en-US" sz="1250" b="1" dirty="0">
                <a:solidFill>
                  <a:srgbClr val="2B2E3C"/>
                </a:solidFill>
                <a:latin typeface="Open Sans" pitchFamily="34" charset="0"/>
                <a:ea typeface="Open Sans" pitchFamily="34" charset="-122"/>
                <a:cs typeface="Open Sans" pitchFamily="34" charset="-120"/>
              </a:rPr>
              <a:t>what the system does</a:t>
            </a:r>
            <a:pPr algn="l" indent="0" marL="0">
              <a:lnSpc>
                <a:spcPts val="2050"/>
              </a:lnSpc>
              <a:buNone/>
            </a:pPr>
            <a:r>
              <a:rPr lang="en-US" sz="1250" dirty="0">
                <a:solidFill>
                  <a:srgbClr val="2B2E3C"/>
                </a:solidFill>
                <a:latin typeface="Open Sans" pitchFamily="34" charset="0"/>
                <a:ea typeface="Open Sans" pitchFamily="34" charset="-122"/>
                <a:cs typeface="Open Sans" pitchFamily="34" charset="-120"/>
              </a:rPr>
              <a:t> from an end-user perspective. This view captures the key abstractions and their relationships.</a:t>
            </a:r>
            <a:endParaRPr lang="en-US" sz="1250" dirty="0"/>
          </a:p>
        </p:txBody>
      </p:sp>
      <p:sp>
        <p:nvSpPr>
          <p:cNvPr id="5" name="Text 3"/>
          <p:cNvSpPr/>
          <p:nvPr/>
        </p:nvSpPr>
        <p:spPr>
          <a:xfrm>
            <a:off x="652939" y="2629733"/>
            <a:ext cx="2040374" cy="255032"/>
          </a:xfrm>
          <a:prstGeom prst="rect">
            <a:avLst/>
          </a:prstGeom>
          <a:noFill/>
          <a:ln/>
        </p:spPr>
        <p:txBody>
          <a:bodyPr wrap="none" lIns="0" tIns="0" rIns="0" bIns="0" rtlCol="0" anchor="t"/>
          <a:lstStyle/>
          <a:p>
            <a:pPr algn="l" indent="0" marL="0">
              <a:lnSpc>
                <a:spcPts val="2000"/>
              </a:lnSpc>
              <a:buNone/>
            </a:pPr>
            <a:r>
              <a:rPr lang="en-US" sz="1600" dirty="0">
                <a:solidFill>
                  <a:srgbClr val="2C3F42"/>
                </a:solidFill>
                <a:latin typeface="Bitter Medium" pitchFamily="34" charset="0"/>
                <a:ea typeface="Bitter Medium" pitchFamily="34" charset="-122"/>
                <a:cs typeface="Bitter Medium" pitchFamily="34" charset="-120"/>
              </a:rPr>
              <a:t>Primary Audience</a:t>
            </a:r>
            <a:endParaRPr lang="en-US" sz="1600" dirty="0"/>
          </a:p>
        </p:txBody>
      </p:sp>
      <p:sp>
        <p:nvSpPr>
          <p:cNvPr id="6" name="Text 4"/>
          <p:cNvSpPr/>
          <p:nvPr/>
        </p:nvSpPr>
        <p:spPr>
          <a:xfrm>
            <a:off x="652939" y="3048000"/>
            <a:ext cx="5777032" cy="261104"/>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B2E3C"/>
                </a:solidFill>
                <a:latin typeface="Open Sans" pitchFamily="34" charset="0"/>
                <a:ea typeface="Open Sans" pitchFamily="34" charset="-122"/>
                <a:cs typeface="Open Sans" pitchFamily="34" charset="-120"/>
              </a:rPr>
              <a:t>Software architects</a:t>
            </a:r>
            <a:endParaRPr lang="en-US" sz="1250" dirty="0"/>
          </a:p>
        </p:txBody>
      </p:sp>
      <p:sp>
        <p:nvSpPr>
          <p:cNvPr id="7" name="Text 5"/>
          <p:cNvSpPr/>
          <p:nvPr/>
        </p:nvSpPr>
        <p:spPr>
          <a:xfrm>
            <a:off x="652939" y="3366135"/>
            <a:ext cx="5777032" cy="261104"/>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B2E3C"/>
                </a:solidFill>
                <a:latin typeface="Open Sans" pitchFamily="34" charset="0"/>
                <a:ea typeface="Open Sans" pitchFamily="34" charset="-122"/>
                <a:cs typeface="Open Sans" pitchFamily="34" charset="-120"/>
              </a:rPr>
              <a:t>Developers</a:t>
            </a:r>
            <a:endParaRPr lang="en-US" sz="1250" dirty="0"/>
          </a:p>
        </p:txBody>
      </p:sp>
      <p:sp>
        <p:nvSpPr>
          <p:cNvPr id="8" name="Text 6"/>
          <p:cNvSpPr/>
          <p:nvPr/>
        </p:nvSpPr>
        <p:spPr>
          <a:xfrm>
            <a:off x="652939" y="3684270"/>
            <a:ext cx="5777032" cy="261104"/>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B2E3C"/>
                </a:solidFill>
                <a:latin typeface="Open Sans" pitchFamily="34" charset="0"/>
                <a:ea typeface="Open Sans" pitchFamily="34" charset="-122"/>
                <a:cs typeface="Open Sans" pitchFamily="34" charset="-120"/>
              </a:rPr>
              <a:t>Business analysts</a:t>
            </a:r>
            <a:endParaRPr lang="en-US" sz="1250" dirty="0"/>
          </a:p>
        </p:txBody>
      </p:sp>
      <p:sp>
        <p:nvSpPr>
          <p:cNvPr id="9" name="Text 7"/>
          <p:cNvSpPr/>
          <p:nvPr/>
        </p:nvSpPr>
        <p:spPr>
          <a:xfrm>
            <a:off x="652939" y="4108609"/>
            <a:ext cx="2040374" cy="255032"/>
          </a:xfrm>
          <a:prstGeom prst="rect">
            <a:avLst/>
          </a:prstGeom>
          <a:noFill/>
          <a:ln/>
        </p:spPr>
        <p:txBody>
          <a:bodyPr wrap="none" lIns="0" tIns="0" rIns="0" bIns="0" rtlCol="0" anchor="t"/>
          <a:lstStyle/>
          <a:p>
            <a:pPr algn="l" indent="0" marL="0">
              <a:lnSpc>
                <a:spcPts val="2000"/>
              </a:lnSpc>
              <a:buNone/>
            </a:pPr>
            <a:r>
              <a:rPr lang="en-US" sz="1600" dirty="0">
                <a:solidFill>
                  <a:srgbClr val="2C3F42"/>
                </a:solidFill>
                <a:latin typeface="Bitter Medium" pitchFamily="34" charset="0"/>
                <a:ea typeface="Bitter Medium" pitchFamily="34" charset="-122"/>
                <a:cs typeface="Bitter Medium" pitchFamily="34" charset="-120"/>
              </a:rPr>
              <a:t>Common Diagrams</a:t>
            </a:r>
            <a:endParaRPr lang="en-US" sz="1600" dirty="0"/>
          </a:p>
        </p:txBody>
      </p:sp>
      <p:sp>
        <p:nvSpPr>
          <p:cNvPr id="10" name="Text 8"/>
          <p:cNvSpPr/>
          <p:nvPr/>
        </p:nvSpPr>
        <p:spPr>
          <a:xfrm>
            <a:off x="652939" y="4526875"/>
            <a:ext cx="5777032" cy="261104"/>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B2E3C"/>
                </a:solidFill>
                <a:latin typeface="Open Sans" pitchFamily="34" charset="0"/>
                <a:ea typeface="Open Sans" pitchFamily="34" charset="-122"/>
                <a:cs typeface="Open Sans" pitchFamily="34" charset="-120"/>
              </a:rPr>
              <a:t>Component diagrams</a:t>
            </a:r>
            <a:endParaRPr lang="en-US" sz="1250" dirty="0"/>
          </a:p>
        </p:txBody>
      </p:sp>
      <p:sp>
        <p:nvSpPr>
          <p:cNvPr id="11" name="Text 9"/>
          <p:cNvSpPr/>
          <p:nvPr/>
        </p:nvSpPr>
        <p:spPr>
          <a:xfrm>
            <a:off x="652939" y="4845010"/>
            <a:ext cx="5777032" cy="261104"/>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B2E3C"/>
                </a:solidFill>
                <a:latin typeface="Open Sans" pitchFamily="34" charset="0"/>
                <a:ea typeface="Open Sans" pitchFamily="34" charset="-122"/>
                <a:cs typeface="Open Sans" pitchFamily="34" charset="-120"/>
              </a:rPr>
              <a:t>Class diagrams</a:t>
            </a:r>
            <a:endParaRPr lang="en-US" sz="1250" dirty="0"/>
          </a:p>
        </p:txBody>
      </p:sp>
      <p:sp>
        <p:nvSpPr>
          <p:cNvPr id="12" name="Text 10"/>
          <p:cNvSpPr/>
          <p:nvPr/>
        </p:nvSpPr>
        <p:spPr>
          <a:xfrm>
            <a:off x="652939" y="5163145"/>
            <a:ext cx="5777032" cy="261104"/>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B2E3C"/>
                </a:solidFill>
                <a:latin typeface="Open Sans" pitchFamily="34" charset="0"/>
                <a:ea typeface="Open Sans" pitchFamily="34" charset="-122"/>
                <a:cs typeface="Open Sans" pitchFamily="34" charset="-120"/>
              </a:rPr>
              <a:t>Module diagrams</a:t>
            </a:r>
            <a:endParaRPr lang="en-US" sz="1250" dirty="0"/>
          </a:p>
        </p:txBody>
      </p:sp>
      <p:sp>
        <p:nvSpPr>
          <p:cNvPr id="13" name="Text 11"/>
          <p:cNvSpPr/>
          <p:nvPr/>
        </p:nvSpPr>
        <p:spPr>
          <a:xfrm>
            <a:off x="6835735" y="1264920"/>
            <a:ext cx="2130385" cy="255032"/>
          </a:xfrm>
          <a:prstGeom prst="rect">
            <a:avLst/>
          </a:prstGeom>
          <a:noFill/>
          <a:ln/>
        </p:spPr>
        <p:txBody>
          <a:bodyPr wrap="none" lIns="0" tIns="0" rIns="0" bIns="0" rtlCol="0" anchor="t"/>
          <a:lstStyle/>
          <a:p>
            <a:pPr algn="l" indent="0" marL="0">
              <a:lnSpc>
                <a:spcPts val="2000"/>
              </a:lnSpc>
              <a:buNone/>
            </a:pPr>
            <a:r>
              <a:rPr lang="en-US" sz="1600" dirty="0">
                <a:solidFill>
                  <a:srgbClr val="2C3F42"/>
                </a:solidFill>
                <a:latin typeface="Bitter Medium" pitchFamily="34" charset="0"/>
                <a:ea typeface="Bitter Medium" pitchFamily="34" charset="-122"/>
                <a:cs typeface="Bitter Medium" pitchFamily="34" charset="-120"/>
              </a:rPr>
              <a:t>E-Commerce Example</a:t>
            </a:r>
            <a:endParaRPr lang="en-US" sz="1600" dirty="0"/>
          </a:p>
        </p:txBody>
      </p:sp>
      <p:sp>
        <p:nvSpPr>
          <p:cNvPr id="14" name="Shape 12"/>
          <p:cNvSpPr/>
          <p:nvPr/>
        </p:nvSpPr>
        <p:spPr>
          <a:xfrm>
            <a:off x="6835735" y="1703546"/>
            <a:ext cx="7149227" cy="1051560"/>
          </a:xfrm>
          <a:prstGeom prst="roundRect">
            <a:avLst>
              <a:gd name="adj" fmla="val 6520"/>
            </a:avLst>
          </a:prstGeom>
          <a:solidFill>
            <a:srgbClr val="FFF8F0"/>
          </a:solidFill>
          <a:ln w="22860">
            <a:solidFill>
              <a:srgbClr val="E2C8B5"/>
            </a:solidFill>
            <a:prstDash val="solid"/>
          </a:ln>
        </p:spPr>
      </p:sp>
      <p:sp>
        <p:nvSpPr>
          <p:cNvPr id="15" name="Text 13"/>
          <p:cNvSpPr/>
          <p:nvPr/>
        </p:nvSpPr>
        <p:spPr>
          <a:xfrm>
            <a:off x="7021830" y="1889641"/>
            <a:ext cx="2040374" cy="255032"/>
          </a:xfrm>
          <a:prstGeom prst="rect">
            <a:avLst/>
          </a:prstGeom>
          <a:noFill/>
          <a:ln/>
        </p:spPr>
        <p:txBody>
          <a:bodyPr wrap="none" lIns="0" tIns="0" rIns="0" bIns="0" rtlCol="0" anchor="t"/>
          <a:lstStyle/>
          <a:p>
            <a:pPr algn="l" indent="0" marL="0">
              <a:lnSpc>
                <a:spcPts val="2000"/>
              </a:lnSpc>
              <a:buNone/>
            </a:pPr>
            <a:r>
              <a:rPr lang="en-US" sz="1600" dirty="0">
                <a:solidFill>
                  <a:srgbClr val="2B2E3C"/>
                </a:solidFill>
                <a:latin typeface="Bitter Medium" pitchFamily="34" charset="0"/>
                <a:ea typeface="Bitter Medium" pitchFamily="34" charset="-122"/>
                <a:cs typeface="Bitter Medium" pitchFamily="34" charset="-120"/>
              </a:rPr>
              <a:t>User Management</a:t>
            </a:r>
            <a:endParaRPr lang="en-US" sz="1600" dirty="0"/>
          </a:p>
        </p:txBody>
      </p:sp>
      <p:sp>
        <p:nvSpPr>
          <p:cNvPr id="16" name="Text 14"/>
          <p:cNvSpPr/>
          <p:nvPr/>
        </p:nvSpPr>
        <p:spPr>
          <a:xfrm>
            <a:off x="7021830" y="2307908"/>
            <a:ext cx="6777038" cy="261104"/>
          </a:xfrm>
          <a:prstGeom prst="rect">
            <a:avLst/>
          </a:prstGeom>
          <a:noFill/>
          <a:ln/>
        </p:spPr>
        <p:txBody>
          <a:bodyPr wrap="none" lIns="0" tIns="0" rIns="0" bIns="0" rtlCol="0" anchor="t"/>
          <a:lstStyle/>
          <a:p>
            <a:pPr algn="l" indent="0" marL="0">
              <a:lnSpc>
                <a:spcPts val="2050"/>
              </a:lnSpc>
              <a:buNone/>
            </a:pPr>
            <a:r>
              <a:rPr lang="en-US" sz="1250" dirty="0">
                <a:solidFill>
                  <a:srgbClr val="2B2E3C"/>
                </a:solidFill>
                <a:latin typeface="Open Sans" pitchFamily="34" charset="0"/>
                <a:ea typeface="Open Sans" pitchFamily="34" charset="-122"/>
                <a:cs typeface="Open Sans" pitchFamily="34" charset="-120"/>
              </a:rPr>
              <a:t>Authentication, profiles, preferences</a:t>
            </a:r>
            <a:endParaRPr lang="en-US" sz="1250" dirty="0"/>
          </a:p>
        </p:txBody>
      </p:sp>
      <p:sp>
        <p:nvSpPr>
          <p:cNvPr id="17" name="Shape 15"/>
          <p:cNvSpPr/>
          <p:nvPr/>
        </p:nvSpPr>
        <p:spPr>
          <a:xfrm>
            <a:off x="6835735" y="2918341"/>
            <a:ext cx="7149227" cy="1051560"/>
          </a:xfrm>
          <a:prstGeom prst="roundRect">
            <a:avLst>
              <a:gd name="adj" fmla="val 6520"/>
            </a:avLst>
          </a:prstGeom>
          <a:solidFill>
            <a:srgbClr val="FFF8F0"/>
          </a:solidFill>
          <a:ln w="22860">
            <a:solidFill>
              <a:srgbClr val="E2C8B5"/>
            </a:solidFill>
            <a:prstDash val="solid"/>
          </a:ln>
        </p:spPr>
      </p:sp>
      <p:sp>
        <p:nvSpPr>
          <p:cNvPr id="18" name="Text 16"/>
          <p:cNvSpPr/>
          <p:nvPr/>
        </p:nvSpPr>
        <p:spPr>
          <a:xfrm>
            <a:off x="7021830" y="3104436"/>
            <a:ext cx="2040374" cy="255032"/>
          </a:xfrm>
          <a:prstGeom prst="rect">
            <a:avLst/>
          </a:prstGeom>
          <a:noFill/>
          <a:ln/>
        </p:spPr>
        <p:txBody>
          <a:bodyPr wrap="none" lIns="0" tIns="0" rIns="0" bIns="0" rtlCol="0" anchor="t"/>
          <a:lstStyle/>
          <a:p>
            <a:pPr algn="l" indent="0" marL="0">
              <a:lnSpc>
                <a:spcPts val="2000"/>
              </a:lnSpc>
              <a:buNone/>
            </a:pPr>
            <a:r>
              <a:rPr lang="en-US" sz="1600" dirty="0">
                <a:solidFill>
                  <a:srgbClr val="2B2E3C"/>
                </a:solidFill>
                <a:latin typeface="Bitter Medium" pitchFamily="34" charset="0"/>
                <a:ea typeface="Bitter Medium" pitchFamily="34" charset="-122"/>
                <a:cs typeface="Bitter Medium" pitchFamily="34" charset="-120"/>
              </a:rPr>
              <a:t>Product Catalog</a:t>
            </a:r>
            <a:endParaRPr lang="en-US" sz="1600" dirty="0"/>
          </a:p>
        </p:txBody>
      </p:sp>
      <p:sp>
        <p:nvSpPr>
          <p:cNvPr id="19" name="Text 17"/>
          <p:cNvSpPr/>
          <p:nvPr/>
        </p:nvSpPr>
        <p:spPr>
          <a:xfrm>
            <a:off x="7021830" y="3522702"/>
            <a:ext cx="6777038" cy="261104"/>
          </a:xfrm>
          <a:prstGeom prst="rect">
            <a:avLst/>
          </a:prstGeom>
          <a:noFill/>
          <a:ln/>
        </p:spPr>
        <p:txBody>
          <a:bodyPr wrap="none" lIns="0" tIns="0" rIns="0" bIns="0" rtlCol="0" anchor="t"/>
          <a:lstStyle/>
          <a:p>
            <a:pPr algn="l" indent="0" marL="0">
              <a:lnSpc>
                <a:spcPts val="2050"/>
              </a:lnSpc>
              <a:buNone/>
            </a:pPr>
            <a:r>
              <a:rPr lang="en-US" sz="1250" dirty="0">
                <a:solidFill>
                  <a:srgbClr val="2B2E3C"/>
                </a:solidFill>
                <a:latin typeface="Open Sans" pitchFamily="34" charset="0"/>
                <a:ea typeface="Open Sans" pitchFamily="34" charset="-122"/>
                <a:cs typeface="Open Sans" pitchFamily="34" charset="-120"/>
              </a:rPr>
              <a:t>Search, browse, recommendations</a:t>
            </a:r>
            <a:endParaRPr lang="en-US" sz="1250" dirty="0"/>
          </a:p>
        </p:txBody>
      </p:sp>
      <p:sp>
        <p:nvSpPr>
          <p:cNvPr id="20" name="Shape 18"/>
          <p:cNvSpPr/>
          <p:nvPr/>
        </p:nvSpPr>
        <p:spPr>
          <a:xfrm>
            <a:off x="6835735" y="4133136"/>
            <a:ext cx="7149227" cy="1051560"/>
          </a:xfrm>
          <a:prstGeom prst="roundRect">
            <a:avLst>
              <a:gd name="adj" fmla="val 6520"/>
            </a:avLst>
          </a:prstGeom>
          <a:solidFill>
            <a:srgbClr val="FFF8F0"/>
          </a:solidFill>
          <a:ln w="22860">
            <a:solidFill>
              <a:srgbClr val="E2C8B5"/>
            </a:solidFill>
            <a:prstDash val="solid"/>
          </a:ln>
        </p:spPr>
      </p:sp>
      <p:sp>
        <p:nvSpPr>
          <p:cNvPr id="21" name="Text 19"/>
          <p:cNvSpPr/>
          <p:nvPr/>
        </p:nvSpPr>
        <p:spPr>
          <a:xfrm>
            <a:off x="7021830" y="4319230"/>
            <a:ext cx="2040374" cy="255032"/>
          </a:xfrm>
          <a:prstGeom prst="rect">
            <a:avLst/>
          </a:prstGeom>
          <a:noFill/>
          <a:ln/>
        </p:spPr>
        <p:txBody>
          <a:bodyPr wrap="none" lIns="0" tIns="0" rIns="0" bIns="0" rtlCol="0" anchor="t"/>
          <a:lstStyle/>
          <a:p>
            <a:pPr algn="l" indent="0" marL="0">
              <a:lnSpc>
                <a:spcPts val="2000"/>
              </a:lnSpc>
              <a:buNone/>
            </a:pPr>
            <a:r>
              <a:rPr lang="en-US" sz="1600" dirty="0">
                <a:solidFill>
                  <a:srgbClr val="2B2E3C"/>
                </a:solidFill>
                <a:latin typeface="Bitter Medium" pitchFamily="34" charset="0"/>
                <a:ea typeface="Bitter Medium" pitchFamily="34" charset="-122"/>
                <a:cs typeface="Bitter Medium" pitchFamily="34" charset="-120"/>
              </a:rPr>
              <a:t>Shopping Cart</a:t>
            </a:r>
            <a:endParaRPr lang="en-US" sz="1600" dirty="0"/>
          </a:p>
        </p:txBody>
      </p:sp>
      <p:sp>
        <p:nvSpPr>
          <p:cNvPr id="22" name="Text 20"/>
          <p:cNvSpPr/>
          <p:nvPr/>
        </p:nvSpPr>
        <p:spPr>
          <a:xfrm>
            <a:off x="7021830" y="4737497"/>
            <a:ext cx="6777038" cy="261104"/>
          </a:xfrm>
          <a:prstGeom prst="rect">
            <a:avLst/>
          </a:prstGeom>
          <a:noFill/>
          <a:ln/>
        </p:spPr>
        <p:txBody>
          <a:bodyPr wrap="none" lIns="0" tIns="0" rIns="0" bIns="0" rtlCol="0" anchor="t"/>
          <a:lstStyle/>
          <a:p>
            <a:pPr algn="l" indent="0" marL="0">
              <a:lnSpc>
                <a:spcPts val="2050"/>
              </a:lnSpc>
              <a:buNone/>
            </a:pPr>
            <a:r>
              <a:rPr lang="en-US" sz="1250" dirty="0">
                <a:solidFill>
                  <a:srgbClr val="2B2E3C"/>
                </a:solidFill>
                <a:latin typeface="Open Sans" pitchFamily="34" charset="0"/>
                <a:ea typeface="Open Sans" pitchFamily="34" charset="-122"/>
                <a:cs typeface="Open Sans" pitchFamily="34" charset="-120"/>
              </a:rPr>
              <a:t>Add items, manage quantities</a:t>
            </a:r>
            <a:endParaRPr lang="en-US" sz="1250" dirty="0"/>
          </a:p>
        </p:txBody>
      </p:sp>
      <p:sp>
        <p:nvSpPr>
          <p:cNvPr id="23" name="Shape 21"/>
          <p:cNvSpPr/>
          <p:nvPr/>
        </p:nvSpPr>
        <p:spPr>
          <a:xfrm>
            <a:off x="6835735" y="5347930"/>
            <a:ext cx="7149227" cy="1051560"/>
          </a:xfrm>
          <a:prstGeom prst="roundRect">
            <a:avLst>
              <a:gd name="adj" fmla="val 6520"/>
            </a:avLst>
          </a:prstGeom>
          <a:solidFill>
            <a:srgbClr val="FFF8F0"/>
          </a:solidFill>
          <a:ln w="22860">
            <a:solidFill>
              <a:srgbClr val="E2C8B5"/>
            </a:solidFill>
            <a:prstDash val="solid"/>
          </a:ln>
        </p:spPr>
      </p:sp>
      <p:sp>
        <p:nvSpPr>
          <p:cNvPr id="24" name="Text 22"/>
          <p:cNvSpPr/>
          <p:nvPr/>
        </p:nvSpPr>
        <p:spPr>
          <a:xfrm>
            <a:off x="7021830" y="5534025"/>
            <a:ext cx="2040374" cy="255032"/>
          </a:xfrm>
          <a:prstGeom prst="rect">
            <a:avLst/>
          </a:prstGeom>
          <a:noFill/>
          <a:ln/>
        </p:spPr>
        <p:txBody>
          <a:bodyPr wrap="none" lIns="0" tIns="0" rIns="0" bIns="0" rtlCol="0" anchor="t"/>
          <a:lstStyle/>
          <a:p>
            <a:pPr algn="l" indent="0" marL="0">
              <a:lnSpc>
                <a:spcPts val="2000"/>
              </a:lnSpc>
              <a:buNone/>
            </a:pPr>
            <a:r>
              <a:rPr lang="en-US" sz="1600" dirty="0">
                <a:solidFill>
                  <a:srgbClr val="2B2E3C"/>
                </a:solidFill>
                <a:latin typeface="Bitter Medium" pitchFamily="34" charset="0"/>
                <a:ea typeface="Bitter Medium" pitchFamily="34" charset="-122"/>
                <a:cs typeface="Bitter Medium" pitchFamily="34" charset="-120"/>
              </a:rPr>
              <a:t>Order Processing</a:t>
            </a:r>
            <a:endParaRPr lang="en-US" sz="1600" dirty="0"/>
          </a:p>
        </p:txBody>
      </p:sp>
      <p:sp>
        <p:nvSpPr>
          <p:cNvPr id="25" name="Text 23"/>
          <p:cNvSpPr/>
          <p:nvPr/>
        </p:nvSpPr>
        <p:spPr>
          <a:xfrm>
            <a:off x="7021830" y="5952292"/>
            <a:ext cx="6777038" cy="261104"/>
          </a:xfrm>
          <a:prstGeom prst="rect">
            <a:avLst/>
          </a:prstGeom>
          <a:noFill/>
          <a:ln/>
        </p:spPr>
        <p:txBody>
          <a:bodyPr wrap="none" lIns="0" tIns="0" rIns="0" bIns="0" rtlCol="0" anchor="t"/>
          <a:lstStyle/>
          <a:p>
            <a:pPr algn="l" indent="0" marL="0">
              <a:lnSpc>
                <a:spcPts val="2050"/>
              </a:lnSpc>
              <a:buNone/>
            </a:pPr>
            <a:r>
              <a:rPr lang="en-US" sz="1250" dirty="0">
                <a:solidFill>
                  <a:srgbClr val="2B2E3C"/>
                </a:solidFill>
                <a:latin typeface="Open Sans" pitchFamily="34" charset="0"/>
                <a:ea typeface="Open Sans" pitchFamily="34" charset="-122"/>
                <a:cs typeface="Open Sans" pitchFamily="34" charset="-120"/>
              </a:rPr>
              <a:t>Checkout, payment, fulfillment</a:t>
            </a:r>
            <a:endParaRPr lang="en-US" sz="1250" dirty="0"/>
          </a:p>
        </p:txBody>
      </p:sp>
      <p:sp>
        <p:nvSpPr>
          <p:cNvPr id="26" name="Shape 24"/>
          <p:cNvSpPr/>
          <p:nvPr/>
        </p:nvSpPr>
        <p:spPr>
          <a:xfrm>
            <a:off x="6835735" y="6562725"/>
            <a:ext cx="7149227" cy="1051560"/>
          </a:xfrm>
          <a:prstGeom prst="roundRect">
            <a:avLst>
              <a:gd name="adj" fmla="val 6520"/>
            </a:avLst>
          </a:prstGeom>
          <a:solidFill>
            <a:srgbClr val="FFF8F0"/>
          </a:solidFill>
          <a:ln w="22860">
            <a:solidFill>
              <a:srgbClr val="E2C8B5"/>
            </a:solidFill>
            <a:prstDash val="solid"/>
          </a:ln>
        </p:spPr>
      </p:sp>
      <p:sp>
        <p:nvSpPr>
          <p:cNvPr id="27" name="Text 25"/>
          <p:cNvSpPr/>
          <p:nvPr/>
        </p:nvSpPr>
        <p:spPr>
          <a:xfrm>
            <a:off x="7021830" y="6748820"/>
            <a:ext cx="2246352" cy="255032"/>
          </a:xfrm>
          <a:prstGeom prst="rect">
            <a:avLst/>
          </a:prstGeom>
          <a:noFill/>
          <a:ln/>
        </p:spPr>
        <p:txBody>
          <a:bodyPr wrap="none" lIns="0" tIns="0" rIns="0" bIns="0" rtlCol="0" anchor="t"/>
          <a:lstStyle/>
          <a:p>
            <a:pPr algn="l" indent="0" marL="0">
              <a:lnSpc>
                <a:spcPts val="2000"/>
              </a:lnSpc>
              <a:buNone/>
            </a:pPr>
            <a:r>
              <a:rPr lang="en-US" sz="1600" dirty="0">
                <a:solidFill>
                  <a:srgbClr val="2B2E3C"/>
                </a:solidFill>
                <a:latin typeface="Bitter Medium" pitchFamily="34" charset="0"/>
                <a:ea typeface="Bitter Medium" pitchFamily="34" charset="-122"/>
                <a:cs typeface="Bitter Medium" pitchFamily="34" charset="-120"/>
              </a:rPr>
              <a:t>Inventory Management</a:t>
            </a:r>
            <a:endParaRPr lang="en-US" sz="1600" dirty="0"/>
          </a:p>
        </p:txBody>
      </p:sp>
      <p:sp>
        <p:nvSpPr>
          <p:cNvPr id="28" name="Text 26"/>
          <p:cNvSpPr/>
          <p:nvPr/>
        </p:nvSpPr>
        <p:spPr>
          <a:xfrm>
            <a:off x="7021830" y="7167086"/>
            <a:ext cx="6777038" cy="261104"/>
          </a:xfrm>
          <a:prstGeom prst="rect">
            <a:avLst/>
          </a:prstGeom>
          <a:noFill/>
          <a:ln/>
        </p:spPr>
        <p:txBody>
          <a:bodyPr wrap="none" lIns="0" tIns="0" rIns="0" bIns="0" rtlCol="0" anchor="t"/>
          <a:lstStyle/>
          <a:p>
            <a:pPr algn="l" indent="0" marL="0">
              <a:lnSpc>
                <a:spcPts val="2050"/>
              </a:lnSpc>
              <a:buNone/>
            </a:pPr>
            <a:r>
              <a:rPr lang="en-US" sz="1250" dirty="0">
                <a:solidFill>
                  <a:srgbClr val="2B2E3C"/>
                </a:solidFill>
                <a:latin typeface="Open Sans" pitchFamily="34" charset="0"/>
                <a:ea typeface="Open Sans" pitchFamily="34" charset="-122"/>
                <a:cs typeface="Open Sans" pitchFamily="34" charset="-120"/>
              </a:rPr>
              <a:t>Stock tracking, warehouse integration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1647706"/>
            <a:ext cx="7205305" cy="496133"/>
          </a:xfrm>
          <a:prstGeom prst="rect">
            <a:avLst/>
          </a:prstGeom>
          <a:noFill/>
          <a:ln/>
        </p:spPr>
        <p:txBody>
          <a:bodyPr wrap="none" lIns="0" tIns="0" rIns="0" bIns="0" rtlCol="0" anchor="t"/>
          <a:lstStyle/>
          <a:p>
            <a:pPr algn="l" indent="0" marL="0">
              <a:lnSpc>
                <a:spcPts val="3900"/>
              </a:lnSpc>
              <a:buNone/>
            </a:pPr>
            <a:r>
              <a:rPr lang="en-US" sz="3100" dirty="0">
                <a:solidFill>
                  <a:srgbClr val="2C3F42"/>
                </a:solidFill>
                <a:latin typeface="Bitter Medium" pitchFamily="34" charset="0"/>
                <a:ea typeface="Bitter Medium" pitchFamily="34" charset="-122"/>
                <a:cs typeface="Bitter Medium" pitchFamily="34" charset="-120"/>
              </a:rPr>
              <a:t>Development, Process &amp; Physical Views</a:t>
            </a:r>
            <a:endParaRPr lang="en-US" sz="3100" dirty="0"/>
          </a:p>
        </p:txBody>
      </p:sp>
      <p:sp>
        <p:nvSpPr>
          <p:cNvPr id="3" name="Text 1"/>
          <p:cNvSpPr/>
          <p:nvPr/>
        </p:nvSpPr>
        <p:spPr>
          <a:xfrm>
            <a:off x="793790" y="273903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B2E3C"/>
                </a:solidFill>
                <a:latin typeface="Bitter Medium" pitchFamily="34" charset="0"/>
                <a:ea typeface="Bitter Medium" pitchFamily="34" charset="-122"/>
                <a:cs typeface="Bitter Medium" pitchFamily="34" charset="-120"/>
              </a:rPr>
              <a:t>Development View</a:t>
            </a:r>
            <a:endParaRPr lang="en-US" sz="1950" dirty="0"/>
          </a:p>
        </p:txBody>
      </p:sp>
      <p:sp>
        <p:nvSpPr>
          <p:cNvPr id="4" name="Text 2"/>
          <p:cNvSpPr/>
          <p:nvPr/>
        </p:nvSpPr>
        <p:spPr>
          <a:xfrm>
            <a:off x="793790" y="3168253"/>
            <a:ext cx="4182189" cy="1587698"/>
          </a:xfrm>
          <a:prstGeom prst="rect">
            <a:avLst/>
          </a:prstGeom>
          <a:noFill/>
          <a:ln/>
        </p:spPr>
        <p:txBody>
          <a:bodyPr wrap="square" lIns="0" tIns="0" rIns="0" bIns="0" rtlCol="0" anchor="t"/>
          <a:lstStyle/>
          <a:p>
            <a:pPr algn="l" indent="0" marL="0">
              <a:lnSpc>
                <a:spcPts val="2500"/>
              </a:lnSpc>
              <a:buNone/>
            </a:pPr>
            <a:r>
              <a:rPr lang="en-US" sz="1550" b="1" dirty="0">
                <a:solidFill>
                  <a:srgbClr val="2B2E3C"/>
                </a:solidFill>
                <a:latin typeface="Open Sans" pitchFamily="34" charset="0"/>
                <a:ea typeface="Open Sans" pitchFamily="34" charset="-122"/>
                <a:cs typeface="Open Sans" pitchFamily="34" charset="-120"/>
              </a:rPr>
              <a:t>How it's built:</a:t>
            </a:r>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 Shows code organization—repositories, packages, libraries, and folder structures. Helps developers understand where code lives and how modules depend on each other.</a:t>
            </a:r>
            <a:endParaRPr lang="en-US" sz="1550" dirty="0"/>
          </a:p>
        </p:txBody>
      </p:sp>
      <p:sp>
        <p:nvSpPr>
          <p:cNvPr id="5" name="Text 3"/>
          <p:cNvSpPr/>
          <p:nvPr/>
        </p:nvSpPr>
        <p:spPr>
          <a:xfrm>
            <a:off x="793790" y="4875014"/>
            <a:ext cx="4182189" cy="317540"/>
          </a:xfrm>
          <a:prstGeom prst="rect">
            <a:avLst/>
          </a:prstGeom>
          <a:noFill/>
          <a:ln/>
        </p:spPr>
        <p:txBody>
          <a:bodyPr wrap="none" lIns="0" tIns="0" rIns="0" bIns="0" rtlCol="0" anchor="t"/>
          <a:lstStyle/>
          <a:p>
            <a:pPr algn="l" indent="0" marL="0">
              <a:lnSpc>
                <a:spcPts val="2500"/>
              </a:lnSpc>
              <a:buNone/>
            </a:pPr>
            <a:r>
              <a:rPr lang="en-US" sz="1550" i="1" dirty="0">
                <a:solidFill>
                  <a:srgbClr val="2B2E3C"/>
                </a:solidFill>
                <a:latin typeface="Open Sans" pitchFamily="34" charset="0"/>
                <a:ea typeface="Open Sans" pitchFamily="34" charset="-122"/>
                <a:cs typeface="Open Sans" pitchFamily="34" charset="-120"/>
              </a:rPr>
              <a:t>Audience:</a:t>
            </a:r>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 Developers, build engineers</a:t>
            </a:r>
            <a:endParaRPr lang="en-US" sz="1550" dirty="0"/>
          </a:p>
        </p:txBody>
      </p:sp>
      <p:sp>
        <p:nvSpPr>
          <p:cNvPr id="6" name="Text 4"/>
          <p:cNvSpPr/>
          <p:nvPr/>
        </p:nvSpPr>
        <p:spPr>
          <a:xfrm>
            <a:off x="793790" y="5311616"/>
            <a:ext cx="4182189" cy="635079"/>
          </a:xfrm>
          <a:prstGeom prst="rect">
            <a:avLst/>
          </a:prstGeom>
          <a:noFill/>
          <a:ln/>
        </p:spPr>
        <p:txBody>
          <a:bodyPr wrap="square" lIns="0" tIns="0" rIns="0" bIns="0" rtlCol="0" anchor="t"/>
          <a:lstStyle/>
          <a:p>
            <a:pPr algn="l" indent="0" marL="0">
              <a:lnSpc>
                <a:spcPts val="2500"/>
              </a:lnSpc>
              <a:buNone/>
            </a:pPr>
            <a:r>
              <a:rPr lang="en-US" sz="1550" dirty="0">
                <a:solidFill>
                  <a:srgbClr val="D2600F"/>
                </a:solidFill>
                <a:latin typeface="Open Sans" pitchFamily="34" charset="0"/>
                <a:ea typeface="Open Sans" pitchFamily="34" charset="-122"/>
                <a:cs typeface="Open Sans" pitchFamily="34" charset="-120"/>
              </a:rPr>
              <a:t>Example:</a:t>
            </a:r>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 Monorepo with separate folders for frontend, backend, and shared utilities</a:t>
            </a:r>
            <a:endParaRPr lang="en-US" sz="1550" dirty="0"/>
          </a:p>
        </p:txBody>
      </p:sp>
      <p:sp>
        <p:nvSpPr>
          <p:cNvPr id="7" name="Text 5"/>
          <p:cNvSpPr/>
          <p:nvPr/>
        </p:nvSpPr>
        <p:spPr>
          <a:xfrm>
            <a:off x="5223986" y="273903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B2E3C"/>
                </a:solidFill>
                <a:latin typeface="Bitter Medium" pitchFamily="34" charset="0"/>
                <a:ea typeface="Bitter Medium" pitchFamily="34" charset="-122"/>
                <a:cs typeface="Bitter Medium" pitchFamily="34" charset="-120"/>
              </a:rPr>
              <a:t>Process View</a:t>
            </a:r>
            <a:endParaRPr lang="en-US" sz="1950" dirty="0"/>
          </a:p>
        </p:txBody>
      </p:sp>
      <p:sp>
        <p:nvSpPr>
          <p:cNvPr id="8" name="Text 6"/>
          <p:cNvSpPr/>
          <p:nvPr/>
        </p:nvSpPr>
        <p:spPr>
          <a:xfrm>
            <a:off x="5223986" y="3168253"/>
            <a:ext cx="4182308" cy="1270159"/>
          </a:xfrm>
          <a:prstGeom prst="rect">
            <a:avLst/>
          </a:prstGeom>
          <a:noFill/>
          <a:ln/>
        </p:spPr>
        <p:txBody>
          <a:bodyPr wrap="square" lIns="0" tIns="0" rIns="0" bIns="0" rtlCol="0" anchor="t"/>
          <a:lstStyle/>
          <a:p>
            <a:pPr algn="l" indent="0" marL="0">
              <a:lnSpc>
                <a:spcPts val="2500"/>
              </a:lnSpc>
              <a:buNone/>
            </a:pPr>
            <a:r>
              <a:rPr lang="en-US" sz="1550" b="1" dirty="0">
                <a:solidFill>
                  <a:srgbClr val="2B2E3C"/>
                </a:solidFill>
                <a:latin typeface="Open Sans" pitchFamily="34" charset="0"/>
                <a:ea typeface="Open Sans" pitchFamily="34" charset="-122"/>
                <a:cs typeface="Open Sans" pitchFamily="34" charset="-120"/>
              </a:rPr>
              <a:t>How it runs:</a:t>
            </a:r>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 Shows runtime behavior including threads, processes, concurrency, and communication patterns. Critical for understanding performance and scalability.</a:t>
            </a:r>
            <a:endParaRPr lang="en-US" sz="1550" dirty="0"/>
          </a:p>
        </p:txBody>
      </p:sp>
      <p:sp>
        <p:nvSpPr>
          <p:cNvPr id="9" name="Text 7"/>
          <p:cNvSpPr/>
          <p:nvPr/>
        </p:nvSpPr>
        <p:spPr>
          <a:xfrm>
            <a:off x="5223986" y="4557474"/>
            <a:ext cx="4182308" cy="635079"/>
          </a:xfrm>
          <a:prstGeom prst="rect">
            <a:avLst/>
          </a:prstGeom>
          <a:noFill/>
          <a:ln/>
        </p:spPr>
        <p:txBody>
          <a:bodyPr wrap="square" lIns="0" tIns="0" rIns="0" bIns="0" rtlCol="0" anchor="t"/>
          <a:lstStyle/>
          <a:p>
            <a:pPr algn="l" indent="0" marL="0">
              <a:lnSpc>
                <a:spcPts val="2500"/>
              </a:lnSpc>
              <a:buNone/>
            </a:pPr>
            <a:r>
              <a:rPr lang="en-US" sz="1550" i="1" dirty="0">
                <a:solidFill>
                  <a:srgbClr val="2B2E3C"/>
                </a:solidFill>
                <a:latin typeface="Open Sans" pitchFamily="34" charset="0"/>
                <a:ea typeface="Open Sans" pitchFamily="34" charset="-122"/>
                <a:cs typeface="Open Sans" pitchFamily="34" charset="-120"/>
              </a:rPr>
              <a:t>Audience:</a:t>
            </a:r>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 DevOps, system designers, performance engineers</a:t>
            </a:r>
            <a:endParaRPr lang="en-US" sz="1550" dirty="0"/>
          </a:p>
        </p:txBody>
      </p:sp>
      <p:sp>
        <p:nvSpPr>
          <p:cNvPr id="10" name="Text 8"/>
          <p:cNvSpPr/>
          <p:nvPr/>
        </p:nvSpPr>
        <p:spPr>
          <a:xfrm>
            <a:off x="5223986" y="5311616"/>
            <a:ext cx="4182308" cy="952619"/>
          </a:xfrm>
          <a:prstGeom prst="rect">
            <a:avLst/>
          </a:prstGeom>
          <a:noFill/>
          <a:ln/>
        </p:spPr>
        <p:txBody>
          <a:bodyPr wrap="square" lIns="0" tIns="0" rIns="0" bIns="0" rtlCol="0" anchor="t"/>
          <a:lstStyle/>
          <a:p>
            <a:pPr algn="l" indent="0" marL="0">
              <a:lnSpc>
                <a:spcPts val="2500"/>
              </a:lnSpc>
              <a:buNone/>
            </a:pPr>
            <a:r>
              <a:rPr lang="en-US" sz="1550" dirty="0">
                <a:solidFill>
                  <a:srgbClr val="D2600F"/>
                </a:solidFill>
                <a:latin typeface="Open Sans" pitchFamily="34" charset="0"/>
                <a:ea typeface="Open Sans" pitchFamily="34" charset="-122"/>
                <a:cs typeface="Open Sans" pitchFamily="34" charset="-120"/>
              </a:rPr>
              <a:t>Example:</a:t>
            </a:r>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 Request handled by load balancer, processed by worker threads, queued for background jobs</a:t>
            </a:r>
            <a:endParaRPr lang="en-US" sz="1550" dirty="0"/>
          </a:p>
        </p:txBody>
      </p:sp>
      <p:sp>
        <p:nvSpPr>
          <p:cNvPr id="11" name="Text 9"/>
          <p:cNvSpPr/>
          <p:nvPr/>
        </p:nvSpPr>
        <p:spPr>
          <a:xfrm>
            <a:off x="9654302" y="273903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B2E3C"/>
                </a:solidFill>
                <a:latin typeface="Bitter Medium" pitchFamily="34" charset="0"/>
                <a:ea typeface="Bitter Medium" pitchFamily="34" charset="-122"/>
                <a:cs typeface="Bitter Medium" pitchFamily="34" charset="-120"/>
              </a:rPr>
              <a:t>Physical View</a:t>
            </a:r>
            <a:endParaRPr lang="en-US" sz="1950" dirty="0"/>
          </a:p>
        </p:txBody>
      </p:sp>
      <p:sp>
        <p:nvSpPr>
          <p:cNvPr id="12" name="Text 10"/>
          <p:cNvSpPr/>
          <p:nvPr/>
        </p:nvSpPr>
        <p:spPr>
          <a:xfrm>
            <a:off x="9654302" y="3168253"/>
            <a:ext cx="4182308" cy="1587698"/>
          </a:xfrm>
          <a:prstGeom prst="rect">
            <a:avLst/>
          </a:prstGeom>
          <a:noFill/>
          <a:ln/>
        </p:spPr>
        <p:txBody>
          <a:bodyPr wrap="square" lIns="0" tIns="0" rIns="0" bIns="0" rtlCol="0" anchor="t"/>
          <a:lstStyle/>
          <a:p>
            <a:pPr algn="l" indent="0" marL="0">
              <a:lnSpc>
                <a:spcPts val="2500"/>
              </a:lnSpc>
              <a:buNone/>
            </a:pPr>
            <a:r>
              <a:rPr lang="en-US" sz="1550" b="1" dirty="0">
                <a:solidFill>
                  <a:srgbClr val="2B2E3C"/>
                </a:solidFill>
                <a:latin typeface="Open Sans" pitchFamily="34" charset="0"/>
                <a:ea typeface="Open Sans" pitchFamily="34" charset="-122"/>
                <a:cs typeface="Open Sans" pitchFamily="34" charset="-120"/>
              </a:rPr>
              <a:t>Where it runs:</a:t>
            </a:r>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 Shows infrastructure—servers, containers, databases, networks, and cloud resources. Maps software components to physical hardware or cloud services.</a:t>
            </a:r>
            <a:endParaRPr lang="en-US" sz="1550" dirty="0"/>
          </a:p>
        </p:txBody>
      </p:sp>
      <p:sp>
        <p:nvSpPr>
          <p:cNvPr id="13" name="Text 11"/>
          <p:cNvSpPr/>
          <p:nvPr/>
        </p:nvSpPr>
        <p:spPr>
          <a:xfrm>
            <a:off x="9654302" y="4875014"/>
            <a:ext cx="4182308" cy="635079"/>
          </a:xfrm>
          <a:prstGeom prst="rect">
            <a:avLst/>
          </a:prstGeom>
          <a:noFill/>
          <a:ln/>
        </p:spPr>
        <p:txBody>
          <a:bodyPr wrap="square" lIns="0" tIns="0" rIns="0" bIns="0" rtlCol="0" anchor="t"/>
          <a:lstStyle/>
          <a:p>
            <a:pPr algn="l" indent="0" marL="0">
              <a:lnSpc>
                <a:spcPts val="2500"/>
              </a:lnSpc>
              <a:buNone/>
            </a:pPr>
            <a:r>
              <a:rPr lang="en-US" sz="1550" i="1" dirty="0">
                <a:solidFill>
                  <a:srgbClr val="2B2E3C"/>
                </a:solidFill>
                <a:latin typeface="Open Sans" pitchFamily="34" charset="0"/>
                <a:ea typeface="Open Sans" pitchFamily="34" charset="-122"/>
                <a:cs typeface="Open Sans" pitchFamily="34" charset="-120"/>
              </a:rPr>
              <a:t>Audience:</a:t>
            </a:r>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 DevOps, cloud engineers, infrastructure teams</a:t>
            </a:r>
            <a:endParaRPr lang="en-US" sz="1550" dirty="0"/>
          </a:p>
        </p:txBody>
      </p:sp>
      <p:sp>
        <p:nvSpPr>
          <p:cNvPr id="14" name="Text 12"/>
          <p:cNvSpPr/>
          <p:nvPr/>
        </p:nvSpPr>
        <p:spPr>
          <a:xfrm>
            <a:off x="9654302" y="5629156"/>
            <a:ext cx="4182308" cy="952619"/>
          </a:xfrm>
          <a:prstGeom prst="rect">
            <a:avLst/>
          </a:prstGeom>
          <a:noFill/>
          <a:ln/>
        </p:spPr>
        <p:txBody>
          <a:bodyPr wrap="square" lIns="0" tIns="0" rIns="0" bIns="0" rtlCol="0" anchor="t"/>
          <a:lstStyle/>
          <a:p>
            <a:pPr algn="l" indent="0" marL="0">
              <a:lnSpc>
                <a:spcPts val="2500"/>
              </a:lnSpc>
              <a:buNone/>
            </a:pPr>
            <a:r>
              <a:rPr lang="en-US" sz="1550" dirty="0">
                <a:solidFill>
                  <a:srgbClr val="D2600F"/>
                </a:solidFill>
                <a:latin typeface="Open Sans" pitchFamily="34" charset="0"/>
                <a:ea typeface="Open Sans" pitchFamily="34" charset="-122"/>
                <a:cs typeface="Open Sans" pitchFamily="34" charset="-120"/>
              </a:rPr>
              <a:t>Example:</a:t>
            </a:r>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 Kubernetes cluster with pods across three availability zones, RDS database, S3 storage</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70334" y="529590"/>
            <a:ext cx="6525816" cy="481370"/>
          </a:xfrm>
          <a:prstGeom prst="rect">
            <a:avLst/>
          </a:prstGeom>
          <a:noFill/>
          <a:ln/>
        </p:spPr>
        <p:txBody>
          <a:bodyPr wrap="none" lIns="0" tIns="0" rIns="0" bIns="0" rtlCol="0" anchor="t"/>
          <a:lstStyle/>
          <a:p>
            <a:pPr algn="l" indent="0" marL="0">
              <a:lnSpc>
                <a:spcPts val="3750"/>
              </a:lnSpc>
              <a:buNone/>
            </a:pPr>
            <a:r>
              <a:rPr lang="en-US" sz="3000" dirty="0">
                <a:solidFill>
                  <a:srgbClr val="2C3F42"/>
                </a:solidFill>
                <a:latin typeface="Bitter Medium" pitchFamily="34" charset="0"/>
                <a:ea typeface="Bitter Medium" pitchFamily="34" charset="-122"/>
                <a:cs typeface="Bitter Medium" pitchFamily="34" charset="-120"/>
              </a:rPr>
              <a:t>Scenarios View: Tying It All Together</a:t>
            </a:r>
            <a:endParaRPr lang="en-US" sz="3000" dirty="0"/>
          </a:p>
        </p:txBody>
      </p:sp>
      <p:sp>
        <p:nvSpPr>
          <p:cNvPr id="3" name="Text 1"/>
          <p:cNvSpPr/>
          <p:nvPr/>
        </p:nvSpPr>
        <p:spPr>
          <a:xfrm>
            <a:off x="770334" y="1396127"/>
            <a:ext cx="13089731" cy="616268"/>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The Scenarios view (also called Use Case view) is the "</a:t>
            </a:r>
            <a:pPr algn="l" indent="0" marL="0">
              <a:lnSpc>
                <a:spcPts val="2400"/>
              </a:lnSpc>
              <a:buNone/>
            </a:pPr>
            <a:r>
              <a:rPr lang="en-US" sz="1500" b="1" dirty="0">
                <a:solidFill>
                  <a:srgbClr val="2B2E3C"/>
                </a:solidFill>
                <a:latin typeface="Open Sans" pitchFamily="34" charset="0"/>
                <a:ea typeface="Open Sans" pitchFamily="34" charset="-122"/>
                <a:cs typeface="Open Sans" pitchFamily="34" charset="-120"/>
              </a:rPr>
              <a:t>+1</a:t>
            </a:r>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 in the 4+1 model. It shows how the system fulfills user needs and business requirements, providing concrete examples that validate and illustrate the other views.</a:t>
            </a:r>
            <a:endParaRPr lang="en-US" sz="1500" dirty="0"/>
          </a:p>
        </p:txBody>
      </p:sp>
      <p:sp>
        <p:nvSpPr>
          <p:cNvPr id="4" name="Shape 2"/>
          <p:cNvSpPr/>
          <p:nvPr/>
        </p:nvSpPr>
        <p:spPr>
          <a:xfrm>
            <a:off x="770334" y="4031933"/>
            <a:ext cx="13089731" cy="22860"/>
          </a:xfrm>
          <a:prstGeom prst="roundRect">
            <a:avLst>
              <a:gd name="adj" fmla="val 353839"/>
            </a:avLst>
          </a:prstGeom>
          <a:solidFill>
            <a:srgbClr val="E2C8B5"/>
          </a:solidFill>
          <a:ln/>
        </p:spPr>
      </p:sp>
      <p:sp>
        <p:nvSpPr>
          <p:cNvPr id="5" name="Shape 3"/>
          <p:cNvSpPr/>
          <p:nvPr/>
        </p:nvSpPr>
        <p:spPr>
          <a:xfrm>
            <a:off x="3304461" y="3454301"/>
            <a:ext cx="22860" cy="577691"/>
          </a:xfrm>
          <a:prstGeom prst="roundRect">
            <a:avLst>
              <a:gd name="adj" fmla="val 353839"/>
            </a:avLst>
          </a:prstGeom>
          <a:solidFill>
            <a:srgbClr val="E2C8B5"/>
          </a:solidFill>
          <a:ln/>
        </p:spPr>
      </p:sp>
      <p:sp>
        <p:nvSpPr>
          <p:cNvPr id="6" name="Shape 4"/>
          <p:cNvSpPr/>
          <p:nvPr/>
        </p:nvSpPr>
        <p:spPr>
          <a:xfrm>
            <a:off x="3099316" y="3815298"/>
            <a:ext cx="433268" cy="433268"/>
          </a:xfrm>
          <a:prstGeom prst="roundRect">
            <a:avLst>
              <a:gd name="adj" fmla="val 18669"/>
            </a:avLst>
          </a:prstGeom>
          <a:solidFill>
            <a:srgbClr val="FCE2CF"/>
          </a:solidFill>
          <a:ln w="7620">
            <a:solidFill>
              <a:srgbClr val="E2C8B5"/>
            </a:solidFill>
            <a:prstDash val="solid"/>
          </a:ln>
        </p:spPr>
      </p:sp>
      <p:sp>
        <p:nvSpPr>
          <p:cNvPr id="7" name="Text 5"/>
          <p:cNvSpPr/>
          <p:nvPr/>
        </p:nvSpPr>
        <p:spPr>
          <a:xfrm>
            <a:off x="3171468" y="3851374"/>
            <a:ext cx="288846" cy="360998"/>
          </a:xfrm>
          <a:prstGeom prst="rect">
            <a:avLst/>
          </a:prstGeom>
          <a:noFill/>
          <a:ln/>
        </p:spPr>
        <p:txBody>
          <a:bodyPr wrap="none" lIns="0" tIns="0" rIns="0" bIns="0" rtlCol="0" anchor="t"/>
          <a:lstStyle/>
          <a:p>
            <a:pPr algn="ctr" indent="0" marL="0">
              <a:lnSpc>
                <a:spcPts val="2250"/>
              </a:lnSpc>
              <a:buNone/>
            </a:pPr>
            <a:r>
              <a:rPr lang="en-US" sz="2250" dirty="0">
                <a:solidFill>
                  <a:srgbClr val="2B2E3C"/>
                </a:solidFill>
                <a:latin typeface="Bitter Medium" pitchFamily="34" charset="0"/>
                <a:ea typeface="Bitter Medium" pitchFamily="34" charset="-122"/>
                <a:cs typeface="Bitter Medium" pitchFamily="34" charset="-120"/>
              </a:rPr>
              <a:t>1</a:t>
            </a:r>
            <a:endParaRPr lang="en-US" sz="2250" dirty="0"/>
          </a:p>
        </p:txBody>
      </p:sp>
      <p:sp>
        <p:nvSpPr>
          <p:cNvPr id="8" name="Text 6"/>
          <p:cNvSpPr/>
          <p:nvPr/>
        </p:nvSpPr>
        <p:spPr>
          <a:xfrm>
            <a:off x="2112407" y="2228969"/>
            <a:ext cx="2407325" cy="300871"/>
          </a:xfrm>
          <a:prstGeom prst="rect">
            <a:avLst/>
          </a:prstGeom>
          <a:noFill/>
          <a:ln/>
        </p:spPr>
        <p:txBody>
          <a:bodyPr wrap="none" lIns="0" tIns="0" rIns="0" bIns="0" rtlCol="0" anchor="t"/>
          <a:lstStyle/>
          <a:p>
            <a:pPr algn="ctr" indent="0" marL="0">
              <a:lnSpc>
                <a:spcPts val="2350"/>
              </a:lnSpc>
              <a:buNone/>
            </a:pPr>
            <a:r>
              <a:rPr lang="en-US" sz="1850" dirty="0">
                <a:solidFill>
                  <a:srgbClr val="2B2E3C"/>
                </a:solidFill>
                <a:latin typeface="Bitter Medium" pitchFamily="34" charset="0"/>
                <a:ea typeface="Bitter Medium" pitchFamily="34" charset="-122"/>
                <a:cs typeface="Bitter Medium" pitchFamily="34" charset="-120"/>
              </a:rPr>
              <a:t>User Initiates Action</a:t>
            </a:r>
            <a:endParaRPr lang="en-US" sz="1850" dirty="0"/>
          </a:p>
        </p:txBody>
      </p:sp>
      <p:sp>
        <p:nvSpPr>
          <p:cNvPr id="9" name="Text 7"/>
          <p:cNvSpPr/>
          <p:nvPr/>
        </p:nvSpPr>
        <p:spPr>
          <a:xfrm>
            <a:off x="962858" y="2645331"/>
            <a:ext cx="4706422" cy="616268"/>
          </a:xfrm>
          <a:prstGeom prst="rect">
            <a:avLst/>
          </a:prstGeom>
          <a:noFill/>
          <a:ln/>
        </p:spPr>
        <p:txBody>
          <a:bodyPr wrap="square" lIns="0" tIns="0" rIns="0" bIns="0" rtlCol="0" anchor="t"/>
          <a:lstStyle/>
          <a:p>
            <a:pPr algn="ctr" indent="0" marL="0">
              <a:lnSpc>
                <a:spcPts val="2400"/>
              </a:lnSpc>
              <a:buNone/>
            </a:pPr>
            <a:r>
              <a:rPr lang="en-US" sz="1500" dirty="0">
                <a:solidFill>
                  <a:srgbClr val="2B2E3C"/>
                </a:solidFill>
                <a:latin typeface="Open Sans" pitchFamily="34" charset="0"/>
                <a:ea typeface="Open Sans" pitchFamily="34" charset="-122"/>
                <a:cs typeface="Open Sans" pitchFamily="34" charset="-120"/>
              </a:rPr>
              <a:t>Customer clicks "Place Order" button in shopping cart</a:t>
            </a:r>
            <a:endParaRPr lang="en-US" sz="1500" dirty="0"/>
          </a:p>
        </p:txBody>
      </p:sp>
      <p:sp>
        <p:nvSpPr>
          <p:cNvPr id="10" name="Shape 8"/>
          <p:cNvSpPr/>
          <p:nvPr/>
        </p:nvSpPr>
        <p:spPr>
          <a:xfrm>
            <a:off x="5970508" y="4031873"/>
            <a:ext cx="22860" cy="577691"/>
          </a:xfrm>
          <a:prstGeom prst="roundRect">
            <a:avLst>
              <a:gd name="adj" fmla="val 353839"/>
            </a:avLst>
          </a:prstGeom>
          <a:solidFill>
            <a:srgbClr val="E2C8B5"/>
          </a:solidFill>
          <a:ln/>
        </p:spPr>
      </p:sp>
      <p:sp>
        <p:nvSpPr>
          <p:cNvPr id="11" name="Shape 9"/>
          <p:cNvSpPr/>
          <p:nvPr/>
        </p:nvSpPr>
        <p:spPr>
          <a:xfrm>
            <a:off x="5765363" y="3815298"/>
            <a:ext cx="433268" cy="433268"/>
          </a:xfrm>
          <a:prstGeom prst="roundRect">
            <a:avLst>
              <a:gd name="adj" fmla="val 18669"/>
            </a:avLst>
          </a:prstGeom>
          <a:solidFill>
            <a:srgbClr val="FCE2CF"/>
          </a:solidFill>
          <a:ln w="7620">
            <a:solidFill>
              <a:srgbClr val="E2C8B5"/>
            </a:solidFill>
            <a:prstDash val="solid"/>
          </a:ln>
        </p:spPr>
      </p:sp>
      <p:sp>
        <p:nvSpPr>
          <p:cNvPr id="12" name="Text 10"/>
          <p:cNvSpPr/>
          <p:nvPr/>
        </p:nvSpPr>
        <p:spPr>
          <a:xfrm>
            <a:off x="5837515" y="3851374"/>
            <a:ext cx="288846" cy="360998"/>
          </a:xfrm>
          <a:prstGeom prst="rect">
            <a:avLst/>
          </a:prstGeom>
          <a:noFill/>
          <a:ln/>
        </p:spPr>
        <p:txBody>
          <a:bodyPr wrap="none" lIns="0" tIns="0" rIns="0" bIns="0" rtlCol="0" anchor="t"/>
          <a:lstStyle/>
          <a:p>
            <a:pPr algn="ctr" indent="0" marL="0">
              <a:lnSpc>
                <a:spcPts val="2250"/>
              </a:lnSpc>
              <a:buNone/>
            </a:pPr>
            <a:r>
              <a:rPr lang="en-US" sz="2250" dirty="0">
                <a:solidFill>
                  <a:srgbClr val="2B2E3C"/>
                </a:solidFill>
                <a:latin typeface="Bitter Medium" pitchFamily="34" charset="0"/>
                <a:ea typeface="Bitter Medium" pitchFamily="34" charset="-122"/>
                <a:cs typeface="Bitter Medium" pitchFamily="34" charset="-120"/>
              </a:rPr>
              <a:t>2</a:t>
            </a:r>
            <a:endParaRPr lang="en-US" sz="2250" dirty="0"/>
          </a:p>
        </p:txBody>
      </p:sp>
      <p:sp>
        <p:nvSpPr>
          <p:cNvPr id="13" name="Text 11"/>
          <p:cNvSpPr/>
          <p:nvPr/>
        </p:nvSpPr>
        <p:spPr>
          <a:xfrm>
            <a:off x="4778454" y="4802267"/>
            <a:ext cx="2407325" cy="300871"/>
          </a:xfrm>
          <a:prstGeom prst="rect">
            <a:avLst/>
          </a:prstGeom>
          <a:noFill/>
          <a:ln/>
        </p:spPr>
        <p:txBody>
          <a:bodyPr wrap="none" lIns="0" tIns="0" rIns="0" bIns="0" rtlCol="0" anchor="t"/>
          <a:lstStyle/>
          <a:p>
            <a:pPr algn="ctr" indent="0" marL="0">
              <a:lnSpc>
                <a:spcPts val="2350"/>
              </a:lnSpc>
              <a:buNone/>
            </a:pPr>
            <a:r>
              <a:rPr lang="en-US" sz="1850" dirty="0">
                <a:solidFill>
                  <a:srgbClr val="2B2E3C"/>
                </a:solidFill>
                <a:latin typeface="Bitter Medium" pitchFamily="34" charset="0"/>
                <a:ea typeface="Bitter Medium" pitchFamily="34" charset="-122"/>
                <a:cs typeface="Bitter Medium" pitchFamily="34" charset="-120"/>
              </a:rPr>
              <a:t>System Validates</a:t>
            </a:r>
            <a:endParaRPr lang="en-US" sz="1850" dirty="0"/>
          </a:p>
        </p:txBody>
      </p:sp>
      <p:sp>
        <p:nvSpPr>
          <p:cNvPr id="14" name="Text 12"/>
          <p:cNvSpPr/>
          <p:nvPr/>
        </p:nvSpPr>
        <p:spPr>
          <a:xfrm>
            <a:off x="3628906" y="5218628"/>
            <a:ext cx="4706422" cy="616268"/>
          </a:xfrm>
          <a:prstGeom prst="rect">
            <a:avLst/>
          </a:prstGeom>
          <a:noFill/>
          <a:ln/>
        </p:spPr>
        <p:txBody>
          <a:bodyPr wrap="square" lIns="0" tIns="0" rIns="0" bIns="0" rtlCol="0" anchor="t"/>
          <a:lstStyle/>
          <a:p>
            <a:pPr algn="ctr" indent="0" marL="0">
              <a:lnSpc>
                <a:spcPts val="2400"/>
              </a:lnSpc>
              <a:buNone/>
            </a:pPr>
            <a:r>
              <a:rPr lang="en-US" sz="1500" dirty="0">
                <a:solidFill>
                  <a:srgbClr val="2B2E3C"/>
                </a:solidFill>
                <a:latin typeface="Open Sans" pitchFamily="34" charset="0"/>
                <a:ea typeface="Open Sans" pitchFamily="34" charset="-122"/>
                <a:cs typeface="Open Sans" pitchFamily="34" charset="-120"/>
              </a:rPr>
              <a:t>Check inventory, validate payment method, calculate shipping</a:t>
            </a:r>
            <a:endParaRPr lang="en-US" sz="1500" dirty="0"/>
          </a:p>
        </p:txBody>
      </p:sp>
      <p:sp>
        <p:nvSpPr>
          <p:cNvPr id="15" name="Shape 13"/>
          <p:cNvSpPr/>
          <p:nvPr/>
        </p:nvSpPr>
        <p:spPr>
          <a:xfrm>
            <a:off x="8636556" y="3454301"/>
            <a:ext cx="22860" cy="577691"/>
          </a:xfrm>
          <a:prstGeom prst="roundRect">
            <a:avLst>
              <a:gd name="adj" fmla="val 353839"/>
            </a:avLst>
          </a:prstGeom>
          <a:solidFill>
            <a:srgbClr val="E2C8B5"/>
          </a:solidFill>
          <a:ln/>
        </p:spPr>
      </p:sp>
      <p:sp>
        <p:nvSpPr>
          <p:cNvPr id="16" name="Shape 14"/>
          <p:cNvSpPr/>
          <p:nvPr/>
        </p:nvSpPr>
        <p:spPr>
          <a:xfrm>
            <a:off x="8431411" y="3815298"/>
            <a:ext cx="433268" cy="433268"/>
          </a:xfrm>
          <a:prstGeom prst="roundRect">
            <a:avLst>
              <a:gd name="adj" fmla="val 18669"/>
            </a:avLst>
          </a:prstGeom>
          <a:solidFill>
            <a:srgbClr val="FCE2CF"/>
          </a:solidFill>
          <a:ln w="7620">
            <a:solidFill>
              <a:srgbClr val="E2C8B5"/>
            </a:solidFill>
            <a:prstDash val="solid"/>
          </a:ln>
        </p:spPr>
      </p:sp>
      <p:sp>
        <p:nvSpPr>
          <p:cNvPr id="17" name="Text 15"/>
          <p:cNvSpPr/>
          <p:nvPr/>
        </p:nvSpPr>
        <p:spPr>
          <a:xfrm>
            <a:off x="8503563" y="3851374"/>
            <a:ext cx="288846" cy="360998"/>
          </a:xfrm>
          <a:prstGeom prst="rect">
            <a:avLst/>
          </a:prstGeom>
          <a:noFill/>
          <a:ln/>
        </p:spPr>
        <p:txBody>
          <a:bodyPr wrap="none" lIns="0" tIns="0" rIns="0" bIns="0" rtlCol="0" anchor="t"/>
          <a:lstStyle/>
          <a:p>
            <a:pPr algn="ctr" indent="0" marL="0">
              <a:lnSpc>
                <a:spcPts val="2250"/>
              </a:lnSpc>
              <a:buNone/>
            </a:pPr>
            <a:r>
              <a:rPr lang="en-US" sz="2250" dirty="0">
                <a:solidFill>
                  <a:srgbClr val="2B2E3C"/>
                </a:solidFill>
                <a:latin typeface="Bitter Medium" pitchFamily="34" charset="0"/>
                <a:ea typeface="Bitter Medium" pitchFamily="34" charset="-122"/>
                <a:cs typeface="Bitter Medium" pitchFamily="34" charset="-120"/>
              </a:rPr>
              <a:t>3</a:t>
            </a:r>
            <a:endParaRPr lang="en-US" sz="2250" dirty="0"/>
          </a:p>
        </p:txBody>
      </p:sp>
      <p:sp>
        <p:nvSpPr>
          <p:cNvPr id="18" name="Text 16"/>
          <p:cNvSpPr/>
          <p:nvPr/>
        </p:nvSpPr>
        <p:spPr>
          <a:xfrm>
            <a:off x="7444502" y="2228969"/>
            <a:ext cx="2407325" cy="300871"/>
          </a:xfrm>
          <a:prstGeom prst="rect">
            <a:avLst/>
          </a:prstGeom>
          <a:noFill/>
          <a:ln/>
        </p:spPr>
        <p:txBody>
          <a:bodyPr wrap="none" lIns="0" tIns="0" rIns="0" bIns="0" rtlCol="0" anchor="t"/>
          <a:lstStyle/>
          <a:p>
            <a:pPr algn="ctr" indent="0" marL="0">
              <a:lnSpc>
                <a:spcPts val="2350"/>
              </a:lnSpc>
              <a:buNone/>
            </a:pPr>
            <a:r>
              <a:rPr lang="en-US" sz="1850" dirty="0">
                <a:solidFill>
                  <a:srgbClr val="2B2E3C"/>
                </a:solidFill>
                <a:latin typeface="Bitter Medium" pitchFamily="34" charset="0"/>
                <a:ea typeface="Bitter Medium" pitchFamily="34" charset="-122"/>
                <a:cs typeface="Bitter Medium" pitchFamily="34" charset="-120"/>
              </a:rPr>
              <a:t>Processing</a:t>
            </a:r>
            <a:endParaRPr lang="en-US" sz="1850" dirty="0"/>
          </a:p>
        </p:txBody>
      </p:sp>
      <p:sp>
        <p:nvSpPr>
          <p:cNvPr id="19" name="Text 17"/>
          <p:cNvSpPr/>
          <p:nvPr/>
        </p:nvSpPr>
        <p:spPr>
          <a:xfrm>
            <a:off x="6294953" y="2645331"/>
            <a:ext cx="4706422" cy="616268"/>
          </a:xfrm>
          <a:prstGeom prst="rect">
            <a:avLst/>
          </a:prstGeom>
          <a:noFill/>
          <a:ln/>
        </p:spPr>
        <p:txBody>
          <a:bodyPr wrap="square" lIns="0" tIns="0" rIns="0" bIns="0" rtlCol="0" anchor="t"/>
          <a:lstStyle/>
          <a:p>
            <a:pPr algn="ctr" indent="0" marL="0">
              <a:lnSpc>
                <a:spcPts val="2400"/>
              </a:lnSpc>
              <a:buNone/>
            </a:pPr>
            <a:r>
              <a:rPr lang="en-US" sz="1500" dirty="0">
                <a:solidFill>
                  <a:srgbClr val="2B2E3C"/>
                </a:solidFill>
                <a:latin typeface="Open Sans" pitchFamily="34" charset="0"/>
                <a:ea typeface="Open Sans" pitchFamily="34" charset="-122"/>
                <a:cs typeface="Open Sans" pitchFamily="34" charset="-120"/>
              </a:rPr>
              <a:t>Create order record, charge payment, update inventory</a:t>
            </a:r>
            <a:endParaRPr lang="en-US" sz="1500" dirty="0"/>
          </a:p>
        </p:txBody>
      </p:sp>
      <p:sp>
        <p:nvSpPr>
          <p:cNvPr id="20" name="Shape 18"/>
          <p:cNvSpPr/>
          <p:nvPr/>
        </p:nvSpPr>
        <p:spPr>
          <a:xfrm>
            <a:off x="11302603" y="4031873"/>
            <a:ext cx="22860" cy="577691"/>
          </a:xfrm>
          <a:prstGeom prst="roundRect">
            <a:avLst>
              <a:gd name="adj" fmla="val 353839"/>
            </a:avLst>
          </a:prstGeom>
          <a:solidFill>
            <a:srgbClr val="E2C8B5"/>
          </a:solidFill>
          <a:ln/>
        </p:spPr>
      </p:sp>
      <p:sp>
        <p:nvSpPr>
          <p:cNvPr id="21" name="Shape 19"/>
          <p:cNvSpPr/>
          <p:nvPr/>
        </p:nvSpPr>
        <p:spPr>
          <a:xfrm>
            <a:off x="11097458" y="3815298"/>
            <a:ext cx="433268" cy="433268"/>
          </a:xfrm>
          <a:prstGeom prst="roundRect">
            <a:avLst>
              <a:gd name="adj" fmla="val 18669"/>
            </a:avLst>
          </a:prstGeom>
          <a:solidFill>
            <a:srgbClr val="FCE2CF"/>
          </a:solidFill>
          <a:ln w="7620">
            <a:solidFill>
              <a:srgbClr val="E2C8B5"/>
            </a:solidFill>
            <a:prstDash val="solid"/>
          </a:ln>
        </p:spPr>
      </p:sp>
      <p:sp>
        <p:nvSpPr>
          <p:cNvPr id="22" name="Text 20"/>
          <p:cNvSpPr/>
          <p:nvPr/>
        </p:nvSpPr>
        <p:spPr>
          <a:xfrm>
            <a:off x="11169610" y="3851374"/>
            <a:ext cx="288846" cy="360998"/>
          </a:xfrm>
          <a:prstGeom prst="rect">
            <a:avLst/>
          </a:prstGeom>
          <a:noFill/>
          <a:ln/>
        </p:spPr>
        <p:txBody>
          <a:bodyPr wrap="none" lIns="0" tIns="0" rIns="0" bIns="0" rtlCol="0" anchor="t"/>
          <a:lstStyle/>
          <a:p>
            <a:pPr algn="ctr" indent="0" marL="0">
              <a:lnSpc>
                <a:spcPts val="2250"/>
              </a:lnSpc>
              <a:buNone/>
            </a:pPr>
            <a:r>
              <a:rPr lang="en-US" sz="2250" dirty="0">
                <a:solidFill>
                  <a:srgbClr val="2B2E3C"/>
                </a:solidFill>
                <a:latin typeface="Bitter Medium" pitchFamily="34" charset="0"/>
                <a:ea typeface="Bitter Medium" pitchFamily="34" charset="-122"/>
                <a:cs typeface="Bitter Medium" pitchFamily="34" charset="-120"/>
              </a:rPr>
              <a:t>4</a:t>
            </a:r>
            <a:endParaRPr lang="en-US" sz="2250" dirty="0"/>
          </a:p>
        </p:txBody>
      </p:sp>
      <p:sp>
        <p:nvSpPr>
          <p:cNvPr id="23" name="Text 21"/>
          <p:cNvSpPr/>
          <p:nvPr/>
        </p:nvSpPr>
        <p:spPr>
          <a:xfrm>
            <a:off x="10110549" y="4802267"/>
            <a:ext cx="2407325" cy="300871"/>
          </a:xfrm>
          <a:prstGeom prst="rect">
            <a:avLst/>
          </a:prstGeom>
          <a:noFill/>
          <a:ln/>
        </p:spPr>
        <p:txBody>
          <a:bodyPr wrap="none" lIns="0" tIns="0" rIns="0" bIns="0" rtlCol="0" anchor="t"/>
          <a:lstStyle/>
          <a:p>
            <a:pPr algn="ctr" indent="0" marL="0">
              <a:lnSpc>
                <a:spcPts val="2350"/>
              </a:lnSpc>
              <a:buNone/>
            </a:pPr>
            <a:r>
              <a:rPr lang="en-US" sz="1850" dirty="0">
                <a:solidFill>
                  <a:srgbClr val="2B2E3C"/>
                </a:solidFill>
                <a:latin typeface="Bitter Medium" pitchFamily="34" charset="0"/>
                <a:ea typeface="Bitter Medium" pitchFamily="34" charset="-122"/>
                <a:cs typeface="Bitter Medium" pitchFamily="34" charset="-120"/>
              </a:rPr>
              <a:t>Confirmation</a:t>
            </a:r>
            <a:endParaRPr lang="en-US" sz="1850" dirty="0"/>
          </a:p>
        </p:txBody>
      </p:sp>
      <p:sp>
        <p:nvSpPr>
          <p:cNvPr id="24" name="Text 22"/>
          <p:cNvSpPr/>
          <p:nvPr/>
        </p:nvSpPr>
        <p:spPr>
          <a:xfrm>
            <a:off x="8961001" y="5218628"/>
            <a:ext cx="4706422" cy="308134"/>
          </a:xfrm>
          <a:prstGeom prst="rect">
            <a:avLst/>
          </a:prstGeom>
          <a:noFill/>
          <a:ln/>
        </p:spPr>
        <p:txBody>
          <a:bodyPr wrap="none" lIns="0" tIns="0" rIns="0" bIns="0" rtlCol="0" anchor="t"/>
          <a:lstStyle/>
          <a:p>
            <a:pPr algn="ctr" indent="0" marL="0">
              <a:lnSpc>
                <a:spcPts val="2400"/>
              </a:lnSpc>
              <a:buNone/>
            </a:pPr>
            <a:r>
              <a:rPr lang="en-US" sz="1500" dirty="0">
                <a:solidFill>
                  <a:srgbClr val="2B2E3C"/>
                </a:solidFill>
                <a:latin typeface="Open Sans" pitchFamily="34" charset="0"/>
                <a:ea typeface="Open Sans" pitchFamily="34" charset="-122"/>
                <a:cs typeface="Open Sans" pitchFamily="34" charset="-120"/>
              </a:rPr>
              <a:t>Send email, update order status, notify fulfillment</a:t>
            </a:r>
            <a:endParaRPr lang="en-US" sz="1500" dirty="0"/>
          </a:p>
        </p:txBody>
      </p:sp>
      <p:sp>
        <p:nvSpPr>
          <p:cNvPr id="25" name="Text 23"/>
          <p:cNvSpPr/>
          <p:nvPr/>
        </p:nvSpPr>
        <p:spPr>
          <a:xfrm>
            <a:off x="770334" y="6051471"/>
            <a:ext cx="13089731" cy="616268"/>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This scenario touches all views: logical (components involved), development (code modules), process (transaction handling), and physical (database and services). It demonstrates how architectural decisions work together to deliver value.</a:t>
            </a:r>
            <a:endParaRPr lang="en-US" sz="1500" dirty="0"/>
          </a:p>
        </p:txBody>
      </p:sp>
      <p:sp>
        <p:nvSpPr>
          <p:cNvPr id="26" name="Shape 24"/>
          <p:cNvSpPr/>
          <p:nvPr/>
        </p:nvSpPr>
        <p:spPr>
          <a:xfrm>
            <a:off x="770334" y="6884313"/>
            <a:ext cx="13089731" cy="818198"/>
          </a:xfrm>
          <a:prstGeom prst="roundRect">
            <a:avLst>
              <a:gd name="adj" fmla="val 9886"/>
            </a:avLst>
          </a:prstGeom>
          <a:solidFill>
            <a:srgbClr val="FAD3B8"/>
          </a:solidFill>
          <a:ln/>
        </p:spPr>
      </p:sp>
      <p:pic>
        <p:nvPicPr>
          <p:cNvPr id="27" name="Image 0" descr="preencoded.png">    </p:cNvPr>
          <p:cNvPicPr>
            <a:picLocks noChangeAspect="1"/>
          </p:cNvPicPr>
          <p:nvPr/>
        </p:nvPicPr>
        <p:blipFill>
          <a:blip r:embed="rId1"/>
          <a:stretch>
            <a:fillRect/>
          </a:stretch>
        </p:blipFill>
        <p:spPr>
          <a:xfrm>
            <a:off x="962858" y="7185065"/>
            <a:ext cx="240625" cy="192524"/>
          </a:xfrm>
          <a:prstGeom prst="rect">
            <a:avLst/>
          </a:prstGeom>
        </p:spPr>
      </p:pic>
      <p:sp>
        <p:nvSpPr>
          <p:cNvPr id="28" name="Text 25"/>
          <p:cNvSpPr/>
          <p:nvPr/>
        </p:nvSpPr>
        <p:spPr>
          <a:xfrm>
            <a:off x="1396008" y="7124938"/>
            <a:ext cx="12271534" cy="308134"/>
          </a:xfrm>
          <a:prstGeom prst="rect">
            <a:avLst/>
          </a:prstGeom>
          <a:noFill/>
          <a:ln/>
        </p:spPr>
        <p:txBody>
          <a:bodyPr wrap="none" lIns="0" tIns="0" rIns="0" bIns="0" rtlCol="0" anchor="t"/>
          <a:lstStyle/>
          <a:p>
            <a:pPr algn="l" indent="0" marL="0">
              <a:lnSpc>
                <a:spcPts val="2400"/>
              </a:lnSpc>
              <a:buNone/>
            </a:pPr>
            <a:r>
              <a:rPr lang="en-US" sz="1500" b="1" dirty="0">
                <a:solidFill>
                  <a:srgbClr val="000000"/>
                </a:solidFill>
                <a:latin typeface="Open Sans" pitchFamily="34" charset="0"/>
                <a:ea typeface="Open Sans" pitchFamily="34" charset="-122"/>
                <a:cs typeface="Open Sans" pitchFamily="34" charset="-120"/>
              </a:rPr>
              <a:t>Key insight:</a:t>
            </a:r>
            <a:pPr algn="l" indent="0" marL="0">
              <a:lnSpc>
                <a:spcPts val="2400"/>
              </a:lnSpc>
              <a:buNone/>
            </a:pPr>
            <a:r>
              <a:rPr lang="en-US" sz="1500" dirty="0">
                <a:solidFill>
                  <a:srgbClr val="000000"/>
                </a:solidFill>
                <a:latin typeface="Open Sans" pitchFamily="34" charset="0"/>
                <a:ea typeface="Open Sans" pitchFamily="34" charset="-122"/>
                <a:cs typeface="Open Sans" pitchFamily="34" charset="-120"/>
              </a:rPr>
              <a:t> Scenarios help stakeholders understand why architectural decisions matter by showing real-world workflows.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2735580"/>
            <a:ext cx="9244251" cy="496133"/>
          </a:xfrm>
          <a:prstGeom prst="rect">
            <a:avLst/>
          </a:prstGeom>
          <a:noFill/>
          <a:ln/>
        </p:spPr>
        <p:txBody>
          <a:bodyPr wrap="none" lIns="0" tIns="0" rIns="0" bIns="0" rtlCol="0" anchor="t"/>
          <a:lstStyle/>
          <a:p>
            <a:pPr algn="l" indent="0" marL="0">
              <a:lnSpc>
                <a:spcPts val="3900"/>
              </a:lnSpc>
              <a:buNone/>
            </a:pPr>
            <a:r>
              <a:rPr lang="en-US" sz="3100" dirty="0">
                <a:solidFill>
                  <a:srgbClr val="2C3F42"/>
                </a:solidFill>
                <a:latin typeface="Bitter Medium" pitchFamily="34" charset="0"/>
                <a:ea typeface="Bitter Medium" pitchFamily="34" charset="-122"/>
                <a:cs typeface="Bitter Medium" pitchFamily="34" charset="-120"/>
              </a:rPr>
              <a:t>Activity Questions: Identify the Architectural View</a:t>
            </a:r>
            <a:endParaRPr lang="en-US" sz="3100" dirty="0"/>
          </a:p>
        </p:txBody>
      </p:sp>
      <p:sp>
        <p:nvSpPr>
          <p:cNvPr id="3" name="Text 1"/>
          <p:cNvSpPr/>
          <p:nvPr/>
        </p:nvSpPr>
        <p:spPr>
          <a:xfrm>
            <a:off x="793790" y="3628549"/>
            <a:ext cx="13042821"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1"/>
            </a:pPr>
            <a:r>
              <a:rPr lang="en-US" sz="1550" dirty="0">
                <a:solidFill>
                  <a:srgbClr val="2B2E3C"/>
                </a:solidFill>
                <a:latin typeface="Open Sans" pitchFamily="34" charset="0"/>
                <a:ea typeface="Open Sans" pitchFamily="34" charset="-122"/>
                <a:cs typeface="Open Sans" pitchFamily="34" charset="-120"/>
              </a:rPr>
              <a:t>Which view describes how different modules like Login, Search, and Payments are organized and connected in the system?</a:t>
            </a:r>
            <a:endParaRPr lang="en-US" sz="1550" dirty="0"/>
          </a:p>
        </p:txBody>
      </p:sp>
      <p:sp>
        <p:nvSpPr>
          <p:cNvPr id="4" name="Text 2"/>
          <p:cNvSpPr/>
          <p:nvPr/>
        </p:nvSpPr>
        <p:spPr>
          <a:xfrm>
            <a:off x="793790" y="4015502"/>
            <a:ext cx="13042821"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2"/>
            </a:pPr>
            <a:r>
              <a:rPr lang="en-US" sz="1550" dirty="0">
                <a:solidFill>
                  <a:srgbClr val="2B2E3C"/>
                </a:solidFill>
                <a:latin typeface="Open Sans" pitchFamily="34" charset="0"/>
                <a:ea typeface="Open Sans" pitchFamily="34" charset="-122"/>
                <a:cs typeface="Open Sans" pitchFamily="34" charset="-120"/>
              </a:rPr>
              <a:t>Which view explains how the system is deployed across cloud servers, databases, load balancers, and networks?</a:t>
            </a:r>
            <a:endParaRPr lang="en-US" sz="1550" dirty="0"/>
          </a:p>
        </p:txBody>
      </p:sp>
      <p:sp>
        <p:nvSpPr>
          <p:cNvPr id="5" name="Text 3"/>
          <p:cNvSpPr/>
          <p:nvPr/>
        </p:nvSpPr>
        <p:spPr>
          <a:xfrm>
            <a:off x="793790" y="4402455"/>
            <a:ext cx="13042821"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3"/>
            </a:pPr>
            <a:r>
              <a:rPr lang="en-US" sz="1550" dirty="0">
                <a:solidFill>
                  <a:srgbClr val="2B2E3C"/>
                </a:solidFill>
                <a:latin typeface="Open Sans" pitchFamily="34" charset="0"/>
                <a:ea typeface="Open Sans" pitchFamily="34" charset="-122"/>
                <a:cs typeface="Open Sans" pitchFamily="34" charset="-120"/>
              </a:rPr>
              <a:t>Which view shows how code is divided into packages, folders, and repositories for frontend and backend?</a:t>
            </a:r>
            <a:endParaRPr lang="en-US" sz="1550" dirty="0"/>
          </a:p>
        </p:txBody>
      </p:sp>
      <p:sp>
        <p:nvSpPr>
          <p:cNvPr id="6" name="Text 4"/>
          <p:cNvSpPr/>
          <p:nvPr/>
        </p:nvSpPr>
        <p:spPr>
          <a:xfrm>
            <a:off x="793790" y="4789408"/>
            <a:ext cx="13042821"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4"/>
            </a:pPr>
            <a:r>
              <a:rPr lang="en-US" sz="1550" dirty="0">
                <a:solidFill>
                  <a:srgbClr val="2B2E3C"/>
                </a:solidFill>
                <a:latin typeface="Open Sans" pitchFamily="34" charset="0"/>
                <a:ea typeface="Open Sans" pitchFamily="34" charset="-122"/>
                <a:cs typeface="Open Sans" pitchFamily="34" charset="-120"/>
              </a:rPr>
              <a:t>Which view illustrates how user actions trigger a sequence of events—for example, placing an order and receiving a confirmation?</a:t>
            </a:r>
            <a:endParaRPr lang="en-US" sz="1550" dirty="0"/>
          </a:p>
        </p:txBody>
      </p:sp>
      <p:sp>
        <p:nvSpPr>
          <p:cNvPr id="7" name="Text 5"/>
          <p:cNvSpPr/>
          <p:nvPr/>
        </p:nvSpPr>
        <p:spPr>
          <a:xfrm>
            <a:off x="793790" y="5176361"/>
            <a:ext cx="13042821"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5"/>
            </a:pPr>
            <a:r>
              <a:rPr lang="en-US" sz="1550" dirty="0">
                <a:solidFill>
                  <a:srgbClr val="2B2E3C"/>
                </a:solidFill>
                <a:latin typeface="Open Sans" pitchFamily="34" charset="0"/>
                <a:ea typeface="Open Sans" pitchFamily="34" charset="-122"/>
                <a:cs typeface="Open Sans" pitchFamily="34" charset="-120"/>
              </a:rPr>
              <a:t>Which view focuses on runtime behavior—how processes run in parallel, communicate, and handle high traffic?</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1609249"/>
            <a:ext cx="7347823" cy="496133"/>
          </a:xfrm>
          <a:prstGeom prst="rect">
            <a:avLst/>
          </a:prstGeom>
          <a:noFill/>
          <a:ln/>
        </p:spPr>
        <p:txBody>
          <a:bodyPr wrap="none" lIns="0" tIns="0" rIns="0" bIns="0" rtlCol="0" anchor="t"/>
          <a:lstStyle/>
          <a:p>
            <a:pPr algn="l" indent="0" marL="0">
              <a:lnSpc>
                <a:spcPts val="3900"/>
              </a:lnSpc>
              <a:buNone/>
            </a:pPr>
            <a:r>
              <a:rPr lang="en-US" sz="3100" dirty="0">
                <a:solidFill>
                  <a:srgbClr val="2C3F42"/>
                </a:solidFill>
                <a:latin typeface="Bitter Medium" pitchFamily="34" charset="0"/>
                <a:ea typeface="Bitter Medium" pitchFamily="34" charset="-122"/>
                <a:cs typeface="Bitter Medium" pitchFamily="34" charset="-120"/>
              </a:rPr>
              <a:t>Key Takeaways: Building Better Systems</a:t>
            </a:r>
            <a:endParaRPr lang="en-US" sz="3100" dirty="0"/>
          </a:p>
        </p:txBody>
      </p:sp>
      <p:sp>
        <p:nvSpPr>
          <p:cNvPr id="3" name="Shape 1"/>
          <p:cNvSpPr/>
          <p:nvPr/>
        </p:nvSpPr>
        <p:spPr>
          <a:xfrm>
            <a:off x="793790" y="2502218"/>
            <a:ext cx="4215289" cy="2905006"/>
          </a:xfrm>
          <a:prstGeom prst="roundRect">
            <a:avLst>
              <a:gd name="adj" fmla="val 2870"/>
            </a:avLst>
          </a:prstGeom>
          <a:solidFill>
            <a:srgbClr val="FCE2CF"/>
          </a:solidFill>
          <a:ln w="7620">
            <a:solidFill>
              <a:srgbClr val="E2C8B5"/>
            </a:solidFill>
            <a:prstDash val="solid"/>
          </a:ln>
        </p:spPr>
      </p:sp>
      <p:sp>
        <p:nvSpPr>
          <p:cNvPr id="4" name="Shape 2"/>
          <p:cNvSpPr/>
          <p:nvPr/>
        </p:nvSpPr>
        <p:spPr>
          <a:xfrm>
            <a:off x="999768" y="2708196"/>
            <a:ext cx="595313" cy="595313"/>
          </a:xfrm>
          <a:prstGeom prst="roundRect">
            <a:avLst>
              <a:gd name="adj" fmla="val 15358451"/>
            </a:avLst>
          </a:prstGeom>
          <a:solidFill>
            <a:srgbClr val="D2600F"/>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63479" y="2871788"/>
            <a:ext cx="267891" cy="267891"/>
          </a:xfrm>
          <a:prstGeom prst="rect">
            <a:avLst/>
          </a:prstGeom>
        </p:spPr>
      </p:pic>
      <p:sp>
        <p:nvSpPr>
          <p:cNvPr id="6" name="Text 3"/>
          <p:cNvSpPr/>
          <p:nvPr/>
        </p:nvSpPr>
        <p:spPr>
          <a:xfrm>
            <a:off x="999768" y="3501866"/>
            <a:ext cx="3096935" cy="310158"/>
          </a:xfrm>
          <a:prstGeom prst="rect">
            <a:avLst/>
          </a:prstGeom>
          <a:noFill/>
          <a:ln/>
        </p:spPr>
        <p:txBody>
          <a:bodyPr wrap="none" lIns="0" tIns="0" rIns="0" bIns="0" rtlCol="0" anchor="t"/>
          <a:lstStyle/>
          <a:p>
            <a:pPr algn="l" indent="0" marL="0">
              <a:lnSpc>
                <a:spcPts val="2400"/>
              </a:lnSpc>
              <a:buNone/>
            </a:pPr>
            <a:r>
              <a:rPr lang="en-US" sz="1950" dirty="0">
                <a:solidFill>
                  <a:srgbClr val="2B2E3C"/>
                </a:solidFill>
                <a:latin typeface="Bitter Medium" pitchFamily="34" charset="0"/>
                <a:ea typeface="Bitter Medium" pitchFamily="34" charset="-122"/>
                <a:cs typeface="Bitter Medium" pitchFamily="34" charset="-120"/>
              </a:rPr>
              <a:t>Architecture is Foundation</a:t>
            </a:r>
            <a:endParaRPr lang="en-US" sz="1950" dirty="0"/>
          </a:p>
        </p:txBody>
      </p:sp>
      <p:sp>
        <p:nvSpPr>
          <p:cNvPr id="7" name="Text 4"/>
          <p:cNvSpPr/>
          <p:nvPr/>
        </p:nvSpPr>
        <p:spPr>
          <a:xfrm>
            <a:off x="999768" y="3931087"/>
            <a:ext cx="3803333" cy="1270159"/>
          </a:xfrm>
          <a:prstGeom prst="rect">
            <a:avLst/>
          </a:prstGeom>
          <a:noFill/>
          <a:ln/>
        </p:spPr>
        <p:txBody>
          <a:bodyPr wrap="square" lIns="0" tIns="0" rIns="0" bIns="0" rtlCol="0" anchor="t"/>
          <a:lstStyle/>
          <a:p>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Software architecture provides the essential blueprint that determines whether systems scale, perform, and evolve successfully over time.</a:t>
            </a:r>
            <a:endParaRPr lang="en-US" sz="1550" dirty="0"/>
          </a:p>
        </p:txBody>
      </p:sp>
      <p:sp>
        <p:nvSpPr>
          <p:cNvPr id="8" name="Shape 5"/>
          <p:cNvSpPr/>
          <p:nvPr/>
        </p:nvSpPr>
        <p:spPr>
          <a:xfrm>
            <a:off x="5207437" y="2502218"/>
            <a:ext cx="4215408" cy="2905006"/>
          </a:xfrm>
          <a:prstGeom prst="roundRect">
            <a:avLst>
              <a:gd name="adj" fmla="val 2870"/>
            </a:avLst>
          </a:prstGeom>
          <a:solidFill>
            <a:srgbClr val="FCE2CF"/>
          </a:solidFill>
          <a:ln w="7620">
            <a:solidFill>
              <a:srgbClr val="E2C8B5"/>
            </a:solidFill>
            <a:prstDash val="solid"/>
          </a:ln>
        </p:spPr>
      </p:sp>
      <p:sp>
        <p:nvSpPr>
          <p:cNvPr id="9" name="Shape 6"/>
          <p:cNvSpPr/>
          <p:nvPr/>
        </p:nvSpPr>
        <p:spPr>
          <a:xfrm>
            <a:off x="5413415" y="2708196"/>
            <a:ext cx="595313" cy="595313"/>
          </a:xfrm>
          <a:prstGeom prst="roundRect">
            <a:avLst>
              <a:gd name="adj" fmla="val 15358451"/>
            </a:avLst>
          </a:prstGeom>
          <a:solidFill>
            <a:srgbClr val="D2600F"/>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77126" y="2871788"/>
            <a:ext cx="267891" cy="267891"/>
          </a:xfrm>
          <a:prstGeom prst="rect">
            <a:avLst/>
          </a:prstGeom>
        </p:spPr>
      </p:pic>
      <p:sp>
        <p:nvSpPr>
          <p:cNvPr id="11" name="Text 7"/>
          <p:cNvSpPr/>
          <p:nvPr/>
        </p:nvSpPr>
        <p:spPr>
          <a:xfrm>
            <a:off x="5413415" y="3501866"/>
            <a:ext cx="3313628" cy="310158"/>
          </a:xfrm>
          <a:prstGeom prst="rect">
            <a:avLst/>
          </a:prstGeom>
          <a:noFill/>
          <a:ln/>
        </p:spPr>
        <p:txBody>
          <a:bodyPr wrap="none" lIns="0" tIns="0" rIns="0" bIns="0" rtlCol="0" anchor="t"/>
          <a:lstStyle/>
          <a:p>
            <a:pPr algn="l" indent="0" marL="0">
              <a:lnSpc>
                <a:spcPts val="2400"/>
              </a:lnSpc>
              <a:buNone/>
            </a:pPr>
            <a:r>
              <a:rPr lang="en-US" sz="1950" dirty="0">
                <a:solidFill>
                  <a:srgbClr val="2B2E3C"/>
                </a:solidFill>
                <a:latin typeface="Bitter Medium" pitchFamily="34" charset="0"/>
                <a:ea typeface="Bitter Medium" pitchFamily="34" charset="-122"/>
                <a:cs typeface="Bitter Medium" pitchFamily="34" charset="-120"/>
              </a:rPr>
              <a:t>Multiple Perspectives Matter</a:t>
            </a:r>
            <a:endParaRPr lang="en-US" sz="1950" dirty="0"/>
          </a:p>
        </p:txBody>
      </p:sp>
      <p:sp>
        <p:nvSpPr>
          <p:cNvPr id="12" name="Text 8"/>
          <p:cNvSpPr/>
          <p:nvPr/>
        </p:nvSpPr>
        <p:spPr>
          <a:xfrm>
            <a:off x="5413415" y="3931087"/>
            <a:ext cx="3803452" cy="1270159"/>
          </a:xfrm>
          <a:prstGeom prst="rect">
            <a:avLst/>
          </a:prstGeom>
          <a:noFill/>
          <a:ln/>
        </p:spPr>
        <p:txBody>
          <a:bodyPr wrap="square" lIns="0" tIns="0" rIns="0" bIns="0" rtlCol="0" anchor="t"/>
          <a:lstStyle/>
          <a:p>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Use the 4+1 architectural views to communicate effectively with different stakeholders and ensure all aspects of the system are considered.</a:t>
            </a:r>
            <a:endParaRPr lang="en-US" sz="1550" dirty="0"/>
          </a:p>
        </p:txBody>
      </p:sp>
      <p:sp>
        <p:nvSpPr>
          <p:cNvPr id="13" name="Shape 9"/>
          <p:cNvSpPr/>
          <p:nvPr/>
        </p:nvSpPr>
        <p:spPr>
          <a:xfrm>
            <a:off x="9621203" y="2502218"/>
            <a:ext cx="4215289" cy="2905006"/>
          </a:xfrm>
          <a:prstGeom prst="roundRect">
            <a:avLst>
              <a:gd name="adj" fmla="val 2870"/>
            </a:avLst>
          </a:prstGeom>
          <a:solidFill>
            <a:srgbClr val="FCE2CF"/>
          </a:solidFill>
          <a:ln w="7620">
            <a:solidFill>
              <a:srgbClr val="E2C8B5"/>
            </a:solidFill>
            <a:prstDash val="solid"/>
          </a:ln>
        </p:spPr>
      </p:sp>
      <p:sp>
        <p:nvSpPr>
          <p:cNvPr id="14" name="Shape 10"/>
          <p:cNvSpPr/>
          <p:nvPr/>
        </p:nvSpPr>
        <p:spPr>
          <a:xfrm>
            <a:off x="9827181" y="2708196"/>
            <a:ext cx="595313" cy="595313"/>
          </a:xfrm>
          <a:prstGeom prst="roundRect">
            <a:avLst>
              <a:gd name="adj" fmla="val 15358451"/>
            </a:avLst>
          </a:prstGeom>
          <a:solidFill>
            <a:srgbClr val="D2600F"/>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90892" y="2871788"/>
            <a:ext cx="267891" cy="267891"/>
          </a:xfrm>
          <a:prstGeom prst="rect">
            <a:avLst/>
          </a:prstGeom>
        </p:spPr>
      </p:pic>
      <p:sp>
        <p:nvSpPr>
          <p:cNvPr id="16" name="Text 11"/>
          <p:cNvSpPr/>
          <p:nvPr/>
        </p:nvSpPr>
        <p:spPr>
          <a:xfrm>
            <a:off x="9827181" y="3501866"/>
            <a:ext cx="2518529" cy="310158"/>
          </a:xfrm>
          <a:prstGeom prst="rect">
            <a:avLst/>
          </a:prstGeom>
          <a:noFill/>
          <a:ln/>
        </p:spPr>
        <p:txBody>
          <a:bodyPr wrap="none" lIns="0" tIns="0" rIns="0" bIns="0" rtlCol="0" anchor="t"/>
          <a:lstStyle/>
          <a:p>
            <a:pPr algn="l" indent="0" marL="0">
              <a:lnSpc>
                <a:spcPts val="2400"/>
              </a:lnSpc>
              <a:buNone/>
            </a:pPr>
            <a:r>
              <a:rPr lang="en-US" sz="1950" dirty="0">
                <a:solidFill>
                  <a:srgbClr val="2B2E3C"/>
                </a:solidFill>
                <a:latin typeface="Bitter Medium" pitchFamily="34" charset="0"/>
                <a:ea typeface="Bitter Medium" pitchFamily="34" charset="-122"/>
                <a:cs typeface="Bitter Medium" pitchFamily="34" charset="-120"/>
              </a:rPr>
              <a:t>Think Before Building</a:t>
            </a:r>
            <a:endParaRPr lang="en-US" sz="1950" dirty="0"/>
          </a:p>
        </p:txBody>
      </p:sp>
      <p:sp>
        <p:nvSpPr>
          <p:cNvPr id="17" name="Text 12"/>
          <p:cNvSpPr/>
          <p:nvPr/>
        </p:nvSpPr>
        <p:spPr>
          <a:xfrm>
            <a:off x="9827181" y="3931087"/>
            <a:ext cx="3803333" cy="952619"/>
          </a:xfrm>
          <a:prstGeom prst="rect">
            <a:avLst/>
          </a:prstGeom>
          <a:noFill/>
          <a:ln/>
        </p:spPr>
        <p:txBody>
          <a:bodyPr wrap="square" lIns="0" tIns="0" rIns="0" bIns="0" rtlCol="0" anchor="t"/>
          <a:lstStyle/>
          <a:p>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Invest time upfront in architectural decisions—they're expensive to change and impact everything that follows.</a:t>
            </a:r>
            <a:endParaRPr lang="en-US" sz="1550" dirty="0"/>
          </a:p>
        </p:txBody>
      </p:sp>
      <p:sp>
        <p:nvSpPr>
          <p:cNvPr id="18" name="Shape 13"/>
          <p:cNvSpPr/>
          <p:nvPr/>
        </p:nvSpPr>
        <p:spPr>
          <a:xfrm>
            <a:off x="793790" y="5729614"/>
            <a:ext cx="13042821" cy="32385"/>
          </a:xfrm>
          <a:prstGeom prst="rect">
            <a:avLst/>
          </a:prstGeom>
          <a:solidFill>
            <a:srgbClr val="2B2E3C">
              <a:alpha val="50000"/>
            </a:srgbClr>
          </a:solidFill>
          <a:ln/>
        </p:spPr>
      </p:sp>
      <p:sp>
        <p:nvSpPr>
          <p:cNvPr id="19" name="Text 14"/>
          <p:cNvSpPr/>
          <p:nvPr/>
        </p:nvSpPr>
        <p:spPr>
          <a:xfrm>
            <a:off x="793790" y="598515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Great architecture isn't about following rigid rules—it's about making thoughtful decisions that balance current needs with future flexibility. Start your next project by asking: What architectural approach will best serve our users, our team, and our business goals?</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66167" y="700802"/>
            <a:ext cx="13098066" cy="306467"/>
          </a:xfrm>
          <a:prstGeom prst="rect">
            <a:avLst/>
          </a:prstGeom>
          <a:noFill/>
          <a:ln/>
        </p:spPr>
        <p:txBody>
          <a:bodyPr wrap="none" lIns="0" tIns="0" rIns="0" bIns="0" rtlCol="0" anchor="t"/>
          <a:lstStyle/>
          <a:p>
            <a:pPr algn="l" indent="0" marL="0">
              <a:lnSpc>
                <a:spcPts val="2400"/>
              </a:lnSpc>
              <a:buNone/>
            </a:pPr>
            <a:endParaRPr lang="en-US" sz="1500" dirty="0"/>
          </a:p>
        </p:txBody>
      </p:sp>
      <p:sp>
        <p:nvSpPr>
          <p:cNvPr id="3" name="Text 1"/>
          <p:cNvSpPr/>
          <p:nvPr/>
        </p:nvSpPr>
        <p:spPr>
          <a:xfrm>
            <a:off x="766167" y="1222653"/>
            <a:ext cx="13098066" cy="306467"/>
          </a:xfrm>
          <a:prstGeom prst="rect">
            <a:avLst/>
          </a:prstGeom>
          <a:noFill/>
          <a:ln/>
        </p:spPr>
        <p:txBody>
          <a:bodyPr wrap="none" lIns="0" tIns="0" rIns="0" bIns="0" rtlCol="0" anchor="t"/>
          <a:lstStyle/>
          <a:p>
            <a:pPr algn="l" indent="0" marL="0">
              <a:lnSpc>
                <a:spcPts val="2400"/>
              </a:lnSpc>
              <a:buNone/>
            </a:pPr>
            <a:endParaRPr lang="en-US" sz="1500" dirty="0"/>
          </a:p>
        </p:txBody>
      </p:sp>
      <p:sp>
        <p:nvSpPr>
          <p:cNvPr id="4" name="Text 2"/>
          <p:cNvSpPr/>
          <p:nvPr/>
        </p:nvSpPr>
        <p:spPr>
          <a:xfrm>
            <a:off x="766167" y="1744504"/>
            <a:ext cx="13098066" cy="306467"/>
          </a:xfrm>
          <a:prstGeom prst="rect">
            <a:avLst/>
          </a:prstGeom>
          <a:noFill/>
          <a:ln/>
        </p:spPr>
        <p:txBody>
          <a:bodyPr wrap="none" lIns="0" tIns="0" rIns="0" bIns="0" rtlCol="0" anchor="t"/>
          <a:lstStyle/>
          <a:p>
            <a:pPr algn="l" indent="0" marL="0">
              <a:lnSpc>
                <a:spcPts val="2400"/>
              </a:lnSpc>
              <a:buNone/>
            </a:pPr>
            <a:endParaRPr lang="en-US" sz="1500" dirty="0"/>
          </a:p>
        </p:txBody>
      </p:sp>
      <p:sp>
        <p:nvSpPr>
          <p:cNvPr id="5" name="Text 3"/>
          <p:cNvSpPr/>
          <p:nvPr/>
        </p:nvSpPr>
        <p:spPr>
          <a:xfrm>
            <a:off x="766167" y="2266355"/>
            <a:ext cx="13098066" cy="306467"/>
          </a:xfrm>
          <a:prstGeom prst="rect">
            <a:avLst/>
          </a:prstGeom>
          <a:noFill/>
          <a:ln/>
        </p:spPr>
        <p:txBody>
          <a:bodyPr wrap="none" lIns="0" tIns="0" rIns="0" bIns="0" rtlCol="0" anchor="t"/>
          <a:lstStyle/>
          <a:p>
            <a:pPr algn="l" indent="0" marL="0">
              <a:lnSpc>
                <a:spcPts val="2400"/>
              </a:lnSpc>
              <a:buNone/>
            </a:pPr>
            <a:endParaRPr lang="en-US" sz="1500" dirty="0"/>
          </a:p>
        </p:txBody>
      </p:sp>
      <p:sp>
        <p:nvSpPr>
          <p:cNvPr id="6" name="Text 4"/>
          <p:cNvSpPr/>
          <p:nvPr/>
        </p:nvSpPr>
        <p:spPr>
          <a:xfrm>
            <a:off x="766167" y="2860119"/>
            <a:ext cx="13098066" cy="1795820"/>
          </a:xfrm>
          <a:prstGeom prst="rect">
            <a:avLst/>
          </a:prstGeom>
          <a:noFill/>
          <a:ln/>
        </p:spPr>
        <p:txBody>
          <a:bodyPr wrap="none" lIns="0" tIns="0" rIns="0" bIns="0" rtlCol="0" anchor="t"/>
          <a:lstStyle/>
          <a:p>
            <a:pPr algn="ctr" indent="0" marL="0">
              <a:lnSpc>
                <a:spcPts val="14100"/>
              </a:lnSpc>
              <a:buNone/>
            </a:pPr>
            <a:r>
              <a:rPr lang="en-US" sz="11300" dirty="0">
                <a:solidFill>
                  <a:srgbClr val="2C3F42"/>
                </a:solidFill>
                <a:latin typeface="Bitter Medium" pitchFamily="34" charset="0"/>
                <a:ea typeface="Bitter Medium" pitchFamily="34" charset="-122"/>
                <a:cs typeface="Bitter Medium" pitchFamily="34" charset="-120"/>
              </a:rPr>
              <a:t>Q&amp;A Session</a:t>
            </a:r>
            <a:endParaRPr lang="en-US" sz="11300" dirty="0"/>
          </a:p>
        </p:txBody>
      </p:sp>
      <p:sp>
        <p:nvSpPr>
          <p:cNvPr id="7" name="Text 5"/>
          <p:cNvSpPr/>
          <p:nvPr/>
        </p:nvSpPr>
        <p:spPr>
          <a:xfrm>
            <a:off x="766167" y="4943237"/>
            <a:ext cx="13098066" cy="306467"/>
          </a:xfrm>
          <a:prstGeom prst="rect">
            <a:avLst/>
          </a:prstGeom>
          <a:noFill/>
          <a:ln/>
        </p:spPr>
        <p:txBody>
          <a:bodyPr wrap="none" lIns="0" tIns="0" rIns="0" bIns="0" rtlCol="0" anchor="t"/>
          <a:lstStyle/>
          <a:p>
            <a:pPr algn="ctr" indent="0" marL="0">
              <a:lnSpc>
                <a:spcPts val="2400"/>
              </a:lnSpc>
              <a:buNone/>
            </a:pPr>
            <a:endParaRPr lang="en-US" sz="1500" dirty="0"/>
          </a:p>
        </p:txBody>
      </p:sp>
      <p:sp>
        <p:nvSpPr>
          <p:cNvPr id="8" name="Text 6"/>
          <p:cNvSpPr/>
          <p:nvPr/>
        </p:nvSpPr>
        <p:spPr>
          <a:xfrm>
            <a:off x="766167" y="5465088"/>
            <a:ext cx="13098066" cy="306467"/>
          </a:xfrm>
          <a:prstGeom prst="rect">
            <a:avLst/>
          </a:prstGeom>
          <a:noFill/>
          <a:ln/>
        </p:spPr>
        <p:txBody>
          <a:bodyPr wrap="none" lIns="0" tIns="0" rIns="0" bIns="0" rtlCol="0" anchor="t"/>
          <a:lstStyle/>
          <a:p>
            <a:pPr algn="ctr" indent="0" marL="0">
              <a:lnSpc>
                <a:spcPts val="2400"/>
              </a:lnSpc>
              <a:buNone/>
            </a:pPr>
            <a:endParaRPr lang="en-US" sz="1500" dirty="0"/>
          </a:p>
        </p:txBody>
      </p:sp>
      <p:sp>
        <p:nvSpPr>
          <p:cNvPr id="9" name="Text 7"/>
          <p:cNvSpPr/>
          <p:nvPr/>
        </p:nvSpPr>
        <p:spPr>
          <a:xfrm>
            <a:off x="766167" y="5986939"/>
            <a:ext cx="13098066" cy="306467"/>
          </a:xfrm>
          <a:prstGeom prst="rect">
            <a:avLst/>
          </a:prstGeom>
          <a:noFill/>
          <a:ln/>
        </p:spPr>
        <p:txBody>
          <a:bodyPr wrap="none" lIns="0" tIns="0" rIns="0" bIns="0" rtlCol="0" anchor="t"/>
          <a:lstStyle/>
          <a:p>
            <a:pPr algn="ctr" indent="0" marL="0">
              <a:lnSpc>
                <a:spcPts val="2400"/>
              </a:lnSpc>
              <a:buNone/>
            </a:pPr>
            <a:endParaRPr lang="en-US" sz="1500" dirty="0"/>
          </a:p>
        </p:txBody>
      </p:sp>
      <p:sp>
        <p:nvSpPr>
          <p:cNvPr id="10" name="Text 8"/>
          <p:cNvSpPr/>
          <p:nvPr/>
        </p:nvSpPr>
        <p:spPr>
          <a:xfrm>
            <a:off x="766167" y="6508790"/>
            <a:ext cx="13098066" cy="306467"/>
          </a:xfrm>
          <a:prstGeom prst="rect">
            <a:avLst/>
          </a:prstGeom>
          <a:noFill/>
          <a:ln/>
        </p:spPr>
        <p:txBody>
          <a:bodyPr wrap="none" lIns="0" tIns="0" rIns="0" bIns="0" rtlCol="0" anchor="t"/>
          <a:lstStyle/>
          <a:p>
            <a:pPr algn="l" indent="0" marL="0">
              <a:lnSpc>
                <a:spcPts val="2400"/>
              </a:lnSpc>
              <a:buNone/>
            </a:pPr>
            <a:endParaRPr lang="en-US" sz="1500" dirty="0"/>
          </a:p>
        </p:txBody>
      </p:sp>
      <p:sp>
        <p:nvSpPr>
          <p:cNvPr id="11" name="Text 9"/>
          <p:cNvSpPr/>
          <p:nvPr/>
        </p:nvSpPr>
        <p:spPr>
          <a:xfrm>
            <a:off x="766167" y="7102554"/>
            <a:ext cx="4788813" cy="598527"/>
          </a:xfrm>
          <a:prstGeom prst="rect">
            <a:avLst/>
          </a:prstGeom>
          <a:noFill/>
          <a:ln/>
        </p:spPr>
        <p:txBody>
          <a:bodyPr wrap="none" lIns="0" tIns="0" rIns="0" bIns="0" rtlCol="0" anchor="t"/>
          <a:lstStyle/>
          <a:p>
            <a:pPr algn="l" indent="0" marL="0">
              <a:lnSpc>
                <a:spcPts val="4700"/>
              </a:lnSpc>
              <a:buNone/>
            </a:pPr>
            <a:r>
              <a:rPr lang="en-US" sz="3750" dirty="0">
                <a:solidFill>
                  <a:srgbClr val="2C3F42"/>
                </a:solidFill>
                <a:latin typeface="Bitter Medium" pitchFamily="34" charset="0"/>
                <a:ea typeface="Bitter Medium" pitchFamily="34" charset="-122"/>
                <a:cs typeface="Bitter Medium" pitchFamily="34" charset="-120"/>
              </a:rPr>
              <a:t> </a:t>
            </a:r>
            <a:endParaRPr lang="en-US" sz="3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E4823951FA9BF42B980A03718EB0B18" ma:contentTypeVersion="3" ma:contentTypeDescription="Create a new document." ma:contentTypeScope="" ma:versionID="25a50b09105562264fb4b1a4f834e0bb">
  <xsd:schema xmlns:xsd="http://www.w3.org/2001/XMLSchema" xmlns:xs="http://www.w3.org/2001/XMLSchema" xmlns:p="http://schemas.microsoft.com/office/2006/metadata/properties" xmlns:ns2="6bf15077-4e46-4e3a-99a0-3fd5e4d406d3" targetNamespace="http://schemas.microsoft.com/office/2006/metadata/properties" ma:root="true" ma:fieldsID="ff57562ea5f29b8a889136f2d3c08a42" ns2:_="">
    <xsd:import namespace="6bf15077-4e46-4e3a-99a0-3fd5e4d406d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f15077-4e46-4e3a-99a0-3fd5e4d406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F8C5B45-D207-4E66-9471-AB98D7FEB9F5}"/>
</file>

<file path=customXml/itemProps2.xml><?xml version="1.0" encoding="utf-8"?>
<ds:datastoreItem xmlns:ds="http://schemas.openxmlformats.org/officeDocument/2006/customXml" ds:itemID="{49277650-A826-4A40-A002-EC08385A7F73}"/>
</file>

<file path=customXml/itemProps3.xml><?xml version="1.0" encoding="utf-8"?>
<ds:datastoreItem xmlns:ds="http://schemas.openxmlformats.org/officeDocument/2006/customXml" ds:itemID="{62F8D3CB-34B2-48B0-9948-7FA732C7B688}"/>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2025-11-26T13:43:47Z</dcterms:created>
  <dcterms:modified xsi:type="dcterms:W3CDTF">2025-11-26T13:43:47Z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0x0101006E4823951FA9BF42B980A03718EB0B18</vt:lpwstr>
  </property>
</Properties>
</file>