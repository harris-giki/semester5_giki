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67" r:id="rId3"/>
    <p:sldId id="268" r:id="rId4"/>
    <p:sldId id="274" r:id="rId5"/>
    <p:sldId id="271" r:id="rId6"/>
    <p:sldId id="273" r:id="rId7"/>
    <p:sldId id="272" r:id="rId8"/>
    <p:sldId id="270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8288000" cy="10287000"/>
  <p:notesSz cx="6858000" cy="9144000"/>
  <p:embeddedFontLst>
    <p:embeddedFont>
      <p:font typeface="ITC Avant Garde Gothic" panose="020B0604020202020204" charset="0"/>
      <p:regular r:id="rId31"/>
    </p:embeddedFont>
    <p:embeddedFont>
      <p:font typeface="ITC Avant Garde Gothic Bold" panose="020B0604020202020204" charset="0"/>
      <p:regular r:id="rId32"/>
    </p:embeddedFont>
    <p:embeddedFont>
      <p:font typeface="TT For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E03E57-0547-830B-5761-E3F015AE6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17678400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6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3071C-0626-607C-650A-7A3763543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42863"/>
            <a:ext cx="18364200" cy="1032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B16FFC-92FA-754E-77EB-2F8563AE0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8587"/>
            <a:ext cx="17983200" cy="101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2ECF3-A136-9F7E-1BF1-859ACACCD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312"/>
            <a:ext cx="16383000" cy="921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0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3E26E8-D721-3B4C-BDD3-24CB85038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19100"/>
            <a:ext cx="15597572" cy="967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5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F54C6-242E-35C8-8B4D-9E1226D32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66F09A-20A0-B517-C385-D0045A10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5299"/>
            <a:ext cx="16840200" cy="947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1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2D9E69-BCD0-753D-A602-C82BD2DDF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95300"/>
            <a:ext cx="16154400" cy="908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44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5737224"/>
            <a:chOff x="0" y="0"/>
            <a:chExt cx="13017500" cy="7649632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6465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124"/>
                </a:lnSpc>
              </a:pPr>
              <a:r>
                <a:rPr lang="en-US" sz="9124" spc="-273" dirty="0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Difference Between Software Architecture &amp; Software Design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 INNOVATIONS INC.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3400" y="791034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6031" y="2099918"/>
            <a:ext cx="1288603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Architecture vs. Design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04048" y="4426578"/>
            <a:ext cx="15983952" cy="3767172"/>
            <a:chOff x="0" y="0"/>
            <a:chExt cx="21311936" cy="5022896"/>
          </a:xfrm>
        </p:grpSpPr>
        <p:sp>
          <p:nvSpPr>
            <p:cNvPr id="4" name="TextBox 4"/>
            <p:cNvSpPr txBox="1"/>
            <p:nvPr/>
          </p:nvSpPr>
          <p:spPr>
            <a:xfrm>
              <a:off x="0" y="3952636"/>
              <a:ext cx="21311936" cy="107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23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52400"/>
              <a:ext cx="21311936" cy="1655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12"/>
                </a:lnSpc>
                <a:spcBef>
                  <a:spcPct val="0"/>
                </a:spcBef>
              </a:pPr>
              <a:r>
                <a:rPr lang="en-US" sz="7427" u="none" strike="noStrike" spc="-222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What comes to mind for you?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800" y="803910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8324850" cy="324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Architecture Analogy: City 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4066980"/>
            <a:ext cx="83248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Overall Structure and Arrangement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4646632"/>
            <a:ext cx="8477250" cy="3182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19"/>
              </a:lnSpc>
              <a:spcBef>
                <a:spcPct val="0"/>
              </a:spcBef>
            </a:pPr>
            <a:endParaRPr/>
          </a:p>
          <a:p>
            <a:pPr marL="558115" lvl="1" indent="-279057" algn="l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2585" u="none" strike="noStrike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Layout: How spaces are arranged (streets, buildings).</a:t>
            </a:r>
          </a:p>
          <a:p>
            <a:pPr marL="558115" lvl="1" indent="-279057" algn="l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2585" u="none" strike="noStrike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Flow: How people move through those spaces.</a:t>
            </a:r>
          </a:p>
          <a:p>
            <a:pPr marL="558115" lvl="1" indent="-279057" algn="l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2585" u="none" strike="noStrike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Interaction: How different parts of the environment connect and support activities.</a:t>
            </a:r>
          </a:p>
          <a:p>
            <a:pPr marL="0" lvl="0" indent="0" algn="l">
              <a:lnSpc>
                <a:spcPts val="3619"/>
              </a:lnSpc>
              <a:spcBef>
                <a:spcPct val="0"/>
              </a:spcBef>
            </a:pPr>
            <a:endParaRPr lang="en-US" sz="2585" u="none" strike="noStrike">
              <a:solidFill>
                <a:srgbClr val="4A4A4A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66750" y="826770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8324850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Design Analogy: Building Blueprint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3057330"/>
            <a:ext cx="83248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Understanding Internal Component Creation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481" y="4295580"/>
            <a:ext cx="8163673" cy="393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470" lvl="1" indent="-268735" algn="l">
              <a:lnSpc>
                <a:spcPts val="3485"/>
              </a:lnSpc>
              <a:spcBef>
                <a:spcPct val="0"/>
              </a:spcBef>
              <a:buFont typeface="Arial"/>
              <a:buChar char="•"/>
            </a:pPr>
            <a:r>
              <a:rPr lang="en-US" sz="248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B</a:t>
            </a:r>
            <a:r>
              <a:rPr lang="en-US" sz="2489" u="none" strike="noStrike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lueprint: Shows internal structure and layout of a building (rooms, plumbing, wiring).</a:t>
            </a:r>
          </a:p>
          <a:p>
            <a:pPr marL="537470" lvl="1" indent="-268735" algn="l">
              <a:lnSpc>
                <a:spcPts val="3485"/>
              </a:lnSpc>
              <a:spcBef>
                <a:spcPct val="0"/>
              </a:spcBef>
              <a:buFont typeface="Arial"/>
              <a:buChar char="•"/>
            </a:pPr>
            <a:r>
              <a:rPr lang="en-US" sz="2489" u="none" strike="noStrike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Design plan: Defines arrangement, aesthetics, and functional relationships of spaces.</a:t>
            </a:r>
          </a:p>
          <a:p>
            <a:pPr marL="537470" lvl="1" indent="-268735" algn="l">
              <a:lnSpc>
                <a:spcPts val="3485"/>
              </a:lnSpc>
              <a:spcBef>
                <a:spcPct val="0"/>
              </a:spcBef>
              <a:buFont typeface="Arial"/>
              <a:buChar char="•"/>
            </a:pPr>
            <a:r>
              <a:rPr lang="en-US" sz="2489" u="none" strike="noStrike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Ensures harmony between elements like furniture, lighting, and decor.</a:t>
            </a:r>
          </a:p>
          <a:p>
            <a:pPr marL="537470" lvl="1" indent="-268735" algn="l">
              <a:lnSpc>
                <a:spcPts val="3485"/>
              </a:lnSpc>
              <a:spcBef>
                <a:spcPct val="0"/>
              </a:spcBef>
              <a:buFont typeface="Arial"/>
              <a:buChar char="•"/>
            </a:pPr>
            <a:r>
              <a:rPr lang="en-US" sz="2489" u="none" strike="noStrike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Goal: Create a practical, efficient, and functionning environment</a:t>
            </a:r>
          </a:p>
          <a:p>
            <a:pPr marL="0" lvl="0" indent="0" algn="l">
              <a:lnSpc>
                <a:spcPts val="3485"/>
              </a:lnSpc>
              <a:spcBef>
                <a:spcPct val="0"/>
              </a:spcBef>
            </a:pPr>
            <a:endParaRPr lang="en-US" sz="2489" u="none" strike="noStrike">
              <a:solidFill>
                <a:srgbClr val="4A4A4A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471772" y="8233725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06034" y="836382"/>
            <a:ext cx="7753266" cy="7107161"/>
          </a:xfrm>
          <a:custGeom>
            <a:avLst/>
            <a:gdLst/>
            <a:ahLst/>
            <a:cxnLst/>
            <a:rect l="l" t="t" r="r" b="b"/>
            <a:pathLst>
              <a:path w="7753266" h="7107161">
                <a:moveTo>
                  <a:pt x="0" y="0"/>
                </a:moveTo>
                <a:lnTo>
                  <a:pt x="7753266" y="0"/>
                </a:lnTo>
                <a:lnTo>
                  <a:pt x="7753266" y="7107160"/>
                </a:lnTo>
                <a:lnTo>
                  <a:pt x="0" y="7107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6750" y="657225"/>
            <a:ext cx="10833460" cy="284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11"/>
              </a:lnSpc>
              <a:spcBef>
                <a:spcPct val="0"/>
              </a:spcBef>
            </a:pPr>
            <a:r>
              <a:rPr lang="en-US" sz="10211" u="none" strike="noStrike" spc="-306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Software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2212" y="3456080"/>
            <a:ext cx="8961775" cy="472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739" lvl="1" indent="-289369" algn="l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Focuses on overall system structure and high-level organization.</a:t>
            </a:r>
          </a:p>
          <a:p>
            <a:pPr marL="578739" lvl="1" indent="-289369" algn="l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Defines how components interact and communicate.</a:t>
            </a:r>
          </a:p>
          <a:p>
            <a:pPr marL="578739" lvl="1" indent="-289369" algn="l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Ensures scalability, performance, and reliability of the entire system.</a:t>
            </a:r>
          </a:p>
          <a:p>
            <a:pPr marL="578739" lvl="1" indent="-289369" algn="l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Concerned with frameworks, layers, and deployment strategies.</a:t>
            </a:r>
          </a:p>
          <a:p>
            <a:pPr marL="578739" lvl="1" indent="-289369" algn="l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Example: Choosing microservices vs monolithic architecture for an application.</a:t>
            </a:r>
          </a:p>
          <a:p>
            <a:pPr marL="0" lvl="0" indent="0" algn="l">
              <a:lnSpc>
                <a:spcPts val="3752"/>
              </a:lnSpc>
            </a:pPr>
            <a:endParaRPr lang="en-US" sz="2680">
              <a:solidFill>
                <a:srgbClr val="4A4A4A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66750" y="8208557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663" y="1680702"/>
            <a:ext cx="10993890" cy="3959325"/>
          </a:xfrm>
          <a:custGeom>
            <a:avLst/>
            <a:gdLst/>
            <a:ahLst/>
            <a:cxnLst/>
            <a:rect l="l" t="t" r="r" b="b"/>
            <a:pathLst>
              <a:path w="10993890" h="3959325">
                <a:moveTo>
                  <a:pt x="0" y="0"/>
                </a:moveTo>
                <a:lnTo>
                  <a:pt x="10993889" y="0"/>
                </a:lnTo>
                <a:lnTo>
                  <a:pt x="10993889" y="3959326"/>
                </a:lnTo>
                <a:lnTo>
                  <a:pt x="0" y="3959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10" b="-241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86363" y="5917888"/>
            <a:ext cx="8364447" cy="3889468"/>
          </a:xfrm>
          <a:custGeom>
            <a:avLst/>
            <a:gdLst/>
            <a:ahLst/>
            <a:cxnLst/>
            <a:rect l="l" t="t" r="r" b="b"/>
            <a:pathLst>
              <a:path w="8364447" h="3889468">
                <a:moveTo>
                  <a:pt x="0" y="0"/>
                </a:moveTo>
                <a:lnTo>
                  <a:pt x="8364447" y="0"/>
                </a:lnTo>
                <a:lnTo>
                  <a:pt x="8364447" y="3889468"/>
                </a:lnTo>
                <a:lnTo>
                  <a:pt x="0" y="3889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85236" y="2065462"/>
            <a:ext cx="5452962" cy="2760562"/>
          </a:xfrm>
          <a:custGeom>
            <a:avLst/>
            <a:gdLst/>
            <a:ahLst/>
            <a:cxnLst/>
            <a:rect l="l" t="t" r="r" b="b"/>
            <a:pathLst>
              <a:path w="5452962" h="2760562">
                <a:moveTo>
                  <a:pt x="0" y="0"/>
                </a:moveTo>
                <a:lnTo>
                  <a:pt x="5452963" y="0"/>
                </a:lnTo>
                <a:lnTo>
                  <a:pt x="5452963" y="2760562"/>
                </a:lnTo>
                <a:lnTo>
                  <a:pt x="0" y="2760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43873" y="220812"/>
            <a:ext cx="4915857" cy="131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01"/>
              </a:lnSpc>
              <a:spcBef>
                <a:spcPct val="0"/>
              </a:spcBef>
            </a:pPr>
            <a:r>
              <a:rPr lang="en-US" sz="8601" spc="-258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Website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138358"/>
            <a:ext cx="6239098" cy="311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1"/>
              </a:lnSpc>
            </a:pPr>
            <a:r>
              <a:rPr lang="en-US" sz="4041" b="1" spc="-121">
                <a:solidFill>
                  <a:srgbClr val="4A4A4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Entire Website </a:t>
            </a:r>
          </a:p>
          <a:p>
            <a:pPr marL="872575" lvl="1" indent="-436287" algn="just">
              <a:lnSpc>
                <a:spcPts val="4041"/>
              </a:lnSpc>
              <a:buFont typeface="Arial"/>
              <a:buChar char="•"/>
            </a:pPr>
            <a:r>
              <a:rPr lang="en-US" sz="4041" spc="-121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Front-end</a:t>
            </a:r>
          </a:p>
          <a:p>
            <a:pPr marL="872575" lvl="1" indent="-436287" algn="just">
              <a:lnSpc>
                <a:spcPts val="4041"/>
              </a:lnSpc>
              <a:buFont typeface="Arial"/>
              <a:buChar char="•"/>
            </a:pPr>
            <a:r>
              <a:rPr lang="en-US" sz="4041" spc="-121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Back-end</a:t>
            </a:r>
          </a:p>
          <a:p>
            <a:pPr marL="872575" lvl="1" indent="-436287" algn="just">
              <a:lnSpc>
                <a:spcPts val="4041"/>
              </a:lnSpc>
              <a:buFont typeface="Arial"/>
              <a:buChar char="•"/>
            </a:pPr>
            <a:r>
              <a:rPr lang="en-US" sz="4041" spc="-121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DB</a:t>
            </a:r>
          </a:p>
          <a:p>
            <a:pPr marL="872575" lvl="1" indent="-436287" algn="just">
              <a:lnSpc>
                <a:spcPts val="4041"/>
              </a:lnSpc>
              <a:buFont typeface="Arial"/>
              <a:buChar char="•"/>
            </a:pPr>
            <a:r>
              <a:rPr lang="en-US" sz="4041" spc="-121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Server Side interactions</a:t>
            </a:r>
          </a:p>
          <a:p>
            <a:pPr marL="836220" lvl="1" indent="-418110" algn="just">
              <a:lnSpc>
                <a:spcPts val="3873"/>
              </a:lnSpc>
              <a:buFont typeface="Arial"/>
              <a:buChar char="•"/>
            </a:pPr>
            <a:r>
              <a:rPr lang="en-US" sz="3873" spc="-116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API’s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74071" y="2261314"/>
            <a:ext cx="7913871" cy="6376463"/>
          </a:xfrm>
          <a:custGeom>
            <a:avLst/>
            <a:gdLst/>
            <a:ahLst/>
            <a:cxnLst/>
            <a:rect l="l" t="t" r="r" b="b"/>
            <a:pathLst>
              <a:path w="7913871" h="6376463">
                <a:moveTo>
                  <a:pt x="0" y="0"/>
                </a:moveTo>
                <a:lnTo>
                  <a:pt x="7913871" y="0"/>
                </a:lnTo>
                <a:lnTo>
                  <a:pt x="7913871" y="6376463"/>
                </a:lnTo>
                <a:lnTo>
                  <a:pt x="0" y="6376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24933" y="673254"/>
            <a:ext cx="9999473" cy="8758023"/>
            <a:chOff x="0" y="0"/>
            <a:chExt cx="13332630" cy="11677365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3332630" cy="2135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17"/>
                </a:lnSpc>
                <a:spcBef>
                  <a:spcPct val="0"/>
                </a:spcBef>
              </a:pPr>
              <a:r>
                <a:rPr lang="en-US" sz="10517" u="none" strike="noStrike" spc="-315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Software Design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2817"/>
              <a:ext cx="13332630" cy="937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8"/>
                </a:lnSpc>
                <a:spcBef>
                  <a:spcPct val="0"/>
                </a:spcBef>
              </a:pPr>
              <a:r>
                <a:rPr lang="en-US" sz="4206" u="none" strike="noStrike" spc="-126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Internal Components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51018"/>
              <a:ext cx="11029167" cy="7126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96056" lvl="1" indent="-298028" algn="l">
                <a:lnSpc>
                  <a:spcPts val="3865"/>
                </a:lnSpc>
                <a:buFont typeface="Arial"/>
                <a:buChar char="•"/>
              </a:pPr>
              <a:r>
                <a:rPr lang="en-US" sz="276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Focuses on how individual components are implemented.</a:t>
              </a:r>
            </a:p>
            <a:p>
              <a:pPr marL="596056" lvl="1" indent="-298028" algn="l">
                <a:lnSpc>
                  <a:spcPts val="3865"/>
                </a:lnSpc>
                <a:buFont typeface="Arial"/>
                <a:buChar char="•"/>
              </a:pPr>
              <a:r>
                <a:rPr lang="en-US" sz="276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Deals with detailed structure: classes, functions, data flow.</a:t>
              </a:r>
            </a:p>
            <a:p>
              <a:pPr marL="596056" lvl="1" indent="-298028" algn="l">
                <a:lnSpc>
                  <a:spcPts val="3865"/>
                </a:lnSpc>
                <a:buFont typeface="Arial"/>
                <a:buChar char="•"/>
              </a:pPr>
              <a:r>
                <a:rPr lang="en-US" sz="276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Ensures logic, usability, and maintainability at the component level.</a:t>
              </a:r>
            </a:p>
            <a:p>
              <a:pPr marL="596056" lvl="1" indent="-298028" algn="l">
                <a:lnSpc>
                  <a:spcPts val="3865"/>
                </a:lnSpc>
                <a:buFont typeface="Arial"/>
                <a:buChar char="•"/>
              </a:pPr>
              <a:r>
                <a:rPr lang="en-US" sz="276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Concerned with patterns and best practices for coding.</a:t>
              </a:r>
            </a:p>
            <a:p>
              <a:pPr marL="596056" lvl="1" indent="-298028" algn="l">
                <a:lnSpc>
                  <a:spcPts val="3865"/>
                </a:lnSpc>
                <a:buFont typeface="Arial"/>
                <a:buChar char="•"/>
              </a:pPr>
              <a:r>
                <a:rPr lang="en-US" sz="276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Example: Deciding how a login module validates user credentials.</a:t>
              </a:r>
            </a:p>
            <a:p>
              <a:pPr marL="0" lvl="0" indent="0" algn="l">
                <a:lnSpc>
                  <a:spcPts val="3865"/>
                </a:lnSpc>
              </a:pPr>
              <a:endParaRPr lang="en-US" sz="276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00BF6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87038" y="446636"/>
            <a:ext cx="7489647" cy="4696864"/>
          </a:xfrm>
          <a:custGeom>
            <a:avLst/>
            <a:gdLst/>
            <a:ahLst/>
            <a:cxnLst/>
            <a:rect l="l" t="t" r="r" b="b"/>
            <a:pathLst>
              <a:path w="7489647" h="4696864">
                <a:moveTo>
                  <a:pt x="0" y="0"/>
                </a:moveTo>
                <a:lnTo>
                  <a:pt x="7489647" y="0"/>
                </a:lnTo>
                <a:lnTo>
                  <a:pt x="7489647" y="4696864"/>
                </a:lnTo>
                <a:lnTo>
                  <a:pt x="0" y="4696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89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4179" y="446636"/>
            <a:ext cx="6256510" cy="4696864"/>
          </a:xfrm>
          <a:custGeom>
            <a:avLst/>
            <a:gdLst/>
            <a:ahLst/>
            <a:cxnLst/>
            <a:rect l="l" t="t" r="r" b="b"/>
            <a:pathLst>
              <a:path w="6256510" h="4696864">
                <a:moveTo>
                  <a:pt x="0" y="0"/>
                </a:moveTo>
                <a:lnTo>
                  <a:pt x="6256509" y="0"/>
                </a:lnTo>
                <a:lnTo>
                  <a:pt x="6256509" y="4696864"/>
                </a:lnTo>
                <a:lnTo>
                  <a:pt x="0" y="4696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81734" y="5577747"/>
            <a:ext cx="7210608" cy="4326365"/>
          </a:xfrm>
          <a:custGeom>
            <a:avLst/>
            <a:gdLst/>
            <a:ahLst/>
            <a:cxnLst/>
            <a:rect l="l" t="t" r="r" b="b"/>
            <a:pathLst>
              <a:path w="7210608" h="4326365">
                <a:moveTo>
                  <a:pt x="0" y="0"/>
                </a:moveTo>
                <a:lnTo>
                  <a:pt x="7210608" y="0"/>
                </a:lnTo>
                <a:lnTo>
                  <a:pt x="7210608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482" y="1664599"/>
            <a:ext cx="16562763" cy="6977064"/>
          </a:xfrm>
          <a:custGeom>
            <a:avLst/>
            <a:gdLst/>
            <a:ahLst/>
            <a:cxnLst/>
            <a:rect l="l" t="t" r="r" b="b"/>
            <a:pathLst>
              <a:path w="16562763" h="6977064">
                <a:moveTo>
                  <a:pt x="0" y="0"/>
                </a:moveTo>
                <a:lnTo>
                  <a:pt x="16562762" y="0"/>
                </a:lnTo>
                <a:lnTo>
                  <a:pt x="16562762" y="6977064"/>
                </a:lnTo>
                <a:lnTo>
                  <a:pt x="0" y="6977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5025" y="3789616"/>
            <a:ext cx="14077950" cy="324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4A4A4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“Architecture is the blueprint of the system; design is the blueprint of the components.”</a:t>
            </a:r>
          </a:p>
        </p:txBody>
      </p:sp>
      <p:sp>
        <p:nvSpPr>
          <p:cNvPr id="3" name="Freeform 3"/>
          <p:cNvSpPr/>
          <p:nvPr/>
        </p:nvSpPr>
        <p:spPr>
          <a:xfrm>
            <a:off x="8537838" y="1057275"/>
            <a:ext cx="1212324" cy="934592"/>
          </a:xfrm>
          <a:custGeom>
            <a:avLst/>
            <a:gdLst/>
            <a:ahLst/>
            <a:cxnLst/>
            <a:rect l="l" t="t" r="r" b="b"/>
            <a:pathLst>
              <a:path w="1212324" h="934592">
                <a:moveTo>
                  <a:pt x="0" y="0"/>
                </a:moveTo>
                <a:lnTo>
                  <a:pt x="1212324" y="0"/>
                </a:lnTo>
                <a:lnTo>
                  <a:pt x="1212324" y="934592"/>
                </a:lnTo>
                <a:lnTo>
                  <a:pt x="0" y="934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33400" y="8039100"/>
            <a:ext cx="4846643" cy="1791955"/>
            <a:chOff x="0" y="0"/>
            <a:chExt cx="6462190" cy="2389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F12CC09-521C-3720-676F-C67D96A150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4B341EA-B610-1392-04EE-E46DE311BC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5B997-CFF1-8109-DACE-5BF05D0B0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3597"/>
            <a:ext cx="17602200" cy="998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32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9D5D7C-761A-70F0-5D21-1FF01F667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66700"/>
            <a:ext cx="16843686" cy="950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84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14C5E5-142A-8CEE-0E85-35B026DB7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7820"/>
            <a:ext cx="17338295" cy="970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23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E8B44-D9BB-505B-8E70-2C0E68DCD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20042955" cy="112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9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F4DE19-8A5E-1510-7959-8A969B050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7322"/>
            <a:ext cx="16916400" cy="944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80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CDEAD-6C1D-C049-3CF0-29C76951C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65134"/>
            <a:ext cx="16986640" cy="942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25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1AEC56-777B-E446-7086-1B4E593FD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48440"/>
            <a:ext cx="17688966" cy="993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07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1ECE3-7412-6EC3-148F-E46B22A16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8059400" cy="986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08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651C-E3FB-D982-8298-ABBBC8EA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857153-4C0A-77CD-11FB-801774C66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87324"/>
            <a:ext cx="16459199" cy="928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01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4CD06-F548-64D5-4A7B-D677C4BF2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88766"/>
            <a:ext cx="17565828" cy="973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41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8800F-D6E4-7528-1E36-27E957A0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725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EB72E7-2D2E-434D-8CD0-3511B52E5850}"/>
</file>

<file path=customXml/itemProps2.xml><?xml version="1.0" encoding="utf-8"?>
<ds:datastoreItem xmlns:ds="http://schemas.openxmlformats.org/officeDocument/2006/customXml" ds:itemID="{19224868-84A9-48C5-805A-76403C25A79C}"/>
</file>

<file path=customXml/itemProps3.xml><?xml version="1.0" encoding="utf-8"?>
<ds:datastoreItem xmlns:ds="http://schemas.openxmlformats.org/officeDocument/2006/customXml" ds:itemID="{79301185-1948-4056-8292-504D0EB70217}"/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262</Words>
  <Application>Microsoft Office PowerPoint</Application>
  <PresentationFormat>Custom</PresentationFormat>
  <Paragraphs>37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Arial</vt:lpstr>
      <vt:lpstr>TT Fors</vt:lpstr>
      <vt:lpstr>ITC Avant Garde Gothic</vt:lpstr>
      <vt:lpstr>ITC Avant Garde Gothic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Difference Between Software Architecture &amp; Software Design</dc:title>
  <dc:description>Presentation - Difference Between Software Architecture &amp; Software Design</dc:description>
  <cp:lastModifiedBy>u2023322</cp:lastModifiedBy>
  <cp:revision>2</cp:revision>
  <dcterms:created xsi:type="dcterms:W3CDTF">2006-08-16T00:00:00Z</dcterms:created>
  <dcterms:modified xsi:type="dcterms:W3CDTF">2025-11-18T02:52:08Z</dcterms:modified>
  <dc:identifier>DAG41L5tpsc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