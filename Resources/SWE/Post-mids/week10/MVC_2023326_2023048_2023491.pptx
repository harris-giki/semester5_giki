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8" Type="http://schemas.openxmlformats.org/officeDocument/2006/relationships/slide" Target="slides/slide3.xml"/><Relationship Id="rId21" Type="http://schemas.openxmlformats.org/officeDocument/2006/relationships/font" Target="fonts/font21.fntdata"/><Relationship Id="rId3"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slide" Target="slides/slide12.xml"/><Relationship Id="rId7" Type="http://schemas.openxmlformats.org/officeDocument/2006/relationships/slide" Target="slides/slide2.xml"/><Relationship Id="rId25" Type="http://schemas.openxmlformats.org/officeDocument/2006/relationships/customXml" Target="../customXml/item3.xml"/><Relationship Id="rId16" Type="http://schemas.openxmlformats.org/officeDocument/2006/relationships/slide" Target="slides/slide11.xml"/><Relationship Id="rId2" Type="http://schemas.openxmlformats.org/officeDocument/2006/relationships/presProps" Target="presProps.xml"/><Relationship Id="rId20" Type="http://schemas.openxmlformats.org/officeDocument/2006/relationships/slide" Target="slides/slide15.xml"/><Relationship Id="rId1" Type="http://schemas.openxmlformats.org/officeDocument/2006/relationships/slideMaster" Target="slideMasters/slideMaster1.xml"/><Relationship Id="rId11" Type="http://schemas.openxmlformats.org/officeDocument/2006/relationships/slide" Target="slides/slide6.xml"/><Relationship Id="rId6" Type="http://schemas.openxmlformats.org/officeDocument/2006/relationships/slide" Target="slides/slide1.xml"/><Relationship Id="rId24" Type="http://schemas.openxmlformats.org/officeDocument/2006/relationships/customXml" Target="../customXml/item2.xml"/><Relationship Id="rId15" Type="http://schemas.openxmlformats.org/officeDocument/2006/relationships/slide" Target="slides/slide10.xml"/><Relationship Id="rId5" Type="http://schemas.openxmlformats.org/officeDocument/2006/relationships/tableStyles" Target="tableStyles.xml"/><Relationship Id="rId23" Type="http://schemas.openxmlformats.org/officeDocument/2006/relationships/customXml" Target="../customXml/item1.xml"/><Relationship Id="rId10" Type="http://schemas.openxmlformats.org/officeDocument/2006/relationships/slide" Target="slides/slide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font" Target="fonts/font22.fntdata"/><Relationship Id="rId4" Type="http://schemas.openxmlformats.org/officeDocument/2006/relationships/theme" Target="theme/theme1.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3.pn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10424866" y="287472"/>
            <a:ext cx="11364538" cy="9780109"/>
          </a:xfrm>
          <a:custGeom>
            <a:avLst/>
            <a:gdLst/>
            <a:ahLst/>
            <a:cxnLst/>
            <a:rect r="r" b="b" t="t" l="l"/>
            <a:pathLst>
              <a:path h="9780109" w="11364538">
                <a:moveTo>
                  <a:pt x="0" y="0"/>
                </a:moveTo>
                <a:lnTo>
                  <a:pt x="11364538" y="0"/>
                </a:lnTo>
                <a:lnTo>
                  <a:pt x="11364538" y="9780110"/>
                </a:lnTo>
                <a:lnTo>
                  <a:pt x="0" y="9780110"/>
                </a:lnTo>
                <a:lnTo>
                  <a:pt x="0" y="0"/>
                </a:lnTo>
                <a:close/>
              </a:path>
            </a:pathLst>
          </a:custGeom>
          <a:blipFill>
            <a:blip r:embed="rId2"/>
            <a:stretch>
              <a:fillRect l="-8850" t="-959" r="-8850" b="0"/>
            </a:stretch>
          </a:blipFill>
        </p:spPr>
      </p:sp>
      <p:sp>
        <p:nvSpPr>
          <p:cNvPr name="Freeform 3" id="3"/>
          <p:cNvSpPr/>
          <p:nvPr/>
        </p:nvSpPr>
        <p:spPr>
          <a:xfrm flipH="false" flipV="false" rot="0">
            <a:off x="1174973" y="1357117"/>
            <a:ext cx="9465958" cy="7572766"/>
          </a:xfrm>
          <a:custGeom>
            <a:avLst/>
            <a:gdLst/>
            <a:ahLst/>
            <a:cxnLst/>
            <a:rect r="r" b="b" t="t" l="l"/>
            <a:pathLst>
              <a:path h="7572766" w="9465958">
                <a:moveTo>
                  <a:pt x="0" y="0"/>
                </a:moveTo>
                <a:lnTo>
                  <a:pt x="9465958" y="0"/>
                </a:lnTo>
                <a:lnTo>
                  <a:pt x="9465958" y="7572766"/>
                </a:lnTo>
                <a:lnTo>
                  <a:pt x="0" y="757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70336" y="9503317"/>
            <a:ext cx="19527875" cy="3086100"/>
            <a:chOff x="0" y="0"/>
            <a:chExt cx="5143144" cy="812800"/>
          </a:xfrm>
        </p:grpSpPr>
        <p:sp>
          <p:nvSpPr>
            <p:cNvPr name="Freeform 5" id="5"/>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6" id="6"/>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7" id="7"/>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0747059" y="1357117"/>
            <a:ext cx="7105894" cy="8146200"/>
          </a:xfrm>
          <a:custGeom>
            <a:avLst/>
            <a:gdLst/>
            <a:ahLst/>
            <a:cxnLst/>
            <a:rect r="r" b="b" t="t" l="l"/>
            <a:pathLst>
              <a:path h="8146200" w="7105894">
                <a:moveTo>
                  <a:pt x="0" y="0"/>
                </a:moveTo>
                <a:lnTo>
                  <a:pt x="7105894" y="0"/>
                </a:lnTo>
                <a:lnTo>
                  <a:pt x="7105894" y="8146200"/>
                </a:lnTo>
                <a:lnTo>
                  <a:pt x="0" y="8146200"/>
                </a:lnTo>
                <a:lnTo>
                  <a:pt x="0" y="0"/>
                </a:lnTo>
                <a:close/>
              </a:path>
            </a:pathLst>
          </a:custGeom>
          <a:blipFill>
            <a:blip r:embed="rId9"/>
            <a:stretch>
              <a:fillRect l="-2109" t="0" r="-2109" b="0"/>
            </a:stretch>
          </a:blipFill>
        </p:spPr>
      </p:sp>
      <p:sp>
        <p:nvSpPr>
          <p:cNvPr name="TextBox 12" id="12"/>
          <p:cNvSpPr txBox="true"/>
          <p:nvPr/>
        </p:nvSpPr>
        <p:spPr>
          <a:xfrm rot="0">
            <a:off x="1977842" y="3419963"/>
            <a:ext cx="7697580" cy="1572537"/>
          </a:xfrm>
          <a:prstGeom prst="rect">
            <a:avLst/>
          </a:prstGeom>
        </p:spPr>
        <p:txBody>
          <a:bodyPr anchor="t" rtlCol="false" tIns="0" lIns="0" bIns="0" rIns="0">
            <a:spAutoFit/>
          </a:bodyPr>
          <a:lstStyle/>
          <a:p>
            <a:pPr algn="l">
              <a:lnSpc>
                <a:spcPts val="11054"/>
              </a:lnSpc>
            </a:pPr>
            <a:r>
              <a:rPr lang="en-US" sz="10945" b="true">
                <a:solidFill>
                  <a:srgbClr val="16456A"/>
                </a:solidFill>
                <a:latin typeface="Poppins Bold"/>
                <a:ea typeface="Poppins Bold"/>
                <a:cs typeface="Poppins Bold"/>
                <a:sym typeface="Poppins Bold"/>
              </a:rPr>
              <a:t>MVC</a:t>
            </a:r>
          </a:p>
        </p:txBody>
      </p:sp>
      <p:sp>
        <p:nvSpPr>
          <p:cNvPr name="TextBox 13" id="13"/>
          <p:cNvSpPr txBox="true"/>
          <p:nvPr/>
        </p:nvSpPr>
        <p:spPr>
          <a:xfrm rot="0">
            <a:off x="2521071" y="1693221"/>
            <a:ext cx="3386881" cy="297674"/>
          </a:xfrm>
          <a:prstGeom prst="rect">
            <a:avLst/>
          </a:prstGeom>
        </p:spPr>
        <p:txBody>
          <a:bodyPr anchor="t" rtlCol="false" tIns="0" lIns="0" bIns="0" rIns="0">
            <a:spAutoFit/>
          </a:bodyPr>
          <a:lstStyle/>
          <a:p>
            <a:pPr algn="l">
              <a:lnSpc>
                <a:spcPts val="2099"/>
              </a:lnSpc>
            </a:pPr>
            <a:r>
              <a:rPr lang="en-US" sz="2078" b="true">
                <a:solidFill>
                  <a:srgbClr val="FFFFFF"/>
                </a:solidFill>
                <a:latin typeface="Poppins Bold"/>
                <a:ea typeface="Poppins Bold"/>
                <a:cs typeface="Poppins Bold"/>
                <a:sym typeface="Poppins Bold"/>
              </a:rPr>
              <a:t>SE Course Presentation</a:t>
            </a:r>
          </a:p>
        </p:txBody>
      </p:sp>
      <p:sp>
        <p:nvSpPr>
          <p:cNvPr name="TextBox 14" id="14"/>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001</a:t>
            </a:r>
          </a:p>
        </p:txBody>
      </p:sp>
      <p:sp>
        <p:nvSpPr>
          <p:cNvPr name="TextBox 15" id="15"/>
          <p:cNvSpPr txBox="true"/>
          <p:nvPr/>
        </p:nvSpPr>
        <p:spPr>
          <a:xfrm rot="0">
            <a:off x="1977842" y="5334967"/>
            <a:ext cx="7697580" cy="2159312"/>
          </a:xfrm>
          <a:prstGeom prst="rect">
            <a:avLst/>
          </a:prstGeom>
        </p:spPr>
        <p:txBody>
          <a:bodyPr anchor="t" rtlCol="false" tIns="0" lIns="0" bIns="0" rIns="0">
            <a:spAutoFit/>
          </a:bodyPr>
          <a:lstStyle/>
          <a:p>
            <a:pPr algn="l">
              <a:lnSpc>
                <a:spcPts val="4246"/>
              </a:lnSpc>
            </a:pPr>
            <a:r>
              <a:rPr lang="en-US" sz="3033">
                <a:solidFill>
                  <a:srgbClr val="16456A"/>
                </a:solidFill>
                <a:latin typeface="Poppins"/>
                <a:ea typeface="Poppins"/>
                <a:cs typeface="Poppins"/>
                <a:sym typeface="Poppins"/>
              </a:rPr>
              <a:t>- What is MVC</a:t>
            </a:r>
          </a:p>
          <a:p>
            <a:pPr algn="l">
              <a:lnSpc>
                <a:spcPts val="4246"/>
              </a:lnSpc>
            </a:pPr>
            <a:r>
              <a:rPr lang="en-US" sz="3033">
                <a:solidFill>
                  <a:srgbClr val="16456A"/>
                </a:solidFill>
                <a:latin typeface="Poppins"/>
                <a:ea typeface="Poppins"/>
                <a:cs typeface="Poppins"/>
                <a:sym typeface="Poppins"/>
              </a:rPr>
              <a:t>- Why it is useful </a:t>
            </a:r>
          </a:p>
          <a:p>
            <a:pPr algn="l">
              <a:lnSpc>
                <a:spcPts val="4246"/>
              </a:lnSpc>
            </a:pPr>
            <a:r>
              <a:rPr lang="en-US" sz="3033">
                <a:solidFill>
                  <a:srgbClr val="16456A"/>
                </a:solidFill>
                <a:latin typeface="Poppins"/>
                <a:ea typeface="Poppins"/>
                <a:cs typeface="Poppins"/>
                <a:sym typeface="Poppins"/>
              </a:rPr>
              <a:t>- Examples </a:t>
            </a:r>
          </a:p>
          <a:p>
            <a:pPr algn="l">
              <a:lnSpc>
                <a:spcPts val="4246"/>
              </a:lnSpc>
            </a:pPr>
            <a:r>
              <a:rPr lang="en-US" sz="3033">
                <a:solidFill>
                  <a:srgbClr val="16456A"/>
                </a:solidFill>
                <a:latin typeface="Poppins"/>
                <a:ea typeface="Poppins"/>
                <a:cs typeface="Poppins"/>
                <a:sym typeface="Poppins"/>
              </a:rPr>
              <a:t>- Advantages and disadvantages </a:t>
            </a:r>
          </a:p>
        </p:txBody>
      </p:sp>
      <p:sp>
        <p:nvSpPr>
          <p:cNvPr name="TextBox 16" id="16"/>
          <p:cNvSpPr txBox="true"/>
          <p:nvPr/>
        </p:nvSpPr>
        <p:spPr>
          <a:xfrm rot="0">
            <a:off x="1977842" y="7951479"/>
            <a:ext cx="3930110" cy="830810"/>
          </a:xfrm>
          <a:prstGeom prst="rect">
            <a:avLst/>
          </a:prstGeom>
        </p:spPr>
        <p:txBody>
          <a:bodyPr anchor="t" rtlCol="false" tIns="0" lIns="0" bIns="0" rIns="0">
            <a:spAutoFit/>
          </a:bodyPr>
          <a:lstStyle/>
          <a:p>
            <a:pPr algn="l">
              <a:lnSpc>
                <a:spcPts val="2099"/>
              </a:lnSpc>
            </a:pPr>
            <a:r>
              <a:rPr lang="en-US" sz="2078" b="true">
                <a:solidFill>
                  <a:srgbClr val="FFFFFF"/>
                </a:solidFill>
                <a:latin typeface="Poppins Bold"/>
                <a:ea typeface="Poppins Bold"/>
                <a:cs typeface="Poppins Bold"/>
                <a:sym typeface="Poppins Bold"/>
              </a:rPr>
              <a:t>Mohammad Ali - 2023</a:t>
            </a:r>
          </a:p>
          <a:p>
            <a:pPr algn="l">
              <a:lnSpc>
                <a:spcPts val="2099"/>
              </a:lnSpc>
            </a:pPr>
            <a:r>
              <a:rPr lang="en-US" sz="2078" b="true">
                <a:solidFill>
                  <a:srgbClr val="FFFFFF"/>
                </a:solidFill>
                <a:latin typeface="Poppins Bold"/>
                <a:ea typeface="Poppins Bold"/>
                <a:cs typeface="Poppins Bold"/>
                <a:sym typeface="Poppins Bold"/>
              </a:rPr>
              <a:t>Abdullah Waheed - 2023048</a:t>
            </a:r>
          </a:p>
          <a:p>
            <a:pPr algn="l">
              <a:lnSpc>
                <a:spcPts val="2099"/>
              </a:lnSpc>
            </a:pPr>
            <a:r>
              <a:rPr lang="en-US" sz="2078" b="true">
                <a:solidFill>
                  <a:srgbClr val="FFFFFF"/>
                </a:solidFill>
                <a:latin typeface="Poppins Bold"/>
                <a:ea typeface="Poppins Bold"/>
                <a:cs typeface="Poppins Bold"/>
                <a:sym typeface="Poppins Bold"/>
              </a:rPr>
              <a:t>Rafay Akram - 2023491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28700" y="3669238"/>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002</a:t>
            </a:r>
          </a:p>
        </p:txBody>
      </p:sp>
      <p:sp>
        <p:nvSpPr>
          <p:cNvPr name="TextBox 9" id="9"/>
          <p:cNvSpPr txBox="true"/>
          <p:nvPr/>
        </p:nvSpPr>
        <p:spPr>
          <a:xfrm rot="0">
            <a:off x="1028700" y="1095375"/>
            <a:ext cx="9763937"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Understanding MVC</a:t>
            </a:r>
          </a:p>
        </p:txBody>
      </p:sp>
      <p:sp>
        <p:nvSpPr>
          <p:cNvPr name="TextBox 10" id="10"/>
          <p:cNvSpPr txBox="true"/>
          <p:nvPr/>
        </p:nvSpPr>
        <p:spPr>
          <a:xfrm rot="0">
            <a:off x="1958142" y="3697813"/>
            <a:ext cx="15046239" cy="1967449"/>
          </a:xfrm>
          <a:prstGeom prst="rect">
            <a:avLst/>
          </a:prstGeom>
        </p:spPr>
        <p:txBody>
          <a:bodyPr anchor="t" rtlCol="false" tIns="0" lIns="0" bIns="0" rIns="0">
            <a:spAutoFit/>
          </a:bodyPr>
          <a:lstStyle/>
          <a:p>
            <a:pPr algn="l">
              <a:lnSpc>
                <a:spcPts val="3809"/>
              </a:lnSpc>
            </a:pPr>
            <a:r>
              <a:rPr lang="en-US" sz="3772">
                <a:solidFill>
                  <a:srgbClr val="141223"/>
                </a:solidFill>
                <a:latin typeface="Poppins"/>
                <a:ea typeface="Poppins"/>
                <a:cs typeface="Poppins"/>
                <a:sym typeface="Poppins"/>
              </a:rPr>
              <a:t>MVC is an Architectural Design Pattern. It is not a programming language; it is a way of organizing code. It forces you to separate your code into three distinct sections so that the files don't get messy. </a:t>
            </a:r>
          </a:p>
        </p:txBody>
      </p:sp>
      <p:sp>
        <p:nvSpPr>
          <p:cNvPr name="TextBox 11" id="11"/>
          <p:cNvSpPr txBox="true"/>
          <p:nvPr/>
        </p:nvSpPr>
        <p:spPr>
          <a:xfrm rot="0">
            <a:off x="1797864" y="2678780"/>
            <a:ext cx="3857542" cy="572135"/>
          </a:xfrm>
          <a:prstGeom prst="rect">
            <a:avLst/>
          </a:prstGeom>
        </p:spPr>
        <p:txBody>
          <a:bodyPr anchor="t" rtlCol="false" tIns="0" lIns="0" bIns="0" rIns="0">
            <a:spAutoFit/>
          </a:bodyPr>
          <a:lstStyle/>
          <a:p>
            <a:pPr algn="l">
              <a:lnSpc>
                <a:spcPts val="4013"/>
              </a:lnSpc>
            </a:pPr>
            <a:r>
              <a:rPr lang="en-US" sz="3973" b="true">
                <a:solidFill>
                  <a:srgbClr val="1C0140"/>
                </a:solidFill>
                <a:latin typeface="Poppins Bold"/>
                <a:ea typeface="Poppins Bold"/>
                <a:cs typeface="Poppins Bold"/>
                <a:sym typeface="Poppins Bold"/>
              </a:rPr>
              <a:t>What is MVC</a:t>
            </a:r>
          </a:p>
        </p:txBody>
      </p:sp>
      <p:sp>
        <p:nvSpPr>
          <p:cNvPr name="TextBox 12" id="12"/>
          <p:cNvSpPr txBox="true"/>
          <p:nvPr/>
        </p:nvSpPr>
        <p:spPr>
          <a:xfrm rot="0">
            <a:off x="1958142" y="6255812"/>
            <a:ext cx="15046239" cy="1967449"/>
          </a:xfrm>
          <a:prstGeom prst="rect">
            <a:avLst/>
          </a:prstGeom>
        </p:spPr>
        <p:txBody>
          <a:bodyPr anchor="t" rtlCol="false" tIns="0" lIns="0" bIns="0" rIns="0">
            <a:spAutoFit/>
          </a:bodyPr>
          <a:lstStyle/>
          <a:p>
            <a:pPr algn="l">
              <a:lnSpc>
                <a:spcPts val="3809"/>
              </a:lnSpc>
            </a:pPr>
            <a:r>
              <a:rPr lang="en-US" sz="3772">
                <a:solidFill>
                  <a:srgbClr val="141223"/>
                </a:solidFill>
                <a:latin typeface="Poppins"/>
                <a:ea typeface="Poppins"/>
                <a:cs typeface="Poppins"/>
                <a:sym typeface="Poppins"/>
              </a:rPr>
              <a:t>Used mainly in the development of Web applications, Desktop applications as well as mobile application, the MVC architecture model separates the presentation layer of the software application from the business logic layer.</a:t>
            </a:r>
          </a:p>
        </p:txBody>
      </p:sp>
      <p:sp>
        <p:nvSpPr>
          <p:cNvPr name="Freeform 13" id="13"/>
          <p:cNvSpPr/>
          <p:nvPr/>
        </p:nvSpPr>
        <p:spPr>
          <a:xfrm flipH="false" flipV="false" rot="0">
            <a:off x="1028700" y="6420256"/>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28700" y="2149053"/>
            <a:ext cx="13621119" cy="7109247"/>
          </a:xfrm>
          <a:custGeom>
            <a:avLst/>
            <a:gdLst/>
            <a:ahLst/>
            <a:cxnLst/>
            <a:rect r="r" b="b" t="t" l="l"/>
            <a:pathLst>
              <a:path h="7109247" w="13621119">
                <a:moveTo>
                  <a:pt x="0" y="0"/>
                </a:moveTo>
                <a:lnTo>
                  <a:pt x="13621119" y="0"/>
                </a:lnTo>
                <a:lnTo>
                  <a:pt x="13621119" y="7109247"/>
                </a:lnTo>
                <a:lnTo>
                  <a:pt x="0" y="7109247"/>
                </a:lnTo>
                <a:lnTo>
                  <a:pt x="0" y="0"/>
                </a:lnTo>
                <a:close/>
              </a:path>
            </a:pathLst>
          </a:custGeom>
          <a:blipFill>
            <a:blip r:embed="rId5"/>
            <a:stretch>
              <a:fillRect l="-1059" t="-2884" r="0" b="-2884"/>
            </a:stretch>
          </a:blipFill>
        </p:spPr>
      </p:sp>
      <p:sp>
        <p:nvSpPr>
          <p:cNvPr name="TextBox 8" id="8"/>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003</a:t>
            </a:r>
          </a:p>
        </p:txBody>
      </p:sp>
      <p:sp>
        <p:nvSpPr>
          <p:cNvPr name="TextBox 9" id="9"/>
          <p:cNvSpPr txBox="true"/>
          <p:nvPr/>
        </p:nvSpPr>
        <p:spPr>
          <a:xfrm rot="0">
            <a:off x="1028700" y="1095375"/>
            <a:ext cx="80652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MVC Codebase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30121" y="2511127"/>
            <a:ext cx="385068" cy="385068"/>
          </a:xfrm>
          <a:custGeom>
            <a:avLst/>
            <a:gdLst/>
            <a:ahLst/>
            <a:cxnLst/>
            <a:rect r="r" b="b" t="t" l="l"/>
            <a:pathLst>
              <a:path h="385068" w="385068">
                <a:moveTo>
                  <a:pt x="0" y="0"/>
                </a:moveTo>
                <a:lnTo>
                  <a:pt x="385069" y="0"/>
                </a:lnTo>
                <a:lnTo>
                  <a:pt x="385069" y="385069"/>
                </a:lnTo>
                <a:lnTo>
                  <a:pt x="0" y="3850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004</a:t>
            </a:r>
          </a:p>
        </p:txBody>
      </p:sp>
      <p:sp>
        <p:nvSpPr>
          <p:cNvPr name="TextBox 8" id="8"/>
          <p:cNvSpPr txBox="true"/>
          <p:nvPr/>
        </p:nvSpPr>
        <p:spPr>
          <a:xfrm rot="0">
            <a:off x="1028700" y="1095375"/>
            <a:ext cx="9763937"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 MVC BreakDown</a:t>
            </a:r>
          </a:p>
        </p:txBody>
      </p:sp>
      <p:sp>
        <p:nvSpPr>
          <p:cNvPr name="TextBox 9" id="9"/>
          <p:cNvSpPr txBox="true"/>
          <p:nvPr/>
        </p:nvSpPr>
        <p:spPr>
          <a:xfrm rot="0">
            <a:off x="1772988" y="2461597"/>
            <a:ext cx="15046239" cy="5777449"/>
          </a:xfrm>
          <a:prstGeom prst="rect">
            <a:avLst/>
          </a:prstGeom>
        </p:spPr>
        <p:txBody>
          <a:bodyPr anchor="t" rtlCol="false" tIns="0" lIns="0" bIns="0" rIns="0">
            <a:spAutoFit/>
          </a:bodyPr>
          <a:lstStyle/>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M - Model (The Data &amp; Logic)</a:t>
            </a:r>
            <a:r>
              <a:rPr lang="en-US" sz="3772">
                <a:solidFill>
                  <a:srgbClr val="141223"/>
                </a:solidFill>
                <a:latin typeface="Poppins"/>
                <a:ea typeface="Poppins"/>
                <a:cs typeface="Poppins"/>
                <a:sym typeface="Poppins"/>
              </a:rPr>
              <a:t>: This represents the data structure. It manages the data, logic, and rules of the application. It talks to the database.</a:t>
            </a:r>
          </a:p>
          <a:p>
            <a:pPr algn="l">
              <a:lnSpc>
                <a:spcPts val="3809"/>
              </a:lnSpc>
            </a:pPr>
          </a:p>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V - View (The User Interface):</a:t>
            </a:r>
            <a:r>
              <a:rPr lang="en-US" sz="3772">
                <a:solidFill>
                  <a:srgbClr val="141223"/>
                </a:solidFill>
                <a:latin typeface="Poppins"/>
                <a:ea typeface="Poppins"/>
                <a:cs typeface="Poppins"/>
                <a:sym typeface="Poppins"/>
              </a:rPr>
              <a:t> This is what the user sees. It displays data. It contains no logic (it shouldn't calculate things, just show them).</a:t>
            </a:r>
          </a:p>
          <a:p>
            <a:pPr algn="l">
              <a:lnSpc>
                <a:spcPts val="3809"/>
              </a:lnSpc>
            </a:pPr>
          </a:p>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C - Controller (The Coordinator): </a:t>
            </a:r>
            <a:r>
              <a:rPr lang="en-US" sz="3772">
                <a:solidFill>
                  <a:srgbClr val="141223"/>
                </a:solidFill>
                <a:latin typeface="Poppins"/>
                <a:ea typeface="Poppins"/>
                <a:cs typeface="Poppins"/>
                <a:sym typeface="Poppins"/>
              </a:rPr>
              <a:t>The intermediary. It listens to the user (inputs), tells the Model what to do, and then tells the View what to show.</a:t>
            </a:r>
          </a:p>
          <a:p>
            <a:pPr algn="l">
              <a:lnSpc>
                <a:spcPts val="3809"/>
              </a:lnSpc>
            </a:pPr>
          </a:p>
        </p:txBody>
      </p:sp>
      <p:sp>
        <p:nvSpPr>
          <p:cNvPr name="Freeform 10" id="10"/>
          <p:cNvSpPr/>
          <p:nvPr/>
        </p:nvSpPr>
        <p:spPr>
          <a:xfrm flipH="false" flipV="false" rot="0">
            <a:off x="1174973" y="4388530"/>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30121" y="6265933"/>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738705" y="2674913"/>
            <a:ext cx="11431247" cy="6246450"/>
          </a:xfrm>
          <a:custGeom>
            <a:avLst/>
            <a:gdLst/>
            <a:ahLst/>
            <a:cxnLst/>
            <a:rect r="r" b="b" t="t" l="l"/>
            <a:pathLst>
              <a:path h="6246450" w="11431247">
                <a:moveTo>
                  <a:pt x="0" y="0"/>
                </a:moveTo>
                <a:lnTo>
                  <a:pt x="11431247" y="0"/>
                </a:lnTo>
                <a:lnTo>
                  <a:pt x="11431247" y="6246450"/>
                </a:lnTo>
                <a:lnTo>
                  <a:pt x="0" y="6246450"/>
                </a:lnTo>
                <a:lnTo>
                  <a:pt x="0" y="0"/>
                </a:lnTo>
                <a:close/>
              </a:path>
            </a:pathLst>
          </a:custGeom>
          <a:blipFill>
            <a:blip r:embed="rId5"/>
            <a:stretch>
              <a:fillRect l="-4643" t="0" r="-4643" b="0"/>
            </a:stretch>
          </a:blipFill>
        </p:spPr>
      </p:sp>
      <p:sp>
        <p:nvSpPr>
          <p:cNvPr name="Freeform 8" id="8"/>
          <p:cNvSpPr/>
          <p:nvPr/>
        </p:nvSpPr>
        <p:spPr>
          <a:xfrm flipH="false" flipV="false" rot="0">
            <a:off x="12500842" y="2674913"/>
            <a:ext cx="5568928" cy="6125821"/>
          </a:xfrm>
          <a:custGeom>
            <a:avLst/>
            <a:gdLst/>
            <a:ahLst/>
            <a:cxnLst/>
            <a:rect r="r" b="b" t="t" l="l"/>
            <a:pathLst>
              <a:path h="6125821" w="5568928">
                <a:moveTo>
                  <a:pt x="0" y="0"/>
                </a:moveTo>
                <a:lnTo>
                  <a:pt x="5568928" y="0"/>
                </a:lnTo>
                <a:lnTo>
                  <a:pt x="5568928" y="6125821"/>
                </a:lnTo>
                <a:lnTo>
                  <a:pt x="0" y="6125821"/>
                </a:lnTo>
                <a:lnTo>
                  <a:pt x="0" y="0"/>
                </a:lnTo>
                <a:close/>
              </a:path>
            </a:pathLst>
          </a:custGeom>
          <a:blipFill>
            <a:blip r:embed="rId6"/>
            <a:stretch>
              <a:fillRect l="0" t="0" r="0" b="0"/>
            </a:stretch>
          </a:blipFill>
        </p:spPr>
      </p:sp>
      <p:sp>
        <p:nvSpPr>
          <p:cNvPr name="TextBox 9" id="9"/>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005</a:t>
            </a:r>
          </a:p>
        </p:txBody>
      </p:sp>
      <p:sp>
        <p:nvSpPr>
          <p:cNvPr name="TextBox 10" id="10"/>
          <p:cNvSpPr txBox="true"/>
          <p:nvPr/>
        </p:nvSpPr>
        <p:spPr>
          <a:xfrm rot="0">
            <a:off x="1028700" y="1095375"/>
            <a:ext cx="10712401"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MVC Cycle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38" y="2729387"/>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006</a:t>
            </a:r>
          </a:p>
        </p:txBody>
      </p:sp>
      <p:sp>
        <p:nvSpPr>
          <p:cNvPr name="TextBox 8" id="8"/>
          <p:cNvSpPr txBox="true"/>
          <p:nvPr/>
        </p:nvSpPr>
        <p:spPr>
          <a:xfrm rot="0">
            <a:off x="1028700" y="1095375"/>
            <a:ext cx="1392763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Analogy to Understand MVC</a:t>
            </a:r>
          </a:p>
        </p:txBody>
      </p:sp>
      <p:sp>
        <p:nvSpPr>
          <p:cNvPr name="TextBox 9" id="9"/>
          <p:cNvSpPr txBox="true"/>
          <p:nvPr/>
        </p:nvSpPr>
        <p:spPr>
          <a:xfrm rot="0">
            <a:off x="1455072" y="3545409"/>
            <a:ext cx="16259503" cy="5777449"/>
          </a:xfrm>
          <a:prstGeom prst="rect">
            <a:avLst/>
          </a:prstGeom>
        </p:spPr>
        <p:txBody>
          <a:bodyPr anchor="t" rtlCol="false" tIns="0" lIns="0" bIns="0" rIns="0">
            <a:spAutoFit/>
          </a:bodyPr>
          <a:lstStyle/>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The User:</a:t>
            </a:r>
            <a:r>
              <a:rPr lang="en-US" sz="3772">
                <a:solidFill>
                  <a:srgbClr val="141223"/>
                </a:solidFill>
                <a:latin typeface="Poppins"/>
                <a:ea typeface="Poppins"/>
                <a:cs typeface="Poppins"/>
                <a:sym typeface="Poppins"/>
              </a:rPr>
              <a:t> The Customer.</a:t>
            </a:r>
          </a:p>
          <a:p>
            <a:pPr algn="l">
              <a:lnSpc>
                <a:spcPts val="3809"/>
              </a:lnSpc>
            </a:pPr>
          </a:p>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The View:</a:t>
            </a:r>
            <a:r>
              <a:rPr lang="en-US" sz="3772">
                <a:solidFill>
                  <a:srgbClr val="141223"/>
                </a:solidFill>
                <a:latin typeface="Poppins"/>
                <a:ea typeface="Poppins"/>
                <a:cs typeface="Poppins"/>
                <a:sym typeface="Poppins"/>
              </a:rPr>
              <a:t> The Menu (and the food when it arrives). It’s what you look at.</a:t>
            </a:r>
          </a:p>
          <a:p>
            <a:pPr algn="l">
              <a:lnSpc>
                <a:spcPts val="3809"/>
              </a:lnSpc>
            </a:pPr>
          </a:p>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The Controller:</a:t>
            </a:r>
            <a:r>
              <a:rPr lang="en-US" sz="3772">
                <a:solidFill>
                  <a:srgbClr val="141223"/>
                </a:solidFill>
                <a:latin typeface="Poppins"/>
                <a:ea typeface="Poppins"/>
                <a:cs typeface="Poppins"/>
                <a:sym typeface="Poppins"/>
              </a:rPr>
              <a:t> The Waiter. You give them instructions. They don't cook the food; they just take your order to the kitchen and bring the food back.</a:t>
            </a:r>
          </a:p>
          <a:p>
            <a:pPr algn="l">
              <a:lnSpc>
                <a:spcPts val="3809"/>
              </a:lnSpc>
            </a:pPr>
          </a:p>
          <a:p>
            <a:pPr algn="l" marL="814428" indent="-407214" lvl="1">
              <a:lnSpc>
                <a:spcPts val="3809"/>
              </a:lnSpc>
              <a:buFont typeface="Arial"/>
              <a:buChar char="•"/>
            </a:pPr>
            <a:r>
              <a:rPr lang="en-US" b="true" sz="3772">
                <a:solidFill>
                  <a:srgbClr val="141223"/>
                </a:solidFill>
                <a:latin typeface="Poppins Bold"/>
                <a:ea typeface="Poppins Bold"/>
                <a:cs typeface="Poppins Bold"/>
                <a:sym typeface="Poppins Bold"/>
              </a:rPr>
              <a:t>The Model:</a:t>
            </a:r>
            <a:r>
              <a:rPr lang="en-US" sz="3772">
                <a:solidFill>
                  <a:srgbClr val="141223"/>
                </a:solidFill>
                <a:latin typeface="Poppins"/>
                <a:ea typeface="Poppins"/>
                <a:cs typeface="Poppins"/>
                <a:sym typeface="Poppins"/>
              </a:rPr>
              <a:t> The Kitchen (Chefs, Ingredients). This is where the raw work happens. The customer never sees the kitchen.</a:t>
            </a:r>
          </a:p>
          <a:p>
            <a:pPr algn="l">
              <a:lnSpc>
                <a:spcPts val="3809"/>
              </a:lnSpc>
            </a:pPr>
          </a:p>
        </p:txBody>
      </p:sp>
      <p:sp>
        <p:nvSpPr>
          <p:cNvPr name="TextBox 10" id="10"/>
          <p:cNvSpPr txBox="true"/>
          <p:nvPr/>
        </p:nvSpPr>
        <p:spPr>
          <a:xfrm rot="0">
            <a:off x="1797864" y="2678780"/>
            <a:ext cx="3857542" cy="572135"/>
          </a:xfrm>
          <a:prstGeom prst="rect">
            <a:avLst/>
          </a:prstGeom>
        </p:spPr>
        <p:txBody>
          <a:bodyPr anchor="t" rtlCol="false" tIns="0" lIns="0" bIns="0" rIns="0">
            <a:spAutoFit/>
          </a:bodyPr>
          <a:lstStyle/>
          <a:p>
            <a:pPr algn="l">
              <a:lnSpc>
                <a:spcPts val="4013"/>
              </a:lnSpc>
            </a:pPr>
            <a:r>
              <a:rPr lang="en-US" sz="3973" b="true">
                <a:solidFill>
                  <a:srgbClr val="1C0140"/>
                </a:solidFill>
                <a:latin typeface="Poppins Bold"/>
                <a:ea typeface="Poppins Bold"/>
                <a:cs typeface="Poppins Bold"/>
                <a:sym typeface="Poppins Bold"/>
              </a:rPr>
              <a:t> Resturant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5958041" y="2317275"/>
            <a:ext cx="11301259" cy="6173313"/>
          </a:xfrm>
          <a:custGeom>
            <a:avLst/>
            <a:gdLst/>
            <a:ahLst/>
            <a:cxnLst/>
            <a:rect r="r" b="b" t="t" l="l"/>
            <a:pathLst>
              <a:path h="6173313" w="11301259">
                <a:moveTo>
                  <a:pt x="0" y="0"/>
                </a:moveTo>
                <a:lnTo>
                  <a:pt x="11301259" y="0"/>
                </a:lnTo>
                <a:lnTo>
                  <a:pt x="11301259" y="6173313"/>
                </a:lnTo>
                <a:lnTo>
                  <a:pt x="0" y="6173313"/>
                </a:lnTo>
                <a:lnTo>
                  <a:pt x="0" y="0"/>
                </a:lnTo>
                <a:close/>
              </a:path>
            </a:pathLst>
          </a:custGeom>
          <a:blipFill>
            <a:blip r:embed="rId5"/>
            <a:stretch>
              <a:fillRect l="0" t="0" r="0" b="0"/>
            </a:stretch>
          </a:blipFill>
        </p:spPr>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007</a:t>
            </a:r>
          </a:p>
        </p:txBody>
      </p:sp>
      <p:sp>
        <p:nvSpPr>
          <p:cNvPr name="TextBox 9" id="9"/>
          <p:cNvSpPr txBox="true"/>
          <p:nvPr/>
        </p:nvSpPr>
        <p:spPr>
          <a:xfrm rot="0">
            <a:off x="1028700" y="1095375"/>
            <a:ext cx="1522655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The Necessity of Modularization</a:t>
            </a:r>
          </a:p>
        </p:txBody>
      </p:sp>
      <p:sp>
        <p:nvSpPr>
          <p:cNvPr name="TextBox 10" id="10"/>
          <p:cNvSpPr txBox="true"/>
          <p:nvPr/>
        </p:nvSpPr>
        <p:spPr>
          <a:xfrm rot="0">
            <a:off x="174616" y="2713139"/>
            <a:ext cx="6118743" cy="5939909"/>
          </a:xfrm>
          <a:prstGeom prst="rect">
            <a:avLst/>
          </a:prstGeom>
        </p:spPr>
        <p:txBody>
          <a:bodyPr anchor="t" rtlCol="false" tIns="0" lIns="0" bIns="0" rIns="0">
            <a:spAutoFit/>
          </a:bodyPr>
          <a:lstStyle/>
          <a:p>
            <a:pPr algn="l" marL="904434" indent="-452217" lvl="1">
              <a:lnSpc>
                <a:spcPts val="4231"/>
              </a:lnSpc>
              <a:buFont typeface="Arial"/>
              <a:buChar char="•"/>
            </a:pPr>
            <a:r>
              <a:rPr lang="en-US" b="true" sz="4189">
                <a:solidFill>
                  <a:srgbClr val="141223"/>
                </a:solidFill>
                <a:latin typeface="Poppins Bold"/>
                <a:ea typeface="Poppins Bold"/>
                <a:cs typeface="Poppins Bold"/>
                <a:sym typeface="Poppins Bold"/>
              </a:rPr>
              <a:t>Spaghetti Code: </a:t>
            </a:r>
            <a:r>
              <a:rPr lang="en-US" sz="4189">
                <a:solidFill>
                  <a:srgbClr val="141223"/>
                </a:solidFill>
                <a:latin typeface="Poppins"/>
                <a:ea typeface="Poppins"/>
                <a:cs typeface="Poppins"/>
                <a:sym typeface="Poppins"/>
              </a:rPr>
              <a:t>Hard to debug, impossible to maintain.</a:t>
            </a:r>
          </a:p>
          <a:p>
            <a:pPr algn="l" marL="904434" indent="-452217" lvl="1">
              <a:lnSpc>
                <a:spcPts val="4231"/>
              </a:lnSpc>
              <a:buFont typeface="Arial"/>
              <a:buChar char="•"/>
            </a:pPr>
            <a:r>
              <a:rPr lang="en-US" b="true" sz="4189">
                <a:solidFill>
                  <a:srgbClr val="141223"/>
                </a:solidFill>
                <a:latin typeface="Poppins Bold"/>
                <a:ea typeface="Poppins Bold"/>
                <a:cs typeface="Poppins Bold"/>
                <a:sym typeface="Poppins Bold"/>
              </a:rPr>
              <a:t>Modularization: </a:t>
            </a:r>
            <a:r>
              <a:rPr lang="en-US" sz="4189">
                <a:solidFill>
                  <a:srgbClr val="141223"/>
                </a:solidFill>
                <a:latin typeface="Poppins"/>
                <a:ea typeface="Poppins"/>
                <a:cs typeface="Poppins"/>
                <a:sym typeface="Poppins"/>
              </a:rPr>
              <a:t>Separation of Concerns.</a:t>
            </a:r>
          </a:p>
          <a:p>
            <a:pPr algn="l" marL="904434" indent="-452217" lvl="1">
              <a:lnSpc>
                <a:spcPts val="4231"/>
              </a:lnSpc>
              <a:buFont typeface="Arial"/>
              <a:buChar char="•"/>
            </a:pPr>
            <a:r>
              <a:rPr lang="en-US" b="true" sz="4189">
                <a:solidFill>
                  <a:srgbClr val="141223"/>
                </a:solidFill>
                <a:latin typeface="Poppins Bold"/>
                <a:ea typeface="Poppins Bold"/>
                <a:cs typeface="Poppins Bold"/>
                <a:sym typeface="Poppins Bold"/>
              </a:rPr>
              <a:t>G</a:t>
            </a:r>
            <a:r>
              <a:rPr lang="en-US" b="true" sz="4189">
                <a:solidFill>
                  <a:srgbClr val="141223"/>
                </a:solidFill>
                <a:latin typeface="Poppins Bold"/>
                <a:ea typeface="Poppins Bold"/>
                <a:cs typeface="Poppins Bold"/>
                <a:sym typeface="Poppins Bold"/>
              </a:rPr>
              <a:t>oal:                    </a:t>
            </a:r>
            <a:r>
              <a:rPr lang="en-US" sz="4189">
                <a:solidFill>
                  <a:srgbClr val="141223"/>
                </a:solidFill>
                <a:latin typeface="Poppins"/>
                <a:ea typeface="Poppins"/>
                <a:cs typeface="Poppins"/>
                <a:sym typeface="Poppins"/>
              </a:rPr>
              <a:t>Scalability &amp; Reusability.</a:t>
            </a:r>
          </a:p>
          <a:p>
            <a:pPr algn="l">
              <a:lnSpc>
                <a:spcPts val="4231"/>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9548407" y="2479735"/>
            <a:ext cx="8354913" cy="6173313"/>
          </a:xfrm>
          <a:custGeom>
            <a:avLst/>
            <a:gdLst/>
            <a:ahLst/>
            <a:cxnLst/>
            <a:rect r="r" b="b" t="t" l="l"/>
            <a:pathLst>
              <a:path h="6173313" w="8354913">
                <a:moveTo>
                  <a:pt x="0" y="0"/>
                </a:moveTo>
                <a:lnTo>
                  <a:pt x="8354913" y="0"/>
                </a:lnTo>
                <a:lnTo>
                  <a:pt x="8354913" y="6173313"/>
                </a:lnTo>
                <a:lnTo>
                  <a:pt x="0" y="6173313"/>
                </a:lnTo>
                <a:lnTo>
                  <a:pt x="0" y="0"/>
                </a:lnTo>
                <a:close/>
              </a:path>
            </a:pathLst>
          </a:custGeom>
          <a:blipFill>
            <a:blip r:embed="rId5"/>
            <a:stretch>
              <a:fillRect l="0" t="0" r="-35264" b="0"/>
            </a:stretch>
          </a:blipFill>
        </p:spPr>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008</a:t>
            </a:r>
          </a:p>
        </p:txBody>
      </p:sp>
      <p:sp>
        <p:nvSpPr>
          <p:cNvPr name="TextBox 9" id="9"/>
          <p:cNvSpPr txBox="true"/>
          <p:nvPr/>
        </p:nvSpPr>
        <p:spPr>
          <a:xfrm rot="0">
            <a:off x="1028700" y="1095375"/>
            <a:ext cx="1522655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 A Practical Approach</a:t>
            </a:r>
          </a:p>
        </p:txBody>
      </p:sp>
      <p:sp>
        <p:nvSpPr>
          <p:cNvPr name="TextBox 10" id="10"/>
          <p:cNvSpPr txBox="true"/>
          <p:nvPr/>
        </p:nvSpPr>
        <p:spPr>
          <a:xfrm rot="0">
            <a:off x="0" y="3001200"/>
            <a:ext cx="9612874" cy="5651847"/>
          </a:xfrm>
          <a:prstGeom prst="rect">
            <a:avLst/>
          </a:prstGeom>
        </p:spPr>
        <p:txBody>
          <a:bodyPr anchor="t" rtlCol="false" tIns="0" lIns="0" bIns="0" rIns="0">
            <a:spAutoFit/>
          </a:bodyPr>
          <a:lstStyle/>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UI Layer:</a:t>
            </a:r>
            <a:r>
              <a:rPr lang="en-US" sz="4870">
                <a:solidFill>
                  <a:srgbClr val="141223"/>
                </a:solidFill>
                <a:latin typeface="Poppins"/>
                <a:ea typeface="Poppins"/>
                <a:cs typeface="Poppins"/>
                <a:sym typeface="Poppins"/>
              </a:rPr>
              <a:t> The screens and widgets.</a:t>
            </a:r>
          </a:p>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Pr</a:t>
            </a:r>
            <a:r>
              <a:rPr lang="en-US" b="true" sz="4870">
                <a:solidFill>
                  <a:srgbClr val="141223"/>
                </a:solidFill>
                <a:latin typeface="Poppins Bold"/>
                <a:ea typeface="Poppins Bold"/>
                <a:cs typeface="Poppins Bold"/>
                <a:sym typeface="Poppins Bold"/>
              </a:rPr>
              <a:t>ovider Layer: </a:t>
            </a:r>
            <a:r>
              <a:rPr lang="en-US" sz="4870">
                <a:solidFill>
                  <a:srgbClr val="141223"/>
                </a:solidFill>
                <a:latin typeface="Poppins"/>
                <a:ea typeface="Poppins"/>
                <a:cs typeface="Poppins"/>
                <a:sym typeface="Poppins"/>
              </a:rPr>
              <a:t>State management &amp; logic.</a:t>
            </a:r>
          </a:p>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Service Layer:</a:t>
            </a:r>
            <a:r>
              <a:rPr lang="en-US" sz="4870">
                <a:solidFill>
                  <a:srgbClr val="141223"/>
                </a:solidFill>
                <a:latin typeface="Poppins"/>
                <a:ea typeface="Poppins"/>
                <a:cs typeface="Poppins"/>
                <a:sym typeface="Poppins"/>
              </a:rPr>
              <a:t> API &amp; Database calls.</a:t>
            </a:r>
          </a:p>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Data Classes:</a:t>
            </a:r>
            <a:r>
              <a:rPr lang="en-US" sz="4870">
                <a:solidFill>
                  <a:srgbClr val="141223"/>
                </a:solidFill>
                <a:latin typeface="Poppins"/>
                <a:ea typeface="Poppins"/>
                <a:cs typeface="Poppins"/>
                <a:sym typeface="Poppins"/>
              </a:rPr>
              <a:t> The structure of the data.</a:t>
            </a:r>
          </a:p>
          <a:p>
            <a:pPr algn="l">
              <a:lnSpc>
                <a:spcPts val="491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6986741" y="2149053"/>
            <a:ext cx="11301259" cy="6173313"/>
          </a:xfrm>
          <a:custGeom>
            <a:avLst/>
            <a:gdLst/>
            <a:ahLst/>
            <a:cxnLst/>
            <a:rect r="r" b="b" t="t" l="l"/>
            <a:pathLst>
              <a:path h="6173313" w="11301259">
                <a:moveTo>
                  <a:pt x="0" y="0"/>
                </a:moveTo>
                <a:lnTo>
                  <a:pt x="11301259" y="0"/>
                </a:lnTo>
                <a:lnTo>
                  <a:pt x="11301259" y="6173313"/>
                </a:lnTo>
                <a:lnTo>
                  <a:pt x="0" y="6173313"/>
                </a:lnTo>
                <a:lnTo>
                  <a:pt x="0" y="0"/>
                </a:lnTo>
                <a:close/>
              </a:path>
            </a:pathLst>
          </a:custGeom>
          <a:blipFill>
            <a:blip r:embed="rId5"/>
            <a:stretch>
              <a:fillRect l="0" t="0" r="0" b="0"/>
            </a:stretch>
          </a:blipFill>
        </p:spPr>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009</a:t>
            </a:r>
          </a:p>
        </p:txBody>
      </p:sp>
      <p:sp>
        <p:nvSpPr>
          <p:cNvPr name="TextBox 9" id="9"/>
          <p:cNvSpPr txBox="true"/>
          <p:nvPr/>
        </p:nvSpPr>
        <p:spPr>
          <a:xfrm rot="0">
            <a:off x="1028700" y="722843"/>
            <a:ext cx="1522655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 A Practical Approach</a:t>
            </a:r>
          </a:p>
        </p:txBody>
      </p:sp>
      <p:sp>
        <p:nvSpPr>
          <p:cNvPr name="TextBox 10" id="10"/>
          <p:cNvSpPr txBox="true"/>
          <p:nvPr/>
        </p:nvSpPr>
        <p:spPr>
          <a:xfrm rot="0">
            <a:off x="0" y="2196678"/>
            <a:ext cx="6986741" cy="6880286"/>
          </a:xfrm>
          <a:prstGeom prst="rect">
            <a:avLst/>
          </a:prstGeom>
        </p:spPr>
        <p:txBody>
          <a:bodyPr anchor="t" rtlCol="false" tIns="0" lIns="0" bIns="0" rIns="0">
            <a:spAutoFit/>
          </a:bodyPr>
          <a:lstStyle/>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View: </a:t>
            </a:r>
            <a:r>
              <a:rPr lang="en-US" sz="4870">
                <a:solidFill>
                  <a:srgbClr val="141223"/>
                </a:solidFill>
                <a:latin typeface="Poppins"/>
                <a:ea typeface="Poppins"/>
                <a:cs typeface="Poppins"/>
                <a:sym typeface="Poppins"/>
              </a:rPr>
              <a:t>Focuses purely on Design.</a:t>
            </a:r>
          </a:p>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Contr</a:t>
            </a:r>
            <a:r>
              <a:rPr lang="en-US" b="true" sz="4870">
                <a:solidFill>
                  <a:srgbClr val="141223"/>
                </a:solidFill>
                <a:latin typeface="Poppins Bold"/>
                <a:ea typeface="Poppins Bold"/>
                <a:cs typeface="Poppins Bold"/>
                <a:sym typeface="Poppins Bold"/>
              </a:rPr>
              <a:t>oller: </a:t>
            </a:r>
            <a:r>
              <a:rPr lang="en-US" sz="4870">
                <a:solidFill>
                  <a:srgbClr val="141223"/>
                </a:solidFill>
                <a:latin typeface="Poppins"/>
                <a:ea typeface="Poppins"/>
                <a:cs typeface="Poppins"/>
                <a:sym typeface="Poppins"/>
              </a:rPr>
              <a:t>Focuses purely on Logic.</a:t>
            </a:r>
          </a:p>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Mod</a:t>
            </a:r>
            <a:r>
              <a:rPr lang="en-US" b="true" sz="4870">
                <a:solidFill>
                  <a:srgbClr val="141223"/>
                </a:solidFill>
                <a:latin typeface="Poppins Bold"/>
                <a:ea typeface="Poppins Bold"/>
                <a:cs typeface="Poppins Bold"/>
                <a:sym typeface="Poppins Bold"/>
              </a:rPr>
              <a:t>el: </a:t>
            </a:r>
            <a:r>
              <a:rPr lang="en-US" sz="4870">
                <a:solidFill>
                  <a:srgbClr val="141223"/>
                </a:solidFill>
                <a:latin typeface="Poppins"/>
                <a:ea typeface="Poppins"/>
                <a:cs typeface="Poppins"/>
                <a:sym typeface="Poppins"/>
              </a:rPr>
              <a:t>Focuses purely on Data.</a:t>
            </a:r>
          </a:p>
          <a:p>
            <a:pPr algn="l" marL="1051638" indent="-525819" lvl="1">
              <a:lnSpc>
                <a:spcPts val="4919"/>
              </a:lnSpc>
              <a:buFont typeface="Arial"/>
              <a:buChar char="•"/>
            </a:pPr>
            <a:r>
              <a:rPr lang="en-US" b="true" sz="4870">
                <a:solidFill>
                  <a:srgbClr val="141223"/>
                </a:solidFill>
                <a:latin typeface="Poppins Bold"/>
                <a:ea typeface="Poppins Bold"/>
                <a:cs typeface="Poppins Bold"/>
                <a:sym typeface="Poppins Bold"/>
              </a:rPr>
              <a:t>R</a:t>
            </a:r>
            <a:r>
              <a:rPr lang="en-US" b="true" sz="4870">
                <a:solidFill>
                  <a:srgbClr val="141223"/>
                </a:solidFill>
                <a:latin typeface="Poppins Bold"/>
                <a:ea typeface="Poppins Bold"/>
                <a:cs typeface="Poppins Bold"/>
                <a:sym typeface="Poppins Bold"/>
              </a:rPr>
              <a:t>esult:</a:t>
            </a:r>
            <a:r>
              <a:rPr lang="en-US" sz="4870">
                <a:solidFill>
                  <a:srgbClr val="141223"/>
                </a:solidFill>
                <a:latin typeface="Poppins"/>
                <a:ea typeface="Poppins"/>
                <a:cs typeface="Poppins"/>
                <a:sym typeface="Poppins"/>
              </a:rPr>
              <a:t> Easy scaling &amp; instant debugging.</a:t>
            </a:r>
          </a:p>
          <a:p>
            <a:pPr algn="l">
              <a:lnSpc>
                <a:spcPts val="491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010</a:t>
            </a:r>
          </a:p>
        </p:txBody>
      </p:sp>
      <p:sp>
        <p:nvSpPr>
          <p:cNvPr name="TextBox 7" id="7"/>
          <p:cNvSpPr txBox="true"/>
          <p:nvPr/>
        </p:nvSpPr>
        <p:spPr>
          <a:xfrm rot="0">
            <a:off x="1028700" y="1095375"/>
            <a:ext cx="1392763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MVC Features</a:t>
            </a:r>
          </a:p>
        </p:txBody>
      </p:sp>
      <p:sp>
        <p:nvSpPr>
          <p:cNvPr name="TextBox 8" id="8"/>
          <p:cNvSpPr txBox="true"/>
          <p:nvPr/>
        </p:nvSpPr>
        <p:spPr>
          <a:xfrm rot="0">
            <a:off x="1028700" y="2690610"/>
            <a:ext cx="15046239" cy="5777449"/>
          </a:xfrm>
          <a:prstGeom prst="rect">
            <a:avLst/>
          </a:prstGeom>
        </p:spPr>
        <p:txBody>
          <a:bodyPr anchor="t" rtlCol="false" tIns="0" lIns="0" bIns="0" rIns="0">
            <a:spAutoFit/>
          </a:bodyPr>
          <a:lstStyle/>
          <a:p>
            <a:pPr algn="l" marL="814428" indent="-407214" lvl="1">
              <a:lnSpc>
                <a:spcPts val="3809"/>
              </a:lnSpc>
              <a:buFont typeface="Arial"/>
              <a:buChar char="•"/>
            </a:pPr>
            <a:r>
              <a:rPr lang="en-US" sz="3772">
                <a:solidFill>
                  <a:srgbClr val="141223"/>
                </a:solidFill>
                <a:latin typeface="Poppins"/>
                <a:ea typeface="Poppins"/>
                <a:cs typeface="Poppins"/>
                <a:sym typeface="Poppins"/>
              </a:rPr>
              <a:t>It provides a clear separation of business logic, UI logic, and input logic.</a:t>
            </a:r>
          </a:p>
          <a:p>
            <a:pPr algn="l">
              <a:lnSpc>
                <a:spcPts val="3809"/>
              </a:lnSpc>
            </a:pPr>
          </a:p>
          <a:p>
            <a:pPr algn="l" marL="814428" indent="-407214" lvl="1">
              <a:lnSpc>
                <a:spcPts val="3809"/>
              </a:lnSpc>
              <a:buFont typeface="Arial"/>
              <a:buChar char="•"/>
            </a:pPr>
            <a:r>
              <a:rPr lang="en-US" sz="3772">
                <a:solidFill>
                  <a:srgbClr val="141223"/>
                </a:solidFill>
                <a:latin typeface="Poppins"/>
                <a:ea typeface="Poppins"/>
                <a:cs typeface="Poppins"/>
                <a:sym typeface="Poppins"/>
              </a:rPr>
              <a:t>It offers full control over your HTML and URLs which makes it easy to design web application architecture..</a:t>
            </a:r>
          </a:p>
          <a:p>
            <a:pPr algn="l">
              <a:lnSpc>
                <a:spcPts val="3809"/>
              </a:lnSpc>
            </a:pPr>
          </a:p>
          <a:p>
            <a:pPr algn="l" marL="814428" indent="-407214" lvl="1">
              <a:lnSpc>
                <a:spcPts val="3809"/>
              </a:lnSpc>
              <a:buFont typeface="Arial"/>
              <a:buChar char="•"/>
            </a:pPr>
            <a:r>
              <a:rPr lang="en-US" sz="3772">
                <a:solidFill>
                  <a:srgbClr val="141223"/>
                </a:solidFill>
                <a:latin typeface="Poppins"/>
                <a:ea typeface="Poppins"/>
                <a:cs typeface="Poppins"/>
                <a:sym typeface="Poppins"/>
              </a:rPr>
              <a:t>It is a powerful URL-mapping component using which we can build applications that have comprehensible and searchable URLs.</a:t>
            </a:r>
          </a:p>
          <a:p>
            <a:pPr algn="l">
              <a:lnSpc>
                <a:spcPts val="3809"/>
              </a:lnSpc>
            </a:pPr>
          </a:p>
          <a:p>
            <a:pPr algn="l" marL="814428" indent="-407214" lvl="1">
              <a:lnSpc>
                <a:spcPts val="3809"/>
              </a:lnSpc>
              <a:buFont typeface="Arial"/>
              <a:buChar char="•"/>
            </a:pPr>
            <a:r>
              <a:rPr lang="en-US" sz="3772">
                <a:solidFill>
                  <a:srgbClr val="141223"/>
                </a:solidFill>
                <a:latin typeface="Poppins"/>
                <a:ea typeface="Poppins"/>
                <a:cs typeface="Poppins"/>
                <a:sym typeface="Poppins"/>
              </a:rPr>
              <a:t>It supports Test Driven Development (TDD).</a:t>
            </a:r>
          </a:p>
          <a:p>
            <a:pPr algn="l">
              <a:lnSpc>
                <a:spcPts val="3809"/>
              </a:lnSpc>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3F4FA"/>
        </a:solidFill>
      </p:bgPr>
    </p:bg>
    <p:spTree>
      <p:nvGrpSpPr>
        <p:cNvPr id="1" name=""/>
        <p:cNvGrpSpPr/>
        <p:nvPr/>
      </p:nvGrpSpPr>
      <p:grpSpPr>
        <a:xfrm>
          <a:off x="0" y="0"/>
          <a:ext cx="0" cy="0"/>
          <a:chOff x="0" y="0"/>
          <a:chExt cx="0" cy="0"/>
        </a:xfrm>
      </p:grpSpPr>
      <p:sp>
        <p:nvSpPr>
          <p:cNvPr name="TextBox 2" id="2"/>
          <p:cNvSpPr txBox="true"/>
          <p:nvPr/>
        </p:nvSpPr>
        <p:spPr>
          <a:xfrm rot="0">
            <a:off x="1028700" y="1095375"/>
            <a:ext cx="1392763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MVC - Advantages</a:t>
            </a:r>
          </a:p>
        </p:txBody>
      </p:sp>
      <p:sp>
        <p:nvSpPr>
          <p:cNvPr name="TextBox 3" id="3"/>
          <p:cNvSpPr txBox="true"/>
          <p:nvPr/>
        </p:nvSpPr>
        <p:spPr>
          <a:xfrm rot="0">
            <a:off x="1620880" y="2568145"/>
            <a:ext cx="15046239" cy="7206199"/>
          </a:xfrm>
          <a:prstGeom prst="rect">
            <a:avLst/>
          </a:prstGeom>
        </p:spPr>
        <p:txBody>
          <a:bodyPr anchor="t" rtlCol="false" tIns="0" lIns="0" bIns="0" rIns="0">
            <a:spAutoFit/>
          </a:bodyPr>
          <a:lstStyle/>
          <a:p>
            <a:pPr algn="l">
              <a:lnSpc>
                <a:spcPts val="3809"/>
              </a:lnSpc>
            </a:pPr>
            <a:r>
              <a:rPr lang="en-US" sz="3772" b="true">
                <a:solidFill>
                  <a:srgbClr val="141223"/>
                </a:solidFill>
                <a:latin typeface="Poppins Bold"/>
                <a:ea typeface="Poppins Bold"/>
                <a:cs typeface="Poppins Bold"/>
                <a:sym typeface="Poppins Bold"/>
              </a:rPr>
              <a:t>1. Parallel Development</a:t>
            </a:r>
          </a:p>
          <a:p>
            <a:pPr algn="l" marL="814428" indent="-407214" lvl="1">
              <a:lnSpc>
                <a:spcPts val="3809"/>
              </a:lnSpc>
              <a:buFont typeface="Arial"/>
              <a:buChar char="•"/>
            </a:pPr>
            <a:r>
              <a:rPr lang="en-US" sz="3772">
                <a:solidFill>
                  <a:srgbClr val="141223"/>
                </a:solidFill>
                <a:latin typeface="Poppins"/>
                <a:ea typeface="Poppins"/>
                <a:cs typeface="Poppins"/>
                <a:sym typeface="Poppins"/>
              </a:rPr>
              <a:t>Multiple developers/teams can work simultaneously</a:t>
            </a:r>
          </a:p>
          <a:p>
            <a:pPr algn="l" marL="814428" indent="-407214" lvl="1">
              <a:lnSpc>
                <a:spcPts val="3809"/>
              </a:lnSpc>
              <a:buFont typeface="Arial"/>
              <a:buChar char="•"/>
            </a:pPr>
            <a:r>
              <a:rPr lang="en-US" sz="3772">
                <a:solidFill>
                  <a:srgbClr val="141223"/>
                </a:solidFill>
                <a:latin typeface="Poppins"/>
                <a:ea typeface="Poppins"/>
                <a:cs typeface="Poppins"/>
                <a:sym typeface="Poppins"/>
              </a:rPr>
              <a:t>Speeds up development time.</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2</a:t>
            </a:r>
            <a:r>
              <a:rPr lang="en-US" sz="3772" b="true">
                <a:solidFill>
                  <a:srgbClr val="141223"/>
                </a:solidFill>
                <a:latin typeface="Poppins Bold"/>
                <a:ea typeface="Poppins Bold"/>
                <a:cs typeface="Poppins Bold"/>
                <a:sym typeface="Poppins Bold"/>
              </a:rPr>
              <a:t>. Improved Maintainability</a:t>
            </a:r>
          </a:p>
          <a:p>
            <a:pPr algn="l" marL="814428" indent="-407214" lvl="1">
              <a:lnSpc>
                <a:spcPts val="3809"/>
              </a:lnSpc>
              <a:buFont typeface="Arial"/>
              <a:buChar char="•"/>
            </a:pPr>
            <a:r>
              <a:rPr lang="en-US" sz="3772">
                <a:solidFill>
                  <a:srgbClr val="141223"/>
                </a:solidFill>
                <a:latin typeface="Poppins"/>
                <a:ea typeface="Poppins"/>
                <a:cs typeface="Poppins"/>
                <a:sym typeface="Poppins"/>
              </a:rPr>
              <a:t>Changing UI doesn’t affect business logic.</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3</a:t>
            </a:r>
            <a:r>
              <a:rPr lang="en-US" sz="3772" b="true">
                <a:solidFill>
                  <a:srgbClr val="141223"/>
                </a:solidFill>
                <a:latin typeface="Poppins Bold"/>
                <a:ea typeface="Poppins Bold"/>
                <a:cs typeface="Poppins Bold"/>
                <a:sym typeface="Poppins Bold"/>
              </a:rPr>
              <a:t>. Reusability of Components</a:t>
            </a:r>
          </a:p>
          <a:p>
            <a:pPr algn="l" marL="814428" indent="-407214" lvl="1">
              <a:lnSpc>
                <a:spcPts val="3809"/>
              </a:lnSpc>
              <a:buFont typeface="Arial"/>
              <a:buChar char="•"/>
            </a:pPr>
            <a:r>
              <a:rPr lang="en-US" sz="3772">
                <a:solidFill>
                  <a:srgbClr val="141223"/>
                </a:solidFill>
                <a:latin typeface="Poppins"/>
                <a:ea typeface="Poppins"/>
                <a:cs typeface="Poppins"/>
                <a:sym typeface="Poppins"/>
              </a:rPr>
              <a:t>Models can be reused across different interfaces (web, mobile, desktop).</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4. Bet</a:t>
            </a:r>
            <a:r>
              <a:rPr lang="en-US" sz="3772" b="true">
                <a:solidFill>
                  <a:srgbClr val="141223"/>
                </a:solidFill>
                <a:latin typeface="Poppins Bold"/>
                <a:ea typeface="Poppins Bold"/>
                <a:cs typeface="Poppins Bold"/>
                <a:sym typeface="Poppins Bold"/>
              </a:rPr>
              <a:t>ter Testing</a:t>
            </a:r>
          </a:p>
          <a:p>
            <a:pPr algn="l" marL="814428" indent="-407214" lvl="1">
              <a:lnSpc>
                <a:spcPts val="3809"/>
              </a:lnSpc>
              <a:buFont typeface="Arial"/>
              <a:buChar char="•"/>
            </a:pPr>
            <a:r>
              <a:rPr lang="en-US" sz="3772">
                <a:solidFill>
                  <a:srgbClr val="141223"/>
                </a:solidFill>
                <a:latin typeface="Poppins"/>
                <a:ea typeface="Poppins"/>
                <a:cs typeface="Poppins"/>
                <a:sym typeface="Poppins"/>
              </a:rPr>
              <a:t>Since logic is separated, unit testing becomes simpler.</a:t>
            </a:r>
          </a:p>
          <a:p>
            <a:pPr algn="l">
              <a:lnSpc>
                <a:spcPts val="3809"/>
              </a:lnSpc>
            </a:pPr>
          </a:p>
          <a:p>
            <a:pPr algn="l">
              <a:lnSpc>
                <a:spcPts val="3809"/>
              </a:lnSpc>
            </a:pPr>
          </a:p>
        </p:txBody>
      </p:sp>
      <p:grpSp>
        <p:nvGrpSpPr>
          <p:cNvPr name="Group 4" id="4"/>
          <p:cNvGrpSpPr/>
          <p:nvPr/>
        </p:nvGrpSpPr>
        <p:grpSpPr>
          <a:xfrm rot="0">
            <a:off x="-970336" y="9503317"/>
            <a:ext cx="19527875" cy="3086100"/>
            <a:chOff x="0" y="0"/>
            <a:chExt cx="5143144" cy="812800"/>
          </a:xfrm>
        </p:grpSpPr>
        <p:sp>
          <p:nvSpPr>
            <p:cNvPr name="Freeform 5" id="5"/>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6" id="6"/>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TextBox 7" id="7"/>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4669720" y="2322218"/>
            <a:ext cx="8948561" cy="5642565"/>
          </a:xfrm>
          <a:custGeom>
            <a:avLst/>
            <a:gdLst/>
            <a:ahLst/>
            <a:cxnLst/>
            <a:rect r="r" b="b" t="t" l="l"/>
            <a:pathLst>
              <a:path h="5642565" w="8948561">
                <a:moveTo>
                  <a:pt x="0" y="0"/>
                </a:moveTo>
                <a:lnTo>
                  <a:pt x="8948560" y="0"/>
                </a:lnTo>
                <a:lnTo>
                  <a:pt x="8948560" y="5642564"/>
                </a:lnTo>
                <a:lnTo>
                  <a:pt x="0" y="5642564"/>
                </a:lnTo>
                <a:lnTo>
                  <a:pt x="0" y="0"/>
                </a:lnTo>
                <a:close/>
              </a:path>
            </a:pathLst>
          </a:custGeom>
          <a:blipFill>
            <a:blip r:embed="rId2"/>
            <a:stretch>
              <a:fillRect l="0" t="0" r="0" b="0"/>
            </a:stretch>
          </a:blipFill>
        </p:spPr>
      </p:sp>
      <p:sp>
        <p:nvSpPr>
          <p:cNvPr name="TextBox 3" id="3"/>
          <p:cNvSpPr txBox="true"/>
          <p:nvPr/>
        </p:nvSpPr>
        <p:spPr>
          <a:xfrm rot="0">
            <a:off x="1028700" y="1095375"/>
            <a:ext cx="1392763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Advantages - Unit Testing</a:t>
            </a:r>
          </a:p>
        </p:txBody>
      </p:sp>
      <p:sp>
        <p:nvSpPr>
          <p:cNvPr name="TextBox 4" id="4"/>
          <p:cNvSpPr txBox="true"/>
          <p:nvPr/>
        </p:nvSpPr>
        <p:spPr>
          <a:xfrm rot="0">
            <a:off x="1620880" y="7489516"/>
            <a:ext cx="15046239" cy="2919949"/>
          </a:xfrm>
          <a:prstGeom prst="rect">
            <a:avLst/>
          </a:prstGeom>
        </p:spPr>
        <p:txBody>
          <a:bodyPr anchor="t" rtlCol="false" tIns="0" lIns="0" bIns="0" rIns="0">
            <a:spAutoFit/>
          </a:bodyPr>
          <a:lstStyle/>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Unit Testing: </a:t>
            </a:r>
            <a:r>
              <a:rPr lang="en-US" sz="3772">
                <a:solidFill>
                  <a:srgbClr val="141223"/>
                </a:solidFill>
                <a:latin typeface="Poppins"/>
                <a:ea typeface="Poppins"/>
                <a:cs typeface="Poppins"/>
                <a:sym typeface="Poppins"/>
              </a:rPr>
              <a:t>Verifying logic without dependencies</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Mocking: </a:t>
            </a:r>
            <a:r>
              <a:rPr lang="en-US" sz="3772">
                <a:solidFill>
                  <a:srgbClr val="141223"/>
                </a:solidFill>
                <a:latin typeface="Poppins"/>
                <a:ea typeface="Poppins"/>
                <a:cs typeface="Poppins"/>
                <a:sym typeface="Poppins"/>
              </a:rPr>
              <a:t>Verifying logic with dependecies using fake data.</a:t>
            </a:r>
          </a:p>
          <a:p>
            <a:pPr algn="l">
              <a:lnSpc>
                <a:spcPts val="3809"/>
              </a:lnSpc>
            </a:pPr>
          </a:p>
          <a:p>
            <a:pPr algn="l">
              <a:lnSpc>
                <a:spcPts val="3809"/>
              </a:lnSpc>
            </a:pPr>
          </a:p>
        </p:txBody>
      </p:sp>
      <p:grpSp>
        <p:nvGrpSpPr>
          <p:cNvPr name="Group 5" id="5"/>
          <p:cNvGrpSpPr/>
          <p:nvPr/>
        </p:nvGrpSpPr>
        <p:grpSpPr>
          <a:xfrm rot="0">
            <a:off x="-970336" y="9503317"/>
            <a:ext cx="19527875" cy="3086100"/>
            <a:chOff x="0" y="0"/>
            <a:chExt cx="5143144" cy="812800"/>
          </a:xfrm>
        </p:grpSpPr>
        <p:sp>
          <p:nvSpPr>
            <p:cNvPr name="Freeform 6" id="6"/>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7" id="7"/>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E3F4FA"/>
        </a:solidFill>
      </p:bgPr>
    </p:bg>
    <p:spTree>
      <p:nvGrpSpPr>
        <p:cNvPr id="1" name=""/>
        <p:cNvGrpSpPr/>
        <p:nvPr/>
      </p:nvGrpSpPr>
      <p:grpSpPr>
        <a:xfrm>
          <a:off x="0" y="0"/>
          <a:ext cx="0" cy="0"/>
          <a:chOff x="0" y="0"/>
          <a:chExt cx="0" cy="0"/>
        </a:xfrm>
      </p:grpSpPr>
      <p:sp>
        <p:nvSpPr>
          <p:cNvPr name="TextBox 2" id="2"/>
          <p:cNvSpPr txBox="true"/>
          <p:nvPr/>
        </p:nvSpPr>
        <p:spPr>
          <a:xfrm rot="0">
            <a:off x="1028700" y="1095375"/>
            <a:ext cx="1392763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MVC - Disadvantages</a:t>
            </a:r>
          </a:p>
        </p:txBody>
      </p:sp>
      <p:sp>
        <p:nvSpPr>
          <p:cNvPr name="TextBox 3" id="3"/>
          <p:cNvSpPr txBox="true"/>
          <p:nvPr/>
        </p:nvSpPr>
        <p:spPr>
          <a:xfrm rot="0">
            <a:off x="1620880" y="2568145"/>
            <a:ext cx="15046239" cy="7206199"/>
          </a:xfrm>
          <a:prstGeom prst="rect">
            <a:avLst/>
          </a:prstGeom>
        </p:spPr>
        <p:txBody>
          <a:bodyPr anchor="t" rtlCol="false" tIns="0" lIns="0" bIns="0" rIns="0">
            <a:spAutoFit/>
          </a:bodyPr>
          <a:lstStyle/>
          <a:p>
            <a:pPr algn="l">
              <a:lnSpc>
                <a:spcPts val="3809"/>
              </a:lnSpc>
            </a:pPr>
            <a:r>
              <a:rPr lang="en-US" sz="3772" b="true">
                <a:solidFill>
                  <a:srgbClr val="141223"/>
                </a:solidFill>
                <a:latin typeface="Poppins Bold"/>
                <a:ea typeface="Poppins Bold"/>
                <a:cs typeface="Poppins Bold"/>
                <a:sym typeface="Poppins Bold"/>
              </a:rPr>
              <a:t>1. Increased Complexity for Small Projects</a:t>
            </a:r>
          </a:p>
          <a:p>
            <a:pPr algn="l" marL="814428" indent="-407214" lvl="1">
              <a:lnSpc>
                <a:spcPts val="3809"/>
              </a:lnSpc>
              <a:buFont typeface="Arial"/>
              <a:buChar char="•"/>
            </a:pPr>
            <a:r>
              <a:rPr lang="en-US" sz="3772">
                <a:solidFill>
                  <a:srgbClr val="141223"/>
                </a:solidFill>
                <a:latin typeface="Poppins"/>
                <a:ea typeface="Poppins"/>
                <a:cs typeface="Poppins"/>
                <a:sym typeface="Poppins"/>
              </a:rPr>
              <a:t>The structure may feel too heavy for simple apps.</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2. Requires Strict Separation Discipline</a:t>
            </a:r>
          </a:p>
          <a:p>
            <a:pPr algn="l" marL="814428" indent="-407214" lvl="1">
              <a:lnSpc>
                <a:spcPts val="3809"/>
              </a:lnSpc>
              <a:buFont typeface="Arial"/>
              <a:buChar char="•"/>
            </a:pPr>
            <a:r>
              <a:rPr lang="en-US" sz="3772">
                <a:solidFill>
                  <a:srgbClr val="141223"/>
                </a:solidFill>
                <a:latin typeface="Poppins"/>
                <a:ea typeface="Poppins"/>
                <a:cs typeface="Poppins"/>
                <a:sym typeface="Poppins"/>
              </a:rPr>
              <a:t>Poor</a:t>
            </a:r>
            <a:r>
              <a:rPr lang="en-US" sz="3772">
                <a:solidFill>
                  <a:srgbClr val="141223"/>
                </a:solidFill>
                <a:latin typeface="Poppins"/>
                <a:ea typeface="Poppins"/>
                <a:cs typeface="Poppins"/>
                <a:sym typeface="Poppins"/>
              </a:rPr>
              <a:t> implementation can break the benefits of MVC.</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3. More F</a:t>
            </a:r>
            <a:r>
              <a:rPr lang="en-US" sz="3772" b="true">
                <a:solidFill>
                  <a:srgbClr val="141223"/>
                </a:solidFill>
                <a:latin typeface="Poppins Bold"/>
                <a:ea typeface="Poppins Bold"/>
                <a:cs typeface="Poppins Bold"/>
                <a:sym typeface="Poppins Bold"/>
              </a:rPr>
              <a:t>iles and Code</a:t>
            </a:r>
          </a:p>
          <a:p>
            <a:pPr algn="l" marL="814428" indent="-407214" lvl="1">
              <a:lnSpc>
                <a:spcPts val="3809"/>
              </a:lnSpc>
              <a:buFont typeface="Arial"/>
              <a:buChar char="•"/>
            </a:pPr>
            <a:r>
              <a:rPr lang="en-US" sz="3772">
                <a:solidFill>
                  <a:srgbClr val="141223"/>
                </a:solidFill>
                <a:latin typeface="Poppins"/>
                <a:ea typeface="Poppins"/>
                <a:cs typeface="Poppins"/>
                <a:sym typeface="Poppins"/>
              </a:rPr>
              <a:t>Each feature usually requires changes in multiple components (Model + View + Controller).</a:t>
            </a:r>
          </a:p>
          <a:p>
            <a:pPr algn="l" marL="814428" indent="-407214" lvl="1">
              <a:lnSpc>
                <a:spcPts val="3809"/>
              </a:lnSpc>
              <a:buFont typeface="Arial"/>
              <a:buChar char="•"/>
            </a:pPr>
            <a:r>
              <a:rPr lang="en-US" sz="3772">
                <a:solidFill>
                  <a:srgbClr val="141223"/>
                </a:solidFill>
                <a:latin typeface="Poppins"/>
                <a:ea typeface="Poppins"/>
                <a:cs typeface="Poppins"/>
                <a:sym typeface="Poppins"/>
              </a:rPr>
              <a:t>Can feel overwhelming for beginners.</a:t>
            </a:r>
          </a:p>
          <a:p>
            <a:pPr algn="l">
              <a:lnSpc>
                <a:spcPts val="3809"/>
              </a:lnSpc>
            </a:pPr>
          </a:p>
          <a:p>
            <a:pPr algn="l">
              <a:lnSpc>
                <a:spcPts val="3809"/>
              </a:lnSpc>
            </a:pPr>
            <a:r>
              <a:rPr lang="en-US" sz="3772" b="true">
                <a:solidFill>
                  <a:srgbClr val="141223"/>
                </a:solidFill>
                <a:latin typeface="Poppins Bold"/>
                <a:ea typeface="Poppins Bold"/>
                <a:cs typeface="Poppins Bold"/>
                <a:sym typeface="Poppins Bold"/>
              </a:rPr>
              <a:t>4. Steep</a:t>
            </a:r>
            <a:r>
              <a:rPr lang="en-US" sz="3772" b="true">
                <a:solidFill>
                  <a:srgbClr val="141223"/>
                </a:solidFill>
                <a:latin typeface="Poppins Bold"/>
                <a:ea typeface="Poppins Bold"/>
                <a:cs typeface="Poppins Bold"/>
                <a:sym typeface="Poppins Bold"/>
              </a:rPr>
              <a:t>er Learning Curve</a:t>
            </a:r>
          </a:p>
          <a:p>
            <a:pPr algn="l" marL="814428" indent="-407214" lvl="1">
              <a:lnSpc>
                <a:spcPts val="3809"/>
              </a:lnSpc>
              <a:buFont typeface="Arial"/>
              <a:buChar char="•"/>
            </a:pPr>
            <a:r>
              <a:rPr lang="en-US" sz="3772">
                <a:solidFill>
                  <a:srgbClr val="141223"/>
                </a:solidFill>
                <a:latin typeface="Poppins"/>
                <a:ea typeface="Poppins"/>
                <a:cs typeface="Poppins"/>
                <a:sym typeface="Poppins"/>
              </a:rPr>
              <a:t>Understanding how components interact takes time.</a:t>
            </a:r>
          </a:p>
          <a:p>
            <a:pPr algn="l">
              <a:lnSpc>
                <a:spcPts val="3809"/>
              </a:lnSpc>
            </a:pPr>
          </a:p>
          <a:p>
            <a:pPr algn="l">
              <a:lnSpc>
                <a:spcPts val="3809"/>
              </a:lnSpc>
            </a:pPr>
          </a:p>
        </p:txBody>
      </p:sp>
      <p:grpSp>
        <p:nvGrpSpPr>
          <p:cNvPr name="Group 4" id="4"/>
          <p:cNvGrpSpPr/>
          <p:nvPr/>
        </p:nvGrpSpPr>
        <p:grpSpPr>
          <a:xfrm rot="0">
            <a:off x="-970336" y="9503317"/>
            <a:ext cx="19527875" cy="3086100"/>
            <a:chOff x="0" y="0"/>
            <a:chExt cx="5143144" cy="812800"/>
          </a:xfrm>
        </p:grpSpPr>
        <p:sp>
          <p:nvSpPr>
            <p:cNvPr name="Freeform 5" id="5"/>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6" id="6"/>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TextBox 7" id="7"/>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013</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E3F4FA"/>
        </a:solidFill>
      </p:bgPr>
    </p:bg>
    <p:spTree>
      <p:nvGrpSpPr>
        <p:cNvPr id="1" name=""/>
        <p:cNvGrpSpPr/>
        <p:nvPr/>
      </p:nvGrpSpPr>
      <p:grpSpPr>
        <a:xfrm>
          <a:off x="0" y="0"/>
          <a:ext cx="0" cy="0"/>
          <a:chOff x="0" y="0"/>
          <a:chExt cx="0" cy="0"/>
        </a:xfrm>
      </p:grpSpPr>
      <p:sp>
        <p:nvSpPr>
          <p:cNvPr name="TextBox 2" id="2"/>
          <p:cNvSpPr txBox="true"/>
          <p:nvPr/>
        </p:nvSpPr>
        <p:spPr>
          <a:xfrm rot="0">
            <a:off x="1620880" y="2568145"/>
            <a:ext cx="15046239" cy="5301199"/>
          </a:xfrm>
          <a:prstGeom prst="rect">
            <a:avLst/>
          </a:prstGeom>
        </p:spPr>
        <p:txBody>
          <a:bodyPr anchor="t" rtlCol="false" tIns="0" lIns="0" bIns="0" rIns="0">
            <a:spAutoFit/>
          </a:bodyPr>
          <a:lstStyle/>
          <a:p>
            <a:pPr algn="l" marL="814428" indent="-407214" lvl="1">
              <a:lnSpc>
                <a:spcPts val="3809"/>
              </a:lnSpc>
              <a:buFont typeface="Arial"/>
              <a:buChar char="•"/>
            </a:pPr>
            <a:r>
              <a:rPr lang="en-US" sz="3772">
                <a:solidFill>
                  <a:srgbClr val="141223"/>
                </a:solidFill>
                <a:latin typeface="Poppins"/>
                <a:ea typeface="Poppins"/>
                <a:cs typeface="Poppins"/>
                <a:sym typeface="Poppins"/>
              </a:rPr>
              <a:t>MVC </a:t>
            </a:r>
            <a:r>
              <a:rPr lang="en-US" b="true" sz="3772">
                <a:solidFill>
                  <a:srgbClr val="141223"/>
                </a:solidFill>
                <a:latin typeface="Poppins Bold"/>
                <a:ea typeface="Poppins Bold"/>
                <a:cs typeface="Poppins Bold"/>
                <a:sym typeface="Poppins Bold"/>
              </a:rPr>
              <a:t>organizes</a:t>
            </a:r>
            <a:r>
              <a:rPr lang="en-US" sz="3772">
                <a:solidFill>
                  <a:srgbClr val="141223"/>
                </a:solidFill>
                <a:latin typeface="Poppins"/>
                <a:ea typeface="Poppins"/>
                <a:cs typeface="Poppins"/>
                <a:sym typeface="Poppins"/>
              </a:rPr>
              <a:t> applications into </a:t>
            </a:r>
            <a:r>
              <a:rPr lang="en-US" b="true" sz="3772">
                <a:solidFill>
                  <a:srgbClr val="141223"/>
                </a:solidFill>
                <a:latin typeface="Poppins Bold"/>
                <a:ea typeface="Poppins Bold"/>
                <a:cs typeface="Poppins Bold"/>
                <a:sym typeface="Poppins Bold"/>
              </a:rPr>
              <a:t>Model</a:t>
            </a:r>
            <a:r>
              <a:rPr lang="en-US" sz="3772">
                <a:solidFill>
                  <a:srgbClr val="141223"/>
                </a:solidFill>
                <a:latin typeface="Poppins"/>
                <a:ea typeface="Poppins"/>
                <a:cs typeface="Poppins"/>
                <a:sym typeface="Poppins"/>
              </a:rPr>
              <a:t>, </a:t>
            </a:r>
            <a:r>
              <a:rPr lang="en-US" b="true" sz="3772">
                <a:solidFill>
                  <a:srgbClr val="141223"/>
                </a:solidFill>
                <a:latin typeface="Poppins Bold"/>
                <a:ea typeface="Poppins Bold"/>
                <a:cs typeface="Poppins Bold"/>
                <a:sym typeface="Poppins Bold"/>
              </a:rPr>
              <a:t>View</a:t>
            </a:r>
            <a:r>
              <a:rPr lang="en-US" sz="3772">
                <a:solidFill>
                  <a:srgbClr val="141223"/>
                </a:solidFill>
                <a:latin typeface="Poppins"/>
                <a:ea typeface="Poppins"/>
                <a:cs typeface="Poppins"/>
                <a:sym typeface="Poppins"/>
              </a:rPr>
              <a:t>, </a:t>
            </a:r>
            <a:r>
              <a:rPr lang="en-US" b="true" sz="3772">
                <a:solidFill>
                  <a:srgbClr val="141223"/>
                </a:solidFill>
                <a:latin typeface="Poppins Bold"/>
                <a:ea typeface="Poppins Bold"/>
                <a:cs typeface="Poppins Bold"/>
                <a:sym typeface="Poppins Bold"/>
              </a:rPr>
              <a:t>Controller </a:t>
            </a:r>
            <a:r>
              <a:rPr lang="en-US" sz="3772">
                <a:solidFill>
                  <a:srgbClr val="141223"/>
                </a:solidFill>
                <a:latin typeface="Poppins"/>
                <a:ea typeface="Poppins"/>
                <a:cs typeface="Poppins"/>
                <a:sym typeface="Poppins"/>
              </a:rPr>
              <a:t>for clean and structured code.</a:t>
            </a:r>
          </a:p>
          <a:p>
            <a:pPr algn="l">
              <a:lnSpc>
                <a:spcPts val="3809"/>
              </a:lnSpc>
            </a:pPr>
          </a:p>
          <a:p>
            <a:pPr algn="l" marL="814428" indent="-407214" lvl="1">
              <a:lnSpc>
                <a:spcPts val="3809"/>
              </a:lnSpc>
              <a:buFont typeface="Arial"/>
              <a:buChar char="•"/>
            </a:pPr>
            <a:r>
              <a:rPr lang="en-US" sz="3772">
                <a:solidFill>
                  <a:srgbClr val="141223"/>
                </a:solidFill>
                <a:latin typeface="Poppins"/>
                <a:ea typeface="Poppins"/>
                <a:cs typeface="Poppins"/>
                <a:sym typeface="Poppins"/>
              </a:rPr>
              <a:t>E</a:t>
            </a:r>
            <a:r>
              <a:rPr lang="en-US" sz="3772">
                <a:solidFill>
                  <a:srgbClr val="141223"/>
                </a:solidFill>
                <a:latin typeface="Poppins"/>
                <a:ea typeface="Poppins"/>
                <a:cs typeface="Poppins"/>
                <a:sym typeface="Poppins"/>
              </a:rPr>
              <a:t>nc</a:t>
            </a:r>
            <a:r>
              <a:rPr lang="en-US" sz="3772">
                <a:solidFill>
                  <a:srgbClr val="141223"/>
                </a:solidFill>
                <a:latin typeface="Poppins"/>
                <a:ea typeface="Poppins"/>
                <a:cs typeface="Poppins"/>
                <a:sym typeface="Poppins"/>
              </a:rPr>
              <a:t>oura</a:t>
            </a:r>
            <a:r>
              <a:rPr lang="en-US" sz="3772">
                <a:solidFill>
                  <a:srgbClr val="141223"/>
                </a:solidFill>
                <a:latin typeface="Poppins"/>
                <a:ea typeface="Poppins"/>
                <a:cs typeface="Poppins"/>
                <a:sym typeface="Poppins"/>
              </a:rPr>
              <a:t>ges </a:t>
            </a:r>
            <a:r>
              <a:rPr lang="en-US" b="true" sz="3772">
                <a:solidFill>
                  <a:srgbClr val="141223"/>
                </a:solidFill>
                <a:latin typeface="Poppins Bold"/>
                <a:ea typeface="Poppins Bold"/>
                <a:cs typeface="Poppins Bold"/>
                <a:sym typeface="Poppins Bold"/>
              </a:rPr>
              <a:t>separation of conce</a:t>
            </a:r>
            <a:r>
              <a:rPr lang="en-US" b="true" sz="3772">
                <a:solidFill>
                  <a:srgbClr val="141223"/>
                </a:solidFill>
                <a:latin typeface="Poppins Bold"/>
                <a:ea typeface="Poppins Bold"/>
                <a:cs typeface="Poppins Bold"/>
                <a:sym typeface="Poppins Bold"/>
              </a:rPr>
              <a:t>rns</a:t>
            </a:r>
            <a:r>
              <a:rPr lang="en-US" sz="3772">
                <a:solidFill>
                  <a:srgbClr val="141223"/>
                </a:solidFill>
                <a:latin typeface="Poppins"/>
                <a:ea typeface="Poppins"/>
                <a:cs typeface="Poppins"/>
                <a:sym typeface="Poppins"/>
              </a:rPr>
              <a:t>,</a:t>
            </a:r>
            <a:r>
              <a:rPr lang="en-US" sz="3772">
                <a:solidFill>
                  <a:srgbClr val="141223"/>
                </a:solidFill>
                <a:latin typeface="Poppins"/>
                <a:ea typeface="Poppins"/>
                <a:cs typeface="Poppins"/>
                <a:sym typeface="Poppins"/>
              </a:rPr>
              <a:t> improving debugging, scalability, and maintenance.</a:t>
            </a:r>
          </a:p>
          <a:p>
            <a:pPr algn="l">
              <a:lnSpc>
                <a:spcPts val="3809"/>
              </a:lnSpc>
            </a:pPr>
          </a:p>
          <a:p>
            <a:pPr algn="l" marL="814428" indent="-407214" lvl="1">
              <a:lnSpc>
                <a:spcPts val="3809"/>
              </a:lnSpc>
              <a:buFont typeface="Arial"/>
              <a:buChar char="•"/>
            </a:pPr>
            <a:r>
              <a:rPr lang="en-US" sz="3772">
                <a:solidFill>
                  <a:srgbClr val="141223"/>
                </a:solidFill>
                <a:latin typeface="Poppins"/>
                <a:ea typeface="Poppins"/>
                <a:cs typeface="Poppins"/>
                <a:sym typeface="Poppins"/>
              </a:rPr>
              <a:t>H</a:t>
            </a:r>
            <a:r>
              <a:rPr lang="en-US" sz="3772">
                <a:solidFill>
                  <a:srgbClr val="141223"/>
                </a:solidFill>
                <a:latin typeface="Poppins"/>
                <a:ea typeface="Poppins"/>
                <a:cs typeface="Poppins"/>
                <a:sym typeface="Poppins"/>
              </a:rPr>
              <a:t>e</a:t>
            </a:r>
            <a:r>
              <a:rPr lang="en-US" sz="3772">
                <a:solidFill>
                  <a:srgbClr val="141223"/>
                </a:solidFill>
                <a:latin typeface="Poppins"/>
                <a:ea typeface="Poppins"/>
                <a:cs typeface="Poppins"/>
                <a:sym typeface="Poppins"/>
              </a:rPr>
              <a:t>l</a:t>
            </a:r>
            <a:r>
              <a:rPr lang="en-US" sz="3772">
                <a:solidFill>
                  <a:srgbClr val="141223"/>
                </a:solidFill>
                <a:latin typeface="Poppins"/>
                <a:ea typeface="Poppins"/>
                <a:cs typeface="Poppins"/>
                <a:sym typeface="Poppins"/>
              </a:rPr>
              <a:t>p</a:t>
            </a:r>
            <a:r>
              <a:rPr lang="en-US" sz="3772">
                <a:solidFill>
                  <a:srgbClr val="141223"/>
                </a:solidFill>
                <a:latin typeface="Poppins"/>
                <a:ea typeface="Poppins"/>
                <a:cs typeface="Poppins"/>
                <a:sym typeface="Poppins"/>
              </a:rPr>
              <a:t>s</a:t>
            </a:r>
            <a:r>
              <a:rPr lang="en-US" sz="3772">
                <a:solidFill>
                  <a:srgbClr val="141223"/>
                </a:solidFill>
                <a:latin typeface="Poppins"/>
                <a:ea typeface="Poppins"/>
                <a:cs typeface="Poppins"/>
                <a:sym typeface="Poppins"/>
              </a:rPr>
              <a:t> teams work </a:t>
            </a:r>
            <a:r>
              <a:rPr lang="en-US" sz="3772">
                <a:solidFill>
                  <a:srgbClr val="141223"/>
                </a:solidFill>
                <a:latin typeface="Poppins"/>
                <a:ea typeface="Poppins"/>
                <a:cs typeface="Poppins"/>
                <a:sym typeface="Poppins"/>
              </a:rPr>
              <a:t>i</a:t>
            </a:r>
            <a:r>
              <a:rPr lang="en-US" sz="3772">
                <a:solidFill>
                  <a:srgbClr val="141223"/>
                </a:solidFill>
                <a:latin typeface="Poppins"/>
                <a:ea typeface="Poppins"/>
                <a:cs typeface="Poppins"/>
                <a:sym typeface="Poppins"/>
              </a:rPr>
              <a:t>n </a:t>
            </a:r>
            <a:r>
              <a:rPr lang="en-US" b="true" sz="3772">
                <a:solidFill>
                  <a:srgbClr val="141223"/>
                </a:solidFill>
                <a:latin typeface="Poppins Bold"/>
                <a:ea typeface="Poppins Bold"/>
                <a:cs typeface="Poppins Bold"/>
                <a:sym typeface="Poppins Bold"/>
              </a:rPr>
              <a:t>parallel</a:t>
            </a:r>
            <a:r>
              <a:rPr lang="en-US" sz="3772">
                <a:solidFill>
                  <a:srgbClr val="141223"/>
                </a:solidFill>
                <a:latin typeface="Poppins"/>
                <a:ea typeface="Poppins"/>
                <a:cs typeface="Poppins"/>
                <a:sym typeface="Poppins"/>
              </a:rPr>
              <a:t> and makes testing easier.</a:t>
            </a:r>
          </a:p>
          <a:p>
            <a:pPr algn="l">
              <a:lnSpc>
                <a:spcPts val="3809"/>
              </a:lnSpc>
            </a:pPr>
          </a:p>
          <a:p>
            <a:pPr algn="l" marL="814428" indent="-407214" lvl="1">
              <a:lnSpc>
                <a:spcPts val="3809"/>
              </a:lnSpc>
              <a:buFont typeface="Arial"/>
              <a:buChar char="•"/>
            </a:pPr>
            <a:r>
              <a:rPr lang="en-US" sz="3772">
                <a:solidFill>
                  <a:srgbClr val="141223"/>
                </a:solidFill>
                <a:latin typeface="Poppins"/>
                <a:ea typeface="Poppins"/>
                <a:cs typeface="Poppins"/>
                <a:sym typeface="Poppins"/>
              </a:rPr>
              <a:t>Slightly </a:t>
            </a:r>
            <a:r>
              <a:rPr lang="en-US" b="true" sz="3772">
                <a:solidFill>
                  <a:srgbClr val="141223"/>
                </a:solidFill>
                <a:latin typeface="Poppins Bold"/>
                <a:ea typeface="Poppins Bold"/>
                <a:cs typeface="Poppins Bold"/>
                <a:sym typeface="Poppins Bold"/>
              </a:rPr>
              <a:t>complex</a:t>
            </a:r>
            <a:r>
              <a:rPr lang="en-US" sz="3772">
                <a:solidFill>
                  <a:srgbClr val="141223"/>
                </a:solidFill>
                <a:latin typeface="Poppins"/>
                <a:ea typeface="Poppins"/>
                <a:cs typeface="Poppins"/>
                <a:sym typeface="Poppins"/>
              </a:rPr>
              <a:t> for </a:t>
            </a:r>
            <a:r>
              <a:rPr lang="en-US" b="true" sz="3772">
                <a:solidFill>
                  <a:srgbClr val="141223"/>
                </a:solidFill>
                <a:latin typeface="Poppins Bold"/>
                <a:ea typeface="Poppins Bold"/>
                <a:cs typeface="Poppins Bold"/>
                <a:sym typeface="Poppins Bold"/>
              </a:rPr>
              <a:t>small</a:t>
            </a:r>
            <a:r>
              <a:rPr lang="en-US" sz="3772">
                <a:solidFill>
                  <a:srgbClr val="141223"/>
                </a:solidFill>
                <a:latin typeface="Poppins"/>
                <a:ea typeface="Poppins"/>
                <a:cs typeface="Poppins"/>
                <a:sym typeface="Poppins"/>
              </a:rPr>
              <a:t> </a:t>
            </a:r>
            <a:r>
              <a:rPr lang="en-US" sz="3772">
                <a:solidFill>
                  <a:srgbClr val="141223"/>
                </a:solidFill>
                <a:latin typeface="Poppins"/>
                <a:ea typeface="Poppins"/>
                <a:cs typeface="Poppins"/>
                <a:sym typeface="Poppins"/>
              </a:rPr>
              <a:t>p</a:t>
            </a:r>
            <a:r>
              <a:rPr lang="en-US" sz="3772">
                <a:solidFill>
                  <a:srgbClr val="141223"/>
                </a:solidFill>
                <a:latin typeface="Poppins"/>
                <a:ea typeface="Poppins"/>
                <a:cs typeface="Poppins"/>
                <a:sym typeface="Poppins"/>
              </a:rPr>
              <a:t>r</a:t>
            </a:r>
            <a:r>
              <a:rPr lang="en-US" sz="3772">
                <a:solidFill>
                  <a:srgbClr val="141223"/>
                </a:solidFill>
                <a:latin typeface="Poppins"/>
                <a:ea typeface="Poppins"/>
                <a:cs typeface="Poppins"/>
                <a:sym typeface="Poppins"/>
              </a:rPr>
              <a:t>oje</a:t>
            </a:r>
            <a:r>
              <a:rPr lang="en-US" sz="3772">
                <a:solidFill>
                  <a:srgbClr val="141223"/>
                </a:solidFill>
                <a:latin typeface="Poppins"/>
                <a:ea typeface="Poppins"/>
                <a:cs typeface="Poppins"/>
                <a:sym typeface="Poppins"/>
              </a:rPr>
              <a:t>cts</a:t>
            </a:r>
            <a:r>
              <a:rPr lang="en-US" sz="3772">
                <a:solidFill>
                  <a:srgbClr val="141223"/>
                </a:solidFill>
                <a:latin typeface="Poppins"/>
                <a:ea typeface="Poppins"/>
                <a:cs typeface="Poppins"/>
                <a:sym typeface="Poppins"/>
              </a:rPr>
              <a:t> </a:t>
            </a:r>
            <a:r>
              <a:rPr lang="en-US" sz="3772">
                <a:solidFill>
                  <a:srgbClr val="141223"/>
                </a:solidFill>
                <a:latin typeface="Poppins"/>
                <a:ea typeface="Poppins"/>
                <a:cs typeface="Poppins"/>
                <a:sym typeface="Poppins"/>
              </a:rPr>
              <a:t>b</a:t>
            </a:r>
            <a:r>
              <a:rPr lang="en-US" sz="3772">
                <a:solidFill>
                  <a:srgbClr val="141223"/>
                </a:solidFill>
                <a:latin typeface="Poppins"/>
                <a:ea typeface="Poppins"/>
                <a:cs typeface="Poppins"/>
                <a:sym typeface="Poppins"/>
              </a:rPr>
              <a:t>u</a:t>
            </a:r>
            <a:r>
              <a:rPr lang="en-US" sz="3772">
                <a:solidFill>
                  <a:srgbClr val="141223"/>
                </a:solidFill>
                <a:latin typeface="Poppins"/>
                <a:ea typeface="Poppins"/>
                <a:cs typeface="Poppins"/>
                <a:sym typeface="Poppins"/>
              </a:rPr>
              <a:t>t</a:t>
            </a:r>
            <a:r>
              <a:rPr lang="en-US" sz="3772">
                <a:solidFill>
                  <a:srgbClr val="141223"/>
                </a:solidFill>
                <a:latin typeface="Poppins"/>
                <a:ea typeface="Poppins"/>
                <a:cs typeface="Poppins"/>
                <a:sym typeface="Poppins"/>
              </a:rPr>
              <a:t> highly </a:t>
            </a:r>
            <a:r>
              <a:rPr lang="en-US" b="true" sz="3772">
                <a:solidFill>
                  <a:srgbClr val="141223"/>
                </a:solidFill>
                <a:latin typeface="Poppins Bold"/>
                <a:ea typeface="Poppins Bold"/>
                <a:cs typeface="Poppins Bold"/>
                <a:sym typeface="Poppins Bold"/>
              </a:rPr>
              <a:t>effective</a:t>
            </a:r>
            <a:r>
              <a:rPr lang="en-US" sz="3772">
                <a:solidFill>
                  <a:srgbClr val="141223"/>
                </a:solidFill>
                <a:latin typeface="Poppins"/>
                <a:ea typeface="Poppins"/>
                <a:cs typeface="Poppins"/>
                <a:sym typeface="Poppins"/>
              </a:rPr>
              <a:t> </a:t>
            </a:r>
            <a:r>
              <a:rPr lang="en-US" sz="3772">
                <a:solidFill>
                  <a:srgbClr val="141223"/>
                </a:solidFill>
                <a:latin typeface="Poppins"/>
                <a:ea typeface="Poppins"/>
                <a:cs typeface="Poppins"/>
                <a:sym typeface="Poppins"/>
              </a:rPr>
              <a:t>f</a:t>
            </a:r>
            <a:r>
              <a:rPr lang="en-US" sz="3772">
                <a:solidFill>
                  <a:srgbClr val="141223"/>
                </a:solidFill>
                <a:latin typeface="Poppins"/>
                <a:ea typeface="Poppins"/>
                <a:cs typeface="Poppins"/>
                <a:sym typeface="Poppins"/>
              </a:rPr>
              <a:t>o</a:t>
            </a:r>
            <a:r>
              <a:rPr lang="en-US" sz="3772">
                <a:solidFill>
                  <a:srgbClr val="141223"/>
                </a:solidFill>
                <a:latin typeface="Poppins"/>
                <a:ea typeface="Poppins"/>
                <a:cs typeface="Poppins"/>
                <a:sym typeface="Poppins"/>
              </a:rPr>
              <a:t>r b</a:t>
            </a:r>
            <a:r>
              <a:rPr lang="en-US" sz="3772">
                <a:solidFill>
                  <a:srgbClr val="141223"/>
                </a:solidFill>
                <a:latin typeface="Poppins"/>
                <a:ea typeface="Poppins"/>
                <a:cs typeface="Poppins"/>
                <a:sym typeface="Poppins"/>
              </a:rPr>
              <a:t>ui</a:t>
            </a:r>
            <a:r>
              <a:rPr lang="en-US" sz="3772">
                <a:solidFill>
                  <a:srgbClr val="141223"/>
                </a:solidFill>
                <a:latin typeface="Poppins"/>
                <a:ea typeface="Poppins"/>
                <a:cs typeface="Poppins"/>
                <a:sym typeface="Poppins"/>
              </a:rPr>
              <a:t>l</a:t>
            </a:r>
            <a:r>
              <a:rPr lang="en-US" sz="3772">
                <a:solidFill>
                  <a:srgbClr val="141223"/>
                </a:solidFill>
                <a:latin typeface="Poppins"/>
                <a:ea typeface="Poppins"/>
                <a:cs typeface="Poppins"/>
                <a:sym typeface="Poppins"/>
              </a:rPr>
              <a:t>din</a:t>
            </a:r>
            <a:r>
              <a:rPr lang="en-US" sz="3772">
                <a:solidFill>
                  <a:srgbClr val="141223"/>
                </a:solidFill>
                <a:latin typeface="Poppins"/>
                <a:ea typeface="Poppins"/>
                <a:cs typeface="Poppins"/>
                <a:sym typeface="Poppins"/>
              </a:rPr>
              <a:t>g </a:t>
            </a:r>
            <a:r>
              <a:rPr lang="en-US" b="true" sz="3772">
                <a:solidFill>
                  <a:srgbClr val="141223"/>
                </a:solidFill>
                <a:latin typeface="Poppins Bold"/>
                <a:ea typeface="Poppins Bold"/>
                <a:cs typeface="Poppins Bold"/>
                <a:sym typeface="Poppins Bold"/>
              </a:rPr>
              <a:t>o</a:t>
            </a:r>
            <a:r>
              <a:rPr lang="en-US" b="true" sz="3772">
                <a:solidFill>
                  <a:srgbClr val="141223"/>
                </a:solidFill>
                <a:latin typeface="Poppins Bold"/>
                <a:ea typeface="Poppins Bold"/>
                <a:cs typeface="Poppins Bold"/>
                <a:sym typeface="Poppins Bold"/>
              </a:rPr>
              <a:t>rganized</a:t>
            </a:r>
            <a:r>
              <a:rPr lang="en-US" sz="3772">
                <a:solidFill>
                  <a:srgbClr val="141223"/>
                </a:solidFill>
                <a:latin typeface="Poppins"/>
                <a:ea typeface="Poppins"/>
                <a:cs typeface="Poppins"/>
                <a:sym typeface="Poppins"/>
              </a:rPr>
              <a:t>, </a:t>
            </a:r>
            <a:r>
              <a:rPr lang="en-US" b="true" sz="3772">
                <a:solidFill>
                  <a:srgbClr val="141223"/>
                </a:solidFill>
                <a:latin typeface="Poppins Bold"/>
                <a:ea typeface="Poppins Bold"/>
                <a:cs typeface="Poppins Bold"/>
                <a:sym typeface="Poppins Bold"/>
              </a:rPr>
              <a:t>modular</a:t>
            </a:r>
            <a:r>
              <a:rPr lang="en-US" sz="3772">
                <a:solidFill>
                  <a:srgbClr val="141223"/>
                </a:solidFill>
                <a:latin typeface="Poppins"/>
                <a:ea typeface="Poppins"/>
                <a:cs typeface="Poppins"/>
                <a:sym typeface="Poppins"/>
              </a:rPr>
              <a:t> systems.</a:t>
            </a:r>
          </a:p>
          <a:p>
            <a:pPr algn="l">
              <a:lnSpc>
                <a:spcPts val="3809"/>
              </a:lnSpc>
            </a:pPr>
          </a:p>
        </p:txBody>
      </p:sp>
      <p:grpSp>
        <p:nvGrpSpPr>
          <p:cNvPr name="Group 3" id="3"/>
          <p:cNvGrpSpPr/>
          <p:nvPr/>
        </p:nvGrpSpPr>
        <p:grpSpPr>
          <a:xfrm rot="0">
            <a:off x="-970336" y="9503317"/>
            <a:ext cx="19527875" cy="3086100"/>
            <a:chOff x="0" y="0"/>
            <a:chExt cx="5143144" cy="812800"/>
          </a:xfrm>
        </p:grpSpPr>
        <p:sp>
          <p:nvSpPr>
            <p:cNvPr name="Freeform 4" id="4"/>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5" id="5"/>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TextBox 6" id="6"/>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014</a:t>
            </a:r>
          </a:p>
        </p:txBody>
      </p:sp>
      <p:sp>
        <p:nvSpPr>
          <p:cNvPr name="TextBox 7" id="7"/>
          <p:cNvSpPr txBox="true"/>
          <p:nvPr/>
        </p:nvSpPr>
        <p:spPr>
          <a:xfrm rot="0">
            <a:off x="1028700" y="1095375"/>
            <a:ext cx="1392763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Final Summary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2">
              <a:alphaModFix amt="50000"/>
            </a:blip>
            <a:stretch>
              <a:fillRect l="0" t="0" r="0" b="0"/>
            </a:stretch>
          </a:blipFill>
        </p:spPr>
      </p:sp>
      <p:grpSp>
        <p:nvGrpSpPr>
          <p:cNvPr name="Group 3" id="3"/>
          <p:cNvGrpSpPr/>
          <p:nvPr/>
        </p:nvGrpSpPr>
        <p:grpSpPr>
          <a:xfrm rot="0">
            <a:off x="-970336" y="9503317"/>
            <a:ext cx="19527875" cy="3086100"/>
            <a:chOff x="0" y="0"/>
            <a:chExt cx="5143144" cy="812800"/>
          </a:xfrm>
        </p:grpSpPr>
        <p:sp>
          <p:nvSpPr>
            <p:cNvPr name="Freeform 4" id="4"/>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5" id="5"/>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6" id="6"/>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603788" y="1521924"/>
            <a:ext cx="13260423" cy="6533772"/>
          </a:xfrm>
          <a:custGeom>
            <a:avLst/>
            <a:gdLst/>
            <a:ahLst/>
            <a:cxnLst/>
            <a:rect r="r" b="b" t="t" l="l"/>
            <a:pathLst>
              <a:path h="6533772" w="13260423">
                <a:moveTo>
                  <a:pt x="0" y="0"/>
                </a:moveTo>
                <a:lnTo>
                  <a:pt x="13260423" y="0"/>
                </a:lnTo>
                <a:lnTo>
                  <a:pt x="13260423" y="6533772"/>
                </a:lnTo>
                <a:lnTo>
                  <a:pt x="0" y="6533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74973" y="9813283"/>
            <a:ext cx="1196029" cy="220098"/>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015</a:t>
            </a:r>
          </a:p>
        </p:txBody>
      </p:sp>
      <p:sp>
        <p:nvSpPr>
          <p:cNvPr name="TextBox 9" id="9"/>
          <p:cNvSpPr txBox="true"/>
          <p:nvPr/>
        </p:nvSpPr>
        <p:spPr>
          <a:xfrm rot="0">
            <a:off x="4347491" y="4376821"/>
            <a:ext cx="9341757" cy="1569053"/>
          </a:xfrm>
          <a:prstGeom prst="rect">
            <a:avLst/>
          </a:prstGeom>
        </p:spPr>
        <p:txBody>
          <a:bodyPr anchor="t" rtlCol="false" tIns="0" lIns="0" bIns="0" rIns="0">
            <a:spAutoFit/>
          </a:bodyPr>
          <a:lstStyle/>
          <a:p>
            <a:pPr algn="ctr">
              <a:lnSpc>
                <a:spcPts val="11054"/>
              </a:lnSpc>
            </a:pPr>
            <a:r>
              <a:rPr lang="en-US" sz="10945" b="true">
                <a:solidFill>
                  <a:srgbClr val="16456A"/>
                </a:solidFill>
                <a:latin typeface="Poppins Bold"/>
                <a:ea typeface="Poppins Bold"/>
                <a:cs typeface="Poppins Bold"/>
                <a:sym typeface="Poppins Bold"/>
              </a:rPr>
              <a:t>Thank You!</a:t>
            </a:r>
          </a:p>
        </p:txBody>
      </p:sp>
      <p:sp>
        <p:nvSpPr>
          <p:cNvPr name="TextBox 10" id="10"/>
          <p:cNvSpPr txBox="true"/>
          <p:nvPr/>
        </p:nvSpPr>
        <p:spPr>
          <a:xfrm rot="0">
            <a:off x="4858356" y="5888724"/>
            <a:ext cx="8140028" cy="700071"/>
          </a:xfrm>
          <a:prstGeom prst="rect">
            <a:avLst/>
          </a:prstGeom>
        </p:spPr>
        <p:txBody>
          <a:bodyPr anchor="t" rtlCol="false" tIns="0" lIns="0" bIns="0" rIns="0">
            <a:spAutoFit/>
          </a:bodyPr>
          <a:lstStyle/>
          <a:p>
            <a:pPr algn="ctr">
              <a:lnSpc>
                <a:spcPts val="2747"/>
              </a:lnSpc>
            </a:pPr>
            <a:r>
              <a:rPr lang="en-US" sz="1962">
                <a:solidFill>
                  <a:srgbClr val="16456A"/>
                </a:solidFill>
                <a:latin typeface="Poppins"/>
                <a:ea typeface="Poppins"/>
                <a:cs typeface="Poppins"/>
                <a:sym typeface="Poppins"/>
              </a:rPr>
              <a:t>Thank you for your attention. We hope this presentation enhanced your understanding of computer software essentials.</a:t>
            </a:r>
          </a:p>
        </p:txBody>
      </p:sp>
      <p:sp>
        <p:nvSpPr>
          <p:cNvPr name="Freeform 11" id="11"/>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25a50b09105562264fb4b1a4f834e0bb">
  <xsd:schema xmlns:xsd="http://www.w3.org/2001/XMLSchema" xmlns:xs="http://www.w3.org/2001/XMLSchema" xmlns:p="http://schemas.microsoft.com/office/2006/metadata/properties" xmlns:ns2="6bf15077-4e46-4e3a-99a0-3fd5e4d406d3" targetNamespace="http://schemas.microsoft.com/office/2006/metadata/properties" ma:root="true" ma:fieldsID="ff57562ea5f29b8a889136f2d3c08a4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2B5BFF9-90F7-4FD7-8DC1-6AE906B439C4}"/>
</file>

<file path=customXml/itemProps2.xml><?xml version="1.0" encoding="utf-8"?>
<ds:datastoreItem xmlns:ds="http://schemas.openxmlformats.org/officeDocument/2006/customXml" ds:itemID="{9AFB6984-7BB4-40A3-862D-A91D62ADC88B}"/>
</file>

<file path=customXml/itemProps3.xml><?xml version="1.0" encoding="utf-8"?>
<ds:datastoreItem xmlns:ds="http://schemas.openxmlformats.org/officeDocument/2006/customXml" ds:itemID="{3C35CCA9-CD7A-468E-8F10-71112047B70C}"/>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Illustrative Computer Software Presentation</dc:title>
  <cp:revision>1</cp:revision>
  <dcterms:created xsi:type="dcterms:W3CDTF">2006-08-16T00:00:00Z</dcterms:created>
  <dcterms:modified xsi:type="dcterms:W3CDTF">2011-08-01T06:04:30Z</dcterms:modified>
  <dc:identifier>DAG5Zns1KOQ</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0x0101006E4823951FA9BF42B980A03718EB0B18</vt:lpwstr>
  </property>
</Properties>
</file>