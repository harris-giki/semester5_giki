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Lato" charset="1" panose="020F0502020204030203"/>
      <p:regular r:id="rId22"/>
    </p:embeddedFont>
    <p:embeddedFont>
      <p:font typeface="Poppins" charset="1" panose="00000500000000000000"/>
      <p:regular r:id="rId23"/>
    </p:embeddedFont>
    <p:embeddedFont>
      <p:font typeface="Lato Bold" charset="1" panose="020F05020202040302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6" Type="http://schemas.openxmlformats.org/officeDocument/2006/relationships/customXml" Target="../customXml/item2.xml"/><Relationship Id="rId21" Type="http://schemas.openxmlformats.org/officeDocument/2006/relationships/font" Target="fonts/font21.fntdata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1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font" Target="fonts/font24.fntdata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font" Target="fonts/font23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font" Target="fonts/font22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0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2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2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https://sciprofiles.com/institution/534/alexandru_ioan_cuza_university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665" y="645697"/>
            <a:ext cx="16598104" cy="995428"/>
            <a:chOff x="0" y="0"/>
            <a:chExt cx="4371517" cy="262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1517" cy="262170"/>
            </a:xfrm>
            <a:custGeom>
              <a:avLst/>
              <a:gdLst/>
              <a:ahLst/>
              <a:cxnLst/>
              <a:rect r="r" b="b" t="t" l="l"/>
              <a:pathLst>
                <a:path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651837" y="289333"/>
            <a:ext cx="12112509" cy="8707633"/>
          </a:xfrm>
          <a:custGeom>
            <a:avLst/>
            <a:gdLst/>
            <a:ahLst/>
            <a:cxnLst/>
            <a:rect r="r" b="b" t="t" l="l"/>
            <a:pathLst>
              <a:path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1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1305" y="879197"/>
            <a:ext cx="528429" cy="528429"/>
          </a:xfrm>
          <a:custGeom>
            <a:avLst/>
            <a:gdLst/>
            <a:ahLst/>
            <a:cxnLst/>
            <a:rect r="r" b="b" t="t" l="l"/>
            <a:pathLst>
              <a:path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8665" y="3174437"/>
            <a:ext cx="11411477" cy="341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11709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MVC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6669" y="882426"/>
            <a:ext cx="473773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CS-325- MR. ISRAR AHMED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8665" y="7005955"/>
            <a:ext cx="7762921" cy="225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Mohid Ali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Muhammad Abubakar 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542318">
            <a:off x="12037037" y="-95437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5985" y="3328464"/>
            <a:ext cx="15148103" cy="6232551"/>
            <a:chOff x="0" y="0"/>
            <a:chExt cx="3989624" cy="16414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989624" cy="1641495"/>
            </a:xfrm>
            <a:custGeom>
              <a:avLst/>
              <a:gdLst/>
              <a:ahLst/>
              <a:cxnLst/>
              <a:rect r="r" b="b" t="t" l="l"/>
              <a:pathLst>
                <a:path h="1641495" w="3989624">
                  <a:moveTo>
                    <a:pt x="10222" y="0"/>
                  </a:moveTo>
                  <a:lnTo>
                    <a:pt x="3979402" y="0"/>
                  </a:lnTo>
                  <a:cubicBezTo>
                    <a:pt x="3982113" y="0"/>
                    <a:pt x="3984713" y="1077"/>
                    <a:pt x="3986630" y="2994"/>
                  </a:cubicBezTo>
                  <a:cubicBezTo>
                    <a:pt x="3988546" y="4911"/>
                    <a:pt x="3989624" y="7511"/>
                    <a:pt x="3989624" y="10222"/>
                  </a:cubicBezTo>
                  <a:lnTo>
                    <a:pt x="3989624" y="1631273"/>
                  </a:lnTo>
                  <a:cubicBezTo>
                    <a:pt x="3989624" y="1633984"/>
                    <a:pt x="3988546" y="1636584"/>
                    <a:pt x="3986630" y="1638501"/>
                  </a:cubicBezTo>
                  <a:cubicBezTo>
                    <a:pt x="3984713" y="1640418"/>
                    <a:pt x="3982113" y="1641495"/>
                    <a:pt x="3979402" y="1641495"/>
                  </a:cubicBezTo>
                  <a:lnTo>
                    <a:pt x="10222" y="1641495"/>
                  </a:lnTo>
                  <a:cubicBezTo>
                    <a:pt x="7511" y="1641495"/>
                    <a:pt x="4911" y="1640418"/>
                    <a:pt x="2994" y="1638501"/>
                  </a:cubicBezTo>
                  <a:cubicBezTo>
                    <a:pt x="1077" y="1636584"/>
                    <a:pt x="0" y="1633984"/>
                    <a:pt x="0" y="1631273"/>
                  </a:cubicBezTo>
                  <a:lnTo>
                    <a:pt x="0" y="10222"/>
                  </a:lnTo>
                  <a:cubicBezTo>
                    <a:pt x="0" y="7511"/>
                    <a:pt x="1077" y="4911"/>
                    <a:pt x="2994" y="2994"/>
                  </a:cubicBezTo>
                  <a:cubicBezTo>
                    <a:pt x="4911" y="1077"/>
                    <a:pt x="7511" y="0"/>
                    <a:pt x="10222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989624" cy="16795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2147874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19" y="0"/>
                </a:lnTo>
                <a:lnTo>
                  <a:pt x="5747719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77667" y="1839074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1" y="0"/>
                </a:lnTo>
                <a:lnTo>
                  <a:pt x="896421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5985" y="713019"/>
            <a:ext cx="7273915" cy="202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TODAY'S AGENDA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4052" y="3934895"/>
            <a:ext cx="54416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Introduction to MVC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5526" y="3934895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24052" y="5073670"/>
            <a:ext cx="54416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25526" y="5073670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24052" y="6210320"/>
            <a:ext cx="54416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The Model Component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5526" y="6210320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24052" y="7346970"/>
            <a:ext cx="54416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Live </a:t>
            </a: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MVC Use Case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5526" y="7346970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24052" y="8483621"/>
            <a:ext cx="54416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Why Developers Use MVC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5526" y="8483621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21293" y="3935958"/>
            <a:ext cx="54416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Insights from Research Study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22767" y="3935958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1293" y="5074733"/>
            <a:ext cx="54416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Advantages/Disadvantages of MVC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22767" y="5074733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21293" y="6211383"/>
            <a:ext cx="54416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Activity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22767" y="6211383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21293" y="7348033"/>
            <a:ext cx="54416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Q&amp;A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22767" y="7348033"/>
            <a:ext cx="44455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83875" y="0"/>
            <a:ext cx="6904125" cy="10287000"/>
            <a:chOff x="0" y="0"/>
            <a:chExt cx="950116" cy="14156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116" cy="1415652"/>
            </a:xfrm>
            <a:custGeom>
              <a:avLst/>
              <a:gdLst/>
              <a:ahLst/>
              <a:cxnLst/>
              <a:rect r="r" b="b" t="t" l="l"/>
              <a:pathLst>
                <a:path h="1415652" w="950116">
                  <a:moveTo>
                    <a:pt x="0" y="0"/>
                  </a:moveTo>
                  <a:lnTo>
                    <a:pt x="950116" y="0"/>
                  </a:lnTo>
                  <a:lnTo>
                    <a:pt x="950116" y="1415652"/>
                  </a:lnTo>
                  <a:lnTo>
                    <a:pt x="0" y="1415652"/>
                  </a:lnTo>
                  <a:close/>
                </a:path>
              </a:pathLst>
            </a:custGeom>
            <a:blipFill>
              <a:blip r:embed="rId2"/>
              <a:stretch>
                <a:fillRect l="-61646" t="0" r="-61646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482999"/>
            <a:ext cx="12577332" cy="8137251"/>
            <a:chOff x="0" y="0"/>
            <a:chExt cx="3312548" cy="2143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12549" cy="2143144"/>
            </a:xfrm>
            <a:custGeom>
              <a:avLst/>
              <a:gdLst/>
              <a:ahLst/>
              <a:cxnLst/>
              <a:rect r="r" b="b" t="t" l="l"/>
              <a:pathLst>
                <a:path h="2143144" w="3312549">
                  <a:moveTo>
                    <a:pt x="12311" y="0"/>
                  </a:moveTo>
                  <a:lnTo>
                    <a:pt x="3300238" y="0"/>
                  </a:lnTo>
                  <a:cubicBezTo>
                    <a:pt x="3307037" y="0"/>
                    <a:pt x="3312549" y="5512"/>
                    <a:pt x="3312549" y="12311"/>
                  </a:cubicBezTo>
                  <a:lnTo>
                    <a:pt x="3312549" y="2130834"/>
                  </a:lnTo>
                  <a:cubicBezTo>
                    <a:pt x="3312549" y="2134099"/>
                    <a:pt x="3311251" y="2137230"/>
                    <a:pt x="3308943" y="2139539"/>
                  </a:cubicBezTo>
                  <a:cubicBezTo>
                    <a:pt x="3306634" y="2141847"/>
                    <a:pt x="3303503" y="2143144"/>
                    <a:pt x="3300238" y="2143144"/>
                  </a:cubicBezTo>
                  <a:lnTo>
                    <a:pt x="12311" y="2143144"/>
                  </a:lnTo>
                  <a:cubicBezTo>
                    <a:pt x="9046" y="2143144"/>
                    <a:pt x="5915" y="2141847"/>
                    <a:pt x="3606" y="2139539"/>
                  </a:cubicBezTo>
                  <a:cubicBezTo>
                    <a:pt x="1297" y="2137230"/>
                    <a:pt x="0" y="2134099"/>
                    <a:pt x="0" y="2130834"/>
                  </a:cubicBezTo>
                  <a:lnTo>
                    <a:pt x="0" y="12311"/>
                  </a:lnTo>
                  <a:cubicBezTo>
                    <a:pt x="0" y="9046"/>
                    <a:pt x="1297" y="5915"/>
                    <a:pt x="3606" y="3606"/>
                  </a:cubicBezTo>
                  <a:cubicBezTo>
                    <a:pt x="5915" y="1297"/>
                    <a:pt x="9046" y="0"/>
                    <a:pt x="12311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12548" cy="21812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6626729">
            <a:off x="-8130685" y="1817905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12631" y="37829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61193" y="6339430"/>
            <a:ext cx="6651438" cy="2520176"/>
          </a:xfrm>
          <a:custGeom>
            <a:avLst/>
            <a:gdLst/>
            <a:ahLst/>
            <a:cxnLst/>
            <a:rect r="r" b="b" t="t" l="l"/>
            <a:pathLst>
              <a:path h="2520176" w="6651438">
                <a:moveTo>
                  <a:pt x="0" y="0"/>
                </a:moveTo>
                <a:lnTo>
                  <a:pt x="6651438" y="0"/>
                </a:lnTo>
                <a:lnTo>
                  <a:pt x="6651438" y="2520176"/>
                </a:lnTo>
                <a:lnTo>
                  <a:pt x="0" y="25201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018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83564" y="4395060"/>
            <a:ext cx="926760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What is MVC?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 software design pattern that separates an app into Model, View, and Controller</a:t>
            </a:r>
          </a:p>
          <a:p>
            <a:pPr algn="l" marL="474983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Purpose: clean structure, easier maintenance, better scalability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339023" y="2285225"/>
            <a:ext cx="8043479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438636" y="4802688"/>
            <a:ext cx="8729104" cy="681625"/>
            <a:chOff x="0" y="0"/>
            <a:chExt cx="2299023" cy="179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9023" cy="179523"/>
            </a:xfrm>
            <a:custGeom>
              <a:avLst/>
              <a:gdLst/>
              <a:ahLst/>
              <a:cxnLst/>
              <a:rect r="r" b="b" t="t" l="l"/>
              <a:pathLst>
                <a:path h="179523" w="2299023">
                  <a:moveTo>
                    <a:pt x="56762" y="0"/>
                  </a:moveTo>
                  <a:lnTo>
                    <a:pt x="2242261" y="0"/>
                  </a:lnTo>
                  <a:cubicBezTo>
                    <a:pt x="2257315" y="0"/>
                    <a:pt x="2271753" y="5980"/>
                    <a:pt x="2282398" y="16625"/>
                  </a:cubicBezTo>
                  <a:cubicBezTo>
                    <a:pt x="2293043" y="27270"/>
                    <a:pt x="2299023" y="41708"/>
                    <a:pt x="2299023" y="56762"/>
                  </a:cubicBezTo>
                  <a:lnTo>
                    <a:pt x="2299023" y="122760"/>
                  </a:lnTo>
                  <a:cubicBezTo>
                    <a:pt x="2299023" y="137815"/>
                    <a:pt x="2293043" y="152252"/>
                    <a:pt x="2282398" y="162897"/>
                  </a:cubicBezTo>
                  <a:cubicBezTo>
                    <a:pt x="2271753" y="173542"/>
                    <a:pt x="2257315" y="179523"/>
                    <a:pt x="2242261" y="179523"/>
                  </a:cubicBezTo>
                  <a:lnTo>
                    <a:pt x="56762" y="179523"/>
                  </a:lnTo>
                  <a:cubicBezTo>
                    <a:pt x="41708" y="179523"/>
                    <a:pt x="27270" y="173542"/>
                    <a:pt x="16625" y="162897"/>
                  </a:cubicBezTo>
                  <a:cubicBezTo>
                    <a:pt x="5980" y="152252"/>
                    <a:pt x="0" y="137815"/>
                    <a:pt x="0" y="122760"/>
                  </a:cubicBezTo>
                  <a:lnTo>
                    <a:pt x="0" y="56762"/>
                  </a:lnTo>
                  <a:cubicBezTo>
                    <a:pt x="0" y="41708"/>
                    <a:pt x="5980" y="27270"/>
                    <a:pt x="16625" y="16625"/>
                  </a:cubicBezTo>
                  <a:cubicBezTo>
                    <a:pt x="27270" y="5980"/>
                    <a:pt x="41708" y="0"/>
                    <a:pt x="567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9023" cy="217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74588" y="926782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74588" y="4010041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74588" y="7505560"/>
            <a:ext cx="457200" cy="460655"/>
          </a:xfrm>
          <a:custGeom>
            <a:avLst/>
            <a:gdLst/>
            <a:ahLst/>
            <a:cxnLst/>
            <a:rect r="r" b="b" t="t" l="l"/>
            <a:pathLst>
              <a:path h="460655" w="457200">
                <a:moveTo>
                  <a:pt x="0" y="0"/>
                </a:moveTo>
                <a:lnTo>
                  <a:pt x="457200" y="0"/>
                </a:lnTo>
                <a:lnTo>
                  <a:pt x="457200" y="460655"/>
                </a:lnTo>
                <a:lnTo>
                  <a:pt x="0" y="4606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361880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435729">
            <a:off x="-696093" y="-3780464"/>
            <a:ext cx="7951775" cy="8527373"/>
          </a:xfrm>
          <a:custGeom>
            <a:avLst/>
            <a:gdLst/>
            <a:ahLst/>
            <a:cxnLst/>
            <a:rect r="r" b="b" t="t" l="l"/>
            <a:pathLst>
              <a:path h="8527373" w="7951775">
                <a:moveTo>
                  <a:pt x="0" y="0"/>
                </a:moveTo>
                <a:lnTo>
                  <a:pt x="7951775" y="0"/>
                </a:lnTo>
                <a:lnTo>
                  <a:pt x="7951775" y="8527373"/>
                </a:lnTo>
                <a:lnTo>
                  <a:pt x="0" y="8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798106" y="869632"/>
            <a:ext cx="51996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Increasing Application Complexity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98106" y="1631944"/>
            <a:ext cx="7461194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Modern applications are becoming more complex, with growing business logic, diverse user interfaces, and rapidly evolving features making it difficult to maintain clean, organized codebases.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059170"/>
            <a:ext cx="585318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98106" y="3995893"/>
            <a:ext cx="51996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Poor Separation of Responsibilities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98106" y="4755988"/>
            <a:ext cx="7461194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Without a structured architecture, developers often mix UI, logic, and data operations in the same files, leading to tightly coupled components, slower development, and harder debugging.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98106" y="7389495"/>
            <a:ext cx="6211742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 Difficulty Scaling and Maintaining Code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98106" y="7918590"/>
            <a:ext cx="7461194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As applications grow, the lack of modularity results in unstable updates, reduced developer productivity, and significant technical debt, slowing down innovation and feature delivery.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6844491" y="-3015084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4011079" y="-2759658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5793" y="5362801"/>
            <a:ext cx="705511" cy="722674"/>
          </a:xfrm>
          <a:custGeom>
            <a:avLst/>
            <a:gdLst/>
            <a:ahLst/>
            <a:cxnLst/>
            <a:rect r="r" b="b" t="t" l="l"/>
            <a:pathLst>
              <a:path h="722674" w="705511">
                <a:moveTo>
                  <a:pt x="0" y="0"/>
                </a:moveTo>
                <a:lnTo>
                  <a:pt x="705511" y="0"/>
                </a:lnTo>
                <a:lnTo>
                  <a:pt x="705511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4049" y="5362801"/>
            <a:ext cx="717254" cy="722674"/>
          </a:xfrm>
          <a:custGeom>
            <a:avLst/>
            <a:gdLst/>
            <a:ahLst/>
            <a:cxnLst/>
            <a:rect r="r" b="b" t="t" l="l"/>
            <a:pathLst>
              <a:path h="722674" w="717254">
                <a:moveTo>
                  <a:pt x="0" y="0"/>
                </a:moveTo>
                <a:lnTo>
                  <a:pt x="717255" y="0"/>
                </a:lnTo>
                <a:lnTo>
                  <a:pt x="717255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75638" y="5516524"/>
            <a:ext cx="717254" cy="722674"/>
          </a:xfrm>
          <a:custGeom>
            <a:avLst/>
            <a:gdLst/>
            <a:ahLst/>
            <a:cxnLst/>
            <a:rect r="r" b="b" t="t" l="l"/>
            <a:pathLst>
              <a:path h="722674" w="717254">
                <a:moveTo>
                  <a:pt x="0" y="0"/>
                </a:moveTo>
                <a:lnTo>
                  <a:pt x="717255" y="0"/>
                </a:lnTo>
                <a:lnTo>
                  <a:pt x="717255" y="722674"/>
                </a:lnTo>
                <a:lnTo>
                  <a:pt x="0" y="722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77667" y="5724138"/>
            <a:ext cx="1256063" cy="1231419"/>
          </a:xfrm>
          <a:custGeom>
            <a:avLst/>
            <a:gdLst/>
            <a:ahLst/>
            <a:cxnLst/>
            <a:rect r="r" b="b" t="t" l="l"/>
            <a:pathLst>
              <a:path h="1231419" w="1256063">
                <a:moveTo>
                  <a:pt x="0" y="0"/>
                </a:moveTo>
                <a:lnTo>
                  <a:pt x="1256063" y="0"/>
                </a:lnTo>
                <a:lnTo>
                  <a:pt x="1256063" y="1231419"/>
                </a:lnTo>
                <a:lnTo>
                  <a:pt x="0" y="12314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33" t="-10434" r="-4133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47967" y="5476595"/>
            <a:ext cx="1359911" cy="1359911"/>
          </a:xfrm>
          <a:custGeom>
            <a:avLst/>
            <a:gdLst/>
            <a:ahLst/>
            <a:cxnLst/>
            <a:rect r="r" b="b" t="t" l="l"/>
            <a:pathLst>
              <a:path h="1359911" w="1359911">
                <a:moveTo>
                  <a:pt x="0" y="0"/>
                </a:moveTo>
                <a:lnTo>
                  <a:pt x="1359912" y="0"/>
                </a:lnTo>
                <a:lnTo>
                  <a:pt x="1359912" y="1359911"/>
                </a:lnTo>
                <a:lnTo>
                  <a:pt x="0" y="1359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93873" y="5406600"/>
            <a:ext cx="717254" cy="722674"/>
          </a:xfrm>
          <a:custGeom>
            <a:avLst/>
            <a:gdLst/>
            <a:ahLst/>
            <a:cxnLst/>
            <a:rect r="r" b="b" t="t" l="l"/>
            <a:pathLst>
              <a:path h="722674" w="717254">
                <a:moveTo>
                  <a:pt x="0" y="0"/>
                </a:moveTo>
                <a:lnTo>
                  <a:pt x="717254" y="0"/>
                </a:lnTo>
                <a:lnTo>
                  <a:pt x="717254" y="722675"/>
                </a:lnTo>
                <a:lnTo>
                  <a:pt x="0" y="722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74068" y="5406600"/>
            <a:ext cx="1504361" cy="1347668"/>
          </a:xfrm>
          <a:custGeom>
            <a:avLst/>
            <a:gdLst/>
            <a:ahLst/>
            <a:cxnLst/>
            <a:rect r="r" b="b" t="t" l="l"/>
            <a:pathLst>
              <a:path h="1347668" w="1504361">
                <a:moveTo>
                  <a:pt x="0" y="0"/>
                </a:moveTo>
                <a:lnTo>
                  <a:pt x="1504362" y="0"/>
                </a:lnTo>
                <a:lnTo>
                  <a:pt x="1504362" y="1347668"/>
                </a:lnTo>
                <a:lnTo>
                  <a:pt x="0" y="13476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189" r="0" b="-943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33588" y="7041632"/>
            <a:ext cx="6654163" cy="4433336"/>
          </a:xfrm>
          <a:custGeom>
            <a:avLst/>
            <a:gdLst/>
            <a:ahLst/>
            <a:cxnLst/>
            <a:rect r="r" b="b" t="t" l="l"/>
            <a:pathLst>
              <a:path h="4433336" w="6654163">
                <a:moveTo>
                  <a:pt x="0" y="0"/>
                </a:moveTo>
                <a:lnTo>
                  <a:pt x="6654163" y="0"/>
                </a:lnTo>
                <a:lnTo>
                  <a:pt x="6654163" y="4433336"/>
                </a:lnTo>
                <a:lnTo>
                  <a:pt x="0" y="44333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22626" y="2707619"/>
            <a:ext cx="1043804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00"/>
              </a:lnSpc>
            </a:pPr>
            <a:r>
              <a:rPr lang="en-US" b="true" sz="6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THE MODEL COMPONENT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75638" y="6944278"/>
            <a:ext cx="473392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Defines how data is stored and manipulated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93873" y="6976028"/>
            <a:ext cx="473359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Independent of the UI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7404" y="6944278"/>
            <a:ext cx="473392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Handles data, business logic, and rules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6844491" y="-3015084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5"/>
                </a:lnTo>
                <a:lnTo>
                  <a:pt x="0" y="7040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3794" y="3738578"/>
            <a:ext cx="5861886" cy="5861886"/>
          </a:xfrm>
          <a:custGeom>
            <a:avLst/>
            <a:gdLst/>
            <a:ahLst/>
            <a:cxnLst/>
            <a:rect r="r" b="b" t="t" l="l"/>
            <a:pathLst>
              <a:path h="5861886" w="5861886">
                <a:moveTo>
                  <a:pt x="0" y="0"/>
                </a:moveTo>
                <a:lnTo>
                  <a:pt x="5861887" y="0"/>
                </a:lnTo>
                <a:lnTo>
                  <a:pt x="5861887" y="5861886"/>
                </a:lnTo>
                <a:lnTo>
                  <a:pt x="0" y="5861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549757" y="6366995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99986" y="7788527"/>
            <a:ext cx="2679744" cy="2679744"/>
          </a:xfrm>
          <a:custGeom>
            <a:avLst/>
            <a:gdLst/>
            <a:ahLst/>
            <a:cxnLst/>
            <a:rect r="r" b="b" t="t" l="l"/>
            <a:pathLst>
              <a:path h="2679744" w="2679744">
                <a:moveTo>
                  <a:pt x="0" y="0"/>
                </a:moveTo>
                <a:lnTo>
                  <a:pt x="2679743" y="0"/>
                </a:lnTo>
                <a:lnTo>
                  <a:pt x="2679743" y="2679743"/>
                </a:lnTo>
                <a:lnTo>
                  <a:pt x="0" y="2679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58964" y="3271853"/>
            <a:ext cx="1043488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THE VIEW COMPONENT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48093" y="4869558"/>
            <a:ext cx="10897066" cy="179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6388" indent="-338194" lvl="1">
              <a:lnSpc>
                <a:spcPts val="3446"/>
              </a:lnSpc>
              <a:buFont typeface="Arial"/>
              <a:buChar char="•"/>
            </a:pPr>
            <a:r>
              <a:rPr lang="en-US" b="true" sz="3132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RESPONSIBLE FOR THE USER INTERFACE</a:t>
            </a:r>
          </a:p>
          <a:p>
            <a:pPr algn="l" marL="676388" indent="-338194" lvl="1">
              <a:lnSpc>
                <a:spcPts val="3446"/>
              </a:lnSpc>
              <a:buFont typeface="Arial"/>
              <a:buChar char="•"/>
            </a:pPr>
            <a:r>
              <a:rPr lang="en-US" b="true" sz="3132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DISPLAYS DATA FROM THE MODEL</a:t>
            </a:r>
          </a:p>
          <a:p>
            <a:pPr algn="l" marL="676388" indent="-338194" lvl="1">
              <a:lnSpc>
                <a:spcPts val="3446"/>
              </a:lnSpc>
              <a:buFont typeface="Arial"/>
              <a:buChar char="•"/>
            </a:pPr>
            <a:r>
              <a:rPr lang="en-US" b="true" sz="3132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CONTAINS NO BUSINESS LOGIC</a:t>
            </a:r>
          </a:p>
          <a:p>
            <a:pPr algn="l">
              <a:lnSpc>
                <a:spcPts val="344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4872238" y="-3716569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6" y="0"/>
                </a:lnTo>
                <a:lnTo>
                  <a:pt x="9744476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2646042" y="-3716569"/>
            <a:ext cx="9744477" cy="7040385"/>
          </a:xfrm>
          <a:custGeom>
            <a:avLst/>
            <a:gdLst/>
            <a:ahLst/>
            <a:cxnLst/>
            <a:rect r="r" b="b" t="t" l="l"/>
            <a:pathLst>
              <a:path h="7040385" w="9744477">
                <a:moveTo>
                  <a:pt x="0" y="0"/>
                </a:moveTo>
                <a:lnTo>
                  <a:pt x="9744477" y="0"/>
                </a:lnTo>
                <a:lnTo>
                  <a:pt x="9744477" y="7040384"/>
                </a:lnTo>
                <a:lnTo>
                  <a:pt x="0" y="7040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02084" y="3694642"/>
            <a:ext cx="6107712" cy="6107712"/>
          </a:xfrm>
          <a:custGeom>
            <a:avLst/>
            <a:gdLst/>
            <a:ahLst/>
            <a:cxnLst/>
            <a:rect r="r" b="b" t="t" l="l"/>
            <a:pathLst>
              <a:path h="6107712" w="6107712">
                <a:moveTo>
                  <a:pt x="0" y="0"/>
                </a:moveTo>
                <a:lnTo>
                  <a:pt x="6107711" y="0"/>
                </a:lnTo>
                <a:lnTo>
                  <a:pt x="6107711" y="6107711"/>
                </a:lnTo>
                <a:lnTo>
                  <a:pt x="0" y="6107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87161" y="7614510"/>
            <a:ext cx="2472139" cy="2187843"/>
          </a:xfrm>
          <a:custGeom>
            <a:avLst/>
            <a:gdLst/>
            <a:ahLst/>
            <a:cxnLst/>
            <a:rect r="r" b="b" t="t" l="l"/>
            <a:pathLst>
              <a:path h="2187843" w="2472139">
                <a:moveTo>
                  <a:pt x="0" y="0"/>
                </a:moveTo>
                <a:lnTo>
                  <a:pt x="2472139" y="0"/>
                </a:lnTo>
                <a:lnTo>
                  <a:pt x="2472139" y="2187843"/>
                </a:lnTo>
                <a:lnTo>
                  <a:pt x="0" y="21878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72947" y="1561690"/>
            <a:ext cx="11190179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THE CONTROLLER COMPONENT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35203" y="5133975"/>
            <a:ext cx="12922464" cy="13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172" indent="-336586" lvl="1">
              <a:lnSpc>
                <a:spcPts val="3429"/>
              </a:lnSpc>
              <a:buFont typeface="Arial"/>
              <a:buChar char="•"/>
            </a:pPr>
            <a:r>
              <a:rPr lang="en-US" b="true" sz="3117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ACTS AS THE MEDIATOR</a:t>
            </a:r>
          </a:p>
          <a:p>
            <a:pPr algn="l" marL="673172" indent="-336586" lvl="1">
              <a:lnSpc>
                <a:spcPts val="3429"/>
              </a:lnSpc>
              <a:buFont typeface="Arial"/>
              <a:buChar char="•"/>
            </a:pPr>
            <a:r>
              <a:rPr lang="en-US" b="true" sz="3117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RECEIVES USER INPUTS AND TRIGGERS MODEL UPDATES</a:t>
            </a:r>
          </a:p>
          <a:p>
            <a:pPr algn="l" marL="673172" indent="-336586" lvl="1">
              <a:lnSpc>
                <a:spcPts val="3429"/>
              </a:lnSpc>
              <a:buFont typeface="Arial"/>
              <a:buChar char="•"/>
            </a:pPr>
            <a:r>
              <a:rPr lang="en-US" b="true" sz="3117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DECIDES WHICH VIEW TO RENDER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71414" y="1920068"/>
            <a:ext cx="13745171" cy="10034901"/>
          </a:xfrm>
          <a:custGeom>
            <a:avLst/>
            <a:gdLst/>
            <a:ahLst/>
            <a:cxnLst/>
            <a:rect r="r" b="b" t="t" l="l"/>
            <a:pathLst>
              <a:path h="10034901" w="13745171">
                <a:moveTo>
                  <a:pt x="0" y="0"/>
                </a:moveTo>
                <a:lnTo>
                  <a:pt x="13745172" y="0"/>
                </a:lnTo>
                <a:lnTo>
                  <a:pt x="13745172" y="10034901"/>
                </a:lnTo>
                <a:lnTo>
                  <a:pt x="0" y="10034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3" t="0" r="-52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32044" y="5783254"/>
            <a:ext cx="6823913" cy="839660"/>
            <a:chOff x="0" y="0"/>
            <a:chExt cx="1797245" cy="2211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7245" cy="221145"/>
            </a:xfrm>
            <a:custGeom>
              <a:avLst/>
              <a:gdLst/>
              <a:ahLst/>
              <a:cxnLst/>
              <a:rect r="r" b="b" t="t" l="l"/>
              <a:pathLst>
                <a:path h="221145" w="1797245">
                  <a:moveTo>
                    <a:pt x="68072" y="0"/>
                  </a:moveTo>
                  <a:lnTo>
                    <a:pt x="1729173" y="0"/>
                  </a:lnTo>
                  <a:cubicBezTo>
                    <a:pt x="1766768" y="0"/>
                    <a:pt x="1797245" y="30477"/>
                    <a:pt x="1797245" y="68072"/>
                  </a:cubicBezTo>
                  <a:lnTo>
                    <a:pt x="1797245" y="153073"/>
                  </a:lnTo>
                  <a:cubicBezTo>
                    <a:pt x="1797245" y="190668"/>
                    <a:pt x="1766768" y="221145"/>
                    <a:pt x="1729173" y="221145"/>
                  </a:cubicBezTo>
                  <a:lnTo>
                    <a:pt x="68072" y="221145"/>
                  </a:lnTo>
                  <a:cubicBezTo>
                    <a:pt x="30477" y="221145"/>
                    <a:pt x="0" y="190668"/>
                    <a:pt x="0" y="153073"/>
                  </a:cubicBezTo>
                  <a:lnTo>
                    <a:pt x="0" y="68072"/>
                  </a:lnTo>
                  <a:cubicBezTo>
                    <a:pt x="0" y="30477"/>
                    <a:pt x="30477" y="0"/>
                    <a:pt x="68072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FD944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97245" cy="259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094968" y="6015759"/>
            <a:ext cx="365752" cy="374650"/>
          </a:xfrm>
          <a:custGeom>
            <a:avLst/>
            <a:gdLst/>
            <a:ahLst/>
            <a:cxnLst/>
            <a:rect r="r" b="b" t="t" l="l"/>
            <a:pathLst>
              <a:path h="374650" w="365752">
                <a:moveTo>
                  <a:pt x="0" y="0"/>
                </a:moveTo>
                <a:lnTo>
                  <a:pt x="365752" y="0"/>
                </a:lnTo>
                <a:lnTo>
                  <a:pt x="365752" y="374650"/>
                </a:lnTo>
                <a:lnTo>
                  <a:pt x="0" y="374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03289" y="1028700"/>
            <a:ext cx="12081422" cy="99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3"/>
              </a:lnSpc>
            </a:pPr>
            <a:r>
              <a:rPr lang="en-US" b="true" sz="653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539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L</a:t>
            </a:r>
            <a:r>
              <a:rPr lang="en-US" b="true" sz="653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IVE MVC USE CASE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06049" y="5958609"/>
            <a:ext cx="385414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FD944"/>
                </a:solidFill>
                <a:latin typeface="Lato Bold"/>
                <a:ea typeface="Lato Bold"/>
                <a:cs typeface="Lato Bold"/>
                <a:sym typeface="Lato Bold"/>
              </a:rPr>
              <a:t>TASK MANAGER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81579">
            <a:off x="11199066" y="124438"/>
            <a:ext cx="10128448" cy="10895890"/>
          </a:xfrm>
          <a:custGeom>
            <a:avLst/>
            <a:gdLst/>
            <a:ahLst/>
            <a:cxnLst/>
            <a:rect r="r" b="b" t="t" l="l"/>
            <a:pathLst>
              <a:path h="10895890" w="10128448">
                <a:moveTo>
                  <a:pt x="0" y="0"/>
                </a:moveTo>
                <a:lnTo>
                  <a:pt x="10128447" y="0"/>
                </a:lnTo>
                <a:lnTo>
                  <a:pt x="10128447" y="10895890"/>
                </a:lnTo>
                <a:lnTo>
                  <a:pt x="0" y="108958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" t="0" r="-15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80473" y="7962921"/>
            <a:ext cx="5747719" cy="3384081"/>
          </a:xfrm>
          <a:custGeom>
            <a:avLst/>
            <a:gdLst/>
            <a:ahLst/>
            <a:cxnLst/>
            <a:rect r="r" b="b" t="t" l="l"/>
            <a:pathLst>
              <a:path h="3384081" w="5747719">
                <a:moveTo>
                  <a:pt x="0" y="0"/>
                </a:moveTo>
                <a:lnTo>
                  <a:pt x="5747720" y="0"/>
                </a:lnTo>
                <a:lnTo>
                  <a:pt x="5747720" y="3384080"/>
                </a:lnTo>
                <a:lnTo>
                  <a:pt x="0" y="3384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02" t="0" r="0" b="-1431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96037" y="8607890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947720"/>
            <a:ext cx="8229600" cy="82296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60263" y="1065064"/>
            <a:ext cx="6529097" cy="652909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48871" y="1184144"/>
            <a:ext cx="4606904" cy="460690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2975" y="4047603"/>
            <a:ext cx="8337603" cy="214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5898" indent="-262949" lvl="1">
              <a:lnSpc>
                <a:spcPts val="3410"/>
              </a:lnSpc>
              <a:buFont typeface="Arial"/>
              <a:buChar char="•"/>
            </a:pPr>
            <a:r>
              <a:rPr lang="en-US" sz="243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Separation of concerns</a:t>
            </a:r>
          </a:p>
          <a:p>
            <a:pPr algn="l" marL="525898" indent="-262949" lvl="1">
              <a:lnSpc>
                <a:spcPts val="3410"/>
              </a:lnSpc>
              <a:buFont typeface="Arial"/>
              <a:buChar char="•"/>
            </a:pPr>
            <a:r>
              <a:rPr lang="en-US" sz="243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Parallel development</a:t>
            </a:r>
          </a:p>
          <a:p>
            <a:pPr algn="l" marL="525898" indent="-262949" lvl="1">
              <a:lnSpc>
                <a:spcPts val="3410"/>
              </a:lnSpc>
              <a:buFont typeface="Arial"/>
              <a:buChar char="•"/>
            </a:pPr>
            <a:r>
              <a:rPr lang="en-US" sz="243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Reusability of components</a:t>
            </a:r>
          </a:p>
          <a:p>
            <a:pPr algn="l" marL="525898" indent="-262949" lvl="1">
              <a:lnSpc>
                <a:spcPts val="3410"/>
              </a:lnSpc>
              <a:buFont typeface="Arial"/>
              <a:buChar char="•"/>
            </a:pPr>
            <a:r>
              <a:rPr lang="en-US" sz="243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Maintainability</a:t>
            </a:r>
          </a:p>
          <a:p>
            <a:pPr algn="l" marL="525898" indent="-262949" lvl="1">
              <a:lnSpc>
                <a:spcPts val="3410"/>
              </a:lnSpc>
              <a:spcBef>
                <a:spcPct val="0"/>
              </a:spcBef>
              <a:buFont typeface="Arial"/>
              <a:buChar char="•"/>
            </a:pPr>
            <a:r>
              <a:rPr lang="en-US" sz="2435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Scalability for large apps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3982" y="1174619"/>
            <a:ext cx="5886506" cy="260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WHY DEVELOPERS USE MVC</a:t>
            </a:r>
          </a:p>
        </p:txBody>
      </p:sp>
      <p:sp>
        <p:nvSpPr>
          <p:cNvPr name="TextBox 16" id="16"/>
          <p:cNvSpPr txBox="true"/>
          <p:nvPr/>
        </p:nvSpPr>
        <p:spPr>
          <a:xfrm rot="-1906815">
            <a:off x="12840374" y="7213821"/>
            <a:ext cx="4157476" cy="103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Reusability, Flexibility &amp; Testability</a:t>
            </a:r>
          </a:p>
        </p:txBody>
      </p:sp>
      <p:sp>
        <p:nvSpPr>
          <p:cNvPr name="TextBox 17" id="17"/>
          <p:cNvSpPr txBox="true"/>
          <p:nvPr/>
        </p:nvSpPr>
        <p:spPr>
          <a:xfrm rot="-1594631">
            <a:off x="11434570" y="5336235"/>
            <a:ext cx="4583981" cy="158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Faster Development &amp; Easier Maintenance</a:t>
            </a:r>
          </a:p>
        </p:txBody>
      </p:sp>
      <p:sp>
        <p:nvSpPr>
          <p:cNvPr name="TextBox 18" id="18"/>
          <p:cNvSpPr txBox="true"/>
          <p:nvPr/>
        </p:nvSpPr>
        <p:spPr>
          <a:xfrm rot="-1277786">
            <a:off x="10658859" y="2840921"/>
            <a:ext cx="3825515" cy="243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Better Code Organization &amp; Separation of Concerns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4983476">
            <a:off x="-2892749" y="-95437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2182" y="7222393"/>
            <a:ext cx="6195600" cy="3384081"/>
          </a:xfrm>
          <a:custGeom>
            <a:avLst/>
            <a:gdLst/>
            <a:ahLst/>
            <a:cxnLst/>
            <a:rect r="r" b="b" t="t" l="l"/>
            <a:pathLst>
              <a:path h="3384081" w="6195600">
                <a:moveTo>
                  <a:pt x="0" y="0"/>
                </a:moveTo>
                <a:lnTo>
                  <a:pt x="6195601" y="0"/>
                </a:lnTo>
                <a:lnTo>
                  <a:pt x="6195601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50" t="0" r="0" b="-14318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26837" y="3132575"/>
            <a:ext cx="4235898" cy="6209424"/>
            <a:chOff x="0" y="0"/>
            <a:chExt cx="656251" cy="962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6251" cy="962002"/>
            </a:xfrm>
            <a:custGeom>
              <a:avLst/>
              <a:gdLst/>
              <a:ahLst/>
              <a:cxnLst/>
              <a:rect r="r" b="b" t="t" l="l"/>
              <a:pathLst>
                <a:path h="962002" w="656251">
                  <a:moveTo>
                    <a:pt x="42037" y="0"/>
                  </a:moveTo>
                  <a:lnTo>
                    <a:pt x="614215" y="0"/>
                  </a:lnTo>
                  <a:cubicBezTo>
                    <a:pt x="625363" y="0"/>
                    <a:pt x="636056" y="4429"/>
                    <a:pt x="643939" y="12312"/>
                  </a:cubicBezTo>
                  <a:cubicBezTo>
                    <a:pt x="651823" y="20196"/>
                    <a:pt x="656251" y="30888"/>
                    <a:pt x="656251" y="42037"/>
                  </a:cubicBezTo>
                  <a:lnTo>
                    <a:pt x="656251" y="919965"/>
                  </a:lnTo>
                  <a:cubicBezTo>
                    <a:pt x="656251" y="943182"/>
                    <a:pt x="637431" y="962002"/>
                    <a:pt x="614215" y="962002"/>
                  </a:cubicBezTo>
                  <a:lnTo>
                    <a:pt x="42037" y="962002"/>
                  </a:lnTo>
                  <a:cubicBezTo>
                    <a:pt x="30888" y="962002"/>
                    <a:pt x="20196" y="957573"/>
                    <a:pt x="12312" y="949690"/>
                  </a:cubicBezTo>
                  <a:cubicBezTo>
                    <a:pt x="4429" y="941807"/>
                    <a:pt x="0" y="931114"/>
                    <a:pt x="0" y="919965"/>
                  </a:cubicBezTo>
                  <a:lnTo>
                    <a:pt x="0" y="42037"/>
                  </a:lnTo>
                  <a:cubicBezTo>
                    <a:pt x="0" y="30888"/>
                    <a:pt x="4429" y="20196"/>
                    <a:pt x="12312" y="12312"/>
                  </a:cubicBezTo>
                  <a:cubicBezTo>
                    <a:pt x="20196" y="4429"/>
                    <a:pt x="30888" y="0"/>
                    <a:pt x="42037" y="0"/>
                  </a:cubicBezTo>
                  <a:close/>
                </a:path>
              </a:pathLst>
            </a:custGeom>
            <a:blipFill>
              <a:blip r:embed="rId4"/>
              <a:stretch>
                <a:fillRect l="-75136" t="0" r="-16877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1499" y="3160429"/>
            <a:ext cx="6188862" cy="2961051"/>
            <a:chOff x="0" y="0"/>
            <a:chExt cx="1629988" cy="7798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9988" cy="779865"/>
            </a:xfrm>
            <a:custGeom>
              <a:avLst/>
              <a:gdLst/>
              <a:ahLst/>
              <a:cxnLst/>
              <a:rect r="r" b="b" t="t" l="l"/>
              <a:pathLst>
                <a:path h="779865" w="1629988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50652" y="6380949"/>
            <a:ext cx="6188862" cy="2961051"/>
            <a:chOff x="0" y="0"/>
            <a:chExt cx="1629988" cy="779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29988" cy="779865"/>
            </a:xfrm>
            <a:custGeom>
              <a:avLst/>
              <a:gdLst/>
              <a:ahLst/>
              <a:cxnLst/>
              <a:rect r="r" b="b" t="t" l="l"/>
              <a:pathLst>
                <a:path h="779865" w="1629988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48485" y="3132575"/>
            <a:ext cx="6188862" cy="2961051"/>
            <a:chOff x="0" y="0"/>
            <a:chExt cx="1629988" cy="779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9988" cy="779865"/>
            </a:xfrm>
            <a:custGeom>
              <a:avLst/>
              <a:gdLst/>
              <a:ahLst/>
              <a:cxnLst/>
              <a:rect r="r" b="b" t="t" l="l"/>
              <a:pathLst>
                <a:path h="779865" w="1629988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48485" y="6380949"/>
            <a:ext cx="6188862" cy="2961051"/>
            <a:chOff x="0" y="0"/>
            <a:chExt cx="1629988" cy="779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29988" cy="779865"/>
            </a:xfrm>
            <a:custGeom>
              <a:avLst/>
              <a:gdLst/>
              <a:ahLst/>
              <a:cxnLst/>
              <a:rect r="r" b="b" t="t" l="l"/>
              <a:pathLst>
                <a:path h="779865" w="1629988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44302" y="4112215"/>
            <a:ext cx="5445149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Because the Model is decoupled, you can reuse it in other projects or across modules.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4302" y="3502991"/>
            <a:ext cx="54451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Code Reuse &amp; Modularity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25413" y="945000"/>
            <a:ext cx="9237174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KEY ADVANTAGES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4302" y="7360589"/>
            <a:ext cx="5445149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With MVC, it's easier to write unit tests for Models (business logic) separately from Views.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4302" y="6751365"/>
            <a:ext cx="54451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Maintainability &amp; Testability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42135" y="4112215"/>
            <a:ext cx="5445149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As noted in the preprint, front-end and back-end teams can work simultaneously, speeding up delivery.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42135" y="3502991"/>
            <a:ext cx="544514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Parallel Development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1942135" y="7360589"/>
            <a:ext cx="5445149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It’s flexible enough to integrate with AI / ML, according to recent research.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42135" y="6751365"/>
            <a:ext cx="54451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Adaptability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4983476">
            <a:off x="-2892749" y="-95437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2182" y="7222393"/>
            <a:ext cx="6195600" cy="3384081"/>
          </a:xfrm>
          <a:custGeom>
            <a:avLst/>
            <a:gdLst/>
            <a:ahLst/>
            <a:cxnLst/>
            <a:rect r="r" b="b" t="t" l="l"/>
            <a:pathLst>
              <a:path h="3384081" w="6195600">
                <a:moveTo>
                  <a:pt x="0" y="0"/>
                </a:moveTo>
                <a:lnTo>
                  <a:pt x="6195601" y="0"/>
                </a:lnTo>
                <a:lnTo>
                  <a:pt x="6195601" y="3384081"/>
                </a:lnTo>
                <a:lnTo>
                  <a:pt x="0" y="338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50" t="0" r="0" b="-14318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26837" y="3132575"/>
            <a:ext cx="4235898" cy="6209424"/>
            <a:chOff x="0" y="0"/>
            <a:chExt cx="656251" cy="9620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6251" cy="962002"/>
            </a:xfrm>
            <a:custGeom>
              <a:avLst/>
              <a:gdLst/>
              <a:ahLst/>
              <a:cxnLst/>
              <a:rect r="r" b="b" t="t" l="l"/>
              <a:pathLst>
                <a:path h="962002" w="656251">
                  <a:moveTo>
                    <a:pt x="42037" y="0"/>
                  </a:moveTo>
                  <a:lnTo>
                    <a:pt x="614215" y="0"/>
                  </a:lnTo>
                  <a:cubicBezTo>
                    <a:pt x="625363" y="0"/>
                    <a:pt x="636056" y="4429"/>
                    <a:pt x="643939" y="12312"/>
                  </a:cubicBezTo>
                  <a:cubicBezTo>
                    <a:pt x="651823" y="20196"/>
                    <a:pt x="656251" y="30888"/>
                    <a:pt x="656251" y="42037"/>
                  </a:cubicBezTo>
                  <a:lnTo>
                    <a:pt x="656251" y="919965"/>
                  </a:lnTo>
                  <a:cubicBezTo>
                    <a:pt x="656251" y="943182"/>
                    <a:pt x="637431" y="962002"/>
                    <a:pt x="614215" y="962002"/>
                  </a:cubicBezTo>
                  <a:lnTo>
                    <a:pt x="42037" y="962002"/>
                  </a:lnTo>
                  <a:cubicBezTo>
                    <a:pt x="30888" y="962002"/>
                    <a:pt x="20196" y="957573"/>
                    <a:pt x="12312" y="949690"/>
                  </a:cubicBezTo>
                  <a:cubicBezTo>
                    <a:pt x="4429" y="941807"/>
                    <a:pt x="0" y="931114"/>
                    <a:pt x="0" y="919965"/>
                  </a:cubicBezTo>
                  <a:lnTo>
                    <a:pt x="0" y="42037"/>
                  </a:lnTo>
                  <a:cubicBezTo>
                    <a:pt x="0" y="30888"/>
                    <a:pt x="4429" y="20196"/>
                    <a:pt x="12312" y="12312"/>
                  </a:cubicBezTo>
                  <a:cubicBezTo>
                    <a:pt x="20196" y="4429"/>
                    <a:pt x="30888" y="0"/>
                    <a:pt x="42037" y="0"/>
                  </a:cubicBezTo>
                  <a:close/>
                </a:path>
              </a:pathLst>
            </a:custGeom>
            <a:blipFill>
              <a:blip r:embed="rId4"/>
              <a:stretch>
                <a:fillRect l="-80302" t="0" r="-8030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1499" y="3160429"/>
            <a:ext cx="6188862" cy="2961051"/>
            <a:chOff x="0" y="0"/>
            <a:chExt cx="1629988" cy="7798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29988" cy="779865"/>
            </a:xfrm>
            <a:custGeom>
              <a:avLst/>
              <a:gdLst/>
              <a:ahLst/>
              <a:cxnLst/>
              <a:rect r="r" b="b" t="t" l="l"/>
              <a:pathLst>
                <a:path h="779865" w="1629988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50652" y="6380949"/>
            <a:ext cx="6188862" cy="2961051"/>
            <a:chOff x="0" y="0"/>
            <a:chExt cx="1629988" cy="779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29988" cy="779865"/>
            </a:xfrm>
            <a:custGeom>
              <a:avLst/>
              <a:gdLst/>
              <a:ahLst/>
              <a:cxnLst/>
              <a:rect r="r" b="b" t="t" l="l"/>
              <a:pathLst>
                <a:path h="779865" w="1629988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48485" y="3132575"/>
            <a:ext cx="6188862" cy="2961051"/>
            <a:chOff x="0" y="0"/>
            <a:chExt cx="1629988" cy="779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9988" cy="779865"/>
            </a:xfrm>
            <a:custGeom>
              <a:avLst/>
              <a:gdLst/>
              <a:ahLst/>
              <a:cxnLst/>
              <a:rect r="r" b="b" t="t" l="l"/>
              <a:pathLst>
                <a:path h="779865" w="1629988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48485" y="6380949"/>
            <a:ext cx="6188862" cy="2961051"/>
            <a:chOff x="0" y="0"/>
            <a:chExt cx="1629988" cy="779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29988" cy="779865"/>
            </a:xfrm>
            <a:custGeom>
              <a:avLst/>
              <a:gdLst/>
              <a:ahLst/>
              <a:cxnLst/>
              <a:rect r="r" b="b" t="t" l="l"/>
              <a:pathLst>
                <a:path h="779865" w="1629988">
                  <a:moveTo>
                    <a:pt x="25019" y="0"/>
                  </a:moveTo>
                  <a:lnTo>
                    <a:pt x="1604970" y="0"/>
                  </a:lnTo>
                  <a:cubicBezTo>
                    <a:pt x="1611605" y="0"/>
                    <a:pt x="1617969" y="2636"/>
                    <a:pt x="1622661" y="7328"/>
                  </a:cubicBezTo>
                  <a:cubicBezTo>
                    <a:pt x="1627353" y="12020"/>
                    <a:pt x="1629988" y="18383"/>
                    <a:pt x="1629988" y="25019"/>
                  </a:cubicBezTo>
                  <a:lnTo>
                    <a:pt x="1629988" y="754846"/>
                  </a:lnTo>
                  <a:cubicBezTo>
                    <a:pt x="1629988" y="761482"/>
                    <a:pt x="1627353" y="767845"/>
                    <a:pt x="1622661" y="772537"/>
                  </a:cubicBezTo>
                  <a:cubicBezTo>
                    <a:pt x="1617969" y="777229"/>
                    <a:pt x="1611605" y="779865"/>
                    <a:pt x="1604970" y="779865"/>
                  </a:cubicBezTo>
                  <a:lnTo>
                    <a:pt x="25019" y="779865"/>
                  </a:lnTo>
                  <a:cubicBezTo>
                    <a:pt x="18383" y="779865"/>
                    <a:pt x="12020" y="777229"/>
                    <a:pt x="7328" y="772537"/>
                  </a:cubicBezTo>
                  <a:cubicBezTo>
                    <a:pt x="2636" y="767845"/>
                    <a:pt x="0" y="761482"/>
                    <a:pt x="0" y="754846"/>
                  </a:cubicBezTo>
                  <a:lnTo>
                    <a:pt x="0" y="25019"/>
                  </a:lnTo>
                  <a:cubicBezTo>
                    <a:pt x="0" y="18383"/>
                    <a:pt x="2636" y="12020"/>
                    <a:pt x="7328" y="7328"/>
                  </a:cubicBezTo>
                  <a:cubicBezTo>
                    <a:pt x="12020" y="2636"/>
                    <a:pt x="18383" y="0"/>
                    <a:pt x="25019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solidFill>
                <a:srgbClr val="FBF9F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629988" cy="8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53827" y="4112215"/>
            <a:ext cx="5445149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For small apps, splitting into three layers may feel like over-engineering.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4302" y="3502991"/>
            <a:ext cx="54451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Complexity Overhead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525413" y="945000"/>
            <a:ext cx="9237174" cy="75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b="true" sz="50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KEY DISADVANTAGES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4302" y="7360589"/>
            <a:ext cx="5445149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E5E1DA"/>
                </a:solidFill>
                <a:latin typeface="Lato Bold"/>
                <a:ea typeface="Lato Bold"/>
                <a:cs typeface="Lato Bold"/>
                <a:sym typeface="Lato Bold"/>
              </a:rPr>
              <a:t>As applications evolve (e.g., real-time apps or single-page apps), MVC may not always be the best fit.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4302" y="6751365"/>
            <a:ext cx="54451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Evolving Needs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42135" y="4112215"/>
            <a:ext cx="5445149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If not designed carefully, Controllers can become bloated (“fat controllers”) with too much logic.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42135" y="3502991"/>
            <a:ext cx="54451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Tight Coupling Risk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42135" y="7360589"/>
            <a:ext cx="5445149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Passing data through Controller to Views can introduce latency.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42135" y="6751365"/>
            <a:ext cx="544514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FBF9F1"/>
                </a:solidFill>
                <a:latin typeface="Lato Bold"/>
                <a:ea typeface="Lato Bold"/>
                <a:cs typeface="Lato Bold"/>
                <a:sym typeface="Lato Bold"/>
              </a:rPr>
              <a:t>Overhead in Rendering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9496">
            <a:off x="-5001333" y="-1340368"/>
            <a:ext cx="11026567" cy="7966695"/>
          </a:xfrm>
          <a:custGeom>
            <a:avLst/>
            <a:gdLst/>
            <a:ahLst/>
            <a:cxnLst/>
            <a:rect r="r" b="b" t="t" l="l"/>
            <a:pathLst>
              <a:path h="7966695" w="11026567">
                <a:moveTo>
                  <a:pt x="0" y="0"/>
                </a:moveTo>
                <a:lnTo>
                  <a:pt x="11026567" y="0"/>
                </a:lnTo>
                <a:lnTo>
                  <a:pt x="11026567" y="7966695"/>
                </a:lnTo>
                <a:lnTo>
                  <a:pt x="0" y="7966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0447" y="629727"/>
            <a:ext cx="9907105" cy="1267279"/>
            <a:chOff x="0" y="0"/>
            <a:chExt cx="2109684" cy="269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9685" cy="269863"/>
            </a:xfrm>
            <a:custGeom>
              <a:avLst/>
              <a:gdLst/>
              <a:ahLst/>
              <a:cxnLst/>
              <a:rect r="r" b="b" t="t" l="l"/>
              <a:pathLst>
                <a:path h="269863" w="2109685">
                  <a:moveTo>
                    <a:pt x="46887" y="0"/>
                  </a:moveTo>
                  <a:lnTo>
                    <a:pt x="2062798" y="0"/>
                  </a:lnTo>
                  <a:cubicBezTo>
                    <a:pt x="2088692" y="0"/>
                    <a:pt x="2109685" y="20992"/>
                    <a:pt x="2109685" y="46887"/>
                  </a:cubicBezTo>
                  <a:lnTo>
                    <a:pt x="2109685" y="222976"/>
                  </a:lnTo>
                  <a:cubicBezTo>
                    <a:pt x="2109685" y="248871"/>
                    <a:pt x="2088692" y="269863"/>
                    <a:pt x="2062798" y="269863"/>
                  </a:cubicBezTo>
                  <a:lnTo>
                    <a:pt x="46887" y="269863"/>
                  </a:lnTo>
                  <a:cubicBezTo>
                    <a:pt x="20992" y="269863"/>
                    <a:pt x="0" y="248871"/>
                    <a:pt x="0" y="222976"/>
                  </a:cubicBezTo>
                  <a:lnTo>
                    <a:pt x="0" y="46887"/>
                  </a:lnTo>
                  <a:cubicBezTo>
                    <a:pt x="0" y="20992"/>
                    <a:pt x="20992" y="0"/>
                    <a:pt x="46887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FBF9F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09684" cy="307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967116">
            <a:off x="11047684" y="1618938"/>
            <a:ext cx="12892802" cy="9575242"/>
          </a:xfrm>
          <a:custGeom>
            <a:avLst/>
            <a:gdLst/>
            <a:ahLst/>
            <a:cxnLst/>
            <a:rect r="r" b="b" t="t" l="l"/>
            <a:pathLst>
              <a:path h="9575242" w="12892802">
                <a:moveTo>
                  <a:pt x="0" y="0"/>
                </a:moveTo>
                <a:lnTo>
                  <a:pt x="12892802" y="0"/>
                </a:lnTo>
                <a:lnTo>
                  <a:pt x="12892802" y="9575242"/>
                </a:lnTo>
                <a:lnTo>
                  <a:pt x="0" y="9575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79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26265" y="978496"/>
            <a:ext cx="565470" cy="569743"/>
          </a:xfrm>
          <a:custGeom>
            <a:avLst/>
            <a:gdLst/>
            <a:ahLst/>
            <a:cxnLst/>
            <a:rect r="r" b="b" t="t" l="l"/>
            <a:pathLst>
              <a:path h="569743" w="565470">
                <a:moveTo>
                  <a:pt x="0" y="0"/>
                </a:moveTo>
                <a:lnTo>
                  <a:pt x="565469" y="0"/>
                </a:lnTo>
                <a:lnTo>
                  <a:pt x="565469" y="569742"/>
                </a:lnTo>
                <a:lnTo>
                  <a:pt x="0" y="569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08890" y="8703795"/>
            <a:ext cx="650410" cy="650410"/>
          </a:xfrm>
          <a:custGeom>
            <a:avLst/>
            <a:gdLst/>
            <a:ahLst/>
            <a:cxnLst/>
            <a:rect r="r" b="b" t="t" l="l"/>
            <a:pathLst>
              <a:path h="650410" w="650410">
                <a:moveTo>
                  <a:pt x="0" y="0"/>
                </a:moveTo>
                <a:lnTo>
                  <a:pt x="650410" y="0"/>
                </a:lnTo>
                <a:lnTo>
                  <a:pt x="650410" y="650410"/>
                </a:lnTo>
                <a:lnTo>
                  <a:pt x="0" y="65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62006" y="905802"/>
            <a:ext cx="8246994" cy="61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8"/>
              </a:lnSpc>
              <a:spcBef>
                <a:spcPct val="0"/>
              </a:spcBef>
            </a:pPr>
            <a:r>
              <a:rPr lang="en-US" b="true" sz="3463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INSIGHTS FROM RESEARCH STUDY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79001" y="2966677"/>
            <a:ext cx="7058480" cy="664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Mansel research documents, showing MVC is deeply studied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Annual research growth rate: ~7.47%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MV</a:t>
            </a:r>
            <a:r>
              <a:rPr lang="en-US" b="true" sz="21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C heavily used in Java, .NET, JS frameworks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Adoption in finance, e-commerce, and enterprise systems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Prof. Sabina Necula </a:t>
            </a:r>
          </a:p>
          <a:p>
            <a:pPr algn="ctr">
              <a:lnSpc>
                <a:spcPts val="3079"/>
              </a:lnSpc>
            </a:pPr>
            <a:r>
              <a:rPr lang="en-US" b="true" sz="2199" u="sng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  <a:hlinkClick r:id="rId6" tooltip="https://sciprofiles.com/institution/534/alexandru_ioan_cuza_university"/>
              </a:rPr>
              <a:t>Alexandru Ioan Cuza University</a:t>
            </a:r>
          </a:p>
          <a:p>
            <a:pPr algn="ctr">
              <a:lnSpc>
                <a:spcPts val="3079"/>
              </a:lnSpc>
            </a:pPr>
            <a:r>
              <a:rPr lang="en-US" b="true" sz="2199" u="sng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Exploring The Model-View-Controller (MVC) Architecture: A Broad Analysis of Market and Technological Applications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56490"/>
            <a:ext cx="17559394" cy="11693187"/>
          </a:xfrm>
          <a:custGeom>
            <a:avLst/>
            <a:gdLst/>
            <a:ahLst/>
            <a:cxnLst/>
            <a:rect r="r" b="b" t="t" l="l"/>
            <a:pathLst>
              <a:path h="11693187" w="17559394">
                <a:moveTo>
                  <a:pt x="0" y="0"/>
                </a:moveTo>
                <a:lnTo>
                  <a:pt x="17559394" y="0"/>
                </a:lnTo>
                <a:lnTo>
                  <a:pt x="17559394" y="11693187"/>
                </a:lnTo>
                <a:lnTo>
                  <a:pt x="0" y="11693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30" r="-520" b="-45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38986" y="2870650"/>
            <a:ext cx="12081422" cy="99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3"/>
              </a:lnSpc>
            </a:pPr>
            <a:r>
              <a:rPr lang="en-US" b="true" sz="653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THOUGHT EXPERIMENT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40683" y="4227127"/>
            <a:ext cx="7878028" cy="1628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8"/>
              </a:lnSpc>
            </a:pPr>
            <a:r>
              <a:rPr lang="en-US" sz="3771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IMAGINE YOU WERE BUILDING A REAL ESTATE LISTING APP. HOW WOULD YOU DESIGN YOUR MVC?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71885" y="6212609"/>
            <a:ext cx="7867303" cy="143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0042" indent="-280021" lvl="1">
              <a:lnSpc>
                <a:spcPts val="2853"/>
              </a:lnSpc>
              <a:buFont typeface="Arial"/>
              <a:buChar char="•"/>
            </a:pPr>
            <a:r>
              <a:rPr lang="en-US" b="true" sz="2593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WHAT WOULD YOUR MODEL LOOK LIKE?</a:t>
            </a:r>
          </a:p>
          <a:p>
            <a:pPr algn="l" marL="560042" indent="-280021" lvl="1">
              <a:lnSpc>
                <a:spcPts val="2853"/>
              </a:lnSpc>
              <a:buFont typeface="Arial"/>
              <a:buChar char="•"/>
            </a:pPr>
            <a:r>
              <a:rPr lang="en-US" b="true" sz="2593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WHAT VIEWS WOULD YOU NEED? </a:t>
            </a:r>
          </a:p>
          <a:p>
            <a:pPr algn="l" marL="560042" indent="-280021" lvl="1">
              <a:lnSpc>
                <a:spcPts val="2853"/>
              </a:lnSpc>
              <a:buFont typeface="Arial"/>
              <a:buChar char="•"/>
            </a:pPr>
            <a:r>
              <a:rPr lang="en-US" b="true" sz="2593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WHAT CONTROLLERS WOULD MEDIATE?</a:t>
            </a:r>
          </a:p>
          <a:p>
            <a:pPr algn="l">
              <a:lnSpc>
                <a:spcPts val="2853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56490"/>
            <a:ext cx="17559394" cy="11693187"/>
          </a:xfrm>
          <a:custGeom>
            <a:avLst/>
            <a:gdLst/>
            <a:ahLst/>
            <a:cxnLst/>
            <a:rect r="r" b="b" t="t" l="l"/>
            <a:pathLst>
              <a:path h="11693187" w="17559394">
                <a:moveTo>
                  <a:pt x="0" y="0"/>
                </a:moveTo>
                <a:lnTo>
                  <a:pt x="17559394" y="0"/>
                </a:lnTo>
                <a:lnTo>
                  <a:pt x="17559394" y="11693187"/>
                </a:lnTo>
                <a:lnTo>
                  <a:pt x="0" y="11693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30" r="-520" b="-453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3289" y="3489990"/>
            <a:ext cx="12081422" cy="99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3"/>
              </a:lnSpc>
            </a:pPr>
            <a:r>
              <a:rPr lang="en-US" b="true" sz="653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Q&amp;A / DISCUSSION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89402" y="5469300"/>
            <a:ext cx="11195309" cy="73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6"/>
              </a:lnSpc>
            </a:pPr>
            <a:r>
              <a:rPr lang="en-US" sz="4814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FEEL FREE TO ASK ANY QUESTIONS!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665" y="645697"/>
            <a:ext cx="16598104" cy="995428"/>
            <a:chOff x="0" y="0"/>
            <a:chExt cx="4371517" cy="2621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1517" cy="262170"/>
            </a:xfrm>
            <a:custGeom>
              <a:avLst/>
              <a:gdLst/>
              <a:ahLst/>
              <a:cxnLst/>
              <a:rect r="r" b="b" t="t" l="l"/>
              <a:pathLst>
                <a:path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E5E1D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2100837">
            <a:off x="8982673" y="428119"/>
            <a:ext cx="8310061" cy="8781453"/>
          </a:xfrm>
          <a:custGeom>
            <a:avLst/>
            <a:gdLst/>
            <a:ahLst/>
            <a:cxnLst/>
            <a:rect r="r" b="b" t="t" l="l"/>
            <a:pathLst>
              <a:path h="8781453" w="8310061">
                <a:moveTo>
                  <a:pt x="8310061" y="0"/>
                </a:moveTo>
                <a:lnTo>
                  <a:pt x="0" y="0"/>
                </a:lnTo>
                <a:lnTo>
                  <a:pt x="0" y="8781453"/>
                </a:lnTo>
                <a:lnTo>
                  <a:pt x="8310061" y="8781453"/>
                </a:lnTo>
                <a:lnTo>
                  <a:pt x="8310061" y="0"/>
                </a:lnTo>
                <a:close/>
              </a:path>
            </a:pathLst>
          </a:custGeom>
          <a:blipFill>
            <a:blip r:embed="rId2"/>
            <a:stretch>
              <a:fillRect l="0" t="0" r="-381" b="-186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1305" y="879197"/>
            <a:ext cx="528429" cy="528429"/>
          </a:xfrm>
          <a:custGeom>
            <a:avLst/>
            <a:gdLst/>
            <a:ahLst/>
            <a:cxnLst/>
            <a:rect r="r" b="b" t="t" l="l"/>
            <a:pathLst>
              <a:path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28665" y="3213525"/>
            <a:ext cx="11411477" cy="220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  <a:r>
              <a:rPr lang="en-US" sz="14508" b="true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6669" y="882426"/>
            <a:ext cx="453537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CS-325- MR. ISRAR AHMED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8665" y="7119480"/>
            <a:ext cx="6096698" cy="169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Mohid Ali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Muhammad Abubakar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8665" y="5417085"/>
            <a:ext cx="11411477" cy="83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sz="55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for your time and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D34AB20-D79D-4BAF-9DA1-D36A59921F4C}"/>
</file>

<file path=customXml/itemProps2.xml><?xml version="1.0" encoding="utf-8"?>
<ds:datastoreItem xmlns:ds="http://schemas.openxmlformats.org/officeDocument/2006/customXml" ds:itemID="{D027443B-A1B2-494B-858D-95DF3F173F5C}"/>
</file>

<file path=customXml/itemProps3.xml><?xml version="1.0" encoding="utf-8"?>
<ds:datastoreItem xmlns:ds="http://schemas.openxmlformats.org/officeDocument/2006/customXml" ds:itemID="{097BF98D-2064-41D7-99E1-E0307531629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MVC- Software engineering</dc:title>
  <cp:revision>1</cp:revision>
  <dcterms:created xsi:type="dcterms:W3CDTF">2006-08-16T00:00:00Z</dcterms:created>
  <dcterms:modified xsi:type="dcterms:W3CDTF">2011-08-01T06:04:30Z</dcterms:modified>
  <dc:identifier>DAG5EY8HGdE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0x0101006E4823951FA9BF42B980A03718EB0B18</vt:lpwstr>
  </property>
</Properties>
</file>