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2" r:id="rId18"/>
    <p:sldId id="273" r:id="rId19"/>
    <p:sldId id="275" r:id="rId20"/>
    <p:sldId id="274"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30"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DC515D-51FA-4F5F-9163-83BDEF393766}" type="datetimeFigureOut">
              <a:rPr lang="en-US" smtClean="0"/>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482CF8-F08E-47B2-B279-C56F990F86F0}" type="slidenum">
              <a:rPr lang="en-US" smtClean="0"/>
              <a:t>‹#›</a:t>
            </a:fld>
            <a:endParaRPr lang="en-US"/>
          </a:p>
        </p:txBody>
      </p:sp>
    </p:spTree>
    <p:extLst>
      <p:ext uri="{BB962C8B-B14F-4D97-AF65-F5344CB8AC3E}">
        <p14:creationId xmlns:p14="http://schemas.microsoft.com/office/powerpoint/2010/main" val="18962017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D482CF8-F08E-47B2-B279-C56F990F86F0}" type="slidenum">
              <a:rPr lang="en-US" smtClean="0"/>
              <a:t>14</a:t>
            </a:fld>
            <a:endParaRPr lang="en-US"/>
          </a:p>
        </p:txBody>
      </p:sp>
    </p:spTree>
    <p:extLst>
      <p:ext uri="{BB962C8B-B14F-4D97-AF65-F5344CB8AC3E}">
        <p14:creationId xmlns:p14="http://schemas.microsoft.com/office/powerpoint/2010/main" val="2665930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2CC4C2A-D8AD-4B8C-B3D3-8F176A19C1E5}"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644E2D-F930-493B-96E4-F3D0949F42C0}" type="slidenum">
              <a:rPr lang="en-US" smtClean="0"/>
              <a:t>‹#›</a:t>
            </a:fld>
            <a:endParaRPr lang="en-US"/>
          </a:p>
        </p:txBody>
      </p:sp>
    </p:spTree>
    <p:extLst>
      <p:ext uri="{BB962C8B-B14F-4D97-AF65-F5344CB8AC3E}">
        <p14:creationId xmlns:p14="http://schemas.microsoft.com/office/powerpoint/2010/main" val="3207524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CC4C2A-D8AD-4B8C-B3D3-8F176A19C1E5}"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644E2D-F930-493B-96E4-F3D0949F42C0}" type="slidenum">
              <a:rPr lang="en-US" smtClean="0"/>
              <a:t>‹#›</a:t>
            </a:fld>
            <a:endParaRPr lang="en-US"/>
          </a:p>
        </p:txBody>
      </p:sp>
    </p:spTree>
    <p:extLst>
      <p:ext uri="{BB962C8B-B14F-4D97-AF65-F5344CB8AC3E}">
        <p14:creationId xmlns:p14="http://schemas.microsoft.com/office/powerpoint/2010/main" val="4007356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CC4C2A-D8AD-4B8C-B3D3-8F176A19C1E5}"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644E2D-F930-493B-96E4-F3D0949F42C0}" type="slidenum">
              <a:rPr lang="en-US" smtClean="0"/>
              <a:t>‹#›</a:t>
            </a:fld>
            <a:endParaRPr lang="en-US"/>
          </a:p>
        </p:txBody>
      </p:sp>
    </p:spTree>
    <p:extLst>
      <p:ext uri="{BB962C8B-B14F-4D97-AF65-F5344CB8AC3E}">
        <p14:creationId xmlns:p14="http://schemas.microsoft.com/office/powerpoint/2010/main" val="1753654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CC4C2A-D8AD-4B8C-B3D3-8F176A19C1E5}"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644E2D-F930-493B-96E4-F3D0949F42C0}" type="slidenum">
              <a:rPr lang="en-US" smtClean="0"/>
              <a:t>‹#›</a:t>
            </a:fld>
            <a:endParaRPr lang="en-US"/>
          </a:p>
        </p:txBody>
      </p:sp>
    </p:spTree>
    <p:extLst>
      <p:ext uri="{BB962C8B-B14F-4D97-AF65-F5344CB8AC3E}">
        <p14:creationId xmlns:p14="http://schemas.microsoft.com/office/powerpoint/2010/main" val="2810938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CC4C2A-D8AD-4B8C-B3D3-8F176A19C1E5}" type="datetimeFigureOut">
              <a:rPr lang="en-US" smtClean="0"/>
              <a:t>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644E2D-F930-493B-96E4-F3D0949F42C0}" type="slidenum">
              <a:rPr lang="en-US" smtClean="0"/>
              <a:t>‹#›</a:t>
            </a:fld>
            <a:endParaRPr lang="en-US"/>
          </a:p>
        </p:txBody>
      </p:sp>
    </p:spTree>
    <p:extLst>
      <p:ext uri="{BB962C8B-B14F-4D97-AF65-F5344CB8AC3E}">
        <p14:creationId xmlns:p14="http://schemas.microsoft.com/office/powerpoint/2010/main" val="2516520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CC4C2A-D8AD-4B8C-B3D3-8F176A19C1E5}" type="datetimeFigureOut">
              <a:rPr lang="en-US" smtClean="0"/>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644E2D-F930-493B-96E4-F3D0949F42C0}" type="slidenum">
              <a:rPr lang="en-US" smtClean="0"/>
              <a:t>‹#›</a:t>
            </a:fld>
            <a:endParaRPr lang="en-US"/>
          </a:p>
        </p:txBody>
      </p:sp>
    </p:spTree>
    <p:extLst>
      <p:ext uri="{BB962C8B-B14F-4D97-AF65-F5344CB8AC3E}">
        <p14:creationId xmlns:p14="http://schemas.microsoft.com/office/powerpoint/2010/main" val="3153765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CC4C2A-D8AD-4B8C-B3D3-8F176A19C1E5}" type="datetimeFigureOut">
              <a:rPr lang="en-US" smtClean="0"/>
              <a:t>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644E2D-F930-493B-96E4-F3D0949F42C0}" type="slidenum">
              <a:rPr lang="en-US" smtClean="0"/>
              <a:t>‹#›</a:t>
            </a:fld>
            <a:endParaRPr lang="en-US"/>
          </a:p>
        </p:txBody>
      </p:sp>
    </p:spTree>
    <p:extLst>
      <p:ext uri="{BB962C8B-B14F-4D97-AF65-F5344CB8AC3E}">
        <p14:creationId xmlns:p14="http://schemas.microsoft.com/office/powerpoint/2010/main" val="137266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CC4C2A-D8AD-4B8C-B3D3-8F176A19C1E5}"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644E2D-F930-493B-96E4-F3D0949F42C0}" type="slidenum">
              <a:rPr lang="en-US" smtClean="0"/>
              <a:t>‹#›</a:t>
            </a:fld>
            <a:endParaRPr lang="en-US"/>
          </a:p>
        </p:txBody>
      </p:sp>
    </p:spTree>
    <p:extLst>
      <p:ext uri="{BB962C8B-B14F-4D97-AF65-F5344CB8AC3E}">
        <p14:creationId xmlns:p14="http://schemas.microsoft.com/office/powerpoint/2010/main" val="3783456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CC4C2A-D8AD-4B8C-B3D3-8F176A19C1E5}" type="datetimeFigureOut">
              <a:rPr lang="en-US" smtClean="0"/>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644E2D-F930-493B-96E4-F3D0949F42C0}" type="slidenum">
              <a:rPr lang="en-US" smtClean="0"/>
              <a:t>‹#›</a:t>
            </a:fld>
            <a:endParaRPr lang="en-US"/>
          </a:p>
        </p:txBody>
      </p:sp>
    </p:spTree>
    <p:extLst>
      <p:ext uri="{BB962C8B-B14F-4D97-AF65-F5344CB8AC3E}">
        <p14:creationId xmlns:p14="http://schemas.microsoft.com/office/powerpoint/2010/main" val="2955253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CC4C2A-D8AD-4B8C-B3D3-8F176A19C1E5}"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644E2D-F930-493B-96E4-F3D0949F42C0}" type="slidenum">
              <a:rPr lang="en-US" smtClean="0"/>
              <a:t>‹#›</a:t>
            </a:fld>
            <a:endParaRPr lang="en-US"/>
          </a:p>
        </p:txBody>
      </p:sp>
    </p:spTree>
    <p:extLst>
      <p:ext uri="{BB962C8B-B14F-4D97-AF65-F5344CB8AC3E}">
        <p14:creationId xmlns:p14="http://schemas.microsoft.com/office/powerpoint/2010/main" val="2519664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CC4C2A-D8AD-4B8C-B3D3-8F176A19C1E5}"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644E2D-F930-493B-96E4-F3D0949F42C0}" type="slidenum">
              <a:rPr lang="en-US" smtClean="0"/>
              <a:t>‹#›</a:t>
            </a:fld>
            <a:endParaRPr lang="en-US"/>
          </a:p>
        </p:txBody>
      </p:sp>
    </p:spTree>
    <p:extLst>
      <p:ext uri="{BB962C8B-B14F-4D97-AF65-F5344CB8AC3E}">
        <p14:creationId xmlns:p14="http://schemas.microsoft.com/office/powerpoint/2010/main" val="2690815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CC4C2A-D8AD-4B8C-B3D3-8F176A19C1E5}" type="datetimeFigureOut">
              <a:rPr lang="en-US" smtClean="0"/>
              <a:t>12/5/2025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644E2D-F930-493B-96E4-F3D0949F42C0}" type="slidenum">
              <a:rPr lang="en-US" smtClean="0"/>
              <a:t>‹#›</a:t>
            </a:fld>
            <a:endParaRPr lang="en-US"/>
          </a:p>
        </p:txBody>
      </p:sp>
    </p:spTree>
    <p:extLst>
      <p:ext uri="{BB962C8B-B14F-4D97-AF65-F5344CB8AC3E}">
        <p14:creationId xmlns:p14="http://schemas.microsoft.com/office/powerpoint/2010/main" val="26380725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dirty="0"/>
              <a:t>Creating Test cases from Use case</a:t>
            </a:r>
          </a:p>
        </p:txBody>
      </p:sp>
    </p:spTree>
    <p:extLst>
      <p:ext uri="{BB962C8B-B14F-4D97-AF65-F5344CB8AC3E}">
        <p14:creationId xmlns:p14="http://schemas.microsoft.com/office/powerpoint/2010/main" val="1271685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diagram and use case</a:t>
            </a:r>
          </a:p>
        </p:txBody>
      </p:sp>
      <p:sp>
        <p:nvSpPr>
          <p:cNvPr id="3" name="Content Placeholder 2"/>
          <p:cNvSpPr>
            <a:spLocks noGrp="1"/>
          </p:cNvSpPr>
          <p:nvPr>
            <p:ph idx="1"/>
          </p:nvPr>
        </p:nvSpPr>
        <p:spPr/>
        <p:txBody>
          <a:bodyPr/>
          <a:lstStyle/>
          <a:p>
            <a:r>
              <a:rPr lang="en-US" dirty="0"/>
              <a:t>There are several steps in creation of use case diagram and creating descriptive use cases.</a:t>
            </a:r>
          </a:p>
          <a:p>
            <a:r>
              <a:rPr lang="en-US" dirty="0"/>
              <a:t>Steps</a:t>
            </a:r>
          </a:p>
          <a:p>
            <a:pPr lvl="1"/>
            <a:r>
              <a:rPr lang="en-US" dirty="0"/>
              <a:t>Identification of actors</a:t>
            </a:r>
          </a:p>
          <a:p>
            <a:pPr lvl="1"/>
            <a:r>
              <a:rPr lang="en-US" dirty="0"/>
              <a:t>Identification of use cases</a:t>
            </a:r>
          </a:p>
          <a:p>
            <a:pPr lvl="1"/>
            <a:r>
              <a:rPr lang="en-US" dirty="0"/>
              <a:t>Drawing of use cases</a:t>
            </a:r>
          </a:p>
          <a:p>
            <a:pPr lvl="1"/>
            <a:r>
              <a:rPr lang="en-US" dirty="0"/>
              <a:t>Writing use case description</a:t>
            </a:r>
          </a:p>
        </p:txBody>
      </p:sp>
    </p:spTree>
    <p:extLst>
      <p:ext uri="{BB962C8B-B14F-4D97-AF65-F5344CB8AC3E}">
        <p14:creationId xmlns:p14="http://schemas.microsoft.com/office/powerpoint/2010/main" val="1753894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Identification of Actors</a:t>
            </a:r>
          </a:p>
        </p:txBody>
      </p:sp>
      <p:sp>
        <p:nvSpPr>
          <p:cNvPr id="3" name="Content Placeholder 2"/>
          <p:cNvSpPr>
            <a:spLocks noGrp="1"/>
          </p:cNvSpPr>
          <p:nvPr>
            <p:ph idx="1"/>
          </p:nvPr>
        </p:nvSpPr>
        <p:spPr/>
        <p:txBody>
          <a:bodyPr/>
          <a:lstStyle/>
          <a:p>
            <a:r>
              <a:rPr lang="en-US" dirty="0"/>
              <a:t>An actor represents the role of a user that interacts with the system.</a:t>
            </a:r>
          </a:p>
          <a:p>
            <a:r>
              <a:rPr lang="en-US" dirty="0"/>
              <a:t>Considering the example of “university registration system”  the actors involved are:</a:t>
            </a:r>
          </a:p>
          <a:p>
            <a:pPr lvl="1"/>
            <a:r>
              <a:rPr lang="en-US" dirty="0"/>
              <a:t>Administrator</a:t>
            </a:r>
          </a:p>
          <a:p>
            <a:pPr lvl="1"/>
            <a:r>
              <a:rPr lang="en-US" dirty="0"/>
              <a:t>Student</a:t>
            </a:r>
          </a:p>
          <a:p>
            <a:pPr lvl="1"/>
            <a:r>
              <a:rPr lang="en-US" dirty="0"/>
              <a:t>Faculty</a:t>
            </a:r>
          </a:p>
          <a:p>
            <a:pPr lvl="1"/>
            <a:r>
              <a:rPr lang="en-US" dirty="0"/>
              <a:t>Data entry operator</a:t>
            </a:r>
          </a:p>
        </p:txBody>
      </p:sp>
    </p:spTree>
    <p:extLst>
      <p:ext uri="{BB962C8B-B14F-4D97-AF65-F5344CB8AC3E}">
        <p14:creationId xmlns:p14="http://schemas.microsoft.com/office/powerpoint/2010/main" val="485018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Identification of use cases</a:t>
            </a:r>
          </a:p>
        </p:txBody>
      </p:sp>
      <p:sp>
        <p:nvSpPr>
          <p:cNvPr id="3" name="Content Placeholder 2"/>
          <p:cNvSpPr>
            <a:spLocks noGrp="1"/>
          </p:cNvSpPr>
          <p:nvPr>
            <p:ph idx="1"/>
          </p:nvPr>
        </p:nvSpPr>
        <p:spPr/>
        <p:txBody>
          <a:bodyPr/>
          <a:lstStyle/>
          <a:p>
            <a:r>
              <a:rPr lang="en-US" dirty="0"/>
              <a:t>Whenever we design a system, we expect some functionalities from the system.</a:t>
            </a:r>
          </a:p>
          <a:p>
            <a:r>
              <a:rPr lang="en-US" dirty="0"/>
              <a:t>There are some rules before identifying uses cases which are:</a:t>
            </a:r>
          </a:p>
          <a:p>
            <a:pPr lvl="1"/>
            <a:r>
              <a:rPr lang="en-US" dirty="0"/>
              <a:t>Every use case should have a specified functionality.</a:t>
            </a:r>
          </a:p>
          <a:p>
            <a:pPr lvl="1"/>
            <a:r>
              <a:rPr lang="en-US" dirty="0"/>
              <a:t>Every use case will have a name.</a:t>
            </a:r>
          </a:p>
          <a:p>
            <a:pPr lvl="1"/>
            <a:r>
              <a:rPr lang="en-US" dirty="0"/>
              <a:t>One or more actors will interact with a use case.</a:t>
            </a:r>
          </a:p>
          <a:p>
            <a:pPr lvl="1"/>
            <a:r>
              <a:rPr lang="en-US" dirty="0"/>
              <a:t>An actor will initiate a use case.</a:t>
            </a:r>
          </a:p>
          <a:p>
            <a:pPr lvl="1"/>
            <a:r>
              <a:rPr lang="en-US" dirty="0"/>
              <a:t>The role of actors should always be clearly defined for every use case.</a:t>
            </a:r>
          </a:p>
        </p:txBody>
      </p:sp>
    </p:spTree>
    <p:extLst>
      <p:ext uri="{BB962C8B-B14F-4D97-AF65-F5344CB8AC3E}">
        <p14:creationId xmlns:p14="http://schemas.microsoft.com/office/powerpoint/2010/main" val="1250419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Identification of use cases</a:t>
            </a:r>
          </a:p>
        </p:txBody>
      </p:sp>
      <p:sp>
        <p:nvSpPr>
          <p:cNvPr id="3" name="Content Placeholder 2"/>
          <p:cNvSpPr>
            <a:spLocks noGrp="1"/>
          </p:cNvSpPr>
          <p:nvPr>
            <p:ph idx="1"/>
          </p:nvPr>
        </p:nvSpPr>
        <p:spPr/>
        <p:txBody>
          <a:bodyPr/>
          <a:lstStyle/>
          <a:p>
            <a:r>
              <a:rPr lang="en-US" dirty="0"/>
              <a:t>In URS we may identify the following use cases for each actor</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48651838"/>
              </p:ext>
            </p:extLst>
          </p:nvPr>
        </p:nvGraphicFramePr>
        <p:xfrm>
          <a:off x="1295021" y="2807774"/>
          <a:ext cx="8128000" cy="2108200"/>
        </p:xfrm>
        <a:graphic>
          <a:graphicData uri="http://schemas.openxmlformats.org/drawingml/2006/table">
            <a:tbl>
              <a:tblPr firstRow="1" bandRow="1">
                <a:tableStyleId>{5C22544A-7EE6-4342-B048-85BDC9FD1C3A}</a:tableStyleId>
              </a:tblPr>
              <a:tblGrid>
                <a:gridCol w="1011451">
                  <a:extLst>
                    <a:ext uri="{9D8B030D-6E8A-4147-A177-3AD203B41FA5}">
                      <a16:colId xmlns:a16="http://schemas.microsoft.com/office/drawing/2014/main" val="20000"/>
                    </a:ext>
                  </a:extLst>
                </a:gridCol>
                <a:gridCol w="2074459">
                  <a:extLst>
                    <a:ext uri="{9D8B030D-6E8A-4147-A177-3AD203B41FA5}">
                      <a16:colId xmlns:a16="http://schemas.microsoft.com/office/drawing/2014/main" val="20001"/>
                    </a:ext>
                  </a:extLst>
                </a:gridCol>
                <a:gridCol w="301009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40">
                <a:tc>
                  <a:txBody>
                    <a:bodyPr/>
                    <a:lstStyle/>
                    <a:p>
                      <a:r>
                        <a:rPr lang="en-US" dirty="0"/>
                        <a:t>S. No</a:t>
                      </a:r>
                    </a:p>
                  </a:txBody>
                  <a:tcPr/>
                </a:tc>
                <a:tc>
                  <a:txBody>
                    <a:bodyPr/>
                    <a:lstStyle/>
                    <a:p>
                      <a:r>
                        <a:rPr lang="en-US" dirty="0"/>
                        <a:t>Use case</a:t>
                      </a:r>
                    </a:p>
                  </a:txBody>
                  <a:tcPr/>
                </a:tc>
                <a:tc>
                  <a:txBody>
                    <a:bodyPr/>
                    <a:lstStyle/>
                    <a:p>
                      <a:r>
                        <a:rPr lang="en-US" dirty="0"/>
                        <a:t>Actors</a:t>
                      </a:r>
                    </a:p>
                  </a:txBody>
                  <a:tcPr/>
                </a:tc>
                <a:tc>
                  <a:txBody>
                    <a:bodyPr/>
                    <a:lstStyle/>
                    <a:p>
                      <a:r>
                        <a:rPr lang="en-US" dirty="0"/>
                        <a:t>Description</a:t>
                      </a:r>
                    </a:p>
                  </a:txBody>
                  <a:tcPr/>
                </a:tc>
                <a:extLst>
                  <a:ext uri="{0D108BD9-81ED-4DB2-BD59-A6C34878D82A}">
                    <a16:rowId xmlns:a16="http://schemas.microsoft.com/office/drawing/2014/main" val="10000"/>
                  </a:ext>
                </a:extLst>
              </a:tr>
              <a:tr h="370840">
                <a:tc>
                  <a:txBody>
                    <a:bodyPr/>
                    <a:lstStyle/>
                    <a:p>
                      <a:r>
                        <a:rPr lang="en-US" dirty="0"/>
                        <a:t>1.  </a:t>
                      </a:r>
                    </a:p>
                    <a:p>
                      <a:endParaRPr lang="en-US" dirty="0"/>
                    </a:p>
                    <a:p>
                      <a:endParaRPr lang="en-US" dirty="0"/>
                    </a:p>
                    <a:p>
                      <a:r>
                        <a:rPr lang="en-US" dirty="0"/>
                        <a:t>2. </a:t>
                      </a:r>
                    </a:p>
                  </a:txBody>
                  <a:tcPr/>
                </a:tc>
                <a:tc>
                  <a:txBody>
                    <a:bodyPr/>
                    <a:lstStyle/>
                    <a:p>
                      <a:r>
                        <a:rPr lang="en-US" dirty="0"/>
                        <a:t>Login</a:t>
                      </a:r>
                    </a:p>
                    <a:p>
                      <a:endParaRPr lang="en-US" dirty="0"/>
                    </a:p>
                    <a:p>
                      <a:endParaRPr lang="en-US" dirty="0"/>
                    </a:p>
                    <a:p>
                      <a:r>
                        <a:rPr lang="en-US" dirty="0"/>
                        <a:t>Maintain</a:t>
                      </a:r>
                      <a:r>
                        <a:rPr lang="en-US" baseline="0" dirty="0"/>
                        <a:t> Department details</a:t>
                      </a:r>
                      <a:endParaRPr lang="en-US" dirty="0"/>
                    </a:p>
                  </a:txBody>
                  <a:tcPr/>
                </a:tc>
                <a:tc>
                  <a:txBody>
                    <a:bodyPr/>
                    <a:lstStyle/>
                    <a:p>
                      <a:r>
                        <a:rPr lang="en-US" dirty="0"/>
                        <a:t>Administrator, Student, Faculty</a:t>
                      </a:r>
                    </a:p>
                    <a:p>
                      <a:endParaRPr lang="en-US" dirty="0"/>
                    </a:p>
                    <a:p>
                      <a:r>
                        <a:rPr lang="en-US" dirty="0"/>
                        <a:t>Administrator</a:t>
                      </a:r>
                    </a:p>
                  </a:txBody>
                  <a:tcPr/>
                </a:tc>
                <a:tc>
                  <a:txBody>
                    <a:bodyPr/>
                    <a:lstStyle/>
                    <a:p>
                      <a:r>
                        <a:rPr lang="en-US" dirty="0"/>
                        <a:t>Login </a:t>
                      </a:r>
                    </a:p>
                    <a:p>
                      <a:r>
                        <a:rPr lang="en-US" dirty="0"/>
                        <a:t>Change password</a:t>
                      </a:r>
                    </a:p>
                    <a:p>
                      <a:endParaRPr lang="en-US" dirty="0"/>
                    </a:p>
                    <a:p>
                      <a:r>
                        <a:rPr lang="en-US" dirty="0"/>
                        <a:t>Add</a:t>
                      </a:r>
                      <a:r>
                        <a:rPr lang="en-US" baseline="0" dirty="0"/>
                        <a:t> Dept.</a:t>
                      </a:r>
                    </a:p>
                    <a:p>
                      <a:r>
                        <a:rPr lang="en-US" baseline="0" dirty="0"/>
                        <a:t>Edit Dept.</a:t>
                      </a:r>
                    </a:p>
                    <a:p>
                      <a:r>
                        <a:rPr lang="en-US" baseline="0" dirty="0"/>
                        <a:t>Delete Dept.</a:t>
                      </a:r>
                      <a:endParaRPr lang="en-US"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91476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Drawing of use case Diagram</a:t>
            </a:r>
          </a:p>
        </p:txBody>
      </p:sp>
      <p:sp>
        <p:nvSpPr>
          <p:cNvPr id="3" name="Content Placeholder 2"/>
          <p:cNvSpPr>
            <a:spLocks noGrp="1"/>
          </p:cNvSpPr>
          <p:nvPr>
            <p:ph idx="1"/>
          </p:nvPr>
        </p:nvSpPr>
        <p:spPr/>
        <p:txBody>
          <a:bodyPr/>
          <a:lstStyle/>
          <a:p>
            <a:r>
              <a:rPr lang="en-US" dirty="0"/>
              <a:t>The use case diagram shows the actors, use cases and the relationship between them.</a:t>
            </a:r>
          </a:p>
          <a:p>
            <a:r>
              <a:rPr lang="en-US" dirty="0"/>
              <a:t> It shows the pictorial view of the system.</a:t>
            </a:r>
          </a:p>
          <a:p>
            <a:endParaRPr lang="en-US" dirty="0"/>
          </a:p>
          <a:p>
            <a:endParaRPr lang="en-US" dirty="0"/>
          </a:p>
          <a:p>
            <a:endParaRPr lang="en-US" dirty="0"/>
          </a:p>
          <a:p>
            <a:endParaRPr lang="en-US" dirty="0"/>
          </a:p>
          <a:p>
            <a:pPr marL="0" indent="0">
              <a:buNone/>
            </a:pPr>
            <a:r>
              <a:rPr lang="en-US" dirty="0"/>
              <a:t>            </a:t>
            </a:r>
            <a:r>
              <a:rPr lang="en-US" sz="1200" dirty="0"/>
              <a:t>Administrator</a:t>
            </a:r>
          </a:p>
        </p:txBody>
      </p:sp>
      <p:sp>
        <p:nvSpPr>
          <p:cNvPr id="4" name="Oval 3"/>
          <p:cNvSpPr/>
          <p:nvPr/>
        </p:nvSpPr>
        <p:spPr>
          <a:xfrm>
            <a:off x="1992573" y="3537270"/>
            <a:ext cx="600502" cy="4640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a:off x="2292824" y="4012442"/>
            <a:ext cx="0" cy="887104"/>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1787857" y="4339988"/>
            <a:ext cx="914400" cy="1364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1883391" y="4899546"/>
            <a:ext cx="409433" cy="450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292824" y="4899546"/>
            <a:ext cx="354842" cy="450376"/>
          </a:xfrm>
          <a:prstGeom prst="line">
            <a:avLst/>
          </a:prstGeom>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7014950" y="3969337"/>
            <a:ext cx="1569492" cy="6867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Login</a:t>
            </a:r>
          </a:p>
        </p:txBody>
      </p:sp>
      <p:cxnSp>
        <p:nvCxnSpPr>
          <p:cNvPr id="19" name="Straight Arrow Connector 18"/>
          <p:cNvCxnSpPr/>
          <p:nvPr/>
        </p:nvCxnSpPr>
        <p:spPr>
          <a:xfrm>
            <a:off x="3141261" y="4299045"/>
            <a:ext cx="3298208" cy="13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5835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of Use case description</a:t>
            </a:r>
          </a:p>
        </p:txBody>
      </p:sp>
      <p:sp>
        <p:nvSpPr>
          <p:cNvPr id="3" name="Content Placeholder 2"/>
          <p:cNvSpPr>
            <a:spLocks noGrp="1"/>
          </p:cNvSpPr>
          <p:nvPr>
            <p:ph idx="1"/>
          </p:nvPr>
        </p:nvSpPr>
        <p:spPr/>
        <p:txBody>
          <a:bodyPr/>
          <a:lstStyle/>
          <a:p>
            <a:r>
              <a:rPr lang="en-US" dirty="0"/>
              <a:t>Actors interact with the use case for predefined purposes. Each step is considered as a sequence of events and is called a flow. There are two types of flow:</a:t>
            </a:r>
          </a:p>
          <a:p>
            <a:pPr marL="971550" lvl="1" indent="-514350" algn="just">
              <a:buFont typeface="+mj-lt"/>
              <a:buAutoNum type="arabicPeriod"/>
            </a:pPr>
            <a:r>
              <a:rPr lang="en-US" b="1" dirty="0"/>
              <a:t>Basic Flow</a:t>
            </a:r>
            <a:r>
              <a:rPr lang="en-US" dirty="0"/>
              <a:t>: </a:t>
            </a:r>
            <a:r>
              <a:rPr lang="en-US" sz="2000" dirty="0"/>
              <a:t>It is the main flow and describe the sequence of events that takes place most of the time between the actor and the system.</a:t>
            </a:r>
          </a:p>
          <a:p>
            <a:pPr marL="971550" lvl="1" indent="-514350" algn="just">
              <a:buFont typeface="+mj-lt"/>
              <a:buAutoNum type="arabicPeriod"/>
            </a:pPr>
            <a:r>
              <a:rPr lang="en-US" b="1" dirty="0"/>
              <a:t>Alternative flow</a:t>
            </a:r>
            <a:r>
              <a:rPr lang="en-US" dirty="0"/>
              <a:t>: </a:t>
            </a:r>
            <a:r>
              <a:rPr lang="en-US" sz="2000" dirty="0"/>
              <a:t>If the basic flow is not successful due to any condition, the system takes an alternative flow. An alternative flow may occur due to failure of an expected service because of exceptions of errors.</a:t>
            </a:r>
          </a:p>
          <a:p>
            <a:pPr marL="457200" lvl="1" indent="0" algn="just">
              <a:buNone/>
            </a:pPr>
            <a:r>
              <a:rPr lang="en-US" sz="2800" dirty="0"/>
              <a:t>There is no standard method for writing use case, Jacobson has given the use case template discussed in the next slide.</a:t>
            </a:r>
          </a:p>
        </p:txBody>
      </p:sp>
    </p:spTree>
    <p:extLst>
      <p:ext uri="{BB962C8B-B14F-4D97-AF65-F5344CB8AC3E}">
        <p14:creationId xmlns:p14="http://schemas.microsoft.com/office/powerpoint/2010/main" val="2415566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descriptive use cases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92760263"/>
              </p:ext>
            </p:extLst>
          </p:nvPr>
        </p:nvGraphicFramePr>
        <p:xfrm>
          <a:off x="838200" y="2057400"/>
          <a:ext cx="10515600" cy="3678991"/>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248116">
                <a:tc>
                  <a:txBody>
                    <a:bodyPr/>
                    <a:lstStyle/>
                    <a:p>
                      <a:r>
                        <a:rPr lang="en-US" dirty="0"/>
                        <a:t>Descriptive</a:t>
                      </a:r>
                      <a:r>
                        <a:rPr lang="en-US" baseline="0" dirty="0"/>
                        <a:t> use case Template</a:t>
                      </a:r>
                      <a:endParaRPr lang="en-US" dirty="0"/>
                    </a:p>
                  </a:txBody>
                  <a:tcPr/>
                </a:tc>
                <a:extLst>
                  <a:ext uri="{0D108BD9-81ED-4DB2-BD59-A6C34878D82A}">
                    <a16:rowId xmlns:a16="http://schemas.microsoft.com/office/drawing/2014/main" val="10000"/>
                  </a:ext>
                </a:extLst>
              </a:tr>
              <a:tr h="3313231">
                <a:tc>
                  <a:txBody>
                    <a:bodyPr/>
                    <a:lstStyle/>
                    <a:p>
                      <a:pPr marL="342900" indent="-342900">
                        <a:buAutoNum type="arabicPeriod"/>
                      </a:pPr>
                      <a:r>
                        <a:rPr lang="en-US" b="1" dirty="0"/>
                        <a:t>Brief</a:t>
                      </a:r>
                      <a:r>
                        <a:rPr lang="en-US" b="1" baseline="0" dirty="0"/>
                        <a:t> description</a:t>
                      </a:r>
                      <a:r>
                        <a:rPr lang="en-US" baseline="0" dirty="0"/>
                        <a:t>: Describe the quick background of the use case.</a:t>
                      </a:r>
                    </a:p>
                    <a:p>
                      <a:pPr marL="342900" indent="-342900" algn="l">
                        <a:buAutoNum type="arabicPeriod"/>
                      </a:pPr>
                      <a:r>
                        <a:rPr lang="en-US" b="1" baseline="0" dirty="0"/>
                        <a:t>Actors</a:t>
                      </a:r>
                      <a:r>
                        <a:rPr lang="en-US" baseline="0" dirty="0"/>
                        <a:t>: List the actors that interact with the use case.</a:t>
                      </a:r>
                    </a:p>
                    <a:p>
                      <a:pPr marL="342900" indent="-342900">
                        <a:buAutoNum type="arabicPeriod"/>
                      </a:pPr>
                      <a:r>
                        <a:rPr lang="en-US" b="1" baseline="0" dirty="0"/>
                        <a:t>Pre-condition</a:t>
                      </a:r>
                      <a:r>
                        <a:rPr lang="en-US" baseline="0" dirty="0"/>
                        <a:t>: Define the condition that needs to be satisfied for the use case to execute.</a:t>
                      </a:r>
                    </a:p>
                    <a:p>
                      <a:pPr marL="342900" indent="-342900">
                        <a:buAutoNum type="arabicPeriod"/>
                      </a:pPr>
                      <a:r>
                        <a:rPr lang="en-US" b="1" baseline="0" dirty="0"/>
                        <a:t>Post-condition</a:t>
                      </a:r>
                      <a:r>
                        <a:rPr lang="en-US" baseline="0" dirty="0"/>
                        <a:t>: After the execution of the use case, different states of the system are defined here.</a:t>
                      </a:r>
                    </a:p>
                    <a:p>
                      <a:pPr marL="342900" indent="-342900">
                        <a:buAutoNum type="arabicPeriod"/>
                      </a:pPr>
                      <a:r>
                        <a:rPr lang="en-US" b="1" baseline="0" dirty="0"/>
                        <a:t>Flow of events</a:t>
                      </a:r>
                      <a:r>
                        <a:rPr lang="en-US" baseline="0" dirty="0"/>
                        <a:t>.</a:t>
                      </a:r>
                    </a:p>
                    <a:p>
                      <a:pPr marL="0" indent="0">
                        <a:buNone/>
                      </a:pPr>
                      <a:r>
                        <a:rPr lang="en-US" baseline="0" dirty="0"/>
                        <a:t>     </a:t>
                      </a:r>
                      <a:r>
                        <a:rPr lang="en-US" b="1" baseline="0" dirty="0"/>
                        <a:t>5.1. Basic flow</a:t>
                      </a:r>
                      <a:r>
                        <a:rPr lang="en-US" baseline="0" dirty="0"/>
                        <a:t>: List the primary events that will occur when this use case execute</a:t>
                      </a:r>
                    </a:p>
                    <a:p>
                      <a:pPr marL="0" indent="0">
                        <a:buNone/>
                      </a:pPr>
                      <a:r>
                        <a:rPr lang="en-US" baseline="0" dirty="0"/>
                        <a:t>     </a:t>
                      </a:r>
                      <a:r>
                        <a:rPr lang="en-US" b="1" baseline="0" dirty="0"/>
                        <a:t>5.2. Alternative flow</a:t>
                      </a:r>
                      <a:r>
                        <a:rPr lang="en-US" baseline="0" dirty="0"/>
                        <a:t>: Any other possible flow in the use case should be separately listed.</a:t>
                      </a:r>
                    </a:p>
                    <a:p>
                      <a:pPr marL="0" indent="0">
                        <a:buNone/>
                      </a:pPr>
                      <a:r>
                        <a:rPr lang="en-US" b="1" baseline="0" dirty="0"/>
                        <a:t>6</a:t>
                      </a:r>
                      <a:r>
                        <a:rPr lang="en-US" baseline="0" dirty="0"/>
                        <a:t>. </a:t>
                      </a:r>
                      <a:r>
                        <a:rPr lang="en-US" b="1" baseline="0" dirty="0"/>
                        <a:t>Special Requirements</a:t>
                      </a:r>
                      <a:r>
                        <a:rPr lang="en-US" baseline="0" dirty="0"/>
                        <a:t>: Business rules for the basic and alternative flows should be listed.</a:t>
                      </a:r>
                    </a:p>
                    <a:p>
                      <a:pPr marL="0" indent="0">
                        <a:buNone/>
                      </a:pPr>
                      <a:r>
                        <a:rPr lang="en-US" b="1" baseline="0" dirty="0"/>
                        <a:t>7</a:t>
                      </a:r>
                      <a:r>
                        <a:rPr lang="en-US" baseline="0" dirty="0"/>
                        <a:t>. </a:t>
                      </a:r>
                      <a:r>
                        <a:rPr lang="en-US" b="1" baseline="0" dirty="0"/>
                        <a:t>Associated use cases</a:t>
                      </a:r>
                      <a:r>
                        <a:rPr lang="en-US" baseline="0" dirty="0"/>
                        <a:t>: List the related use case if any.</a:t>
                      </a:r>
                      <a:endParaRPr lang="en-US"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39687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descriptive use cases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78097360"/>
              </p:ext>
            </p:extLst>
          </p:nvPr>
        </p:nvGraphicFramePr>
        <p:xfrm>
          <a:off x="838200" y="1690688"/>
          <a:ext cx="10515600" cy="4419600"/>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248116">
                <a:tc>
                  <a:txBody>
                    <a:bodyPr/>
                    <a:lstStyle/>
                    <a:p>
                      <a:r>
                        <a:rPr lang="en-US" dirty="0"/>
                        <a:t>Descriptive</a:t>
                      </a:r>
                      <a:r>
                        <a:rPr lang="en-US" baseline="0" dirty="0"/>
                        <a:t> use case for Login</a:t>
                      </a:r>
                      <a:endParaRPr lang="en-US" dirty="0"/>
                    </a:p>
                  </a:txBody>
                  <a:tcPr/>
                </a:tc>
                <a:extLst>
                  <a:ext uri="{0D108BD9-81ED-4DB2-BD59-A6C34878D82A}">
                    <a16:rowId xmlns:a16="http://schemas.microsoft.com/office/drawing/2014/main" val="10000"/>
                  </a:ext>
                </a:extLst>
              </a:tr>
              <a:tr h="3313231">
                <a:tc>
                  <a:txBody>
                    <a:bodyPr/>
                    <a:lstStyle/>
                    <a:p>
                      <a:pPr marL="342900" indent="-342900">
                        <a:buAutoNum type="arabicPeriod"/>
                      </a:pPr>
                      <a:r>
                        <a:rPr lang="en-US" b="1" dirty="0"/>
                        <a:t>Brief</a:t>
                      </a:r>
                      <a:r>
                        <a:rPr lang="en-US" b="1" baseline="0" dirty="0"/>
                        <a:t> description</a:t>
                      </a:r>
                      <a:r>
                        <a:rPr lang="en-US" baseline="0" dirty="0"/>
                        <a:t>: This use case documents the steps that must be followed in order to log into URS.</a:t>
                      </a:r>
                    </a:p>
                    <a:p>
                      <a:pPr marL="342900" indent="-342900" algn="l">
                        <a:buAutoNum type="arabicPeriod"/>
                      </a:pPr>
                      <a:r>
                        <a:rPr lang="en-US" b="1" baseline="0" dirty="0"/>
                        <a:t>Actors</a:t>
                      </a:r>
                      <a:r>
                        <a:rPr lang="en-US" baseline="0" dirty="0"/>
                        <a:t>:  Administrator, Faculty, Student</a:t>
                      </a:r>
                    </a:p>
                    <a:p>
                      <a:pPr marL="342900" indent="-342900">
                        <a:buAutoNum type="arabicPeriod"/>
                      </a:pPr>
                      <a:r>
                        <a:rPr lang="en-US" b="1" baseline="0" dirty="0"/>
                        <a:t>Pre-condition</a:t>
                      </a:r>
                      <a:r>
                        <a:rPr lang="en-US" baseline="0" dirty="0"/>
                        <a:t>: The user must have a valid login Id and password</a:t>
                      </a:r>
                    </a:p>
                    <a:p>
                      <a:pPr marL="342900" indent="-342900">
                        <a:buAutoNum type="arabicPeriod"/>
                      </a:pPr>
                      <a:r>
                        <a:rPr lang="en-US" b="1" baseline="0" dirty="0"/>
                        <a:t>Post-condition</a:t>
                      </a:r>
                      <a:r>
                        <a:rPr lang="en-US" baseline="0" dirty="0"/>
                        <a:t>: If the use case is successful, the actor is logged into the system. If not, the system state remains unchanged.</a:t>
                      </a:r>
                    </a:p>
                    <a:p>
                      <a:pPr marL="342900" indent="-342900">
                        <a:buAutoNum type="arabicPeriod"/>
                      </a:pPr>
                      <a:r>
                        <a:rPr lang="en-US" b="1" baseline="0" dirty="0"/>
                        <a:t>Flow of events</a:t>
                      </a:r>
                      <a:r>
                        <a:rPr lang="en-US" baseline="0" dirty="0"/>
                        <a:t>.</a:t>
                      </a:r>
                    </a:p>
                    <a:p>
                      <a:pPr marL="0" indent="0">
                        <a:buNone/>
                      </a:pPr>
                      <a:r>
                        <a:rPr lang="en-US" baseline="0" dirty="0"/>
                        <a:t>     </a:t>
                      </a:r>
                      <a:r>
                        <a:rPr lang="en-US" b="1" baseline="0" dirty="0"/>
                        <a:t>5.1. Basic flow</a:t>
                      </a:r>
                      <a:r>
                        <a:rPr lang="en-US" baseline="0" dirty="0"/>
                        <a:t>: If the user wishes to login to URS</a:t>
                      </a:r>
                    </a:p>
                    <a:p>
                      <a:pPr marL="342900" indent="-342900">
                        <a:buSzPct val="98000"/>
                        <a:buFont typeface="+mj-lt"/>
                        <a:buAutoNum type="arabicPeriod"/>
                      </a:pPr>
                      <a:r>
                        <a:rPr lang="en-US" baseline="0" dirty="0"/>
                        <a:t>    </a:t>
                      </a:r>
                      <a:r>
                        <a:rPr lang="en-US" sz="1600" baseline="0" dirty="0"/>
                        <a:t>The system requests the actor to specify the function he/she would like to perform (either login, change password)</a:t>
                      </a:r>
                    </a:p>
                    <a:p>
                      <a:pPr marL="342900" indent="-342900">
                        <a:buFont typeface="+mj-lt"/>
                        <a:buAutoNum type="arabicPeriod"/>
                      </a:pPr>
                      <a:r>
                        <a:rPr lang="en-US" sz="1600" baseline="0" dirty="0"/>
                        <a:t>     Once the actor provides the requested information, one of the flow is executed.</a:t>
                      </a:r>
                    </a:p>
                    <a:p>
                      <a:pPr marL="285750" indent="-285750">
                        <a:buFont typeface="Wingdings" panose="05000000000000000000" pitchFamily="2" charset="2"/>
                        <a:buChar char="ü"/>
                      </a:pPr>
                      <a:r>
                        <a:rPr lang="en-US" sz="1600" baseline="0" dirty="0"/>
                        <a:t>if the actor selects “login”, the login flow is executed</a:t>
                      </a:r>
                    </a:p>
                    <a:p>
                      <a:pPr marL="285750" indent="-285750">
                        <a:buFont typeface="Wingdings" panose="05000000000000000000" pitchFamily="2" charset="2"/>
                        <a:buChar char="ü"/>
                      </a:pPr>
                      <a:r>
                        <a:rPr lang="en-US" sz="1600" baseline="0" dirty="0"/>
                        <a:t> if the actor selects “change password”, its flow is executed.</a:t>
                      </a:r>
                    </a:p>
                    <a:p>
                      <a:pPr marL="0" indent="0">
                        <a:buFont typeface="Wingdings" panose="05000000000000000000" pitchFamily="2" charset="2"/>
                        <a:buNone/>
                      </a:pPr>
                      <a:r>
                        <a:rPr lang="en-US" b="1" baseline="0" dirty="0"/>
                        <a:t>Basic flow 1: Login</a:t>
                      </a:r>
                    </a:p>
                    <a:p>
                      <a:pPr marL="0" indent="0">
                        <a:buFont typeface="Wingdings" panose="05000000000000000000" pitchFamily="2" charset="2"/>
                        <a:buNone/>
                      </a:pPr>
                      <a:r>
                        <a:rPr lang="en-US" b="1" baseline="0" dirty="0"/>
                        <a:t>    </a:t>
                      </a:r>
                      <a:r>
                        <a:rPr lang="en-US" sz="1600" b="0" baseline="0" dirty="0"/>
                        <a:t>The system requests that the actor enters his/her login id and password.</a:t>
                      </a:r>
                    </a:p>
                    <a:p>
                      <a:pPr marL="0" indent="0">
                        <a:buFont typeface="Wingdings" panose="05000000000000000000" pitchFamily="2" charset="2"/>
                        <a:buNone/>
                      </a:pPr>
                      <a:r>
                        <a:rPr lang="en-US" sz="1600" b="0" baseline="0" dirty="0"/>
                        <a:t>    The actor enters his/her login id and password.</a:t>
                      </a:r>
                    </a:p>
                    <a:p>
                      <a:pPr marL="0" indent="0">
                        <a:buFont typeface="Wingdings" panose="05000000000000000000" pitchFamily="2" charset="2"/>
                        <a:buNone/>
                      </a:pPr>
                      <a:r>
                        <a:rPr lang="en-US" sz="1600" b="0" baseline="0" dirty="0"/>
                        <a:t>    The actor enters into the system.</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193091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descriptive use cases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55111906"/>
              </p:ext>
            </p:extLst>
          </p:nvPr>
        </p:nvGraphicFramePr>
        <p:xfrm>
          <a:off x="838200" y="1690688"/>
          <a:ext cx="10515600" cy="4756069"/>
        </p:xfrm>
        <a:graphic>
          <a:graphicData uri="http://schemas.openxmlformats.org/drawingml/2006/table">
            <a:tbl>
              <a:tblPr firstRow="1" bandRow="1">
                <a:tableStyleId>{5C22544A-7EE6-4342-B048-85BDC9FD1C3A}</a:tableStyleId>
              </a:tblPr>
              <a:tblGrid>
                <a:gridCol w="10515600">
                  <a:extLst>
                    <a:ext uri="{9D8B030D-6E8A-4147-A177-3AD203B41FA5}">
                      <a16:colId xmlns:a16="http://schemas.microsoft.com/office/drawing/2014/main" val="20000"/>
                    </a:ext>
                  </a:extLst>
                </a:gridCol>
              </a:tblGrid>
              <a:tr h="3974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Descriptive</a:t>
                      </a:r>
                      <a:r>
                        <a:rPr lang="en-US" baseline="0" dirty="0"/>
                        <a:t> use case for Login</a:t>
                      </a:r>
                      <a:endParaRPr lang="en-US" dirty="0"/>
                    </a:p>
                  </a:txBody>
                  <a:tcPr/>
                </a:tc>
                <a:extLst>
                  <a:ext uri="{0D108BD9-81ED-4DB2-BD59-A6C34878D82A}">
                    <a16:rowId xmlns:a16="http://schemas.microsoft.com/office/drawing/2014/main" val="10000"/>
                  </a:ext>
                </a:extLst>
              </a:tr>
              <a:tr h="4213841">
                <a:tc>
                  <a:txBody>
                    <a:bodyPr/>
                    <a:lstStyle/>
                    <a:p>
                      <a:pPr marL="0" indent="0">
                        <a:buNone/>
                      </a:pPr>
                      <a:r>
                        <a:rPr lang="en-US" baseline="0" dirty="0"/>
                        <a:t> </a:t>
                      </a:r>
                      <a:r>
                        <a:rPr lang="en-US" b="1" baseline="0" dirty="0"/>
                        <a:t>Basic flow 2: Change Password</a:t>
                      </a:r>
                    </a:p>
                    <a:p>
                      <a:pPr marL="342900" indent="-342900">
                        <a:buFont typeface="+mj-lt"/>
                        <a:buAutoNum type="arabicPeriod"/>
                      </a:pPr>
                      <a:r>
                        <a:rPr lang="en-US" sz="1600" b="0" baseline="0" dirty="0"/>
                        <a:t>The system requests that the actor enter his/her login Id, old password, new password and confirm the new password information</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b="0" baseline="0" dirty="0"/>
                        <a:t>The actor enters login Id, old password, new password and confirms the new password information.</a:t>
                      </a:r>
                    </a:p>
                    <a:p>
                      <a:pPr marL="342900" marR="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US" sz="1600" b="0" baseline="0" dirty="0"/>
                        <a:t>The system validates the new password entered and the password change is confirmed.</a:t>
                      </a:r>
                      <a:endParaRPr lang="en-US" sz="1600" b="1" baseline="0" dirty="0"/>
                    </a:p>
                    <a:p>
                      <a:pPr marL="0" indent="0">
                        <a:buNone/>
                      </a:pPr>
                      <a:r>
                        <a:rPr lang="en-US" b="1" baseline="0" dirty="0"/>
                        <a:t>5.2. Alternative flows</a:t>
                      </a:r>
                      <a:r>
                        <a:rPr lang="en-US" baseline="0" dirty="0"/>
                        <a:t>: </a:t>
                      </a:r>
                    </a:p>
                    <a:p>
                      <a:pPr marL="0" indent="0">
                        <a:buNone/>
                      </a:pPr>
                      <a:r>
                        <a:rPr lang="en-US" sz="1600" b="1" baseline="0" dirty="0"/>
                        <a:t>Alternative Flow1: Invalid login id/password</a:t>
                      </a:r>
                    </a:p>
                    <a:p>
                      <a:pPr marL="0" indent="0">
                        <a:buNone/>
                      </a:pPr>
                      <a:r>
                        <a:rPr lang="en-US" sz="1600" b="0" baseline="0" dirty="0"/>
                        <a:t>If in the login basic flow user enters an invalid login id /password or leaves the login id and password empty, the system shows an error message. The actor returns to the beginning of basic flow.</a:t>
                      </a:r>
                    </a:p>
                    <a:p>
                      <a:pPr marL="0" indent="0">
                        <a:buNone/>
                      </a:pPr>
                      <a:r>
                        <a:rPr lang="en-US" sz="1600" b="1" baseline="0" dirty="0"/>
                        <a:t>Alternative Flow2: Invalid Entry</a:t>
                      </a:r>
                    </a:p>
                    <a:p>
                      <a:pPr marL="0" indent="0">
                        <a:buNone/>
                      </a:pPr>
                      <a:r>
                        <a:rPr lang="en-US" sz="1600" b="0" baseline="0" dirty="0"/>
                        <a:t>If in the change password basic flow the user enters an invalid id, old password, new password or the new password does not match with the confirmed password, the system displays an error message. The actor returns to the beginning of the basic flow.</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b="1" baseline="0" dirty="0"/>
                        <a:t>Alternative Flow3: (any other) </a:t>
                      </a:r>
                    </a:p>
                    <a:p>
                      <a:pPr marL="0" indent="0">
                        <a:buNone/>
                      </a:pPr>
                      <a:r>
                        <a:rPr lang="en-US" sz="1600" b="0" baseline="0" dirty="0"/>
                        <a:t>Details here.</a:t>
                      </a:r>
                    </a:p>
                    <a:p>
                      <a:pPr marL="0" indent="0">
                        <a:buNone/>
                      </a:pPr>
                      <a:r>
                        <a:rPr lang="en-US" b="1" baseline="0" dirty="0"/>
                        <a:t>6</a:t>
                      </a:r>
                      <a:r>
                        <a:rPr lang="en-US" baseline="0" dirty="0"/>
                        <a:t>. </a:t>
                      </a:r>
                      <a:r>
                        <a:rPr lang="en-US" b="1" baseline="0" dirty="0"/>
                        <a:t>Special Requirements</a:t>
                      </a:r>
                      <a:r>
                        <a:rPr lang="en-US" baseline="0" dirty="0"/>
                        <a:t>: None.</a:t>
                      </a:r>
                    </a:p>
                    <a:p>
                      <a:pPr marL="0" indent="0">
                        <a:buNone/>
                      </a:pPr>
                      <a:r>
                        <a:rPr lang="en-US" b="1" baseline="0" dirty="0"/>
                        <a:t>7</a:t>
                      </a:r>
                      <a:r>
                        <a:rPr lang="en-US" baseline="0" dirty="0"/>
                        <a:t>. </a:t>
                      </a:r>
                      <a:r>
                        <a:rPr lang="en-US" b="1" baseline="0" dirty="0"/>
                        <a:t>Associated use cases</a:t>
                      </a:r>
                      <a:r>
                        <a:rPr lang="en-US" baseline="0" dirty="0"/>
                        <a:t>: None.</a:t>
                      </a:r>
                      <a:endParaRPr lang="en-US"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74055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Generation of Test cases from Use cases</a:t>
            </a:r>
          </a:p>
        </p:txBody>
      </p:sp>
      <p:sp>
        <p:nvSpPr>
          <p:cNvPr id="3" name="Content Placeholder 2"/>
          <p:cNvSpPr>
            <a:spLocks noGrp="1"/>
          </p:cNvSpPr>
          <p:nvPr>
            <p:ph idx="1"/>
          </p:nvPr>
        </p:nvSpPr>
        <p:spPr/>
        <p:txBody>
          <a:bodyPr>
            <a:normAutofit/>
          </a:bodyPr>
          <a:lstStyle/>
          <a:p>
            <a:r>
              <a:rPr lang="en-US" dirty="0"/>
              <a:t>It is always advisable to follow a systematic approach for the generation of test cases. </a:t>
            </a:r>
          </a:p>
          <a:p>
            <a:r>
              <a:rPr lang="en-US" dirty="0"/>
              <a:t>A systematic approach may include the following steps:</a:t>
            </a:r>
          </a:p>
          <a:p>
            <a:pPr marL="971550" lvl="1" indent="-514350">
              <a:buFont typeface="+mj-lt"/>
              <a:buAutoNum type="arabicPeriod"/>
            </a:pPr>
            <a:r>
              <a:rPr lang="en-US" dirty="0"/>
              <a:t>Generation of scenario diagrams</a:t>
            </a:r>
          </a:p>
          <a:p>
            <a:pPr marL="971550" lvl="1" indent="-514350">
              <a:buFont typeface="+mj-lt"/>
              <a:buAutoNum type="arabicPeriod"/>
            </a:pPr>
            <a:r>
              <a:rPr lang="en-US" dirty="0"/>
              <a:t>Creation of use case scenario matrix</a:t>
            </a:r>
          </a:p>
          <a:p>
            <a:pPr marL="971550" lvl="1" indent="-514350">
              <a:buFont typeface="+mj-lt"/>
              <a:buAutoNum type="arabicPeriod"/>
            </a:pPr>
            <a:r>
              <a:rPr lang="en-US" dirty="0"/>
              <a:t>Identification of variables in a use case</a:t>
            </a:r>
          </a:p>
          <a:p>
            <a:pPr marL="971550" lvl="1" indent="-514350">
              <a:buFont typeface="+mj-lt"/>
              <a:buAutoNum type="arabicPeriod"/>
            </a:pPr>
            <a:r>
              <a:rPr lang="en-US" dirty="0"/>
              <a:t>Identification of different input states of available variables</a:t>
            </a:r>
          </a:p>
          <a:p>
            <a:pPr marL="971550" lvl="1" indent="-514350">
              <a:buFont typeface="+mj-lt"/>
              <a:buAutoNum type="arabicPeriod"/>
            </a:pPr>
            <a:r>
              <a:rPr lang="en-US" dirty="0"/>
              <a:t>Design of test case matrix</a:t>
            </a:r>
          </a:p>
          <a:p>
            <a:pPr marL="971550" lvl="1" indent="-514350">
              <a:buFont typeface="+mj-lt"/>
              <a:buAutoNum type="arabicPeriod"/>
            </a:pPr>
            <a:r>
              <a:rPr lang="en-US" dirty="0"/>
              <a:t>Assigning actual values to variables</a:t>
            </a:r>
          </a:p>
          <a:p>
            <a:pPr marL="0" indent="0">
              <a:buNone/>
            </a:pPr>
            <a:endParaRPr lang="en-US" dirty="0"/>
          </a:p>
        </p:txBody>
      </p:sp>
    </p:spTree>
    <p:extLst>
      <p:ext uri="{BB962C8B-B14F-4D97-AF65-F5344CB8AC3E}">
        <p14:creationId xmlns:p14="http://schemas.microsoft.com/office/powerpoint/2010/main" val="3022464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Generation of Scenario Diagram</a:t>
            </a:r>
          </a:p>
        </p:txBody>
      </p:sp>
      <p:sp>
        <p:nvSpPr>
          <p:cNvPr id="3" name="Content Placeholder 2"/>
          <p:cNvSpPr>
            <a:spLocks noGrp="1"/>
          </p:cNvSpPr>
          <p:nvPr>
            <p:ph idx="1"/>
          </p:nvPr>
        </p:nvSpPr>
        <p:spPr/>
        <p:txBody>
          <a:bodyPr/>
          <a:lstStyle/>
          <a:p>
            <a:r>
              <a:rPr lang="en-US" dirty="0"/>
              <a:t>A use case scenario is an instance of a use case or a complete path through the use case.</a:t>
            </a:r>
          </a:p>
          <a:p>
            <a:r>
              <a:rPr lang="en-US" dirty="0"/>
              <a:t>The basic flow is represented by a straight arrow and the alternative flows by the curves.</a:t>
            </a:r>
          </a:p>
          <a:p>
            <a:r>
              <a:rPr lang="en-US" dirty="0"/>
              <a:t>At the end of the basic flow, a post condition is generated.</a:t>
            </a:r>
          </a:p>
          <a:p>
            <a:r>
              <a:rPr lang="en-US" dirty="0"/>
              <a:t>At the start of the basic flow, a pre-condition is generated.</a:t>
            </a:r>
          </a:p>
        </p:txBody>
      </p:sp>
    </p:spTree>
    <p:extLst>
      <p:ext uri="{BB962C8B-B14F-4D97-AF65-F5344CB8AC3E}">
        <p14:creationId xmlns:p14="http://schemas.microsoft.com/office/powerpoint/2010/main" val="1562763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Generation of scenario diagram</a:t>
            </a:r>
          </a:p>
        </p:txBody>
      </p:sp>
      <p:sp>
        <p:nvSpPr>
          <p:cNvPr id="3" name="Content Placeholder 2"/>
          <p:cNvSpPr>
            <a:spLocks noGrp="1"/>
          </p:cNvSpPr>
          <p:nvPr>
            <p:ph idx="1"/>
          </p:nvPr>
        </p:nvSpPr>
        <p:spPr/>
        <p:txBody>
          <a:bodyPr/>
          <a:lstStyle/>
          <a:p>
            <a:r>
              <a:rPr lang="en-US" dirty="0"/>
              <a:t>There are following basic and alternative flows in login use case</a:t>
            </a:r>
          </a:p>
          <a:p>
            <a:r>
              <a:rPr lang="en-US" dirty="0"/>
              <a:t>Basic Flow:</a:t>
            </a:r>
          </a:p>
          <a:p>
            <a:pPr lvl="1"/>
            <a:r>
              <a:rPr lang="en-US" dirty="0"/>
              <a:t>Login</a:t>
            </a:r>
          </a:p>
          <a:p>
            <a:pPr lvl="1"/>
            <a:r>
              <a:rPr lang="en-US" dirty="0"/>
              <a:t>Change password</a:t>
            </a:r>
          </a:p>
          <a:p>
            <a:r>
              <a:rPr lang="en-US" dirty="0"/>
              <a:t>Alternative Flow:</a:t>
            </a:r>
          </a:p>
          <a:p>
            <a:pPr lvl="1"/>
            <a:r>
              <a:rPr lang="en-US" dirty="0"/>
              <a:t>Invalid login Id/password</a:t>
            </a:r>
          </a:p>
          <a:p>
            <a:pPr lvl="1"/>
            <a:r>
              <a:rPr lang="en-US" dirty="0"/>
              <a:t>Invalid entry</a:t>
            </a:r>
          </a:p>
          <a:p>
            <a:pPr lvl="1"/>
            <a:r>
              <a:rPr lang="en-US" dirty="0"/>
              <a:t>(Any other)</a:t>
            </a:r>
          </a:p>
        </p:txBody>
      </p:sp>
    </p:spTree>
    <p:extLst>
      <p:ext uri="{BB962C8B-B14F-4D97-AF65-F5344CB8AC3E}">
        <p14:creationId xmlns:p14="http://schemas.microsoft.com/office/powerpoint/2010/main" val="2280134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5746" y="392422"/>
            <a:ext cx="10515600" cy="998016"/>
          </a:xfrm>
        </p:spPr>
        <p:txBody>
          <a:bodyPr/>
          <a:lstStyle/>
          <a:p>
            <a:r>
              <a:rPr lang="en-US" dirty="0"/>
              <a:t>Generation of scenario diagrams</a:t>
            </a:r>
          </a:p>
        </p:txBody>
      </p:sp>
      <p:sp>
        <p:nvSpPr>
          <p:cNvPr id="51" name="TextBox 50"/>
          <p:cNvSpPr txBox="1"/>
          <p:nvPr/>
        </p:nvSpPr>
        <p:spPr>
          <a:xfrm>
            <a:off x="3289568" y="2843899"/>
            <a:ext cx="1987567" cy="369332"/>
          </a:xfrm>
          <a:prstGeom prst="rect">
            <a:avLst/>
          </a:prstGeom>
          <a:noFill/>
        </p:spPr>
        <p:txBody>
          <a:bodyPr wrap="square" rtlCol="0">
            <a:spAutoFit/>
          </a:bodyPr>
          <a:lstStyle/>
          <a:p>
            <a:r>
              <a:rPr lang="en-US" dirty="0"/>
              <a:t>Alternative flow 1</a:t>
            </a:r>
          </a:p>
        </p:txBody>
      </p:sp>
      <p:sp>
        <p:nvSpPr>
          <p:cNvPr id="52" name="TextBox 51"/>
          <p:cNvSpPr txBox="1"/>
          <p:nvPr/>
        </p:nvSpPr>
        <p:spPr>
          <a:xfrm>
            <a:off x="2224588" y="1541355"/>
            <a:ext cx="1897038" cy="369332"/>
          </a:xfrm>
          <a:prstGeom prst="rect">
            <a:avLst/>
          </a:prstGeom>
          <a:noFill/>
        </p:spPr>
        <p:txBody>
          <a:bodyPr wrap="square" rtlCol="0">
            <a:spAutoFit/>
          </a:bodyPr>
          <a:lstStyle/>
          <a:p>
            <a:r>
              <a:rPr lang="en-US" b="1" dirty="0"/>
              <a:t>Basic Flow 1</a:t>
            </a:r>
          </a:p>
        </p:txBody>
      </p:sp>
      <p:cxnSp>
        <p:nvCxnSpPr>
          <p:cNvPr id="54" name="Straight Connector 53"/>
          <p:cNvCxnSpPr>
            <a:endCxn id="8" idx="1"/>
          </p:cNvCxnSpPr>
          <p:nvPr/>
        </p:nvCxnSpPr>
        <p:spPr>
          <a:xfrm flipV="1">
            <a:off x="341194" y="2016557"/>
            <a:ext cx="2124912" cy="5809"/>
          </a:xfrm>
          <a:prstGeom prst="line">
            <a:avLst/>
          </a:prstGeom>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2801205" y="4348825"/>
            <a:ext cx="2342115" cy="369332"/>
          </a:xfrm>
          <a:prstGeom prst="rect">
            <a:avLst/>
          </a:prstGeom>
          <a:noFill/>
        </p:spPr>
        <p:txBody>
          <a:bodyPr wrap="square" rtlCol="0">
            <a:spAutoFit/>
          </a:bodyPr>
          <a:lstStyle/>
          <a:p>
            <a:r>
              <a:rPr lang="en-US" dirty="0"/>
              <a:t>Logged in successfully</a:t>
            </a:r>
          </a:p>
        </p:txBody>
      </p:sp>
      <p:grpSp>
        <p:nvGrpSpPr>
          <p:cNvPr id="75" name="Group 74"/>
          <p:cNvGrpSpPr/>
          <p:nvPr/>
        </p:nvGrpSpPr>
        <p:grpSpPr>
          <a:xfrm>
            <a:off x="341194" y="1717984"/>
            <a:ext cx="4424560" cy="3208858"/>
            <a:chOff x="341194" y="1717984"/>
            <a:chExt cx="4424560" cy="3208858"/>
          </a:xfrm>
        </p:grpSpPr>
        <p:cxnSp>
          <p:nvCxnSpPr>
            <p:cNvPr id="5" name="Straight Arrow Connector 4"/>
            <p:cNvCxnSpPr/>
            <p:nvPr/>
          </p:nvCxnSpPr>
          <p:spPr>
            <a:xfrm flipH="1">
              <a:off x="2538484" y="2156346"/>
              <a:ext cx="1" cy="2552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Flowchart: Connector 7"/>
            <p:cNvSpPr/>
            <p:nvPr/>
          </p:nvSpPr>
          <p:spPr>
            <a:xfrm>
              <a:off x="2436126" y="1992573"/>
              <a:ext cx="204716" cy="163773"/>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Flowchart: Connector 8"/>
            <p:cNvSpPr/>
            <p:nvPr/>
          </p:nvSpPr>
          <p:spPr>
            <a:xfrm>
              <a:off x="2436126" y="4708478"/>
              <a:ext cx="177420" cy="218364"/>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9" name="Curved Up Arrow 48"/>
            <p:cNvSpPr/>
            <p:nvPr/>
          </p:nvSpPr>
          <p:spPr>
            <a:xfrm rot="16200000">
              <a:off x="2190466" y="2668137"/>
              <a:ext cx="1280160" cy="584124"/>
            </a:xfrm>
            <a:prstGeom prst="curvedUpArrow">
              <a:avLst/>
            </a:prstGeom>
            <a:solidFill>
              <a:schemeClr val="accent1"/>
            </a:solidFill>
            <a:ln w="0" cmpd="dbl">
              <a:noFill/>
              <a:headEnd type="arrow" w="sm" len="sm"/>
              <a:tailEnd w="lg" len="s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ln w="0"/>
                <a:gradFill>
                  <a:gsLst>
                    <a:gs pos="21000">
                      <a:srgbClr val="53575C"/>
                    </a:gs>
                    <a:gs pos="88000">
                      <a:srgbClr val="C5C7CA"/>
                    </a:gs>
                  </a:gsLst>
                  <a:lin ang="5400000"/>
                </a:gradFill>
              </a:endParaRPr>
            </a:p>
          </p:txBody>
        </p:sp>
        <p:cxnSp>
          <p:nvCxnSpPr>
            <p:cNvPr id="56" name="Straight Connector 55"/>
            <p:cNvCxnSpPr/>
            <p:nvPr/>
          </p:nvCxnSpPr>
          <p:spPr>
            <a:xfrm flipV="1">
              <a:off x="2640842" y="4827996"/>
              <a:ext cx="2124912" cy="5809"/>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Curved Connector 57"/>
            <p:cNvCxnSpPr/>
            <p:nvPr/>
          </p:nvCxnSpPr>
          <p:spPr>
            <a:xfrm rot="5400000">
              <a:off x="2122229" y="3978321"/>
              <a:ext cx="409433" cy="395787"/>
            </a:xfrm>
            <a:prstGeom prst="curvedConnector3">
              <a:avLst>
                <a:gd name="adj1" fmla="val -333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1954361" y="4367284"/>
              <a:ext cx="3350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1978927" y="4490113"/>
              <a:ext cx="2831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2049897" y="4612944"/>
              <a:ext cx="174691" cy="0"/>
            </a:xfrm>
            <a:prstGeom prst="line">
              <a:avLst/>
            </a:prstGeom>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454357" y="1717984"/>
              <a:ext cx="1798093" cy="369332"/>
            </a:xfrm>
            <a:prstGeom prst="rect">
              <a:avLst/>
            </a:prstGeom>
            <a:noFill/>
          </p:spPr>
          <p:txBody>
            <a:bodyPr wrap="square" rtlCol="0">
              <a:spAutoFit/>
            </a:bodyPr>
            <a:lstStyle/>
            <a:p>
              <a:r>
                <a:rPr lang="en-US" dirty="0"/>
                <a:t>Valid id and </a:t>
              </a:r>
              <a:r>
                <a:rPr lang="en-US" dirty="0" err="1"/>
                <a:t>pwd</a:t>
              </a:r>
              <a:endParaRPr lang="en-US" dirty="0"/>
            </a:p>
          </p:txBody>
        </p:sp>
        <p:sp>
          <p:nvSpPr>
            <p:cNvPr id="74" name="TextBox 73"/>
            <p:cNvSpPr txBox="1"/>
            <p:nvPr/>
          </p:nvSpPr>
          <p:spPr>
            <a:xfrm>
              <a:off x="341194" y="3881524"/>
              <a:ext cx="1883394" cy="369332"/>
            </a:xfrm>
            <a:prstGeom prst="rect">
              <a:avLst/>
            </a:prstGeom>
            <a:noFill/>
          </p:spPr>
          <p:txBody>
            <a:bodyPr wrap="square" rtlCol="0">
              <a:spAutoFit/>
            </a:bodyPr>
            <a:lstStyle/>
            <a:p>
              <a:r>
                <a:rPr lang="en-US" dirty="0"/>
                <a:t>Alternative flow 3</a:t>
              </a:r>
            </a:p>
          </p:txBody>
        </p:sp>
      </p:grpSp>
      <p:grpSp>
        <p:nvGrpSpPr>
          <p:cNvPr id="76" name="Group 75"/>
          <p:cNvGrpSpPr/>
          <p:nvPr/>
        </p:nvGrpSpPr>
        <p:grpSpPr>
          <a:xfrm>
            <a:off x="6075528" y="1726021"/>
            <a:ext cx="4424560" cy="3208858"/>
            <a:chOff x="341194" y="1717984"/>
            <a:chExt cx="4424560" cy="3208858"/>
          </a:xfrm>
        </p:grpSpPr>
        <p:cxnSp>
          <p:nvCxnSpPr>
            <p:cNvPr id="77" name="Straight Arrow Connector 76"/>
            <p:cNvCxnSpPr/>
            <p:nvPr/>
          </p:nvCxnSpPr>
          <p:spPr>
            <a:xfrm flipH="1">
              <a:off x="2538484" y="2156346"/>
              <a:ext cx="1" cy="2552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8" name="Flowchart: Connector 77"/>
            <p:cNvSpPr/>
            <p:nvPr/>
          </p:nvSpPr>
          <p:spPr>
            <a:xfrm>
              <a:off x="2436126" y="1992573"/>
              <a:ext cx="204716" cy="163773"/>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9" name="Flowchart: Connector 78"/>
            <p:cNvSpPr/>
            <p:nvPr/>
          </p:nvSpPr>
          <p:spPr>
            <a:xfrm>
              <a:off x="2436126" y="4708478"/>
              <a:ext cx="177420" cy="218364"/>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0" name="Curved Up Arrow 79"/>
            <p:cNvSpPr/>
            <p:nvPr/>
          </p:nvSpPr>
          <p:spPr>
            <a:xfrm rot="16200000">
              <a:off x="2190466" y="2668137"/>
              <a:ext cx="1280160" cy="584124"/>
            </a:xfrm>
            <a:prstGeom prst="curvedUpArrow">
              <a:avLst/>
            </a:prstGeom>
            <a:solidFill>
              <a:schemeClr val="accent1"/>
            </a:solidFill>
            <a:ln w="0" cmpd="dbl">
              <a:noFill/>
              <a:headEnd type="arrow" w="sm" len="sm"/>
              <a:tailEnd w="lg" len="s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ln w="0"/>
                <a:gradFill>
                  <a:gsLst>
                    <a:gs pos="21000">
                      <a:srgbClr val="53575C"/>
                    </a:gs>
                    <a:gs pos="88000">
                      <a:srgbClr val="C5C7CA"/>
                    </a:gs>
                  </a:gsLst>
                  <a:lin ang="5400000"/>
                </a:gradFill>
              </a:endParaRPr>
            </a:p>
          </p:txBody>
        </p:sp>
        <p:cxnSp>
          <p:nvCxnSpPr>
            <p:cNvPr id="81" name="Straight Connector 80"/>
            <p:cNvCxnSpPr/>
            <p:nvPr/>
          </p:nvCxnSpPr>
          <p:spPr>
            <a:xfrm flipV="1">
              <a:off x="2640842" y="4827996"/>
              <a:ext cx="2124912" cy="5809"/>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Curved Connector 81"/>
            <p:cNvCxnSpPr/>
            <p:nvPr/>
          </p:nvCxnSpPr>
          <p:spPr>
            <a:xfrm rot="5400000">
              <a:off x="2122229" y="3978321"/>
              <a:ext cx="409433" cy="395787"/>
            </a:xfrm>
            <a:prstGeom prst="curvedConnector3">
              <a:avLst>
                <a:gd name="adj1" fmla="val -333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954361" y="4367284"/>
              <a:ext cx="33505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978927" y="4490113"/>
              <a:ext cx="28319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2049897" y="4612944"/>
              <a:ext cx="174691" cy="0"/>
            </a:xfrm>
            <a:prstGeom prst="line">
              <a:avLst/>
            </a:prstGeom>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454357" y="1717984"/>
              <a:ext cx="1798093" cy="646331"/>
            </a:xfrm>
            <a:prstGeom prst="rect">
              <a:avLst/>
            </a:prstGeom>
            <a:noFill/>
          </p:spPr>
          <p:txBody>
            <a:bodyPr wrap="square" rtlCol="0">
              <a:spAutoFit/>
            </a:bodyPr>
            <a:lstStyle/>
            <a:p>
              <a:r>
                <a:rPr lang="en-US" dirty="0"/>
                <a:t>Valid id, old and new </a:t>
              </a:r>
              <a:r>
                <a:rPr lang="en-US" dirty="0" err="1"/>
                <a:t>pwd</a:t>
              </a:r>
              <a:endParaRPr lang="en-US" dirty="0"/>
            </a:p>
          </p:txBody>
        </p:sp>
        <p:sp>
          <p:nvSpPr>
            <p:cNvPr id="87" name="TextBox 86"/>
            <p:cNvSpPr txBox="1"/>
            <p:nvPr/>
          </p:nvSpPr>
          <p:spPr>
            <a:xfrm>
              <a:off x="341194" y="3881524"/>
              <a:ext cx="1883394" cy="369332"/>
            </a:xfrm>
            <a:prstGeom prst="rect">
              <a:avLst/>
            </a:prstGeom>
            <a:noFill/>
          </p:spPr>
          <p:txBody>
            <a:bodyPr wrap="square" rtlCol="0">
              <a:spAutoFit/>
            </a:bodyPr>
            <a:lstStyle/>
            <a:p>
              <a:r>
                <a:rPr lang="en-US" dirty="0"/>
                <a:t>Alternative flow 3</a:t>
              </a:r>
            </a:p>
          </p:txBody>
        </p:sp>
      </p:grpSp>
      <p:sp>
        <p:nvSpPr>
          <p:cNvPr id="88" name="TextBox 87"/>
          <p:cNvSpPr txBox="1"/>
          <p:nvPr/>
        </p:nvSpPr>
        <p:spPr>
          <a:xfrm>
            <a:off x="7784231" y="1486764"/>
            <a:ext cx="1748937" cy="369332"/>
          </a:xfrm>
          <a:prstGeom prst="rect">
            <a:avLst/>
          </a:prstGeom>
          <a:noFill/>
        </p:spPr>
        <p:txBody>
          <a:bodyPr wrap="square" rtlCol="0">
            <a:spAutoFit/>
          </a:bodyPr>
          <a:lstStyle/>
          <a:p>
            <a:r>
              <a:rPr lang="en-US" b="1" dirty="0"/>
              <a:t>Basic Flow 2</a:t>
            </a:r>
          </a:p>
        </p:txBody>
      </p:sp>
      <p:sp>
        <p:nvSpPr>
          <p:cNvPr id="89" name="TextBox 88"/>
          <p:cNvSpPr txBox="1"/>
          <p:nvPr/>
        </p:nvSpPr>
        <p:spPr>
          <a:xfrm>
            <a:off x="9198591" y="2843899"/>
            <a:ext cx="1965278" cy="369332"/>
          </a:xfrm>
          <a:prstGeom prst="rect">
            <a:avLst/>
          </a:prstGeom>
          <a:noFill/>
        </p:spPr>
        <p:txBody>
          <a:bodyPr wrap="square" rtlCol="0">
            <a:spAutoFit/>
          </a:bodyPr>
          <a:lstStyle/>
          <a:p>
            <a:r>
              <a:rPr lang="en-US" dirty="0"/>
              <a:t>Alternative Flow 2</a:t>
            </a:r>
          </a:p>
        </p:txBody>
      </p:sp>
      <p:sp>
        <p:nvSpPr>
          <p:cNvPr id="90" name="TextBox 89"/>
          <p:cNvSpPr txBox="1"/>
          <p:nvPr/>
        </p:nvSpPr>
        <p:spPr>
          <a:xfrm>
            <a:off x="8479829" y="4464473"/>
            <a:ext cx="2020258" cy="369332"/>
          </a:xfrm>
          <a:prstGeom prst="rect">
            <a:avLst/>
          </a:prstGeom>
          <a:noFill/>
        </p:spPr>
        <p:txBody>
          <a:bodyPr wrap="square" rtlCol="0">
            <a:spAutoFit/>
          </a:bodyPr>
          <a:lstStyle/>
          <a:p>
            <a:r>
              <a:rPr lang="en-US" dirty="0"/>
              <a:t>Password changed</a:t>
            </a:r>
          </a:p>
        </p:txBody>
      </p:sp>
      <p:cxnSp>
        <p:nvCxnSpPr>
          <p:cNvPr id="92" name="Straight Connector 91"/>
          <p:cNvCxnSpPr>
            <a:endCxn id="78" idx="2"/>
          </p:cNvCxnSpPr>
          <p:nvPr/>
        </p:nvCxnSpPr>
        <p:spPr>
          <a:xfrm flipV="1">
            <a:off x="5827594" y="2082497"/>
            <a:ext cx="2342866" cy="4819"/>
          </a:xfrm>
          <a:prstGeom prst="line">
            <a:avLst/>
          </a:prstGeom>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1160060" y="5367092"/>
            <a:ext cx="8373108" cy="1200329"/>
          </a:xfrm>
          <a:prstGeom prst="rect">
            <a:avLst/>
          </a:prstGeom>
          <a:noFill/>
        </p:spPr>
        <p:txBody>
          <a:bodyPr wrap="square" rtlCol="0">
            <a:spAutoFit/>
          </a:bodyPr>
          <a:lstStyle/>
          <a:p>
            <a:r>
              <a:rPr lang="en-US" dirty="0"/>
              <a:t>Basic and alternative flow for login use case (a) Login (b) Change password</a:t>
            </a:r>
          </a:p>
          <a:p>
            <a:r>
              <a:rPr lang="en-US" dirty="0"/>
              <a:t>Alternative flow 1: Invalid login id and password</a:t>
            </a:r>
          </a:p>
          <a:p>
            <a:r>
              <a:rPr lang="en-US" dirty="0"/>
              <a:t>Alternative Flow 2: Invalid entry</a:t>
            </a:r>
          </a:p>
          <a:p>
            <a:r>
              <a:rPr lang="en-US" dirty="0"/>
              <a:t>Alternative Flow 3: any other</a:t>
            </a:r>
          </a:p>
        </p:txBody>
      </p:sp>
    </p:spTree>
    <p:extLst>
      <p:ext uri="{BB962C8B-B14F-4D97-AF65-F5344CB8AC3E}">
        <p14:creationId xmlns:p14="http://schemas.microsoft.com/office/powerpoint/2010/main" val="399140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4117"/>
          </a:xfrm>
        </p:spPr>
        <p:txBody>
          <a:bodyPr/>
          <a:lstStyle/>
          <a:p>
            <a:r>
              <a:rPr lang="en-US" dirty="0"/>
              <a:t>Creation of use case Scenario matrix</a:t>
            </a:r>
          </a:p>
        </p:txBody>
      </p:sp>
      <p:sp>
        <p:nvSpPr>
          <p:cNvPr id="3" name="Content Placeholder 2"/>
          <p:cNvSpPr>
            <a:spLocks noGrp="1"/>
          </p:cNvSpPr>
          <p:nvPr>
            <p:ph idx="1"/>
          </p:nvPr>
        </p:nvSpPr>
        <p:spPr>
          <a:xfrm>
            <a:off x="838200" y="1269242"/>
            <a:ext cx="10515600" cy="5493312"/>
          </a:xfrm>
        </p:spPr>
        <p:txBody>
          <a:bodyPr/>
          <a:lstStyle/>
          <a:p>
            <a:r>
              <a:rPr lang="en-US" dirty="0"/>
              <a:t>A scenario matrix give all the possible scenarios of the use case scenario diagram.</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564088982"/>
              </p:ext>
            </p:extLst>
          </p:nvPr>
        </p:nvGraphicFramePr>
        <p:xfrm>
          <a:off x="981121" y="2077825"/>
          <a:ext cx="9568597" cy="4568635"/>
        </p:xfrm>
        <a:graphic>
          <a:graphicData uri="http://schemas.openxmlformats.org/drawingml/2006/table">
            <a:tbl>
              <a:tblPr firstRow="1" bandRow="1">
                <a:tableStyleId>{5C22544A-7EE6-4342-B048-85BDC9FD1C3A}</a:tableStyleId>
              </a:tblPr>
              <a:tblGrid>
                <a:gridCol w="2392149">
                  <a:extLst>
                    <a:ext uri="{9D8B030D-6E8A-4147-A177-3AD203B41FA5}">
                      <a16:colId xmlns:a16="http://schemas.microsoft.com/office/drawing/2014/main" val="20000"/>
                    </a:ext>
                  </a:extLst>
                </a:gridCol>
                <a:gridCol w="3072305">
                  <a:extLst>
                    <a:ext uri="{9D8B030D-6E8A-4147-A177-3AD203B41FA5}">
                      <a16:colId xmlns:a16="http://schemas.microsoft.com/office/drawing/2014/main" val="20001"/>
                    </a:ext>
                  </a:extLst>
                </a:gridCol>
                <a:gridCol w="1711994">
                  <a:extLst>
                    <a:ext uri="{9D8B030D-6E8A-4147-A177-3AD203B41FA5}">
                      <a16:colId xmlns:a16="http://schemas.microsoft.com/office/drawing/2014/main" val="20002"/>
                    </a:ext>
                  </a:extLst>
                </a:gridCol>
                <a:gridCol w="2392149">
                  <a:extLst>
                    <a:ext uri="{9D8B030D-6E8A-4147-A177-3AD203B41FA5}">
                      <a16:colId xmlns:a16="http://schemas.microsoft.com/office/drawing/2014/main" val="20003"/>
                    </a:ext>
                  </a:extLst>
                </a:gridCol>
              </a:tblGrid>
              <a:tr h="375831">
                <a:tc gridSpan="4">
                  <a:txBody>
                    <a:bodyPr/>
                    <a:lstStyle/>
                    <a:p>
                      <a:r>
                        <a:rPr lang="en-US" dirty="0"/>
                        <a:t>Scenario matrix for the login use</a:t>
                      </a:r>
                      <a:r>
                        <a:rPr lang="en-US" baseline="0" dirty="0"/>
                        <a:t> case</a:t>
                      </a:r>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81051">
                <a:tc>
                  <a:txBody>
                    <a:bodyPr/>
                    <a:lstStyle/>
                    <a:p>
                      <a:r>
                        <a:rPr lang="en-US" dirty="0"/>
                        <a:t>Scenario 1</a:t>
                      </a:r>
                    </a:p>
                  </a:txBody>
                  <a:tcPr/>
                </a:tc>
                <a:tc>
                  <a:txBody>
                    <a:bodyPr/>
                    <a:lstStyle/>
                    <a:p>
                      <a:r>
                        <a:rPr lang="en-US" dirty="0"/>
                        <a:t>Login</a:t>
                      </a:r>
                    </a:p>
                  </a:txBody>
                  <a:tcPr/>
                </a:tc>
                <a:tc>
                  <a:txBody>
                    <a:bodyPr/>
                    <a:lstStyle/>
                    <a:p>
                      <a:r>
                        <a:rPr lang="en-US" dirty="0"/>
                        <a:t>Basic flow 1</a:t>
                      </a:r>
                    </a:p>
                  </a:txBody>
                  <a:tcPr/>
                </a:tc>
                <a:tc>
                  <a:txBody>
                    <a:bodyPr/>
                    <a:lstStyle/>
                    <a:p>
                      <a:endParaRPr lang="en-US" dirty="0"/>
                    </a:p>
                  </a:txBody>
                  <a:tcPr/>
                </a:tc>
                <a:extLst>
                  <a:ext uri="{0D108BD9-81ED-4DB2-BD59-A6C34878D82A}">
                    <a16:rowId xmlns:a16="http://schemas.microsoft.com/office/drawing/2014/main" val="10001"/>
                  </a:ext>
                </a:extLst>
              </a:tr>
              <a:tr h="93957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Scenario 2</a:t>
                      </a:r>
                    </a:p>
                  </a:txBody>
                  <a:tcPr/>
                </a:tc>
                <a:tc>
                  <a:txBody>
                    <a:bodyPr/>
                    <a:lstStyle/>
                    <a:p>
                      <a:r>
                        <a:rPr lang="en-US" dirty="0"/>
                        <a:t>Login alternative flow: Invalid login ID and password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Basic flow 1</a:t>
                      </a:r>
                    </a:p>
                    <a:p>
                      <a:endParaRPr lang="en-US" dirty="0"/>
                    </a:p>
                  </a:txBody>
                  <a:tcPr/>
                </a:tc>
                <a:tc>
                  <a:txBody>
                    <a:bodyPr/>
                    <a:lstStyle/>
                    <a:p>
                      <a:r>
                        <a:rPr lang="en-US" dirty="0"/>
                        <a:t>Alternative flow 1</a:t>
                      </a:r>
                    </a:p>
                  </a:txBody>
                  <a:tcPr/>
                </a:tc>
                <a:extLst>
                  <a:ext uri="{0D108BD9-81ED-4DB2-BD59-A6C34878D82A}">
                    <a16:rowId xmlns:a16="http://schemas.microsoft.com/office/drawing/2014/main" val="10002"/>
                  </a:ext>
                </a:extLst>
              </a:tr>
              <a:tr h="657704">
                <a:tc>
                  <a:txBody>
                    <a:bodyPr/>
                    <a:lstStyle/>
                    <a:p>
                      <a:r>
                        <a:rPr lang="en-US" dirty="0"/>
                        <a:t>Scenario 3</a:t>
                      </a:r>
                    </a:p>
                  </a:txBody>
                  <a:tcPr/>
                </a:tc>
                <a:tc>
                  <a:txBody>
                    <a:bodyPr/>
                    <a:lstStyle/>
                    <a:p>
                      <a:r>
                        <a:rPr lang="en-US" dirty="0"/>
                        <a:t>Login Alternative flow: any other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Basic flow 1</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Alternative flow 3</a:t>
                      </a:r>
                    </a:p>
                    <a:p>
                      <a:endParaRPr lang="en-US" dirty="0"/>
                    </a:p>
                  </a:txBody>
                  <a:tcPr/>
                </a:tc>
                <a:extLst>
                  <a:ext uri="{0D108BD9-81ED-4DB2-BD59-A6C34878D82A}">
                    <a16:rowId xmlns:a16="http://schemas.microsoft.com/office/drawing/2014/main" val="10003"/>
                  </a:ext>
                </a:extLst>
              </a:tr>
              <a:tr h="38105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Scenario 4</a:t>
                      </a:r>
                    </a:p>
                  </a:txBody>
                  <a:tcPr/>
                </a:tc>
                <a:tc>
                  <a:txBody>
                    <a:bodyPr/>
                    <a:lstStyle/>
                    <a:p>
                      <a:r>
                        <a:rPr lang="en-US" dirty="0"/>
                        <a:t>Change</a:t>
                      </a:r>
                      <a:r>
                        <a:rPr lang="en-US" baseline="0" dirty="0"/>
                        <a:t> password</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Basic flow 2</a:t>
                      </a:r>
                    </a:p>
                  </a:txBody>
                  <a:tcPr/>
                </a:tc>
                <a:tc>
                  <a:txBody>
                    <a:bodyPr/>
                    <a:lstStyle/>
                    <a:p>
                      <a:endParaRPr lang="en-US" dirty="0"/>
                    </a:p>
                  </a:txBody>
                  <a:tcPr/>
                </a:tc>
                <a:extLst>
                  <a:ext uri="{0D108BD9-81ED-4DB2-BD59-A6C34878D82A}">
                    <a16:rowId xmlns:a16="http://schemas.microsoft.com/office/drawing/2014/main" val="10004"/>
                  </a:ext>
                </a:extLst>
              </a:tr>
              <a:tr h="939579">
                <a:tc>
                  <a:txBody>
                    <a:bodyPr/>
                    <a:lstStyle/>
                    <a:p>
                      <a:r>
                        <a:rPr lang="en-US" dirty="0"/>
                        <a:t>Scenario 5</a:t>
                      </a:r>
                    </a:p>
                  </a:txBody>
                  <a:tcPr/>
                </a:tc>
                <a:tc>
                  <a:txBody>
                    <a:bodyPr/>
                    <a:lstStyle/>
                    <a:p>
                      <a:r>
                        <a:rPr lang="en-US" dirty="0"/>
                        <a:t>Change password alternative</a:t>
                      </a:r>
                      <a:r>
                        <a:rPr lang="en-US" baseline="0" dirty="0"/>
                        <a:t> flow: Invalid entry</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Basic flow 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Alternative flow 2</a:t>
                      </a:r>
                    </a:p>
                    <a:p>
                      <a:endParaRPr lang="en-US" dirty="0"/>
                    </a:p>
                  </a:txBody>
                  <a:tcPr/>
                </a:tc>
                <a:extLst>
                  <a:ext uri="{0D108BD9-81ED-4DB2-BD59-A6C34878D82A}">
                    <a16:rowId xmlns:a16="http://schemas.microsoft.com/office/drawing/2014/main" val="10005"/>
                  </a:ext>
                </a:extLst>
              </a:tr>
              <a:tr h="893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Scenario 6</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Change password alternative</a:t>
                      </a:r>
                      <a:r>
                        <a:rPr lang="en-US" baseline="0" dirty="0"/>
                        <a:t> flow: any other</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Basic flow 2</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Alternative flow 3</a:t>
                      </a:r>
                    </a:p>
                    <a:p>
                      <a:endParaRPr lang="en-US"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6889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Identification of Variables in a use case</a:t>
            </a:r>
          </a:p>
        </p:txBody>
      </p:sp>
      <p:sp>
        <p:nvSpPr>
          <p:cNvPr id="3" name="Content Placeholder 2"/>
          <p:cNvSpPr>
            <a:spLocks noGrp="1"/>
          </p:cNvSpPr>
          <p:nvPr>
            <p:ph idx="1"/>
          </p:nvPr>
        </p:nvSpPr>
        <p:spPr/>
        <p:txBody>
          <a:bodyPr>
            <a:normAutofit/>
          </a:bodyPr>
          <a:lstStyle/>
          <a:p>
            <a:r>
              <a:rPr lang="en-US" dirty="0"/>
              <a:t>We have to identify the different input variables for the use case.</a:t>
            </a:r>
          </a:p>
          <a:p>
            <a:r>
              <a:rPr lang="en-US" dirty="0"/>
              <a:t>A variable may also be used a s a selection variable where many options are available for the variable.</a:t>
            </a:r>
          </a:p>
          <a:p>
            <a:r>
              <a:rPr lang="en-US" dirty="0"/>
              <a:t>The following variables are used in the login use case:</a:t>
            </a:r>
          </a:p>
          <a:p>
            <a:pPr lvl="1"/>
            <a:r>
              <a:rPr lang="en-US" dirty="0"/>
              <a:t>Login Id</a:t>
            </a:r>
          </a:p>
          <a:p>
            <a:pPr lvl="1"/>
            <a:r>
              <a:rPr lang="en-US" dirty="0"/>
              <a:t>Password</a:t>
            </a:r>
          </a:p>
          <a:p>
            <a:pPr lvl="1"/>
            <a:r>
              <a:rPr lang="en-US" dirty="0"/>
              <a:t>Old Password</a:t>
            </a:r>
          </a:p>
          <a:p>
            <a:pPr lvl="1"/>
            <a:r>
              <a:rPr lang="en-US" dirty="0"/>
              <a:t>New Password</a:t>
            </a:r>
          </a:p>
          <a:p>
            <a:pPr lvl="1"/>
            <a:r>
              <a:rPr lang="en-US" dirty="0"/>
              <a:t>Confirm Password</a:t>
            </a:r>
          </a:p>
        </p:txBody>
      </p:sp>
    </p:spTree>
    <p:extLst>
      <p:ext uri="{BB962C8B-B14F-4D97-AF65-F5344CB8AC3E}">
        <p14:creationId xmlns:p14="http://schemas.microsoft.com/office/powerpoint/2010/main" val="1475690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Identification of different input states of a variable</a:t>
            </a:r>
          </a:p>
        </p:txBody>
      </p:sp>
      <p:sp>
        <p:nvSpPr>
          <p:cNvPr id="3" name="Content Placeholder 2"/>
          <p:cNvSpPr>
            <a:spLocks noGrp="1"/>
          </p:cNvSpPr>
          <p:nvPr>
            <p:ph idx="1"/>
          </p:nvPr>
        </p:nvSpPr>
        <p:spPr>
          <a:xfrm>
            <a:off x="838200" y="1583140"/>
            <a:ext cx="10515600" cy="4593823"/>
          </a:xfrm>
        </p:spPr>
        <p:txBody>
          <a:bodyPr/>
          <a:lstStyle/>
          <a:p>
            <a:r>
              <a:rPr lang="en-US" dirty="0"/>
              <a:t>An input variable may have different states and the behavior of the system changes with the states.</a:t>
            </a:r>
          </a:p>
          <a:p>
            <a:r>
              <a:rPr lang="en-US" dirty="0"/>
              <a:t>Any variable may have two states: valid and invalid</a:t>
            </a:r>
          </a:p>
          <a:p>
            <a:r>
              <a:rPr lang="en-US" dirty="0"/>
              <a:t>For example for “Login Id” it is expected that “</a:t>
            </a:r>
            <a:r>
              <a:rPr lang="en-US" sz="2400" i="1" dirty="0"/>
              <a:t>Login Id should be alphanumeric of length 11 characters and only digits from 0 to 9 are allowed”. </a:t>
            </a:r>
          </a:p>
          <a:p>
            <a:r>
              <a:rPr lang="en-US" dirty="0"/>
              <a:t>If a variable is in an invalid state then a different flow is executed.</a:t>
            </a:r>
          </a:p>
        </p:txBody>
      </p:sp>
    </p:spTree>
    <p:extLst>
      <p:ext uri="{BB962C8B-B14F-4D97-AF65-F5344CB8AC3E}">
        <p14:creationId xmlns:p14="http://schemas.microsoft.com/office/powerpoint/2010/main" val="3556337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of test case matrix</a:t>
            </a:r>
          </a:p>
        </p:txBody>
      </p:sp>
      <p:sp>
        <p:nvSpPr>
          <p:cNvPr id="3" name="Content Placeholder 2"/>
          <p:cNvSpPr>
            <a:spLocks noGrp="1"/>
          </p:cNvSpPr>
          <p:nvPr>
            <p:ph idx="1"/>
          </p:nvPr>
        </p:nvSpPr>
        <p:spPr/>
        <p:txBody>
          <a:bodyPr/>
          <a:lstStyle/>
          <a:p>
            <a:r>
              <a:rPr lang="en-US" dirty="0"/>
              <a:t>The matrix for test case contains following fields:</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234058133"/>
              </p:ext>
            </p:extLst>
          </p:nvPr>
        </p:nvGraphicFramePr>
        <p:xfrm>
          <a:off x="1193042" y="2671296"/>
          <a:ext cx="9329382" cy="1828800"/>
        </p:xfrm>
        <a:graphic>
          <a:graphicData uri="http://schemas.openxmlformats.org/drawingml/2006/table">
            <a:tbl>
              <a:tblPr firstRow="1" bandRow="1">
                <a:tableStyleId>{5C22544A-7EE6-4342-B048-85BDC9FD1C3A}</a:tableStyleId>
              </a:tblPr>
              <a:tblGrid>
                <a:gridCol w="1554897">
                  <a:extLst>
                    <a:ext uri="{9D8B030D-6E8A-4147-A177-3AD203B41FA5}">
                      <a16:colId xmlns:a16="http://schemas.microsoft.com/office/drawing/2014/main" val="20000"/>
                    </a:ext>
                  </a:extLst>
                </a:gridCol>
                <a:gridCol w="2276502">
                  <a:extLst>
                    <a:ext uri="{9D8B030D-6E8A-4147-A177-3AD203B41FA5}">
                      <a16:colId xmlns:a16="http://schemas.microsoft.com/office/drawing/2014/main" val="20001"/>
                    </a:ext>
                  </a:extLst>
                </a:gridCol>
                <a:gridCol w="1033890">
                  <a:extLst>
                    <a:ext uri="{9D8B030D-6E8A-4147-A177-3AD203B41FA5}">
                      <a16:colId xmlns:a16="http://schemas.microsoft.com/office/drawing/2014/main" val="20002"/>
                    </a:ext>
                  </a:extLst>
                </a:gridCol>
                <a:gridCol w="1354299">
                  <a:extLst>
                    <a:ext uri="{9D8B030D-6E8A-4147-A177-3AD203B41FA5}">
                      <a16:colId xmlns:a16="http://schemas.microsoft.com/office/drawing/2014/main" val="20003"/>
                    </a:ext>
                  </a:extLst>
                </a:gridCol>
                <a:gridCol w="1813256">
                  <a:extLst>
                    <a:ext uri="{9D8B030D-6E8A-4147-A177-3AD203B41FA5}">
                      <a16:colId xmlns:a16="http://schemas.microsoft.com/office/drawing/2014/main" val="20004"/>
                    </a:ext>
                  </a:extLst>
                </a:gridCol>
                <a:gridCol w="1296538">
                  <a:extLst>
                    <a:ext uri="{9D8B030D-6E8A-4147-A177-3AD203B41FA5}">
                      <a16:colId xmlns:a16="http://schemas.microsoft.com/office/drawing/2014/main" val="20005"/>
                    </a:ext>
                  </a:extLst>
                </a:gridCol>
              </a:tblGrid>
              <a:tr h="370840">
                <a:tc>
                  <a:txBody>
                    <a:bodyPr/>
                    <a:lstStyle/>
                    <a:p>
                      <a:r>
                        <a:rPr lang="en-US" dirty="0"/>
                        <a:t>Test</a:t>
                      </a:r>
                      <a:r>
                        <a:rPr lang="en-US" baseline="0" dirty="0"/>
                        <a:t> case ID</a:t>
                      </a:r>
                      <a:endParaRPr lang="en-US" dirty="0"/>
                    </a:p>
                  </a:txBody>
                  <a:tcPr/>
                </a:tc>
                <a:tc>
                  <a:txBody>
                    <a:bodyPr/>
                    <a:lstStyle/>
                    <a:p>
                      <a:r>
                        <a:rPr lang="en-US" dirty="0"/>
                        <a:t>Scenario</a:t>
                      </a:r>
                      <a:r>
                        <a:rPr lang="en-US" baseline="0" dirty="0"/>
                        <a:t> name/ Description</a:t>
                      </a:r>
                      <a:endParaRPr lang="en-US" dirty="0"/>
                    </a:p>
                  </a:txBody>
                  <a:tcPr/>
                </a:tc>
                <a:tc>
                  <a:txBody>
                    <a:bodyPr/>
                    <a:lstStyle/>
                    <a:p>
                      <a:r>
                        <a:rPr lang="en-US" dirty="0"/>
                        <a:t>Input1</a:t>
                      </a:r>
                    </a:p>
                  </a:txBody>
                  <a:tcPr/>
                </a:tc>
                <a:tc>
                  <a:txBody>
                    <a:bodyPr/>
                    <a:lstStyle/>
                    <a:p>
                      <a:r>
                        <a:rPr lang="en-US" dirty="0"/>
                        <a:t>Input 2</a:t>
                      </a:r>
                    </a:p>
                  </a:txBody>
                  <a:tcPr/>
                </a:tc>
                <a:tc>
                  <a:txBody>
                    <a:bodyPr/>
                    <a:lstStyle/>
                    <a:p>
                      <a:r>
                        <a:rPr lang="en-US" dirty="0"/>
                        <a:t>Input 3 Selection variable</a:t>
                      </a:r>
                    </a:p>
                  </a:txBody>
                  <a:tcPr/>
                </a:tc>
                <a:tc>
                  <a:txBody>
                    <a:bodyPr/>
                    <a:lstStyle/>
                    <a:p>
                      <a:r>
                        <a:rPr lang="en-US" dirty="0"/>
                        <a:t>Expected output</a:t>
                      </a:r>
                    </a:p>
                  </a:txBody>
                  <a:tcPr/>
                </a:tc>
                <a:extLst>
                  <a:ext uri="{0D108BD9-81ED-4DB2-BD59-A6C34878D82A}">
                    <a16:rowId xmlns:a16="http://schemas.microsoft.com/office/drawing/2014/main" val="10000"/>
                  </a:ext>
                </a:extLst>
              </a:tr>
              <a:tr h="370840">
                <a:tc>
                  <a:txBody>
                    <a:bodyPr/>
                    <a:lstStyle/>
                    <a:p>
                      <a:r>
                        <a:rPr lang="en-US" dirty="0"/>
                        <a:t>TC1</a:t>
                      </a:r>
                    </a:p>
                    <a:p>
                      <a:r>
                        <a:rPr lang="en-US" dirty="0"/>
                        <a:t>TC2</a:t>
                      </a:r>
                    </a:p>
                    <a:p>
                      <a:r>
                        <a:rPr lang="en-US" dirty="0"/>
                        <a:t>TC3</a:t>
                      </a:r>
                    </a:p>
                    <a:p>
                      <a:r>
                        <a:rPr lang="en-US" dirty="0"/>
                        <a:t>TC4</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799283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of test case matrix</a:t>
            </a:r>
          </a:p>
        </p:txBody>
      </p:sp>
      <p:sp>
        <p:nvSpPr>
          <p:cNvPr id="3" name="Content Placeholder 2"/>
          <p:cNvSpPr>
            <a:spLocks noGrp="1"/>
          </p:cNvSpPr>
          <p:nvPr>
            <p:ph idx="1"/>
          </p:nvPr>
        </p:nvSpPr>
        <p:spPr/>
        <p:txBody>
          <a:bodyPr/>
          <a:lstStyle/>
          <a:p>
            <a:r>
              <a:rPr lang="en-US" dirty="0"/>
              <a:t>The matrix for Login test case contains following inputs:</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738973743"/>
              </p:ext>
            </p:extLst>
          </p:nvPr>
        </p:nvGraphicFramePr>
        <p:xfrm>
          <a:off x="1193042" y="2671296"/>
          <a:ext cx="10160758" cy="2926080"/>
        </p:xfrm>
        <a:graphic>
          <a:graphicData uri="http://schemas.openxmlformats.org/drawingml/2006/table">
            <a:tbl>
              <a:tblPr firstRow="1" bandRow="1">
                <a:tableStyleId>{5C22544A-7EE6-4342-B048-85BDC9FD1C3A}</a:tableStyleId>
              </a:tblPr>
              <a:tblGrid>
                <a:gridCol w="1245224">
                  <a:extLst>
                    <a:ext uri="{9D8B030D-6E8A-4147-A177-3AD203B41FA5}">
                      <a16:colId xmlns:a16="http://schemas.microsoft.com/office/drawing/2014/main" val="20000"/>
                    </a:ext>
                  </a:extLst>
                </a:gridCol>
                <a:gridCol w="2433985">
                  <a:extLst>
                    <a:ext uri="{9D8B030D-6E8A-4147-A177-3AD203B41FA5}">
                      <a16:colId xmlns:a16="http://schemas.microsoft.com/office/drawing/2014/main" val="20001"/>
                    </a:ext>
                  </a:extLst>
                </a:gridCol>
                <a:gridCol w="1473958">
                  <a:extLst>
                    <a:ext uri="{9D8B030D-6E8A-4147-A177-3AD203B41FA5}">
                      <a16:colId xmlns:a16="http://schemas.microsoft.com/office/drawing/2014/main" val="20002"/>
                    </a:ext>
                  </a:extLst>
                </a:gridCol>
                <a:gridCol w="1323833">
                  <a:extLst>
                    <a:ext uri="{9D8B030D-6E8A-4147-A177-3AD203B41FA5}">
                      <a16:colId xmlns:a16="http://schemas.microsoft.com/office/drawing/2014/main" val="20003"/>
                    </a:ext>
                  </a:extLst>
                </a:gridCol>
                <a:gridCol w="1869743">
                  <a:extLst>
                    <a:ext uri="{9D8B030D-6E8A-4147-A177-3AD203B41FA5}">
                      <a16:colId xmlns:a16="http://schemas.microsoft.com/office/drawing/2014/main" val="20004"/>
                    </a:ext>
                  </a:extLst>
                </a:gridCol>
                <a:gridCol w="1814015">
                  <a:extLst>
                    <a:ext uri="{9D8B030D-6E8A-4147-A177-3AD203B41FA5}">
                      <a16:colId xmlns:a16="http://schemas.microsoft.com/office/drawing/2014/main" val="20005"/>
                    </a:ext>
                  </a:extLst>
                </a:gridCol>
              </a:tblGrid>
              <a:tr h="370840">
                <a:tc>
                  <a:txBody>
                    <a:bodyPr/>
                    <a:lstStyle/>
                    <a:p>
                      <a:r>
                        <a:rPr lang="en-US" dirty="0"/>
                        <a:t>Test</a:t>
                      </a:r>
                      <a:r>
                        <a:rPr lang="en-US" baseline="0" dirty="0"/>
                        <a:t> case ID</a:t>
                      </a:r>
                      <a:endParaRPr lang="en-US" dirty="0"/>
                    </a:p>
                  </a:txBody>
                  <a:tcPr/>
                </a:tc>
                <a:tc>
                  <a:txBody>
                    <a:bodyPr/>
                    <a:lstStyle/>
                    <a:p>
                      <a:r>
                        <a:rPr lang="en-US" dirty="0"/>
                        <a:t>Scenario</a:t>
                      </a:r>
                      <a:r>
                        <a:rPr lang="en-US" baseline="0" dirty="0"/>
                        <a:t> name/ </a:t>
                      </a:r>
                    </a:p>
                    <a:p>
                      <a:r>
                        <a:rPr lang="en-US" baseline="0" dirty="0"/>
                        <a:t>Description</a:t>
                      </a:r>
                      <a:endParaRPr lang="en-US" dirty="0"/>
                    </a:p>
                  </a:txBody>
                  <a:tcPr/>
                </a:tc>
                <a:tc>
                  <a:txBody>
                    <a:bodyPr/>
                    <a:lstStyle/>
                    <a:p>
                      <a:r>
                        <a:rPr lang="en-US" dirty="0"/>
                        <a:t>Input 1</a:t>
                      </a:r>
                    </a:p>
                    <a:p>
                      <a:r>
                        <a:rPr lang="en-US" dirty="0"/>
                        <a:t>Login ID</a:t>
                      </a:r>
                    </a:p>
                  </a:txBody>
                  <a:tcPr/>
                </a:tc>
                <a:tc>
                  <a:txBody>
                    <a:bodyPr/>
                    <a:lstStyle/>
                    <a:p>
                      <a:r>
                        <a:rPr lang="en-US" dirty="0"/>
                        <a:t>Input 2</a:t>
                      </a:r>
                    </a:p>
                    <a:p>
                      <a:r>
                        <a:rPr lang="en-US" dirty="0"/>
                        <a:t>Password</a:t>
                      </a:r>
                    </a:p>
                  </a:txBody>
                  <a:tcPr/>
                </a:tc>
                <a:tc>
                  <a:txBody>
                    <a:bodyPr/>
                    <a:lstStyle/>
                    <a:p>
                      <a:r>
                        <a:rPr lang="en-US" dirty="0"/>
                        <a:t>Expected output</a:t>
                      </a:r>
                    </a:p>
                  </a:txBody>
                  <a:tcPr/>
                </a:tc>
                <a:tc>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TC1</a:t>
                      </a:r>
                    </a:p>
                    <a:p>
                      <a:endParaRPr lang="en-US" dirty="0"/>
                    </a:p>
                    <a:p>
                      <a:r>
                        <a:rPr lang="en-US" dirty="0"/>
                        <a:t>TC2</a:t>
                      </a:r>
                    </a:p>
                    <a:p>
                      <a:endParaRPr lang="en-US" dirty="0"/>
                    </a:p>
                    <a:p>
                      <a:endParaRPr lang="en-US" dirty="0"/>
                    </a:p>
                    <a:p>
                      <a:r>
                        <a:rPr lang="en-US" dirty="0"/>
                        <a:t>TC3</a:t>
                      </a:r>
                    </a:p>
                    <a:p>
                      <a:endParaRPr lang="en-US" dirty="0"/>
                    </a:p>
                  </a:txBody>
                  <a:tcPr/>
                </a:tc>
                <a:tc>
                  <a:txBody>
                    <a:bodyPr/>
                    <a:lstStyle/>
                    <a:p>
                      <a:r>
                        <a:rPr lang="en-US" dirty="0"/>
                        <a:t>Scenario 1- Login</a:t>
                      </a:r>
                    </a:p>
                    <a:p>
                      <a:endParaRPr lang="en-US" dirty="0"/>
                    </a:p>
                    <a:p>
                      <a:r>
                        <a:rPr lang="en-US" dirty="0"/>
                        <a:t>Scenario 2- Login alternative flow: Invalid entry</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Scenario 2- Login alternative flow: Invalid entry</a:t>
                      </a:r>
                    </a:p>
                  </a:txBody>
                  <a:tcPr/>
                </a:tc>
                <a:tc>
                  <a:txBody>
                    <a:bodyPr/>
                    <a:lstStyle/>
                    <a:p>
                      <a:r>
                        <a:rPr lang="en-US" dirty="0"/>
                        <a:t>Valid input</a:t>
                      </a:r>
                    </a:p>
                    <a:p>
                      <a:endParaRPr lang="en-US" dirty="0"/>
                    </a:p>
                    <a:p>
                      <a:r>
                        <a:rPr lang="en-US" dirty="0"/>
                        <a:t>Invalid input</a:t>
                      </a:r>
                    </a:p>
                    <a:p>
                      <a:endParaRPr lang="en-US" dirty="0"/>
                    </a:p>
                    <a:p>
                      <a:endParaRPr lang="en-US" dirty="0"/>
                    </a:p>
                    <a:p>
                      <a:r>
                        <a:rPr lang="en-US" dirty="0"/>
                        <a:t>Valid input</a:t>
                      </a:r>
                    </a:p>
                  </a:txBody>
                  <a:tcPr/>
                </a:tc>
                <a:tc>
                  <a:txBody>
                    <a:bodyPr/>
                    <a:lstStyle/>
                    <a:p>
                      <a:r>
                        <a:rPr lang="en-US" dirty="0"/>
                        <a:t>Valid input</a:t>
                      </a:r>
                    </a:p>
                    <a:p>
                      <a:endParaRPr lang="en-US" dirty="0"/>
                    </a:p>
                    <a:p>
                      <a:r>
                        <a:rPr lang="en-US" dirty="0"/>
                        <a:t>Valid input</a:t>
                      </a:r>
                    </a:p>
                    <a:p>
                      <a:endParaRPr lang="en-US" dirty="0"/>
                    </a:p>
                    <a:p>
                      <a:endParaRPr lang="en-US" dirty="0"/>
                    </a:p>
                    <a:p>
                      <a:r>
                        <a:rPr lang="en-US" dirty="0"/>
                        <a:t>Valid input</a:t>
                      </a:r>
                    </a:p>
                  </a:txBody>
                  <a:tcPr/>
                </a:tc>
                <a:tc>
                  <a:txBody>
                    <a:bodyPr/>
                    <a:lstStyle/>
                    <a:p>
                      <a:r>
                        <a:rPr lang="en-US" dirty="0"/>
                        <a:t>User is allowed to login</a:t>
                      </a:r>
                    </a:p>
                    <a:p>
                      <a:r>
                        <a:rPr lang="en-US" dirty="0"/>
                        <a:t>Login Id is invalid</a:t>
                      </a:r>
                    </a:p>
                    <a:p>
                      <a:endParaRPr lang="en-US" dirty="0"/>
                    </a:p>
                    <a:p>
                      <a:endParaRPr lang="en-US" dirty="0"/>
                    </a:p>
                    <a:p>
                      <a:r>
                        <a:rPr lang="en-US" dirty="0"/>
                        <a:t>Login Id</a:t>
                      </a:r>
                      <a:r>
                        <a:rPr lang="en-US" baseline="0" dirty="0"/>
                        <a:t> is invalid</a:t>
                      </a:r>
                      <a:endParaRPr lang="en-US" dirty="0"/>
                    </a:p>
                  </a:txBody>
                  <a:tcPr/>
                </a:tc>
                <a:tc>
                  <a:txBody>
                    <a:bodyPr/>
                    <a:lstStyle/>
                    <a:p>
                      <a:endParaRPr lang="en-US" dirty="0"/>
                    </a:p>
                    <a:p>
                      <a:endParaRPr lang="en-US" dirty="0"/>
                    </a:p>
                    <a:p>
                      <a:r>
                        <a:rPr lang="en-US" dirty="0"/>
                        <a:t>Login Id not in the specified format</a:t>
                      </a:r>
                    </a:p>
                    <a:p>
                      <a:r>
                        <a:rPr lang="en-US" dirty="0"/>
                        <a:t>Login Id does not</a:t>
                      </a:r>
                      <a:r>
                        <a:rPr lang="en-US" baseline="0" dirty="0"/>
                        <a:t> exist in database</a:t>
                      </a:r>
                      <a:endParaRPr lang="en-US"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842014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Assigning actual values to variables</a:t>
            </a:r>
          </a:p>
        </p:txBody>
      </p:sp>
      <p:sp>
        <p:nvSpPr>
          <p:cNvPr id="3" name="Content Placeholder 2"/>
          <p:cNvSpPr>
            <a:spLocks noGrp="1"/>
          </p:cNvSpPr>
          <p:nvPr>
            <p:ph idx="1"/>
          </p:nvPr>
        </p:nvSpPr>
        <p:spPr/>
        <p:txBody>
          <a:bodyPr/>
          <a:lstStyle/>
          <a:p>
            <a:r>
              <a:rPr lang="en-US" dirty="0"/>
              <a:t>After design of test case we have to assign actual values to the test case</a:t>
            </a:r>
          </a:p>
          <a:p>
            <a:r>
              <a:rPr lang="en-US" dirty="0"/>
              <a:t>There should be at least one test case for each scenario.</a:t>
            </a:r>
          </a:p>
          <a:p>
            <a:r>
              <a:rPr lang="en-US" dirty="0"/>
              <a:t>We can add columns with the title “Actual output” and “Pass/fail”, which will be used at the time of executing these test cases.</a:t>
            </a:r>
          </a:p>
        </p:txBody>
      </p:sp>
    </p:spTree>
    <p:extLst>
      <p:ext uri="{BB962C8B-B14F-4D97-AF65-F5344CB8AC3E}">
        <p14:creationId xmlns:p14="http://schemas.microsoft.com/office/powerpoint/2010/main" val="2916229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of test case matrix</a:t>
            </a:r>
          </a:p>
        </p:txBody>
      </p:sp>
      <p:sp>
        <p:nvSpPr>
          <p:cNvPr id="3" name="Content Placeholder 2"/>
          <p:cNvSpPr>
            <a:spLocks noGrp="1"/>
          </p:cNvSpPr>
          <p:nvPr>
            <p:ph idx="1"/>
          </p:nvPr>
        </p:nvSpPr>
        <p:spPr/>
        <p:txBody>
          <a:bodyPr/>
          <a:lstStyle/>
          <a:p>
            <a:r>
              <a:rPr lang="en-US" dirty="0"/>
              <a:t>The matrix for Login test case contains following inputs:</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941810747"/>
              </p:ext>
            </p:extLst>
          </p:nvPr>
        </p:nvGraphicFramePr>
        <p:xfrm>
          <a:off x="1193042" y="2671296"/>
          <a:ext cx="10160758" cy="2926080"/>
        </p:xfrm>
        <a:graphic>
          <a:graphicData uri="http://schemas.openxmlformats.org/drawingml/2006/table">
            <a:tbl>
              <a:tblPr firstRow="1" bandRow="1">
                <a:tableStyleId>{5C22544A-7EE6-4342-B048-85BDC9FD1C3A}</a:tableStyleId>
              </a:tblPr>
              <a:tblGrid>
                <a:gridCol w="1245224">
                  <a:extLst>
                    <a:ext uri="{9D8B030D-6E8A-4147-A177-3AD203B41FA5}">
                      <a16:colId xmlns:a16="http://schemas.microsoft.com/office/drawing/2014/main" val="20000"/>
                    </a:ext>
                  </a:extLst>
                </a:gridCol>
                <a:gridCol w="2433985">
                  <a:extLst>
                    <a:ext uri="{9D8B030D-6E8A-4147-A177-3AD203B41FA5}">
                      <a16:colId xmlns:a16="http://schemas.microsoft.com/office/drawing/2014/main" val="20001"/>
                    </a:ext>
                  </a:extLst>
                </a:gridCol>
                <a:gridCol w="1473958">
                  <a:extLst>
                    <a:ext uri="{9D8B030D-6E8A-4147-A177-3AD203B41FA5}">
                      <a16:colId xmlns:a16="http://schemas.microsoft.com/office/drawing/2014/main" val="20002"/>
                    </a:ext>
                  </a:extLst>
                </a:gridCol>
                <a:gridCol w="1323833">
                  <a:extLst>
                    <a:ext uri="{9D8B030D-6E8A-4147-A177-3AD203B41FA5}">
                      <a16:colId xmlns:a16="http://schemas.microsoft.com/office/drawing/2014/main" val="20003"/>
                    </a:ext>
                  </a:extLst>
                </a:gridCol>
                <a:gridCol w="1869743">
                  <a:extLst>
                    <a:ext uri="{9D8B030D-6E8A-4147-A177-3AD203B41FA5}">
                      <a16:colId xmlns:a16="http://schemas.microsoft.com/office/drawing/2014/main" val="20004"/>
                    </a:ext>
                  </a:extLst>
                </a:gridCol>
                <a:gridCol w="1814015">
                  <a:extLst>
                    <a:ext uri="{9D8B030D-6E8A-4147-A177-3AD203B41FA5}">
                      <a16:colId xmlns:a16="http://schemas.microsoft.com/office/drawing/2014/main" val="20005"/>
                    </a:ext>
                  </a:extLst>
                </a:gridCol>
              </a:tblGrid>
              <a:tr h="370840">
                <a:tc>
                  <a:txBody>
                    <a:bodyPr/>
                    <a:lstStyle/>
                    <a:p>
                      <a:r>
                        <a:rPr lang="en-US" dirty="0"/>
                        <a:t>Test</a:t>
                      </a:r>
                      <a:r>
                        <a:rPr lang="en-US" baseline="0" dirty="0"/>
                        <a:t> case ID</a:t>
                      </a:r>
                      <a:endParaRPr lang="en-US" dirty="0"/>
                    </a:p>
                  </a:txBody>
                  <a:tcPr/>
                </a:tc>
                <a:tc>
                  <a:txBody>
                    <a:bodyPr/>
                    <a:lstStyle/>
                    <a:p>
                      <a:r>
                        <a:rPr lang="en-US" dirty="0"/>
                        <a:t>Scenario</a:t>
                      </a:r>
                      <a:r>
                        <a:rPr lang="en-US" baseline="0" dirty="0"/>
                        <a:t> name/ </a:t>
                      </a:r>
                    </a:p>
                    <a:p>
                      <a:r>
                        <a:rPr lang="en-US" baseline="0" dirty="0"/>
                        <a:t>Description</a:t>
                      </a:r>
                      <a:endParaRPr lang="en-US" dirty="0"/>
                    </a:p>
                  </a:txBody>
                  <a:tcPr/>
                </a:tc>
                <a:tc>
                  <a:txBody>
                    <a:bodyPr/>
                    <a:lstStyle/>
                    <a:p>
                      <a:r>
                        <a:rPr lang="en-US" dirty="0"/>
                        <a:t>Input 1</a:t>
                      </a:r>
                    </a:p>
                    <a:p>
                      <a:r>
                        <a:rPr lang="en-US" dirty="0"/>
                        <a:t>Login ID</a:t>
                      </a:r>
                    </a:p>
                  </a:txBody>
                  <a:tcPr/>
                </a:tc>
                <a:tc>
                  <a:txBody>
                    <a:bodyPr/>
                    <a:lstStyle/>
                    <a:p>
                      <a:r>
                        <a:rPr lang="en-US" dirty="0"/>
                        <a:t>Input 2</a:t>
                      </a:r>
                    </a:p>
                    <a:p>
                      <a:r>
                        <a:rPr lang="en-US" dirty="0"/>
                        <a:t>Password</a:t>
                      </a:r>
                    </a:p>
                  </a:txBody>
                  <a:tcPr/>
                </a:tc>
                <a:tc>
                  <a:txBody>
                    <a:bodyPr/>
                    <a:lstStyle/>
                    <a:p>
                      <a:r>
                        <a:rPr lang="en-US" dirty="0"/>
                        <a:t>Expected output</a:t>
                      </a:r>
                    </a:p>
                  </a:txBody>
                  <a:tcPr/>
                </a:tc>
                <a:tc>
                  <a:txBody>
                    <a:bodyPr/>
                    <a:lstStyle/>
                    <a:p>
                      <a:r>
                        <a:rPr lang="en-US" dirty="0"/>
                        <a:t>Remarks</a:t>
                      </a:r>
                    </a:p>
                  </a:txBody>
                  <a:tcPr/>
                </a:tc>
                <a:extLst>
                  <a:ext uri="{0D108BD9-81ED-4DB2-BD59-A6C34878D82A}">
                    <a16:rowId xmlns:a16="http://schemas.microsoft.com/office/drawing/2014/main" val="10000"/>
                  </a:ext>
                </a:extLst>
              </a:tr>
              <a:tr h="370840">
                <a:tc>
                  <a:txBody>
                    <a:bodyPr/>
                    <a:lstStyle/>
                    <a:p>
                      <a:r>
                        <a:rPr lang="en-US" dirty="0"/>
                        <a:t>TC1</a:t>
                      </a:r>
                    </a:p>
                    <a:p>
                      <a:endParaRPr lang="en-US" dirty="0"/>
                    </a:p>
                    <a:p>
                      <a:r>
                        <a:rPr lang="en-US" dirty="0"/>
                        <a:t>TC2</a:t>
                      </a:r>
                    </a:p>
                    <a:p>
                      <a:endParaRPr lang="en-US" dirty="0"/>
                    </a:p>
                    <a:p>
                      <a:endParaRPr lang="en-US" dirty="0"/>
                    </a:p>
                    <a:p>
                      <a:r>
                        <a:rPr lang="en-US" dirty="0"/>
                        <a:t>TC3</a:t>
                      </a:r>
                    </a:p>
                    <a:p>
                      <a:endParaRPr lang="en-US" dirty="0"/>
                    </a:p>
                  </a:txBody>
                  <a:tcPr/>
                </a:tc>
                <a:tc>
                  <a:txBody>
                    <a:bodyPr/>
                    <a:lstStyle/>
                    <a:p>
                      <a:r>
                        <a:rPr lang="en-US" dirty="0"/>
                        <a:t>Scenario 1- Login</a:t>
                      </a:r>
                    </a:p>
                    <a:p>
                      <a:endParaRPr lang="en-US" dirty="0"/>
                    </a:p>
                    <a:p>
                      <a:r>
                        <a:rPr lang="en-US" dirty="0"/>
                        <a:t>Scenario 2- Login alternative flow: Invalid entry</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Scenario 2- Login alternative flow: Invalid entry</a:t>
                      </a:r>
                    </a:p>
                  </a:txBody>
                  <a:tcPr/>
                </a:tc>
                <a:tc>
                  <a:txBody>
                    <a:bodyPr/>
                    <a:lstStyle/>
                    <a:p>
                      <a:r>
                        <a:rPr lang="en-US" dirty="0"/>
                        <a:t>01164521657</a:t>
                      </a:r>
                    </a:p>
                    <a:p>
                      <a:endParaRPr lang="en-US" dirty="0"/>
                    </a:p>
                    <a:p>
                      <a:r>
                        <a:rPr lang="en-US" dirty="0"/>
                        <a:t>1234</a:t>
                      </a:r>
                    </a:p>
                    <a:p>
                      <a:endParaRPr lang="en-US" dirty="0"/>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01162346785</a:t>
                      </a:r>
                    </a:p>
                    <a:p>
                      <a:endParaRPr lang="en-US" dirty="0"/>
                    </a:p>
                  </a:txBody>
                  <a:tcPr/>
                </a:tc>
                <a:tc>
                  <a:txBody>
                    <a:bodyPr/>
                    <a:lstStyle/>
                    <a:p>
                      <a:r>
                        <a:rPr lang="en-US" dirty="0"/>
                        <a:t>Abc123</a:t>
                      </a:r>
                    </a:p>
                    <a:p>
                      <a:endParaRPr lang="en-US" dirty="0"/>
                    </a:p>
                    <a:p>
                      <a:r>
                        <a:rPr lang="en-US" dirty="0"/>
                        <a:t>Abc123</a:t>
                      </a:r>
                    </a:p>
                    <a:p>
                      <a:endParaRPr lang="en-US" dirty="0"/>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Abc123</a:t>
                      </a:r>
                    </a:p>
                    <a:p>
                      <a:endParaRPr lang="en-US" dirty="0"/>
                    </a:p>
                  </a:txBody>
                  <a:tcPr/>
                </a:tc>
                <a:tc>
                  <a:txBody>
                    <a:bodyPr/>
                    <a:lstStyle/>
                    <a:p>
                      <a:r>
                        <a:rPr lang="en-US" dirty="0"/>
                        <a:t>User is allowed to login</a:t>
                      </a:r>
                    </a:p>
                    <a:p>
                      <a:r>
                        <a:rPr lang="en-US" dirty="0"/>
                        <a:t>Login Id is invalid</a:t>
                      </a:r>
                    </a:p>
                    <a:p>
                      <a:endParaRPr lang="en-US" dirty="0"/>
                    </a:p>
                    <a:p>
                      <a:endParaRPr lang="en-US" dirty="0"/>
                    </a:p>
                    <a:p>
                      <a:r>
                        <a:rPr lang="en-US" dirty="0"/>
                        <a:t>Login Id</a:t>
                      </a:r>
                      <a:r>
                        <a:rPr lang="en-US" baseline="0" dirty="0"/>
                        <a:t> is invalid</a:t>
                      </a:r>
                      <a:endParaRPr lang="en-US" dirty="0"/>
                    </a:p>
                  </a:txBody>
                  <a:tcPr/>
                </a:tc>
                <a:tc>
                  <a:txBody>
                    <a:bodyPr/>
                    <a:lstStyle/>
                    <a:p>
                      <a:endParaRPr lang="en-US" dirty="0"/>
                    </a:p>
                    <a:p>
                      <a:endParaRPr lang="en-US" dirty="0"/>
                    </a:p>
                    <a:p>
                      <a:r>
                        <a:rPr lang="en-US" dirty="0"/>
                        <a:t>Login Id not in the specified format</a:t>
                      </a:r>
                    </a:p>
                    <a:p>
                      <a:r>
                        <a:rPr lang="en-US" dirty="0"/>
                        <a:t>Login Id does not</a:t>
                      </a:r>
                      <a:r>
                        <a:rPr lang="en-US" baseline="0" dirty="0"/>
                        <a:t> exist in database</a:t>
                      </a:r>
                      <a:endParaRPr lang="en-US"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116096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E4823951FA9BF42B980A03718EB0B18" ma:contentTypeVersion="3" ma:contentTypeDescription="Create a new document." ma:contentTypeScope="" ma:versionID="25a50b09105562264fb4b1a4f834e0bb">
  <xsd:schema xmlns:xsd="http://www.w3.org/2001/XMLSchema" xmlns:xs="http://www.w3.org/2001/XMLSchema" xmlns:p="http://schemas.microsoft.com/office/2006/metadata/properties" xmlns:ns2="6bf15077-4e46-4e3a-99a0-3fd5e4d406d3" targetNamespace="http://schemas.microsoft.com/office/2006/metadata/properties" ma:root="true" ma:fieldsID="ff57562ea5f29b8a889136f2d3c08a42" ns2:_="">
    <xsd:import namespace="6bf15077-4e46-4e3a-99a0-3fd5e4d406d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f15077-4e46-4e3a-99a0-3fd5e4d406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2A55594-21EE-42FF-9AC4-B62062550EC2}"/>
</file>

<file path=customXml/itemProps2.xml><?xml version="1.0" encoding="utf-8"?>
<ds:datastoreItem xmlns:ds="http://schemas.openxmlformats.org/officeDocument/2006/customXml" ds:itemID="{4D832F11-DE8E-4482-B6CA-C1C56C308F3D}"/>
</file>

<file path=customXml/itemProps3.xml><?xml version="1.0" encoding="utf-8"?>
<ds:datastoreItem xmlns:ds="http://schemas.openxmlformats.org/officeDocument/2006/customXml" ds:itemID="{37F516B1-1DD0-4136-AF66-AEA713C6933F}"/>
</file>

<file path=docProps/app.xml><?xml version="1.0" encoding="utf-8"?>
<Properties xmlns="http://schemas.openxmlformats.org/officeDocument/2006/extended-properties" xmlns:vt="http://schemas.openxmlformats.org/officeDocument/2006/docPropsVTypes">
  <TotalTime>369</TotalTime>
  <Words>1680</Words>
  <Application>Microsoft Office PowerPoint</Application>
  <PresentationFormat>Widescreen</PresentationFormat>
  <Paragraphs>279</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Wingdings</vt:lpstr>
      <vt:lpstr>Office Theme</vt:lpstr>
      <vt:lpstr>Creating Test cases from Use case</vt:lpstr>
      <vt:lpstr>Use case diagram and use case</vt:lpstr>
      <vt:lpstr>Identification of Actors</vt:lpstr>
      <vt:lpstr>Identification of use cases</vt:lpstr>
      <vt:lpstr>Identification of use cases</vt:lpstr>
      <vt:lpstr>Drawing of use case Diagram</vt:lpstr>
      <vt:lpstr>Writing of Use case description</vt:lpstr>
      <vt:lpstr>Writing descriptive use cases</vt:lpstr>
      <vt:lpstr>Writing descriptive use cases</vt:lpstr>
      <vt:lpstr>Writing descriptive use cases</vt:lpstr>
      <vt:lpstr>Generation of Test cases from Use cases</vt:lpstr>
      <vt:lpstr>Generation of Scenario Diagram</vt:lpstr>
      <vt:lpstr>Generation of scenario diagram</vt:lpstr>
      <vt:lpstr>Generation of scenario diagrams</vt:lpstr>
      <vt:lpstr>Creation of use case Scenario matrix</vt:lpstr>
      <vt:lpstr>Identification of Variables in a use case</vt:lpstr>
      <vt:lpstr>Identification of different input states of a variable</vt:lpstr>
      <vt:lpstr>Design of test case matrix</vt:lpstr>
      <vt:lpstr>Design of test case matrix</vt:lpstr>
      <vt:lpstr>Assigning actual values to variables</vt:lpstr>
      <vt:lpstr>Design of test case matrix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test cases from use case</dc:title>
  <dc:creator>Asma javaid</dc:creator>
  <cp:lastModifiedBy>Israr Ahmad Lecturer FCS</cp:lastModifiedBy>
  <cp:revision>53</cp:revision>
  <dcterms:created xsi:type="dcterms:W3CDTF">2015-10-24T14:16:08Z</dcterms:created>
  <dcterms:modified xsi:type="dcterms:W3CDTF">2025-12-05T13:53:55Z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0x0101006E4823951FA9BF42B980A03718EB0B18</vt:lpwstr>
  </property>
</Properties>
</file>