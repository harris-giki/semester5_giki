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6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1762" autoAdjust="0"/>
  </p:normalViewPr>
  <p:slideViewPr>
    <p:cSldViewPr snapToGrid="0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588700-DF23-4E0C-9849-F84CD5122C8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D5FD4-CEB5-4E50-A3CD-7A1124E9B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590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Clear and Unambiguous</a:t>
            </a:r>
            <a:r>
              <a:rPr lang="en-US" b="0" i="0" dirty="0">
                <a:solidFill>
                  <a:srgbClr val="F8FAFF"/>
                </a:solidFill>
                <a:effectLst/>
                <a:latin typeface="Inter"/>
              </a:rPr>
              <a:t>: The requirement is stated in a way that leaves no room for interpretation. It should be specific and detailed.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Measurable</a:t>
            </a:r>
            <a:r>
              <a:rPr lang="en-US" b="0" i="0" dirty="0">
                <a:solidFill>
                  <a:srgbClr val="F8FAFF"/>
                </a:solidFill>
                <a:effectLst/>
                <a:latin typeface="Inter"/>
              </a:rPr>
              <a:t>: The requirement can be quantified or evaluated objectively. For example, "The system should respond within 2 seconds" is measurable, whereas "The system should be fast" is not.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Feasible</a:t>
            </a:r>
            <a:r>
              <a:rPr lang="en-US" b="0" i="0" dirty="0">
                <a:solidFill>
                  <a:srgbClr val="F8FAFF"/>
                </a:solidFill>
                <a:effectLst/>
                <a:latin typeface="Inter"/>
              </a:rPr>
              <a:t>: The requirement can be tested within the given constraints (time, resources, tools, etc.).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Complete</a:t>
            </a:r>
            <a:r>
              <a:rPr lang="en-US" b="0" i="0" dirty="0">
                <a:solidFill>
                  <a:srgbClr val="F8FAFF"/>
                </a:solidFill>
                <a:effectLst/>
                <a:latin typeface="Inter"/>
              </a:rPr>
              <a:t>: The requirement provides enough information to design test cases.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Traceable</a:t>
            </a:r>
            <a:r>
              <a:rPr lang="en-US" b="0" i="0" dirty="0">
                <a:solidFill>
                  <a:srgbClr val="F8FAFF"/>
                </a:solidFill>
                <a:effectLst/>
                <a:latin typeface="Inter"/>
              </a:rPr>
              <a:t>: The requirement can be linked to specific test cases, ensuring full coverage.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ED5FD4-CEB5-4E50-A3CD-7A1124E9B5D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175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F19B8-5B3B-135A-D055-E0E9419E8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F1C09-3E3E-E1B4-88B1-658A44D32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48197-2902-C39E-18CD-F5B9BFDF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73F8A-F30D-4896-A119-76274DFEB5A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24EE2-FA46-AF43-2218-88029F91A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AB769-2A04-CE56-C8E4-7030B35B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36FC-D5A3-46F5-9CF6-D1B284E88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B67E0-F417-51FD-525F-B43810F1D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72739-C588-0BAF-E7F7-65ED7A735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66A11-1B7A-5F30-3A02-633148064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73F8A-F30D-4896-A119-76274DFEB5A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4C96D-862D-E56B-960F-786437653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F35F4-4DAA-ACC3-168C-4E8178A32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36FC-D5A3-46F5-9CF6-D1B284E88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530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95BBB-E0F0-071B-1160-453B1EC8A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703D0-C131-75D2-E696-125D0B17A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F9487-978C-CF74-F5B3-5A37820BF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73F8A-F30D-4896-A119-76274DFEB5A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B73A6-8589-EA3E-AFD9-C7DBB8B5B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3F21B-5483-2B11-5A89-20424E5CD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36FC-D5A3-46F5-9CF6-D1B284E88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538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9C7A2-814F-E26C-17CA-D1FA98FDF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48BF0-5E6B-16EB-55C6-C1DB62B35E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C1653C-CF3E-D06A-BB2B-935D9C8F8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F00AF-DD6F-0B73-34E2-CA494D497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73F8A-F30D-4896-A119-76274DFEB5A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4E746E-7A90-5226-A41E-6730399C7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74BF2-C59D-5450-657C-0DB2A0458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36FC-D5A3-46F5-9CF6-D1B284E88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195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29A0-F54B-4901-3BD9-AF4F6D369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1C949-D9FE-BE0E-96FA-9627C11F0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80B00-D85C-1FC6-CF39-7E5AEE8B6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68F8FB-3379-163D-5898-2F9DDB496B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1878DC-E3B6-CFD1-3A76-B13A260A52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326D1D-BE21-F8FE-FCF0-36BD43B06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73F8A-F30D-4896-A119-76274DFEB5A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67153E-07B9-EBD3-506E-FC71BFB9F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40A983-1173-4830-B01D-653718D6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36FC-D5A3-46F5-9CF6-D1B284E88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857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0C40-BC3B-4151-EE74-1670C7FBB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D57EC-BFB3-A60C-4BCF-4BC502A46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73F8A-F30D-4896-A119-76274DFEB5A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6C04D1-127E-2973-246F-68CBA01AF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DCF3D0-E1B0-DBE3-71B3-9869CB3E4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36FC-D5A3-46F5-9CF6-D1B284E88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89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3A667C-D1D3-97B7-F397-0F42CE6E2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73F8A-F30D-4896-A119-76274DFEB5A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603DD3-43CC-129E-F579-1A8F9BF1B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A9341-90BA-594B-59A3-186F7D1BC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36FC-D5A3-46F5-9CF6-D1B284E88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92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66760-1EF1-AFEB-363E-2D2FA7BD6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88EC8-0966-A960-C69A-405BAF115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D850A-66A1-438B-21D8-2E43FFA18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7C7D7-5A2B-67C4-684E-D4A6E7384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73F8A-F30D-4896-A119-76274DFEB5A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B926B2-FFE8-D592-13EC-048C70EB6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77FFE-90C3-A2D5-30D5-8F8F0E6D2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36FC-D5A3-46F5-9CF6-D1B284E88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3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D6793-E845-EF34-97CD-48FECC72D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55EDB4-55D5-569B-31B5-39DAFF3770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3C0948-34EE-5DC4-2E45-37D421A0A5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72601-68F4-CC81-AA83-D151DB0EF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73F8A-F30D-4896-A119-76274DFEB5A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11335-D4F4-63D1-65DB-E503F7B2D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37A1F4-4CCD-E2B2-0FB9-47A4C56DA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36FC-D5A3-46F5-9CF6-D1B284E88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34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F3D8-8B6F-4F9C-F74F-2A44BE512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A1077B-DFF5-D6FF-17DE-20075466F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67C19-85E0-7AE9-B53D-58096FDC9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73F8A-F30D-4896-A119-76274DFEB5A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E9C29-251A-CB86-37D5-5D61B9D38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1B785-B7A1-9023-F036-53B4F7265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36FC-D5A3-46F5-9CF6-D1B284E88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674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30E118-6905-15CF-0784-1AE1F28AF0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60AEC6-2413-650C-D09B-A48DCC1CF3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B245E-9892-5822-C463-362551FBE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73F8A-F30D-4896-A119-76274DFEB5A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7D8A8-DCAE-B7A9-DA33-9C6E3B992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169FB-4EF6-C6EC-12E9-C545D53D8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36FC-D5A3-46F5-9CF6-D1B284E88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365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C06DCC-D8DF-04AD-46E5-5A46E0011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0A77D-32B6-4B82-3C1F-31DB16200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8076A-3A9C-4A55-6C7D-D81DBCAD4C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73F8A-F30D-4896-A119-76274DFEB5A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2AEC8-B13C-5838-4325-B6763EE32A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A6379-98B1-4C63-5583-87BA63961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A236FC-D5A3-46F5-9CF6-D1B284E88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609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uru99.com/defect-management-process.html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F3770-8BA8-2E41-3BF0-B1E6A30480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Testing Life-Cycle(STLC)</a:t>
            </a:r>
          </a:p>
        </p:txBody>
      </p:sp>
    </p:spTree>
    <p:extLst>
      <p:ext uri="{BB962C8B-B14F-4D97-AF65-F5344CB8AC3E}">
        <p14:creationId xmlns:p14="http://schemas.microsoft.com/office/powerpoint/2010/main" val="3848797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6EBE-D4A1-7FC1-D365-10C038583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ts val="3000"/>
              </a:lnSpc>
            </a:pPr>
            <a:r>
              <a:rPr lang="en-US" b="1" i="0" dirty="0"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What is Software Testing Life Cycle (STLC)?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D74BC-9954-6AD0-1B65-7E00E2700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Software Testing Life Cycle (STLC)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is a sequence of specific activities conducted during the testing process to ensure software quality goals are met.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STLC involves both verification and validation activities.</a:t>
            </a:r>
            <a:endParaRPr lang="en-US" dirty="0">
              <a:solidFill>
                <a:srgbClr val="222222"/>
              </a:solidFill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275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146F-44D9-4C8C-ACDC-60D7282E2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What is Software Testing Life Cycle (STLC)?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6DB69-0A1E-2805-0F58-13B865219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Software Testing is not just a single/isolate activity, i.e. testing. It consists of a series of activities carried out methodologically to help certify your software product.</a:t>
            </a:r>
          </a:p>
          <a:p>
            <a:r>
              <a:rPr lang="en-US" dirty="0">
                <a:solidFill>
                  <a:srgbClr val="222222"/>
                </a:solidFill>
                <a:latin typeface="Source Sans Pro" panose="020B0503030403020204" pitchFamily="34" charset="0"/>
              </a:rPr>
              <a:t>Several Phases/steps</a:t>
            </a:r>
          </a:p>
          <a:p>
            <a:r>
              <a:rPr lang="en-US" dirty="0">
                <a:solidFill>
                  <a:srgbClr val="222222"/>
                </a:solidFill>
                <a:latin typeface="Source Sans Pro" panose="020B0503030403020204" pitchFamily="34" charset="0"/>
              </a:rPr>
              <a:t>Fulfill goal to move next step.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104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0D375-43A0-24B2-ABC9-B43BEC1E4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37169-10F2-7BB5-5D7E-E3E221FD5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Clearly defining the deadlines of project testing</a:t>
            </a:r>
          </a:p>
          <a:p>
            <a:r>
              <a:rPr lang="en-US" dirty="0"/>
              <a:t>Proper documenting the goal &amp; objective</a:t>
            </a:r>
          </a:p>
          <a:p>
            <a:r>
              <a:rPr lang="en-US" dirty="0"/>
              <a:t>Ensure objective of each step</a:t>
            </a:r>
          </a:p>
          <a:p>
            <a:r>
              <a:rPr lang="en-US" dirty="0"/>
              <a:t>Testing each and every feature of software before adding more features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551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9E6C1-8BD1-1AB9-0098-8249B38C7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STLC Steps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E97E4C-9888-E4F9-FCD9-C08AF010F3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659" y="1918742"/>
            <a:ext cx="9356682" cy="4165104"/>
          </a:xfrm>
        </p:spPr>
      </p:pic>
    </p:spTree>
    <p:extLst>
      <p:ext uri="{BB962C8B-B14F-4D97-AF65-F5344CB8AC3E}">
        <p14:creationId xmlns:p14="http://schemas.microsoft.com/office/powerpoint/2010/main" val="3808354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54283-44AE-2655-2516-CC04E9E8C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STLC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42EED-1041-4B7B-1457-DD80C0F3C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Requirement Analysis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Test Planning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Test case development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Test Environment setup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Test Execution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Test Cycle closure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74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EC268-6927-0B54-EB04-DB9AB3AAC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ts val="3000"/>
              </a:lnSpc>
            </a:pPr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What is Entry and Exit Criteria in STLC?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CFF39-5758-C5DB-E2A7-2FBE1BA2A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Each of these stages has a definite Entry and Exit criteria, Activities &amp; Deliverables associated with it.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Entry Criteria: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Entry Criteria gives the prerequisite items that must be completed before testing can begin.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Exit Criteria: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Exit Criteria defines the items that must be completed before testing can be concluded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811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FE46E-6377-44B7-EDBD-70FCE6BF9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Requirement</a:t>
            </a:r>
            <a:r>
              <a:rPr lang="en-US" b="1" dirty="0"/>
              <a:t>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716A1-9060-6F7A-F4D8-0B95AB26F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Requirement Analysis in which test team studies the requirements from a testing point of view to identify testable requirements.</a:t>
            </a:r>
            <a:b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</a:br>
            <a:endParaRPr lang="en-US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algn="l"/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Activities in Requirement Phase Testing</a:t>
            </a:r>
            <a:endParaRPr lang="en-US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Identify types of tests to be performed.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Gather details about testing priorities and focus.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Prepare Requirement Traceability Matrix (RTM).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Identify test environment details where testing is supposed to be carried out.</a:t>
            </a:r>
          </a:p>
        </p:txBody>
      </p:sp>
    </p:spTree>
    <p:extLst>
      <p:ext uri="{BB962C8B-B14F-4D97-AF65-F5344CB8AC3E}">
        <p14:creationId xmlns:p14="http://schemas.microsoft.com/office/powerpoint/2010/main" val="2303029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0A7F0-F828-C702-9074-05C4FB994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Deliverables of Requirement Phase Testing</a:t>
            </a:r>
            <a:b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88E12-59A9-5C25-44E5-0A9F28415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RTM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087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C54B2-2DF6-B24A-613E-38BBB7E6B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test case description with text&#10;&#10;AI-generated content may be incorrect.">
            <a:extLst>
              <a:ext uri="{FF2B5EF4-FFF2-40B4-BE49-F238E27FC236}">
                <a16:creationId xmlns:a16="http://schemas.microsoft.com/office/drawing/2014/main" id="{BAD3135F-DA18-70C6-DD76-55984988B6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068007" cy="3515216"/>
          </a:xfrm>
        </p:spPr>
      </p:pic>
      <p:pic>
        <p:nvPicPr>
          <p:cNvPr id="7" name="Picture 6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80A2EADA-04E0-44F0-26A8-6643D780DF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024" y="2669133"/>
            <a:ext cx="7572976" cy="418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1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A31D2-6A3D-0394-5883-709CCFDE4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Test Planning</a:t>
            </a:r>
            <a:b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EA19C-40E6-E7BC-EC52-13BC79BDD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Detailed test plan document, objective, scope, schedule and resources allocation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Roles &amp; Responsibilities</a:t>
            </a:r>
          </a:p>
          <a:p>
            <a:r>
              <a:rPr lang="en-US" dirty="0"/>
              <a:t>Estimated timeline </a:t>
            </a:r>
          </a:p>
          <a:p>
            <a:r>
              <a:rPr lang="en-US" dirty="0"/>
              <a:t>Risk and cost analyze</a:t>
            </a:r>
          </a:p>
        </p:txBody>
      </p:sp>
    </p:spTree>
    <p:extLst>
      <p:ext uri="{BB962C8B-B14F-4D97-AF65-F5344CB8AC3E}">
        <p14:creationId xmlns:p14="http://schemas.microsoft.com/office/powerpoint/2010/main" val="2525114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0C0B5-BCDC-EBEF-83B4-EB93C5E0E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Deliverables of Test Planning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CD897-D522-AC68-01D9-63C0235E1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Test plan/</a:t>
            </a:r>
            <a:r>
              <a:rPr lang="fr-FR" b="0" i="0" dirty="0" err="1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strategy</a:t>
            </a:r>
            <a:r>
              <a:rPr lang="fr-FR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 document.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Effort estimation document.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331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8B044-E288-82D9-5C44-4BCDA3C81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Test case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4BE93-3F66-EC04-AE34-4E0EAB705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The </a:t>
            </a:r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Test Case Development Phase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involves the creation, verification and rework of test cases &amp; test scripts after the test plan is ready. </a:t>
            </a:r>
          </a:p>
          <a:p>
            <a:endParaRPr lang="en-US" dirty="0">
              <a:solidFill>
                <a:srgbClr val="222222"/>
              </a:solidFill>
              <a:latin typeface="Source Sans Pro" panose="020B0503030403020204" pitchFamily="34" charset="0"/>
            </a:endParaRPr>
          </a:p>
          <a:p>
            <a:pPr algn="l"/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Test Case Development Activities</a:t>
            </a:r>
            <a:endParaRPr lang="en-US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Create test cases, automation scripts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Review and baseline test cases and scripts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Create test data (If Test Environment is available)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539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C759F-5D26-334B-3460-43DC61DE3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Deliverables of Test Case Development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2637C-C582-3548-DF59-105AB93D6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Test cases/scripts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Test data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389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4E367-E923-4A9C-5535-CAFE11F64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Test Environment Setup</a:t>
            </a:r>
            <a:b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AB259-C885-E6E3-4082-EF87ACD1C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Test Environment Setup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decides the software and hardware conditions under which a work product is tested.</a:t>
            </a:r>
          </a:p>
          <a:p>
            <a:endParaRPr lang="en-US" dirty="0">
              <a:solidFill>
                <a:srgbClr val="222222"/>
              </a:solidFill>
              <a:latin typeface="Source Sans Pro" panose="020B0503030403020204" pitchFamily="34" charset="0"/>
            </a:endParaRPr>
          </a:p>
          <a:p>
            <a:pPr algn="l"/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Test Environment Setup Activities</a:t>
            </a:r>
            <a:endParaRPr lang="en-US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Understand the required architecture, environment set-up and prepare hardware and software requirement list for the Test Environment.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Setup test Environment and test data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Perform smoke test on the build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966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B04EC-0B05-FDCE-DA4F-2A38E4A85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Deliverables of Test Environment Setup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1B4BF-1E28-9531-2F88-E85EB95DC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Environment ready with test data set up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Smoke Test Results.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470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0CC7D-4AD7-5A6D-0096-FAB70F6F5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Test Execution Phase</a:t>
            </a:r>
            <a:b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DC6F9-459B-AA35-0C89-FE144F9E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Test Execution Phase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is carried out by the testers in which testing of the software build is done based on test plans and test cases prepared.</a:t>
            </a:r>
          </a:p>
          <a:p>
            <a:endParaRPr lang="en-US" dirty="0">
              <a:solidFill>
                <a:srgbClr val="222222"/>
              </a:solidFill>
              <a:latin typeface="Source Sans Pro" panose="020B0503030403020204" pitchFamily="34" charset="0"/>
            </a:endParaRPr>
          </a:p>
          <a:p>
            <a:pPr algn="l"/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Test Execution Activities</a:t>
            </a:r>
            <a:endParaRPr lang="en-US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Execute tests as per plan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Document test results, and log defects for failed cases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Map defects to test cases in RTM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Retest the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Source Sans Pro" panose="020B0503030403020204" pitchFamily="34" charset="0"/>
                <a:hlinkClick r:id="rId2"/>
              </a:rPr>
              <a:t> 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Defect 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fixes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927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9A540-2538-194C-8D26-9482FD94F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Deliverables of Test Execution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10489-AE59-84C8-3BFC-ED9B94FEE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Completed RTM with the execution status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Test cases updated with results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Defect reports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096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E3D52-C094-33E8-9245-7C0502781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Test Cycle Closure</a:t>
            </a:r>
            <a:b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4D391-6234-C9AF-C213-093021B20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Test Cycle Closure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phase is completion of test execution which involves several activities like test completion reporting, collection of test completion matrices and test results.</a:t>
            </a:r>
          </a:p>
          <a:p>
            <a:endParaRPr lang="en-US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Evaluate cycle completion criteria based on Time, Test coverage,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Cost,Software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, Critical Business Objectives, Quality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Document the learning out of the project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Prepare Test closure report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Qualitative and quantitative reporting of quality of the work product to the customer.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6442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BD1BC-0214-28CB-40A3-AD3C0B213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Deliverables of Test Cycle Closure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2E030-60B3-E9CB-8379-4D2132110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Test Closure report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Test metrics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038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B9770-20B7-6B27-CB33-810E0BDB0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1371600" lvl="3" indent="0">
              <a:buNone/>
            </a:pPr>
            <a:endParaRPr lang="en-US" dirty="0"/>
          </a:p>
          <a:p>
            <a:pPr marL="1371600" lvl="3" indent="0">
              <a:buNone/>
            </a:pPr>
            <a:endParaRPr lang="en-US" dirty="0"/>
          </a:p>
          <a:p>
            <a:pPr marL="1371600" lvl="3" indent="0">
              <a:buNone/>
            </a:pPr>
            <a:endParaRPr lang="en-US" dirty="0"/>
          </a:p>
          <a:p>
            <a:pPr marL="1371600" lvl="3" indent="0">
              <a:buNone/>
            </a:pPr>
            <a:endParaRPr lang="en-US" dirty="0"/>
          </a:p>
          <a:p>
            <a:pPr marL="1371600" lvl="3" indent="0">
              <a:buNone/>
            </a:pPr>
            <a:r>
              <a:rPr lang="en-US" dirty="0"/>
              <a:t>			</a:t>
            </a:r>
            <a:r>
              <a:rPr lang="en-US" sz="4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44772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4823951FA9BF42B980A03718EB0B18" ma:contentTypeVersion="3" ma:contentTypeDescription="Create a new document." ma:contentTypeScope="" ma:versionID="25a50b09105562264fb4b1a4f834e0bb">
  <xsd:schema xmlns:xsd="http://www.w3.org/2001/XMLSchema" xmlns:xs="http://www.w3.org/2001/XMLSchema" xmlns:p="http://schemas.microsoft.com/office/2006/metadata/properties" xmlns:ns2="6bf15077-4e46-4e3a-99a0-3fd5e4d406d3" targetNamespace="http://schemas.microsoft.com/office/2006/metadata/properties" ma:root="true" ma:fieldsID="ff57562ea5f29b8a889136f2d3c08a42" ns2:_="">
    <xsd:import namespace="6bf15077-4e46-4e3a-99a0-3fd5e4d406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15077-4e46-4e3a-99a0-3fd5e4d406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DDF83AE-1030-468F-A341-5BBA2D673FA8}"/>
</file>

<file path=customXml/itemProps2.xml><?xml version="1.0" encoding="utf-8"?>
<ds:datastoreItem xmlns:ds="http://schemas.openxmlformats.org/officeDocument/2006/customXml" ds:itemID="{FA628A72-3F1F-4C90-A036-6F0BAA221964}"/>
</file>

<file path=customXml/itemProps3.xml><?xml version="1.0" encoding="utf-8"?>
<ds:datastoreItem xmlns:ds="http://schemas.openxmlformats.org/officeDocument/2006/customXml" ds:itemID="{C3B99DF9-1E35-422B-86F9-EA142DA7C5BB}"/>
</file>

<file path=docProps/app.xml><?xml version="1.0" encoding="utf-8"?>
<Properties xmlns="http://schemas.openxmlformats.org/officeDocument/2006/extended-properties" xmlns:vt="http://schemas.openxmlformats.org/officeDocument/2006/docPropsVTypes">
  <TotalTime>5240</TotalTime>
  <Words>743</Words>
  <Application>Microsoft Office PowerPoint</Application>
  <PresentationFormat>Widescreen</PresentationFormat>
  <Paragraphs>96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Inter</vt:lpstr>
      <vt:lpstr>Source Sans Pro</vt:lpstr>
      <vt:lpstr>Office Theme</vt:lpstr>
      <vt:lpstr>Software Testing Life-Cycle(STLC)</vt:lpstr>
      <vt:lpstr>What is Software Testing Life Cycle (STLC)?</vt:lpstr>
      <vt:lpstr>What is Software Testing Life Cycle (STLC)?</vt:lpstr>
      <vt:lpstr>Purpose</vt:lpstr>
      <vt:lpstr>STLC Steps</vt:lpstr>
      <vt:lpstr>STLC Steps</vt:lpstr>
      <vt:lpstr>What is Entry and Exit Criteria in STLC?</vt:lpstr>
      <vt:lpstr>Requirement Analysis</vt:lpstr>
      <vt:lpstr>Deliverables of Requirement Phase Testing </vt:lpstr>
      <vt:lpstr>PowerPoint Presentation</vt:lpstr>
      <vt:lpstr>Test Planning </vt:lpstr>
      <vt:lpstr>Deliverables of Test Planning</vt:lpstr>
      <vt:lpstr>Test case development</vt:lpstr>
      <vt:lpstr>Deliverables of Test Case Development</vt:lpstr>
      <vt:lpstr>Test Environment Setup </vt:lpstr>
      <vt:lpstr>Deliverables of Test Environment Setup</vt:lpstr>
      <vt:lpstr>Test Execution Phase </vt:lpstr>
      <vt:lpstr>Deliverables of Test Execution</vt:lpstr>
      <vt:lpstr>Test Cycle Closure </vt:lpstr>
      <vt:lpstr>Deliverables of Test Cycle Closure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Israr Ahmad Lecturer FCS</dc:creator>
  <cp:lastModifiedBy>Israr Ahmad Lecturer FCS</cp:lastModifiedBy>
  <cp:revision>11</cp:revision>
  <dcterms:created xsi:type="dcterms:W3CDTF">2025-02-11T11:04:27Z</dcterms:created>
  <dcterms:modified xsi:type="dcterms:W3CDTF">2025-12-03T05:37:35Z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0x0101006E4823951FA9BF42B980A03718EB0B18</vt:lpwstr>
  </property>
</Properties>
</file>