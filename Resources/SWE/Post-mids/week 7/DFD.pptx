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42445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42445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42445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42445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00050"/>
            <a:ext cx="5410200" cy="50800"/>
          </a:xfrm>
          <a:custGeom>
            <a:avLst/>
            <a:gdLst/>
            <a:ahLst/>
            <a:cxnLst/>
            <a:rect l="l" t="t" r="r" b="b"/>
            <a:pathLst>
              <a:path w="5410200" h="50800">
                <a:moveTo>
                  <a:pt x="0" y="50800"/>
                </a:moveTo>
                <a:lnTo>
                  <a:pt x="5410200" y="50800"/>
                </a:lnTo>
                <a:lnTo>
                  <a:pt x="5410200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438085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307975"/>
          </a:xfrm>
          <a:custGeom>
            <a:avLst/>
            <a:gdLst/>
            <a:ahLst/>
            <a:cxnLst/>
            <a:rect l="l" t="t" r="r" b="b"/>
            <a:pathLst>
              <a:path w="9144000" h="307975">
                <a:moveTo>
                  <a:pt x="0" y="307975"/>
                </a:moveTo>
                <a:lnTo>
                  <a:pt x="9144000" y="307975"/>
                </a:lnTo>
                <a:lnTo>
                  <a:pt x="9144000" y="0"/>
                </a:lnTo>
                <a:lnTo>
                  <a:pt x="0" y="0"/>
                </a:lnTo>
                <a:lnTo>
                  <a:pt x="0" y="307975"/>
                </a:lnTo>
                <a:close/>
              </a:path>
            </a:pathLst>
          </a:custGeom>
          <a:solidFill>
            <a:srgbClr val="4244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307974"/>
            <a:ext cx="9144000" cy="142875"/>
          </a:xfrm>
          <a:custGeom>
            <a:avLst/>
            <a:gdLst/>
            <a:ahLst/>
            <a:cxnLst/>
            <a:rect l="l" t="t" r="r" b="b"/>
            <a:pathLst>
              <a:path w="9144000" h="142875">
                <a:moveTo>
                  <a:pt x="9144000" y="0"/>
                </a:moveTo>
                <a:lnTo>
                  <a:pt x="0" y="0"/>
                </a:lnTo>
                <a:lnTo>
                  <a:pt x="0" y="92075"/>
                </a:lnTo>
                <a:lnTo>
                  <a:pt x="5410200" y="92075"/>
                </a:lnTo>
                <a:lnTo>
                  <a:pt x="5410200" y="142875"/>
                </a:lnTo>
                <a:lnTo>
                  <a:pt x="9144000" y="142875"/>
                </a:lnTo>
                <a:lnTo>
                  <a:pt x="9144000" y="92075"/>
                </a:lnTo>
                <a:lnTo>
                  <a:pt x="9144000" y="52387"/>
                </a:lnTo>
                <a:lnTo>
                  <a:pt x="9144000" y="0"/>
                </a:lnTo>
                <a:close/>
              </a:path>
            </a:pathLst>
          </a:custGeom>
          <a:solidFill>
            <a:srgbClr val="4380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410200" y="439801"/>
            <a:ext cx="3733800" cy="180975"/>
          </a:xfrm>
          <a:custGeom>
            <a:avLst/>
            <a:gdLst/>
            <a:ahLst/>
            <a:cxnLst/>
            <a:rect l="l" t="t" r="r" b="b"/>
            <a:pathLst>
              <a:path w="3733800" h="180975">
                <a:moveTo>
                  <a:pt x="3733800" y="0"/>
                </a:moveTo>
                <a:lnTo>
                  <a:pt x="0" y="0"/>
                </a:lnTo>
                <a:lnTo>
                  <a:pt x="0" y="180975"/>
                </a:lnTo>
                <a:lnTo>
                  <a:pt x="3733800" y="180975"/>
                </a:lnTo>
                <a:lnTo>
                  <a:pt x="3733800" y="0"/>
                </a:lnTo>
                <a:close/>
              </a:path>
            </a:pathLst>
          </a:custGeom>
          <a:solidFill>
            <a:srgbClr val="438085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5407025" y="496950"/>
            <a:ext cx="3567429" cy="128905"/>
          </a:xfrm>
          <a:custGeom>
            <a:avLst/>
            <a:gdLst/>
            <a:ahLst/>
            <a:cxnLst/>
            <a:rect l="l" t="t" r="r" b="b"/>
            <a:pathLst>
              <a:path w="3567429" h="128904">
                <a:moveTo>
                  <a:pt x="3063875" y="2032"/>
                </a:moveTo>
                <a:lnTo>
                  <a:pt x="3061716" y="0"/>
                </a:lnTo>
                <a:lnTo>
                  <a:pt x="2159" y="0"/>
                </a:lnTo>
                <a:lnTo>
                  <a:pt x="0" y="2032"/>
                </a:lnTo>
                <a:lnTo>
                  <a:pt x="0" y="4699"/>
                </a:lnTo>
                <a:lnTo>
                  <a:pt x="0" y="26416"/>
                </a:lnTo>
                <a:lnTo>
                  <a:pt x="2159" y="28575"/>
                </a:lnTo>
                <a:lnTo>
                  <a:pt x="3061716" y="28575"/>
                </a:lnTo>
                <a:lnTo>
                  <a:pt x="3063875" y="26416"/>
                </a:lnTo>
                <a:lnTo>
                  <a:pt x="3063875" y="2032"/>
                </a:lnTo>
                <a:close/>
              </a:path>
              <a:path w="3567429" h="128904">
                <a:moveTo>
                  <a:pt x="3567176" y="94742"/>
                </a:moveTo>
                <a:lnTo>
                  <a:pt x="3564382" y="92075"/>
                </a:lnTo>
                <a:lnTo>
                  <a:pt x="1969643" y="92075"/>
                </a:lnTo>
                <a:lnTo>
                  <a:pt x="1966976" y="94742"/>
                </a:lnTo>
                <a:lnTo>
                  <a:pt x="1966976" y="98044"/>
                </a:lnTo>
                <a:lnTo>
                  <a:pt x="1966976" y="125857"/>
                </a:lnTo>
                <a:lnTo>
                  <a:pt x="1969643" y="128524"/>
                </a:lnTo>
                <a:lnTo>
                  <a:pt x="3564382" y="128524"/>
                </a:lnTo>
                <a:lnTo>
                  <a:pt x="3567176" y="125857"/>
                </a:lnTo>
                <a:lnTo>
                  <a:pt x="3567176" y="947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044051" y="-1587"/>
            <a:ext cx="98425" cy="621030"/>
          </a:xfrm>
          <a:custGeom>
            <a:avLst/>
            <a:gdLst/>
            <a:ahLst/>
            <a:cxnLst/>
            <a:rect l="l" t="t" r="r" b="b"/>
            <a:pathLst>
              <a:path w="98425" h="621030">
                <a:moveTo>
                  <a:pt x="28575" y="0"/>
                </a:moveTo>
                <a:lnTo>
                  <a:pt x="0" y="0"/>
                </a:lnTo>
                <a:lnTo>
                  <a:pt x="0" y="620712"/>
                </a:lnTo>
                <a:lnTo>
                  <a:pt x="28575" y="620712"/>
                </a:lnTo>
                <a:lnTo>
                  <a:pt x="28575" y="0"/>
                </a:lnTo>
                <a:close/>
              </a:path>
              <a:path w="98425" h="621030">
                <a:moveTo>
                  <a:pt x="98425" y="0"/>
                </a:moveTo>
                <a:lnTo>
                  <a:pt x="41275" y="0"/>
                </a:lnTo>
                <a:lnTo>
                  <a:pt x="41275" y="620712"/>
                </a:lnTo>
                <a:lnTo>
                  <a:pt x="98425" y="620712"/>
                </a:lnTo>
                <a:lnTo>
                  <a:pt x="98425" y="0"/>
                </a:lnTo>
                <a:close/>
              </a:path>
            </a:pathLst>
          </a:custGeom>
          <a:solidFill>
            <a:srgbClr val="FFFFFF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9025001" y="-1587"/>
            <a:ext cx="9525" cy="621030"/>
          </a:xfrm>
          <a:custGeom>
            <a:avLst/>
            <a:gdLst/>
            <a:ahLst/>
            <a:cxnLst/>
            <a:rect l="l" t="t" r="r" b="b"/>
            <a:pathLst>
              <a:path w="9525" h="621030">
                <a:moveTo>
                  <a:pt x="9525" y="0"/>
                </a:moveTo>
                <a:lnTo>
                  <a:pt x="0" y="0"/>
                </a:lnTo>
                <a:lnTo>
                  <a:pt x="0" y="620712"/>
                </a:lnTo>
                <a:lnTo>
                  <a:pt x="9525" y="620712"/>
                </a:lnTo>
                <a:lnTo>
                  <a:pt x="9525" y="0"/>
                </a:lnTo>
                <a:close/>
              </a:path>
            </a:pathLst>
          </a:custGeom>
          <a:solidFill>
            <a:srgbClr val="FFFFFF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8975725" y="-1587"/>
            <a:ext cx="27305" cy="621030"/>
          </a:xfrm>
          <a:custGeom>
            <a:avLst/>
            <a:gdLst/>
            <a:ahLst/>
            <a:cxnLst/>
            <a:rect l="l" t="t" r="r" b="b"/>
            <a:pathLst>
              <a:path w="27304" h="621030">
                <a:moveTo>
                  <a:pt x="26988" y="0"/>
                </a:moveTo>
                <a:lnTo>
                  <a:pt x="0" y="0"/>
                </a:lnTo>
                <a:lnTo>
                  <a:pt x="0" y="620712"/>
                </a:lnTo>
                <a:lnTo>
                  <a:pt x="26988" y="620712"/>
                </a:lnTo>
                <a:lnTo>
                  <a:pt x="26988" y="0"/>
                </a:lnTo>
                <a:close/>
              </a:path>
            </a:pathLst>
          </a:custGeom>
          <a:solidFill>
            <a:srgbClr val="FFFF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915400" y="63"/>
            <a:ext cx="55880" cy="586105"/>
          </a:xfrm>
          <a:custGeom>
            <a:avLst/>
            <a:gdLst/>
            <a:ahLst/>
            <a:cxnLst/>
            <a:rect l="l" t="t" r="r" b="b"/>
            <a:pathLst>
              <a:path w="55879" h="586105">
                <a:moveTo>
                  <a:pt x="55563" y="0"/>
                </a:moveTo>
                <a:lnTo>
                  <a:pt x="0" y="0"/>
                </a:lnTo>
                <a:lnTo>
                  <a:pt x="0" y="585787"/>
                </a:lnTo>
                <a:lnTo>
                  <a:pt x="55563" y="585787"/>
                </a:lnTo>
                <a:lnTo>
                  <a:pt x="55563" y="0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8874125" y="63"/>
            <a:ext cx="8255" cy="586105"/>
          </a:xfrm>
          <a:custGeom>
            <a:avLst/>
            <a:gdLst/>
            <a:ahLst/>
            <a:cxnLst/>
            <a:rect l="l" t="t" r="r" b="b"/>
            <a:pathLst>
              <a:path w="8254" h="586105">
                <a:moveTo>
                  <a:pt x="7938" y="0"/>
                </a:moveTo>
                <a:lnTo>
                  <a:pt x="0" y="0"/>
                </a:lnTo>
                <a:lnTo>
                  <a:pt x="0" y="585787"/>
                </a:lnTo>
                <a:lnTo>
                  <a:pt x="7938" y="585787"/>
                </a:lnTo>
                <a:lnTo>
                  <a:pt x="7938" y="0"/>
                </a:lnTo>
                <a:close/>
              </a:path>
            </a:pathLst>
          </a:custGeom>
          <a:solidFill>
            <a:srgbClr val="FFFFFF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7593" y="845642"/>
            <a:ext cx="6201486" cy="1137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42445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5058" y="2269058"/>
            <a:ext cx="7853883" cy="2974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4208780"/>
            <a:chOff x="0" y="0"/>
            <a:chExt cx="9144000" cy="4208780"/>
          </a:xfrm>
        </p:grpSpPr>
        <p:sp>
          <p:nvSpPr>
            <p:cNvPr id="3" name="object 3"/>
            <p:cNvSpPr/>
            <p:nvPr/>
          </p:nvSpPr>
          <p:spPr>
            <a:xfrm>
              <a:off x="5410200" y="3810063"/>
              <a:ext cx="3733800" cy="90805"/>
            </a:xfrm>
            <a:custGeom>
              <a:avLst/>
              <a:gdLst/>
              <a:ahLst/>
              <a:cxnLst/>
              <a:rect l="l" t="t" r="r" b="b"/>
              <a:pathLst>
                <a:path w="3733800" h="90804">
                  <a:moveTo>
                    <a:pt x="3733800" y="0"/>
                  </a:moveTo>
                  <a:lnTo>
                    <a:pt x="0" y="0"/>
                  </a:lnTo>
                  <a:lnTo>
                    <a:pt x="0" y="90487"/>
                  </a:lnTo>
                  <a:lnTo>
                    <a:pt x="3733800" y="90487"/>
                  </a:lnTo>
                  <a:lnTo>
                    <a:pt x="3733800" y="0"/>
                  </a:lnTo>
                  <a:close/>
                </a:path>
              </a:pathLst>
            </a:custGeom>
            <a:solidFill>
              <a:srgbClr val="4380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410200" y="3897312"/>
              <a:ext cx="3733800" cy="192405"/>
            </a:xfrm>
            <a:custGeom>
              <a:avLst/>
              <a:gdLst/>
              <a:ahLst/>
              <a:cxnLst/>
              <a:rect l="l" t="t" r="r" b="b"/>
              <a:pathLst>
                <a:path w="3733800" h="192404">
                  <a:moveTo>
                    <a:pt x="3733800" y="0"/>
                  </a:moveTo>
                  <a:lnTo>
                    <a:pt x="0" y="0"/>
                  </a:lnTo>
                  <a:lnTo>
                    <a:pt x="0" y="192087"/>
                  </a:lnTo>
                  <a:lnTo>
                    <a:pt x="3733800" y="192087"/>
                  </a:lnTo>
                  <a:lnTo>
                    <a:pt x="3733800" y="0"/>
                  </a:lnTo>
                  <a:close/>
                </a:path>
              </a:pathLst>
            </a:custGeom>
            <a:solidFill>
              <a:srgbClr val="438085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10200" y="4114800"/>
              <a:ext cx="3733800" cy="9525"/>
            </a:xfrm>
            <a:custGeom>
              <a:avLst/>
              <a:gdLst/>
              <a:ahLst/>
              <a:cxnLst/>
              <a:rect l="l" t="t" r="r" b="b"/>
              <a:pathLst>
                <a:path w="3733800" h="9525">
                  <a:moveTo>
                    <a:pt x="37338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3733800" y="9525"/>
                  </a:lnTo>
                  <a:lnTo>
                    <a:pt x="3733800" y="0"/>
                  </a:lnTo>
                  <a:close/>
                </a:path>
              </a:pathLst>
            </a:custGeom>
            <a:solidFill>
              <a:srgbClr val="438085">
                <a:alpha val="6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10200" y="4164076"/>
              <a:ext cx="1965325" cy="19050"/>
            </a:xfrm>
            <a:custGeom>
              <a:avLst/>
              <a:gdLst/>
              <a:ahLst/>
              <a:cxnLst/>
              <a:rect l="l" t="t" r="r" b="b"/>
              <a:pathLst>
                <a:path w="1965325" h="19050">
                  <a:moveTo>
                    <a:pt x="1965325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1965325" y="19050"/>
                  </a:lnTo>
                  <a:lnTo>
                    <a:pt x="1965325" y="0"/>
                  </a:lnTo>
                  <a:close/>
                </a:path>
              </a:pathLst>
            </a:custGeom>
            <a:solidFill>
              <a:srgbClr val="438085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10200" y="4199001"/>
              <a:ext cx="1965325" cy="9525"/>
            </a:xfrm>
            <a:custGeom>
              <a:avLst/>
              <a:gdLst/>
              <a:ahLst/>
              <a:cxnLst/>
              <a:rect l="l" t="t" r="r" b="b"/>
              <a:pathLst>
                <a:path w="1965325" h="9525">
                  <a:moveTo>
                    <a:pt x="19653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965325" y="9525"/>
                  </a:lnTo>
                  <a:lnTo>
                    <a:pt x="1965325" y="0"/>
                  </a:lnTo>
                  <a:close/>
                </a:path>
              </a:pathLst>
            </a:custGeom>
            <a:solidFill>
              <a:srgbClr val="438085">
                <a:alpha val="6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10200" y="3962400"/>
              <a:ext cx="3567429" cy="135255"/>
            </a:xfrm>
            <a:custGeom>
              <a:avLst/>
              <a:gdLst/>
              <a:ahLst/>
              <a:cxnLst/>
              <a:rect l="l" t="t" r="r" b="b"/>
              <a:pathLst>
                <a:path w="3567429" h="135254">
                  <a:moveTo>
                    <a:pt x="3063875" y="2032"/>
                  </a:moveTo>
                  <a:lnTo>
                    <a:pt x="3061843" y="0"/>
                  </a:lnTo>
                  <a:lnTo>
                    <a:pt x="2032" y="0"/>
                  </a:lnTo>
                  <a:lnTo>
                    <a:pt x="0" y="2032"/>
                  </a:lnTo>
                  <a:lnTo>
                    <a:pt x="0" y="4445"/>
                  </a:lnTo>
                  <a:lnTo>
                    <a:pt x="0" y="25019"/>
                  </a:lnTo>
                  <a:lnTo>
                    <a:pt x="2032" y="27051"/>
                  </a:lnTo>
                  <a:lnTo>
                    <a:pt x="3061843" y="27051"/>
                  </a:lnTo>
                  <a:lnTo>
                    <a:pt x="3063875" y="25019"/>
                  </a:lnTo>
                  <a:lnTo>
                    <a:pt x="3063875" y="2032"/>
                  </a:lnTo>
                  <a:close/>
                </a:path>
                <a:path w="3567429" h="135254">
                  <a:moveTo>
                    <a:pt x="3567176" y="101092"/>
                  </a:moveTo>
                  <a:lnTo>
                    <a:pt x="3564382" y="98425"/>
                  </a:lnTo>
                  <a:lnTo>
                    <a:pt x="1969643" y="98425"/>
                  </a:lnTo>
                  <a:lnTo>
                    <a:pt x="1966976" y="101092"/>
                  </a:lnTo>
                  <a:lnTo>
                    <a:pt x="1966976" y="104521"/>
                  </a:lnTo>
                  <a:lnTo>
                    <a:pt x="1966976" y="132207"/>
                  </a:lnTo>
                  <a:lnTo>
                    <a:pt x="1969643" y="135001"/>
                  </a:lnTo>
                  <a:lnTo>
                    <a:pt x="3564382" y="135001"/>
                  </a:lnTo>
                  <a:lnTo>
                    <a:pt x="3567176" y="132207"/>
                  </a:lnTo>
                  <a:lnTo>
                    <a:pt x="3567176" y="1010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816350"/>
              <a:ext cx="9144000" cy="78105"/>
            </a:xfrm>
            <a:custGeom>
              <a:avLst/>
              <a:gdLst/>
              <a:ahLst/>
              <a:cxnLst/>
              <a:rect l="l" t="t" r="r" b="b"/>
              <a:pathLst>
                <a:path w="9144000" h="78104">
                  <a:moveTo>
                    <a:pt x="0" y="77850"/>
                  </a:moveTo>
                  <a:lnTo>
                    <a:pt x="9144000" y="7785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7850"/>
                  </a:lnTo>
                  <a:close/>
                </a:path>
              </a:pathLst>
            </a:custGeom>
            <a:solidFill>
              <a:srgbClr val="438085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702050"/>
              <a:ext cx="9144000" cy="189230"/>
            </a:xfrm>
            <a:custGeom>
              <a:avLst/>
              <a:gdLst/>
              <a:ahLst/>
              <a:cxnLst/>
              <a:rect l="l" t="t" r="r" b="b"/>
              <a:pathLst>
                <a:path w="9144000" h="189229">
                  <a:moveTo>
                    <a:pt x="9144000" y="0"/>
                  </a:moveTo>
                  <a:lnTo>
                    <a:pt x="6413500" y="0"/>
                  </a:lnTo>
                  <a:lnTo>
                    <a:pt x="0" y="0"/>
                  </a:lnTo>
                  <a:lnTo>
                    <a:pt x="0" y="114300"/>
                  </a:lnTo>
                  <a:lnTo>
                    <a:pt x="6413500" y="114300"/>
                  </a:lnTo>
                  <a:lnTo>
                    <a:pt x="6413500" y="188976"/>
                  </a:lnTo>
                  <a:lnTo>
                    <a:pt x="9144000" y="188976"/>
                  </a:lnTo>
                  <a:lnTo>
                    <a:pt x="9144000" y="1143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380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0"/>
              <a:ext cx="9144000" cy="3702050"/>
            </a:xfrm>
            <a:custGeom>
              <a:avLst/>
              <a:gdLst/>
              <a:ahLst/>
              <a:cxnLst/>
              <a:rect l="l" t="t" r="r" b="b"/>
              <a:pathLst>
                <a:path w="9144000" h="3702050">
                  <a:moveTo>
                    <a:pt x="9144000" y="0"/>
                  </a:moveTo>
                  <a:lnTo>
                    <a:pt x="0" y="0"/>
                  </a:lnTo>
                  <a:lnTo>
                    <a:pt x="0" y="3702050"/>
                  </a:lnTo>
                  <a:lnTo>
                    <a:pt x="9144000" y="370205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244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764844" y="2688158"/>
            <a:ext cx="496189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dirty="0">
                <a:solidFill>
                  <a:srgbClr val="FFFFFF"/>
                </a:solidFill>
              </a:rPr>
              <a:t>Data</a:t>
            </a:r>
            <a:r>
              <a:rPr sz="4400" spc="-110" dirty="0">
                <a:solidFill>
                  <a:srgbClr val="FFFFFF"/>
                </a:solidFill>
              </a:rPr>
              <a:t> </a:t>
            </a:r>
            <a:r>
              <a:rPr sz="4400" dirty="0">
                <a:solidFill>
                  <a:srgbClr val="FFFFFF"/>
                </a:solidFill>
              </a:rPr>
              <a:t>Flow</a:t>
            </a:r>
            <a:r>
              <a:rPr sz="4400" spc="-70" dirty="0">
                <a:solidFill>
                  <a:srgbClr val="FFFFFF"/>
                </a:solidFill>
              </a:rPr>
              <a:t> </a:t>
            </a:r>
            <a:r>
              <a:rPr sz="4400" spc="-10" dirty="0">
                <a:solidFill>
                  <a:srgbClr val="FFFFFF"/>
                </a:solidFill>
              </a:rPr>
              <a:t>Diagrams</a:t>
            </a:r>
            <a:endParaRPr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94878" y="6483197"/>
            <a:ext cx="8953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50" dirty="0">
                <a:latin typeface="Times New Roman"/>
                <a:cs typeface="Times New Roman"/>
              </a:rPr>
              <a:t>3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2572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95"/>
              </a:spcBef>
            </a:pPr>
            <a:r>
              <a:rPr dirty="0"/>
              <a:t>Data</a:t>
            </a:r>
            <a:r>
              <a:rPr spc="-114" dirty="0"/>
              <a:t> </a:t>
            </a:r>
            <a:r>
              <a:rPr dirty="0"/>
              <a:t>Flow</a:t>
            </a:r>
            <a:r>
              <a:rPr spc="-75" dirty="0"/>
              <a:t> </a:t>
            </a:r>
            <a:r>
              <a:rPr dirty="0"/>
              <a:t>Diagrams</a:t>
            </a:r>
            <a:r>
              <a:rPr spc="-65" dirty="0"/>
              <a:t> </a:t>
            </a:r>
            <a:r>
              <a:rPr spc="-10" dirty="0"/>
              <a:t>(DFD)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5058" y="2269058"/>
            <a:ext cx="7797165" cy="221107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67335" marR="5080" indent="-255270">
              <a:lnSpc>
                <a:spcPct val="100800"/>
              </a:lnSpc>
              <a:spcBef>
                <a:spcPts val="80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DFDs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describe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the</a:t>
            </a:r>
            <a:r>
              <a:rPr sz="2800" spc="-5" dirty="0">
                <a:latin typeface="Georgia"/>
                <a:cs typeface="Georgia"/>
              </a:rPr>
              <a:t> </a:t>
            </a:r>
            <a:r>
              <a:rPr sz="2800" b="1" dirty="0">
                <a:latin typeface="Georgia"/>
                <a:cs typeface="Georgia"/>
              </a:rPr>
              <a:t>flow</a:t>
            </a:r>
            <a:r>
              <a:rPr sz="2800" b="1" spc="-85" dirty="0">
                <a:latin typeface="Georgia"/>
                <a:cs typeface="Georgia"/>
              </a:rPr>
              <a:t> </a:t>
            </a:r>
            <a:r>
              <a:rPr sz="2800" b="1" dirty="0">
                <a:latin typeface="Georgia"/>
                <a:cs typeface="Georgia"/>
              </a:rPr>
              <a:t>of</a:t>
            </a:r>
            <a:r>
              <a:rPr sz="2800" b="1" spc="-30" dirty="0">
                <a:latin typeface="Georgia"/>
                <a:cs typeface="Georgia"/>
              </a:rPr>
              <a:t> </a:t>
            </a:r>
            <a:r>
              <a:rPr sz="2800" b="1" dirty="0">
                <a:latin typeface="Georgia"/>
                <a:cs typeface="Georgia"/>
              </a:rPr>
              <a:t>data</a:t>
            </a:r>
            <a:r>
              <a:rPr sz="2800" b="1" spc="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or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information 	</a:t>
            </a:r>
            <a:r>
              <a:rPr sz="2800" dirty="0">
                <a:latin typeface="Georgia"/>
                <a:cs typeface="Georgia"/>
              </a:rPr>
              <a:t>into</a:t>
            </a:r>
            <a:r>
              <a:rPr sz="2800" spc="-9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and</a:t>
            </a:r>
            <a:r>
              <a:rPr sz="2800" spc="-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out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of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</a:t>
            </a:r>
            <a:r>
              <a:rPr sz="2800" spc="-10" dirty="0">
                <a:latin typeface="Georgia"/>
                <a:cs typeface="Georgia"/>
              </a:rPr>
              <a:t> system</a:t>
            </a:r>
            <a:endParaRPr sz="2800">
              <a:latin typeface="Georgia"/>
              <a:cs typeface="Georgia"/>
            </a:endParaRPr>
          </a:p>
          <a:p>
            <a:pPr marL="314325">
              <a:lnSpc>
                <a:spcPct val="100000"/>
              </a:lnSpc>
              <a:spcBef>
                <a:spcPts val="300"/>
              </a:spcBef>
              <a:tabLst>
                <a:tab pos="561340" algn="l"/>
              </a:tabLst>
            </a:pPr>
            <a:r>
              <a:rPr sz="26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600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sz="2600" b="1" i="1" dirty="0">
                <a:solidFill>
                  <a:srgbClr val="438085"/>
                </a:solidFill>
                <a:latin typeface="Georgia"/>
                <a:cs typeface="Georgia"/>
              </a:rPr>
              <a:t>what</a:t>
            </a:r>
            <a:r>
              <a:rPr sz="2600" b="1" i="1" spc="-105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600" b="1" i="1" dirty="0">
                <a:solidFill>
                  <a:srgbClr val="438085"/>
                </a:solidFill>
                <a:latin typeface="Georgia"/>
                <a:cs typeface="Georgia"/>
              </a:rPr>
              <a:t>does</a:t>
            </a:r>
            <a:r>
              <a:rPr sz="2600" b="1" i="1" spc="-45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600" b="1" i="1" dirty="0">
                <a:solidFill>
                  <a:srgbClr val="438085"/>
                </a:solidFill>
                <a:latin typeface="Georgia"/>
                <a:cs typeface="Georgia"/>
              </a:rPr>
              <a:t>the</a:t>
            </a:r>
            <a:r>
              <a:rPr sz="2600" b="1" i="1" spc="-4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600" b="1" i="1" dirty="0">
                <a:solidFill>
                  <a:srgbClr val="438085"/>
                </a:solidFill>
                <a:latin typeface="Georgia"/>
                <a:cs typeface="Georgia"/>
              </a:rPr>
              <a:t>system</a:t>
            </a:r>
            <a:r>
              <a:rPr sz="2600" b="1" i="1" spc="-15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600" b="1" i="1" dirty="0">
                <a:solidFill>
                  <a:srgbClr val="438085"/>
                </a:solidFill>
                <a:latin typeface="Georgia"/>
                <a:cs typeface="Georgia"/>
              </a:rPr>
              <a:t>do</a:t>
            </a:r>
            <a:r>
              <a:rPr sz="2600" b="1" i="1" spc="-6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600" b="1" i="1" dirty="0">
                <a:solidFill>
                  <a:srgbClr val="438085"/>
                </a:solidFill>
                <a:latin typeface="Georgia"/>
                <a:cs typeface="Georgia"/>
              </a:rPr>
              <a:t>to</a:t>
            </a:r>
            <a:r>
              <a:rPr sz="2600" b="1" i="1" spc="-35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600" b="1" i="1" dirty="0">
                <a:solidFill>
                  <a:srgbClr val="438085"/>
                </a:solidFill>
                <a:latin typeface="Georgia"/>
                <a:cs typeface="Georgia"/>
              </a:rPr>
              <a:t>the</a:t>
            </a:r>
            <a:r>
              <a:rPr sz="2600" b="1" i="1" spc="-7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600" b="1" i="1" spc="-10" dirty="0">
                <a:solidFill>
                  <a:srgbClr val="438085"/>
                </a:solidFill>
                <a:latin typeface="Georgia"/>
                <a:cs typeface="Georgia"/>
              </a:rPr>
              <a:t>data?</a:t>
            </a:r>
            <a:endParaRPr sz="2600">
              <a:latin typeface="Georgia"/>
              <a:cs typeface="Georgia"/>
            </a:endParaRPr>
          </a:p>
          <a:p>
            <a:pPr marL="267335" marR="62230" indent="-255270">
              <a:lnSpc>
                <a:spcPct val="100800"/>
              </a:lnSpc>
              <a:spcBef>
                <a:spcPts val="254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A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DFD</a:t>
            </a:r>
            <a:r>
              <a:rPr sz="2800" spc="-2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is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</a:t>
            </a:r>
            <a:r>
              <a:rPr sz="2800" spc="-2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graphic</a:t>
            </a:r>
            <a:r>
              <a:rPr sz="2800" spc="-2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representation</a:t>
            </a:r>
            <a:r>
              <a:rPr sz="2800" spc="-15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of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the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flow </a:t>
            </a:r>
            <a:r>
              <a:rPr sz="2800" spc="-25" dirty="0">
                <a:latin typeface="Georgia"/>
                <a:cs typeface="Georgia"/>
              </a:rPr>
              <a:t>of 	</a:t>
            </a:r>
            <a:r>
              <a:rPr sz="2800" dirty="0">
                <a:latin typeface="Georgia"/>
                <a:cs typeface="Georgia"/>
              </a:rPr>
              <a:t>data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or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information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through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</a:t>
            </a:r>
            <a:r>
              <a:rPr sz="2800" spc="-2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system</a:t>
            </a:r>
            <a:endParaRPr sz="2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369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4</a:t>
            </a:r>
            <a:r>
              <a:rPr spc="-50" dirty="0"/>
              <a:t> </a:t>
            </a:r>
            <a:r>
              <a:rPr dirty="0"/>
              <a:t>Main</a:t>
            </a:r>
            <a:r>
              <a:rPr spc="-30" dirty="0"/>
              <a:t> </a:t>
            </a:r>
            <a:r>
              <a:rPr spc="-10" dirty="0"/>
              <a:t>Elements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5972" y="2270200"/>
            <a:ext cx="7733030" cy="3985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335" marR="5080" indent="-255270">
              <a:lnSpc>
                <a:spcPct val="100299"/>
              </a:lnSpc>
              <a:spcBef>
                <a:spcPts val="100"/>
              </a:spcBef>
              <a:buClr>
                <a:srgbClr val="9F4DA2"/>
              </a:buClr>
              <a:buFont typeface="Georgia"/>
              <a:buChar char="•"/>
              <a:tabLst>
                <a:tab pos="268605" algn="l"/>
                <a:tab pos="3104515" algn="l"/>
              </a:tabLst>
            </a:pPr>
            <a:r>
              <a:rPr sz="2800" b="1" dirty="0">
                <a:latin typeface="Georgia"/>
                <a:cs typeface="Georgia"/>
              </a:rPr>
              <a:t>external</a:t>
            </a:r>
            <a:r>
              <a:rPr sz="2800" b="1" spc="-120" dirty="0">
                <a:latin typeface="Georgia"/>
                <a:cs typeface="Georgia"/>
              </a:rPr>
              <a:t> </a:t>
            </a:r>
            <a:r>
              <a:rPr sz="2800" b="1" spc="-10" dirty="0">
                <a:latin typeface="Georgia"/>
                <a:cs typeface="Georgia"/>
              </a:rPr>
              <a:t>entity</a:t>
            </a:r>
            <a:r>
              <a:rPr sz="2800" b="1" dirty="0">
                <a:latin typeface="Georgia"/>
                <a:cs typeface="Georgia"/>
              </a:rPr>
              <a:t>	</a:t>
            </a:r>
            <a:r>
              <a:rPr sz="2800" dirty="0">
                <a:latin typeface="Georgia"/>
                <a:cs typeface="Georgia"/>
              </a:rPr>
              <a:t>-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people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or</a:t>
            </a:r>
            <a:r>
              <a:rPr sz="2800" spc="-2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organisations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spc="-20" dirty="0">
                <a:latin typeface="Georgia"/>
                <a:cs typeface="Georgia"/>
              </a:rPr>
              <a:t>that 	</a:t>
            </a:r>
            <a:r>
              <a:rPr sz="2800" dirty="0">
                <a:latin typeface="Georgia"/>
                <a:cs typeface="Georgia"/>
              </a:rPr>
              <a:t>send</a:t>
            </a:r>
            <a:r>
              <a:rPr sz="2800" spc="-8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data</a:t>
            </a:r>
            <a:r>
              <a:rPr sz="2800" spc="-5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into</a:t>
            </a:r>
            <a:r>
              <a:rPr sz="2800" spc="-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the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system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or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receive</a:t>
            </a:r>
            <a:r>
              <a:rPr sz="2800" spc="-6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data</a:t>
            </a:r>
            <a:r>
              <a:rPr sz="2800" spc="-15" dirty="0">
                <a:latin typeface="Georgia"/>
                <a:cs typeface="Georgia"/>
              </a:rPr>
              <a:t> </a:t>
            </a:r>
            <a:r>
              <a:rPr sz="2800" spc="-20" dirty="0">
                <a:latin typeface="Georgia"/>
                <a:cs typeface="Georgia"/>
              </a:rPr>
              <a:t>from 	</a:t>
            </a:r>
            <a:r>
              <a:rPr sz="2800" dirty="0">
                <a:latin typeface="Georgia"/>
                <a:cs typeface="Georgia"/>
              </a:rPr>
              <a:t>the</a:t>
            </a:r>
            <a:r>
              <a:rPr sz="2800" spc="-8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system</a:t>
            </a:r>
            <a:endParaRPr sz="2800">
              <a:latin typeface="Georgia"/>
              <a:cs typeface="Georgia"/>
            </a:endParaRPr>
          </a:p>
          <a:p>
            <a:pPr marL="267335" marR="38735" indent="-255270">
              <a:lnSpc>
                <a:spcPct val="100000"/>
              </a:lnSpc>
              <a:spcBef>
                <a:spcPts val="315"/>
              </a:spcBef>
              <a:buClr>
                <a:srgbClr val="9F4DA2"/>
              </a:buClr>
              <a:buFont typeface="Georgia"/>
              <a:buChar char="•"/>
              <a:tabLst>
                <a:tab pos="268605" algn="l"/>
              </a:tabLst>
            </a:pPr>
            <a:r>
              <a:rPr sz="2800" b="1" dirty="0">
                <a:latin typeface="Georgia"/>
                <a:cs typeface="Georgia"/>
              </a:rPr>
              <a:t>process</a:t>
            </a:r>
            <a:r>
              <a:rPr sz="2800" b="1" spc="-1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-</a:t>
            </a:r>
            <a:r>
              <a:rPr sz="2800" spc="-1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models</a:t>
            </a:r>
            <a:r>
              <a:rPr sz="2800" spc="-6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what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happens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to</a:t>
            </a:r>
            <a:r>
              <a:rPr sz="2800" spc="-1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the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data</a:t>
            </a:r>
            <a:r>
              <a:rPr sz="2800" spc="-25" dirty="0">
                <a:latin typeface="Georgia"/>
                <a:cs typeface="Georgia"/>
              </a:rPr>
              <a:t> </a:t>
            </a:r>
            <a:r>
              <a:rPr sz="2800" spc="-20" dirty="0">
                <a:latin typeface="Georgia"/>
                <a:cs typeface="Georgia"/>
              </a:rPr>
              <a:t>i.e. 	</a:t>
            </a:r>
            <a:r>
              <a:rPr sz="2800" dirty="0">
                <a:latin typeface="Georgia"/>
                <a:cs typeface="Georgia"/>
              </a:rPr>
              <a:t>transforms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incoming</a:t>
            </a:r>
            <a:r>
              <a:rPr sz="2800" spc="-9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data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into</a:t>
            </a:r>
            <a:r>
              <a:rPr sz="2800" spc="-6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outgoing</a:t>
            </a:r>
            <a:r>
              <a:rPr sz="2800" spc="-80" dirty="0">
                <a:latin typeface="Georgia"/>
                <a:cs typeface="Georgia"/>
              </a:rPr>
              <a:t> </a:t>
            </a:r>
            <a:r>
              <a:rPr sz="2800" spc="-20" dirty="0">
                <a:latin typeface="Georgia"/>
                <a:cs typeface="Georgia"/>
              </a:rPr>
              <a:t>data</a:t>
            </a:r>
            <a:endParaRPr sz="2800">
              <a:latin typeface="Georgia"/>
              <a:cs typeface="Georgia"/>
            </a:endParaRPr>
          </a:p>
          <a:p>
            <a:pPr marL="267335" marR="40005" indent="-255270">
              <a:lnSpc>
                <a:spcPct val="100000"/>
              </a:lnSpc>
              <a:spcBef>
                <a:spcPts val="305"/>
              </a:spcBef>
              <a:buClr>
                <a:srgbClr val="9F4DA2"/>
              </a:buClr>
              <a:buFont typeface="Georgia"/>
              <a:buChar char="•"/>
              <a:tabLst>
                <a:tab pos="268605" algn="l"/>
              </a:tabLst>
            </a:pPr>
            <a:r>
              <a:rPr sz="2800" b="1" dirty="0">
                <a:latin typeface="Georgia"/>
                <a:cs typeface="Georgia"/>
              </a:rPr>
              <a:t>data</a:t>
            </a:r>
            <a:r>
              <a:rPr sz="2800" b="1" spc="-55" dirty="0">
                <a:latin typeface="Georgia"/>
                <a:cs typeface="Georgia"/>
              </a:rPr>
              <a:t> </a:t>
            </a:r>
            <a:r>
              <a:rPr sz="2800" b="1" dirty="0">
                <a:latin typeface="Georgia"/>
                <a:cs typeface="Georgia"/>
              </a:rPr>
              <a:t>store</a:t>
            </a:r>
            <a:r>
              <a:rPr sz="2800" b="1" spc="-11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-</a:t>
            </a:r>
            <a:r>
              <a:rPr sz="2800" spc="-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represents</a:t>
            </a:r>
            <a:r>
              <a:rPr sz="2800" spc="-9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permanent</a:t>
            </a:r>
            <a:r>
              <a:rPr sz="2800" spc="-11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data</a:t>
            </a:r>
            <a:r>
              <a:rPr sz="2800" spc="-1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that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spc="-25" dirty="0">
                <a:latin typeface="Georgia"/>
                <a:cs typeface="Georgia"/>
              </a:rPr>
              <a:t>is 	</a:t>
            </a:r>
            <a:r>
              <a:rPr sz="2800" dirty="0">
                <a:latin typeface="Georgia"/>
                <a:cs typeface="Georgia"/>
              </a:rPr>
              <a:t>used</a:t>
            </a:r>
            <a:r>
              <a:rPr sz="2800" spc="-6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by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the</a:t>
            </a:r>
            <a:r>
              <a:rPr sz="2800" spc="-2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system</a:t>
            </a:r>
            <a:endParaRPr sz="2800">
              <a:latin typeface="Georgia"/>
              <a:cs typeface="Georgia"/>
            </a:endParaRPr>
          </a:p>
          <a:p>
            <a:pPr marL="267335" marR="203835" indent="-255270">
              <a:lnSpc>
                <a:spcPct val="100000"/>
              </a:lnSpc>
              <a:spcBef>
                <a:spcPts val="305"/>
              </a:spcBef>
              <a:buClr>
                <a:srgbClr val="9F4DA2"/>
              </a:buClr>
              <a:buFont typeface="Georgia"/>
              <a:buChar char="•"/>
              <a:tabLst>
                <a:tab pos="268605" algn="l"/>
              </a:tabLst>
            </a:pPr>
            <a:r>
              <a:rPr sz="2800" b="1" dirty="0">
                <a:latin typeface="Georgia"/>
                <a:cs typeface="Georgia"/>
              </a:rPr>
              <a:t>data</a:t>
            </a:r>
            <a:r>
              <a:rPr sz="2800" b="1" spc="-65" dirty="0">
                <a:latin typeface="Georgia"/>
                <a:cs typeface="Georgia"/>
              </a:rPr>
              <a:t> </a:t>
            </a:r>
            <a:r>
              <a:rPr sz="2800" b="1" dirty="0">
                <a:latin typeface="Georgia"/>
                <a:cs typeface="Georgia"/>
              </a:rPr>
              <a:t>flow</a:t>
            </a:r>
            <a:r>
              <a:rPr sz="2800" b="1" spc="-114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-</a:t>
            </a:r>
            <a:r>
              <a:rPr sz="2800" spc="-1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models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the</a:t>
            </a:r>
            <a:r>
              <a:rPr sz="2800" spc="-1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actual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flow</a:t>
            </a:r>
            <a:r>
              <a:rPr sz="2800" spc="-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of</a:t>
            </a:r>
            <a:r>
              <a:rPr sz="2800" spc="-2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the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spc="-20" dirty="0">
                <a:latin typeface="Georgia"/>
                <a:cs typeface="Georgia"/>
              </a:rPr>
              <a:t>data 	</a:t>
            </a:r>
            <a:r>
              <a:rPr sz="2800" dirty="0">
                <a:latin typeface="Georgia"/>
                <a:cs typeface="Georgia"/>
              </a:rPr>
              <a:t>between</a:t>
            </a:r>
            <a:r>
              <a:rPr sz="2800" spc="-16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the</a:t>
            </a:r>
            <a:r>
              <a:rPr sz="2800" spc="-2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other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elements</a:t>
            </a:r>
            <a:endParaRPr sz="2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409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Notation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46650" y="2965450"/>
            <a:ext cx="3060700" cy="774700"/>
            <a:chOff x="4946650" y="2965450"/>
            <a:chExt cx="3060700" cy="774700"/>
          </a:xfrm>
        </p:grpSpPr>
        <p:sp>
          <p:nvSpPr>
            <p:cNvPr id="4" name="object 4"/>
            <p:cNvSpPr/>
            <p:nvPr/>
          </p:nvSpPr>
          <p:spPr>
            <a:xfrm>
              <a:off x="4953000" y="2971800"/>
              <a:ext cx="3048000" cy="762000"/>
            </a:xfrm>
            <a:custGeom>
              <a:avLst/>
              <a:gdLst/>
              <a:ahLst/>
              <a:cxnLst/>
              <a:rect l="l" t="t" r="r" b="b"/>
              <a:pathLst>
                <a:path w="3048000" h="762000">
                  <a:moveTo>
                    <a:pt x="0" y="762000"/>
                  </a:moveTo>
                  <a:lnTo>
                    <a:pt x="3048000" y="762000"/>
                  </a:lnTo>
                  <a:lnTo>
                    <a:pt x="3048000" y="0"/>
                  </a:lnTo>
                  <a:lnTo>
                    <a:pt x="0" y="0"/>
                  </a:lnTo>
                  <a:lnTo>
                    <a:pt x="0" y="7620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61711" y="2971800"/>
              <a:ext cx="2439670" cy="762000"/>
            </a:xfrm>
            <a:custGeom>
              <a:avLst/>
              <a:gdLst/>
              <a:ahLst/>
              <a:cxnLst/>
              <a:rect l="l" t="t" r="r" b="b"/>
              <a:pathLst>
                <a:path w="2439670" h="762000">
                  <a:moveTo>
                    <a:pt x="0" y="152273"/>
                  </a:moveTo>
                  <a:lnTo>
                    <a:pt x="1524" y="0"/>
                  </a:lnTo>
                </a:path>
                <a:path w="2439670" h="762000">
                  <a:moveTo>
                    <a:pt x="2439289" y="511428"/>
                  </a:moveTo>
                  <a:lnTo>
                    <a:pt x="1869693" y="762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50555" y="3620134"/>
              <a:ext cx="155067" cy="666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953000" y="3124390"/>
            <a:ext cx="3048000" cy="6096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753745">
              <a:lnSpc>
                <a:spcPct val="100000"/>
              </a:lnSpc>
              <a:spcBef>
                <a:spcPts val="85"/>
              </a:spcBef>
            </a:pPr>
            <a:r>
              <a:rPr sz="2300" dirty="0">
                <a:latin typeface="Arial MT"/>
                <a:cs typeface="Arial MT"/>
              </a:rPr>
              <a:t>Process</a:t>
            </a:r>
            <a:r>
              <a:rPr sz="2300" spc="-105" dirty="0">
                <a:latin typeface="Arial MT"/>
                <a:cs typeface="Arial MT"/>
              </a:rPr>
              <a:t> </a:t>
            </a:r>
            <a:r>
              <a:rPr sz="2300" spc="-25" dirty="0">
                <a:latin typeface="Arial MT"/>
                <a:cs typeface="Arial MT"/>
              </a:rPr>
              <a:t>box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81600" y="5334000"/>
            <a:ext cx="607060" cy="392430"/>
          </a:xfrm>
          <a:prstGeom prst="rect">
            <a:avLst/>
          </a:prstGeom>
          <a:ln w="14224">
            <a:solidFill>
              <a:srgbClr val="00000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224790">
              <a:lnSpc>
                <a:spcPct val="100000"/>
              </a:lnSpc>
              <a:spcBef>
                <a:spcPts val="110"/>
              </a:spcBef>
            </a:pPr>
            <a:r>
              <a:rPr sz="2300" spc="-50" dirty="0">
                <a:latin typeface="Arial MT"/>
                <a:cs typeface="Arial MT"/>
              </a:rPr>
              <a:t>D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88152" y="5334000"/>
            <a:ext cx="2419350" cy="39243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546100">
              <a:lnSpc>
                <a:spcPct val="100000"/>
              </a:lnSpc>
              <a:spcBef>
                <a:spcPts val="110"/>
              </a:spcBef>
            </a:pPr>
            <a:r>
              <a:rPr sz="2300" dirty="0">
                <a:latin typeface="Arial MT"/>
                <a:cs typeface="Arial MT"/>
              </a:rPr>
              <a:t>Data</a:t>
            </a:r>
            <a:r>
              <a:rPr sz="2300" spc="-90" dirty="0">
                <a:latin typeface="Arial MT"/>
                <a:cs typeface="Arial MT"/>
              </a:rPr>
              <a:t> </a:t>
            </a:r>
            <a:r>
              <a:rPr sz="2300" spc="-20" dirty="0">
                <a:latin typeface="Arial MT"/>
                <a:cs typeface="Arial MT"/>
              </a:rPr>
              <a:t>Store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10200" y="3886200"/>
            <a:ext cx="1995805" cy="762000"/>
          </a:xfrm>
          <a:custGeom>
            <a:avLst/>
            <a:gdLst/>
            <a:ahLst/>
            <a:cxnLst/>
            <a:rect l="l" t="t" r="r" b="b"/>
            <a:pathLst>
              <a:path w="1995804" h="762000">
                <a:moveTo>
                  <a:pt x="0" y="381000"/>
                </a:moveTo>
                <a:lnTo>
                  <a:pt x="9107" y="329296"/>
                </a:lnTo>
                <a:lnTo>
                  <a:pt x="35637" y="279708"/>
                </a:lnTo>
                <a:lnTo>
                  <a:pt x="78400" y="232689"/>
                </a:lnTo>
                <a:lnTo>
                  <a:pt x="136209" y="188693"/>
                </a:lnTo>
                <a:lnTo>
                  <a:pt x="170385" y="167971"/>
                </a:lnTo>
                <a:lnTo>
                  <a:pt x="207876" y="148174"/>
                </a:lnTo>
                <a:lnTo>
                  <a:pt x="248534" y="129360"/>
                </a:lnTo>
                <a:lnTo>
                  <a:pt x="292211" y="111585"/>
                </a:lnTo>
                <a:lnTo>
                  <a:pt x="338757" y="94906"/>
                </a:lnTo>
                <a:lnTo>
                  <a:pt x="388026" y="79380"/>
                </a:lnTo>
                <a:lnTo>
                  <a:pt x="439867" y="65063"/>
                </a:lnTo>
                <a:lnTo>
                  <a:pt x="494133" y="52013"/>
                </a:lnTo>
                <a:lnTo>
                  <a:pt x="550675" y="40286"/>
                </a:lnTo>
                <a:lnTo>
                  <a:pt x="609344" y="29938"/>
                </a:lnTo>
                <a:lnTo>
                  <a:pt x="669991" y="21026"/>
                </a:lnTo>
                <a:lnTo>
                  <a:pt x="732469" y="13608"/>
                </a:lnTo>
                <a:lnTo>
                  <a:pt x="796629" y="7739"/>
                </a:lnTo>
                <a:lnTo>
                  <a:pt x="862321" y="3477"/>
                </a:lnTo>
                <a:lnTo>
                  <a:pt x="929398" y="878"/>
                </a:lnTo>
                <a:lnTo>
                  <a:pt x="997712" y="0"/>
                </a:lnTo>
                <a:lnTo>
                  <a:pt x="1066025" y="878"/>
                </a:lnTo>
                <a:lnTo>
                  <a:pt x="1133104" y="3477"/>
                </a:lnTo>
                <a:lnTo>
                  <a:pt x="1198800" y="7739"/>
                </a:lnTo>
                <a:lnTo>
                  <a:pt x="1262963" y="13608"/>
                </a:lnTo>
                <a:lnTo>
                  <a:pt x="1325446" y="21026"/>
                </a:lnTo>
                <a:lnTo>
                  <a:pt x="1386099" y="29938"/>
                </a:lnTo>
                <a:lnTo>
                  <a:pt x="1444775" y="40286"/>
                </a:lnTo>
                <a:lnTo>
                  <a:pt x="1501323" y="52013"/>
                </a:lnTo>
                <a:lnTo>
                  <a:pt x="1555596" y="65063"/>
                </a:lnTo>
                <a:lnTo>
                  <a:pt x="1607445" y="79380"/>
                </a:lnTo>
                <a:lnTo>
                  <a:pt x="1656721" y="94906"/>
                </a:lnTo>
                <a:lnTo>
                  <a:pt x="1703276" y="111585"/>
                </a:lnTo>
                <a:lnTo>
                  <a:pt x="1746961" y="129360"/>
                </a:lnTo>
                <a:lnTo>
                  <a:pt x="1787627" y="148174"/>
                </a:lnTo>
                <a:lnTo>
                  <a:pt x="1825125" y="167971"/>
                </a:lnTo>
                <a:lnTo>
                  <a:pt x="1859308" y="188693"/>
                </a:lnTo>
                <a:lnTo>
                  <a:pt x="1917130" y="232689"/>
                </a:lnTo>
                <a:lnTo>
                  <a:pt x="1959904" y="279708"/>
                </a:lnTo>
                <a:lnTo>
                  <a:pt x="1986441" y="329296"/>
                </a:lnTo>
                <a:lnTo>
                  <a:pt x="1995551" y="381000"/>
                </a:lnTo>
                <a:lnTo>
                  <a:pt x="1993248" y="407087"/>
                </a:lnTo>
                <a:lnTo>
                  <a:pt x="1986441" y="432703"/>
                </a:lnTo>
                <a:lnTo>
                  <a:pt x="1959904" y="482291"/>
                </a:lnTo>
                <a:lnTo>
                  <a:pt x="1917130" y="529310"/>
                </a:lnTo>
                <a:lnTo>
                  <a:pt x="1859308" y="573306"/>
                </a:lnTo>
                <a:lnTo>
                  <a:pt x="1825125" y="594028"/>
                </a:lnTo>
                <a:lnTo>
                  <a:pt x="1787627" y="613825"/>
                </a:lnTo>
                <a:lnTo>
                  <a:pt x="1746961" y="632639"/>
                </a:lnTo>
                <a:lnTo>
                  <a:pt x="1703276" y="650414"/>
                </a:lnTo>
                <a:lnTo>
                  <a:pt x="1656721" y="667093"/>
                </a:lnTo>
                <a:lnTo>
                  <a:pt x="1607445" y="682619"/>
                </a:lnTo>
                <a:lnTo>
                  <a:pt x="1555596" y="696936"/>
                </a:lnTo>
                <a:lnTo>
                  <a:pt x="1501323" y="709986"/>
                </a:lnTo>
                <a:lnTo>
                  <a:pt x="1444775" y="721713"/>
                </a:lnTo>
                <a:lnTo>
                  <a:pt x="1386099" y="732061"/>
                </a:lnTo>
                <a:lnTo>
                  <a:pt x="1325446" y="740973"/>
                </a:lnTo>
                <a:lnTo>
                  <a:pt x="1262963" y="748391"/>
                </a:lnTo>
                <a:lnTo>
                  <a:pt x="1198800" y="754260"/>
                </a:lnTo>
                <a:lnTo>
                  <a:pt x="1133104" y="758522"/>
                </a:lnTo>
                <a:lnTo>
                  <a:pt x="1066025" y="761121"/>
                </a:lnTo>
                <a:lnTo>
                  <a:pt x="997712" y="762000"/>
                </a:lnTo>
                <a:lnTo>
                  <a:pt x="929398" y="761121"/>
                </a:lnTo>
                <a:lnTo>
                  <a:pt x="862321" y="758522"/>
                </a:lnTo>
                <a:lnTo>
                  <a:pt x="796629" y="754260"/>
                </a:lnTo>
                <a:lnTo>
                  <a:pt x="732469" y="748391"/>
                </a:lnTo>
                <a:lnTo>
                  <a:pt x="669991" y="740973"/>
                </a:lnTo>
                <a:lnTo>
                  <a:pt x="609344" y="732061"/>
                </a:lnTo>
                <a:lnTo>
                  <a:pt x="550675" y="721713"/>
                </a:lnTo>
                <a:lnTo>
                  <a:pt x="494133" y="709986"/>
                </a:lnTo>
                <a:lnTo>
                  <a:pt x="439867" y="696936"/>
                </a:lnTo>
                <a:lnTo>
                  <a:pt x="388026" y="682619"/>
                </a:lnTo>
                <a:lnTo>
                  <a:pt x="338757" y="667093"/>
                </a:lnTo>
                <a:lnTo>
                  <a:pt x="292211" y="650414"/>
                </a:lnTo>
                <a:lnTo>
                  <a:pt x="248534" y="632639"/>
                </a:lnTo>
                <a:lnTo>
                  <a:pt x="207876" y="613825"/>
                </a:lnTo>
                <a:lnTo>
                  <a:pt x="170385" y="594028"/>
                </a:lnTo>
                <a:lnTo>
                  <a:pt x="136209" y="573306"/>
                </a:lnTo>
                <a:lnTo>
                  <a:pt x="78400" y="529310"/>
                </a:lnTo>
                <a:lnTo>
                  <a:pt x="35637" y="482291"/>
                </a:lnTo>
                <a:lnTo>
                  <a:pt x="9107" y="432703"/>
                </a:lnTo>
                <a:lnTo>
                  <a:pt x="0" y="3810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898260" y="3963746"/>
            <a:ext cx="1099820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10" dirty="0">
                <a:latin typeface="Arial MT"/>
                <a:cs typeface="Arial MT"/>
              </a:rPr>
              <a:t>External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39739" y="4149597"/>
            <a:ext cx="76073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-10" dirty="0">
                <a:latin typeface="Arial MT"/>
                <a:cs typeface="Arial MT"/>
              </a:rPr>
              <a:t>Entity</a:t>
            </a:r>
            <a:endParaRPr sz="23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022850" y="2276475"/>
            <a:ext cx="2609850" cy="301625"/>
            <a:chOff x="5022850" y="2276475"/>
            <a:chExt cx="2609850" cy="301625"/>
          </a:xfrm>
        </p:grpSpPr>
        <p:sp>
          <p:nvSpPr>
            <p:cNvPr id="14" name="object 14"/>
            <p:cNvSpPr/>
            <p:nvPr/>
          </p:nvSpPr>
          <p:spPr>
            <a:xfrm>
              <a:off x="5029200" y="2427351"/>
              <a:ext cx="2597150" cy="1905"/>
            </a:xfrm>
            <a:custGeom>
              <a:avLst/>
              <a:gdLst/>
              <a:ahLst/>
              <a:cxnLst/>
              <a:rect l="l" t="t" r="r" b="b"/>
              <a:pathLst>
                <a:path w="2597150" h="1905">
                  <a:moveTo>
                    <a:pt x="0" y="0"/>
                  </a:moveTo>
                  <a:lnTo>
                    <a:pt x="2597150" y="152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215251" y="2282825"/>
              <a:ext cx="411480" cy="288925"/>
            </a:xfrm>
            <a:custGeom>
              <a:avLst/>
              <a:gdLst/>
              <a:ahLst/>
              <a:cxnLst/>
              <a:rect l="l" t="t" r="r" b="b"/>
              <a:pathLst>
                <a:path w="411479" h="288925">
                  <a:moveTo>
                    <a:pt x="0" y="0"/>
                  </a:moveTo>
                  <a:lnTo>
                    <a:pt x="144399" y="144399"/>
                  </a:lnTo>
                  <a:lnTo>
                    <a:pt x="0" y="288925"/>
                  </a:lnTo>
                  <a:lnTo>
                    <a:pt x="411099" y="1443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15251" y="2282825"/>
              <a:ext cx="411480" cy="288925"/>
            </a:xfrm>
            <a:custGeom>
              <a:avLst/>
              <a:gdLst/>
              <a:ahLst/>
              <a:cxnLst/>
              <a:rect l="l" t="t" r="r" b="b"/>
              <a:pathLst>
                <a:path w="411479" h="288925">
                  <a:moveTo>
                    <a:pt x="411099" y="144399"/>
                  </a:moveTo>
                  <a:lnTo>
                    <a:pt x="0" y="288925"/>
                  </a:lnTo>
                  <a:lnTo>
                    <a:pt x="144399" y="144399"/>
                  </a:lnTo>
                  <a:lnTo>
                    <a:pt x="0" y="0"/>
                  </a:lnTo>
                  <a:lnTo>
                    <a:pt x="411099" y="14439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029325" y="2037080"/>
            <a:ext cx="133350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latin typeface="Arial MT"/>
                <a:cs typeface="Arial MT"/>
              </a:rPr>
              <a:t>Data</a:t>
            </a:r>
            <a:r>
              <a:rPr sz="2300" spc="-85" dirty="0">
                <a:latin typeface="Arial MT"/>
                <a:cs typeface="Arial MT"/>
              </a:rPr>
              <a:t> </a:t>
            </a:r>
            <a:r>
              <a:rPr sz="2300" spc="-20" dirty="0">
                <a:latin typeface="Arial MT"/>
                <a:cs typeface="Arial MT"/>
              </a:rPr>
              <a:t>Flow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4844" y="2267457"/>
            <a:ext cx="20669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Data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Flow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4844" y="3241929"/>
            <a:ext cx="161544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spc="-10" dirty="0">
                <a:latin typeface="Times New Roman"/>
                <a:cs typeface="Times New Roman"/>
              </a:rPr>
              <a:t>Process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4844" y="4220667"/>
            <a:ext cx="28390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External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Entity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4844" y="5195417"/>
            <a:ext cx="20910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Data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Store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94878" y="6483197"/>
            <a:ext cx="8953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50" dirty="0">
                <a:latin typeface="Times New Roman"/>
                <a:cs typeface="Times New Roman"/>
              </a:rPr>
              <a:t>4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2572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95"/>
              </a:spcBef>
            </a:pPr>
            <a:r>
              <a:rPr dirty="0"/>
              <a:t>Levelled</a:t>
            </a:r>
            <a:r>
              <a:rPr spc="-195" dirty="0"/>
              <a:t> </a:t>
            </a:r>
            <a:r>
              <a:rPr spc="-20" dirty="0"/>
              <a:t>DFDs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5058" y="2269058"/>
            <a:ext cx="7821930" cy="2974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335" marR="56515" indent="-255270">
              <a:lnSpc>
                <a:spcPct val="100299"/>
              </a:lnSpc>
              <a:spcBef>
                <a:spcPts val="100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Even</a:t>
            </a:r>
            <a:r>
              <a:rPr sz="2800" spc="-12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</a:t>
            </a:r>
            <a:r>
              <a:rPr sz="2800" spc="-2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small</a:t>
            </a:r>
            <a:r>
              <a:rPr sz="2800" spc="-2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system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could</a:t>
            </a:r>
            <a:r>
              <a:rPr sz="2800" spc="-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have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many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processes 	</a:t>
            </a:r>
            <a:r>
              <a:rPr sz="2800" dirty="0">
                <a:latin typeface="Georgia"/>
                <a:cs typeface="Georgia"/>
              </a:rPr>
              <a:t>and</a:t>
            </a:r>
            <a:r>
              <a:rPr sz="2800" spc="-5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data</a:t>
            </a:r>
            <a:r>
              <a:rPr sz="2800" spc="-6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flows</a:t>
            </a:r>
            <a:r>
              <a:rPr sz="2800" spc="-1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and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DFD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could</a:t>
            </a:r>
            <a:r>
              <a:rPr sz="2800" spc="-1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be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large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spc="-25" dirty="0">
                <a:latin typeface="Georgia"/>
                <a:cs typeface="Georgia"/>
              </a:rPr>
              <a:t>and 	</a:t>
            </a:r>
            <a:r>
              <a:rPr sz="2800" spc="-20" dirty="0">
                <a:latin typeface="Georgia"/>
                <a:cs typeface="Georgia"/>
              </a:rPr>
              <a:t>messy</a:t>
            </a:r>
            <a:endParaRPr sz="2800">
              <a:latin typeface="Georgia"/>
              <a:cs typeface="Georgia"/>
            </a:endParaRPr>
          </a:p>
          <a:p>
            <a:pPr marL="561340" marR="5080" indent="-247015">
              <a:lnSpc>
                <a:spcPct val="100400"/>
              </a:lnSpc>
              <a:spcBef>
                <a:spcPts val="285"/>
              </a:spcBef>
              <a:tabLst>
                <a:tab pos="561340" algn="l"/>
              </a:tabLst>
            </a:pPr>
            <a:r>
              <a:rPr sz="26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600" dirty="0">
                <a:solidFill>
                  <a:srgbClr val="438085"/>
                </a:solidFill>
                <a:latin typeface="Georgia"/>
                <a:cs typeface="Georgia"/>
              </a:rPr>
              <a:t>	use</a:t>
            </a:r>
            <a:r>
              <a:rPr sz="2600" spc="-85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438085"/>
                </a:solidFill>
                <a:latin typeface="Georgia"/>
                <a:cs typeface="Georgia"/>
              </a:rPr>
              <a:t>levelled</a:t>
            </a:r>
            <a:r>
              <a:rPr sz="2600" spc="-9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438085"/>
                </a:solidFill>
                <a:latin typeface="Georgia"/>
                <a:cs typeface="Georgia"/>
              </a:rPr>
              <a:t>DFDs</a:t>
            </a:r>
            <a:r>
              <a:rPr sz="2600" spc="-5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438085"/>
                </a:solidFill>
                <a:latin typeface="Georgia"/>
                <a:cs typeface="Georgia"/>
              </a:rPr>
              <a:t>-</a:t>
            </a:r>
            <a:r>
              <a:rPr sz="2600" spc="-8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438085"/>
                </a:solidFill>
                <a:latin typeface="Georgia"/>
                <a:cs typeface="Georgia"/>
              </a:rPr>
              <a:t>view</a:t>
            </a:r>
            <a:r>
              <a:rPr sz="2600" spc="-6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438085"/>
                </a:solidFill>
                <a:latin typeface="Georgia"/>
                <a:cs typeface="Georgia"/>
              </a:rPr>
              <a:t>system</a:t>
            </a:r>
            <a:r>
              <a:rPr sz="2600" spc="-3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438085"/>
                </a:solidFill>
                <a:latin typeface="Georgia"/>
                <a:cs typeface="Georgia"/>
              </a:rPr>
              <a:t>at</a:t>
            </a:r>
            <a:r>
              <a:rPr sz="2600" spc="-45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438085"/>
                </a:solidFill>
                <a:latin typeface="Georgia"/>
                <a:cs typeface="Georgia"/>
              </a:rPr>
              <a:t>different</a:t>
            </a:r>
            <a:r>
              <a:rPr sz="2600" spc="-2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438085"/>
                </a:solidFill>
                <a:latin typeface="Georgia"/>
                <a:cs typeface="Georgia"/>
              </a:rPr>
              <a:t>levels </a:t>
            </a:r>
            <a:r>
              <a:rPr sz="2600" dirty="0">
                <a:solidFill>
                  <a:srgbClr val="438085"/>
                </a:solidFill>
                <a:latin typeface="Georgia"/>
                <a:cs typeface="Georgia"/>
              </a:rPr>
              <a:t>of</a:t>
            </a:r>
            <a:r>
              <a:rPr sz="2600" spc="-6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438085"/>
                </a:solidFill>
                <a:latin typeface="Georgia"/>
                <a:cs typeface="Georgia"/>
              </a:rPr>
              <a:t>detail</a:t>
            </a:r>
            <a:endParaRPr sz="2600">
              <a:latin typeface="Georgia"/>
              <a:cs typeface="Georgia"/>
            </a:endParaRPr>
          </a:p>
          <a:p>
            <a:pPr marL="561340" marR="700405" indent="-247015">
              <a:lnSpc>
                <a:spcPct val="100400"/>
              </a:lnSpc>
              <a:spcBef>
                <a:spcPts val="290"/>
              </a:spcBef>
              <a:tabLst>
                <a:tab pos="561340" algn="l"/>
              </a:tabLst>
            </a:pPr>
            <a:r>
              <a:rPr sz="26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600" dirty="0">
                <a:solidFill>
                  <a:srgbClr val="438085"/>
                </a:solidFill>
                <a:latin typeface="Georgia"/>
                <a:cs typeface="Georgia"/>
              </a:rPr>
              <a:t>	one</a:t>
            </a:r>
            <a:r>
              <a:rPr sz="2600" spc="-125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438085"/>
                </a:solidFill>
                <a:latin typeface="Georgia"/>
                <a:cs typeface="Georgia"/>
              </a:rPr>
              <a:t>overview</a:t>
            </a:r>
            <a:r>
              <a:rPr sz="2600" spc="-75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438085"/>
                </a:solidFill>
                <a:latin typeface="Georgia"/>
                <a:cs typeface="Georgia"/>
              </a:rPr>
              <a:t>and</a:t>
            </a:r>
            <a:r>
              <a:rPr sz="2600" spc="-8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438085"/>
                </a:solidFill>
                <a:latin typeface="Georgia"/>
                <a:cs typeface="Georgia"/>
              </a:rPr>
              <a:t>many</a:t>
            </a:r>
            <a:r>
              <a:rPr sz="2600" spc="-85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438085"/>
                </a:solidFill>
                <a:latin typeface="Georgia"/>
                <a:cs typeface="Georgia"/>
              </a:rPr>
              <a:t>progressively</a:t>
            </a:r>
            <a:r>
              <a:rPr sz="2600" spc="-50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438085"/>
                </a:solidFill>
                <a:latin typeface="Georgia"/>
                <a:cs typeface="Georgia"/>
              </a:rPr>
              <a:t>greater </a:t>
            </a:r>
            <a:r>
              <a:rPr sz="2600" dirty="0">
                <a:solidFill>
                  <a:srgbClr val="438085"/>
                </a:solidFill>
                <a:latin typeface="Georgia"/>
                <a:cs typeface="Georgia"/>
              </a:rPr>
              <a:t>detailed</a:t>
            </a:r>
            <a:r>
              <a:rPr sz="2600" spc="-105" dirty="0">
                <a:solidFill>
                  <a:srgbClr val="438085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438085"/>
                </a:solidFill>
                <a:latin typeface="Georgia"/>
                <a:cs typeface="Georgia"/>
              </a:rPr>
              <a:t>views</a:t>
            </a:r>
            <a:endParaRPr sz="2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95"/>
              </a:spcBef>
            </a:pPr>
            <a:r>
              <a:rPr dirty="0"/>
              <a:t>Level</a:t>
            </a:r>
            <a:r>
              <a:rPr spc="-100" dirty="0"/>
              <a:t> </a:t>
            </a:r>
            <a:r>
              <a:rPr dirty="0"/>
              <a:t>0</a:t>
            </a:r>
            <a:r>
              <a:rPr spc="-40" dirty="0"/>
              <a:t> </a:t>
            </a:r>
            <a:r>
              <a:rPr dirty="0"/>
              <a:t>-</a:t>
            </a:r>
            <a:r>
              <a:rPr spc="-60" dirty="0"/>
              <a:t> </a:t>
            </a:r>
            <a:r>
              <a:rPr dirty="0"/>
              <a:t>Context</a:t>
            </a:r>
            <a:r>
              <a:rPr spc="-70" dirty="0"/>
              <a:t> </a:t>
            </a:r>
            <a:r>
              <a:rPr spc="-10" dirty="0"/>
              <a:t>Diagram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5972" y="2187905"/>
            <a:ext cx="7302500" cy="1894839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267335" marR="690245" indent="-255270">
              <a:lnSpc>
                <a:spcPct val="79400"/>
              </a:lnSpc>
              <a:spcBef>
                <a:spcPts val="800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models</a:t>
            </a:r>
            <a:r>
              <a:rPr sz="2800" spc="-114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system</a:t>
            </a:r>
            <a:r>
              <a:rPr sz="2800" spc="-6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as one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process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box</a:t>
            </a:r>
            <a:r>
              <a:rPr sz="2800" spc="-5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which 	</a:t>
            </a:r>
            <a:r>
              <a:rPr sz="2800" dirty="0">
                <a:latin typeface="Georgia"/>
                <a:cs typeface="Georgia"/>
              </a:rPr>
              <a:t>represents</a:t>
            </a:r>
            <a:r>
              <a:rPr sz="2800" spc="-15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scope</a:t>
            </a:r>
            <a:r>
              <a:rPr sz="2800" spc="-6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of</a:t>
            </a:r>
            <a:r>
              <a:rPr sz="2800" spc="-2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the </a:t>
            </a:r>
            <a:r>
              <a:rPr sz="2800" spc="-10" dirty="0">
                <a:latin typeface="Georgia"/>
                <a:cs typeface="Georgia"/>
              </a:rPr>
              <a:t>system</a:t>
            </a:r>
            <a:endParaRPr sz="2800">
              <a:latin typeface="Georgia"/>
              <a:cs typeface="Georgia"/>
            </a:endParaRPr>
          </a:p>
          <a:p>
            <a:pPr marL="267335" marR="5080" indent="-255270">
              <a:lnSpc>
                <a:spcPts val="2700"/>
              </a:lnSpc>
              <a:spcBef>
                <a:spcPts val="270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identifies</a:t>
            </a:r>
            <a:r>
              <a:rPr sz="2800" spc="-114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external</a:t>
            </a:r>
            <a:r>
              <a:rPr sz="2800" spc="-6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entities</a:t>
            </a:r>
            <a:r>
              <a:rPr sz="2800" spc="-114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and</a:t>
            </a:r>
            <a:r>
              <a:rPr sz="2800" spc="-1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related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inputs 	</a:t>
            </a:r>
            <a:r>
              <a:rPr sz="2800" dirty="0">
                <a:latin typeface="Georgia"/>
                <a:cs typeface="Georgia"/>
              </a:rPr>
              <a:t>and</a:t>
            </a:r>
            <a:r>
              <a:rPr sz="2800" spc="-5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outputs</a:t>
            </a:r>
            <a:endParaRPr sz="2800">
              <a:latin typeface="Georgia"/>
              <a:cs typeface="Georgia"/>
            </a:endParaRPr>
          </a:p>
          <a:p>
            <a:pPr marL="268605" indent="-255904">
              <a:lnSpc>
                <a:spcPts val="3010"/>
              </a:lnSpc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Additional</a:t>
            </a:r>
            <a:r>
              <a:rPr sz="2800" spc="-9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notation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-</a:t>
            </a:r>
            <a:r>
              <a:rPr sz="2800" spc="-2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system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spc="-25" dirty="0">
                <a:latin typeface="Georgia"/>
                <a:cs typeface="Georgia"/>
              </a:rPr>
              <a:t>box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22987" y="4769772"/>
            <a:ext cx="2089785" cy="1032510"/>
          </a:xfrm>
          <a:custGeom>
            <a:avLst/>
            <a:gdLst/>
            <a:ahLst/>
            <a:cxnLst/>
            <a:rect l="l" t="t" r="r" b="b"/>
            <a:pathLst>
              <a:path w="2089784" h="1032510">
                <a:moveTo>
                  <a:pt x="0" y="1031956"/>
                </a:moveTo>
                <a:lnTo>
                  <a:pt x="2089595" y="1031956"/>
                </a:lnTo>
                <a:lnTo>
                  <a:pt x="2089595" y="0"/>
                </a:lnTo>
                <a:lnTo>
                  <a:pt x="0" y="0"/>
                </a:lnTo>
                <a:lnTo>
                  <a:pt x="0" y="1031956"/>
                </a:lnTo>
                <a:close/>
              </a:path>
            </a:pathLst>
          </a:custGeom>
          <a:ln w="177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614242" y="4774805"/>
            <a:ext cx="133985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dirty="0">
                <a:latin typeface="Arial MT"/>
                <a:cs typeface="Arial MT"/>
              </a:rPr>
              <a:t>System</a:t>
            </a:r>
            <a:r>
              <a:rPr sz="1900" spc="130" dirty="0">
                <a:latin typeface="Arial MT"/>
                <a:cs typeface="Arial MT"/>
              </a:rPr>
              <a:t> </a:t>
            </a:r>
            <a:r>
              <a:rPr sz="1900" spc="45" dirty="0">
                <a:latin typeface="Arial MT"/>
                <a:cs typeface="Arial MT"/>
              </a:rPr>
              <a:t>box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86848" y="4682313"/>
            <a:ext cx="1738630" cy="1207135"/>
          </a:xfrm>
          <a:custGeom>
            <a:avLst/>
            <a:gdLst/>
            <a:ahLst/>
            <a:cxnLst/>
            <a:rect l="l" t="t" r="r" b="b"/>
            <a:pathLst>
              <a:path w="1738629" h="1207135">
                <a:moveTo>
                  <a:pt x="0" y="594569"/>
                </a:moveTo>
                <a:lnTo>
                  <a:pt x="1834" y="634165"/>
                </a:lnTo>
                <a:lnTo>
                  <a:pt x="7262" y="673175"/>
                </a:lnTo>
                <a:lnTo>
                  <a:pt x="16169" y="711509"/>
                </a:lnTo>
                <a:lnTo>
                  <a:pt x="28439" y="749082"/>
                </a:lnTo>
                <a:lnTo>
                  <a:pt x="43959" y="785805"/>
                </a:lnTo>
                <a:lnTo>
                  <a:pt x="62614" y="821590"/>
                </a:lnTo>
                <a:lnTo>
                  <a:pt x="84289" y="856351"/>
                </a:lnTo>
                <a:lnTo>
                  <a:pt x="108870" y="889999"/>
                </a:lnTo>
                <a:lnTo>
                  <a:pt x="136241" y="922446"/>
                </a:lnTo>
                <a:lnTo>
                  <a:pt x="166290" y="953606"/>
                </a:lnTo>
                <a:lnTo>
                  <a:pt x="198900" y="983391"/>
                </a:lnTo>
                <a:lnTo>
                  <a:pt x="233957" y="1011712"/>
                </a:lnTo>
                <a:lnTo>
                  <a:pt x="271347" y="1038483"/>
                </a:lnTo>
                <a:lnTo>
                  <a:pt x="310955" y="1063616"/>
                </a:lnTo>
                <a:lnTo>
                  <a:pt x="352667" y="1087023"/>
                </a:lnTo>
                <a:lnTo>
                  <a:pt x="396368" y="1108616"/>
                </a:lnTo>
                <a:lnTo>
                  <a:pt x="441943" y="1128308"/>
                </a:lnTo>
                <a:lnTo>
                  <a:pt x="489278" y="1146012"/>
                </a:lnTo>
                <a:lnTo>
                  <a:pt x="538258" y="1161639"/>
                </a:lnTo>
                <a:lnTo>
                  <a:pt x="588768" y="1175103"/>
                </a:lnTo>
                <a:lnTo>
                  <a:pt x="640695" y="1186315"/>
                </a:lnTo>
                <a:lnTo>
                  <a:pt x="693923" y="1195188"/>
                </a:lnTo>
                <a:lnTo>
                  <a:pt x="748338" y="1201634"/>
                </a:lnTo>
                <a:lnTo>
                  <a:pt x="803825" y="1205567"/>
                </a:lnTo>
                <a:lnTo>
                  <a:pt x="860269" y="1206897"/>
                </a:lnTo>
                <a:lnTo>
                  <a:pt x="916536" y="1205666"/>
                </a:lnTo>
                <a:lnTo>
                  <a:pt x="971770" y="1202027"/>
                </a:lnTo>
                <a:lnTo>
                  <a:pt x="1025875" y="1196057"/>
                </a:lnTo>
                <a:lnTo>
                  <a:pt x="1078756" y="1187835"/>
                </a:lnTo>
                <a:lnTo>
                  <a:pt x="1130316" y="1177437"/>
                </a:lnTo>
                <a:lnTo>
                  <a:pt x="1180459" y="1164942"/>
                </a:lnTo>
                <a:lnTo>
                  <a:pt x="1229091" y="1150427"/>
                </a:lnTo>
                <a:lnTo>
                  <a:pt x="1276114" y="1133972"/>
                </a:lnTo>
                <a:lnTo>
                  <a:pt x="1321434" y="1115652"/>
                </a:lnTo>
                <a:lnTo>
                  <a:pt x="1364954" y="1095547"/>
                </a:lnTo>
                <a:lnTo>
                  <a:pt x="1406579" y="1073734"/>
                </a:lnTo>
                <a:lnTo>
                  <a:pt x="1446213" y="1050292"/>
                </a:lnTo>
                <a:lnTo>
                  <a:pt x="1483760" y="1025297"/>
                </a:lnTo>
                <a:lnTo>
                  <a:pt x="1519124" y="998828"/>
                </a:lnTo>
                <a:lnTo>
                  <a:pt x="1552210" y="970963"/>
                </a:lnTo>
                <a:lnTo>
                  <a:pt x="1582921" y="941780"/>
                </a:lnTo>
                <a:lnTo>
                  <a:pt x="1611162" y="911356"/>
                </a:lnTo>
                <a:lnTo>
                  <a:pt x="1636838" y="879769"/>
                </a:lnTo>
                <a:lnTo>
                  <a:pt x="1659851" y="847098"/>
                </a:lnTo>
                <a:lnTo>
                  <a:pt x="1680107" y="813420"/>
                </a:lnTo>
                <a:lnTo>
                  <a:pt x="1697509" y="778813"/>
                </a:lnTo>
                <a:lnTo>
                  <a:pt x="1711962" y="743355"/>
                </a:lnTo>
                <a:lnTo>
                  <a:pt x="1731637" y="670197"/>
                </a:lnTo>
                <a:lnTo>
                  <a:pt x="1738366" y="594569"/>
                </a:lnTo>
                <a:lnTo>
                  <a:pt x="1736530" y="555058"/>
                </a:lnTo>
                <a:lnTo>
                  <a:pt x="1731094" y="516291"/>
                </a:lnTo>
                <a:lnTo>
                  <a:pt x="1722165" y="478341"/>
                </a:lnTo>
                <a:lnTo>
                  <a:pt x="1709852" y="441283"/>
                </a:lnTo>
                <a:lnTo>
                  <a:pt x="1694261" y="405189"/>
                </a:lnTo>
                <a:lnTo>
                  <a:pt x="1675502" y="370135"/>
                </a:lnTo>
                <a:lnTo>
                  <a:pt x="1653681" y="336195"/>
                </a:lnTo>
                <a:lnTo>
                  <a:pt x="1628906" y="303442"/>
                </a:lnTo>
                <a:lnTo>
                  <a:pt x="1601286" y="271950"/>
                </a:lnTo>
                <a:lnTo>
                  <a:pt x="1570928" y="241793"/>
                </a:lnTo>
                <a:lnTo>
                  <a:pt x="1537939" y="213046"/>
                </a:lnTo>
                <a:lnTo>
                  <a:pt x="1502428" y="185782"/>
                </a:lnTo>
                <a:lnTo>
                  <a:pt x="1464502" y="160075"/>
                </a:lnTo>
                <a:lnTo>
                  <a:pt x="1424269" y="136000"/>
                </a:lnTo>
                <a:lnTo>
                  <a:pt x="1381837" y="113630"/>
                </a:lnTo>
                <a:lnTo>
                  <a:pt x="1337314" y="93039"/>
                </a:lnTo>
                <a:lnTo>
                  <a:pt x="1290807" y="74301"/>
                </a:lnTo>
                <a:lnTo>
                  <a:pt x="1242423" y="57491"/>
                </a:lnTo>
                <a:lnTo>
                  <a:pt x="1192272" y="42682"/>
                </a:lnTo>
                <a:lnTo>
                  <a:pt x="1140461" y="29949"/>
                </a:lnTo>
                <a:lnTo>
                  <a:pt x="1087097" y="19364"/>
                </a:lnTo>
                <a:lnTo>
                  <a:pt x="1032288" y="11003"/>
                </a:lnTo>
                <a:lnTo>
                  <a:pt x="976142" y="4939"/>
                </a:lnTo>
                <a:lnTo>
                  <a:pt x="918766" y="1247"/>
                </a:lnTo>
                <a:lnTo>
                  <a:pt x="860269" y="0"/>
                </a:lnTo>
                <a:lnTo>
                  <a:pt x="803825" y="1247"/>
                </a:lnTo>
                <a:lnTo>
                  <a:pt x="748338" y="4939"/>
                </a:lnTo>
                <a:lnTo>
                  <a:pt x="693923" y="11003"/>
                </a:lnTo>
                <a:lnTo>
                  <a:pt x="640695" y="19364"/>
                </a:lnTo>
                <a:lnTo>
                  <a:pt x="588768" y="29949"/>
                </a:lnTo>
                <a:lnTo>
                  <a:pt x="538258" y="42682"/>
                </a:lnTo>
                <a:lnTo>
                  <a:pt x="489278" y="57491"/>
                </a:lnTo>
                <a:lnTo>
                  <a:pt x="441943" y="74301"/>
                </a:lnTo>
                <a:lnTo>
                  <a:pt x="396368" y="93039"/>
                </a:lnTo>
                <a:lnTo>
                  <a:pt x="352667" y="113630"/>
                </a:lnTo>
                <a:lnTo>
                  <a:pt x="310955" y="136000"/>
                </a:lnTo>
                <a:lnTo>
                  <a:pt x="271347" y="160075"/>
                </a:lnTo>
                <a:lnTo>
                  <a:pt x="233957" y="185782"/>
                </a:lnTo>
                <a:lnTo>
                  <a:pt x="198900" y="213046"/>
                </a:lnTo>
                <a:lnTo>
                  <a:pt x="166290" y="241793"/>
                </a:lnTo>
                <a:lnTo>
                  <a:pt x="136241" y="271950"/>
                </a:lnTo>
                <a:lnTo>
                  <a:pt x="108870" y="303442"/>
                </a:lnTo>
                <a:lnTo>
                  <a:pt x="84289" y="336195"/>
                </a:lnTo>
                <a:lnTo>
                  <a:pt x="62614" y="370135"/>
                </a:lnTo>
                <a:lnTo>
                  <a:pt x="43959" y="405189"/>
                </a:lnTo>
                <a:lnTo>
                  <a:pt x="28439" y="441283"/>
                </a:lnTo>
                <a:lnTo>
                  <a:pt x="16169" y="478341"/>
                </a:lnTo>
                <a:lnTo>
                  <a:pt x="7262" y="516291"/>
                </a:lnTo>
                <a:lnTo>
                  <a:pt x="1834" y="555058"/>
                </a:lnTo>
                <a:lnTo>
                  <a:pt x="0" y="594569"/>
                </a:lnTo>
                <a:close/>
              </a:path>
            </a:pathLst>
          </a:custGeom>
          <a:ln w="177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13172" y="4809692"/>
            <a:ext cx="956310" cy="61658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52400" marR="5080" indent="-140335">
              <a:lnSpc>
                <a:spcPct val="102699"/>
              </a:lnSpc>
              <a:spcBef>
                <a:spcPts val="65"/>
              </a:spcBef>
            </a:pPr>
            <a:r>
              <a:rPr sz="1900" spc="-10" dirty="0">
                <a:latin typeface="Arial MT"/>
                <a:cs typeface="Arial MT"/>
              </a:rPr>
              <a:t>External </a:t>
            </a:r>
            <a:r>
              <a:rPr sz="1900" spc="50" dirty="0">
                <a:latin typeface="Arial MT"/>
                <a:cs typeface="Arial MT"/>
              </a:rPr>
              <a:t>entity</a:t>
            </a:r>
            <a:endParaRPr sz="19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602378" y="5175509"/>
            <a:ext cx="1642110" cy="437515"/>
            <a:chOff x="3602378" y="5175509"/>
            <a:chExt cx="1642110" cy="437515"/>
          </a:xfrm>
        </p:grpSpPr>
        <p:sp>
          <p:nvSpPr>
            <p:cNvPr id="9" name="object 9"/>
            <p:cNvSpPr/>
            <p:nvPr/>
          </p:nvSpPr>
          <p:spPr>
            <a:xfrm>
              <a:off x="3672371" y="5306730"/>
              <a:ext cx="1563370" cy="0"/>
            </a:xfrm>
            <a:custGeom>
              <a:avLst/>
              <a:gdLst/>
              <a:ahLst/>
              <a:cxnLst/>
              <a:rect l="l" t="t" r="r" b="b"/>
              <a:pathLst>
                <a:path w="1563370">
                  <a:moveTo>
                    <a:pt x="1562776" y="0"/>
                  </a:moveTo>
                  <a:lnTo>
                    <a:pt x="0" y="0"/>
                  </a:lnTo>
                </a:path>
              </a:pathLst>
            </a:custGeom>
            <a:ln w="17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54568" y="5184386"/>
              <a:ext cx="351790" cy="245110"/>
            </a:xfrm>
            <a:custGeom>
              <a:avLst/>
              <a:gdLst/>
              <a:ahLst/>
              <a:cxnLst/>
              <a:rect l="l" t="t" r="r" b="b"/>
              <a:pathLst>
                <a:path w="351789" h="245110">
                  <a:moveTo>
                    <a:pt x="351204" y="0"/>
                  </a:moveTo>
                  <a:lnTo>
                    <a:pt x="0" y="122344"/>
                  </a:lnTo>
                  <a:lnTo>
                    <a:pt x="351204" y="244688"/>
                  </a:lnTo>
                  <a:lnTo>
                    <a:pt x="228388" y="122344"/>
                  </a:lnTo>
                  <a:lnTo>
                    <a:pt x="3512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54568" y="5184386"/>
              <a:ext cx="351790" cy="245110"/>
            </a:xfrm>
            <a:custGeom>
              <a:avLst/>
              <a:gdLst/>
              <a:ahLst/>
              <a:cxnLst/>
              <a:rect l="l" t="t" r="r" b="b"/>
              <a:pathLst>
                <a:path w="351789" h="245110">
                  <a:moveTo>
                    <a:pt x="0" y="122344"/>
                  </a:moveTo>
                  <a:lnTo>
                    <a:pt x="351204" y="0"/>
                  </a:lnTo>
                  <a:lnTo>
                    <a:pt x="228388" y="122344"/>
                  </a:lnTo>
                  <a:lnTo>
                    <a:pt x="351204" y="244688"/>
                  </a:lnTo>
                  <a:lnTo>
                    <a:pt x="0" y="122344"/>
                  </a:lnTo>
                  <a:close/>
                </a:path>
              </a:pathLst>
            </a:custGeom>
            <a:ln w="177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02378" y="5481695"/>
              <a:ext cx="1615440" cy="0"/>
            </a:xfrm>
            <a:custGeom>
              <a:avLst/>
              <a:gdLst/>
              <a:ahLst/>
              <a:cxnLst/>
              <a:rect l="l" t="t" r="r" b="b"/>
              <a:pathLst>
                <a:path w="1615439">
                  <a:moveTo>
                    <a:pt x="0" y="0"/>
                  </a:moveTo>
                  <a:lnTo>
                    <a:pt x="1615015" y="0"/>
                  </a:lnTo>
                </a:path>
              </a:pathLst>
            </a:custGeom>
            <a:ln w="17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83967" y="5358745"/>
              <a:ext cx="351790" cy="245745"/>
            </a:xfrm>
            <a:custGeom>
              <a:avLst/>
              <a:gdLst/>
              <a:ahLst/>
              <a:cxnLst/>
              <a:rect l="l" t="t" r="r" b="b"/>
              <a:pathLst>
                <a:path w="351789" h="245745">
                  <a:moveTo>
                    <a:pt x="0" y="0"/>
                  </a:moveTo>
                  <a:lnTo>
                    <a:pt x="122815" y="122950"/>
                  </a:lnTo>
                  <a:lnTo>
                    <a:pt x="0" y="245294"/>
                  </a:lnTo>
                  <a:lnTo>
                    <a:pt x="351180" y="122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83967" y="5358745"/>
              <a:ext cx="351790" cy="245745"/>
            </a:xfrm>
            <a:custGeom>
              <a:avLst/>
              <a:gdLst/>
              <a:ahLst/>
              <a:cxnLst/>
              <a:rect l="l" t="t" r="r" b="b"/>
              <a:pathLst>
                <a:path w="351789" h="245745">
                  <a:moveTo>
                    <a:pt x="351180" y="122950"/>
                  </a:moveTo>
                  <a:lnTo>
                    <a:pt x="0" y="245294"/>
                  </a:lnTo>
                  <a:lnTo>
                    <a:pt x="122815" y="122950"/>
                  </a:lnTo>
                  <a:lnTo>
                    <a:pt x="0" y="0"/>
                  </a:lnTo>
                  <a:lnTo>
                    <a:pt x="351180" y="122950"/>
                  </a:lnTo>
                  <a:close/>
                </a:path>
              </a:pathLst>
            </a:custGeom>
            <a:ln w="177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735330" y="4739943"/>
            <a:ext cx="153035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dirty="0">
                <a:latin typeface="Arial MT"/>
                <a:cs typeface="Arial MT"/>
              </a:rPr>
              <a:t>Data</a:t>
            </a:r>
            <a:r>
              <a:rPr sz="1900" spc="3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flow</a:t>
            </a:r>
            <a:r>
              <a:rPr sz="1900" spc="110" dirty="0">
                <a:latin typeface="Arial MT"/>
                <a:cs typeface="Arial MT"/>
              </a:rPr>
              <a:t> </a:t>
            </a:r>
            <a:r>
              <a:rPr sz="1900" spc="45" dirty="0">
                <a:latin typeface="Arial MT"/>
                <a:cs typeface="Arial MT"/>
              </a:rPr>
              <a:t>out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70326" y="5526606"/>
            <a:ext cx="137033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00" dirty="0">
                <a:latin typeface="Arial MT"/>
                <a:cs typeface="Arial MT"/>
              </a:rPr>
              <a:t>Data</a:t>
            </a:r>
            <a:r>
              <a:rPr sz="1900" spc="3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flow</a:t>
            </a:r>
            <a:r>
              <a:rPr sz="1900" spc="110" dirty="0">
                <a:latin typeface="Arial MT"/>
                <a:cs typeface="Arial MT"/>
              </a:rPr>
              <a:t> </a:t>
            </a:r>
            <a:r>
              <a:rPr sz="1900" spc="35" dirty="0">
                <a:latin typeface="Arial MT"/>
                <a:cs typeface="Arial MT"/>
              </a:rPr>
              <a:t>in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2572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95"/>
              </a:spcBef>
            </a:pPr>
            <a:r>
              <a:rPr dirty="0"/>
              <a:t>Level</a:t>
            </a:r>
            <a:r>
              <a:rPr spc="-105" dirty="0"/>
              <a:t> </a:t>
            </a:r>
            <a:r>
              <a:rPr dirty="0"/>
              <a:t>1</a:t>
            </a:r>
            <a:r>
              <a:rPr spc="-55" dirty="0"/>
              <a:t> </a:t>
            </a:r>
            <a:r>
              <a:rPr dirty="0"/>
              <a:t>-</a:t>
            </a:r>
            <a:r>
              <a:rPr spc="-75" dirty="0"/>
              <a:t> </a:t>
            </a:r>
            <a:r>
              <a:rPr dirty="0"/>
              <a:t>overview</a:t>
            </a:r>
            <a:r>
              <a:rPr spc="-75" dirty="0"/>
              <a:t> </a:t>
            </a:r>
            <a:r>
              <a:rPr spc="-10" dirty="0"/>
              <a:t>diagram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5972" y="2231781"/>
            <a:ext cx="7720965" cy="2294217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409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gives</a:t>
            </a:r>
            <a:r>
              <a:rPr sz="2800" spc="-11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overview</a:t>
            </a:r>
            <a:r>
              <a:rPr sz="2800" spc="-9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of</a:t>
            </a:r>
            <a:r>
              <a:rPr sz="2800" spc="-2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full</a:t>
            </a:r>
            <a:r>
              <a:rPr sz="2800" spc="-10" dirty="0">
                <a:latin typeface="Georgia"/>
                <a:cs typeface="Georgia"/>
              </a:rPr>
              <a:t> system</a:t>
            </a:r>
            <a:endParaRPr sz="2800" dirty="0">
              <a:latin typeface="Georgia"/>
              <a:cs typeface="Georgia"/>
            </a:endParaRPr>
          </a:p>
          <a:p>
            <a:pPr marL="267335" marR="1011555" indent="-255270">
              <a:lnSpc>
                <a:spcPts val="3350"/>
              </a:lnSpc>
              <a:spcBef>
                <a:spcPts val="434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identifies</a:t>
            </a:r>
            <a:r>
              <a:rPr sz="2800" spc="-11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major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processes</a:t>
            </a:r>
            <a:r>
              <a:rPr sz="2800" spc="-10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and</a:t>
            </a:r>
            <a:r>
              <a:rPr sz="2800" spc="-1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data</a:t>
            </a:r>
            <a:r>
              <a:rPr sz="2800" spc="-2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flows 	</a:t>
            </a:r>
            <a:r>
              <a:rPr sz="2800" dirty="0">
                <a:latin typeface="Georgia"/>
                <a:cs typeface="Georgia"/>
              </a:rPr>
              <a:t>between</a:t>
            </a:r>
            <a:r>
              <a:rPr sz="2800" spc="-114" dirty="0">
                <a:latin typeface="Georgia"/>
                <a:cs typeface="Georgia"/>
              </a:rPr>
              <a:t> </a:t>
            </a:r>
            <a:r>
              <a:rPr sz="2800" spc="-20" dirty="0">
                <a:latin typeface="Georgia"/>
                <a:cs typeface="Georgia"/>
              </a:rPr>
              <a:t>them</a:t>
            </a:r>
            <a:endParaRPr sz="2800" dirty="0">
              <a:latin typeface="Georgia"/>
              <a:cs typeface="Georgia"/>
            </a:endParaRPr>
          </a:p>
          <a:p>
            <a:pPr marL="267335" marR="5080" indent="-255270">
              <a:lnSpc>
                <a:spcPct val="100000"/>
              </a:lnSpc>
              <a:spcBef>
                <a:spcPts val="204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identifies</a:t>
            </a:r>
            <a:r>
              <a:rPr sz="2800" spc="-11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data</a:t>
            </a:r>
            <a:r>
              <a:rPr sz="2800" spc="-2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stores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that</a:t>
            </a:r>
            <a:r>
              <a:rPr sz="2800" spc="-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are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used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by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the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major 	processes</a:t>
            </a:r>
            <a:endParaRPr sz="28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2572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95"/>
              </a:spcBef>
            </a:pPr>
            <a:r>
              <a:rPr dirty="0"/>
              <a:t>Level</a:t>
            </a:r>
            <a:r>
              <a:rPr spc="-105" dirty="0"/>
              <a:t> </a:t>
            </a:r>
            <a:r>
              <a:rPr dirty="0"/>
              <a:t>2</a:t>
            </a:r>
            <a:r>
              <a:rPr spc="-50" dirty="0"/>
              <a:t> </a:t>
            </a:r>
            <a:r>
              <a:rPr dirty="0"/>
              <a:t>-</a:t>
            </a:r>
            <a:r>
              <a:rPr spc="-75" dirty="0"/>
              <a:t> </a:t>
            </a:r>
            <a:r>
              <a:rPr dirty="0"/>
              <a:t>detailed</a:t>
            </a:r>
            <a:r>
              <a:rPr spc="-114" dirty="0"/>
              <a:t> </a:t>
            </a:r>
            <a:r>
              <a:rPr spc="-10" dirty="0"/>
              <a:t>diagram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45058" y="2269058"/>
            <a:ext cx="7853883" cy="1380954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68605" indent="-255270">
              <a:lnSpc>
                <a:spcPct val="100000"/>
              </a:lnSpc>
              <a:spcBef>
                <a:spcPts val="409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dirty="0"/>
              <a:t>level</a:t>
            </a:r>
            <a:r>
              <a:rPr spc="-95" dirty="0"/>
              <a:t> </a:t>
            </a:r>
            <a:r>
              <a:rPr dirty="0"/>
              <a:t>1</a:t>
            </a:r>
            <a:r>
              <a:rPr spc="-25" dirty="0"/>
              <a:t> </a:t>
            </a:r>
            <a:r>
              <a:rPr dirty="0"/>
              <a:t>process</a:t>
            </a:r>
            <a:r>
              <a:rPr spc="-65" dirty="0"/>
              <a:t> </a:t>
            </a:r>
            <a:r>
              <a:rPr dirty="0"/>
              <a:t>is expanded</a:t>
            </a:r>
            <a:r>
              <a:rPr spc="-70" dirty="0"/>
              <a:t> </a:t>
            </a:r>
            <a:r>
              <a:rPr dirty="0"/>
              <a:t>into</a:t>
            </a:r>
            <a:r>
              <a:rPr spc="-40" dirty="0"/>
              <a:t> </a:t>
            </a:r>
            <a:r>
              <a:rPr dirty="0"/>
              <a:t>more</a:t>
            </a:r>
            <a:r>
              <a:rPr spc="-20" dirty="0"/>
              <a:t> </a:t>
            </a:r>
            <a:r>
              <a:rPr spc="-10" dirty="0"/>
              <a:t>detail</a:t>
            </a:r>
          </a:p>
          <a:p>
            <a:pPr marL="267970" marR="5080" indent="-255270">
              <a:lnSpc>
                <a:spcPts val="3350"/>
              </a:lnSpc>
              <a:spcBef>
                <a:spcPts val="434"/>
              </a:spcBef>
              <a:buClr>
                <a:srgbClr val="9F4DA2"/>
              </a:buClr>
              <a:buChar char="•"/>
              <a:tabLst>
                <a:tab pos="269240" algn="l"/>
              </a:tabLst>
            </a:pPr>
            <a:r>
              <a:rPr dirty="0"/>
              <a:t>each</a:t>
            </a:r>
            <a:r>
              <a:rPr spc="-55" dirty="0"/>
              <a:t> </a:t>
            </a:r>
            <a:r>
              <a:rPr dirty="0"/>
              <a:t>process</a:t>
            </a:r>
            <a:r>
              <a:rPr spc="-6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dirty="0"/>
              <a:t>level</a:t>
            </a:r>
            <a:r>
              <a:rPr spc="-45" dirty="0"/>
              <a:t> </a:t>
            </a:r>
            <a:r>
              <a:rPr dirty="0"/>
              <a:t>1</a:t>
            </a:r>
            <a:r>
              <a:rPr spc="-25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decomposed</a:t>
            </a:r>
            <a:r>
              <a:rPr spc="-105" dirty="0"/>
              <a:t> </a:t>
            </a:r>
            <a:r>
              <a:rPr dirty="0"/>
              <a:t>to</a:t>
            </a:r>
            <a:r>
              <a:rPr spc="-5" dirty="0"/>
              <a:t> </a:t>
            </a:r>
            <a:r>
              <a:rPr dirty="0"/>
              <a:t>show</a:t>
            </a:r>
            <a:r>
              <a:rPr spc="-25" dirty="0"/>
              <a:t> its 	</a:t>
            </a:r>
            <a:r>
              <a:rPr dirty="0"/>
              <a:t>constituent</a:t>
            </a:r>
            <a:r>
              <a:rPr spc="-125" dirty="0"/>
              <a:t> </a:t>
            </a:r>
            <a:r>
              <a:rPr spc="-10" dirty="0"/>
              <a:t>processes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94878" y="6483197"/>
            <a:ext cx="8953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50" dirty="0">
                <a:latin typeface="Times New Roman"/>
                <a:cs typeface="Times New Roman"/>
              </a:rPr>
              <a:t>5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2572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95"/>
              </a:spcBef>
            </a:pPr>
            <a:r>
              <a:rPr dirty="0"/>
              <a:t>Rules</a:t>
            </a:r>
            <a:r>
              <a:rPr spc="-170" dirty="0"/>
              <a:t> </a:t>
            </a:r>
            <a:r>
              <a:rPr dirty="0"/>
              <a:t>for</a:t>
            </a:r>
            <a:r>
              <a:rPr spc="-95" dirty="0"/>
              <a:t> </a:t>
            </a:r>
            <a:r>
              <a:rPr spc="-20" dirty="0"/>
              <a:t>DFDs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5972" y="2231781"/>
            <a:ext cx="2094230" cy="952824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409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800" spc="-10" dirty="0">
                <a:latin typeface="Georgia"/>
                <a:cs typeface="Georgia"/>
              </a:rPr>
              <a:t>Numbering</a:t>
            </a:r>
            <a:endParaRPr sz="2800" dirty="0">
              <a:latin typeface="Georgia"/>
              <a:cs typeface="Georgia"/>
            </a:endParaRPr>
          </a:p>
          <a:p>
            <a:pPr marL="267970" indent="-255270">
              <a:lnSpc>
                <a:spcPct val="100000"/>
              </a:lnSpc>
              <a:spcBef>
                <a:spcPts val="315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800" spc="-10" dirty="0">
                <a:latin typeface="Georgia"/>
                <a:cs typeface="Georgia"/>
              </a:rPr>
              <a:t>Labelling</a:t>
            </a:r>
            <a:endParaRPr sz="28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2572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Numbering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5972" y="2231781"/>
            <a:ext cx="7874634" cy="316865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409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On</a:t>
            </a:r>
            <a:r>
              <a:rPr sz="2800" spc="-5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level</a:t>
            </a:r>
            <a:r>
              <a:rPr sz="2800" spc="-8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1</a:t>
            </a:r>
            <a:r>
              <a:rPr sz="2800" spc="-2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processes</a:t>
            </a:r>
            <a:r>
              <a:rPr sz="2800" spc="-6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are</a:t>
            </a:r>
            <a:r>
              <a:rPr sz="2800" spc="-2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numbered</a:t>
            </a:r>
            <a:r>
              <a:rPr sz="2800" spc="-9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1,2,3…</a:t>
            </a:r>
            <a:endParaRPr sz="2800">
              <a:latin typeface="Georgia"/>
              <a:cs typeface="Georgia"/>
            </a:endParaRPr>
          </a:p>
          <a:p>
            <a:pPr marL="267335" marR="52705" indent="-255270">
              <a:lnSpc>
                <a:spcPct val="100299"/>
              </a:lnSpc>
              <a:spcBef>
                <a:spcPts val="305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On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level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2</a:t>
            </a:r>
            <a:r>
              <a:rPr sz="2800" spc="-2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processes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are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numbered</a:t>
            </a:r>
            <a:r>
              <a:rPr sz="2800" spc="-9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x.1,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x.2,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spc="-20" dirty="0">
                <a:latin typeface="Georgia"/>
                <a:cs typeface="Georgia"/>
              </a:rPr>
              <a:t>x.3… 	</a:t>
            </a:r>
            <a:r>
              <a:rPr sz="2800" dirty="0">
                <a:latin typeface="Georgia"/>
                <a:cs typeface="Georgia"/>
              </a:rPr>
              <a:t>where</a:t>
            </a:r>
            <a:r>
              <a:rPr sz="2800" spc="-10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x</a:t>
            </a:r>
            <a:r>
              <a:rPr sz="2800" spc="-2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is</a:t>
            </a:r>
            <a:r>
              <a:rPr sz="2800" spc="-2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the number</a:t>
            </a:r>
            <a:r>
              <a:rPr sz="2800" spc="-10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of</a:t>
            </a:r>
            <a:r>
              <a:rPr sz="2800" spc="-2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the</a:t>
            </a:r>
            <a:r>
              <a:rPr sz="2800" spc="-2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parent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level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spc="-50" dirty="0">
                <a:latin typeface="Georgia"/>
                <a:cs typeface="Georgia"/>
              </a:rPr>
              <a:t>1 	</a:t>
            </a:r>
            <a:r>
              <a:rPr sz="2800" spc="-10" dirty="0">
                <a:latin typeface="Georgia"/>
                <a:cs typeface="Georgia"/>
              </a:rPr>
              <a:t>process</a:t>
            </a:r>
            <a:endParaRPr sz="2800">
              <a:latin typeface="Georgia"/>
              <a:cs typeface="Georgia"/>
            </a:endParaRPr>
          </a:p>
          <a:p>
            <a:pPr marL="267970" indent="-255270">
              <a:lnSpc>
                <a:spcPct val="100000"/>
              </a:lnSpc>
              <a:spcBef>
                <a:spcPts val="280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Number</a:t>
            </a:r>
            <a:r>
              <a:rPr sz="2800" spc="-11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is</a:t>
            </a:r>
            <a:r>
              <a:rPr sz="2800" spc="-2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used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to</a:t>
            </a:r>
            <a:r>
              <a:rPr sz="2800" spc="-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uniquely</a:t>
            </a:r>
            <a:r>
              <a:rPr sz="2800" spc="-8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identify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process</a:t>
            </a:r>
            <a:r>
              <a:rPr sz="2800" spc="40" dirty="0">
                <a:latin typeface="Georgia"/>
                <a:cs typeface="Georgia"/>
              </a:rPr>
              <a:t> </a:t>
            </a:r>
            <a:r>
              <a:rPr sz="2800" b="1" spc="-25" dirty="0">
                <a:latin typeface="Georgia"/>
                <a:cs typeface="Georgia"/>
              </a:rPr>
              <a:t>not</a:t>
            </a:r>
            <a:endParaRPr sz="2800">
              <a:latin typeface="Georgia"/>
              <a:cs typeface="Georgia"/>
            </a:endParaRPr>
          </a:p>
          <a:p>
            <a:pPr marL="268605">
              <a:lnSpc>
                <a:spcPct val="100000"/>
              </a:lnSpc>
              <a:spcBef>
                <a:spcPts val="25"/>
              </a:spcBef>
            </a:pPr>
            <a:r>
              <a:rPr sz="2800" dirty="0">
                <a:latin typeface="Georgia"/>
                <a:cs typeface="Georgia"/>
              </a:rPr>
              <a:t>to</a:t>
            </a:r>
            <a:r>
              <a:rPr sz="2800" spc="-8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represent</a:t>
            </a:r>
            <a:r>
              <a:rPr sz="2800" spc="-11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any</a:t>
            </a:r>
            <a:r>
              <a:rPr sz="2800" spc="-2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order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of</a:t>
            </a:r>
            <a:r>
              <a:rPr sz="2800" spc="-2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processing</a:t>
            </a:r>
            <a:endParaRPr sz="2800">
              <a:latin typeface="Georgia"/>
              <a:cs typeface="Georgia"/>
            </a:endParaRPr>
          </a:p>
          <a:p>
            <a:pPr marL="267970" indent="-255270">
              <a:lnSpc>
                <a:spcPct val="100000"/>
              </a:lnSpc>
              <a:spcBef>
                <a:spcPts val="280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Data</a:t>
            </a:r>
            <a:r>
              <a:rPr sz="2800" spc="-6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store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numbers</a:t>
            </a:r>
            <a:r>
              <a:rPr sz="2800" spc="-11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usually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D1,</a:t>
            </a:r>
            <a:r>
              <a:rPr sz="2800" spc="-5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D2,</a:t>
            </a:r>
            <a:r>
              <a:rPr sz="2800" spc="-1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D3...</a:t>
            </a:r>
            <a:endParaRPr sz="2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2572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Labelling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5972" y="2270200"/>
            <a:ext cx="7177405" cy="313055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67335" marR="50165" indent="-255270">
              <a:lnSpc>
                <a:spcPct val="100800"/>
              </a:lnSpc>
              <a:spcBef>
                <a:spcPts val="80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Process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label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-</a:t>
            </a:r>
            <a:r>
              <a:rPr sz="2800" spc="-1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short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description</a:t>
            </a:r>
            <a:r>
              <a:rPr sz="2800" spc="-8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of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what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spc="-25" dirty="0">
                <a:latin typeface="Georgia"/>
                <a:cs typeface="Georgia"/>
              </a:rPr>
              <a:t>the 	</a:t>
            </a:r>
            <a:r>
              <a:rPr sz="2800" dirty="0">
                <a:latin typeface="Georgia"/>
                <a:cs typeface="Georgia"/>
              </a:rPr>
              <a:t>process</a:t>
            </a:r>
            <a:r>
              <a:rPr sz="2800" spc="-11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does,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e.G.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Price</a:t>
            </a:r>
            <a:r>
              <a:rPr sz="2800" spc="-2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order</a:t>
            </a:r>
            <a:endParaRPr sz="2800">
              <a:latin typeface="Georgia"/>
              <a:cs typeface="Georgia"/>
            </a:endParaRPr>
          </a:p>
          <a:p>
            <a:pPr marL="267335" marR="5080" indent="-255270">
              <a:lnSpc>
                <a:spcPct val="100800"/>
              </a:lnSpc>
              <a:spcBef>
                <a:spcPts val="254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Data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flow</a:t>
            </a:r>
            <a:r>
              <a:rPr sz="2800" spc="-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label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-</a:t>
            </a:r>
            <a:r>
              <a:rPr sz="2800" spc="-1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noun</a:t>
            </a:r>
            <a:r>
              <a:rPr sz="2800" spc="-5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representing</a:t>
            </a:r>
            <a:r>
              <a:rPr sz="2800" spc="-11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the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spc="-20" dirty="0">
                <a:latin typeface="Georgia"/>
                <a:cs typeface="Georgia"/>
              </a:rPr>
              <a:t>data 	</a:t>
            </a:r>
            <a:r>
              <a:rPr sz="2800" dirty="0">
                <a:latin typeface="Georgia"/>
                <a:cs typeface="Georgia"/>
              </a:rPr>
              <a:t>flowing</a:t>
            </a:r>
            <a:r>
              <a:rPr sz="2800" spc="-8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through</a:t>
            </a:r>
            <a:r>
              <a:rPr sz="2800" spc="-6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it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e.G.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Customer</a:t>
            </a:r>
            <a:r>
              <a:rPr sz="2800" spc="-11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payment</a:t>
            </a:r>
            <a:endParaRPr sz="2800">
              <a:latin typeface="Georgia"/>
              <a:cs typeface="Georgia"/>
            </a:endParaRPr>
          </a:p>
          <a:p>
            <a:pPr marL="267335" marR="165735" indent="-255270">
              <a:lnSpc>
                <a:spcPct val="100800"/>
              </a:lnSpc>
              <a:spcBef>
                <a:spcPts val="250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Data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store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label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-</a:t>
            </a:r>
            <a:r>
              <a:rPr sz="2800" spc="-1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describes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the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type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of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spc="-20" dirty="0">
                <a:latin typeface="Georgia"/>
                <a:cs typeface="Georgia"/>
              </a:rPr>
              <a:t>data 	</a:t>
            </a:r>
            <a:r>
              <a:rPr sz="2800" spc="-10" dirty="0">
                <a:latin typeface="Georgia"/>
                <a:cs typeface="Georgia"/>
              </a:rPr>
              <a:t>stored</a:t>
            </a:r>
            <a:endParaRPr sz="2800">
              <a:latin typeface="Georgia"/>
              <a:cs typeface="Georgia"/>
            </a:endParaRPr>
          </a:p>
          <a:p>
            <a:pPr marL="267970" indent="-255270">
              <a:lnSpc>
                <a:spcPct val="100000"/>
              </a:lnSpc>
              <a:spcBef>
                <a:spcPts val="280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Make</a:t>
            </a:r>
            <a:r>
              <a:rPr sz="2800" spc="-9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labels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as</a:t>
            </a:r>
            <a:r>
              <a:rPr sz="2800" spc="-2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meaningful</a:t>
            </a:r>
            <a:r>
              <a:rPr sz="2800" spc="-10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as</a:t>
            </a:r>
            <a:r>
              <a:rPr sz="2800" spc="-1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possible</a:t>
            </a:r>
            <a:endParaRPr sz="2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4823951FA9BF42B980A03718EB0B18" ma:contentTypeVersion="3" ma:contentTypeDescription="Create a new document." ma:contentTypeScope="" ma:versionID="83cb9b3dcaf276b9eb74d806d95a1dd8">
  <xsd:schema xmlns:xsd="http://www.w3.org/2001/XMLSchema" xmlns:xs="http://www.w3.org/2001/XMLSchema" xmlns:p="http://schemas.microsoft.com/office/2006/metadata/properties" xmlns:ns2="6bf15077-4e46-4e3a-99a0-3fd5e4d406d3" targetNamespace="http://schemas.microsoft.com/office/2006/metadata/properties" ma:root="true" ma:fieldsID="5722cf350847c68a0f09e51844e13762" ns2:_="">
    <xsd:import namespace="6bf15077-4e46-4e3a-99a0-3fd5e4d406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15077-4e46-4e3a-99a0-3fd5e4d406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53C0832-9F79-4C96-B9A6-AC0106838D8C}"/>
</file>

<file path=customXml/itemProps2.xml><?xml version="1.0" encoding="utf-8"?>
<ds:datastoreItem xmlns:ds="http://schemas.openxmlformats.org/officeDocument/2006/customXml" ds:itemID="{575CF46D-BCAC-468E-AED8-2F3B41849B27}"/>
</file>

<file path=customXml/itemProps3.xml><?xml version="1.0" encoding="utf-8"?>
<ds:datastoreItem xmlns:ds="http://schemas.openxmlformats.org/officeDocument/2006/customXml" ds:itemID="{D8663748-51EB-4F77-9971-A1FF287A970A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754</TotalTime>
  <Words>409</Words>
  <Application>Microsoft Office PowerPoint</Application>
  <PresentationFormat>On-screen Show (4:3)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 MT</vt:lpstr>
      <vt:lpstr>Georgia</vt:lpstr>
      <vt:lpstr>Times New Roman</vt:lpstr>
      <vt:lpstr>Trebuchet MS</vt:lpstr>
      <vt:lpstr>Office Theme</vt:lpstr>
      <vt:lpstr>Data Flow Diagrams</vt:lpstr>
      <vt:lpstr>Data Flow Diagrams (DFD)</vt:lpstr>
      <vt:lpstr>4 Main Elements</vt:lpstr>
      <vt:lpstr>Notation</vt:lpstr>
      <vt:lpstr>Levelled DFDs</vt:lpstr>
      <vt:lpstr>Level 0 - Context Diagram</vt:lpstr>
      <vt:lpstr>Level 1 - overview diagram</vt:lpstr>
      <vt:lpstr>Level 2 - detailed diagram</vt:lpstr>
      <vt:lpstr>Rules for DFDs</vt:lpstr>
      <vt:lpstr>Numbering</vt:lpstr>
      <vt:lpstr>Labelling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Flow Diagrams</dc:title>
  <dc:creator>Patricia O'Byrne</dc:creator>
  <cp:lastModifiedBy>Israr Ahmad Lecturer FCS</cp:lastModifiedBy>
  <cp:revision>2</cp:revision>
  <dcterms:created xsi:type="dcterms:W3CDTF">2025-10-08T16:39:22Z</dcterms:created>
  <dcterms:modified xsi:type="dcterms:W3CDTF">2025-10-14T02:25:43Z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2014-12-11T00:00:00Z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2025-10-08T00:00:00Z</vt:filetime>
  </property>
  <property fmtid="{D5CDD505-2E9C-101B-9397-08002B2CF9AE}" pid="5" name="Producer">
    <vt:lpwstr>Microsoft® Office PowerPoint® 2007</vt:lpwstr>
  </property>
  <property fmtid="{D5CDD505-2E9C-101B-9397-08002B2CF9AE}" pid="6" name="ContentTypeId">
    <vt:lpwstr>0x0101006E4823951FA9BF42B980A03718EB0B18</vt:lpwstr>
  </property>
</Properties>
</file>