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4"/>
  </p:sldMasterIdLst>
  <p:sldIdLst>
    <p:sldId id="348" r:id="rId5"/>
    <p:sldId id="273" r:id="rId6"/>
    <p:sldId id="274" r:id="rId7"/>
    <p:sldId id="275" r:id="rId8"/>
    <p:sldId id="276" r:id="rId9"/>
    <p:sldId id="257" r:id="rId10"/>
    <p:sldId id="258" r:id="rId11"/>
    <p:sldId id="259" r:id="rId12"/>
    <p:sldId id="260" r:id="rId13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E0A594-392C-D541-70EB-6DC3988C6F86}" v="3" dt="2025-11-28T06:26:38.50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>
      <p:cViewPr varScale="1">
        <p:scale>
          <a:sx n="64" d="100"/>
          <a:sy n="64" d="100"/>
        </p:scale>
        <p:origin x="152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heed Ahmad Lecturer FCSE" userId="S::waheed.ahmad@giki.edu.pk::90d1b5d8-ec65-420d-8ce2-52bbd69507e5" providerId="AD" clId="Web-{95E0A594-392C-D541-70EB-6DC3988C6F86}"/>
    <pc:docChg chg="delSld">
      <pc:chgData name="Waheed Ahmad Lecturer FCSE" userId="S::waheed.ahmad@giki.edu.pk::90d1b5d8-ec65-420d-8ce2-52bbd69507e5" providerId="AD" clId="Web-{95E0A594-392C-D541-70EB-6DC3988C6F86}" dt="2025-11-28T06:26:38.505" v="2"/>
      <pc:docMkLst>
        <pc:docMk/>
      </pc:docMkLst>
      <pc:sldChg chg="del">
        <pc:chgData name="Waheed Ahmad Lecturer FCSE" userId="S::waheed.ahmad@giki.edu.pk::90d1b5d8-ec65-420d-8ce2-52bbd69507e5" providerId="AD" clId="Web-{95E0A594-392C-D541-70EB-6DC3988C6F86}" dt="2025-11-28T06:26:38.505" v="2"/>
        <pc:sldMkLst>
          <pc:docMk/>
          <pc:sldMk cId="0" sldId="261"/>
        </pc:sldMkLst>
      </pc:sldChg>
      <pc:sldChg chg="del">
        <pc:chgData name="Waheed Ahmad Lecturer FCSE" userId="S::waheed.ahmad@giki.edu.pk::90d1b5d8-ec65-420d-8ce2-52bbd69507e5" providerId="AD" clId="Web-{95E0A594-392C-D541-70EB-6DC3988C6F86}" dt="2025-11-28T06:26:38.505" v="0"/>
        <pc:sldMkLst>
          <pc:docMk/>
          <pc:sldMk cId="0" sldId="262"/>
        </pc:sldMkLst>
      </pc:sldChg>
      <pc:sldChg chg="del">
        <pc:chgData name="Waheed Ahmad Lecturer FCSE" userId="S::waheed.ahmad@giki.edu.pk::90d1b5d8-ec65-420d-8ce2-52bbd69507e5" providerId="AD" clId="Web-{95E0A594-392C-D541-70EB-6DC3988C6F86}" dt="2025-11-28T06:26:38.505" v="1"/>
        <pc:sldMkLst>
          <pc:docMk/>
          <pc:sldMk cId="3230125042" sldId="34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418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314588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53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72806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6128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8731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16457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94999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37912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845607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1251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</a:t>
            </a:r>
            <a:r>
              <a:rPr lang="en-US" spc="5"/>
              <a:t> </a:t>
            </a:r>
            <a:r>
              <a:rPr lang="en-US" spc="-10"/>
              <a:t>Computer</a:t>
            </a:r>
            <a:r>
              <a:rPr lang="en-US" spc="-60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326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163"/>
              </a:lnSpc>
              <a:tabLst>
                <a:tab pos="6400324" algn="l"/>
              </a:tabLst>
              <a:defRPr/>
            </a:pP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CS324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Computer</a:t>
            </a:r>
            <a:r>
              <a:rPr sz="1050" b="1" i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575" b="1" spc="-56" baseline="-5952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1575" baseline="-5952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9692" y="521922"/>
            <a:ext cx="6691313" cy="4727734"/>
            <a:chOff x="111125" y="234568"/>
            <a:chExt cx="8921750" cy="6303645"/>
          </a:xfrm>
        </p:grpSpPr>
        <p:sp>
          <p:nvSpPr>
            <p:cNvPr id="4" name="object 4"/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1371600" y="1605729"/>
            <a:ext cx="5010150" cy="425450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b="1" dirty="0">
                <a:solidFill>
                  <a:schemeClr val="tx1"/>
                </a:solidFill>
              </a:rPr>
              <a:t>CS361</a:t>
            </a:r>
            <a:r>
              <a:rPr sz="2700" b="1" dirty="0">
                <a:solidFill>
                  <a:schemeClr val="tx1"/>
                </a:solidFill>
              </a:rPr>
              <a:t>:</a:t>
            </a:r>
            <a:r>
              <a:rPr sz="2700" b="1" spc="-30" dirty="0">
                <a:solidFill>
                  <a:schemeClr val="tx1"/>
                </a:solidFill>
              </a:rPr>
              <a:t> </a:t>
            </a:r>
            <a:r>
              <a:rPr sz="2700" b="1" dirty="0">
                <a:solidFill>
                  <a:schemeClr val="tx1"/>
                </a:solidFill>
              </a:rPr>
              <a:t>Computer</a:t>
            </a:r>
            <a:r>
              <a:rPr sz="2700" b="1" spc="-15" dirty="0">
                <a:solidFill>
                  <a:schemeClr val="tx1"/>
                </a:solidFill>
              </a:rPr>
              <a:t> </a:t>
            </a:r>
            <a:r>
              <a:rPr sz="2700" b="1" spc="-8" dirty="0">
                <a:solidFill>
                  <a:schemeClr val="tx1"/>
                </a:solidFill>
              </a:rPr>
              <a:t>Architecture</a:t>
            </a:r>
            <a:endParaRPr sz="2700" b="1" dirty="0">
              <a:solidFill>
                <a:schemeClr val="tx1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76148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35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B3A46A1E-4695-E2C0-8AAD-23FCC975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44531"/>
            <a:ext cx="2057400" cy="20574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ABB0E011-348D-471A-0422-C12E0008068A}"/>
              </a:ext>
            </a:extLst>
          </p:cNvPr>
          <p:cNvSpPr txBox="1"/>
          <p:nvPr/>
        </p:nvSpPr>
        <p:spPr>
          <a:xfrm>
            <a:off x="1207378" y="3364564"/>
            <a:ext cx="5788660" cy="147412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400" b="1" spc="-10" dirty="0">
                <a:latin typeface="Arial"/>
                <a:cs typeface="Arial"/>
              </a:rPr>
              <a:t>Instruction-</a:t>
            </a:r>
            <a:r>
              <a:rPr sz="2400" b="1" dirty="0">
                <a:latin typeface="Arial"/>
                <a:cs typeface="Arial"/>
              </a:rPr>
              <a:t>level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endParaRPr sz="2400" dirty="0">
              <a:latin typeface="Arial"/>
              <a:cs typeface="Arial"/>
            </a:endParaRPr>
          </a:p>
          <a:p>
            <a:pPr marL="1173480" indent="-347345">
              <a:lnSpc>
                <a:spcPts val="2280"/>
              </a:lnSpc>
              <a:buClr>
                <a:srgbClr val="008011"/>
              </a:buClr>
              <a:buFont typeface="Wingdings"/>
              <a:buChar char=""/>
              <a:tabLst>
                <a:tab pos="1173480" algn="l"/>
              </a:tabLst>
            </a:pPr>
            <a:r>
              <a:rPr lang="en-US" sz="2000" spc="-10" dirty="0">
                <a:latin typeface="Arial MT"/>
                <a:cs typeface="Arial MT"/>
              </a:rPr>
              <a:t>Hazards continued..</a:t>
            </a:r>
          </a:p>
          <a:p>
            <a:pPr marL="1173480" indent="-347345">
              <a:lnSpc>
                <a:spcPts val="2280"/>
              </a:lnSpc>
              <a:buClr>
                <a:srgbClr val="008011"/>
              </a:buClr>
              <a:buFont typeface="Wingdings"/>
              <a:buChar char=""/>
              <a:tabLst>
                <a:tab pos="1173480" algn="l"/>
              </a:tabLst>
            </a:pPr>
            <a:r>
              <a:rPr lang="en-US" sz="2000" spc="-10" dirty="0">
                <a:latin typeface="Arial MT"/>
                <a:cs typeface="Arial MT"/>
              </a:rPr>
              <a:t>RISC Architecture</a:t>
            </a:r>
          </a:p>
          <a:p>
            <a:pPr marL="826135">
              <a:lnSpc>
                <a:spcPts val="2280"/>
              </a:lnSpc>
              <a:buClr>
                <a:srgbClr val="008011"/>
              </a:buClr>
              <a:tabLst>
                <a:tab pos="1173480" algn="l"/>
              </a:tabLst>
            </a:pPr>
            <a:endParaRPr lang="en-US" sz="2000" spc="-10" dirty="0">
              <a:latin typeface="Arial MT"/>
              <a:cs typeface="Arial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3D0F9-C59B-6E3A-6DAA-61DB6C243911}"/>
              </a:ext>
            </a:extLst>
          </p:cNvPr>
          <p:cNvSpPr txBox="1"/>
          <p:nvPr/>
        </p:nvSpPr>
        <p:spPr>
          <a:xfrm>
            <a:off x="204918" y="5328717"/>
            <a:ext cx="8939082" cy="98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1800" dirty="0">
                <a:latin typeface="Arial MT"/>
                <a:cs typeface="Arial MT"/>
              </a:rPr>
              <a:t>Book Computer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Architecture:</a:t>
            </a:r>
            <a:r>
              <a:rPr lang="en-US" sz="1800" spc="-6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Quantitative</a:t>
            </a:r>
            <a:r>
              <a:rPr lang="en-US" sz="1800" spc="-4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Approach,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Sixth</a:t>
            </a:r>
            <a:r>
              <a:rPr lang="en-US" sz="1800" spc="-2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Edition,</a:t>
            </a:r>
            <a:r>
              <a:rPr lang="en-US" sz="1800" spc="-4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Section</a:t>
            </a:r>
            <a:r>
              <a:rPr lang="en-US" sz="1800" spc="-45" dirty="0">
                <a:latin typeface="Arial MT"/>
                <a:cs typeface="Arial MT"/>
              </a:rPr>
              <a:t> </a:t>
            </a:r>
            <a:r>
              <a:rPr lang="en-US" sz="1800" spc="-25" dirty="0">
                <a:latin typeface="Arial MT"/>
                <a:cs typeface="Arial MT"/>
              </a:rPr>
              <a:t>C.1 – C2 3.1,.3.2,3.3</a:t>
            </a: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endParaRPr lang="en-US"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980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-254000"/>
            <a:ext cx="7543800" cy="14493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8305">
              <a:lnSpc>
                <a:spcPct val="100000"/>
              </a:lnSpc>
              <a:spcBef>
                <a:spcPts val="100"/>
              </a:spcBef>
            </a:pPr>
            <a:r>
              <a:rPr dirty="0"/>
              <a:t>BRANCH</a:t>
            </a:r>
            <a:r>
              <a:rPr spc="-85" dirty="0"/>
              <a:t> </a:t>
            </a:r>
            <a:r>
              <a:rPr spc="-10" dirty="0"/>
              <a:t>HAZARDS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1196085"/>
            <a:ext cx="8498840" cy="50203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7180" marR="835660" indent="-285115" algn="just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branch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interrupt)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conditional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 	</a:t>
            </a:r>
            <a:r>
              <a:rPr sz="2400" spc="-10" dirty="0">
                <a:latin typeface="Arial MT"/>
                <a:cs typeface="Arial MT"/>
              </a:rPr>
              <a:t>unconditional.</a:t>
            </a:r>
            <a:endParaRPr sz="2400">
              <a:latin typeface="Arial MT"/>
              <a:cs typeface="Arial MT"/>
            </a:endParaRPr>
          </a:p>
          <a:p>
            <a:pPr marL="695960" marR="5080" lvl="1" indent="-226695" algn="just">
              <a:lnSpc>
                <a:spcPts val="2160"/>
              </a:lnSpc>
              <a:spcBef>
                <a:spcPts val="72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unconditional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always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alters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sequential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flow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by 	</a:t>
            </a:r>
            <a:r>
              <a:rPr sz="2000" dirty="0">
                <a:latin typeface="Arial MT"/>
                <a:cs typeface="Arial MT"/>
              </a:rPr>
              <a:t>loading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counter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(PC)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target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address.</a:t>
            </a:r>
            <a:endParaRPr sz="2000">
              <a:latin typeface="Arial MT"/>
              <a:cs typeface="Arial MT"/>
            </a:endParaRPr>
          </a:p>
          <a:p>
            <a:pPr marL="695960" marR="67310" lvl="1" indent="-226695" algn="just">
              <a:lnSpc>
                <a:spcPct val="90000"/>
              </a:lnSpc>
              <a:spcBef>
                <a:spcPts val="69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conditional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selects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target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condition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satisfied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next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sequential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condition 	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satisfied.</a:t>
            </a:r>
            <a:endParaRPr sz="2000">
              <a:latin typeface="Arial MT"/>
              <a:cs typeface="Arial MT"/>
            </a:endParaRPr>
          </a:p>
          <a:p>
            <a:pPr marL="1155700" marR="796290" indent="-229235" algn="just">
              <a:lnSpc>
                <a:spcPts val="1939"/>
              </a:lnSpc>
              <a:spcBef>
                <a:spcPts val="685"/>
              </a:spcBef>
            </a:pPr>
            <a:r>
              <a:rPr sz="1800" dirty="0">
                <a:latin typeface="Arial MT"/>
                <a:cs typeface="Arial MT"/>
              </a:rPr>
              <a:t>»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target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address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known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25" dirty="0">
                <a:latin typeface="Arial MT"/>
                <a:cs typeface="Arial MT"/>
              </a:rPr>
              <a:t> is </a:t>
            </a:r>
            <a:r>
              <a:rPr sz="1800" spc="-10" dirty="0">
                <a:latin typeface="Arial MT"/>
                <a:cs typeface="Arial MT"/>
              </a:rPr>
              <a:t>executed.</a:t>
            </a:r>
            <a:endParaRPr sz="1800">
              <a:latin typeface="Arial MT"/>
              <a:cs typeface="Arial MT"/>
            </a:endParaRPr>
          </a:p>
          <a:p>
            <a:pPr marL="299085" marR="1007110" indent="-287020">
              <a:lnSpc>
                <a:spcPts val="2590"/>
              </a:lnSpc>
              <a:spcBef>
                <a:spcPts val="181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major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occurrence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branch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instructions.</a:t>
            </a:r>
            <a:endParaRPr sz="2400">
              <a:latin typeface="Arial MT"/>
              <a:cs typeface="Arial MT"/>
            </a:endParaRPr>
          </a:p>
          <a:p>
            <a:pPr marL="695960" marR="50800" lvl="1" indent="-226695">
              <a:lnSpc>
                <a:spcPts val="2160"/>
              </a:lnSpc>
              <a:spcBef>
                <a:spcPts val="72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breaks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normal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sequence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 	</a:t>
            </a:r>
            <a:r>
              <a:rPr sz="2000" dirty="0">
                <a:latin typeface="Arial MT"/>
                <a:cs typeface="Arial MT"/>
              </a:rPr>
              <a:t>stream,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causing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difficulties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pipeline.</a:t>
            </a:r>
            <a:endParaRPr sz="2000">
              <a:latin typeface="Arial MT"/>
              <a:cs typeface="Arial MT"/>
            </a:endParaRPr>
          </a:p>
          <a:p>
            <a:pPr marL="695960" marR="26670" lvl="1" indent="-226695">
              <a:lnSpc>
                <a:spcPts val="2160"/>
              </a:lnSpc>
              <a:spcBef>
                <a:spcPts val="72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interrupt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PC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fetch 	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next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delayed.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bject 5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600200" y="163513"/>
            <a:ext cx="7543800" cy="627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484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EXAMPLE</a:t>
            </a:r>
            <a:r>
              <a:rPr sz="4000" spc="-65" dirty="0"/>
              <a:t> </a:t>
            </a:r>
            <a:r>
              <a:rPr sz="4000" dirty="0"/>
              <a:t>OF</a:t>
            </a:r>
            <a:r>
              <a:rPr sz="4000" spc="-85" dirty="0"/>
              <a:t> </a:t>
            </a:r>
            <a:r>
              <a:rPr sz="4000" dirty="0"/>
              <a:t>BRANCH</a:t>
            </a:r>
            <a:r>
              <a:rPr sz="4000" spc="-35" dirty="0"/>
              <a:t> </a:t>
            </a:r>
            <a:r>
              <a:rPr sz="4000" spc="-10" dirty="0"/>
              <a:t>HAZARDS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09110" y="1079119"/>
            <a:ext cx="1131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Fetch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6558" y="1191895"/>
            <a:ext cx="913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7609" y="1574672"/>
            <a:ext cx="1285875" cy="47498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algn="ctr">
              <a:lnSpc>
                <a:spcPct val="72900"/>
              </a:lnSpc>
              <a:spcBef>
                <a:spcPts val="490"/>
              </a:spcBef>
            </a:pPr>
            <a:r>
              <a:rPr sz="1200" dirty="0">
                <a:latin typeface="Arial MT"/>
                <a:cs typeface="Arial MT"/>
              </a:rPr>
              <a:t>Decode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instruction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calculate </a:t>
            </a:r>
            <a:r>
              <a:rPr sz="1200" dirty="0">
                <a:latin typeface="Arial MT"/>
                <a:cs typeface="Arial MT"/>
              </a:rPr>
              <a:t>effective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address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3059" y="2198623"/>
            <a:ext cx="594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Branch?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6961" y="2625597"/>
            <a:ext cx="1009015" cy="3498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80645" marR="5080" indent="-68580">
              <a:lnSpc>
                <a:spcPct val="77400"/>
              </a:lnSpc>
              <a:spcBef>
                <a:spcPts val="425"/>
              </a:spcBef>
            </a:pPr>
            <a:r>
              <a:rPr sz="1200" dirty="0">
                <a:latin typeface="Arial MT"/>
                <a:cs typeface="Arial MT"/>
              </a:rPr>
              <a:t>Fetch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operand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memory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3584" y="3154426"/>
            <a:ext cx="1313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Execute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2359" y="3671773"/>
            <a:ext cx="6807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Interrupt?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0779" y="3617976"/>
            <a:ext cx="812800" cy="358140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20650">
              <a:lnSpc>
                <a:spcPts val="1245"/>
              </a:lnSpc>
              <a:spcBef>
                <a:spcPts val="225"/>
              </a:spcBef>
            </a:pPr>
            <a:r>
              <a:rPr sz="1200" spc="-10" dirty="0">
                <a:latin typeface="Arial MT"/>
                <a:cs typeface="Arial MT"/>
              </a:rPr>
              <a:t>Interrupt</a:t>
            </a:r>
            <a:endParaRPr sz="1200">
              <a:latin typeface="Arial MT"/>
              <a:cs typeface="Arial MT"/>
            </a:endParaRPr>
          </a:p>
          <a:p>
            <a:pPr marL="106045">
              <a:lnSpc>
                <a:spcPts val="1245"/>
              </a:lnSpc>
            </a:pPr>
            <a:r>
              <a:rPr sz="1200" spc="-10" dirty="0">
                <a:latin typeface="Arial MT"/>
                <a:cs typeface="Arial MT"/>
              </a:rPr>
              <a:t>handling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74164" y="4128515"/>
            <a:ext cx="887094" cy="208915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Arial MT"/>
                <a:cs typeface="Arial MT"/>
              </a:rPr>
              <a:t>Update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PC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0448" y="4543044"/>
            <a:ext cx="883919" cy="201295"/>
          </a:xfrm>
          <a:prstGeom prst="rect">
            <a:avLst/>
          </a:prstGeom>
          <a:ln w="1219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Arial MT"/>
                <a:cs typeface="Arial MT"/>
              </a:rPr>
              <a:t>Empty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pipe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95446" y="1074166"/>
            <a:ext cx="2117725" cy="3091180"/>
            <a:chOff x="3695446" y="1074166"/>
            <a:chExt cx="2117725" cy="3091180"/>
          </a:xfrm>
        </p:grpSpPr>
        <p:sp>
          <p:nvSpPr>
            <p:cNvPr id="17" name="object 17"/>
            <p:cNvSpPr/>
            <p:nvPr/>
          </p:nvSpPr>
          <p:spPr>
            <a:xfrm>
              <a:off x="3717036" y="1557528"/>
              <a:ext cx="1507490" cy="474345"/>
            </a:xfrm>
            <a:custGeom>
              <a:avLst/>
              <a:gdLst/>
              <a:ahLst/>
              <a:cxnLst/>
              <a:rect l="l" t="t" r="r" b="b"/>
              <a:pathLst>
                <a:path w="1507489" h="474344">
                  <a:moveTo>
                    <a:pt x="0" y="473963"/>
                  </a:moveTo>
                  <a:lnTo>
                    <a:pt x="1507236" y="473963"/>
                  </a:lnTo>
                  <a:lnTo>
                    <a:pt x="1507236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13504" y="1475232"/>
              <a:ext cx="91440" cy="90170"/>
            </a:xfrm>
            <a:custGeom>
              <a:avLst/>
              <a:gdLst/>
              <a:ahLst/>
              <a:cxnLst/>
              <a:rect l="l" t="t" r="r" b="b"/>
              <a:pathLst>
                <a:path w="91439" h="90169">
                  <a:moveTo>
                    <a:pt x="46355" y="0"/>
                  </a:moveTo>
                  <a:lnTo>
                    <a:pt x="34415" y="496"/>
                  </a:lnTo>
                  <a:lnTo>
                    <a:pt x="22653" y="1968"/>
                  </a:lnTo>
                  <a:lnTo>
                    <a:pt x="11154" y="4393"/>
                  </a:lnTo>
                  <a:lnTo>
                    <a:pt x="0" y="7746"/>
                  </a:lnTo>
                  <a:lnTo>
                    <a:pt x="46355" y="89915"/>
                  </a:lnTo>
                  <a:lnTo>
                    <a:pt x="91440" y="7365"/>
                  </a:lnTo>
                  <a:lnTo>
                    <a:pt x="80573" y="4179"/>
                  </a:lnTo>
                  <a:lnTo>
                    <a:pt x="69373" y="1873"/>
                  </a:lnTo>
                  <a:lnTo>
                    <a:pt x="57935" y="472"/>
                  </a:lnTo>
                  <a:lnTo>
                    <a:pt x="46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57700" y="1399032"/>
              <a:ext cx="0" cy="78105"/>
            </a:xfrm>
            <a:custGeom>
              <a:avLst/>
              <a:gdLst/>
              <a:ahLst/>
              <a:cxnLst/>
              <a:rect l="l" t="t" r="r" b="b"/>
              <a:pathLst>
                <a:path h="78105">
                  <a:moveTo>
                    <a:pt x="0" y="77723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01796" y="1080516"/>
              <a:ext cx="1508760" cy="314325"/>
            </a:xfrm>
            <a:custGeom>
              <a:avLst/>
              <a:gdLst/>
              <a:ahLst/>
              <a:cxnLst/>
              <a:rect l="l" t="t" r="r" b="b"/>
              <a:pathLst>
                <a:path w="1508760" h="314325">
                  <a:moveTo>
                    <a:pt x="0" y="313943"/>
                  </a:moveTo>
                  <a:lnTo>
                    <a:pt x="1508760" y="313943"/>
                  </a:lnTo>
                  <a:lnTo>
                    <a:pt x="1508760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27220" y="2071116"/>
              <a:ext cx="94615" cy="90170"/>
            </a:xfrm>
            <a:custGeom>
              <a:avLst/>
              <a:gdLst/>
              <a:ahLst/>
              <a:cxnLst/>
              <a:rect l="l" t="t" r="r" b="b"/>
              <a:pathLst>
                <a:path w="94614" h="90169">
                  <a:moveTo>
                    <a:pt x="47878" y="0"/>
                  </a:moveTo>
                  <a:lnTo>
                    <a:pt x="35558" y="498"/>
                  </a:lnTo>
                  <a:lnTo>
                    <a:pt x="23415" y="1984"/>
                  </a:lnTo>
                  <a:lnTo>
                    <a:pt x="11535" y="4446"/>
                  </a:lnTo>
                  <a:lnTo>
                    <a:pt x="0" y="7874"/>
                  </a:lnTo>
                  <a:lnTo>
                    <a:pt x="47878" y="89916"/>
                  </a:lnTo>
                  <a:lnTo>
                    <a:pt x="94487" y="7493"/>
                  </a:lnTo>
                  <a:lnTo>
                    <a:pt x="83240" y="4232"/>
                  </a:lnTo>
                  <a:lnTo>
                    <a:pt x="71659" y="1889"/>
                  </a:lnTo>
                  <a:lnTo>
                    <a:pt x="59840" y="474"/>
                  </a:lnTo>
                  <a:lnTo>
                    <a:pt x="478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45052" y="2039112"/>
              <a:ext cx="1237615" cy="447040"/>
            </a:xfrm>
            <a:custGeom>
              <a:avLst/>
              <a:gdLst/>
              <a:ahLst/>
              <a:cxnLst/>
              <a:rect l="l" t="t" r="r" b="b"/>
              <a:pathLst>
                <a:path w="1237614" h="447039">
                  <a:moveTo>
                    <a:pt x="624839" y="42672"/>
                  </a:moveTo>
                  <a:lnTo>
                    <a:pt x="624839" y="0"/>
                  </a:lnTo>
                </a:path>
                <a:path w="1237614" h="447039">
                  <a:moveTo>
                    <a:pt x="617220" y="124967"/>
                  </a:moveTo>
                  <a:lnTo>
                    <a:pt x="0" y="286512"/>
                  </a:lnTo>
                </a:path>
                <a:path w="1237614" h="447039">
                  <a:moveTo>
                    <a:pt x="1237488" y="286512"/>
                  </a:moveTo>
                  <a:lnTo>
                    <a:pt x="620268" y="446532"/>
                  </a:lnTo>
                </a:path>
                <a:path w="1237614" h="447039">
                  <a:moveTo>
                    <a:pt x="620268" y="124967"/>
                  </a:moveTo>
                  <a:lnTo>
                    <a:pt x="1237488" y="286512"/>
                  </a:lnTo>
                </a:path>
                <a:path w="1237614" h="447039">
                  <a:moveTo>
                    <a:pt x="0" y="286512"/>
                  </a:moveTo>
                  <a:lnTo>
                    <a:pt x="617220" y="44653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1124" y="2557272"/>
              <a:ext cx="89915" cy="914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29228" y="2636519"/>
              <a:ext cx="1510665" cy="312420"/>
            </a:xfrm>
            <a:custGeom>
              <a:avLst/>
              <a:gdLst/>
              <a:ahLst/>
              <a:cxnLst/>
              <a:rect l="l" t="t" r="r" b="b"/>
              <a:pathLst>
                <a:path w="1510664" h="312419">
                  <a:moveTo>
                    <a:pt x="0" y="312420"/>
                  </a:moveTo>
                  <a:lnTo>
                    <a:pt x="1510284" y="312420"/>
                  </a:lnTo>
                  <a:lnTo>
                    <a:pt x="1510284" y="0"/>
                  </a:lnTo>
                  <a:lnTo>
                    <a:pt x="0" y="0"/>
                  </a:lnTo>
                  <a:lnTo>
                    <a:pt x="0" y="3124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48556" y="3067811"/>
              <a:ext cx="91440" cy="88900"/>
            </a:xfrm>
            <a:custGeom>
              <a:avLst/>
              <a:gdLst/>
              <a:ahLst/>
              <a:cxnLst/>
              <a:rect l="l" t="t" r="r" b="b"/>
              <a:pathLst>
                <a:path w="91439" h="88900">
                  <a:moveTo>
                    <a:pt x="46990" y="0"/>
                  </a:moveTo>
                  <a:lnTo>
                    <a:pt x="34861" y="498"/>
                  </a:lnTo>
                  <a:lnTo>
                    <a:pt x="22923" y="1984"/>
                  </a:lnTo>
                  <a:lnTo>
                    <a:pt x="11271" y="4446"/>
                  </a:lnTo>
                  <a:lnTo>
                    <a:pt x="0" y="7874"/>
                  </a:lnTo>
                  <a:lnTo>
                    <a:pt x="46990" y="88391"/>
                  </a:lnTo>
                  <a:lnTo>
                    <a:pt x="91440" y="6985"/>
                  </a:lnTo>
                  <a:lnTo>
                    <a:pt x="80690" y="3964"/>
                  </a:lnTo>
                  <a:lnTo>
                    <a:pt x="69643" y="1777"/>
                  </a:lnTo>
                  <a:lnTo>
                    <a:pt x="58382" y="448"/>
                  </a:lnTo>
                  <a:lnTo>
                    <a:pt x="469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86656" y="2958083"/>
              <a:ext cx="0" cy="131445"/>
            </a:xfrm>
            <a:custGeom>
              <a:avLst/>
              <a:gdLst/>
              <a:ahLst/>
              <a:cxnLst/>
              <a:rect l="l" t="t" r="r" b="b"/>
              <a:pathLst>
                <a:path h="131444">
                  <a:moveTo>
                    <a:pt x="0" y="131063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29228" y="3157727"/>
              <a:ext cx="1510665" cy="208915"/>
            </a:xfrm>
            <a:custGeom>
              <a:avLst/>
              <a:gdLst/>
              <a:ahLst/>
              <a:cxnLst/>
              <a:rect l="l" t="t" r="r" b="b"/>
              <a:pathLst>
                <a:path w="1510664" h="208914">
                  <a:moveTo>
                    <a:pt x="0" y="208787"/>
                  </a:moveTo>
                  <a:lnTo>
                    <a:pt x="1510284" y="208787"/>
                  </a:lnTo>
                  <a:lnTo>
                    <a:pt x="1510284" y="0"/>
                  </a:lnTo>
                  <a:lnTo>
                    <a:pt x="0" y="0"/>
                  </a:lnTo>
                  <a:lnTo>
                    <a:pt x="0" y="20878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53128" y="3531108"/>
              <a:ext cx="91440" cy="88900"/>
            </a:xfrm>
            <a:custGeom>
              <a:avLst/>
              <a:gdLst/>
              <a:ahLst/>
              <a:cxnLst/>
              <a:rect l="l" t="t" r="r" b="b"/>
              <a:pathLst>
                <a:path w="91439" h="88900">
                  <a:moveTo>
                    <a:pt x="46355" y="0"/>
                  </a:moveTo>
                  <a:lnTo>
                    <a:pt x="34415" y="496"/>
                  </a:lnTo>
                  <a:lnTo>
                    <a:pt x="22653" y="1968"/>
                  </a:lnTo>
                  <a:lnTo>
                    <a:pt x="11154" y="4393"/>
                  </a:lnTo>
                  <a:lnTo>
                    <a:pt x="0" y="7746"/>
                  </a:lnTo>
                  <a:lnTo>
                    <a:pt x="46355" y="88391"/>
                  </a:lnTo>
                  <a:lnTo>
                    <a:pt x="91439" y="7365"/>
                  </a:lnTo>
                  <a:lnTo>
                    <a:pt x="80573" y="4179"/>
                  </a:lnTo>
                  <a:lnTo>
                    <a:pt x="69373" y="1873"/>
                  </a:lnTo>
                  <a:lnTo>
                    <a:pt x="57935" y="472"/>
                  </a:lnTo>
                  <a:lnTo>
                    <a:pt x="46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74008" y="3374136"/>
              <a:ext cx="1932939" cy="784860"/>
            </a:xfrm>
            <a:custGeom>
              <a:avLst/>
              <a:gdLst/>
              <a:ahLst/>
              <a:cxnLst/>
              <a:rect l="l" t="t" r="r" b="b"/>
              <a:pathLst>
                <a:path w="1932939" h="784860">
                  <a:moveTo>
                    <a:pt x="615695" y="161543"/>
                  </a:moveTo>
                  <a:lnTo>
                    <a:pt x="615695" y="0"/>
                  </a:lnTo>
                </a:path>
                <a:path w="1932939" h="784860">
                  <a:moveTo>
                    <a:pt x="617219" y="243839"/>
                  </a:moveTo>
                  <a:lnTo>
                    <a:pt x="0" y="405383"/>
                  </a:lnTo>
                </a:path>
                <a:path w="1932939" h="784860">
                  <a:moveTo>
                    <a:pt x="1239012" y="405383"/>
                  </a:moveTo>
                  <a:lnTo>
                    <a:pt x="618743" y="566927"/>
                  </a:lnTo>
                </a:path>
                <a:path w="1932939" h="784860">
                  <a:moveTo>
                    <a:pt x="618743" y="243839"/>
                  </a:moveTo>
                  <a:lnTo>
                    <a:pt x="1239012" y="405383"/>
                  </a:lnTo>
                </a:path>
                <a:path w="1932939" h="784860">
                  <a:moveTo>
                    <a:pt x="0" y="405383"/>
                  </a:moveTo>
                  <a:lnTo>
                    <a:pt x="617219" y="566927"/>
                  </a:lnTo>
                </a:path>
                <a:path w="1932939" h="784860">
                  <a:moveTo>
                    <a:pt x="615695" y="784859"/>
                  </a:moveTo>
                  <a:lnTo>
                    <a:pt x="615695" y="569976"/>
                  </a:lnTo>
                </a:path>
                <a:path w="1932939" h="784860">
                  <a:moveTo>
                    <a:pt x="618743" y="784859"/>
                  </a:moveTo>
                  <a:lnTo>
                    <a:pt x="1932431" y="784859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517263" y="392315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35528" y="3567429"/>
            <a:ext cx="565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5595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yes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74160" y="2274823"/>
            <a:ext cx="261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yes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28184" y="2428747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 MT"/>
                <a:cs typeface="Arial MT"/>
              </a:rPr>
              <a:t>no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647189" y="874522"/>
            <a:ext cx="4161154" cy="4028440"/>
            <a:chOff x="1647189" y="874522"/>
            <a:chExt cx="4161154" cy="4028440"/>
          </a:xfrm>
        </p:grpSpPr>
        <p:sp>
          <p:nvSpPr>
            <p:cNvPr id="35" name="object 35"/>
            <p:cNvSpPr/>
            <p:nvPr/>
          </p:nvSpPr>
          <p:spPr>
            <a:xfrm>
              <a:off x="5801868" y="890016"/>
              <a:ext cx="0" cy="3263265"/>
            </a:xfrm>
            <a:custGeom>
              <a:avLst/>
              <a:gdLst/>
              <a:ahLst/>
              <a:cxnLst/>
              <a:rect l="l" t="t" r="r" b="b"/>
              <a:pathLst>
                <a:path h="3263265">
                  <a:moveTo>
                    <a:pt x="0" y="3262884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14316" y="984504"/>
              <a:ext cx="93345" cy="86995"/>
            </a:xfrm>
            <a:custGeom>
              <a:avLst/>
              <a:gdLst/>
              <a:ahLst/>
              <a:cxnLst/>
              <a:rect l="l" t="t" r="r" b="b"/>
              <a:pathLst>
                <a:path w="93345" h="86994">
                  <a:moveTo>
                    <a:pt x="47117" y="0"/>
                  </a:moveTo>
                  <a:lnTo>
                    <a:pt x="34986" y="476"/>
                  </a:lnTo>
                  <a:lnTo>
                    <a:pt x="23034" y="1905"/>
                  </a:lnTo>
                  <a:lnTo>
                    <a:pt x="11344" y="4286"/>
                  </a:lnTo>
                  <a:lnTo>
                    <a:pt x="0" y="7620"/>
                  </a:lnTo>
                  <a:lnTo>
                    <a:pt x="47117" y="86868"/>
                  </a:lnTo>
                  <a:lnTo>
                    <a:pt x="92963" y="7238"/>
                  </a:lnTo>
                  <a:lnTo>
                    <a:pt x="81907" y="4071"/>
                  </a:lnTo>
                  <a:lnTo>
                    <a:pt x="70516" y="1809"/>
                  </a:lnTo>
                  <a:lnTo>
                    <a:pt x="58888" y="452"/>
                  </a:lnTo>
                  <a:lnTo>
                    <a:pt x="47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58511" y="890016"/>
              <a:ext cx="0" cy="109855"/>
            </a:xfrm>
            <a:custGeom>
              <a:avLst/>
              <a:gdLst/>
              <a:ahLst/>
              <a:cxnLst/>
              <a:rect l="l" t="t" r="r" b="b"/>
              <a:pathLst>
                <a:path h="109855">
                  <a:moveTo>
                    <a:pt x="0" y="109728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5927" y="984504"/>
              <a:ext cx="91440" cy="86995"/>
            </a:xfrm>
            <a:custGeom>
              <a:avLst/>
              <a:gdLst/>
              <a:ahLst/>
              <a:cxnLst/>
              <a:rect l="l" t="t" r="r" b="b"/>
              <a:pathLst>
                <a:path w="91439" h="86994">
                  <a:moveTo>
                    <a:pt x="46989" y="0"/>
                  </a:moveTo>
                  <a:lnTo>
                    <a:pt x="34861" y="496"/>
                  </a:lnTo>
                  <a:lnTo>
                    <a:pt x="22923" y="1968"/>
                  </a:lnTo>
                  <a:lnTo>
                    <a:pt x="11271" y="4393"/>
                  </a:lnTo>
                  <a:lnTo>
                    <a:pt x="0" y="7747"/>
                  </a:lnTo>
                  <a:lnTo>
                    <a:pt x="46989" y="86868"/>
                  </a:lnTo>
                  <a:lnTo>
                    <a:pt x="91439" y="6858"/>
                  </a:lnTo>
                  <a:lnTo>
                    <a:pt x="80690" y="3857"/>
                  </a:lnTo>
                  <a:lnTo>
                    <a:pt x="69643" y="1714"/>
                  </a:lnTo>
                  <a:lnTo>
                    <a:pt x="58382" y="428"/>
                  </a:lnTo>
                  <a:lnTo>
                    <a:pt x="469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38600" y="880872"/>
              <a:ext cx="1755775" cy="143510"/>
            </a:xfrm>
            <a:custGeom>
              <a:avLst/>
              <a:gdLst/>
              <a:ahLst/>
              <a:cxnLst/>
              <a:rect l="l" t="t" r="r" b="b"/>
              <a:pathLst>
                <a:path w="1755775" h="143509">
                  <a:moveTo>
                    <a:pt x="0" y="143255"/>
                  </a:moveTo>
                  <a:lnTo>
                    <a:pt x="0" y="0"/>
                  </a:lnTo>
                </a:path>
                <a:path w="1755775" h="143509">
                  <a:moveTo>
                    <a:pt x="830579" y="7619"/>
                  </a:moveTo>
                  <a:lnTo>
                    <a:pt x="1755648" y="7619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55263" y="3742944"/>
              <a:ext cx="117348" cy="7315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727959" y="4041648"/>
              <a:ext cx="93345" cy="90170"/>
            </a:xfrm>
            <a:custGeom>
              <a:avLst/>
              <a:gdLst/>
              <a:ahLst/>
              <a:cxnLst/>
              <a:rect l="l" t="t" r="r" b="b"/>
              <a:pathLst>
                <a:path w="93344" h="90170">
                  <a:moveTo>
                    <a:pt x="47116" y="0"/>
                  </a:moveTo>
                  <a:lnTo>
                    <a:pt x="34986" y="498"/>
                  </a:lnTo>
                  <a:lnTo>
                    <a:pt x="23034" y="1984"/>
                  </a:lnTo>
                  <a:lnTo>
                    <a:pt x="11344" y="4446"/>
                  </a:lnTo>
                  <a:lnTo>
                    <a:pt x="0" y="7874"/>
                  </a:lnTo>
                  <a:lnTo>
                    <a:pt x="47116" y="89915"/>
                  </a:lnTo>
                  <a:lnTo>
                    <a:pt x="92963" y="7365"/>
                  </a:lnTo>
                  <a:lnTo>
                    <a:pt x="81907" y="4179"/>
                  </a:lnTo>
                  <a:lnTo>
                    <a:pt x="70516" y="1873"/>
                  </a:lnTo>
                  <a:lnTo>
                    <a:pt x="58888" y="472"/>
                  </a:lnTo>
                  <a:lnTo>
                    <a:pt x="47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70631" y="3985260"/>
              <a:ext cx="0" cy="85725"/>
            </a:xfrm>
            <a:custGeom>
              <a:avLst/>
              <a:gdLst/>
              <a:ahLst/>
              <a:cxnLst/>
              <a:rect l="l" t="t" r="r" b="b"/>
              <a:pathLst>
                <a:path h="85725">
                  <a:moveTo>
                    <a:pt x="0" y="85343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427731" y="4456175"/>
              <a:ext cx="91440" cy="90170"/>
            </a:xfrm>
            <a:custGeom>
              <a:avLst/>
              <a:gdLst/>
              <a:ahLst/>
              <a:cxnLst/>
              <a:rect l="l" t="t" r="r" b="b"/>
              <a:pathLst>
                <a:path w="91439" h="90170">
                  <a:moveTo>
                    <a:pt x="46355" y="0"/>
                  </a:moveTo>
                  <a:lnTo>
                    <a:pt x="34415" y="498"/>
                  </a:lnTo>
                  <a:lnTo>
                    <a:pt x="22653" y="1984"/>
                  </a:lnTo>
                  <a:lnTo>
                    <a:pt x="11154" y="4446"/>
                  </a:lnTo>
                  <a:lnTo>
                    <a:pt x="0" y="7874"/>
                  </a:lnTo>
                  <a:lnTo>
                    <a:pt x="46355" y="89916"/>
                  </a:lnTo>
                  <a:lnTo>
                    <a:pt x="91440" y="7366"/>
                  </a:lnTo>
                  <a:lnTo>
                    <a:pt x="80573" y="4179"/>
                  </a:lnTo>
                  <a:lnTo>
                    <a:pt x="69373" y="1873"/>
                  </a:lnTo>
                  <a:lnTo>
                    <a:pt x="57935" y="472"/>
                  </a:lnTo>
                  <a:lnTo>
                    <a:pt x="46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53539" y="4343400"/>
              <a:ext cx="821690" cy="553720"/>
            </a:xfrm>
            <a:custGeom>
              <a:avLst/>
              <a:gdLst/>
              <a:ahLst/>
              <a:cxnLst/>
              <a:rect l="l" t="t" r="r" b="b"/>
              <a:pathLst>
                <a:path w="821689" h="553720">
                  <a:moveTo>
                    <a:pt x="821436" y="131063"/>
                  </a:moveTo>
                  <a:lnTo>
                    <a:pt x="821436" y="0"/>
                  </a:lnTo>
                </a:path>
                <a:path w="821689" h="553720">
                  <a:moveTo>
                    <a:pt x="821436" y="545592"/>
                  </a:moveTo>
                  <a:lnTo>
                    <a:pt x="821436" y="408431"/>
                  </a:lnTo>
                </a:path>
                <a:path w="821689" h="553720">
                  <a:moveTo>
                    <a:pt x="818388" y="553212"/>
                  </a:moveTo>
                  <a:lnTo>
                    <a:pt x="0" y="553212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9423" y="4041648"/>
              <a:ext cx="94487" cy="8991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284475" y="2321052"/>
              <a:ext cx="1553210" cy="1743710"/>
            </a:xfrm>
            <a:custGeom>
              <a:avLst/>
              <a:gdLst/>
              <a:ahLst/>
              <a:cxnLst/>
              <a:rect l="l" t="t" r="r" b="b"/>
              <a:pathLst>
                <a:path w="1553210" h="1743710">
                  <a:moveTo>
                    <a:pt x="10668" y="1743456"/>
                  </a:moveTo>
                  <a:lnTo>
                    <a:pt x="10668" y="0"/>
                  </a:lnTo>
                </a:path>
                <a:path w="1553210" h="1743710">
                  <a:moveTo>
                    <a:pt x="1552956" y="3048"/>
                  </a:moveTo>
                  <a:lnTo>
                    <a:pt x="0" y="304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653539" y="880872"/>
              <a:ext cx="2383790" cy="4008754"/>
            </a:xfrm>
            <a:custGeom>
              <a:avLst/>
              <a:gdLst/>
              <a:ahLst/>
              <a:cxnLst/>
              <a:rect l="l" t="t" r="r" b="b"/>
              <a:pathLst>
                <a:path w="2383790" h="4008754">
                  <a:moveTo>
                    <a:pt x="0" y="4008501"/>
                  </a:moveTo>
                  <a:lnTo>
                    <a:pt x="0" y="0"/>
                  </a:lnTo>
                  <a:lnTo>
                    <a:pt x="2383536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726182" y="1145794"/>
            <a:ext cx="763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Segment1: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40532" y="1735073"/>
            <a:ext cx="763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Segment2: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753105" y="2701493"/>
            <a:ext cx="7658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Segment3: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53105" y="3173729"/>
            <a:ext cx="766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Segment4: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457700" y="2491739"/>
            <a:ext cx="0" cy="66040"/>
          </a:xfrm>
          <a:custGeom>
            <a:avLst/>
            <a:gdLst/>
            <a:ahLst/>
            <a:cxnLst/>
            <a:rect l="l" t="t" r="r" b="b"/>
            <a:pathLst>
              <a:path h="66039">
                <a:moveTo>
                  <a:pt x="0" y="65532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6200" y="526914"/>
            <a:ext cx="7543800" cy="56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0534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HOW</a:t>
            </a:r>
            <a:r>
              <a:rPr sz="3600" spc="-55" dirty="0"/>
              <a:t> </a:t>
            </a:r>
            <a:r>
              <a:rPr sz="3600" dirty="0"/>
              <a:t>TO</a:t>
            </a:r>
            <a:r>
              <a:rPr sz="3600" spc="-60" dirty="0"/>
              <a:t> </a:t>
            </a:r>
            <a:r>
              <a:rPr sz="3600" dirty="0"/>
              <a:t>AVOID</a:t>
            </a:r>
            <a:r>
              <a:rPr sz="3600" spc="-35" dirty="0"/>
              <a:t> </a:t>
            </a:r>
            <a:r>
              <a:rPr sz="3600" dirty="0"/>
              <a:t>BRANCH </a:t>
            </a:r>
            <a:r>
              <a:rPr sz="3600" spc="-10" dirty="0"/>
              <a:t>HAZARDS?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383" y="1132910"/>
            <a:ext cx="8357234" cy="52483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2000" dirty="0">
                <a:latin typeface="Arial MT"/>
                <a:cs typeface="Arial MT"/>
              </a:rPr>
              <a:t>Prefetch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Target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</a:t>
            </a:r>
            <a:endParaRPr sz="2000" dirty="0">
              <a:latin typeface="Arial MT"/>
              <a:cs typeface="Arial MT"/>
            </a:endParaRPr>
          </a:p>
          <a:p>
            <a:pPr marL="697865" indent="-227965">
              <a:lnSpc>
                <a:spcPct val="100000"/>
              </a:lnSpc>
              <a:spcBef>
                <a:spcPts val="229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Fetch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streams,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untaken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taken</a:t>
            </a:r>
            <a:endParaRPr sz="1800" dirty="0">
              <a:latin typeface="Arial MT"/>
              <a:cs typeface="Arial MT"/>
            </a:endParaRPr>
          </a:p>
          <a:p>
            <a:pPr marL="697230" marR="285115" indent="-227965">
              <a:lnSpc>
                <a:spcPct val="110000"/>
              </a:lnSpc>
              <a:buChar char="–"/>
              <a:tabLst>
                <a:tab pos="723900" algn="l"/>
              </a:tabLst>
            </a:pP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saved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until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executed.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right</a:t>
            </a:r>
            <a:r>
              <a:rPr sz="1800" spc="-10" dirty="0">
                <a:latin typeface="Arial MT"/>
                <a:cs typeface="Arial MT"/>
              </a:rPr>
              <a:t> instruction 	</a:t>
            </a:r>
            <a:r>
              <a:rPr sz="1800" dirty="0">
                <a:latin typeface="Arial MT"/>
                <a:cs typeface="Arial MT"/>
              </a:rPr>
              <a:t>stream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discard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wrong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stream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Delayed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Branch</a:t>
            </a:r>
            <a:endParaRPr sz="2000" dirty="0">
              <a:latin typeface="Arial MT"/>
              <a:cs typeface="Arial MT"/>
            </a:endParaRPr>
          </a:p>
          <a:p>
            <a:pPr marL="698500" marR="642620" indent="-228600">
              <a:lnSpc>
                <a:spcPct val="110000"/>
              </a:lnSpc>
              <a:spcBef>
                <a:spcPts val="5"/>
              </a:spcBef>
              <a:buChar char="–"/>
              <a:tabLst>
                <a:tab pos="698500" algn="l"/>
              </a:tabLst>
            </a:pPr>
            <a:r>
              <a:rPr sz="1800" dirty="0">
                <a:latin typeface="Arial MT"/>
                <a:cs typeface="Arial MT"/>
              </a:rPr>
              <a:t>Compiler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detects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rearranges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sequence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inserting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useful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keep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pipeline </a:t>
            </a:r>
            <a:r>
              <a:rPr sz="1800" spc="-20" dirty="0">
                <a:latin typeface="Arial MT"/>
                <a:cs typeface="Arial MT"/>
              </a:rPr>
              <a:t>busy</a:t>
            </a:r>
            <a:endParaRPr sz="1800" dirty="0">
              <a:latin typeface="Arial MT"/>
              <a:cs typeface="Arial MT"/>
            </a:endParaRPr>
          </a:p>
          <a:p>
            <a:pPr marL="6985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presence 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10" dirty="0">
                <a:latin typeface="Arial MT"/>
                <a:cs typeface="Arial MT"/>
              </a:rPr>
              <a:t> instruction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Prediction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(Speculation)</a:t>
            </a:r>
            <a:endParaRPr sz="2000" dirty="0">
              <a:latin typeface="Arial MT"/>
              <a:cs typeface="Arial MT"/>
            </a:endParaRPr>
          </a:p>
          <a:p>
            <a:pPr marL="697865" indent="-227965">
              <a:lnSpc>
                <a:spcPct val="100000"/>
              </a:lnSpc>
              <a:spcBef>
                <a:spcPts val="100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Guessing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condition,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fetching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stream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on</a:t>
            </a:r>
            <a:endParaRPr sz="1800" dirty="0">
              <a:latin typeface="Arial MT"/>
              <a:cs typeface="Arial MT"/>
            </a:endParaRPr>
          </a:p>
          <a:p>
            <a:pPr marL="698500">
              <a:lnSpc>
                <a:spcPct val="100000"/>
              </a:lnSpc>
              <a:spcBef>
                <a:spcPts val="115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guess.</a:t>
            </a:r>
            <a:endParaRPr sz="1800" dirty="0">
              <a:latin typeface="Arial MT"/>
              <a:cs typeface="Arial MT"/>
            </a:endParaRPr>
          </a:p>
          <a:p>
            <a:pPr marL="697230" marR="149860" indent="-227965">
              <a:lnSpc>
                <a:spcPct val="105000"/>
              </a:lnSpc>
              <a:buChar char="–"/>
              <a:tabLst>
                <a:tab pos="723900" algn="l"/>
              </a:tabLst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speculate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outcome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implement 	</a:t>
            </a:r>
            <a:r>
              <a:rPr sz="1800" dirty="0">
                <a:latin typeface="Arial MT"/>
                <a:cs typeface="Arial MT"/>
              </a:rPr>
              <a:t>“delayed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branch”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could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executed 	earlier.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60363"/>
            <a:ext cx="7543800" cy="68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954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EXCEPTION</a:t>
            </a:r>
            <a:r>
              <a:rPr sz="4400" spc="-55" dirty="0"/>
              <a:t> </a:t>
            </a:r>
            <a:r>
              <a:rPr sz="4400" spc="-10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1220470"/>
            <a:ext cx="8288020" cy="49326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marR="80645" indent="-287020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Exception: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unscheduled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unexpected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disrupts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normal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execution.</a:t>
            </a:r>
            <a:endParaRPr sz="24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84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Events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jumps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0" dirty="0">
                <a:latin typeface="Arial MT"/>
                <a:cs typeface="Arial MT"/>
              </a:rPr>
              <a:t> predicted.</a:t>
            </a:r>
            <a:endParaRPr sz="20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8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Come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processor,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arithmetic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overflow.</a:t>
            </a:r>
            <a:endParaRPr sz="20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735"/>
              </a:spcBef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marL="299085" marR="585470" indent="-287020">
              <a:lnSpc>
                <a:spcPts val="259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Interrupt: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exception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outside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processor,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I/O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device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request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marR="403225" indent="-287020">
              <a:lnSpc>
                <a:spcPts val="259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implementation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treats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exceptions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another </a:t>
            </a:r>
            <a:r>
              <a:rPr sz="2400" dirty="0">
                <a:latin typeface="Arial MT"/>
                <a:cs typeface="Arial MT"/>
              </a:rPr>
              <a:t>form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hazard.</a:t>
            </a:r>
            <a:endParaRPr sz="2400">
              <a:latin typeface="Arial MT"/>
              <a:cs typeface="Arial MT"/>
            </a:endParaRPr>
          </a:p>
          <a:p>
            <a:pPr marL="697865" lvl="1" indent="-227965">
              <a:lnSpc>
                <a:spcPts val="2050"/>
              </a:lnSpc>
              <a:spcBef>
                <a:spcPts val="405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suppose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arithmetic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overflow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instruction.</a:t>
            </a:r>
            <a:endParaRPr sz="1800">
              <a:latin typeface="Arial MT"/>
              <a:cs typeface="Arial MT"/>
            </a:endParaRPr>
          </a:p>
          <a:p>
            <a:pPr marL="697865" marR="255270">
              <a:lnSpc>
                <a:spcPct val="90100"/>
              </a:lnSpc>
              <a:spcBef>
                <a:spcPts val="105"/>
              </a:spcBef>
            </a:pPr>
            <a:r>
              <a:rPr sz="1800" dirty="0">
                <a:latin typeface="Arial MT"/>
                <a:cs typeface="Arial MT"/>
              </a:rPr>
              <a:t>Just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hazards,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flush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follow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pipeline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begin </a:t>
            </a:r>
            <a:r>
              <a:rPr sz="1800" dirty="0">
                <a:latin typeface="Arial MT"/>
                <a:cs typeface="Arial MT"/>
              </a:rPr>
              <a:t>fetching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371" rIns="0" bIns="0" rtlCol="0">
            <a:spAutoFit/>
          </a:bodyPr>
          <a:lstStyle/>
          <a:p>
            <a:pPr marL="23272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RISC</a:t>
            </a:r>
            <a:r>
              <a:rPr sz="2800" spc="-30" dirty="0"/>
              <a:t> </a:t>
            </a:r>
            <a:r>
              <a:rPr sz="2800" spc="-10" dirty="0"/>
              <a:t>RECAP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75241" y="1704882"/>
            <a:ext cx="8315325" cy="44811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architectures:</a:t>
            </a:r>
            <a:endParaRPr sz="24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69659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Complex</a:t>
            </a:r>
            <a:r>
              <a:rPr sz="20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Instruction</a:t>
            </a:r>
            <a:r>
              <a:rPr sz="20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Set</a:t>
            </a:r>
            <a:r>
              <a:rPr sz="20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Computer</a:t>
            </a:r>
            <a:r>
              <a:rPr sz="20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(CISC)</a:t>
            </a:r>
            <a:endParaRPr sz="2000" dirty="0">
              <a:latin typeface="Arial"/>
              <a:cs typeface="Arial"/>
            </a:endParaRPr>
          </a:p>
          <a:p>
            <a:pPr marL="696595" lvl="1" indent="-226695">
              <a:lnSpc>
                <a:spcPct val="100000"/>
              </a:lnSpc>
              <a:spcBef>
                <a:spcPts val="484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Instructions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directly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addresses</a:t>
            </a:r>
            <a:endParaRPr sz="2000" dirty="0">
              <a:latin typeface="Arial MT"/>
              <a:cs typeface="Arial MT"/>
            </a:endParaRPr>
          </a:p>
          <a:p>
            <a:pPr marL="927100">
              <a:lnSpc>
                <a:spcPts val="1825"/>
              </a:lnSpc>
              <a:spcBef>
                <a:spcPts val="400"/>
              </a:spcBef>
            </a:pPr>
            <a:r>
              <a:rPr sz="1600" dirty="0">
                <a:latin typeface="Arial MT"/>
                <a:cs typeface="Arial MT"/>
              </a:rPr>
              <a:t>»</a:t>
            </a:r>
            <a:r>
              <a:rPr sz="1600" spc="4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 </a:t>
            </a:r>
            <a:r>
              <a:rPr sz="1600" spc="-10" dirty="0">
                <a:latin typeface="Arial MT"/>
                <a:cs typeface="Arial MT"/>
              </a:rPr>
              <a:t>example,</a:t>
            </a:r>
            <a:endParaRPr sz="1600" dirty="0">
              <a:latin typeface="Arial MT"/>
              <a:cs typeface="Arial MT"/>
            </a:endParaRPr>
          </a:p>
          <a:p>
            <a:pPr marL="2298700">
              <a:lnSpc>
                <a:spcPts val="1730"/>
              </a:lnSpc>
            </a:pPr>
            <a:r>
              <a:rPr sz="1600" dirty="0">
                <a:latin typeface="Arial MT"/>
                <a:cs typeface="Arial MT"/>
              </a:rPr>
              <a:t>ADD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L1, L2,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L3</a:t>
            </a:r>
            <a:endParaRPr sz="1600" dirty="0">
              <a:latin typeface="Arial MT"/>
              <a:cs typeface="Arial MT"/>
            </a:endParaRPr>
          </a:p>
          <a:p>
            <a:pPr marL="1155700" marR="120650">
              <a:lnSpc>
                <a:spcPts val="1730"/>
              </a:lnSpc>
              <a:spcBef>
                <a:spcPts val="120"/>
              </a:spcBef>
            </a:pP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takes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contents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M</a:t>
            </a:r>
            <a:r>
              <a:rPr sz="1600" dirty="0">
                <a:latin typeface="Arial MT"/>
                <a:cs typeface="Arial MT"/>
              </a:rPr>
              <a:t>[</a:t>
            </a:r>
            <a:r>
              <a:rPr sz="1600" i="1" dirty="0">
                <a:latin typeface="Arial"/>
                <a:cs typeface="Arial"/>
              </a:rPr>
              <a:t>L3</a:t>
            </a:r>
            <a:r>
              <a:rPr sz="1600" dirty="0">
                <a:latin typeface="Arial MT"/>
                <a:cs typeface="Arial MT"/>
              </a:rPr>
              <a:t>]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contents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M</a:t>
            </a:r>
            <a:r>
              <a:rPr sz="1600" dirty="0">
                <a:latin typeface="Arial MT"/>
                <a:cs typeface="Arial MT"/>
              </a:rPr>
              <a:t>[</a:t>
            </a:r>
            <a:r>
              <a:rPr sz="1600" i="1" dirty="0">
                <a:latin typeface="Arial"/>
                <a:cs typeface="Arial"/>
              </a:rPr>
              <a:t>L2</a:t>
            </a:r>
            <a:r>
              <a:rPr sz="1600" dirty="0">
                <a:latin typeface="Arial MT"/>
                <a:cs typeface="Arial MT"/>
              </a:rPr>
              <a:t>] and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stores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result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location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i="1" spc="-20" dirty="0">
                <a:latin typeface="Arial"/>
                <a:cs typeface="Arial"/>
              </a:rPr>
              <a:t>M</a:t>
            </a:r>
            <a:r>
              <a:rPr sz="1600" spc="-20" dirty="0">
                <a:latin typeface="Arial MT"/>
                <a:cs typeface="Arial MT"/>
              </a:rPr>
              <a:t>[</a:t>
            </a:r>
            <a:r>
              <a:rPr sz="1600" i="1" spc="-20" dirty="0">
                <a:latin typeface="Arial"/>
                <a:cs typeface="Arial"/>
              </a:rPr>
              <a:t>L1</a:t>
            </a:r>
            <a:r>
              <a:rPr sz="1600" spc="-20" dirty="0">
                <a:latin typeface="Arial MT"/>
                <a:cs typeface="Arial MT"/>
              </a:rPr>
              <a:t>]</a:t>
            </a:r>
            <a:endParaRPr sz="16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39"/>
              </a:spcBef>
              <a:buChar char="–"/>
              <a:tabLst>
                <a:tab pos="696595" algn="l"/>
              </a:tabLst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Potentially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very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long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instruction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execution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cycle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(i.e.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high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CPI)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060"/>
              </a:spcBef>
              <a:buFont typeface="Arial MT"/>
              <a:buChar char="–"/>
            </a:pPr>
            <a:endParaRPr sz="20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buFont typeface="Arial MT"/>
              <a:buChar char="–"/>
              <a:tabLst>
                <a:tab pos="69659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Reduced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Instruction</a:t>
            </a:r>
            <a:r>
              <a:rPr sz="20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Set</a:t>
            </a:r>
            <a:r>
              <a:rPr sz="20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Computer</a:t>
            </a:r>
            <a:r>
              <a:rPr sz="20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(RISC)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Arial MT"/>
                <a:cs typeface="Arial MT"/>
              </a:rPr>
              <a:t>»</a:t>
            </a:r>
            <a:r>
              <a:rPr sz="1800" spc="254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Load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Store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communication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CPU</a:t>
            </a:r>
            <a:endParaRPr sz="1800" dirty="0">
              <a:latin typeface="Arial MT"/>
              <a:cs typeface="Arial MT"/>
            </a:endParaRPr>
          </a:p>
          <a:p>
            <a:pPr marL="1155700" marR="543560" indent="-229235">
              <a:lnSpc>
                <a:spcPts val="1939"/>
              </a:lnSpc>
              <a:spcBef>
                <a:spcPts val="680"/>
              </a:spcBef>
            </a:pPr>
            <a:r>
              <a:rPr sz="1800" dirty="0">
                <a:latin typeface="Arial MT"/>
                <a:cs typeface="Arial MT"/>
              </a:rPr>
              <a:t>»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within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without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referring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spc="-10" dirty="0">
                <a:latin typeface="Arial MT"/>
                <a:cs typeface="Arial MT"/>
              </a:rPr>
              <a:t>memory</a:t>
            </a:r>
            <a:endParaRPr sz="18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409"/>
              </a:spcBef>
            </a:pPr>
            <a:r>
              <a:rPr sz="1800" dirty="0">
                <a:latin typeface="Arial MT"/>
                <a:cs typeface="Arial MT"/>
              </a:rPr>
              <a:t>»</a:t>
            </a:r>
            <a:r>
              <a:rPr sz="1800" spc="2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manipulation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register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register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operations.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37" rIns="0" bIns="0" rtlCol="0">
            <a:spAutoFit/>
          </a:bodyPr>
          <a:lstStyle/>
          <a:p>
            <a:pPr marL="232727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RISC</a:t>
            </a:r>
            <a:r>
              <a:rPr sz="2800" spc="-75" dirty="0"/>
              <a:t> </a:t>
            </a:r>
            <a:r>
              <a:rPr sz="2800" spc="-10" dirty="0"/>
              <a:t>RECAP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767341"/>
            <a:ext cx="3766185" cy="97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RISC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Example:</a:t>
            </a:r>
            <a:endParaRPr sz="2400" dirty="0">
              <a:latin typeface="Arial MT"/>
              <a:cs typeface="Arial MT"/>
            </a:endParaRPr>
          </a:p>
          <a:p>
            <a:pPr marL="1410335">
              <a:lnSpc>
                <a:spcPct val="100000"/>
              </a:lnSpc>
              <a:spcBef>
                <a:spcPts val="2160"/>
              </a:spcBef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X</a:t>
            </a:r>
            <a:r>
              <a:rPr sz="20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(A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+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B)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*</a:t>
            </a:r>
            <a:r>
              <a:rPr sz="20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(C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+</a:t>
            </a:r>
            <a:r>
              <a:rPr sz="20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D)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221276"/>
              </p:ext>
            </p:extLst>
          </p:nvPr>
        </p:nvGraphicFramePr>
        <p:xfrm>
          <a:off x="2209800" y="3358642"/>
          <a:ext cx="2698115" cy="2557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LOAD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ts val="1989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R1,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LOAD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R2,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LOAD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R3,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C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LOAD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R4,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ADD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R1,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R1,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R2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ADD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R3,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R3,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R4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MUL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R1,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R1,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R3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  <a:spcBef>
                          <a:spcPts val="1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STORE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ts val="208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X,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R1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8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04800"/>
            <a:ext cx="7543800" cy="514350"/>
          </a:xfrm>
          <a:prstGeom prst="rect">
            <a:avLst/>
          </a:prstGeom>
        </p:spPr>
        <p:txBody>
          <a:bodyPr vert="horz" wrap="square" lIns="0" tIns="82219" rIns="0" bIns="0" rtlCol="0">
            <a:spAutoFit/>
          </a:bodyPr>
          <a:lstStyle/>
          <a:p>
            <a:pPr marL="2322195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RISC</a:t>
            </a:r>
            <a:r>
              <a:rPr sz="2800" spc="-70" dirty="0"/>
              <a:t> </a:t>
            </a:r>
            <a:r>
              <a:rPr sz="2800" spc="-10" dirty="0"/>
              <a:t>PIPELINE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623591" y="857885"/>
            <a:ext cx="8519160" cy="51422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144145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properties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RISC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simplification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implementation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“efficient”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pipelining</a:t>
            </a:r>
            <a:endParaRPr sz="2400" dirty="0">
              <a:latin typeface="Arial MT"/>
              <a:cs typeface="Arial MT"/>
            </a:endParaRPr>
          </a:p>
          <a:p>
            <a:pPr marL="695960" marR="38735" lvl="1" indent="-226695">
              <a:lnSpc>
                <a:spcPts val="2160"/>
              </a:lnSpc>
              <a:spcBef>
                <a:spcPts val="72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simplicity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RISC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utilized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implement 	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small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number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of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suboperations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with 	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executed</a:t>
            </a:r>
            <a:r>
              <a:rPr sz="2000" u="sng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in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one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clock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cycle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705"/>
              </a:spcBef>
              <a:buFont typeface="Arial MT"/>
              <a:buChar char="–"/>
            </a:pPr>
            <a:endParaRPr sz="2000" dirty="0">
              <a:latin typeface="Arial MT"/>
              <a:cs typeface="Arial MT"/>
            </a:endParaRPr>
          </a:p>
          <a:p>
            <a:pPr marL="299085" marR="508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During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manipulation,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operands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registers,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no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need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calculating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effective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address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or </a:t>
            </a:r>
            <a:r>
              <a:rPr sz="2400" b="1" dirty="0">
                <a:latin typeface="Arial"/>
                <a:cs typeface="Arial"/>
              </a:rPr>
              <a:t>fetching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operands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from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memory.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marR="1603375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Therefore,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RISC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mostly implemented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segments:</a:t>
            </a:r>
            <a:endParaRPr sz="24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50"/>
              </a:spcBef>
              <a:buFont typeface="Arial MT"/>
              <a:buChar char="–"/>
              <a:tabLst>
                <a:tab pos="69659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Segment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1: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Fetches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instruction</a:t>
            </a:r>
            <a:endParaRPr sz="2000" dirty="0">
              <a:latin typeface="Arial MT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697230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Segment</a:t>
            </a:r>
            <a:r>
              <a:rPr sz="20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2: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Decode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ALU</a:t>
            </a:r>
            <a:endParaRPr sz="2000" dirty="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696595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Segment</a:t>
            </a:r>
            <a:r>
              <a:rPr sz="20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3: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Store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result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9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438400" y="115123"/>
            <a:ext cx="268763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  <a:tabLst>
                <a:tab pos="1057910" algn="l"/>
              </a:tabLst>
            </a:pPr>
            <a:r>
              <a:rPr sz="3600" dirty="0">
                <a:solidFill>
                  <a:schemeClr val="tx1"/>
                </a:solidFill>
              </a:rPr>
              <a:t>RISC	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220" y="576580"/>
            <a:ext cx="8163559" cy="570484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latin typeface="Arial"/>
                <a:cs typeface="Arial"/>
              </a:rPr>
              <a:t>Instruction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Cycles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Three</a:t>
            </a:r>
            <a:r>
              <a:rPr sz="18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Segment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Pipeline</a:t>
            </a:r>
            <a:endParaRPr sz="1800" dirty="0">
              <a:latin typeface="Arial"/>
              <a:cs typeface="Arial"/>
            </a:endParaRPr>
          </a:p>
          <a:p>
            <a:pPr marL="85090">
              <a:lnSpc>
                <a:spcPts val="2055"/>
              </a:lnSpc>
              <a:spcBef>
                <a:spcPts val="1215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Load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and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Store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Instructions</a:t>
            </a:r>
            <a:endParaRPr sz="1800" dirty="0">
              <a:latin typeface="Arial"/>
              <a:cs typeface="Arial"/>
            </a:endParaRPr>
          </a:p>
          <a:p>
            <a:pPr marL="530225">
              <a:lnSpc>
                <a:spcPts val="1945"/>
              </a:lnSpc>
              <a:tabLst>
                <a:tab pos="1036955" algn="l"/>
              </a:tabLst>
            </a:pPr>
            <a:r>
              <a:rPr sz="1800" spc="-25" dirty="0">
                <a:latin typeface="Arial MT"/>
                <a:cs typeface="Arial MT"/>
              </a:rPr>
              <a:t>I:</a:t>
            </a:r>
            <a:r>
              <a:rPr sz="1800" dirty="0">
                <a:latin typeface="Arial MT"/>
                <a:cs typeface="Arial MT"/>
              </a:rPr>
              <a:t>	Instruction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Fetch</a:t>
            </a:r>
            <a:endParaRPr sz="1800" dirty="0">
              <a:latin typeface="Arial MT"/>
              <a:cs typeface="Arial MT"/>
            </a:endParaRPr>
          </a:p>
          <a:p>
            <a:pPr marL="516255">
              <a:lnSpc>
                <a:spcPts val="1945"/>
              </a:lnSpc>
              <a:tabLst>
                <a:tab pos="1049020" algn="l"/>
              </a:tabLst>
            </a:pPr>
            <a:r>
              <a:rPr sz="1800" spc="-25" dirty="0">
                <a:latin typeface="Arial MT"/>
                <a:cs typeface="Arial MT"/>
              </a:rPr>
              <a:t>A:</a:t>
            </a:r>
            <a:r>
              <a:rPr sz="1800" dirty="0">
                <a:latin typeface="Arial MT"/>
                <a:cs typeface="Arial MT"/>
              </a:rPr>
              <a:t>	Decode,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Evaluate</a:t>
            </a:r>
            <a:r>
              <a:rPr sz="1800" spc="-10" dirty="0">
                <a:latin typeface="Arial MT"/>
                <a:cs typeface="Arial MT"/>
              </a:rPr>
              <a:t> Effective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</a:t>
            </a:r>
            <a:endParaRPr sz="1800" dirty="0">
              <a:latin typeface="Arial MT"/>
              <a:cs typeface="Arial MT"/>
            </a:endParaRPr>
          </a:p>
          <a:p>
            <a:pPr marL="530225">
              <a:lnSpc>
                <a:spcPts val="2050"/>
              </a:lnSpc>
              <a:tabLst>
                <a:tab pos="1062990" algn="l"/>
              </a:tabLst>
            </a:pPr>
            <a:r>
              <a:rPr sz="1800" spc="-25" dirty="0">
                <a:latin typeface="Arial MT"/>
                <a:cs typeface="Arial MT"/>
              </a:rPr>
              <a:t>E: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10" dirty="0">
                <a:latin typeface="Arial MT"/>
                <a:cs typeface="Arial MT"/>
              </a:rPr>
              <a:t>Register-to-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Memory-to-Register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1800" dirty="0">
              <a:latin typeface="Arial MT"/>
              <a:cs typeface="Arial MT"/>
            </a:endParaRPr>
          </a:p>
          <a:p>
            <a:pPr marL="85090">
              <a:lnSpc>
                <a:spcPts val="2050"/>
              </a:lnSpc>
              <a:spcBef>
                <a:spcPts val="5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Data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Manipulation</a:t>
            </a:r>
            <a:r>
              <a:rPr sz="18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Instructions</a:t>
            </a:r>
            <a:endParaRPr sz="1800" dirty="0">
              <a:latin typeface="Arial"/>
              <a:cs typeface="Arial"/>
            </a:endParaRPr>
          </a:p>
          <a:p>
            <a:pPr marL="530225">
              <a:lnSpc>
                <a:spcPts val="1945"/>
              </a:lnSpc>
              <a:tabLst>
                <a:tab pos="1037590" algn="l"/>
              </a:tabLst>
            </a:pPr>
            <a:r>
              <a:rPr sz="1800" spc="-25" dirty="0">
                <a:latin typeface="Arial MT"/>
                <a:cs typeface="Arial MT"/>
              </a:rPr>
              <a:t>I:</a:t>
            </a:r>
            <a:r>
              <a:rPr sz="1800" dirty="0">
                <a:latin typeface="Arial MT"/>
                <a:cs typeface="Arial MT"/>
              </a:rPr>
              <a:t>	Instruction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Fetch</a:t>
            </a:r>
            <a:endParaRPr sz="1800" dirty="0">
              <a:latin typeface="Arial MT"/>
              <a:cs typeface="Arial MT"/>
            </a:endParaRPr>
          </a:p>
          <a:p>
            <a:pPr marL="530225" marR="2878455" indent="-13970">
              <a:lnSpc>
                <a:spcPts val="1939"/>
              </a:lnSpc>
              <a:spcBef>
                <a:spcPts val="140"/>
              </a:spcBef>
              <a:tabLst>
                <a:tab pos="1049020" algn="l"/>
              </a:tabLst>
            </a:pPr>
            <a:r>
              <a:rPr sz="1800" spc="-25" dirty="0">
                <a:latin typeface="Arial MT"/>
                <a:cs typeface="Arial MT"/>
              </a:rPr>
              <a:t>A:</a:t>
            </a:r>
            <a:r>
              <a:rPr sz="1800" dirty="0">
                <a:latin typeface="Arial MT"/>
                <a:cs typeface="Arial MT"/>
              </a:rPr>
              <a:t>	Decode,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Registers,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Operations </a:t>
            </a:r>
            <a:r>
              <a:rPr sz="1800" spc="-25" dirty="0">
                <a:latin typeface="Arial MT"/>
                <a:cs typeface="Arial MT"/>
              </a:rPr>
              <a:t>E: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3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Register</a:t>
            </a: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1800" dirty="0">
              <a:latin typeface="Arial MT"/>
              <a:cs typeface="Arial MT"/>
            </a:endParaRPr>
          </a:p>
          <a:p>
            <a:pPr marL="85090">
              <a:lnSpc>
                <a:spcPts val="2050"/>
              </a:lnSpc>
              <a:spcBef>
                <a:spcPts val="5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Program</a:t>
            </a:r>
            <a:r>
              <a:rPr sz="18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Control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Instructions</a:t>
            </a:r>
            <a:endParaRPr sz="1800" dirty="0">
              <a:latin typeface="Arial"/>
              <a:cs typeface="Arial"/>
            </a:endParaRPr>
          </a:p>
          <a:p>
            <a:pPr marL="530225">
              <a:lnSpc>
                <a:spcPts val="1945"/>
              </a:lnSpc>
              <a:tabLst>
                <a:tab pos="1037590" algn="l"/>
              </a:tabLst>
            </a:pPr>
            <a:r>
              <a:rPr sz="1800" spc="-25" dirty="0">
                <a:latin typeface="Arial MT"/>
                <a:cs typeface="Arial MT"/>
              </a:rPr>
              <a:t>I:</a:t>
            </a:r>
            <a:r>
              <a:rPr sz="1800" dirty="0">
                <a:latin typeface="Arial MT"/>
                <a:cs typeface="Arial MT"/>
              </a:rPr>
              <a:t>	Instruction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Fetch</a:t>
            </a:r>
            <a:endParaRPr sz="1800" dirty="0">
              <a:latin typeface="Arial MT"/>
              <a:cs typeface="Arial MT"/>
            </a:endParaRPr>
          </a:p>
          <a:p>
            <a:pPr marL="530225" marR="3627120" indent="-13970">
              <a:lnSpc>
                <a:spcPts val="1939"/>
              </a:lnSpc>
              <a:spcBef>
                <a:spcPts val="140"/>
              </a:spcBef>
              <a:tabLst>
                <a:tab pos="1049020" algn="l"/>
              </a:tabLst>
            </a:pPr>
            <a:r>
              <a:rPr sz="1800" spc="-25" dirty="0">
                <a:latin typeface="Arial MT"/>
                <a:cs typeface="Arial MT"/>
              </a:rPr>
              <a:t>A:</a:t>
            </a:r>
            <a:r>
              <a:rPr sz="1800" dirty="0">
                <a:latin typeface="Arial MT"/>
                <a:cs typeface="Arial MT"/>
              </a:rPr>
              <a:t>	Decode,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Evaluate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Branch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Address </a:t>
            </a:r>
            <a:r>
              <a:rPr sz="1800" spc="-25" dirty="0">
                <a:latin typeface="Arial MT"/>
                <a:cs typeface="Arial MT"/>
              </a:rPr>
              <a:t>E: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spc="-3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Register(PC)</a:t>
            </a: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050"/>
              </a:lnSpc>
            </a:pPr>
            <a:r>
              <a:rPr sz="1800" b="1" dirty="0">
                <a:latin typeface="Arial"/>
                <a:cs typeface="Arial"/>
              </a:rPr>
              <a:t>RICS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pipelining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benefits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from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complier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handling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hazards,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such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as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delayed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load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delayed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 branch</a:t>
            </a:r>
            <a:r>
              <a:rPr sz="1800" b="1" spc="-10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80FB8E-26DA-49B4-B565-9716E2EEE58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C452290-6C79-455E-8C79-A3CE5C16CC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44B57D-B09F-4668-8BD2-AB175BB06C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f15077-4e46-4e3a-99a0-3fd5e4d406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2378</TotalTime>
  <Words>1283</Words>
  <Application>Microsoft Office PowerPoint</Application>
  <PresentationFormat>On-screen Show (4:3)</PresentationFormat>
  <Paragraphs>242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Retrospect</vt:lpstr>
      <vt:lpstr>CS361: Computer Architecture</vt:lpstr>
      <vt:lpstr>BRANCH HAZARDS</vt:lpstr>
      <vt:lpstr>EXAMPLE OF BRANCH HAZARDS</vt:lpstr>
      <vt:lpstr>HOW TO AVOID BRANCH HAZARDS?</vt:lpstr>
      <vt:lpstr>EXCEPTION HANDLING</vt:lpstr>
      <vt:lpstr>RISC RECAP</vt:lpstr>
      <vt:lpstr>RISC RECAP</vt:lpstr>
      <vt:lpstr>RISC PIPELINE</vt:lpstr>
      <vt:lpstr>RISC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 LOGIC  CIRCUITS</dc:title>
  <dc:creator>Archilab</dc:creator>
  <cp:lastModifiedBy>Waheed Ahmad Lecturer FCSE</cp:lastModifiedBy>
  <cp:revision>24</cp:revision>
  <dcterms:created xsi:type="dcterms:W3CDTF">2025-11-19T13:07:00Z</dcterms:created>
  <dcterms:modified xsi:type="dcterms:W3CDTF">2025-11-28T06:26:38Z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2025-11-19T00:00:00Z</vt:filetime>
  </property>
  <property fmtid="{D5CDD505-2E9C-101B-9397-08002B2CF9AE}" pid="5" name="Producer">
    <vt:lpwstr>Microsoft® PowerPoint® 2016</vt:lpwstr>
  </property>
  <property fmtid="{D5CDD505-2E9C-101B-9397-08002B2CF9AE}" pid="6" name="ContentTypeId">
    <vt:lpwstr>0x0101006E4823951FA9BF42B980A03718EB0B18</vt:lpwstr>
  </property>
</Properties>
</file>