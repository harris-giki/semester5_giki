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34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4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50" r:id="rId20"/>
    <p:sldId id="351" r:id="rId21"/>
    <p:sldId id="353" r:id="rId22"/>
    <p:sldId id="354" r:id="rId23"/>
    <p:sldId id="357" r:id="rId24"/>
    <p:sldId id="358" r:id="rId25"/>
    <p:sldId id="359" r:id="rId26"/>
    <p:sldId id="362" r:id="rId27"/>
    <p:sldId id="363" r:id="rId28"/>
    <p:sldId id="273" r:id="rId29"/>
    <p:sldId id="274" r:id="rId30"/>
    <p:sldId id="275" r:id="rId31"/>
    <p:sldId id="276" r:id="rId3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0"/>
  </p:normalViewPr>
  <p:slideViewPr>
    <p:cSldViewPr>
      <p:cViewPr varScale="1">
        <p:scale>
          <a:sx n="64" d="100"/>
          <a:sy n="64" d="100"/>
        </p:scale>
        <p:origin x="152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418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314588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53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72806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96128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98731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16457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94999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37912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845607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1251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2.png"/><Relationship Id="rId26" Type="http://schemas.openxmlformats.org/officeDocument/2006/relationships/image" Target="../media/image69.png"/><Relationship Id="rId3" Type="http://schemas.openxmlformats.org/officeDocument/2006/relationships/image" Target="../media/image50.png"/><Relationship Id="rId21" Type="http://schemas.openxmlformats.org/officeDocument/2006/relationships/image" Target="../media/image65.png"/><Relationship Id="rId34" Type="http://schemas.openxmlformats.org/officeDocument/2006/relationships/image" Target="../media/image7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1.png"/><Relationship Id="rId25" Type="http://schemas.openxmlformats.org/officeDocument/2006/relationships/image" Target="../media/image68.png"/><Relationship Id="rId33" Type="http://schemas.openxmlformats.org/officeDocument/2006/relationships/image" Target="../media/image76.png"/><Relationship Id="rId2" Type="http://schemas.openxmlformats.org/officeDocument/2006/relationships/image" Target="../media/image21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57.png"/><Relationship Id="rId24" Type="http://schemas.openxmlformats.org/officeDocument/2006/relationships/image" Target="../media/image49.png"/><Relationship Id="rId32" Type="http://schemas.openxmlformats.org/officeDocument/2006/relationships/image" Target="../media/image75.png"/><Relationship Id="rId5" Type="http://schemas.openxmlformats.org/officeDocument/2006/relationships/image" Target="../media/image52.png"/><Relationship Id="rId15" Type="http://schemas.openxmlformats.org/officeDocument/2006/relationships/image" Target="../media/image13.png"/><Relationship Id="rId23" Type="http://schemas.openxmlformats.org/officeDocument/2006/relationships/image" Target="../media/image67.png"/><Relationship Id="rId28" Type="http://schemas.openxmlformats.org/officeDocument/2006/relationships/image" Target="../media/image71.png"/><Relationship Id="rId10" Type="http://schemas.openxmlformats.org/officeDocument/2006/relationships/image" Target="../media/image56.png"/><Relationship Id="rId19" Type="http://schemas.openxmlformats.org/officeDocument/2006/relationships/image" Target="../media/image63.png"/><Relationship Id="rId31" Type="http://schemas.openxmlformats.org/officeDocument/2006/relationships/image" Target="../media/image74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Relationship Id="rId14" Type="http://schemas.openxmlformats.org/officeDocument/2006/relationships/image" Target="../media/image12.png"/><Relationship Id="rId22" Type="http://schemas.openxmlformats.org/officeDocument/2006/relationships/image" Target="../media/image66.png"/><Relationship Id="rId27" Type="http://schemas.openxmlformats.org/officeDocument/2006/relationships/image" Target="../media/image70.png"/><Relationship Id="rId30" Type="http://schemas.openxmlformats.org/officeDocument/2006/relationships/image" Target="../media/image73.png"/><Relationship Id="rId8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326" y="5810192"/>
            <a:ext cx="647509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163"/>
              </a:lnSpc>
              <a:tabLst>
                <a:tab pos="6400324" algn="l"/>
              </a:tabLst>
              <a:defRPr/>
            </a:pP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CS324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Computer</a:t>
            </a:r>
            <a:r>
              <a:rPr sz="1050" b="1" i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Architecture</a:t>
            </a: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1575" b="1" spc="-56" baseline="-5952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1575" baseline="-5952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9692" y="521922"/>
            <a:ext cx="6691313" cy="4727734"/>
            <a:chOff x="111125" y="234568"/>
            <a:chExt cx="8921750" cy="6303645"/>
          </a:xfrm>
        </p:grpSpPr>
        <p:sp>
          <p:nvSpPr>
            <p:cNvPr id="4" name="object 4"/>
            <p:cNvSpPr/>
            <p:nvPr/>
          </p:nvSpPr>
          <p:spPr>
            <a:xfrm>
              <a:off x="114300" y="733424"/>
              <a:ext cx="8912860" cy="57150"/>
            </a:xfrm>
            <a:custGeom>
              <a:avLst/>
              <a:gdLst/>
              <a:ahLst/>
              <a:cxnLst/>
              <a:rect l="l" t="t" r="r" b="b"/>
              <a:pathLst>
                <a:path w="8912860" h="57150">
                  <a:moveTo>
                    <a:pt x="8912352" y="22860"/>
                  </a:moveTo>
                  <a:lnTo>
                    <a:pt x="0" y="22860"/>
                  </a:lnTo>
                  <a:lnTo>
                    <a:pt x="0" y="57150"/>
                  </a:lnTo>
                  <a:lnTo>
                    <a:pt x="8912352" y="57150"/>
                  </a:lnTo>
                  <a:lnTo>
                    <a:pt x="8912352" y="22860"/>
                  </a:lnTo>
                  <a:close/>
                </a:path>
                <a:path w="8912860" h="57150">
                  <a:moveTo>
                    <a:pt x="891235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8912352" y="11430"/>
                  </a:lnTo>
                  <a:lnTo>
                    <a:pt x="8912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18801" y="2460673"/>
            <a:ext cx="5010150" cy="425116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en-US" sz="2700" dirty="0"/>
              <a:t>CS361</a:t>
            </a:r>
            <a:r>
              <a:rPr sz="2700" dirty="0"/>
              <a:t>:</a:t>
            </a:r>
            <a:r>
              <a:rPr sz="2700" spc="-30" dirty="0"/>
              <a:t> </a:t>
            </a:r>
            <a:r>
              <a:rPr sz="2700" dirty="0"/>
              <a:t>Computer</a:t>
            </a:r>
            <a:r>
              <a:rPr sz="2700" spc="-15" dirty="0"/>
              <a:t> </a:t>
            </a:r>
            <a:r>
              <a:rPr sz="2700" spc="-8" dirty="0"/>
              <a:t>Architecture</a:t>
            </a:r>
            <a:endParaRPr sz="2700" dirty="0"/>
          </a:p>
        </p:txBody>
      </p:sp>
      <p:sp>
        <p:nvSpPr>
          <p:cNvPr id="9" name="object 9"/>
          <p:cNvSpPr/>
          <p:nvPr/>
        </p:nvSpPr>
        <p:spPr>
          <a:xfrm>
            <a:off x="1176148" y="5813299"/>
            <a:ext cx="6825139" cy="167164"/>
          </a:xfrm>
          <a:custGeom>
            <a:avLst/>
            <a:gdLst/>
            <a:ahLst/>
            <a:cxnLst/>
            <a:rect l="l" t="t" r="r" b="b"/>
            <a:pathLst>
              <a:path w="9100185" h="222884">
                <a:moveTo>
                  <a:pt x="9099804" y="0"/>
                </a:moveTo>
                <a:lnTo>
                  <a:pt x="0" y="0"/>
                </a:lnTo>
                <a:lnTo>
                  <a:pt x="0" y="222503"/>
                </a:lnTo>
                <a:lnTo>
                  <a:pt x="9099804" y="222503"/>
                </a:lnTo>
                <a:lnTo>
                  <a:pt x="9099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685800">
              <a:defRPr/>
            </a:pPr>
            <a:endParaRPr sz="135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Picture 9" descr="Page 98 – Ghulam Ishaq Khan Institute of Engineering ...">
            <a:extLst>
              <a:ext uri="{FF2B5EF4-FFF2-40B4-BE49-F238E27FC236}">
                <a16:creationId xmlns:a16="http://schemas.microsoft.com/office/drawing/2014/main" id="{B3A46A1E-4695-E2C0-8AAD-23FCC975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44531"/>
            <a:ext cx="2057400" cy="20574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ABB0E011-348D-471A-0422-C12E0008068A}"/>
              </a:ext>
            </a:extLst>
          </p:cNvPr>
          <p:cNvSpPr txBox="1"/>
          <p:nvPr/>
        </p:nvSpPr>
        <p:spPr>
          <a:xfrm>
            <a:off x="1207378" y="3364564"/>
            <a:ext cx="5788660" cy="1948609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2400" b="1" spc="-10" dirty="0">
                <a:latin typeface="Arial"/>
                <a:cs typeface="Arial"/>
              </a:rPr>
              <a:t>Instruction-</a:t>
            </a:r>
            <a:r>
              <a:rPr sz="2400" b="1" dirty="0">
                <a:latin typeface="Arial"/>
                <a:cs typeface="Arial"/>
              </a:rPr>
              <a:t>level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Parallelism</a:t>
            </a:r>
            <a:endParaRPr sz="2400" dirty="0">
              <a:latin typeface="Arial"/>
              <a:cs typeface="Arial"/>
            </a:endParaRPr>
          </a:p>
          <a:p>
            <a:pPr marL="1173480" indent="-347345">
              <a:lnSpc>
                <a:spcPts val="2280"/>
              </a:lnSpc>
              <a:spcBef>
                <a:spcPts val="1355"/>
              </a:spcBef>
              <a:buClr>
                <a:srgbClr val="008011"/>
              </a:buClr>
              <a:buFont typeface="Wingdings"/>
              <a:buChar char=""/>
              <a:tabLst>
                <a:tab pos="1173480" algn="l"/>
              </a:tabLst>
            </a:pPr>
            <a:r>
              <a:rPr sz="2000" dirty="0">
                <a:latin typeface="Arial MT"/>
                <a:cs typeface="Arial MT"/>
              </a:rPr>
              <a:t>Pipelining: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Practical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Speedup</a:t>
            </a:r>
            <a:endParaRPr sz="2000" dirty="0">
              <a:latin typeface="Arial MT"/>
              <a:cs typeface="Arial MT"/>
            </a:endParaRPr>
          </a:p>
          <a:p>
            <a:pPr marL="1173480" indent="-347345">
              <a:lnSpc>
                <a:spcPts val="2280"/>
              </a:lnSpc>
              <a:buClr>
                <a:srgbClr val="008011"/>
              </a:buClr>
              <a:buFont typeface="Wingdings"/>
              <a:buChar char=""/>
              <a:tabLst>
                <a:tab pos="1173480" algn="l"/>
              </a:tabLst>
            </a:pPr>
            <a:r>
              <a:rPr sz="2000" dirty="0">
                <a:latin typeface="Arial MT"/>
                <a:cs typeface="Arial MT"/>
              </a:rPr>
              <a:t>Pipelining: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Basic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Performance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Issues</a:t>
            </a:r>
            <a:endParaRPr lang="en-US" sz="2000" spc="-10" dirty="0">
              <a:latin typeface="Arial MT"/>
              <a:cs typeface="Arial MT"/>
            </a:endParaRPr>
          </a:p>
          <a:p>
            <a:pPr marL="1173480" indent="-347345">
              <a:lnSpc>
                <a:spcPts val="2280"/>
              </a:lnSpc>
              <a:buClr>
                <a:srgbClr val="008011"/>
              </a:buClr>
              <a:buFont typeface="Wingdings"/>
              <a:buChar char=""/>
              <a:tabLst>
                <a:tab pos="1173480" algn="l"/>
              </a:tabLst>
            </a:pPr>
            <a:endParaRPr lang="en-US" sz="2000" spc="-10" dirty="0">
              <a:latin typeface="Arial MT"/>
              <a:cs typeface="Arial MT"/>
            </a:endParaRPr>
          </a:p>
          <a:p>
            <a:pPr marL="826135">
              <a:lnSpc>
                <a:spcPts val="2280"/>
              </a:lnSpc>
              <a:buClr>
                <a:srgbClr val="008011"/>
              </a:buClr>
              <a:tabLst>
                <a:tab pos="1173480" algn="l"/>
              </a:tabLst>
            </a:pPr>
            <a:endParaRPr lang="en-US" sz="2000" spc="-10" dirty="0">
              <a:latin typeface="Arial MT"/>
              <a:cs typeface="Arial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3D0F9-C59B-6E3A-6DAA-61DB6C243911}"/>
              </a:ext>
            </a:extLst>
          </p:cNvPr>
          <p:cNvSpPr txBox="1"/>
          <p:nvPr/>
        </p:nvSpPr>
        <p:spPr>
          <a:xfrm>
            <a:off x="204918" y="5328717"/>
            <a:ext cx="8939082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800" dirty="0">
                <a:latin typeface="Arial MT"/>
                <a:cs typeface="Arial MT"/>
              </a:rPr>
              <a:t>Book Computer</a:t>
            </a:r>
            <a:r>
              <a:rPr lang="en-US" sz="1800" spc="-4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Architecture:</a:t>
            </a:r>
            <a:r>
              <a:rPr lang="en-US" sz="1800" spc="-6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Quantitative</a:t>
            </a:r>
            <a:r>
              <a:rPr lang="en-US" sz="1800" spc="-4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Approach,</a:t>
            </a:r>
            <a:r>
              <a:rPr lang="en-US" sz="1800" spc="-4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Sixth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Edition,</a:t>
            </a:r>
            <a:r>
              <a:rPr lang="en-US" sz="1800" spc="-4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Section</a:t>
            </a:r>
            <a:r>
              <a:rPr lang="en-US" sz="1800" spc="-45" dirty="0">
                <a:latin typeface="Arial MT"/>
                <a:cs typeface="Arial MT"/>
              </a:rPr>
              <a:t> </a:t>
            </a:r>
            <a:r>
              <a:rPr lang="en-US" sz="1800" spc="-25" dirty="0">
                <a:latin typeface="Arial MT"/>
                <a:cs typeface="Arial MT"/>
              </a:rPr>
              <a:t>C.1 – C2</a:t>
            </a:r>
          </a:p>
          <a:p>
            <a:pPr marL="12700">
              <a:spcBef>
                <a:spcPts val="515"/>
              </a:spcBef>
            </a:pPr>
            <a:r>
              <a:rPr lang="en-US" b="1" dirty="0">
                <a:solidFill>
                  <a:srgbClr val="008011"/>
                </a:solidFill>
                <a:latin typeface="Arial"/>
                <a:cs typeface="Arial"/>
              </a:rPr>
              <a:t>Reference </a:t>
            </a:r>
            <a:r>
              <a:rPr lang="en-US" dirty="0">
                <a:latin typeface="Arial MT"/>
                <a:cs typeface="Arial MT"/>
              </a:rPr>
              <a:t>Computer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System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Architecture,</a:t>
            </a:r>
            <a:r>
              <a:rPr lang="en-US" spc="-6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3rd</a:t>
            </a:r>
            <a:r>
              <a:rPr lang="en-US" spc="-3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Edition:</a:t>
            </a:r>
            <a:r>
              <a:rPr lang="en-US" spc="-5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Section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spc="-25" dirty="0">
                <a:latin typeface="Arial MT"/>
                <a:cs typeface="Arial MT"/>
              </a:rPr>
              <a:t>9.2</a:t>
            </a:r>
            <a:endParaRPr lang="en-US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endParaRPr lang="en-US"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980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20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u="sng" dirty="0">
                <a:uFill>
                  <a:solidFill>
                    <a:srgbClr val="008011"/>
                  </a:solidFill>
                </a:uFill>
              </a:rPr>
              <a:t>“PRACTICALLY”</a:t>
            </a:r>
            <a:r>
              <a:rPr spc="-20" dirty="0"/>
              <a:t> </a:t>
            </a:r>
            <a:r>
              <a:rPr dirty="0"/>
              <a:t>POSSIBLE</a:t>
            </a:r>
            <a:r>
              <a:rPr spc="-50" dirty="0"/>
              <a:t> </a:t>
            </a:r>
            <a:r>
              <a:rPr spc="-10" dirty="0"/>
              <a:t>SPEEDUP?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2362327"/>
            <a:ext cx="8507730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marR="5080" indent="-287020">
              <a:lnSpc>
                <a:spcPct val="90000"/>
              </a:lnSpc>
              <a:spcBef>
                <a:spcPts val="38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Although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tasks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 </a:t>
            </a:r>
            <a:r>
              <a:rPr sz="2400" dirty="0">
                <a:latin typeface="Arial MT"/>
                <a:cs typeface="Arial MT"/>
              </a:rPr>
              <a:t>opposed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unpipelined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“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maximum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theoretical</a:t>
            </a:r>
            <a:r>
              <a:rPr sz="2400" b="1" spc="-6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speed”</a:t>
            </a:r>
            <a:r>
              <a:rPr sz="24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is</a:t>
            </a:r>
            <a:r>
              <a:rPr sz="24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never</a:t>
            </a:r>
            <a:r>
              <a:rPr sz="24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fully</a:t>
            </a:r>
            <a:r>
              <a:rPr sz="2400" b="1" spc="-7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achieved</a:t>
            </a:r>
            <a:r>
              <a:rPr sz="24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in</a:t>
            </a:r>
            <a:r>
              <a:rPr sz="2400" b="1" spc="-7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practice</a:t>
            </a:r>
            <a:r>
              <a:rPr sz="24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due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1ABEA"/>
                </a:solidFill>
                <a:latin typeface="Arial"/>
                <a:cs typeface="Arial"/>
              </a:rPr>
              <a:t>basic</a:t>
            </a:r>
            <a:r>
              <a:rPr sz="2400" b="1" spc="-5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1ABEA"/>
                </a:solidFill>
                <a:latin typeface="Arial"/>
                <a:cs typeface="Arial"/>
              </a:rPr>
              <a:t>performance</a:t>
            </a:r>
            <a:r>
              <a:rPr sz="2400" b="1" spc="-5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1ABEA"/>
                </a:solidFill>
                <a:latin typeface="Arial"/>
                <a:cs typeface="Arial"/>
              </a:rPr>
              <a:t>issues</a:t>
            </a:r>
            <a:r>
              <a:rPr sz="2400" b="1" spc="-5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1ABEA"/>
                </a:solidFill>
                <a:latin typeface="Arial"/>
                <a:cs typeface="Arial"/>
              </a:rPr>
              <a:t>in</a:t>
            </a:r>
            <a:r>
              <a:rPr sz="2400" b="1" spc="-5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1ABEA"/>
                </a:solidFill>
                <a:latin typeface="Arial"/>
                <a:cs typeface="Arial"/>
              </a:rPr>
              <a:t>pipelining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0269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50" dirty="0"/>
              <a:t> </a:t>
            </a:r>
            <a:r>
              <a:rPr dirty="0"/>
              <a:t>PERFORMANCE</a:t>
            </a:r>
            <a:r>
              <a:rPr spc="-25" dirty="0"/>
              <a:t> </a:t>
            </a:r>
            <a:r>
              <a:rPr dirty="0"/>
              <a:t>ISSUES</a:t>
            </a:r>
            <a:r>
              <a:rPr spc="-5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spc="-10" dirty="0"/>
              <a:t>PIPELINING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2369896"/>
            <a:ext cx="8513445" cy="208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2735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Due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reasons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cannot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its</a:t>
            </a:r>
            <a:endParaRPr sz="2400">
              <a:latin typeface="Arial MT"/>
              <a:cs typeface="Arial MT"/>
            </a:endParaRPr>
          </a:p>
          <a:p>
            <a:pPr marL="299085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maximum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theoretical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rate.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2735"/>
              </a:spcBef>
              <a:buFont typeface="Arial MT"/>
              <a:buChar char="•"/>
              <a:tabLst>
                <a:tab pos="756285" algn="l"/>
              </a:tabLst>
            </a:pP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Pipelining</a:t>
            </a:r>
            <a:r>
              <a:rPr sz="2200" b="1" spc="-8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8011"/>
                </a:solidFill>
                <a:latin typeface="Arial"/>
                <a:cs typeface="Arial"/>
              </a:rPr>
              <a:t>Overhead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Clr>
                <a:srgbClr val="008011"/>
              </a:buClr>
              <a:buFont typeface="Arial MT"/>
              <a:buChar char="•"/>
            </a:pPr>
            <a:endParaRPr sz="2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  <a:tab pos="3930015" algn="l"/>
                <a:tab pos="5017770" algn="l"/>
              </a:tabLst>
            </a:pP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Instruction</a:t>
            </a:r>
            <a:r>
              <a:rPr sz="2200" b="1" spc="-7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8011"/>
                </a:solidFill>
                <a:latin typeface="Arial"/>
                <a:cs typeface="Arial"/>
              </a:rPr>
              <a:t>throughput</a:t>
            </a: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	</a:t>
            </a:r>
            <a:r>
              <a:rPr sz="2200" b="1" spc="-10" dirty="0">
                <a:solidFill>
                  <a:srgbClr val="008011"/>
                </a:solidFill>
                <a:latin typeface="Arial"/>
                <a:cs typeface="Arial"/>
              </a:rPr>
              <a:t>Versus</a:t>
            </a: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	Instruction</a:t>
            </a:r>
            <a:r>
              <a:rPr sz="2200" b="1" spc="-7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execution</a:t>
            </a:r>
            <a:r>
              <a:rPr sz="2200" b="1" spc="-7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008011"/>
                </a:solidFill>
                <a:latin typeface="Arial"/>
                <a:cs typeface="Arial"/>
              </a:rPr>
              <a:t>time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63525"/>
            <a:ext cx="7543800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619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PIPELINING</a:t>
            </a:r>
            <a:r>
              <a:rPr sz="4000" spc="5" dirty="0"/>
              <a:t> </a:t>
            </a:r>
            <a:r>
              <a:rPr sz="4000" spc="-10" dirty="0"/>
              <a:t>OVERHEAD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941578"/>
            <a:ext cx="8425815" cy="48444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67945" indent="-28702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Circuit</a:t>
            </a:r>
            <a:r>
              <a:rPr sz="2400" b="1" spc="-7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Overhead:</a:t>
            </a:r>
            <a:r>
              <a:rPr sz="2400" b="1" spc="-8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unpipelined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circuit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delay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equivalent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10" dirty="0">
                <a:latin typeface="Arial MT"/>
                <a:cs typeface="Arial MT"/>
              </a:rPr>
              <a:t> circuit.</a:t>
            </a:r>
            <a:endParaRPr sz="2400" dirty="0">
              <a:latin typeface="Arial MT"/>
              <a:cs typeface="Arial MT"/>
            </a:endParaRPr>
          </a:p>
          <a:p>
            <a:pPr marL="1155700" marR="99060" indent="-229235">
              <a:lnSpc>
                <a:spcPts val="1939"/>
              </a:lnSpc>
              <a:spcBef>
                <a:spcPts val="660"/>
              </a:spcBef>
            </a:pPr>
            <a:r>
              <a:rPr sz="1800" dirty="0">
                <a:latin typeface="Arial MT"/>
                <a:cs typeface="Arial MT"/>
              </a:rPr>
              <a:t>»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Time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delay: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logic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gates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instantaneously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because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the </a:t>
            </a:r>
            <a:r>
              <a:rPr sz="1800" dirty="0">
                <a:latin typeface="Arial MT"/>
                <a:cs typeface="Arial MT"/>
              </a:rPr>
              <a:t>way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transistor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switching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works 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physical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level;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small </a:t>
            </a:r>
            <a:r>
              <a:rPr sz="1800" dirty="0">
                <a:latin typeface="Arial MT"/>
                <a:cs typeface="Arial MT"/>
              </a:rPr>
              <a:t>delay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supplied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output</a:t>
            </a:r>
            <a:r>
              <a:rPr sz="1800" spc="-25" dirty="0">
                <a:latin typeface="Arial MT"/>
                <a:cs typeface="Arial MT"/>
              </a:rPr>
              <a:t> is </a:t>
            </a:r>
            <a:r>
              <a:rPr sz="1800" dirty="0">
                <a:latin typeface="Arial MT"/>
                <a:cs typeface="Arial MT"/>
              </a:rPr>
              <a:t>produced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(also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propagation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time</a:t>
            </a:r>
            <a:r>
              <a:rPr sz="1800" spc="-10" dirty="0">
                <a:latin typeface="Arial MT"/>
                <a:cs typeface="Arial MT"/>
              </a:rPr>
              <a:t>)</a:t>
            </a:r>
            <a:endParaRPr sz="1800" dirty="0">
              <a:latin typeface="Arial MT"/>
              <a:cs typeface="Arial MT"/>
            </a:endParaRPr>
          </a:p>
          <a:p>
            <a:pPr marL="1155700" marR="367665" indent="-229235">
              <a:lnSpc>
                <a:spcPts val="1939"/>
              </a:lnSpc>
              <a:spcBef>
                <a:spcPts val="665"/>
              </a:spcBef>
            </a:pP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»</a:t>
            </a:r>
            <a:r>
              <a:rPr sz="1800" spc="2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Many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intermediate</a:t>
            </a:r>
            <a:r>
              <a:rPr sz="18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registers</a:t>
            </a:r>
            <a:r>
              <a:rPr sz="18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in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a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pipeline</a:t>
            </a:r>
            <a:r>
              <a:rPr sz="18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are</a:t>
            </a:r>
            <a:r>
              <a:rPr sz="18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not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needed</a:t>
            </a:r>
            <a:r>
              <a:rPr sz="18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in</a:t>
            </a:r>
            <a:r>
              <a:rPr sz="18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an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unpipelined</a:t>
            </a:r>
            <a:r>
              <a:rPr sz="18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circuit,</a:t>
            </a:r>
            <a:r>
              <a:rPr sz="18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which</a:t>
            </a:r>
            <a:r>
              <a:rPr sz="1800" spc="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is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constructed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entirely</a:t>
            </a:r>
            <a:r>
              <a:rPr sz="18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as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a</a:t>
            </a:r>
            <a:r>
              <a:rPr sz="18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single-</a:t>
            </a:r>
            <a:r>
              <a:rPr sz="1800" spc="-20" dirty="0">
                <a:solidFill>
                  <a:srgbClr val="008011"/>
                </a:solidFill>
                <a:latin typeface="Arial MT"/>
                <a:cs typeface="Arial MT"/>
              </a:rPr>
              <a:t>unit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combinational</a:t>
            </a:r>
            <a:r>
              <a:rPr sz="1800" spc="-5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circuit.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sz="1800" dirty="0">
              <a:latin typeface="Arial MT"/>
              <a:cs typeface="Arial MT"/>
            </a:endParaRPr>
          </a:p>
          <a:p>
            <a:pPr marL="299085" marR="5080" indent="-287020">
              <a:lnSpc>
                <a:spcPts val="259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5444490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Imbalance</a:t>
            </a:r>
            <a:r>
              <a:rPr sz="24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among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the</a:t>
            </a:r>
            <a:r>
              <a:rPr sz="2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pipe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stages: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	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segments </a:t>
            </a:r>
            <a:r>
              <a:rPr sz="2400" dirty="0">
                <a:latin typeface="Arial MT"/>
                <a:cs typeface="Arial MT"/>
              </a:rPr>
              <a:t>may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microoperation(s).</a:t>
            </a:r>
            <a:endParaRPr sz="2400" dirty="0">
              <a:latin typeface="Arial MT"/>
              <a:cs typeface="Arial MT"/>
            </a:endParaRPr>
          </a:p>
          <a:p>
            <a:pPr marL="1155700" marR="89535" indent="-229235" algn="just">
              <a:lnSpc>
                <a:spcPts val="1939"/>
              </a:lnSpc>
              <a:spcBef>
                <a:spcPts val="655"/>
              </a:spcBef>
            </a:pP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»</a:t>
            </a:r>
            <a:r>
              <a:rPr sz="1800" spc="2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clock</a:t>
            </a:r>
            <a:r>
              <a:rPr sz="1800" spc="-1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cycle</a:t>
            </a:r>
            <a:r>
              <a:rPr sz="1800" spc="1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must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be</a:t>
            </a:r>
            <a:r>
              <a:rPr sz="18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chosen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equal</a:t>
            </a:r>
            <a:r>
              <a:rPr sz="1800" spc="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time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delay</a:t>
            </a:r>
            <a:r>
              <a:rPr sz="18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segment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with</a:t>
            </a:r>
            <a:r>
              <a:rPr sz="18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maximum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propagation</a:t>
            </a:r>
            <a:r>
              <a:rPr sz="1800" spc="-1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time.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This</a:t>
            </a:r>
            <a:r>
              <a:rPr sz="18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causes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all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other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segments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to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waste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time</a:t>
            </a:r>
            <a:r>
              <a:rPr sz="1800" spc="-5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while</a:t>
            </a:r>
            <a:r>
              <a:rPr sz="1800" spc="1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waiting</a:t>
            </a:r>
            <a:r>
              <a:rPr sz="18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for</a:t>
            </a:r>
            <a:r>
              <a:rPr sz="1800" spc="-4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1800" spc="-5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next</a:t>
            </a:r>
            <a:r>
              <a:rPr sz="18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clock</a:t>
            </a:r>
            <a:r>
              <a:rPr sz="1800" spc="-4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which</a:t>
            </a:r>
            <a:r>
              <a:rPr sz="18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8011"/>
                </a:solidFill>
                <a:latin typeface="Arial MT"/>
                <a:cs typeface="Arial MT"/>
              </a:rPr>
              <a:t>reduces</a:t>
            </a:r>
            <a:r>
              <a:rPr sz="18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performance.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09600" y="33089"/>
            <a:ext cx="75438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INSTRUCTION</a:t>
            </a:r>
            <a:r>
              <a:rPr sz="3200" spc="-70" dirty="0"/>
              <a:t> </a:t>
            </a:r>
            <a:r>
              <a:rPr sz="3200" spc="-10" dirty="0"/>
              <a:t>THROUGHPUT</a:t>
            </a:r>
            <a:r>
              <a:rPr sz="3200" spc="-60" dirty="0"/>
              <a:t> </a:t>
            </a:r>
            <a:r>
              <a:rPr sz="3200" dirty="0"/>
              <a:t>VS.</a:t>
            </a:r>
            <a:r>
              <a:rPr sz="3200" spc="-75" dirty="0"/>
              <a:t> </a:t>
            </a:r>
            <a:r>
              <a:rPr sz="3200" dirty="0"/>
              <a:t>INSTRUCTION</a:t>
            </a:r>
            <a:r>
              <a:rPr sz="3200" spc="-65" dirty="0"/>
              <a:t> </a:t>
            </a:r>
            <a:r>
              <a:rPr sz="3200" spc="-10" dirty="0"/>
              <a:t>LATENCY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941578"/>
            <a:ext cx="8434705" cy="52673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785495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Pipelining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throughput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(i.e.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time)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marR="1110615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throughput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decrease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individual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instruction.</a:t>
            </a:r>
            <a:endParaRPr sz="2400" dirty="0">
              <a:latin typeface="Arial MT"/>
              <a:cs typeface="Arial MT"/>
            </a:endParaRPr>
          </a:p>
          <a:p>
            <a:pPr marL="697230" lvl="1" indent="-227329">
              <a:lnSpc>
                <a:spcPts val="2280"/>
              </a:lnSpc>
              <a:spcBef>
                <a:spcPts val="445"/>
              </a:spcBef>
              <a:buChar char="–"/>
              <a:tabLst>
                <a:tab pos="697230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fact,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slightly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increases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each</a:t>
            </a:r>
            <a:endParaRPr sz="2000" dirty="0">
              <a:latin typeface="Arial MT"/>
              <a:cs typeface="Arial MT"/>
            </a:endParaRPr>
          </a:p>
          <a:p>
            <a:pPr marL="697865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“pipelining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overhead”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000" dirty="0">
              <a:latin typeface="Arial MT"/>
              <a:cs typeface="Arial MT"/>
            </a:endParaRPr>
          </a:p>
          <a:p>
            <a:pPr marL="299085" marR="5080" indent="-287020">
              <a:lnSpc>
                <a:spcPct val="9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The increase</a:t>
            </a:r>
            <a:r>
              <a:rPr sz="20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in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instruction</a:t>
            </a:r>
            <a:r>
              <a:rPr sz="20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throughput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means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that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a program</a:t>
            </a:r>
            <a:r>
              <a:rPr sz="20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runs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faster</a:t>
            </a:r>
            <a:r>
              <a:rPr sz="20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and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has</a:t>
            </a:r>
            <a:r>
              <a:rPr sz="20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a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lower</a:t>
            </a:r>
            <a:r>
              <a:rPr sz="20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“overall”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execution</a:t>
            </a:r>
            <a:r>
              <a:rPr sz="20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time,</a:t>
            </a:r>
            <a:r>
              <a:rPr sz="20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due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to</a:t>
            </a:r>
            <a:r>
              <a:rPr sz="20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the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overlapped</a:t>
            </a:r>
            <a:r>
              <a:rPr sz="20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instruction</a:t>
            </a:r>
            <a:r>
              <a:rPr sz="20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execution</a:t>
            </a:r>
            <a:r>
              <a:rPr sz="20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in</a:t>
            </a:r>
            <a:r>
              <a:rPr sz="20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pipelining.</a:t>
            </a:r>
            <a:r>
              <a:rPr sz="20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However,</a:t>
            </a:r>
            <a:r>
              <a:rPr sz="2000" b="1" spc="-6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no</a:t>
            </a:r>
            <a:r>
              <a:rPr sz="2000" b="1" spc="-3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1ABEA"/>
                </a:solidFill>
                <a:latin typeface="Arial"/>
                <a:cs typeface="Arial"/>
              </a:rPr>
              <a:t>single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instruction</a:t>
            </a:r>
            <a:r>
              <a:rPr sz="2000" b="1" spc="-6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can run</a:t>
            </a:r>
            <a:r>
              <a:rPr sz="2000" b="1" spc="-2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faster</a:t>
            </a:r>
            <a:r>
              <a:rPr sz="2000" b="1" spc="-4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than</a:t>
            </a:r>
            <a:r>
              <a:rPr sz="2000" b="1" spc="-1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it</a:t>
            </a:r>
            <a:r>
              <a:rPr sz="2000" b="1" spc="-2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could</a:t>
            </a:r>
            <a:r>
              <a:rPr sz="2000" b="1" spc="-1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in</a:t>
            </a:r>
            <a:r>
              <a:rPr sz="2000" b="1" spc="-2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1ABEA"/>
                </a:solidFill>
                <a:latin typeface="Arial"/>
                <a:cs typeface="Arial"/>
              </a:rPr>
              <a:t>an unpipelined</a:t>
            </a:r>
            <a:r>
              <a:rPr sz="2000" b="1" spc="-1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1ABEA"/>
                </a:solidFill>
                <a:latin typeface="Arial"/>
                <a:cs typeface="Arial"/>
              </a:rPr>
              <a:t>execution.</a:t>
            </a:r>
            <a:endParaRPr sz="2000" dirty="0">
              <a:latin typeface="Arial"/>
              <a:cs typeface="Arial"/>
            </a:endParaRPr>
          </a:p>
          <a:p>
            <a:pPr marL="697865" marR="148590" lvl="1" indent="-228600">
              <a:lnSpc>
                <a:spcPts val="1730"/>
              </a:lnSpc>
              <a:spcBef>
                <a:spcPts val="620"/>
              </a:spcBef>
              <a:buChar char="–"/>
              <a:tabLst>
                <a:tab pos="697865" algn="l"/>
              </a:tabLst>
            </a:pPr>
            <a:r>
              <a:rPr sz="1600" dirty="0">
                <a:latin typeface="Arial MT"/>
                <a:cs typeface="Arial MT"/>
              </a:rPr>
              <a:t>Through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pipelining,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don’t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speed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execution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individual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instructions;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rather,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we </a:t>
            </a:r>
            <a:r>
              <a:rPr sz="1600" dirty="0">
                <a:latin typeface="Arial MT"/>
                <a:cs typeface="Arial MT"/>
              </a:rPr>
              <a:t>overlap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computations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(i.e.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perform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more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simultaneously),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order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to </a:t>
            </a:r>
            <a:r>
              <a:rPr sz="1600" dirty="0">
                <a:latin typeface="Arial MT"/>
                <a:cs typeface="Arial MT"/>
              </a:rPr>
              <a:t>generate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results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less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time.</a:t>
            </a:r>
            <a:endParaRPr sz="16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75"/>
              </a:spcBef>
              <a:buFont typeface="Arial MT"/>
              <a:buChar char="–"/>
            </a:pPr>
            <a:endParaRPr sz="16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Pipelining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can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be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thought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0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as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decreasing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CPI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54682" y="233387"/>
            <a:ext cx="7543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63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SPEEDUP</a:t>
            </a:r>
            <a:r>
              <a:rPr sz="4000" spc="-80" dirty="0"/>
              <a:t> </a:t>
            </a:r>
            <a:r>
              <a:rPr sz="4000" spc="-20" dirty="0"/>
              <a:t>SCENARIO-</a:t>
            </a:r>
            <a:r>
              <a:rPr sz="4000" spc="-50"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3763011"/>
            <a:ext cx="8310245" cy="23698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30"/>
              </a:spcBef>
              <a:buChar char="•"/>
              <a:tabLst>
                <a:tab pos="299085" algn="l"/>
              </a:tabLst>
            </a:pPr>
            <a:r>
              <a:rPr sz="1800" spc="-10" dirty="0">
                <a:latin typeface="Arial MT"/>
                <a:cs typeface="Arial MT"/>
              </a:rPr>
              <a:t>Un-</a:t>
            </a:r>
            <a:r>
              <a:rPr sz="1800" dirty="0">
                <a:latin typeface="Arial MT"/>
                <a:cs typeface="Arial MT"/>
              </a:rPr>
              <a:t>pipelined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execution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task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7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cycles 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complete</a:t>
            </a:r>
            <a:endParaRPr sz="1800" dirty="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409"/>
              </a:spcBef>
              <a:buChar char="–"/>
              <a:tabLst>
                <a:tab pos="698500" algn="l"/>
              </a:tabLst>
            </a:pPr>
            <a:r>
              <a:rPr sz="1700" dirty="0">
                <a:latin typeface="Arial MT"/>
                <a:cs typeface="Arial MT"/>
              </a:rPr>
              <a:t>Assuming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clock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cycle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time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1ns,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then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according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CPU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time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formula</a:t>
            </a:r>
            <a:endParaRPr sz="17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430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number</a:t>
            </a:r>
            <a:r>
              <a:rPr sz="1800" b="1" spc="-2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of</a:t>
            </a:r>
            <a:r>
              <a:rPr sz="1800" b="1" spc="-1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instructions</a:t>
            </a:r>
            <a:r>
              <a:rPr sz="1800" b="1" spc="-1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CPI</a:t>
            </a:r>
            <a:r>
              <a:rPr sz="1800" b="1" spc="-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clock</a:t>
            </a:r>
            <a:r>
              <a:rPr sz="1800" b="1" spc="-1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cycle </a:t>
            </a:r>
            <a:r>
              <a:rPr sz="1800" b="1" spc="-20" dirty="0">
                <a:solidFill>
                  <a:srgbClr val="FF9900"/>
                </a:solidFill>
                <a:latin typeface="Arial"/>
                <a:cs typeface="Arial"/>
              </a:rPr>
              <a:t>time</a:t>
            </a:r>
            <a:endParaRPr sz="1800" dirty="0">
              <a:latin typeface="Arial"/>
              <a:cs typeface="Arial"/>
            </a:endParaRPr>
          </a:p>
          <a:p>
            <a:pPr marL="1739264">
              <a:lnSpc>
                <a:spcPct val="100000"/>
              </a:lnSpc>
              <a:spcBef>
                <a:spcPts val="434"/>
              </a:spcBef>
              <a:tabLst>
                <a:tab pos="2761615" algn="l"/>
                <a:tab pos="4476750" algn="l"/>
                <a:tab pos="4781550" algn="l"/>
                <a:tab pos="5099685" algn="l"/>
                <a:tab pos="5721985" algn="l"/>
                <a:tab pos="7258050" algn="l"/>
                <a:tab pos="7519034" algn="l"/>
              </a:tabLst>
            </a:pP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50" dirty="0">
                <a:solidFill>
                  <a:srgbClr val="FF0066"/>
                </a:solidFill>
                <a:latin typeface="Arial"/>
                <a:cs typeface="Arial"/>
              </a:rPr>
              <a:t>7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	</a:t>
            </a:r>
            <a:r>
              <a:rPr sz="1800" spc="-50" dirty="0">
                <a:latin typeface="Arial MT"/>
                <a:cs typeface="Arial MT"/>
              </a:rPr>
              <a:t>x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50" dirty="0">
                <a:solidFill>
                  <a:srgbClr val="00CC00"/>
                </a:solidFill>
                <a:latin typeface="Arial"/>
                <a:cs typeface="Arial"/>
              </a:rPr>
              <a:t>3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	</a:t>
            </a:r>
            <a:r>
              <a:rPr sz="1800" spc="-50" dirty="0">
                <a:latin typeface="Arial MT"/>
                <a:cs typeface="Arial MT"/>
              </a:rPr>
              <a:t>x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25" dirty="0">
                <a:solidFill>
                  <a:srgbClr val="FF9900"/>
                </a:solidFill>
                <a:latin typeface="Arial"/>
                <a:cs typeface="Arial"/>
              </a:rPr>
              <a:t>1ns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	</a:t>
            </a: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20" dirty="0">
                <a:latin typeface="Arial"/>
                <a:cs typeface="Arial"/>
              </a:rPr>
              <a:t>21ns</a:t>
            </a:r>
            <a:endParaRPr sz="1800" dirty="0">
              <a:latin typeface="Arial"/>
              <a:cs typeface="Arial"/>
            </a:endParaRPr>
          </a:p>
          <a:p>
            <a:pPr marL="299085" marR="5080" indent="-287020">
              <a:lnSpc>
                <a:spcPts val="1939"/>
              </a:lnSpc>
              <a:spcBef>
                <a:spcPts val="123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Pipelined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9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table </a:t>
            </a:r>
            <a:r>
              <a:rPr sz="1800" dirty="0">
                <a:latin typeface="Arial MT"/>
                <a:cs typeface="Arial MT"/>
              </a:rPr>
              <a:t>above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9ns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assuming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 time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25" dirty="0">
                <a:latin typeface="Arial MT"/>
                <a:cs typeface="Arial MT"/>
              </a:rPr>
              <a:t> ns)</a:t>
            </a:r>
            <a:endParaRPr sz="18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99085" algn="l"/>
                <a:tab pos="2705100" algn="l"/>
              </a:tabLst>
            </a:pPr>
            <a:r>
              <a:rPr sz="1800" b="1" dirty="0">
                <a:latin typeface="Arial"/>
                <a:cs typeface="Arial"/>
              </a:rPr>
              <a:t>Speedup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21ns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/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9ns</a:t>
            </a:r>
            <a:r>
              <a:rPr sz="1800" dirty="0">
                <a:latin typeface="Arial MT"/>
                <a:cs typeface="Arial MT"/>
              </a:rPr>
              <a:t>	= </a:t>
            </a:r>
            <a:r>
              <a:rPr sz="1800" b="1" spc="-20" dirty="0">
                <a:latin typeface="Arial"/>
                <a:cs typeface="Arial"/>
              </a:rPr>
              <a:t>2.33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00427" y="1188719"/>
          <a:ext cx="5099049" cy="2500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345">
                <a:tc rowSpan="2">
                  <a:txBody>
                    <a:bodyPr/>
                    <a:lstStyle/>
                    <a:p>
                      <a:pPr marL="62230" marR="28575" indent="-8890" algn="ctr">
                        <a:lnSpc>
                          <a:spcPct val="88200"/>
                        </a:lnSpc>
                        <a:spcBef>
                          <a:spcPts val="5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Clock Pulse 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Segment</a:t>
                      </a:r>
                      <a:r>
                        <a:rPr sz="14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513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Segment</a:t>
                      </a:r>
                      <a:r>
                        <a:rPr sz="14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17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Segment</a:t>
                      </a:r>
                      <a:r>
                        <a:rPr sz="14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17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5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600"/>
                        </a:lnSpc>
                        <a:spcBef>
                          <a:spcPts val="16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600"/>
                        </a:lnSpc>
                        <a:spcBef>
                          <a:spcPts val="16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600"/>
                        </a:lnSpc>
                        <a:spcBef>
                          <a:spcPts val="16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115" algn="r">
                        <a:lnSpc>
                          <a:spcPts val="1600"/>
                        </a:lnSpc>
                        <a:spcBef>
                          <a:spcPts val="16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 algn="ctr">
                        <a:lnSpc>
                          <a:spcPts val="1600"/>
                        </a:lnSpc>
                        <a:spcBef>
                          <a:spcPts val="16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R="45085" algn="ctr">
                        <a:lnSpc>
                          <a:spcPts val="1630"/>
                        </a:lnSpc>
                        <a:spcBef>
                          <a:spcPts val="17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1630"/>
                        </a:lnSpc>
                        <a:spcBef>
                          <a:spcPts val="17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1630"/>
                        </a:lnSpc>
                        <a:spcBef>
                          <a:spcPts val="17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7150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7150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B1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R="57150" algn="ctr">
                        <a:lnSpc>
                          <a:spcPts val="152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A3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B2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R="57150" algn="ctr">
                        <a:lnSpc>
                          <a:spcPts val="152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A3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B3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7150" algn="ctr">
                        <a:lnSpc>
                          <a:spcPts val="153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14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B4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7150" algn="ctr">
                        <a:lnSpc>
                          <a:spcPts val="153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A6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B5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7150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A7</a:t>
                      </a:r>
                      <a:r>
                        <a:rPr sz="14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65735" algn="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1150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A6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B6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57150" algn="ctr">
                        <a:lnSpc>
                          <a:spcPts val="158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ts val="158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A7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B7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791714" y="796544"/>
            <a:ext cx="34150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Operations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pipeline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stage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53988"/>
            <a:ext cx="7543800" cy="687387"/>
          </a:xfrm>
          <a:prstGeom prst="rect">
            <a:avLst/>
          </a:prstGeom>
        </p:spPr>
        <p:txBody>
          <a:bodyPr vert="horz" wrap="square" lIns="0" tIns="71501" rIns="0" bIns="0" rtlCol="0">
            <a:spAutoFit/>
          </a:bodyPr>
          <a:lstStyle/>
          <a:p>
            <a:pPr marL="268795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SPEEDUP</a:t>
            </a:r>
            <a:r>
              <a:rPr sz="4000" spc="-40" dirty="0"/>
              <a:t> </a:t>
            </a:r>
            <a:r>
              <a:rPr sz="4000" spc="-25" dirty="0"/>
              <a:t>SCENARIO-</a:t>
            </a:r>
            <a:r>
              <a:rPr sz="4000" spc="-50"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9910" y="884300"/>
            <a:ext cx="6287135" cy="1951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3580">
              <a:lnSpc>
                <a:spcPct val="100000"/>
              </a:lnSpc>
              <a:spcBef>
                <a:spcPts val="95"/>
              </a:spcBef>
              <a:tabLst>
                <a:tab pos="1067435" algn="l"/>
              </a:tabLst>
            </a:pPr>
            <a:r>
              <a:rPr sz="1600" b="1" spc="-25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25" dirty="0">
                <a:latin typeface="Arial"/>
                <a:cs typeface="Arial"/>
              </a:rPr>
              <a:t>:</a:t>
            </a:r>
            <a:r>
              <a:rPr sz="1600" b="1" dirty="0">
                <a:latin typeface="Arial"/>
                <a:cs typeface="Arial"/>
              </a:rPr>
              <a:t>	Number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instructions to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executed</a:t>
            </a:r>
            <a:endParaRPr sz="1600" dirty="0">
              <a:latin typeface="Arial"/>
              <a:cs typeface="Arial"/>
            </a:endParaRPr>
          </a:p>
          <a:p>
            <a:pPr marL="647700">
              <a:lnSpc>
                <a:spcPct val="100000"/>
              </a:lnSpc>
            </a:pP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(n =</a:t>
            </a:r>
            <a:r>
              <a:rPr sz="1600" spc="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7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 dirty="0">
              <a:latin typeface="Arial MT"/>
              <a:cs typeface="Arial MT"/>
            </a:endParaRPr>
          </a:p>
          <a:p>
            <a:pPr marR="2061845" algn="ctr">
              <a:lnSpc>
                <a:spcPct val="100000"/>
              </a:lnSpc>
              <a:spcBef>
                <a:spcPts val="1730"/>
              </a:spcBef>
            </a:pPr>
            <a:r>
              <a:rPr sz="1600" b="1" dirty="0">
                <a:latin typeface="Arial"/>
                <a:cs typeface="Arial"/>
              </a:rPr>
              <a:t>Conventional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Machine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(un-</a:t>
            </a:r>
            <a:r>
              <a:rPr sz="1600" b="1" dirty="0">
                <a:latin typeface="Arial"/>
                <a:cs typeface="Arial"/>
              </a:rPr>
              <a:t>pipelined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case)</a:t>
            </a:r>
            <a:endParaRPr sz="1600" dirty="0">
              <a:latin typeface="Arial"/>
              <a:cs typeface="Arial"/>
            </a:endParaRPr>
          </a:p>
          <a:p>
            <a:pPr marL="703580">
              <a:lnSpc>
                <a:spcPct val="100000"/>
              </a:lnSpc>
              <a:tabLst>
                <a:tab pos="1095375" algn="l"/>
              </a:tabLst>
            </a:pPr>
            <a:r>
              <a:rPr sz="1600" b="1" spc="-25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1575" b="1" spc="-37" baseline="-21164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25" dirty="0">
                <a:latin typeface="Arial"/>
                <a:cs typeface="Arial"/>
              </a:rPr>
              <a:t>:</a:t>
            </a:r>
            <a:r>
              <a:rPr sz="1600" b="1" dirty="0">
                <a:latin typeface="Arial"/>
                <a:cs typeface="Arial"/>
              </a:rPr>
              <a:t>	Time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required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complete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each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instruction</a:t>
            </a:r>
            <a:endParaRPr sz="1600" dirty="0">
              <a:latin typeface="Arial"/>
              <a:cs typeface="Arial"/>
            </a:endParaRPr>
          </a:p>
          <a:p>
            <a:pPr marL="647700">
              <a:lnSpc>
                <a:spcPct val="100000"/>
              </a:lnSpc>
            </a:pP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A6A6A6"/>
                </a:solidFill>
                <a:latin typeface="Arial"/>
                <a:cs typeface="Arial"/>
              </a:rPr>
              <a:t>t</a:t>
            </a:r>
            <a:r>
              <a:rPr sz="1575" b="1" baseline="-21164" dirty="0">
                <a:solidFill>
                  <a:srgbClr val="A6A6A6"/>
                </a:solidFill>
                <a:latin typeface="Arial"/>
                <a:cs typeface="Arial"/>
              </a:rPr>
              <a:t>n</a:t>
            </a:r>
            <a:r>
              <a:rPr sz="1575" b="1" spc="217" baseline="-21164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CPI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x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clock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cycle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time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 3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x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1ns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3ns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Arial MT"/>
              <a:cs typeface="Arial MT"/>
            </a:endParaRPr>
          </a:p>
          <a:p>
            <a:pPr marL="647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Then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instructions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will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be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completed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Time</a:t>
            </a:r>
            <a:r>
              <a:rPr sz="1575" b="1" baseline="-21164" dirty="0">
                <a:solidFill>
                  <a:srgbClr val="008011"/>
                </a:solidFill>
                <a:latin typeface="Arial"/>
                <a:cs typeface="Arial"/>
              </a:rPr>
              <a:t>unpipe</a:t>
            </a:r>
            <a:r>
              <a:rPr sz="1575" b="1" spc="644" baseline="-21164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16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*</a:t>
            </a:r>
            <a:r>
              <a:rPr sz="1600" b="1" spc="-25" dirty="0">
                <a:solidFill>
                  <a:srgbClr val="008011"/>
                </a:solidFill>
                <a:latin typeface="Arial"/>
                <a:cs typeface="Arial"/>
              </a:rPr>
              <a:t> t</a:t>
            </a:r>
            <a:r>
              <a:rPr sz="1575" b="1" spc="-37" baseline="-21164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endParaRPr sz="1575" baseline="-21164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0985" y="2873755"/>
            <a:ext cx="1056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15" baseline="13888" dirty="0">
                <a:solidFill>
                  <a:srgbClr val="A6A6A6"/>
                </a:solidFill>
                <a:latin typeface="Arial MT"/>
                <a:cs typeface="Arial MT"/>
              </a:rPr>
              <a:t>(</a:t>
            </a:r>
            <a:r>
              <a:rPr sz="2400" b="1" spc="-15" baseline="13888" dirty="0">
                <a:solidFill>
                  <a:srgbClr val="A6A6A6"/>
                </a:solidFill>
                <a:latin typeface="Arial"/>
                <a:cs typeface="Arial"/>
              </a:rPr>
              <a:t>Time</a:t>
            </a:r>
            <a:r>
              <a:rPr sz="1050" b="1" spc="-10" dirty="0">
                <a:solidFill>
                  <a:srgbClr val="A6A6A6"/>
                </a:solidFill>
                <a:latin typeface="Arial"/>
                <a:cs typeface="Arial"/>
              </a:rPr>
              <a:t>unpipe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2522" y="2824987"/>
            <a:ext cx="27622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 7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x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3ns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21ns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310" y="3263900"/>
            <a:ext cx="835596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Pipelined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Machine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(with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k</a:t>
            </a:r>
            <a:r>
              <a:rPr sz="16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segments)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(k=3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>
              <a:latin typeface="Arial MT"/>
              <a:cs typeface="Arial MT"/>
            </a:endParaRPr>
          </a:p>
          <a:p>
            <a:pPr marL="622300">
              <a:lnSpc>
                <a:spcPct val="100000"/>
              </a:lnSpc>
              <a:tabLst>
                <a:tab pos="1011555" algn="l"/>
              </a:tabLst>
            </a:pPr>
            <a:r>
              <a:rPr sz="1600" b="1" spc="-25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1575" b="1" spc="-37" baseline="-21164" dirty="0">
                <a:solidFill>
                  <a:srgbClr val="008011"/>
                </a:solidFill>
                <a:latin typeface="Arial"/>
                <a:cs typeface="Arial"/>
              </a:rPr>
              <a:t>p</a:t>
            </a:r>
            <a:r>
              <a:rPr sz="1600" b="1" spc="-25" dirty="0">
                <a:latin typeface="Arial"/>
                <a:cs typeface="Arial"/>
              </a:rPr>
              <a:t>:</a:t>
            </a:r>
            <a:r>
              <a:rPr sz="1600" b="1" dirty="0">
                <a:latin typeface="Arial"/>
                <a:cs typeface="Arial"/>
              </a:rPr>
              <a:t>	Clock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cycle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time to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complete each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segment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(1ns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3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730"/>
              </a:spcBef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first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requires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time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equal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k.t</a:t>
            </a:r>
            <a:r>
              <a:rPr sz="1575" b="1" baseline="-21164" dirty="0">
                <a:solidFill>
                  <a:srgbClr val="008011"/>
                </a:solidFill>
                <a:latin typeface="Arial"/>
                <a:cs typeface="Arial"/>
              </a:rPr>
              <a:t>p</a:t>
            </a:r>
            <a:r>
              <a:rPr sz="1575" b="1" spc="209" baseline="-21164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complete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execution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(3ns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>
              <a:latin typeface="Arial MT"/>
              <a:cs typeface="Arial MT"/>
            </a:endParaRPr>
          </a:p>
          <a:p>
            <a:pPr marL="50800" marR="341630">
              <a:lnSpc>
                <a:spcPts val="1730"/>
              </a:lnSpc>
              <a:spcBef>
                <a:spcPts val="1225"/>
              </a:spcBef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remaining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emerge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pipe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rate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per </a:t>
            </a:r>
            <a:r>
              <a:rPr sz="1600" dirty="0">
                <a:latin typeface="Arial MT"/>
                <a:cs typeface="Arial MT"/>
              </a:rPr>
              <a:t>clock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cycle,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remaining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will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complete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time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1)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1575" b="1" baseline="-21164" dirty="0">
                <a:solidFill>
                  <a:srgbClr val="008011"/>
                </a:solidFill>
                <a:latin typeface="Arial"/>
                <a:cs typeface="Arial"/>
              </a:rPr>
              <a:t>p</a:t>
            </a:r>
            <a:r>
              <a:rPr sz="1575" b="1" spc="15" baseline="-21164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(6ns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3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>
              <a:latin typeface="Arial MT"/>
              <a:cs typeface="Arial MT"/>
            </a:endParaRPr>
          </a:p>
          <a:p>
            <a:pPr marL="50800">
              <a:lnSpc>
                <a:spcPts val="1825"/>
              </a:lnSpc>
              <a:spcBef>
                <a:spcPts val="980"/>
              </a:spcBef>
            </a:pPr>
            <a:r>
              <a:rPr sz="1600" dirty="0">
                <a:latin typeface="Arial MT"/>
                <a:cs typeface="Arial MT"/>
              </a:rPr>
              <a:t>Therefore,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tasks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008011"/>
                </a:solidFill>
                <a:latin typeface="Arial"/>
                <a:cs typeface="Arial"/>
              </a:rPr>
              <a:t>k</a:t>
            </a:r>
            <a:r>
              <a:rPr sz="1600" spc="-10" dirty="0">
                <a:latin typeface="Arial MT"/>
                <a:cs typeface="Arial MT"/>
              </a:rPr>
              <a:t>-</a:t>
            </a:r>
            <a:r>
              <a:rPr sz="1600" dirty="0">
                <a:latin typeface="Arial MT"/>
                <a:cs typeface="Arial MT"/>
              </a:rPr>
              <a:t>segment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pipeline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will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complete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in: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Time</a:t>
            </a:r>
            <a:r>
              <a:rPr sz="1575" b="1" baseline="-21164" dirty="0">
                <a:solidFill>
                  <a:srgbClr val="008011"/>
                </a:solidFill>
                <a:latin typeface="Arial"/>
                <a:cs typeface="Arial"/>
              </a:rPr>
              <a:t>pipe</a:t>
            </a:r>
            <a:r>
              <a:rPr sz="1575" b="1" spc="-15" baseline="-21164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1600" b="1" spc="-1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k</a:t>
            </a:r>
            <a:r>
              <a:rPr sz="16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+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1)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spc="-25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1575" b="1" spc="-37" baseline="-21164" dirty="0">
                <a:solidFill>
                  <a:srgbClr val="008011"/>
                </a:solidFill>
                <a:latin typeface="Arial"/>
                <a:cs typeface="Arial"/>
              </a:rPr>
              <a:t>p</a:t>
            </a:r>
            <a:endParaRPr sz="1575" baseline="-21164">
              <a:latin typeface="Arial"/>
              <a:cs typeface="Arial"/>
            </a:endParaRPr>
          </a:p>
          <a:p>
            <a:pPr marL="50800">
              <a:lnSpc>
                <a:spcPts val="1825"/>
              </a:lnSpc>
            </a:pP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(3+6=</a:t>
            </a:r>
            <a:r>
              <a:rPr sz="1600" spc="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9ns</a:t>
            </a:r>
            <a:r>
              <a:rPr sz="1600" spc="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1751" y="5961388"/>
            <a:ext cx="2707005" cy="0"/>
          </a:xfrm>
          <a:custGeom>
            <a:avLst/>
            <a:gdLst/>
            <a:ahLst/>
            <a:cxnLst/>
            <a:rect l="l" t="t" r="r" b="b"/>
            <a:pathLst>
              <a:path w="2707004">
                <a:moveTo>
                  <a:pt x="0" y="0"/>
                </a:moveTo>
                <a:lnTo>
                  <a:pt x="1077674" y="0"/>
                </a:lnTo>
              </a:path>
              <a:path w="2707004">
                <a:moveTo>
                  <a:pt x="1676804" y="0"/>
                </a:moveTo>
                <a:lnTo>
                  <a:pt x="2706421" y="0"/>
                </a:lnTo>
              </a:path>
            </a:pathLst>
          </a:custGeom>
          <a:ln w="43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93685" y="6130740"/>
            <a:ext cx="3460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0" dirty="0">
                <a:latin typeface="Calibri"/>
                <a:cs typeface="Calibri"/>
              </a:rPr>
              <a:t>pipe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3668" y="5645981"/>
            <a:ext cx="111633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150" spc="-15" baseline="14550" dirty="0">
                <a:latin typeface="Calibri"/>
                <a:cs typeface="Calibri"/>
              </a:rPr>
              <a:t>Time</a:t>
            </a:r>
            <a:r>
              <a:rPr sz="1400" spc="-10" dirty="0">
                <a:latin typeface="Calibri"/>
                <a:cs typeface="Calibri"/>
              </a:rPr>
              <a:t>unpipe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63407" y="5972981"/>
            <a:ext cx="56197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20" dirty="0">
                <a:latin typeface="Calibri"/>
                <a:cs typeface="Calibri"/>
              </a:rPr>
              <a:t>Time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27583" y="5654016"/>
            <a:ext cx="44894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spc="-20" dirty="0">
                <a:latin typeface="Symbol"/>
                <a:cs typeface="Symbol"/>
              </a:rPr>
              <a:t>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1800" spc="-30" baseline="-16203" dirty="0">
                <a:latin typeface="Calibri"/>
                <a:cs typeface="Calibri"/>
              </a:rPr>
              <a:t>n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16035" y="5851642"/>
            <a:ext cx="107886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900" spc="-15" baseline="-6410" dirty="0">
                <a:latin typeface="Symbol"/>
                <a:cs typeface="Symbol"/>
              </a:rPr>
              <a:t></a:t>
            </a:r>
            <a:r>
              <a:rPr sz="2000" spc="-10" dirty="0">
                <a:latin typeface="Calibri"/>
                <a:cs typeface="Calibri"/>
              </a:rPr>
              <a:t>k</a:t>
            </a:r>
            <a:r>
              <a:rPr sz="2000" spc="-10" dirty="0">
                <a:latin typeface="Symbol"/>
                <a:cs typeface="Symbol"/>
              </a:rPr>
              <a:t></a:t>
            </a:r>
            <a:r>
              <a:rPr sz="2000" spc="-10" dirty="0">
                <a:latin typeface="Calibri"/>
                <a:cs typeface="Calibri"/>
              </a:rPr>
              <a:t>n</a:t>
            </a:r>
            <a:r>
              <a:rPr sz="2000" spc="-10" dirty="0">
                <a:latin typeface="Symbol"/>
                <a:cs typeface="Symbol"/>
              </a:rPr>
              <a:t>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r>
              <a:rPr sz="3900" spc="-15" baseline="-6410" dirty="0">
                <a:latin typeface="Symbol"/>
                <a:cs typeface="Symbol"/>
              </a:rPr>
              <a:t>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1800" spc="-15" baseline="-16203" dirty="0">
                <a:latin typeface="Calibri"/>
                <a:cs typeface="Calibri"/>
              </a:rPr>
              <a:t>p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7495" y="5749327"/>
            <a:ext cx="291084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50820" algn="l"/>
              </a:tabLst>
            </a:pPr>
            <a:r>
              <a:rPr sz="2100" b="1" dirty="0">
                <a:latin typeface="Calibri"/>
                <a:cs typeface="Calibri"/>
              </a:rPr>
              <a:t>Speedup</a:t>
            </a:r>
            <a:r>
              <a:rPr sz="2100" b="1" spc="195" dirty="0">
                <a:latin typeface="Calibri"/>
                <a:cs typeface="Calibri"/>
              </a:rPr>
              <a:t> </a:t>
            </a:r>
            <a:r>
              <a:rPr sz="2100" spc="-50" dirty="0">
                <a:latin typeface="Symbol"/>
                <a:cs typeface="Symbol"/>
              </a:rPr>
              <a:t>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54446" y="5832754"/>
            <a:ext cx="2891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(21/</a:t>
            </a:r>
            <a:r>
              <a:rPr sz="1600" spc="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9=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2.33</a:t>
            </a:r>
            <a:r>
              <a:rPr sz="1600" spc="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times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1047429"/>
            <a:ext cx="7543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112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NUMERICAL</a:t>
            </a:r>
            <a:r>
              <a:rPr sz="4400" spc="-130" dirty="0"/>
              <a:t> </a:t>
            </a:r>
            <a:r>
              <a:rPr sz="4400" spc="-10" dirty="0"/>
              <a:t>EXAMPLE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1887092"/>
            <a:ext cx="806323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2735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Consider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again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Scenario-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(n=7,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CPI=3,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1ns).</a:t>
            </a:r>
            <a:endParaRPr sz="2000" dirty="0">
              <a:latin typeface="Arial MT"/>
              <a:cs typeface="Arial MT"/>
            </a:endParaRPr>
          </a:p>
          <a:p>
            <a:pPr marL="299085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theoretical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speedup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achieve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455" y="3636721"/>
            <a:ext cx="762190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speedup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pipelining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overhead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0.3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execution?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87007" y="3190862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>
                <a:moveTo>
                  <a:pt x="0" y="0"/>
                </a:moveTo>
                <a:lnTo>
                  <a:pt x="205143" y="0"/>
                </a:lnTo>
              </a:path>
            </a:pathLst>
          </a:custGeom>
          <a:ln w="4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44899" y="2978599"/>
            <a:ext cx="1233805" cy="344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b="1" dirty="0">
                <a:latin typeface="Calibri"/>
                <a:cs typeface="Calibri"/>
              </a:rPr>
              <a:t>Speedup</a:t>
            </a:r>
            <a:r>
              <a:rPr sz="2100" b="1" spc="195" dirty="0">
                <a:latin typeface="Calibri"/>
                <a:cs typeface="Calibri"/>
              </a:rPr>
              <a:t> </a:t>
            </a:r>
            <a:r>
              <a:rPr sz="2100" spc="-50" dirty="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8266" y="2857294"/>
            <a:ext cx="252095" cy="60706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8100" marR="30480" indent="1270">
              <a:lnSpc>
                <a:spcPct val="73400"/>
              </a:lnSpc>
              <a:spcBef>
                <a:spcPts val="800"/>
              </a:spcBef>
            </a:pPr>
            <a:r>
              <a:rPr sz="2200" b="1" spc="-45" dirty="0">
                <a:latin typeface="Calibri"/>
                <a:cs typeface="Calibri"/>
              </a:rPr>
              <a:t>t</a:t>
            </a:r>
            <a:r>
              <a:rPr sz="1800" b="1" spc="-67" baseline="-16203" dirty="0">
                <a:latin typeface="Calibri"/>
                <a:cs typeface="Calibri"/>
              </a:rPr>
              <a:t>n </a:t>
            </a:r>
            <a:r>
              <a:rPr sz="2200" b="1" spc="-40" dirty="0">
                <a:latin typeface="Calibri"/>
                <a:cs typeface="Calibri"/>
              </a:rPr>
              <a:t>t</a:t>
            </a:r>
            <a:r>
              <a:rPr sz="1800" b="1" spc="-60" baseline="-16203" dirty="0">
                <a:latin typeface="Calibri"/>
                <a:cs typeface="Calibri"/>
              </a:rPr>
              <a:t>p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37633" y="2998201"/>
            <a:ext cx="12909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3855" algn="l"/>
                <a:tab pos="794385" algn="l"/>
                <a:tab pos="1149985" algn="l"/>
              </a:tabLst>
            </a:pPr>
            <a:r>
              <a:rPr sz="3000" spc="-75" baseline="2777" dirty="0">
                <a:latin typeface="Symbol"/>
                <a:cs typeface="Symbol"/>
              </a:rPr>
              <a:t></a:t>
            </a:r>
            <a:r>
              <a:rPr sz="3000" baseline="2777" dirty="0">
                <a:latin typeface="Times New Roman"/>
                <a:cs typeface="Times New Roman"/>
              </a:rPr>
              <a:t>	</a:t>
            </a:r>
            <a:r>
              <a:rPr sz="3000" b="1" spc="-75" baseline="2777" dirty="0">
                <a:latin typeface="Calibri"/>
                <a:cs typeface="Calibri"/>
              </a:rPr>
              <a:t>k</a:t>
            </a:r>
            <a:r>
              <a:rPr sz="3000" b="1" baseline="2777" dirty="0">
                <a:latin typeface="Calibri"/>
                <a:cs typeface="Calibri"/>
              </a:rPr>
              <a:t>	</a:t>
            </a:r>
            <a:r>
              <a:rPr sz="2000" spc="-50" dirty="0">
                <a:latin typeface="Symbol"/>
                <a:cs typeface="Symbol"/>
              </a:rPr>
              <a:t>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spc="-50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8E540-F38F-1768-5C6E-0CA31763A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32328-1C6F-F3A7-47F9-90404CAA9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will affect the pipelined time</a:t>
            </a:r>
          </a:p>
          <a:p>
            <a:r>
              <a:rPr lang="en-US" i="1" dirty="0" err="1"/>
              <a:t>tp</a:t>
            </a:r>
            <a:r>
              <a:rPr lang="en-US" i="1" baseline="-25000" dirty="0" err="1"/>
              <a:t>actual</a:t>
            </a:r>
            <a:r>
              <a:rPr lang="en-US" dirty="0"/>
              <a:t>​=Ideal segment </a:t>
            </a:r>
            <a:r>
              <a:rPr lang="en-US" dirty="0" err="1"/>
              <a:t>time+Overhead</a:t>
            </a:r>
            <a:endParaRPr lang="en-US" dirty="0"/>
          </a:p>
          <a:p>
            <a:r>
              <a:rPr lang="en-US" i="1" dirty="0" err="1"/>
              <a:t>tp</a:t>
            </a:r>
            <a:r>
              <a:rPr lang="en-US" i="1" baseline="-25000" dirty="0" err="1"/>
              <a:t>actual</a:t>
            </a:r>
            <a:r>
              <a:rPr lang="en-US" dirty="0"/>
              <a:t>​=1 ns+0.3 ns=</a:t>
            </a:r>
            <a:r>
              <a:rPr lang="en-US" b="1" dirty="0"/>
              <a:t>1.3</a:t>
            </a:r>
            <a:r>
              <a:rPr lang="en-US" dirty="0"/>
              <a:t> ns.</a:t>
            </a:r>
          </a:p>
          <a:p>
            <a:endParaRPr lang="en-US" dirty="0"/>
          </a:p>
          <a:p>
            <a:r>
              <a:rPr lang="en-US" i="1" dirty="0" err="1"/>
              <a:t>Timepipe</a:t>
            </a:r>
            <a:r>
              <a:rPr lang="en-US" dirty="0" err="1"/>
              <a:t>,</a:t>
            </a:r>
            <a:r>
              <a:rPr lang="en-US" i="1" baseline="-25000" dirty="0" err="1"/>
              <a:t>actual</a:t>
            </a:r>
            <a:r>
              <a:rPr lang="en-US" dirty="0"/>
              <a:t>​=(3+7−1)×1.3 ns</a:t>
            </a:r>
          </a:p>
          <a:p>
            <a:r>
              <a:rPr lang="en-US" i="1" dirty="0" err="1"/>
              <a:t>Speedup</a:t>
            </a:r>
            <a:r>
              <a:rPr lang="en-US" i="1" baseline="-25000" dirty="0" err="1"/>
              <a:t>actual</a:t>
            </a:r>
            <a:r>
              <a:rPr lang="en-US" dirty="0"/>
              <a:t>​=21 ns/11.7​≈</a:t>
            </a:r>
            <a:r>
              <a:rPr lang="en-US" b="1" dirty="0"/>
              <a:t>1.79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579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7010">
              <a:lnSpc>
                <a:spcPct val="100000"/>
              </a:lnSpc>
              <a:spcBef>
                <a:spcPts val="100"/>
              </a:spcBef>
            </a:pPr>
            <a:r>
              <a:rPr dirty="0"/>
              <a:t>PIPELINING</a:t>
            </a:r>
            <a:r>
              <a:rPr spc="-10" dirty="0"/>
              <a:t> HAZARDS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1842642"/>
            <a:ext cx="8331834" cy="31508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4191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situations,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hazards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deviate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normal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speedup.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marR="508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Avoiding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hazard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allowed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delayed </a:t>
            </a:r>
            <a:r>
              <a:rPr sz="2400" dirty="0">
                <a:latin typeface="Arial MT"/>
                <a:cs typeface="Arial MT"/>
              </a:rPr>
              <a:t>(or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stalled).</a:t>
            </a:r>
            <a:endParaRPr sz="240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55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Hazards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necessary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pipeline.</a:t>
            </a:r>
            <a:endParaRPr sz="200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8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stall</a:t>
            </a:r>
            <a:r>
              <a:rPr sz="20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caused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hazard.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7B2C391-A239-1528-28E6-0EF6CFEAC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17" y="1700761"/>
            <a:ext cx="7752969" cy="345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28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0">
              <a:lnSpc>
                <a:spcPct val="100000"/>
              </a:lnSpc>
              <a:spcBef>
                <a:spcPts val="100"/>
              </a:spcBef>
            </a:pPr>
            <a:r>
              <a:rPr dirty="0"/>
              <a:t>TYPE</a:t>
            </a:r>
            <a:r>
              <a:rPr spc="-1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HAZARDS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2172658"/>
            <a:ext cx="6428740" cy="181800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Three</a:t>
            </a:r>
            <a:r>
              <a:rPr sz="2400" b="1" spc="-6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major</a:t>
            </a:r>
            <a:r>
              <a:rPr sz="24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hazards:</a:t>
            </a:r>
            <a:endParaRPr sz="2400">
              <a:latin typeface="Arial"/>
              <a:cs typeface="Arial"/>
            </a:endParaRPr>
          </a:p>
          <a:p>
            <a:pPr marL="697230" lvl="1" indent="-227329">
              <a:lnSpc>
                <a:spcPct val="100000"/>
              </a:lnSpc>
              <a:spcBef>
                <a:spcPts val="965"/>
              </a:spcBef>
              <a:buFont typeface="Arial MT"/>
              <a:buChar char="–"/>
              <a:tabLst>
                <a:tab pos="697230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Structural</a:t>
            </a:r>
            <a:r>
              <a:rPr sz="20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hazards</a:t>
            </a:r>
            <a:r>
              <a:rPr sz="20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(also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conflicts)</a:t>
            </a:r>
            <a:endParaRPr sz="200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960"/>
              </a:spcBef>
              <a:buFont typeface="Arial MT"/>
              <a:buChar char="–"/>
              <a:tabLst>
                <a:tab pos="696595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Data</a:t>
            </a:r>
            <a:r>
              <a:rPr sz="20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hazards</a:t>
            </a:r>
            <a:r>
              <a:rPr sz="20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(also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dependency)</a:t>
            </a:r>
            <a:endParaRPr sz="200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960"/>
              </a:spcBef>
              <a:buFont typeface="Arial MT"/>
              <a:buChar char="–"/>
              <a:tabLst>
                <a:tab pos="696595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Control</a:t>
            </a:r>
            <a:r>
              <a:rPr sz="20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hazards</a:t>
            </a:r>
            <a:r>
              <a:rPr sz="20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(also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difficulties)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-199375"/>
            <a:ext cx="7543800" cy="1450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7305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STRUCTURAL</a:t>
            </a:r>
            <a:r>
              <a:rPr spc="-105" dirty="0"/>
              <a:t> </a:t>
            </a:r>
            <a:r>
              <a:rPr spc="-10" dirty="0"/>
              <a:t>HAZARDS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96557" y="1905000"/>
            <a:ext cx="8517890" cy="4093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Structural</a:t>
            </a:r>
            <a:r>
              <a:rPr sz="24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hazards</a:t>
            </a:r>
            <a:r>
              <a:rPr sz="24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resource</a:t>
            </a:r>
            <a:r>
              <a:rPr sz="2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conflicts.</a:t>
            </a:r>
            <a:endParaRPr sz="2400" dirty="0">
              <a:latin typeface="Arial"/>
              <a:cs typeface="Arial"/>
            </a:endParaRPr>
          </a:p>
          <a:p>
            <a:pPr marL="695960" marR="713740" lvl="1" indent="-226695">
              <a:lnSpc>
                <a:spcPts val="2160"/>
              </a:lnSpc>
              <a:spcBef>
                <a:spcPts val="1839"/>
              </a:spcBef>
              <a:buFont typeface="Arial MT"/>
              <a:buChar char="–"/>
              <a:tabLst>
                <a:tab pos="697865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Resource</a:t>
            </a:r>
            <a:r>
              <a:rPr sz="20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conflicts</a:t>
            </a:r>
            <a:r>
              <a:rPr sz="20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caused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access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memory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by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two 	</a:t>
            </a:r>
            <a:r>
              <a:rPr sz="2000" b="1" dirty="0">
                <a:latin typeface="Arial"/>
                <a:cs typeface="Arial"/>
              </a:rPr>
              <a:t>segments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same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time.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705"/>
              </a:spcBef>
              <a:buFont typeface="Arial MT"/>
              <a:buChar char="–"/>
            </a:pPr>
            <a:endParaRPr sz="2000" dirty="0">
              <a:latin typeface="Arial"/>
              <a:cs typeface="Arial"/>
            </a:endParaRPr>
          </a:p>
          <a:p>
            <a:pPr marL="299085" marR="508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If</a:t>
            </a:r>
            <a:r>
              <a:rPr sz="2400" spc="-7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two</a:t>
            </a:r>
            <a:r>
              <a:rPr sz="2400" spc="-7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or</a:t>
            </a:r>
            <a:r>
              <a:rPr sz="2400" spc="-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more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instructions</a:t>
            </a:r>
            <a:r>
              <a:rPr sz="2400" spc="-5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cannot</a:t>
            </a:r>
            <a:r>
              <a:rPr sz="2400" spc="-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be</a:t>
            </a:r>
            <a:r>
              <a:rPr sz="2400" spc="-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overlapped</a:t>
            </a:r>
            <a:r>
              <a:rPr sz="24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in</a:t>
            </a:r>
            <a:r>
              <a:rPr sz="2400" spc="-5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8011"/>
                </a:solidFill>
                <a:latin typeface="Arial MT"/>
                <a:cs typeface="Arial MT"/>
              </a:rPr>
              <a:t>a</a:t>
            </a:r>
            <a:r>
              <a:rPr sz="2400" spc="600" dirty="0">
                <a:solidFill>
                  <a:srgbClr val="008011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pipeline</a:t>
            </a:r>
            <a:r>
              <a:rPr sz="24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because</a:t>
            </a:r>
            <a:r>
              <a:rPr sz="2400" spc="-6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a</a:t>
            </a:r>
            <a:r>
              <a:rPr sz="2400" spc="-8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resource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conflict,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2400" spc="-8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pipeline</a:t>
            </a:r>
            <a:r>
              <a:rPr sz="24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is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said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8011"/>
                </a:solidFill>
                <a:latin typeface="Arial MT"/>
                <a:cs typeface="Arial MT"/>
              </a:rPr>
              <a:t>to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have</a:t>
            </a:r>
            <a:r>
              <a:rPr sz="2400" spc="-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a</a:t>
            </a:r>
            <a:r>
              <a:rPr sz="2400" spc="-6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structural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8011"/>
                </a:solidFill>
                <a:latin typeface="Arial MT"/>
                <a:cs typeface="Arial MT"/>
              </a:rPr>
              <a:t>hazard.</a:t>
            </a:r>
            <a:endParaRPr sz="2400" dirty="0">
              <a:latin typeface="Arial MT"/>
              <a:cs typeface="Arial MT"/>
            </a:endParaRPr>
          </a:p>
          <a:p>
            <a:pPr marL="696595" marR="15240" lvl="1" indent="-227329" algn="just">
              <a:lnSpc>
                <a:spcPct val="90000"/>
              </a:lnSpc>
              <a:spcBef>
                <a:spcPts val="69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processors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single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fetching 	</a:t>
            </a:r>
            <a:r>
              <a:rPr sz="2000" dirty="0">
                <a:latin typeface="Arial MT"/>
                <a:cs typeface="Arial MT"/>
              </a:rPr>
              <a:t>both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instructions.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contains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a 	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reference,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conflict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reference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later 	instruction.</a:t>
            </a:r>
            <a:endParaRPr sz="2000" dirty="0">
              <a:latin typeface="Arial MT"/>
              <a:cs typeface="Arial MT"/>
            </a:endParaRPr>
          </a:p>
          <a:p>
            <a:pPr marL="696595" lvl="1" indent="-226695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Lets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consider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 </a:t>
            </a:r>
            <a:r>
              <a:rPr sz="2000" spc="-10" dirty="0">
                <a:latin typeface="Arial MT"/>
                <a:cs typeface="Arial MT"/>
              </a:rPr>
              <a:t>example.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20010" y="214938"/>
            <a:ext cx="7543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</a:t>
            </a:r>
            <a:r>
              <a:rPr sz="3600" spc="-60" dirty="0"/>
              <a:t> </a:t>
            </a:r>
            <a:r>
              <a:rPr sz="3600" dirty="0"/>
              <a:t>OF</a:t>
            </a:r>
            <a:r>
              <a:rPr sz="3600" spc="-90" dirty="0"/>
              <a:t> </a:t>
            </a:r>
            <a:r>
              <a:rPr sz="3600" dirty="0"/>
              <a:t>A</a:t>
            </a:r>
            <a:r>
              <a:rPr sz="3600" spc="-70" dirty="0"/>
              <a:t> </a:t>
            </a:r>
            <a:r>
              <a:rPr sz="3600" dirty="0"/>
              <a:t>STRUCTURAL</a:t>
            </a:r>
            <a:r>
              <a:rPr sz="3600" spc="-30" dirty="0"/>
              <a:t> </a:t>
            </a:r>
            <a:r>
              <a:rPr sz="3600" spc="-10" dirty="0"/>
              <a:t>HAZARD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80794" y="4502022"/>
            <a:ext cx="3003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Arial"/>
                <a:cs typeface="Arial"/>
              </a:rPr>
              <a:t>Cloc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2656" y="5183640"/>
            <a:ext cx="167005" cy="750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latin typeface="Arial"/>
                <a:cs typeface="Arial"/>
              </a:rPr>
              <a:t>Instructions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498" y="997111"/>
            <a:ext cx="7936865" cy="328359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12395" algn="ctr">
              <a:lnSpc>
                <a:spcPct val="100000"/>
              </a:lnSpc>
              <a:spcBef>
                <a:spcPts val="1085"/>
              </a:spcBef>
            </a:pPr>
            <a:r>
              <a:rPr sz="1800" b="1" dirty="0">
                <a:latin typeface="Arial"/>
                <a:cs typeface="Arial"/>
              </a:rPr>
              <a:t>Consider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4-</a:t>
            </a:r>
            <a:r>
              <a:rPr sz="1800" b="1" dirty="0">
                <a:latin typeface="Arial"/>
                <a:cs typeface="Arial"/>
              </a:rPr>
              <a:t>Segment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Pipeline</a:t>
            </a:r>
            <a:endParaRPr sz="1800" dirty="0">
              <a:latin typeface="Arial"/>
              <a:cs typeface="Arial"/>
            </a:endParaRPr>
          </a:p>
          <a:p>
            <a:pPr marL="2084705" indent="-379730">
              <a:lnSpc>
                <a:spcPts val="2050"/>
              </a:lnSpc>
              <a:spcBef>
                <a:spcPts val="980"/>
              </a:spcBef>
              <a:buAutoNum type="arabicPlain"/>
              <a:tabLst>
                <a:tab pos="2084705" algn="l"/>
                <a:tab pos="2606675" algn="l"/>
              </a:tabLst>
            </a:pPr>
            <a:r>
              <a:rPr sz="1800" spc="-25" dirty="0">
                <a:latin typeface="Arial MT"/>
                <a:cs typeface="Arial MT"/>
              </a:rPr>
              <a:t>FI:</a:t>
            </a:r>
            <a:r>
              <a:rPr sz="1800" dirty="0">
                <a:latin typeface="Arial MT"/>
                <a:cs typeface="Arial MT"/>
              </a:rPr>
              <a:t>	Fetch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memory</a:t>
            </a:r>
            <a:endParaRPr sz="1800" dirty="0">
              <a:latin typeface="Arial MT"/>
              <a:cs typeface="Arial MT"/>
            </a:endParaRPr>
          </a:p>
          <a:p>
            <a:pPr marL="2085339" indent="-380365">
              <a:lnSpc>
                <a:spcPts val="1945"/>
              </a:lnSpc>
              <a:buAutoNum type="arabicPlain"/>
              <a:tabLst>
                <a:tab pos="2085339" algn="l"/>
              </a:tabLst>
            </a:pPr>
            <a:r>
              <a:rPr sz="1800" dirty="0">
                <a:latin typeface="Arial MT"/>
                <a:cs typeface="Arial MT"/>
              </a:rPr>
              <a:t>DA:</a:t>
            </a:r>
            <a:r>
              <a:rPr sz="1800" spc="4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Decode 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calculate</a:t>
            </a:r>
            <a:endParaRPr sz="1800" dirty="0">
              <a:latin typeface="Arial MT"/>
              <a:cs typeface="Arial MT"/>
            </a:endParaRPr>
          </a:p>
          <a:p>
            <a:pPr marL="2658110">
              <a:lnSpc>
                <a:spcPts val="1945"/>
              </a:lnSpc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effective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operand</a:t>
            </a:r>
            <a:endParaRPr sz="1800" dirty="0">
              <a:latin typeface="Arial MT"/>
              <a:cs typeface="Arial MT"/>
            </a:endParaRPr>
          </a:p>
          <a:p>
            <a:pPr marL="2085339" indent="-380365">
              <a:lnSpc>
                <a:spcPts val="1945"/>
              </a:lnSpc>
              <a:buAutoNum type="arabicPlain" startAt="3"/>
              <a:tabLst>
                <a:tab pos="2085339" algn="l"/>
              </a:tabLst>
            </a:pPr>
            <a:r>
              <a:rPr sz="1800" dirty="0">
                <a:latin typeface="Arial MT"/>
                <a:cs typeface="Arial MT"/>
              </a:rPr>
              <a:t>FO: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Fetch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operand</a:t>
            </a:r>
            <a:endParaRPr sz="1800" dirty="0">
              <a:latin typeface="Arial MT"/>
              <a:cs typeface="Arial MT"/>
            </a:endParaRPr>
          </a:p>
          <a:p>
            <a:pPr marL="2085339" indent="-380365">
              <a:lnSpc>
                <a:spcPts val="2050"/>
              </a:lnSpc>
              <a:buAutoNum type="arabicPlain" startAt="3"/>
              <a:tabLst>
                <a:tab pos="2085339" algn="l"/>
                <a:tab pos="2580640" algn="l"/>
              </a:tabLst>
            </a:pPr>
            <a:r>
              <a:rPr sz="1800" spc="-25" dirty="0">
                <a:latin typeface="Arial MT"/>
                <a:cs typeface="Arial MT"/>
              </a:rPr>
              <a:t>EX:</a:t>
            </a:r>
            <a:r>
              <a:rPr sz="1800" dirty="0">
                <a:latin typeface="Arial MT"/>
                <a:cs typeface="Arial MT"/>
              </a:rPr>
              <a:t>	Execute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instruction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1800" dirty="0">
              <a:latin typeface="Arial MT"/>
              <a:cs typeface="Arial MT"/>
            </a:endParaRPr>
          </a:p>
          <a:p>
            <a:pPr marL="299085" marR="5080" indent="-287020">
              <a:lnSpc>
                <a:spcPts val="259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Assume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separate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memories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FI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cannot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overlapped.</a:t>
            </a:r>
            <a:endParaRPr sz="2400" dirty="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498317"/>
              </p:ext>
            </p:extLst>
          </p:nvPr>
        </p:nvGraphicFramePr>
        <p:xfrm>
          <a:off x="2011679" y="4507991"/>
          <a:ext cx="4710424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0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92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13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92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05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940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051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marL="43180">
                        <a:lnSpc>
                          <a:spcPts val="1145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10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Cycles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64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70">
                <a:tc rowSpan="2" gridSpan="2">
                  <a:txBody>
                    <a:bodyPr/>
                    <a:lstStyle/>
                    <a:p>
                      <a:pPr marR="12890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R="128905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3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18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stall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stall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35">
                <a:tc gridSpan="2">
                  <a:txBody>
                    <a:bodyPr/>
                    <a:lstStyle/>
                    <a:p>
                      <a:pPr marR="1289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140">
                <a:tc gridSpan="2">
                  <a:txBody>
                    <a:bodyPr/>
                    <a:lstStyle/>
                    <a:p>
                      <a:pPr marR="128905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stall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stall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760">
                <a:tc gridSpan="2">
                  <a:txBody>
                    <a:bodyPr/>
                    <a:lstStyle/>
                    <a:p>
                      <a:pPr marR="128905" algn="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2704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935">
                <a:tc gridSpan="2">
                  <a:txBody>
                    <a:bodyPr/>
                    <a:lstStyle/>
                    <a:p>
                      <a:pPr marR="12890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stall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stall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…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6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AVOID</a:t>
            </a:r>
            <a:r>
              <a:rPr spc="-60" dirty="0"/>
              <a:t> </a:t>
            </a:r>
            <a:r>
              <a:rPr dirty="0"/>
              <a:t>STRUCTURAL</a:t>
            </a:r>
            <a:r>
              <a:rPr spc="-20" dirty="0"/>
              <a:t> </a:t>
            </a:r>
            <a:r>
              <a:rPr spc="-10" dirty="0"/>
              <a:t>HAZARDS?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1903603"/>
            <a:ext cx="8364855" cy="278345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44958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Structural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hazards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avoided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accent1"/>
                </a:solidFill>
                <a:latin typeface="Arial MT"/>
                <a:cs typeface="Arial MT"/>
              </a:rPr>
              <a:t>separate </a:t>
            </a:r>
            <a:r>
              <a:rPr sz="2400" dirty="0">
                <a:solidFill>
                  <a:schemeClr val="accent1"/>
                </a:solidFill>
                <a:latin typeface="Arial MT"/>
                <a:cs typeface="Arial MT"/>
              </a:rPr>
              <a:t>memories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separate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 buses.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marR="508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However,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separate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memories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expensive.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ts val="2280"/>
              </a:lnSpc>
              <a:spcBef>
                <a:spcPts val="45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1"/>
                </a:solidFill>
                <a:latin typeface="Arial MT"/>
                <a:cs typeface="Arial MT"/>
              </a:rPr>
              <a:t>structural</a:t>
            </a:r>
            <a:r>
              <a:rPr sz="2000" spc="-50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1"/>
                </a:solidFill>
                <a:latin typeface="Arial MT"/>
                <a:cs typeface="Arial MT"/>
              </a:rPr>
              <a:t>hazard</a:t>
            </a:r>
            <a:r>
              <a:rPr sz="2000" spc="-50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1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1"/>
                </a:solidFill>
                <a:latin typeface="Arial MT"/>
                <a:cs typeface="Arial MT"/>
              </a:rPr>
              <a:t>rare,</a:t>
            </a:r>
            <a:r>
              <a:rPr sz="2000" spc="-45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1"/>
                </a:solidFill>
                <a:latin typeface="Arial MT"/>
                <a:cs typeface="Arial MT"/>
              </a:rPr>
              <a:t>it</a:t>
            </a:r>
            <a:r>
              <a:rPr sz="2000" spc="-15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1"/>
                </a:solidFill>
                <a:latin typeface="Arial MT"/>
                <a:cs typeface="Arial MT"/>
              </a:rPr>
              <a:t>may</a:t>
            </a:r>
            <a:r>
              <a:rPr sz="2000" spc="-35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1"/>
                </a:solidFill>
                <a:latin typeface="Arial MT"/>
                <a:cs typeface="Arial MT"/>
              </a:rPr>
              <a:t>be</a:t>
            </a:r>
            <a:r>
              <a:rPr sz="2000" spc="-20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1"/>
                </a:solidFill>
                <a:latin typeface="Arial MT"/>
                <a:cs typeface="Arial MT"/>
              </a:rPr>
              <a:t>ignored</a:t>
            </a:r>
            <a:r>
              <a:rPr sz="2000" spc="-25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1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</a:t>
            </a:r>
            <a:endParaRPr sz="2000" dirty="0">
              <a:latin typeface="Arial MT"/>
              <a:cs typeface="Arial MT"/>
            </a:endParaRPr>
          </a:p>
          <a:p>
            <a:pPr marL="697865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manufacturing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processor.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579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75" dirty="0"/>
              <a:t> </a:t>
            </a:r>
            <a:r>
              <a:rPr spc="-10" dirty="0"/>
              <a:t>HAZARDS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1897507"/>
            <a:ext cx="8309609" cy="283218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17399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solidFill>
                  <a:schemeClr val="accent1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accent1"/>
                </a:solidFill>
                <a:latin typeface="Arial MT"/>
                <a:cs typeface="Arial MT"/>
              </a:rPr>
              <a:t>data</a:t>
            </a:r>
            <a:r>
              <a:rPr sz="2400" spc="-70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accent1"/>
                </a:solidFill>
                <a:latin typeface="Arial MT"/>
                <a:cs typeface="Arial MT"/>
              </a:rPr>
              <a:t>hazard</a:t>
            </a:r>
            <a:r>
              <a:rPr sz="2400" spc="-45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occurs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 </a:t>
            </a:r>
            <a:r>
              <a:rPr sz="2400" dirty="0">
                <a:latin typeface="Arial MT"/>
                <a:cs typeface="Arial MT"/>
              </a:rPr>
              <a:t>depends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previous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marR="5080" indent="-287020">
              <a:lnSpc>
                <a:spcPts val="259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scheduled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pipeline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previous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yet </a:t>
            </a:r>
            <a:r>
              <a:rPr sz="2400" spc="-10" dirty="0">
                <a:latin typeface="Arial MT"/>
                <a:cs typeface="Arial MT"/>
              </a:rPr>
              <a:t>available.</a:t>
            </a:r>
            <a:endParaRPr sz="2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268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Lets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consider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example.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54000"/>
            <a:ext cx="7543800" cy="690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248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EXAMPLE</a:t>
            </a:r>
            <a:r>
              <a:rPr sz="4400" spc="-40" dirty="0"/>
              <a:t> </a:t>
            </a:r>
            <a:r>
              <a:rPr sz="4400" dirty="0"/>
              <a:t>OF</a:t>
            </a:r>
            <a:r>
              <a:rPr sz="4400" spc="-65" dirty="0"/>
              <a:t> </a:t>
            </a:r>
            <a:r>
              <a:rPr sz="4400" dirty="0"/>
              <a:t>A</a:t>
            </a:r>
            <a:r>
              <a:rPr sz="4400" spc="-45" dirty="0"/>
              <a:t> </a:t>
            </a:r>
            <a:r>
              <a:rPr sz="4400" dirty="0"/>
              <a:t>DATA</a:t>
            </a:r>
            <a:r>
              <a:rPr sz="4400" spc="-30" dirty="0"/>
              <a:t> </a:t>
            </a:r>
            <a:r>
              <a:rPr sz="4400" spc="-10" dirty="0"/>
              <a:t>HAZARD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905410"/>
              </p:ext>
            </p:extLst>
          </p:nvPr>
        </p:nvGraphicFramePr>
        <p:xfrm>
          <a:off x="1344167" y="984482"/>
          <a:ext cx="5469889" cy="984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Instruction-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3530" algn="r">
                        <a:lnSpc>
                          <a:spcPts val="2215"/>
                        </a:lnSpc>
                      </a:pPr>
                      <a:r>
                        <a:rPr sz="2000" b="1" spc="-25" dirty="0">
                          <a:latin typeface="Arial"/>
                          <a:cs typeface="Arial"/>
                        </a:rPr>
                        <a:t>ADD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15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R1,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R2,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R3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Instruction-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31940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Arial"/>
                          <a:cs typeface="Arial"/>
                        </a:rPr>
                        <a:t>SUB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R4,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R1,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R5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31750">
                        <a:lnSpc>
                          <a:spcPts val="2325"/>
                        </a:lnSpc>
                        <a:spcBef>
                          <a:spcPts val="7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Instruction-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3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303530" algn="r">
                        <a:lnSpc>
                          <a:spcPts val="2325"/>
                        </a:lnSpc>
                        <a:spcBef>
                          <a:spcPts val="75"/>
                        </a:spcBef>
                      </a:pPr>
                      <a:r>
                        <a:rPr sz="2000" b="1" spc="-25" dirty="0">
                          <a:latin typeface="Arial"/>
                          <a:cs typeface="Arial"/>
                        </a:rPr>
                        <a:t>AND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25"/>
                        </a:lnSpc>
                        <a:spcBef>
                          <a:spcPts val="7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R6,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R1,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R7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41727" y="2740532"/>
          <a:ext cx="6729726" cy="148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1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1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1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3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FI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DA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FO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EX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WB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FI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DA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FO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EX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WB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FI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DA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FO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EX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WB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1000" y="3107129"/>
            <a:ext cx="8611870" cy="32848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95"/>
              </a:spcBef>
              <a:tabLst>
                <a:tab pos="729615" algn="l"/>
              </a:tabLst>
            </a:pPr>
            <a:r>
              <a:rPr sz="1600" b="1" spc="-25" dirty="0">
                <a:latin typeface="Arial"/>
                <a:cs typeface="Arial"/>
              </a:rPr>
              <a:t>ADD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dirty="0">
                <a:latin typeface="Arial MT"/>
                <a:cs typeface="Arial MT"/>
              </a:rPr>
              <a:t>R1,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R2,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R3</a:t>
            </a:r>
            <a:endParaRPr sz="1600" dirty="0">
              <a:latin typeface="Arial MT"/>
              <a:cs typeface="Arial MT"/>
            </a:endParaRPr>
          </a:p>
          <a:p>
            <a:pPr marL="40005">
              <a:lnSpc>
                <a:spcPct val="100000"/>
              </a:lnSpc>
              <a:spcBef>
                <a:spcPts val="1450"/>
              </a:spcBef>
              <a:tabLst>
                <a:tab pos="722630" algn="l"/>
              </a:tabLst>
            </a:pPr>
            <a:r>
              <a:rPr sz="1600" b="1" spc="-25" dirty="0">
                <a:latin typeface="Arial"/>
                <a:cs typeface="Arial"/>
              </a:rPr>
              <a:t>SUB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dirty="0">
                <a:latin typeface="Arial MT"/>
                <a:cs typeface="Arial MT"/>
              </a:rPr>
              <a:t>R4,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R1,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R5</a:t>
            </a:r>
            <a:endParaRPr sz="1600" dirty="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1510"/>
              </a:spcBef>
              <a:tabLst>
                <a:tab pos="708025" algn="l"/>
              </a:tabLst>
            </a:pPr>
            <a:r>
              <a:rPr sz="1600" b="1" spc="-25" dirty="0">
                <a:latin typeface="Arial"/>
                <a:cs typeface="Arial"/>
              </a:rPr>
              <a:t>AND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dirty="0">
                <a:latin typeface="Arial MT"/>
                <a:cs typeface="Arial MT"/>
              </a:rPr>
              <a:t>R6,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R1,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R7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95"/>
              </a:spcBef>
            </a:pPr>
            <a:endParaRPr sz="1600" dirty="0">
              <a:latin typeface="Arial MT"/>
              <a:cs typeface="Arial MT"/>
            </a:endParaRPr>
          </a:p>
          <a:p>
            <a:pPr marL="381000" marR="68580" indent="-287020">
              <a:lnSpc>
                <a:spcPts val="2160"/>
              </a:lnSpc>
              <a:buChar char="•"/>
              <a:tabLst>
                <a:tab pos="3810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instruction-</a:t>
            </a:r>
            <a:r>
              <a:rPr sz="2000" dirty="0">
                <a:latin typeface="Arial MT"/>
                <a:cs typeface="Arial MT"/>
              </a:rPr>
              <a:t>1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b="1" dirty="0">
                <a:latin typeface="Arial"/>
                <a:cs typeface="Arial"/>
              </a:rPr>
              <a:t>ADD</a:t>
            </a:r>
            <a:r>
              <a:rPr sz="2000" dirty="0">
                <a:latin typeface="Arial MT"/>
                <a:cs typeface="Arial MT"/>
              </a:rPr>
              <a:t>ition)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stored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R1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5</a:t>
            </a:r>
            <a:r>
              <a:rPr sz="1950" spc="-37" baseline="25641" dirty="0">
                <a:latin typeface="Arial MT"/>
                <a:cs typeface="Arial MT"/>
              </a:rPr>
              <a:t>th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cycle;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whereas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R1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fetched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instruction-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4</a:t>
            </a:r>
            <a:r>
              <a:rPr sz="1950" baseline="25641" dirty="0">
                <a:latin typeface="Arial MT"/>
                <a:cs typeface="Arial MT"/>
              </a:rPr>
              <a:t>th</a:t>
            </a:r>
            <a:r>
              <a:rPr sz="1950" spc="262" baseline="2564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</a:t>
            </a:r>
            <a:r>
              <a:rPr sz="2000" spc="-25" dirty="0">
                <a:latin typeface="Arial MT"/>
                <a:cs typeface="Arial MT"/>
              </a:rPr>
              <a:t> and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0" dirty="0">
                <a:latin typeface="Arial MT"/>
                <a:cs typeface="Arial MT"/>
              </a:rPr>
              <a:t> instruction-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beginning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5</a:t>
            </a:r>
            <a:r>
              <a:rPr sz="1950" baseline="25641" dirty="0">
                <a:latin typeface="Arial MT"/>
                <a:cs typeface="Arial MT"/>
              </a:rPr>
              <a:t>th</a:t>
            </a:r>
            <a:r>
              <a:rPr sz="1950" spc="270" baseline="2564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cycle.</a:t>
            </a:r>
            <a:endParaRPr sz="2000" dirty="0">
              <a:latin typeface="Arial MT"/>
              <a:cs typeface="Arial MT"/>
            </a:endParaRPr>
          </a:p>
          <a:p>
            <a:pPr marL="551815">
              <a:lnSpc>
                <a:spcPct val="100000"/>
              </a:lnSpc>
              <a:spcBef>
                <a:spcPts val="390"/>
              </a:spcBef>
            </a:pPr>
            <a:r>
              <a:rPr sz="1700" dirty="0">
                <a:latin typeface="Arial MT"/>
                <a:cs typeface="Arial MT"/>
              </a:rPr>
              <a:t>–</a:t>
            </a:r>
            <a:r>
              <a:rPr sz="1700" spc="3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results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10" dirty="0">
                <a:latin typeface="Arial MT"/>
                <a:cs typeface="Arial MT"/>
              </a:rPr>
              <a:t> Instruction-</a:t>
            </a:r>
            <a:r>
              <a:rPr sz="1700" dirty="0">
                <a:latin typeface="Arial MT"/>
                <a:cs typeface="Arial MT"/>
              </a:rPr>
              <a:t>2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instruction-</a:t>
            </a:r>
            <a:r>
              <a:rPr sz="1700" dirty="0">
                <a:latin typeface="Arial MT"/>
                <a:cs typeface="Arial MT"/>
              </a:rPr>
              <a:t>3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will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fetch wrong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value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R1.</a:t>
            </a:r>
            <a:endParaRPr sz="1700" dirty="0">
              <a:latin typeface="Arial MT"/>
              <a:cs typeface="Arial MT"/>
            </a:endParaRPr>
          </a:p>
          <a:p>
            <a:pPr marL="381000" indent="-286385">
              <a:lnSpc>
                <a:spcPct val="100000"/>
              </a:lnSpc>
              <a:spcBef>
                <a:spcPts val="1550"/>
              </a:spcBef>
              <a:buChar char="•"/>
              <a:tabLst>
                <a:tab pos="381000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situation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leads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hazard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6414" y="2285746"/>
            <a:ext cx="31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DD0805"/>
                </a:solidFill>
                <a:latin typeface="Arial"/>
                <a:cs typeface="Arial"/>
              </a:rPr>
              <a:t>R1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79745" y="2583941"/>
            <a:ext cx="826769" cy="1394460"/>
          </a:xfrm>
          <a:custGeom>
            <a:avLst/>
            <a:gdLst/>
            <a:ahLst/>
            <a:cxnLst/>
            <a:rect l="l" t="t" r="r" b="b"/>
            <a:pathLst>
              <a:path w="826770" h="1394460">
                <a:moveTo>
                  <a:pt x="78232" y="920369"/>
                </a:moveTo>
                <a:lnTo>
                  <a:pt x="55372" y="908177"/>
                </a:lnTo>
                <a:lnTo>
                  <a:pt x="43307" y="931164"/>
                </a:lnTo>
                <a:lnTo>
                  <a:pt x="66167" y="943229"/>
                </a:lnTo>
                <a:lnTo>
                  <a:pt x="78232" y="920369"/>
                </a:lnTo>
                <a:close/>
              </a:path>
              <a:path w="826770" h="1394460">
                <a:moveTo>
                  <a:pt x="102489" y="874522"/>
                </a:moveTo>
                <a:lnTo>
                  <a:pt x="79629" y="862457"/>
                </a:lnTo>
                <a:lnTo>
                  <a:pt x="67564" y="885317"/>
                </a:lnTo>
                <a:lnTo>
                  <a:pt x="90424" y="897509"/>
                </a:lnTo>
                <a:lnTo>
                  <a:pt x="102489" y="874522"/>
                </a:lnTo>
                <a:close/>
              </a:path>
              <a:path w="826770" h="1394460">
                <a:moveTo>
                  <a:pt x="108204" y="960247"/>
                </a:moveTo>
                <a:lnTo>
                  <a:pt x="100584" y="948055"/>
                </a:lnTo>
                <a:lnTo>
                  <a:pt x="92583" y="946289"/>
                </a:lnTo>
                <a:lnTo>
                  <a:pt x="50736" y="972248"/>
                </a:lnTo>
                <a:lnTo>
                  <a:pt x="53975" y="966089"/>
                </a:lnTo>
                <a:lnTo>
                  <a:pt x="32080" y="954544"/>
                </a:lnTo>
                <a:lnTo>
                  <a:pt x="32080" y="983843"/>
                </a:lnTo>
                <a:lnTo>
                  <a:pt x="28930" y="985799"/>
                </a:lnTo>
                <a:lnTo>
                  <a:pt x="28854" y="983843"/>
                </a:lnTo>
                <a:lnTo>
                  <a:pt x="28778" y="982078"/>
                </a:lnTo>
                <a:lnTo>
                  <a:pt x="32080" y="983843"/>
                </a:lnTo>
                <a:lnTo>
                  <a:pt x="32080" y="954544"/>
                </a:lnTo>
                <a:lnTo>
                  <a:pt x="31115" y="954024"/>
                </a:lnTo>
                <a:lnTo>
                  <a:pt x="27876" y="960247"/>
                </a:lnTo>
                <a:lnTo>
                  <a:pt x="24993" y="965619"/>
                </a:lnTo>
                <a:lnTo>
                  <a:pt x="27825" y="960247"/>
                </a:lnTo>
                <a:lnTo>
                  <a:pt x="27622" y="954024"/>
                </a:lnTo>
                <a:lnTo>
                  <a:pt x="26250" y="920369"/>
                </a:lnTo>
                <a:lnTo>
                  <a:pt x="25933" y="911987"/>
                </a:lnTo>
                <a:lnTo>
                  <a:pt x="25908" y="910971"/>
                </a:lnTo>
                <a:lnTo>
                  <a:pt x="19812" y="905383"/>
                </a:lnTo>
                <a:lnTo>
                  <a:pt x="5588" y="905891"/>
                </a:lnTo>
                <a:lnTo>
                  <a:pt x="0" y="911987"/>
                </a:lnTo>
                <a:lnTo>
                  <a:pt x="215" y="918083"/>
                </a:lnTo>
                <a:lnTo>
                  <a:pt x="4953" y="1031240"/>
                </a:lnTo>
                <a:lnTo>
                  <a:pt x="31724" y="1014615"/>
                </a:lnTo>
                <a:lnTo>
                  <a:pt x="42354" y="1007999"/>
                </a:lnTo>
                <a:lnTo>
                  <a:pt x="72809" y="989076"/>
                </a:lnTo>
                <a:lnTo>
                  <a:pt x="106299" y="968248"/>
                </a:lnTo>
                <a:lnTo>
                  <a:pt x="108204" y="960247"/>
                </a:lnTo>
                <a:close/>
              </a:path>
              <a:path w="826770" h="1394460">
                <a:moveTo>
                  <a:pt x="126746" y="828802"/>
                </a:moveTo>
                <a:lnTo>
                  <a:pt x="103886" y="816610"/>
                </a:lnTo>
                <a:lnTo>
                  <a:pt x="91694" y="839470"/>
                </a:lnTo>
                <a:lnTo>
                  <a:pt x="114681" y="851662"/>
                </a:lnTo>
                <a:lnTo>
                  <a:pt x="126746" y="828802"/>
                </a:lnTo>
                <a:close/>
              </a:path>
              <a:path w="826770" h="1394460">
                <a:moveTo>
                  <a:pt x="151003" y="782955"/>
                </a:moveTo>
                <a:lnTo>
                  <a:pt x="128143" y="770890"/>
                </a:lnTo>
                <a:lnTo>
                  <a:pt x="115951" y="793750"/>
                </a:lnTo>
                <a:lnTo>
                  <a:pt x="138938" y="805815"/>
                </a:lnTo>
                <a:lnTo>
                  <a:pt x="151003" y="782955"/>
                </a:lnTo>
                <a:close/>
              </a:path>
              <a:path w="826770" h="1394460">
                <a:moveTo>
                  <a:pt x="175260" y="737108"/>
                </a:moveTo>
                <a:lnTo>
                  <a:pt x="152400" y="725043"/>
                </a:lnTo>
                <a:lnTo>
                  <a:pt x="140208" y="747903"/>
                </a:lnTo>
                <a:lnTo>
                  <a:pt x="163195" y="760095"/>
                </a:lnTo>
                <a:lnTo>
                  <a:pt x="175260" y="737108"/>
                </a:lnTo>
                <a:close/>
              </a:path>
              <a:path w="826770" h="1394460">
                <a:moveTo>
                  <a:pt x="199517" y="691388"/>
                </a:moveTo>
                <a:lnTo>
                  <a:pt x="176657" y="679196"/>
                </a:lnTo>
                <a:lnTo>
                  <a:pt x="164465" y="702183"/>
                </a:lnTo>
                <a:lnTo>
                  <a:pt x="187325" y="714248"/>
                </a:lnTo>
                <a:lnTo>
                  <a:pt x="199517" y="691388"/>
                </a:lnTo>
                <a:close/>
              </a:path>
              <a:path w="826770" h="1394460">
                <a:moveTo>
                  <a:pt x="223774" y="645541"/>
                </a:moveTo>
                <a:lnTo>
                  <a:pt x="200914" y="633476"/>
                </a:lnTo>
                <a:lnTo>
                  <a:pt x="188722" y="656336"/>
                </a:lnTo>
                <a:lnTo>
                  <a:pt x="211582" y="668528"/>
                </a:lnTo>
                <a:lnTo>
                  <a:pt x="223774" y="645541"/>
                </a:lnTo>
                <a:close/>
              </a:path>
              <a:path w="826770" h="1394460">
                <a:moveTo>
                  <a:pt x="248031" y="599821"/>
                </a:moveTo>
                <a:lnTo>
                  <a:pt x="225044" y="587629"/>
                </a:lnTo>
                <a:lnTo>
                  <a:pt x="212979" y="610616"/>
                </a:lnTo>
                <a:lnTo>
                  <a:pt x="235839" y="622681"/>
                </a:lnTo>
                <a:lnTo>
                  <a:pt x="248031" y="599821"/>
                </a:lnTo>
                <a:close/>
              </a:path>
              <a:path w="826770" h="1394460">
                <a:moveTo>
                  <a:pt x="272288" y="553974"/>
                </a:moveTo>
                <a:lnTo>
                  <a:pt x="249301" y="541909"/>
                </a:lnTo>
                <a:lnTo>
                  <a:pt x="237236" y="564769"/>
                </a:lnTo>
                <a:lnTo>
                  <a:pt x="260096" y="576834"/>
                </a:lnTo>
                <a:lnTo>
                  <a:pt x="272288" y="553974"/>
                </a:lnTo>
                <a:close/>
              </a:path>
              <a:path w="826770" h="1394460">
                <a:moveTo>
                  <a:pt x="296418" y="508254"/>
                </a:moveTo>
                <a:lnTo>
                  <a:pt x="273558" y="496062"/>
                </a:lnTo>
                <a:lnTo>
                  <a:pt x="261493" y="518922"/>
                </a:lnTo>
                <a:lnTo>
                  <a:pt x="284353" y="531114"/>
                </a:lnTo>
                <a:lnTo>
                  <a:pt x="296418" y="508254"/>
                </a:lnTo>
                <a:close/>
              </a:path>
              <a:path w="826770" h="1394460">
                <a:moveTo>
                  <a:pt x="320675" y="462407"/>
                </a:moveTo>
                <a:lnTo>
                  <a:pt x="297815" y="450342"/>
                </a:lnTo>
                <a:lnTo>
                  <a:pt x="285750" y="473202"/>
                </a:lnTo>
                <a:lnTo>
                  <a:pt x="308610" y="485267"/>
                </a:lnTo>
                <a:lnTo>
                  <a:pt x="320675" y="462407"/>
                </a:lnTo>
                <a:close/>
              </a:path>
              <a:path w="826770" h="1394460">
                <a:moveTo>
                  <a:pt x="344932" y="416560"/>
                </a:moveTo>
                <a:lnTo>
                  <a:pt x="322072" y="404495"/>
                </a:lnTo>
                <a:lnTo>
                  <a:pt x="310007" y="427355"/>
                </a:lnTo>
                <a:lnTo>
                  <a:pt x="332867" y="439547"/>
                </a:lnTo>
                <a:lnTo>
                  <a:pt x="344932" y="416560"/>
                </a:lnTo>
                <a:close/>
              </a:path>
              <a:path w="826770" h="1394460">
                <a:moveTo>
                  <a:pt x="369189" y="370840"/>
                </a:moveTo>
                <a:lnTo>
                  <a:pt x="346329" y="358648"/>
                </a:lnTo>
                <a:lnTo>
                  <a:pt x="334137" y="381635"/>
                </a:lnTo>
                <a:lnTo>
                  <a:pt x="357124" y="393700"/>
                </a:lnTo>
                <a:lnTo>
                  <a:pt x="369189" y="370840"/>
                </a:lnTo>
                <a:close/>
              </a:path>
              <a:path w="826770" h="1394460">
                <a:moveTo>
                  <a:pt x="393446" y="324993"/>
                </a:moveTo>
                <a:lnTo>
                  <a:pt x="370586" y="312928"/>
                </a:lnTo>
                <a:lnTo>
                  <a:pt x="358394" y="335788"/>
                </a:lnTo>
                <a:lnTo>
                  <a:pt x="381381" y="347980"/>
                </a:lnTo>
                <a:lnTo>
                  <a:pt x="393446" y="324993"/>
                </a:lnTo>
                <a:close/>
              </a:path>
              <a:path w="826770" h="1394460">
                <a:moveTo>
                  <a:pt x="417703" y="279273"/>
                </a:moveTo>
                <a:lnTo>
                  <a:pt x="394843" y="267081"/>
                </a:lnTo>
                <a:lnTo>
                  <a:pt x="382651" y="289941"/>
                </a:lnTo>
                <a:lnTo>
                  <a:pt x="405638" y="302133"/>
                </a:lnTo>
                <a:lnTo>
                  <a:pt x="417703" y="279273"/>
                </a:lnTo>
                <a:close/>
              </a:path>
              <a:path w="826770" h="1394460">
                <a:moveTo>
                  <a:pt x="441960" y="233426"/>
                </a:moveTo>
                <a:lnTo>
                  <a:pt x="419100" y="221361"/>
                </a:lnTo>
                <a:lnTo>
                  <a:pt x="406908" y="244221"/>
                </a:lnTo>
                <a:lnTo>
                  <a:pt x="429768" y="256286"/>
                </a:lnTo>
                <a:lnTo>
                  <a:pt x="441960" y="233426"/>
                </a:lnTo>
                <a:close/>
              </a:path>
              <a:path w="826770" h="1394460">
                <a:moveTo>
                  <a:pt x="466217" y="187579"/>
                </a:moveTo>
                <a:lnTo>
                  <a:pt x="443357" y="175514"/>
                </a:lnTo>
                <a:lnTo>
                  <a:pt x="431165" y="198374"/>
                </a:lnTo>
                <a:lnTo>
                  <a:pt x="454025" y="210566"/>
                </a:lnTo>
                <a:lnTo>
                  <a:pt x="466217" y="187579"/>
                </a:lnTo>
                <a:close/>
              </a:path>
              <a:path w="826770" h="1394460">
                <a:moveTo>
                  <a:pt x="490474" y="141859"/>
                </a:moveTo>
                <a:lnTo>
                  <a:pt x="467487" y="129667"/>
                </a:lnTo>
                <a:lnTo>
                  <a:pt x="455422" y="152654"/>
                </a:lnTo>
                <a:lnTo>
                  <a:pt x="478282" y="164719"/>
                </a:lnTo>
                <a:lnTo>
                  <a:pt x="490474" y="141859"/>
                </a:lnTo>
                <a:close/>
              </a:path>
              <a:path w="826770" h="1394460">
                <a:moveTo>
                  <a:pt x="514731" y="96012"/>
                </a:moveTo>
                <a:lnTo>
                  <a:pt x="491744" y="83947"/>
                </a:lnTo>
                <a:lnTo>
                  <a:pt x="479679" y="106807"/>
                </a:lnTo>
                <a:lnTo>
                  <a:pt x="502539" y="118999"/>
                </a:lnTo>
                <a:lnTo>
                  <a:pt x="514731" y="96012"/>
                </a:lnTo>
                <a:close/>
              </a:path>
              <a:path w="826770" h="1394460">
                <a:moveTo>
                  <a:pt x="538861" y="50292"/>
                </a:moveTo>
                <a:lnTo>
                  <a:pt x="516001" y="38100"/>
                </a:lnTo>
                <a:lnTo>
                  <a:pt x="503936" y="61087"/>
                </a:lnTo>
                <a:lnTo>
                  <a:pt x="526796" y="73152"/>
                </a:lnTo>
                <a:lnTo>
                  <a:pt x="538861" y="50292"/>
                </a:lnTo>
                <a:close/>
              </a:path>
              <a:path w="826770" h="1394460">
                <a:moveTo>
                  <a:pt x="571500" y="40132"/>
                </a:moveTo>
                <a:lnTo>
                  <a:pt x="569595" y="14351"/>
                </a:lnTo>
                <a:lnTo>
                  <a:pt x="543687" y="16129"/>
                </a:lnTo>
                <a:lnTo>
                  <a:pt x="545592" y="42037"/>
                </a:lnTo>
                <a:lnTo>
                  <a:pt x="571500" y="40132"/>
                </a:lnTo>
                <a:close/>
              </a:path>
              <a:path w="826770" h="1394460">
                <a:moveTo>
                  <a:pt x="575310" y="91821"/>
                </a:moveTo>
                <a:lnTo>
                  <a:pt x="573405" y="65913"/>
                </a:lnTo>
                <a:lnTo>
                  <a:pt x="547497" y="67818"/>
                </a:lnTo>
                <a:lnTo>
                  <a:pt x="549402" y="93726"/>
                </a:lnTo>
                <a:lnTo>
                  <a:pt x="575310" y="91821"/>
                </a:lnTo>
                <a:close/>
              </a:path>
              <a:path w="826770" h="1394460">
                <a:moveTo>
                  <a:pt x="579120" y="143510"/>
                </a:moveTo>
                <a:lnTo>
                  <a:pt x="577215" y="117602"/>
                </a:lnTo>
                <a:lnTo>
                  <a:pt x="551307" y="119507"/>
                </a:lnTo>
                <a:lnTo>
                  <a:pt x="553212" y="145415"/>
                </a:lnTo>
                <a:lnTo>
                  <a:pt x="579120" y="143510"/>
                </a:lnTo>
                <a:close/>
              </a:path>
              <a:path w="826770" h="1394460">
                <a:moveTo>
                  <a:pt x="582930" y="195199"/>
                </a:moveTo>
                <a:lnTo>
                  <a:pt x="581025" y="169291"/>
                </a:lnTo>
                <a:lnTo>
                  <a:pt x="555117" y="171196"/>
                </a:lnTo>
                <a:lnTo>
                  <a:pt x="557022" y="197104"/>
                </a:lnTo>
                <a:lnTo>
                  <a:pt x="582930" y="195199"/>
                </a:lnTo>
                <a:close/>
              </a:path>
              <a:path w="826770" h="1394460">
                <a:moveTo>
                  <a:pt x="586740" y="246888"/>
                </a:moveTo>
                <a:lnTo>
                  <a:pt x="584835" y="220980"/>
                </a:lnTo>
                <a:lnTo>
                  <a:pt x="558927" y="222885"/>
                </a:lnTo>
                <a:lnTo>
                  <a:pt x="560832" y="248793"/>
                </a:lnTo>
                <a:lnTo>
                  <a:pt x="586740" y="246888"/>
                </a:lnTo>
                <a:close/>
              </a:path>
              <a:path w="826770" h="1394460">
                <a:moveTo>
                  <a:pt x="590550" y="298450"/>
                </a:moveTo>
                <a:lnTo>
                  <a:pt x="588645" y="272669"/>
                </a:lnTo>
                <a:lnTo>
                  <a:pt x="562737" y="274574"/>
                </a:lnTo>
                <a:lnTo>
                  <a:pt x="564642" y="300355"/>
                </a:lnTo>
                <a:lnTo>
                  <a:pt x="590550" y="298450"/>
                </a:lnTo>
                <a:close/>
              </a:path>
              <a:path w="826770" h="1394460">
                <a:moveTo>
                  <a:pt x="594360" y="350139"/>
                </a:moveTo>
                <a:lnTo>
                  <a:pt x="592455" y="324358"/>
                </a:lnTo>
                <a:lnTo>
                  <a:pt x="566547" y="326263"/>
                </a:lnTo>
                <a:lnTo>
                  <a:pt x="568452" y="352044"/>
                </a:lnTo>
                <a:lnTo>
                  <a:pt x="594360" y="350139"/>
                </a:lnTo>
                <a:close/>
              </a:path>
              <a:path w="826770" h="1394460">
                <a:moveTo>
                  <a:pt x="598170" y="401828"/>
                </a:moveTo>
                <a:lnTo>
                  <a:pt x="596265" y="376047"/>
                </a:lnTo>
                <a:lnTo>
                  <a:pt x="570357" y="377952"/>
                </a:lnTo>
                <a:lnTo>
                  <a:pt x="572262" y="403733"/>
                </a:lnTo>
                <a:lnTo>
                  <a:pt x="598170" y="401828"/>
                </a:lnTo>
                <a:close/>
              </a:path>
              <a:path w="826770" h="1394460">
                <a:moveTo>
                  <a:pt x="601980" y="453517"/>
                </a:moveTo>
                <a:lnTo>
                  <a:pt x="600075" y="427736"/>
                </a:lnTo>
                <a:lnTo>
                  <a:pt x="574167" y="429641"/>
                </a:lnTo>
                <a:lnTo>
                  <a:pt x="576072" y="455422"/>
                </a:lnTo>
                <a:lnTo>
                  <a:pt x="601980" y="453517"/>
                </a:lnTo>
                <a:close/>
              </a:path>
              <a:path w="826770" h="1394460">
                <a:moveTo>
                  <a:pt x="605790" y="505206"/>
                </a:moveTo>
                <a:lnTo>
                  <a:pt x="603885" y="479425"/>
                </a:lnTo>
                <a:lnTo>
                  <a:pt x="577977" y="481330"/>
                </a:lnTo>
                <a:lnTo>
                  <a:pt x="579882" y="507111"/>
                </a:lnTo>
                <a:lnTo>
                  <a:pt x="605790" y="505206"/>
                </a:lnTo>
                <a:close/>
              </a:path>
              <a:path w="826770" h="1394460">
                <a:moveTo>
                  <a:pt x="609473" y="556895"/>
                </a:moveTo>
                <a:lnTo>
                  <a:pt x="607695" y="530987"/>
                </a:lnTo>
                <a:lnTo>
                  <a:pt x="581787" y="532892"/>
                </a:lnTo>
                <a:lnTo>
                  <a:pt x="583692" y="558800"/>
                </a:lnTo>
                <a:lnTo>
                  <a:pt x="609473" y="556895"/>
                </a:lnTo>
                <a:close/>
              </a:path>
              <a:path w="826770" h="1394460">
                <a:moveTo>
                  <a:pt x="613283" y="608584"/>
                </a:moveTo>
                <a:lnTo>
                  <a:pt x="611378" y="582676"/>
                </a:lnTo>
                <a:lnTo>
                  <a:pt x="585597" y="584581"/>
                </a:lnTo>
                <a:lnTo>
                  <a:pt x="587502" y="610489"/>
                </a:lnTo>
                <a:lnTo>
                  <a:pt x="613283" y="608584"/>
                </a:lnTo>
                <a:close/>
              </a:path>
              <a:path w="826770" h="1394460">
                <a:moveTo>
                  <a:pt x="617093" y="660273"/>
                </a:moveTo>
                <a:lnTo>
                  <a:pt x="615188" y="634365"/>
                </a:lnTo>
                <a:lnTo>
                  <a:pt x="589407" y="636270"/>
                </a:lnTo>
                <a:lnTo>
                  <a:pt x="591312" y="662178"/>
                </a:lnTo>
                <a:lnTo>
                  <a:pt x="617093" y="660273"/>
                </a:lnTo>
                <a:close/>
              </a:path>
              <a:path w="826770" h="1394460">
                <a:moveTo>
                  <a:pt x="620903" y="711962"/>
                </a:moveTo>
                <a:lnTo>
                  <a:pt x="618998" y="686054"/>
                </a:lnTo>
                <a:lnTo>
                  <a:pt x="593217" y="687959"/>
                </a:lnTo>
                <a:lnTo>
                  <a:pt x="595122" y="713867"/>
                </a:lnTo>
                <a:lnTo>
                  <a:pt x="620903" y="711962"/>
                </a:lnTo>
                <a:close/>
              </a:path>
              <a:path w="826770" h="1394460">
                <a:moveTo>
                  <a:pt x="624713" y="763651"/>
                </a:moveTo>
                <a:lnTo>
                  <a:pt x="622808" y="737743"/>
                </a:lnTo>
                <a:lnTo>
                  <a:pt x="597027" y="739648"/>
                </a:lnTo>
                <a:lnTo>
                  <a:pt x="598932" y="765429"/>
                </a:lnTo>
                <a:lnTo>
                  <a:pt x="624713" y="763651"/>
                </a:lnTo>
                <a:close/>
              </a:path>
              <a:path w="826770" h="1394460">
                <a:moveTo>
                  <a:pt x="628523" y="815213"/>
                </a:moveTo>
                <a:lnTo>
                  <a:pt x="626618" y="789432"/>
                </a:lnTo>
                <a:lnTo>
                  <a:pt x="600837" y="791337"/>
                </a:lnTo>
                <a:lnTo>
                  <a:pt x="602742" y="817118"/>
                </a:lnTo>
                <a:lnTo>
                  <a:pt x="628523" y="815213"/>
                </a:lnTo>
                <a:close/>
              </a:path>
              <a:path w="826770" h="1394460">
                <a:moveTo>
                  <a:pt x="632333" y="866902"/>
                </a:moveTo>
                <a:lnTo>
                  <a:pt x="630428" y="841121"/>
                </a:lnTo>
                <a:lnTo>
                  <a:pt x="604647" y="843026"/>
                </a:lnTo>
                <a:lnTo>
                  <a:pt x="606552" y="868807"/>
                </a:lnTo>
                <a:lnTo>
                  <a:pt x="632333" y="866902"/>
                </a:lnTo>
                <a:close/>
              </a:path>
              <a:path w="826770" h="1394460">
                <a:moveTo>
                  <a:pt x="636143" y="918591"/>
                </a:moveTo>
                <a:lnTo>
                  <a:pt x="634238" y="892810"/>
                </a:lnTo>
                <a:lnTo>
                  <a:pt x="608457" y="894715"/>
                </a:lnTo>
                <a:lnTo>
                  <a:pt x="610362" y="920496"/>
                </a:lnTo>
                <a:lnTo>
                  <a:pt x="636143" y="918591"/>
                </a:lnTo>
                <a:close/>
              </a:path>
              <a:path w="826770" h="1394460">
                <a:moveTo>
                  <a:pt x="639953" y="970280"/>
                </a:moveTo>
                <a:lnTo>
                  <a:pt x="638048" y="944499"/>
                </a:lnTo>
                <a:lnTo>
                  <a:pt x="612267" y="946416"/>
                </a:lnTo>
                <a:lnTo>
                  <a:pt x="614172" y="972185"/>
                </a:lnTo>
                <a:lnTo>
                  <a:pt x="639953" y="970280"/>
                </a:lnTo>
                <a:close/>
              </a:path>
              <a:path w="826770" h="1394460">
                <a:moveTo>
                  <a:pt x="643763" y="1021969"/>
                </a:moveTo>
                <a:lnTo>
                  <a:pt x="641858" y="996188"/>
                </a:lnTo>
                <a:lnTo>
                  <a:pt x="616077" y="998093"/>
                </a:lnTo>
                <a:lnTo>
                  <a:pt x="617982" y="1023874"/>
                </a:lnTo>
                <a:lnTo>
                  <a:pt x="643763" y="1021969"/>
                </a:lnTo>
                <a:close/>
              </a:path>
              <a:path w="826770" h="1394460">
                <a:moveTo>
                  <a:pt x="647573" y="1073658"/>
                </a:moveTo>
                <a:lnTo>
                  <a:pt x="645668" y="1047750"/>
                </a:lnTo>
                <a:lnTo>
                  <a:pt x="619887" y="1049655"/>
                </a:lnTo>
                <a:lnTo>
                  <a:pt x="621792" y="1075563"/>
                </a:lnTo>
                <a:lnTo>
                  <a:pt x="647573" y="1073658"/>
                </a:lnTo>
                <a:close/>
              </a:path>
              <a:path w="826770" h="1394460">
                <a:moveTo>
                  <a:pt x="651383" y="1125347"/>
                </a:moveTo>
                <a:lnTo>
                  <a:pt x="649478" y="1099439"/>
                </a:lnTo>
                <a:lnTo>
                  <a:pt x="623697" y="1101344"/>
                </a:lnTo>
                <a:lnTo>
                  <a:pt x="625602" y="1127252"/>
                </a:lnTo>
                <a:lnTo>
                  <a:pt x="651383" y="1125347"/>
                </a:lnTo>
                <a:close/>
              </a:path>
              <a:path w="826770" h="1394460">
                <a:moveTo>
                  <a:pt x="655193" y="1177036"/>
                </a:moveTo>
                <a:lnTo>
                  <a:pt x="653288" y="1151128"/>
                </a:lnTo>
                <a:lnTo>
                  <a:pt x="627507" y="1153033"/>
                </a:lnTo>
                <a:lnTo>
                  <a:pt x="629412" y="1178941"/>
                </a:lnTo>
                <a:lnTo>
                  <a:pt x="655193" y="1177036"/>
                </a:lnTo>
                <a:close/>
              </a:path>
              <a:path w="826770" h="1394460">
                <a:moveTo>
                  <a:pt x="659003" y="1228725"/>
                </a:moveTo>
                <a:lnTo>
                  <a:pt x="657098" y="1202817"/>
                </a:lnTo>
                <a:lnTo>
                  <a:pt x="631317" y="1204722"/>
                </a:lnTo>
                <a:lnTo>
                  <a:pt x="633222" y="1230630"/>
                </a:lnTo>
                <a:lnTo>
                  <a:pt x="659003" y="1228725"/>
                </a:lnTo>
                <a:close/>
              </a:path>
              <a:path w="826770" h="1394460">
                <a:moveTo>
                  <a:pt x="662813" y="1280287"/>
                </a:moveTo>
                <a:lnTo>
                  <a:pt x="660908" y="1254506"/>
                </a:lnTo>
                <a:lnTo>
                  <a:pt x="635127" y="1256411"/>
                </a:lnTo>
                <a:lnTo>
                  <a:pt x="636803" y="1279144"/>
                </a:lnTo>
                <a:lnTo>
                  <a:pt x="636841" y="1279652"/>
                </a:lnTo>
                <a:lnTo>
                  <a:pt x="636943" y="1281049"/>
                </a:lnTo>
                <a:lnTo>
                  <a:pt x="637032" y="1282192"/>
                </a:lnTo>
                <a:lnTo>
                  <a:pt x="662813" y="1280287"/>
                </a:lnTo>
                <a:close/>
              </a:path>
              <a:path w="826770" h="1394460">
                <a:moveTo>
                  <a:pt x="710692" y="1286891"/>
                </a:moveTo>
                <a:lnTo>
                  <a:pt x="708025" y="1279144"/>
                </a:lnTo>
                <a:lnTo>
                  <a:pt x="701548" y="1275969"/>
                </a:lnTo>
                <a:lnTo>
                  <a:pt x="695071" y="1272921"/>
                </a:lnTo>
                <a:lnTo>
                  <a:pt x="687324" y="1275588"/>
                </a:lnTo>
                <a:lnTo>
                  <a:pt x="684276" y="1281938"/>
                </a:lnTo>
                <a:lnTo>
                  <a:pt x="665721" y="1319822"/>
                </a:lnTo>
                <a:lnTo>
                  <a:pt x="664718" y="1306195"/>
                </a:lnTo>
                <a:lnTo>
                  <a:pt x="659498" y="1306588"/>
                </a:lnTo>
                <a:lnTo>
                  <a:pt x="659498" y="1332509"/>
                </a:lnTo>
                <a:lnTo>
                  <a:pt x="654418" y="1342885"/>
                </a:lnTo>
                <a:lnTo>
                  <a:pt x="648246" y="1333881"/>
                </a:lnTo>
                <a:lnTo>
                  <a:pt x="647890" y="1333360"/>
                </a:lnTo>
                <a:lnTo>
                  <a:pt x="659498" y="1332509"/>
                </a:lnTo>
                <a:lnTo>
                  <a:pt x="659498" y="1306588"/>
                </a:lnTo>
                <a:lnTo>
                  <a:pt x="643382" y="1307782"/>
                </a:lnTo>
                <a:lnTo>
                  <a:pt x="643382" y="1369441"/>
                </a:lnTo>
                <a:lnTo>
                  <a:pt x="642937" y="1362837"/>
                </a:lnTo>
                <a:lnTo>
                  <a:pt x="643255" y="1367536"/>
                </a:lnTo>
                <a:lnTo>
                  <a:pt x="643382" y="1369441"/>
                </a:lnTo>
                <a:lnTo>
                  <a:pt x="643382" y="1307782"/>
                </a:lnTo>
                <a:lnTo>
                  <a:pt x="638937" y="1308100"/>
                </a:lnTo>
                <a:lnTo>
                  <a:pt x="639940" y="1321790"/>
                </a:lnTo>
                <a:lnTo>
                  <a:pt x="616077" y="1287018"/>
                </a:lnTo>
                <a:lnTo>
                  <a:pt x="612013" y="1281049"/>
                </a:lnTo>
                <a:lnTo>
                  <a:pt x="604012" y="1279652"/>
                </a:lnTo>
                <a:lnTo>
                  <a:pt x="598043" y="1283589"/>
                </a:lnTo>
                <a:lnTo>
                  <a:pt x="592201" y="1287653"/>
                </a:lnTo>
                <a:lnTo>
                  <a:pt x="590677" y="1295781"/>
                </a:lnTo>
                <a:lnTo>
                  <a:pt x="594741" y="1301623"/>
                </a:lnTo>
                <a:lnTo>
                  <a:pt x="658241" y="1394206"/>
                </a:lnTo>
                <a:lnTo>
                  <a:pt x="670331" y="1369441"/>
                </a:lnTo>
                <a:lnTo>
                  <a:pt x="675982" y="1357884"/>
                </a:lnTo>
                <a:lnTo>
                  <a:pt x="710628" y="1287018"/>
                </a:lnTo>
                <a:lnTo>
                  <a:pt x="710692" y="1286891"/>
                </a:lnTo>
                <a:close/>
              </a:path>
              <a:path w="826770" h="1394460">
                <a:moveTo>
                  <a:pt x="826643" y="101473"/>
                </a:moveTo>
                <a:lnTo>
                  <a:pt x="822833" y="95377"/>
                </a:lnTo>
                <a:lnTo>
                  <a:pt x="779513" y="25273"/>
                </a:lnTo>
                <a:lnTo>
                  <a:pt x="763905" y="0"/>
                </a:lnTo>
                <a:lnTo>
                  <a:pt x="709803" y="98171"/>
                </a:lnTo>
                <a:lnTo>
                  <a:pt x="706374" y="104521"/>
                </a:lnTo>
                <a:lnTo>
                  <a:pt x="708660" y="112395"/>
                </a:lnTo>
                <a:lnTo>
                  <a:pt x="714883" y="115824"/>
                </a:lnTo>
                <a:lnTo>
                  <a:pt x="721233" y="119253"/>
                </a:lnTo>
                <a:lnTo>
                  <a:pt x="729107" y="116967"/>
                </a:lnTo>
                <a:lnTo>
                  <a:pt x="752779" y="73863"/>
                </a:lnTo>
                <a:lnTo>
                  <a:pt x="765403" y="580263"/>
                </a:lnTo>
                <a:lnTo>
                  <a:pt x="765429" y="580898"/>
                </a:lnTo>
                <a:lnTo>
                  <a:pt x="791337" y="580263"/>
                </a:lnTo>
                <a:lnTo>
                  <a:pt x="778700" y="73863"/>
                </a:lnTo>
                <a:lnTo>
                  <a:pt x="778687" y="73240"/>
                </a:lnTo>
                <a:lnTo>
                  <a:pt x="800735" y="108966"/>
                </a:lnTo>
                <a:lnTo>
                  <a:pt x="804545" y="115062"/>
                </a:lnTo>
                <a:lnTo>
                  <a:pt x="812546" y="116967"/>
                </a:lnTo>
                <a:lnTo>
                  <a:pt x="818642" y="113284"/>
                </a:lnTo>
                <a:lnTo>
                  <a:pt x="824738" y="109474"/>
                </a:lnTo>
                <a:lnTo>
                  <a:pt x="826643" y="101473"/>
                </a:lnTo>
                <a:close/>
              </a:path>
            </a:pathLst>
          </a:custGeom>
          <a:solidFill>
            <a:srgbClr val="DD080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985873"/>
            <a:ext cx="75438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119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Simulation Example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87654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18</a:t>
            </a:fld>
            <a:endParaRPr spc="-25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27005C-8F9F-368F-69C8-5FDEE3B8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200" dirty="0">
                <a:highlight>
                  <a:srgbClr val="FFFF00"/>
                </a:highlight>
              </a:rPr>
              <a:t>add  x3, x0, x0 </a:t>
            </a:r>
          </a:p>
          <a:p>
            <a:r>
              <a:rPr lang="en-US" sz="4400" dirty="0">
                <a:highlight>
                  <a:srgbClr val="FFFF00"/>
                </a:highlight>
              </a:rPr>
              <a:t>    sub  x5, x3, x4  </a:t>
            </a:r>
          </a:p>
          <a:p>
            <a:r>
              <a:rPr lang="en-US" sz="4400" dirty="0">
                <a:highlight>
                  <a:srgbClr val="FFFF00"/>
                </a:highlight>
              </a:rPr>
              <a:t>    add  x6, x0, x0</a:t>
            </a:r>
          </a:p>
          <a:p>
            <a:r>
              <a:rPr lang="en-US" sz="4400" dirty="0">
                <a:highlight>
                  <a:srgbClr val="FFFF00"/>
                </a:highlight>
              </a:rPr>
              <a:t>    add  x7, x0, x0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0283" y="503539"/>
            <a:ext cx="5255559" cy="853213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  <a:tabLst>
                <a:tab pos="1587398" algn="l"/>
              </a:tabLst>
            </a:pPr>
            <a:r>
              <a:rPr sz="5471" spc="-22" dirty="0"/>
              <a:t>How</a:t>
            </a:r>
            <a:r>
              <a:rPr sz="5471" dirty="0"/>
              <a:t>	</a:t>
            </a:r>
            <a:r>
              <a:rPr sz="5471" spc="-481" dirty="0"/>
              <a:t>can</a:t>
            </a:r>
            <a:r>
              <a:rPr sz="5471" spc="4" dirty="0"/>
              <a:t> </a:t>
            </a:r>
            <a:r>
              <a:rPr sz="5471" spc="-291" dirty="0"/>
              <a:t>we</a:t>
            </a:r>
            <a:r>
              <a:rPr sz="5471" spc="4" dirty="0"/>
              <a:t> </a:t>
            </a:r>
            <a:r>
              <a:rPr sz="5471" dirty="0"/>
              <a:t>fix</a:t>
            </a:r>
            <a:r>
              <a:rPr sz="5471" spc="4" dirty="0"/>
              <a:t> </a:t>
            </a:r>
            <a:r>
              <a:rPr sz="5471" spc="-353" dirty="0"/>
              <a:t>it?</a:t>
            </a:r>
            <a:endParaRPr sz="5471"/>
          </a:p>
        </p:txBody>
      </p:sp>
      <p:sp>
        <p:nvSpPr>
          <p:cNvPr id="3" name="object 3"/>
          <p:cNvSpPr txBox="1"/>
          <p:nvPr/>
        </p:nvSpPr>
        <p:spPr>
          <a:xfrm>
            <a:off x="986818" y="3759661"/>
            <a:ext cx="1223122" cy="432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83262" indent="-372055">
              <a:spcBef>
                <a:spcPts val="88"/>
              </a:spcBef>
              <a:buSzPct val="170967"/>
              <a:buChar char="•"/>
              <a:tabLst>
                <a:tab pos="383262" algn="l"/>
              </a:tabLst>
            </a:pPr>
            <a:r>
              <a:rPr sz="2735" spc="-300" dirty="0">
                <a:latin typeface="Arial MT"/>
                <a:cs typeface="Arial MT"/>
              </a:rPr>
              <a:t>Ideas?</a:t>
            </a:r>
            <a:endParaRPr sz="2735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6177" y="246530"/>
            <a:ext cx="8471647" cy="6364941"/>
          </a:xfrm>
          <a:custGeom>
            <a:avLst/>
            <a:gdLst/>
            <a:ahLst/>
            <a:cxnLst/>
            <a:rect l="l" t="t" r="r" b="b"/>
            <a:pathLst>
              <a:path w="9601200" h="7213600">
                <a:moveTo>
                  <a:pt x="0" y="7213600"/>
                </a:moveTo>
                <a:lnTo>
                  <a:pt x="9601200" y="7213600"/>
                </a:lnTo>
                <a:lnTo>
                  <a:pt x="9601200" y="0"/>
                </a:lnTo>
                <a:lnTo>
                  <a:pt x="0" y="0"/>
                </a:lnTo>
                <a:lnTo>
                  <a:pt x="0" y="72136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9549879" y="7190783"/>
            <a:ext cx="194309" cy="219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spcBef>
                <a:spcPts val="20"/>
              </a:spcBef>
            </a:pPr>
            <a:fld id="{81D60167-4931-47E6-BA6A-407CBD079E47}" type="slidenum">
              <a:rPr lang="en-US" spc="-35" smtClean="0"/>
              <a:pPr marL="12700">
                <a:spcBef>
                  <a:spcPts val="20"/>
                </a:spcBef>
              </a:pPr>
              <a:t>19</a:t>
            </a:fld>
            <a:endParaRPr spc="-3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612" y="75835"/>
            <a:ext cx="6656294" cy="1457130"/>
          </a:xfrm>
          <a:prstGeom prst="rect">
            <a:avLst/>
          </a:prstGeom>
        </p:spPr>
        <p:txBody>
          <a:bodyPr vert="horz" wrap="square" lIns="0" tIns="421069" rIns="0" bIns="0" rtlCol="0" anchor="b">
            <a:spAutoFit/>
          </a:bodyPr>
          <a:lstStyle/>
          <a:p>
            <a:pPr marL="12887">
              <a:lnSpc>
                <a:spcPct val="100000"/>
              </a:lnSpc>
              <a:spcBef>
                <a:spcPts val="124"/>
              </a:spcBef>
              <a:tabLst>
                <a:tab pos="2071518" algn="l"/>
              </a:tabLst>
            </a:pPr>
            <a:r>
              <a:rPr sz="3353" spc="-101" dirty="0"/>
              <a:t>Solution</a:t>
            </a:r>
            <a:r>
              <a:rPr sz="3353" spc="-93" dirty="0"/>
              <a:t> </a:t>
            </a:r>
            <a:r>
              <a:rPr sz="3353" spc="-22" dirty="0"/>
              <a:t>1:</a:t>
            </a:r>
            <a:r>
              <a:rPr sz="3353" dirty="0"/>
              <a:t>	</a:t>
            </a:r>
            <a:r>
              <a:rPr sz="3353" spc="-256" dirty="0"/>
              <a:t>Make</a:t>
            </a:r>
            <a:r>
              <a:rPr sz="3353" spc="9" dirty="0"/>
              <a:t> </a:t>
            </a:r>
            <a:r>
              <a:rPr sz="3353" dirty="0"/>
              <a:t>the</a:t>
            </a:r>
            <a:r>
              <a:rPr sz="3353" spc="-163" dirty="0"/>
              <a:t> </a:t>
            </a:r>
            <a:r>
              <a:rPr sz="3353" spc="-66" dirty="0"/>
              <a:t>compiler</a:t>
            </a:r>
            <a:r>
              <a:rPr sz="3353" spc="-62" dirty="0"/>
              <a:t> </a:t>
            </a:r>
            <a:r>
              <a:rPr sz="3353" spc="-199" dirty="0"/>
              <a:t>deal</a:t>
            </a:r>
            <a:r>
              <a:rPr sz="3353" spc="-35" dirty="0"/>
              <a:t> </a:t>
            </a:r>
            <a:r>
              <a:rPr sz="3353" dirty="0"/>
              <a:t>with</a:t>
            </a:r>
            <a:r>
              <a:rPr sz="3353" spc="-62" dirty="0"/>
              <a:t> </a:t>
            </a:r>
            <a:r>
              <a:rPr sz="3353" spc="-22" dirty="0"/>
              <a:t>it.</a:t>
            </a:r>
            <a:endParaRPr sz="3353" dirty="0"/>
          </a:p>
        </p:txBody>
      </p:sp>
      <p:sp>
        <p:nvSpPr>
          <p:cNvPr id="11" name="object 11"/>
          <p:cNvSpPr/>
          <p:nvPr/>
        </p:nvSpPr>
        <p:spPr>
          <a:xfrm>
            <a:off x="4548197" y="5348756"/>
            <a:ext cx="387724" cy="681318"/>
          </a:xfrm>
          <a:custGeom>
            <a:avLst/>
            <a:gdLst/>
            <a:ahLst/>
            <a:cxnLst/>
            <a:rect l="l" t="t" r="r" b="b"/>
            <a:pathLst>
              <a:path w="439420" h="772159">
                <a:moveTo>
                  <a:pt x="0" y="0"/>
                </a:moveTo>
                <a:lnTo>
                  <a:pt x="0" y="308832"/>
                </a:lnTo>
                <a:lnTo>
                  <a:pt x="219698" y="386041"/>
                </a:lnTo>
                <a:lnTo>
                  <a:pt x="0" y="463248"/>
                </a:lnTo>
                <a:lnTo>
                  <a:pt x="0" y="772080"/>
                </a:lnTo>
                <a:lnTo>
                  <a:pt x="439396" y="617662"/>
                </a:lnTo>
                <a:lnTo>
                  <a:pt x="439396" y="154416"/>
                </a:lnTo>
                <a:lnTo>
                  <a:pt x="0" y="0"/>
                </a:lnTo>
                <a:close/>
              </a:path>
            </a:pathLst>
          </a:custGeom>
          <a:ln w="16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 txBox="1"/>
          <p:nvPr/>
        </p:nvSpPr>
        <p:spPr>
          <a:xfrm>
            <a:off x="4624271" y="5440356"/>
            <a:ext cx="220756" cy="190667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1206">
              <a:spcBef>
                <a:spcPts val="110"/>
              </a:spcBef>
            </a:pPr>
            <a:r>
              <a:rPr sz="1147" spc="-22" dirty="0">
                <a:latin typeface="Arial MT"/>
                <a:cs typeface="Arial MT"/>
              </a:rPr>
              <a:t>EX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48898" y="5280637"/>
            <a:ext cx="678516" cy="818029"/>
          </a:xfrm>
          <a:custGeom>
            <a:avLst/>
            <a:gdLst/>
            <a:ahLst/>
            <a:cxnLst/>
            <a:rect l="l" t="t" r="r" b="b"/>
            <a:pathLst>
              <a:path w="768985" h="927100">
                <a:moveTo>
                  <a:pt x="0" y="0"/>
                </a:moveTo>
                <a:lnTo>
                  <a:pt x="768954" y="0"/>
                </a:lnTo>
                <a:lnTo>
                  <a:pt x="768954" y="926493"/>
                </a:lnTo>
                <a:lnTo>
                  <a:pt x="0" y="926493"/>
                </a:lnTo>
                <a:lnTo>
                  <a:pt x="0" y="0"/>
                </a:lnTo>
                <a:close/>
              </a:path>
            </a:pathLst>
          </a:custGeom>
          <a:ln w="16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 txBox="1"/>
          <p:nvPr/>
        </p:nvSpPr>
        <p:spPr>
          <a:xfrm>
            <a:off x="3043961" y="5336316"/>
            <a:ext cx="473449" cy="244976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1206">
              <a:spcBef>
                <a:spcPts val="110"/>
              </a:spcBef>
            </a:pPr>
            <a:r>
              <a:rPr sz="1500" spc="-18" dirty="0">
                <a:latin typeface="Arial MT"/>
                <a:cs typeface="Arial MT"/>
              </a:rPr>
              <a:t>Deco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62038" y="5574133"/>
            <a:ext cx="237565" cy="244976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1206">
              <a:spcBef>
                <a:spcPts val="110"/>
              </a:spcBef>
            </a:pPr>
            <a:r>
              <a:rPr sz="1500" spc="-22" dirty="0">
                <a:latin typeface="Arial MT"/>
                <a:cs typeface="Arial MT"/>
              </a:rPr>
              <a:t>de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8081" y="5280638"/>
            <a:ext cx="678516" cy="300987"/>
          </a:xfrm>
          <a:prstGeom prst="rect">
            <a:avLst/>
          </a:prstGeom>
          <a:ln w="16845">
            <a:solidFill>
              <a:srgbClr val="000000"/>
            </a:solidFill>
          </a:ln>
        </p:spPr>
        <p:txBody>
          <a:bodyPr vert="horz" wrap="square" lIns="0" tIns="69476" rIns="0" bIns="0" rtlCol="0">
            <a:spAutoFit/>
          </a:bodyPr>
          <a:lstStyle/>
          <a:p>
            <a:pPr marL="89652">
              <a:spcBef>
                <a:spcPts val="547"/>
              </a:spcBef>
            </a:pPr>
            <a:r>
              <a:rPr sz="1500" spc="-9" dirty="0">
                <a:latin typeface="Arial MT"/>
                <a:cs typeface="Arial MT"/>
              </a:rPr>
              <a:t>Fetch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6707" y="5280638"/>
            <a:ext cx="678516" cy="300987"/>
          </a:xfrm>
          <a:prstGeom prst="rect">
            <a:avLst/>
          </a:prstGeom>
          <a:ln w="16845">
            <a:solidFill>
              <a:srgbClr val="000000"/>
            </a:solidFill>
          </a:ln>
        </p:spPr>
        <p:txBody>
          <a:bodyPr vert="horz" wrap="square" lIns="0" tIns="69476" rIns="0" bIns="0" rtlCol="0">
            <a:spAutoFit/>
          </a:bodyPr>
          <a:lstStyle/>
          <a:p>
            <a:pPr marL="117108">
              <a:spcBef>
                <a:spcPts val="547"/>
              </a:spcBef>
            </a:pPr>
            <a:r>
              <a:rPr sz="1500" spc="-22" dirty="0">
                <a:latin typeface="Arial MT"/>
                <a:cs typeface="Arial MT"/>
              </a:rPr>
              <a:t>Mem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13689" y="5280637"/>
            <a:ext cx="678516" cy="818029"/>
          </a:xfrm>
          <a:custGeom>
            <a:avLst/>
            <a:gdLst/>
            <a:ahLst/>
            <a:cxnLst/>
            <a:rect l="l" t="t" r="r" b="b"/>
            <a:pathLst>
              <a:path w="768984" h="927100">
                <a:moveTo>
                  <a:pt x="0" y="0"/>
                </a:moveTo>
                <a:lnTo>
                  <a:pt x="768954" y="0"/>
                </a:lnTo>
                <a:lnTo>
                  <a:pt x="768954" y="926493"/>
                </a:lnTo>
                <a:lnTo>
                  <a:pt x="0" y="926493"/>
                </a:lnTo>
                <a:lnTo>
                  <a:pt x="0" y="0"/>
                </a:lnTo>
                <a:close/>
              </a:path>
            </a:pathLst>
          </a:custGeom>
          <a:ln w="168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 txBox="1"/>
          <p:nvPr/>
        </p:nvSpPr>
        <p:spPr>
          <a:xfrm>
            <a:off x="7310593" y="5336316"/>
            <a:ext cx="470087" cy="244976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1206">
              <a:spcBef>
                <a:spcPts val="110"/>
              </a:spcBef>
            </a:pPr>
            <a:r>
              <a:rPr sz="1500" spc="-9" dirty="0">
                <a:latin typeface="Arial MT"/>
                <a:cs typeface="Arial MT"/>
              </a:rPr>
              <a:t>Write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30216" y="5574133"/>
            <a:ext cx="430866" cy="244976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1206">
              <a:spcBef>
                <a:spcPts val="110"/>
              </a:spcBef>
            </a:pPr>
            <a:r>
              <a:rPr sz="1500" spc="-18" dirty="0">
                <a:latin typeface="Arial MT"/>
                <a:cs typeface="Arial MT"/>
              </a:rPr>
              <a:t>back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6839" y="5988513"/>
            <a:ext cx="208719" cy="11705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0745" y="5988513"/>
            <a:ext cx="208718" cy="11705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651" y="5988513"/>
            <a:ext cx="208718" cy="11705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8557" y="5988513"/>
            <a:ext cx="208718" cy="11705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9692" y="5637362"/>
            <a:ext cx="133771" cy="104045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393616" y="5432983"/>
            <a:ext cx="133910" cy="513229"/>
            <a:chOff x="4827031" y="6157381"/>
            <a:chExt cx="151765" cy="58166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7031" y="6157381"/>
              <a:ext cx="151607" cy="11791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7031" y="6620631"/>
              <a:ext cx="151607" cy="117915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2658125" y="5432988"/>
            <a:ext cx="1239371" cy="513229"/>
            <a:chOff x="2860142" y="6157386"/>
            <a:chExt cx="1404620" cy="581660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0142" y="6389010"/>
              <a:ext cx="305956" cy="11791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58638" y="6157386"/>
              <a:ext cx="305976" cy="11791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58638" y="6620636"/>
              <a:ext cx="305976" cy="117915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7502" y="5637362"/>
            <a:ext cx="133771" cy="10404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65936" y="5637362"/>
            <a:ext cx="269963" cy="10404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35197" y="5637362"/>
            <a:ext cx="269981" cy="10404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19843" y="5637362"/>
            <a:ext cx="176876" cy="104045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934" y="5988513"/>
            <a:ext cx="208718" cy="11705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04220" y="5637362"/>
            <a:ext cx="176876" cy="104045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333375" y="243728"/>
            <a:ext cx="8477250" cy="6370544"/>
            <a:chOff x="225425" y="276225"/>
            <a:chExt cx="9607550" cy="7219950"/>
          </a:xfrm>
        </p:grpSpPr>
        <p:sp>
          <p:nvSpPr>
            <p:cNvPr id="40" name="object 40"/>
            <p:cNvSpPr/>
            <p:nvPr/>
          </p:nvSpPr>
          <p:spPr>
            <a:xfrm>
              <a:off x="2640440" y="5984722"/>
              <a:ext cx="5163185" cy="927100"/>
            </a:xfrm>
            <a:custGeom>
              <a:avLst/>
              <a:gdLst/>
              <a:ahLst/>
              <a:cxnLst/>
              <a:rect l="l" t="t" r="r" b="b"/>
              <a:pathLst>
                <a:path w="5163184" h="927100">
                  <a:moveTo>
                    <a:pt x="219701" y="926494"/>
                  </a:moveTo>
                  <a:lnTo>
                    <a:pt x="0" y="926494"/>
                  </a:lnTo>
                  <a:lnTo>
                    <a:pt x="1" y="0"/>
                  </a:lnTo>
                  <a:lnTo>
                    <a:pt x="219703" y="0"/>
                  </a:lnTo>
                  <a:lnTo>
                    <a:pt x="219701" y="926494"/>
                  </a:lnTo>
                  <a:close/>
                </a:path>
                <a:path w="5163184" h="927100">
                  <a:moveTo>
                    <a:pt x="1867461" y="926494"/>
                  </a:moveTo>
                  <a:lnTo>
                    <a:pt x="1647759" y="926494"/>
                  </a:lnTo>
                  <a:lnTo>
                    <a:pt x="1647759" y="0"/>
                  </a:lnTo>
                  <a:lnTo>
                    <a:pt x="1867461" y="0"/>
                  </a:lnTo>
                  <a:lnTo>
                    <a:pt x="1867461" y="926494"/>
                  </a:lnTo>
                  <a:close/>
                </a:path>
                <a:path w="5163184" h="927100">
                  <a:moveTo>
                    <a:pt x="3515221" y="926494"/>
                  </a:moveTo>
                  <a:lnTo>
                    <a:pt x="3295519" y="926494"/>
                  </a:lnTo>
                  <a:lnTo>
                    <a:pt x="3295519" y="0"/>
                  </a:lnTo>
                  <a:lnTo>
                    <a:pt x="3515221" y="0"/>
                  </a:lnTo>
                  <a:lnTo>
                    <a:pt x="3515221" y="926494"/>
                  </a:lnTo>
                  <a:close/>
                </a:path>
                <a:path w="5163184" h="927100">
                  <a:moveTo>
                    <a:pt x="5162980" y="926494"/>
                  </a:moveTo>
                  <a:lnTo>
                    <a:pt x="4943280" y="926494"/>
                  </a:lnTo>
                  <a:lnTo>
                    <a:pt x="4943280" y="0"/>
                  </a:lnTo>
                  <a:lnTo>
                    <a:pt x="5162982" y="0"/>
                  </a:lnTo>
                  <a:lnTo>
                    <a:pt x="5162980" y="926494"/>
                  </a:lnTo>
                  <a:close/>
                </a:path>
              </a:pathLst>
            </a:custGeom>
            <a:ln w="1684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209468" y="6216340"/>
              <a:ext cx="3559810" cy="463550"/>
            </a:xfrm>
            <a:custGeom>
              <a:avLst/>
              <a:gdLst/>
              <a:ahLst/>
              <a:cxnLst/>
              <a:rect l="l" t="t" r="r" b="b"/>
              <a:pathLst>
                <a:path w="3559810" h="463550">
                  <a:moveTo>
                    <a:pt x="0" y="231630"/>
                  </a:moveTo>
                  <a:lnTo>
                    <a:pt x="200459" y="231630"/>
                  </a:lnTo>
                  <a:lnTo>
                    <a:pt x="230514" y="231630"/>
                  </a:lnTo>
                  <a:lnTo>
                    <a:pt x="264205" y="231630"/>
                  </a:lnTo>
                </a:path>
                <a:path w="3559810" h="463550">
                  <a:moveTo>
                    <a:pt x="2298435" y="1"/>
                  </a:moveTo>
                  <a:lnTo>
                    <a:pt x="2498895" y="1"/>
                  </a:lnTo>
                  <a:lnTo>
                    <a:pt x="2592295" y="0"/>
                  </a:lnTo>
                  <a:lnTo>
                    <a:pt x="2625986" y="0"/>
                  </a:lnTo>
                </a:path>
                <a:path w="3559810" h="463550">
                  <a:moveTo>
                    <a:pt x="2298435" y="463255"/>
                  </a:moveTo>
                  <a:lnTo>
                    <a:pt x="2498895" y="463255"/>
                  </a:lnTo>
                  <a:lnTo>
                    <a:pt x="2592295" y="463249"/>
                  </a:lnTo>
                  <a:lnTo>
                    <a:pt x="2625986" y="463249"/>
                  </a:lnTo>
                </a:path>
                <a:path w="3559810" h="463550">
                  <a:moveTo>
                    <a:pt x="3232153" y="231624"/>
                  </a:moveTo>
                  <a:lnTo>
                    <a:pt x="3432615" y="231624"/>
                  </a:lnTo>
                  <a:lnTo>
                    <a:pt x="3526032" y="231630"/>
                  </a:lnTo>
                  <a:lnTo>
                    <a:pt x="3559723" y="231630"/>
                  </a:lnTo>
                </a:path>
              </a:pathLst>
            </a:custGeom>
            <a:ln w="168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992680" y="5984722"/>
              <a:ext cx="219710" cy="927100"/>
            </a:xfrm>
            <a:custGeom>
              <a:avLst/>
              <a:gdLst/>
              <a:ahLst/>
              <a:cxnLst/>
              <a:rect l="l" t="t" r="r" b="b"/>
              <a:pathLst>
                <a:path w="219709" h="927100">
                  <a:moveTo>
                    <a:pt x="0" y="0"/>
                  </a:moveTo>
                  <a:lnTo>
                    <a:pt x="219701" y="0"/>
                  </a:lnTo>
                  <a:lnTo>
                    <a:pt x="219701" y="926493"/>
                  </a:lnTo>
                  <a:lnTo>
                    <a:pt x="0" y="926493"/>
                  </a:lnTo>
                  <a:lnTo>
                    <a:pt x="0" y="0"/>
                  </a:lnTo>
                  <a:close/>
                </a:path>
              </a:pathLst>
            </a:custGeom>
            <a:ln w="1684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3571849" y="5976302"/>
              <a:ext cx="4821555" cy="927100"/>
            </a:xfrm>
            <a:custGeom>
              <a:avLst/>
              <a:gdLst/>
              <a:ahLst/>
              <a:cxnLst/>
              <a:rect l="l" t="t" r="r" b="b"/>
              <a:pathLst>
                <a:path w="4821555" h="927100">
                  <a:moveTo>
                    <a:pt x="378371" y="0"/>
                  </a:moveTo>
                  <a:lnTo>
                    <a:pt x="0" y="0"/>
                  </a:lnTo>
                  <a:lnTo>
                    <a:pt x="0" y="926490"/>
                  </a:lnTo>
                  <a:lnTo>
                    <a:pt x="378371" y="926490"/>
                  </a:lnTo>
                  <a:lnTo>
                    <a:pt x="378371" y="0"/>
                  </a:lnTo>
                  <a:close/>
                </a:path>
                <a:path w="4821555" h="927100">
                  <a:moveTo>
                    <a:pt x="4821199" y="0"/>
                  </a:moveTo>
                  <a:lnTo>
                    <a:pt x="4442828" y="0"/>
                  </a:lnTo>
                  <a:lnTo>
                    <a:pt x="4442828" y="926490"/>
                  </a:lnTo>
                  <a:lnTo>
                    <a:pt x="4821199" y="926490"/>
                  </a:lnTo>
                  <a:lnTo>
                    <a:pt x="4821199" y="0"/>
                  </a:lnTo>
                  <a:close/>
                </a:path>
              </a:pathLst>
            </a:custGeom>
            <a:solidFill>
              <a:srgbClr val="000000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228600" y="279400"/>
              <a:ext cx="9601200" cy="7213600"/>
            </a:xfrm>
            <a:custGeom>
              <a:avLst/>
              <a:gdLst/>
              <a:ahLst/>
              <a:cxnLst/>
              <a:rect l="l" t="t" r="r" b="b"/>
              <a:pathLst>
                <a:path w="9601200" h="7213600">
                  <a:moveTo>
                    <a:pt x="0" y="7213600"/>
                  </a:moveTo>
                  <a:lnTo>
                    <a:pt x="9601200" y="7213600"/>
                  </a:lnTo>
                  <a:lnTo>
                    <a:pt x="9601200" y="0"/>
                  </a:lnTo>
                  <a:lnTo>
                    <a:pt x="0" y="0"/>
                  </a:lnTo>
                  <a:lnTo>
                    <a:pt x="0" y="72136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xfrm>
            <a:off x="9549879" y="7190783"/>
            <a:ext cx="194309" cy="219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spcBef>
                <a:spcPts val="20"/>
              </a:spcBef>
            </a:pPr>
            <a:fld id="{81D60167-4931-47E6-BA6A-407CBD079E47}" type="slidenum">
              <a:rPr lang="en-US" spc="-35" smtClean="0"/>
              <a:pPr marL="12700">
                <a:spcBef>
                  <a:spcPts val="20"/>
                </a:spcBef>
              </a:pPr>
              <a:t>20</a:t>
            </a:fld>
            <a:endParaRPr spc="-3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612" y="445845"/>
            <a:ext cx="6656294" cy="1087121"/>
          </a:xfrm>
          <a:prstGeom prst="rect">
            <a:avLst/>
          </a:prstGeom>
        </p:spPr>
        <p:txBody>
          <a:bodyPr vert="horz" wrap="square" lIns="0" tIns="242852" rIns="0" bIns="0" rtlCol="0" anchor="b">
            <a:spAutoFit/>
          </a:bodyPr>
          <a:lstStyle/>
          <a:p>
            <a:pPr marL="1608690">
              <a:lnSpc>
                <a:spcPct val="100000"/>
              </a:lnSpc>
              <a:spcBef>
                <a:spcPts val="88"/>
              </a:spcBef>
            </a:pPr>
            <a:r>
              <a:rPr sz="5471" spc="-190" dirty="0"/>
              <a:t>Solution</a:t>
            </a:r>
            <a:r>
              <a:rPr sz="5471" spc="-154" dirty="0"/>
              <a:t> </a:t>
            </a:r>
            <a:r>
              <a:rPr sz="5471" spc="-322" dirty="0"/>
              <a:t>2:</a:t>
            </a:r>
            <a:r>
              <a:rPr sz="5471" spc="-552" dirty="0"/>
              <a:t> </a:t>
            </a:r>
            <a:r>
              <a:rPr sz="5471" spc="-335" dirty="0"/>
              <a:t>Stall</a:t>
            </a:r>
            <a:endParaRPr sz="5471"/>
          </a:p>
        </p:txBody>
      </p:sp>
      <p:sp>
        <p:nvSpPr>
          <p:cNvPr id="3" name="object 3"/>
          <p:cNvSpPr txBox="1"/>
          <p:nvPr/>
        </p:nvSpPr>
        <p:spPr>
          <a:xfrm>
            <a:off x="953200" y="1832031"/>
            <a:ext cx="7343214" cy="137066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16881" indent="-372055">
              <a:lnSpc>
                <a:spcPts val="3124"/>
              </a:lnSpc>
              <a:spcBef>
                <a:spcPts val="88"/>
              </a:spcBef>
              <a:buSzPct val="170967"/>
              <a:buChar char="•"/>
              <a:tabLst>
                <a:tab pos="416881" algn="l"/>
              </a:tabLst>
            </a:pPr>
            <a:r>
              <a:rPr sz="2735" spc="-40" dirty="0">
                <a:latin typeface="Arial MT"/>
                <a:cs typeface="Arial MT"/>
              </a:rPr>
              <a:t>When</a:t>
            </a:r>
            <a:r>
              <a:rPr sz="2735" spc="-154" dirty="0">
                <a:latin typeface="Arial MT"/>
                <a:cs typeface="Arial MT"/>
              </a:rPr>
              <a:t> </a:t>
            </a:r>
            <a:r>
              <a:rPr sz="2735" spc="-115" dirty="0">
                <a:latin typeface="Arial MT"/>
                <a:cs typeface="Arial MT"/>
              </a:rPr>
              <a:t>you</a:t>
            </a:r>
            <a:r>
              <a:rPr sz="2735" spc="-71" dirty="0">
                <a:latin typeface="Arial MT"/>
                <a:cs typeface="Arial MT"/>
              </a:rPr>
              <a:t> </a:t>
            </a:r>
            <a:r>
              <a:rPr sz="2735" spc="-185" dirty="0">
                <a:latin typeface="Arial MT"/>
                <a:cs typeface="Arial MT"/>
              </a:rPr>
              <a:t>need</a:t>
            </a:r>
            <a:r>
              <a:rPr sz="2735" spc="-9" dirty="0">
                <a:latin typeface="Arial MT"/>
                <a:cs typeface="Arial MT"/>
              </a:rPr>
              <a:t> </a:t>
            </a:r>
            <a:r>
              <a:rPr sz="2735" spc="-366" dirty="0">
                <a:latin typeface="Arial MT"/>
                <a:cs typeface="Arial MT"/>
              </a:rPr>
              <a:t>a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199" dirty="0">
                <a:latin typeface="Arial MT"/>
                <a:cs typeface="Arial MT"/>
              </a:rPr>
              <a:t>value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18" dirty="0">
                <a:latin typeface="Arial MT"/>
                <a:cs typeface="Arial MT"/>
              </a:rPr>
              <a:t>that</a:t>
            </a:r>
            <a:r>
              <a:rPr sz="2735" spc="-40" dirty="0">
                <a:latin typeface="Arial MT"/>
                <a:cs typeface="Arial MT"/>
              </a:rPr>
              <a:t> </a:t>
            </a:r>
            <a:r>
              <a:rPr sz="2735" spc="-159" dirty="0">
                <a:latin typeface="Arial MT"/>
                <a:cs typeface="Arial MT"/>
              </a:rPr>
              <a:t>is</a:t>
            </a:r>
            <a:r>
              <a:rPr sz="2735" spc="-31" dirty="0">
                <a:latin typeface="Arial MT"/>
                <a:cs typeface="Arial MT"/>
              </a:rPr>
              <a:t> </a:t>
            </a:r>
            <a:r>
              <a:rPr sz="2735" dirty="0">
                <a:latin typeface="Arial MT"/>
                <a:cs typeface="Arial MT"/>
              </a:rPr>
              <a:t>not</a:t>
            </a:r>
            <a:r>
              <a:rPr sz="2735" spc="-44" dirty="0">
                <a:latin typeface="Arial MT"/>
                <a:cs typeface="Arial MT"/>
              </a:rPr>
              <a:t> </a:t>
            </a:r>
            <a:r>
              <a:rPr sz="2735" spc="-202" dirty="0">
                <a:latin typeface="Arial MT"/>
                <a:cs typeface="Arial MT"/>
              </a:rPr>
              <a:t>ready,</a:t>
            </a:r>
            <a:r>
              <a:rPr sz="2735" spc="-552" dirty="0">
                <a:latin typeface="Arial MT"/>
                <a:cs typeface="Arial MT"/>
              </a:rPr>
              <a:t> </a:t>
            </a:r>
            <a:r>
              <a:rPr sz="2735" spc="-9" dirty="0">
                <a:latin typeface="Arial MT"/>
                <a:cs typeface="Arial MT"/>
              </a:rPr>
              <a:t>“stall”</a:t>
            </a:r>
            <a:endParaRPr sz="2735">
              <a:latin typeface="Arial MT"/>
              <a:cs typeface="Arial MT"/>
            </a:endParaRPr>
          </a:p>
          <a:p>
            <a:pPr marL="706008" lvl="1" indent="-372055">
              <a:lnSpc>
                <a:spcPts val="2427"/>
              </a:lnSpc>
              <a:buSzPct val="172549"/>
              <a:buChar char="•"/>
              <a:tabLst>
                <a:tab pos="706008" algn="l"/>
              </a:tabLst>
            </a:pPr>
            <a:r>
              <a:rPr sz="2250" spc="-194" dirty="0">
                <a:latin typeface="Arial MT"/>
                <a:cs typeface="Arial MT"/>
              </a:rPr>
              <a:t>Suspend</a:t>
            </a:r>
            <a:r>
              <a:rPr sz="2250" spc="4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the</a:t>
            </a:r>
            <a:r>
              <a:rPr sz="2250" spc="-124" dirty="0">
                <a:latin typeface="Arial MT"/>
                <a:cs typeface="Arial MT"/>
              </a:rPr>
              <a:t> </a:t>
            </a:r>
            <a:r>
              <a:rPr sz="2250" spc="-66" dirty="0">
                <a:latin typeface="Arial MT"/>
                <a:cs typeface="Arial MT"/>
              </a:rPr>
              <a:t>execution</a:t>
            </a:r>
            <a:r>
              <a:rPr sz="2250" spc="-57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of</a:t>
            </a:r>
            <a:r>
              <a:rPr sz="2250" spc="-57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the</a:t>
            </a:r>
            <a:r>
              <a:rPr sz="2250" spc="-53" dirty="0">
                <a:latin typeface="Arial MT"/>
                <a:cs typeface="Arial MT"/>
              </a:rPr>
              <a:t> </a:t>
            </a:r>
            <a:r>
              <a:rPr sz="2250" spc="-101" dirty="0">
                <a:latin typeface="Arial MT"/>
                <a:cs typeface="Arial MT"/>
              </a:rPr>
              <a:t>executing</a:t>
            </a:r>
            <a:r>
              <a:rPr sz="2250" spc="-57" dirty="0">
                <a:latin typeface="Arial MT"/>
                <a:cs typeface="Arial MT"/>
              </a:rPr>
              <a:t> </a:t>
            </a:r>
            <a:r>
              <a:rPr sz="2250" spc="-9" dirty="0">
                <a:latin typeface="Arial MT"/>
                <a:cs typeface="Arial MT"/>
              </a:rPr>
              <a:t>instruction</a:t>
            </a:r>
            <a:endParaRPr sz="2250">
              <a:latin typeface="Arial MT"/>
              <a:cs typeface="Arial MT"/>
            </a:endParaRPr>
          </a:p>
          <a:p>
            <a:pPr marL="706008" lvl="1" indent="-372055">
              <a:lnSpc>
                <a:spcPts val="2475"/>
              </a:lnSpc>
              <a:buSzPct val="172549"/>
              <a:buChar char="•"/>
              <a:tabLst>
                <a:tab pos="706008" algn="l"/>
              </a:tabLst>
            </a:pPr>
            <a:r>
              <a:rPr sz="2250" spc="-163" dirty="0">
                <a:latin typeface="Arial MT"/>
                <a:cs typeface="Arial MT"/>
              </a:rPr>
              <a:t>and</a:t>
            </a:r>
            <a:r>
              <a:rPr sz="2250" spc="4" dirty="0">
                <a:latin typeface="Arial MT"/>
                <a:cs typeface="Arial MT"/>
              </a:rPr>
              <a:t> </a:t>
            </a:r>
            <a:r>
              <a:rPr sz="2250" spc="-62" dirty="0">
                <a:latin typeface="Arial MT"/>
                <a:cs typeface="Arial MT"/>
              </a:rPr>
              <a:t>those</a:t>
            </a:r>
            <a:r>
              <a:rPr sz="2250" spc="-97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that</a:t>
            </a:r>
            <a:r>
              <a:rPr sz="2250" spc="-84" dirty="0">
                <a:latin typeface="Arial MT"/>
                <a:cs typeface="Arial MT"/>
              </a:rPr>
              <a:t> </a:t>
            </a:r>
            <a:r>
              <a:rPr sz="2250" spc="-9" dirty="0">
                <a:latin typeface="Arial MT"/>
                <a:cs typeface="Arial MT"/>
              </a:rPr>
              <a:t>follow.</a:t>
            </a:r>
            <a:endParaRPr sz="2250">
              <a:latin typeface="Arial MT"/>
              <a:cs typeface="Arial MT"/>
            </a:endParaRPr>
          </a:p>
          <a:p>
            <a:pPr marL="706008" lvl="1" indent="-372055">
              <a:lnSpc>
                <a:spcPts val="2590"/>
              </a:lnSpc>
              <a:buSzPct val="172549"/>
              <a:buChar char="•"/>
              <a:tabLst>
                <a:tab pos="706008" algn="l"/>
                <a:tab pos="4961109" algn="l"/>
              </a:tabLst>
            </a:pPr>
            <a:r>
              <a:rPr sz="2250" spc="-79" dirty="0">
                <a:latin typeface="Arial MT"/>
                <a:cs typeface="Arial MT"/>
              </a:rPr>
              <a:t>This</a:t>
            </a:r>
            <a:r>
              <a:rPr sz="2250" spc="-62" dirty="0">
                <a:latin typeface="Arial MT"/>
                <a:cs typeface="Arial MT"/>
              </a:rPr>
              <a:t> </a:t>
            </a:r>
            <a:r>
              <a:rPr sz="2250" spc="-57" dirty="0">
                <a:latin typeface="Arial MT"/>
                <a:cs typeface="Arial MT"/>
              </a:rPr>
              <a:t>introduces</a:t>
            </a:r>
            <a:r>
              <a:rPr sz="2250" spc="-18" dirty="0">
                <a:latin typeface="Arial MT"/>
                <a:cs typeface="Arial MT"/>
              </a:rPr>
              <a:t> </a:t>
            </a:r>
            <a:r>
              <a:rPr sz="2250" spc="-278" dirty="0">
                <a:latin typeface="Arial MT"/>
                <a:cs typeface="Arial MT"/>
              </a:rPr>
              <a:t>a</a:t>
            </a:r>
            <a:r>
              <a:rPr sz="2250" spc="4" dirty="0">
                <a:latin typeface="Arial MT"/>
                <a:cs typeface="Arial MT"/>
              </a:rPr>
              <a:t> </a:t>
            </a:r>
            <a:r>
              <a:rPr sz="2250" spc="-93" dirty="0">
                <a:latin typeface="Arial MT"/>
                <a:cs typeface="Arial MT"/>
              </a:rPr>
              <a:t>pipeline</a:t>
            </a:r>
            <a:r>
              <a:rPr sz="2250" spc="-224" dirty="0">
                <a:latin typeface="Arial MT"/>
                <a:cs typeface="Arial MT"/>
              </a:rPr>
              <a:t> </a:t>
            </a:r>
            <a:r>
              <a:rPr sz="2250" spc="-9" dirty="0">
                <a:latin typeface="Arial MT"/>
                <a:cs typeface="Arial MT"/>
              </a:rPr>
              <a:t>“bubble.”</a:t>
            </a:r>
            <a:r>
              <a:rPr sz="2250" dirty="0">
                <a:latin typeface="Arial MT"/>
                <a:cs typeface="Arial MT"/>
              </a:rPr>
              <a:t>	A</a:t>
            </a:r>
            <a:r>
              <a:rPr sz="2250" spc="-49" dirty="0">
                <a:latin typeface="Arial MT"/>
                <a:cs typeface="Arial MT"/>
              </a:rPr>
              <a:t> </a:t>
            </a:r>
            <a:r>
              <a:rPr sz="2250" spc="-97" dirty="0">
                <a:latin typeface="Arial MT"/>
                <a:cs typeface="Arial MT"/>
              </a:rPr>
              <a:t>bubble</a:t>
            </a:r>
            <a:r>
              <a:rPr sz="2250" spc="-18" dirty="0">
                <a:latin typeface="Arial MT"/>
                <a:cs typeface="Arial MT"/>
              </a:rPr>
              <a:t> </a:t>
            </a:r>
            <a:r>
              <a:rPr sz="2250" spc="-106" dirty="0">
                <a:latin typeface="Arial MT"/>
                <a:cs typeface="Arial MT"/>
              </a:rPr>
              <a:t>is</a:t>
            </a:r>
            <a:r>
              <a:rPr sz="2250" spc="-18" dirty="0">
                <a:latin typeface="Arial MT"/>
                <a:cs typeface="Arial MT"/>
              </a:rPr>
              <a:t> </a:t>
            </a:r>
            <a:r>
              <a:rPr sz="2250" spc="-278" dirty="0">
                <a:latin typeface="Arial MT"/>
                <a:cs typeface="Arial MT"/>
              </a:rPr>
              <a:t>a</a:t>
            </a:r>
            <a:r>
              <a:rPr sz="2250" spc="4" dirty="0">
                <a:latin typeface="Arial MT"/>
                <a:cs typeface="Arial MT"/>
              </a:rPr>
              <a:t> </a:t>
            </a:r>
            <a:r>
              <a:rPr sz="2250" spc="-106" dirty="0">
                <a:latin typeface="Arial MT"/>
                <a:cs typeface="Arial MT"/>
              </a:rPr>
              <a:t>lack</a:t>
            </a:r>
            <a:r>
              <a:rPr sz="2250" spc="-13" dirty="0">
                <a:latin typeface="Arial MT"/>
                <a:cs typeface="Arial MT"/>
              </a:rPr>
              <a:t> </a:t>
            </a:r>
            <a:r>
              <a:rPr sz="2250" spc="-22" dirty="0">
                <a:latin typeface="Arial MT"/>
                <a:cs typeface="Arial MT"/>
              </a:rPr>
              <a:t>of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8665" y="3097813"/>
            <a:ext cx="5900456" cy="627140"/>
          </a:xfrm>
          <a:prstGeom prst="rect">
            <a:avLst/>
          </a:prstGeom>
        </p:spPr>
        <p:txBody>
          <a:bodyPr vert="horz" wrap="square" lIns="0" tIns="93009" rIns="0" bIns="0" rtlCol="0">
            <a:spAutoFit/>
          </a:bodyPr>
          <a:lstStyle/>
          <a:p>
            <a:pPr marL="11206" marR="4483">
              <a:lnSpc>
                <a:spcPct val="77200"/>
              </a:lnSpc>
              <a:spcBef>
                <a:spcPts val="732"/>
              </a:spcBef>
              <a:tabLst>
                <a:tab pos="1618216" algn="l"/>
              </a:tabLst>
            </a:pPr>
            <a:r>
              <a:rPr sz="2250" dirty="0">
                <a:latin typeface="Arial MT"/>
                <a:cs typeface="Arial MT"/>
              </a:rPr>
              <a:t>work</a:t>
            </a:r>
            <a:r>
              <a:rPr sz="2250" spc="44" dirty="0">
                <a:latin typeface="Arial MT"/>
                <a:cs typeface="Arial MT"/>
              </a:rPr>
              <a:t> </a:t>
            </a:r>
            <a:r>
              <a:rPr sz="2250" spc="62" dirty="0">
                <a:latin typeface="Arial MT"/>
                <a:cs typeface="Arial MT"/>
              </a:rPr>
              <a:t>to</a:t>
            </a:r>
            <a:r>
              <a:rPr sz="2250" spc="49" dirty="0">
                <a:latin typeface="Arial MT"/>
                <a:cs typeface="Arial MT"/>
              </a:rPr>
              <a:t> </a:t>
            </a:r>
            <a:r>
              <a:rPr sz="2250" spc="-22" dirty="0">
                <a:latin typeface="Arial MT"/>
                <a:cs typeface="Arial MT"/>
              </a:rPr>
              <a:t>do.</a:t>
            </a:r>
            <a:r>
              <a:rPr sz="2250" dirty="0">
                <a:latin typeface="Arial MT"/>
                <a:cs typeface="Arial MT"/>
              </a:rPr>
              <a:t>	It</a:t>
            </a:r>
            <a:r>
              <a:rPr sz="2250" spc="-97" dirty="0">
                <a:latin typeface="Arial MT"/>
                <a:cs typeface="Arial MT"/>
              </a:rPr>
              <a:t> </a:t>
            </a:r>
            <a:r>
              <a:rPr sz="2250" spc="-146" dirty="0">
                <a:latin typeface="Arial MT"/>
                <a:cs typeface="Arial MT"/>
              </a:rPr>
              <a:t>moves</a:t>
            </a:r>
            <a:r>
              <a:rPr sz="2250" spc="-9" dirty="0">
                <a:latin typeface="Arial MT"/>
                <a:cs typeface="Arial MT"/>
              </a:rPr>
              <a:t> </a:t>
            </a:r>
            <a:r>
              <a:rPr sz="2250" spc="-44" dirty="0">
                <a:latin typeface="Arial MT"/>
                <a:cs typeface="Arial MT"/>
              </a:rPr>
              <a:t>through</a:t>
            </a:r>
            <a:r>
              <a:rPr sz="2250" spc="-53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the</a:t>
            </a:r>
            <a:r>
              <a:rPr sz="2250" spc="-53" dirty="0">
                <a:latin typeface="Arial MT"/>
                <a:cs typeface="Arial MT"/>
              </a:rPr>
              <a:t> </a:t>
            </a:r>
            <a:r>
              <a:rPr sz="2250" spc="-79" dirty="0">
                <a:latin typeface="Arial MT"/>
                <a:cs typeface="Arial MT"/>
              </a:rPr>
              <a:t>pipeline</a:t>
            </a:r>
            <a:r>
              <a:rPr sz="2250" spc="-53" dirty="0">
                <a:latin typeface="Arial MT"/>
                <a:cs typeface="Arial MT"/>
              </a:rPr>
              <a:t> </a:t>
            </a:r>
            <a:r>
              <a:rPr sz="2250" spc="-44" dirty="0">
                <a:latin typeface="Arial MT"/>
                <a:cs typeface="Arial MT"/>
              </a:rPr>
              <a:t>like</a:t>
            </a:r>
            <a:r>
              <a:rPr sz="2250" spc="-53" dirty="0">
                <a:latin typeface="Arial MT"/>
                <a:cs typeface="Arial MT"/>
              </a:rPr>
              <a:t> </a:t>
            </a:r>
            <a:r>
              <a:rPr sz="2250" spc="-106" dirty="0">
                <a:latin typeface="Arial MT"/>
                <a:cs typeface="Arial MT"/>
              </a:rPr>
              <a:t>an </a:t>
            </a:r>
            <a:r>
              <a:rPr sz="2250" spc="-9" dirty="0">
                <a:latin typeface="Arial MT"/>
                <a:cs typeface="Arial MT"/>
              </a:rPr>
              <a:t>instruction.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89283" y="4349917"/>
            <a:ext cx="6474758" cy="1224803"/>
            <a:chOff x="2328787" y="4929906"/>
            <a:chExt cx="7338059" cy="1388110"/>
          </a:xfrm>
        </p:grpSpPr>
        <p:sp>
          <p:nvSpPr>
            <p:cNvPr id="6" name="object 6"/>
            <p:cNvSpPr/>
            <p:nvPr/>
          </p:nvSpPr>
          <p:spPr>
            <a:xfrm>
              <a:off x="2333550" y="4934669"/>
              <a:ext cx="9525" cy="1331595"/>
            </a:xfrm>
            <a:custGeom>
              <a:avLst/>
              <a:gdLst/>
              <a:ahLst/>
              <a:cxnLst/>
              <a:rect l="l" t="t" r="r" b="b"/>
              <a:pathLst>
                <a:path w="9525" h="1331595">
                  <a:moveTo>
                    <a:pt x="0" y="0"/>
                  </a:moveTo>
                  <a:lnTo>
                    <a:pt x="9376" y="0"/>
                  </a:lnTo>
                  <a:lnTo>
                    <a:pt x="9376" y="1265783"/>
                  </a:lnTo>
                  <a:lnTo>
                    <a:pt x="9376" y="1331416"/>
                  </a:lnTo>
                  <a:lnTo>
                    <a:pt x="0" y="1331416"/>
                  </a:lnTo>
                </a:path>
              </a:pathLst>
            </a:custGeom>
            <a:ln w="9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3241520" y="4934669"/>
              <a:ext cx="5485130" cy="1331595"/>
            </a:xfrm>
            <a:custGeom>
              <a:avLst/>
              <a:gdLst/>
              <a:ahLst/>
              <a:cxnLst/>
              <a:rect l="l" t="t" r="r" b="b"/>
              <a:pathLst>
                <a:path w="5485130" h="1331595">
                  <a:moveTo>
                    <a:pt x="0" y="1270846"/>
                  </a:moveTo>
                  <a:lnTo>
                    <a:pt x="0" y="1331416"/>
                  </a:lnTo>
                </a:path>
                <a:path w="5485130" h="1331595">
                  <a:moveTo>
                    <a:pt x="0" y="609451"/>
                  </a:moveTo>
                  <a:lnTo>
                    <a:pt x="0" y="755157"/>
                  </a:lnTo>
                </a:path>
                <a:path w="5485130" h="1331595">
                  <a:moveTo>
                    <a:pt x="0" y="0"/>
                  </a:moveTo>
                  <a:lnTo>
                    <a:pt x="0" y="93761"/>
                  </a:lnTo>
                </a:path>
                <a:path w="5485130" h="1331595">
                  <a:moveTo>
                    <a:pt x="917148" y="1270846"/>
                  </a:moveTo>
                  <a:lnTo>
                    <a:pt x="917148" y="1331416"/>
                  </a:lnTo>
                </a:path>
                <a:path w="5485130" h="1331595">
                  <a:moveTo>
                    <a:pt x="917148" y="609451"/>
                  </a:moveTo>
                  <a:lnTo>
                    <a:pt x="917148" y="755157"/>
                  </a:lnTo>
                </a:path>
                <a:path w="5485130" h="1331595">
                  <a:moveTo>
                    <a:pt x="917148" y="0"/>
                  </a:moveTo>
                  <a:lnTo>
                    <a:pt x="917148" y="93761"/>
                  </a:lnTo>
                </a:path>
                <a:path w="5485130" h="1331595">
                  <a:moveTo>
                    <a:pt x="1834297" y="1181376"/>
                  </a:moveTo>
                  <a:lnTo>
                    <a:pt x="1834297" y="1331416"/>
                  </a:lnTo>
                </a:path>
                <a:path w="5485130" h="1331595">
                  <a:moveTo>
                    <a:pt x="1834297" y="609451"/>
                  </a:moveTo>
                  <a:lnTo>
                    <a:pt x="1834297" y="798100"/>
                  </a:lnTo>
                </a:path>
                <a:path w="5485130" h="1331595">
                  <a:moveTo>
                    <a:pt x="1834297" y="0"/>
                  </a:moveTo>
                  <a:lnTo>
                    <a:pt x="1834297" y="93762"/>
                  </a:lnTo>
                </a:path>
                <a:path w="5485130" h="1331595">
                  <a:moveTo>
                    <a:pt x="2751446" y="609451"/>
                  </a:moveTo>
                  <a:lnTo>
                    <a:pt x="2751446" y="1331416"/>
                  </a:lnTo>
                </a:path>
                <a:path w="5485130" h="1331595">
                  <a:moveTo>
                    <a:pt x="2751446" y="0"/>
                  </a:moveTo>
                  <a:lnTo>
                    <a:pt x="2751446" y="93762"/>
                  </a:lnTo>
                </a:path>
                <a:path w="5485130" h="1331595">
                  <a:moveTo>
                    <a:pt x="3668595" y="0"/>
                  </a:moveTo>
                  <a:lnTo>
                    <a:pt x="3668595" y="755156"/>
                  </a:lnTo>
                </a:path>
                <a:path w="5485130" h="1331595">
                  <a:moveTo>
                    <a:pt x="3668595" y="1270846"/>
                  </a:moveTo>
                  <a:lnTo>
                    <a:pt x="3668595" y="1331416"/>
                  </a:lnTo>
                </a:path>
                <a:path w="5485130" h="1331595">
                  <a:moveTo>
                    <a:pt x="4576526" y="0"/>
                  </a:moveTo>
                  <a:lnTo>
                    <a:pt x="4576526" y="755156"/>
                  </a:lnTo>
                </a:path>
                <a:path w="5485130" h="1331595">
                  <a:moveTo>
                    <a:pt x="4576526" y="1270846"/>
                  </a:moveTo>
                  <a:lnTo>
                    <a:pt x="4576526" y="1331416"/>
                  </a:lnTo>
                </a:path>
                <a:path w="5485130" h="1331595">
                  <a:moveTo>
                    <a:pt x="5484515" y="0"/>
                  </a:moveTo>
                  <a:lnTo>
                    <a:pt x="5484515" y="755156"/>
                  </a:lnTo>
                </a:path>
                <a:path w="5485130" h="1331595">
                  <a:moveTo>
                    <a:pt x="5484515" y="1270846"/>
                  </a:moveTo>
                  <a:lnTo>
                    <a:pt x="5484515" y="1331416"/>
                  </a:lnTo>
                </a:path>
              </a:pathLst>
            </a:custGeom>
            <a:ln w="9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4499642" y="4981550"/>
              <a:ext cx="5162550" cy="1331595"/>
            </a:xfrm>
            <a:custGeom>
              <a:avLst/>
              <a:gdLst/>
              <a:ahLst/>
              <a:cxnLst/>
              <a:rect l="l" t="t" r="r" b="b"/>
              <a:pathLst>
                <a:path w="5162550" h="1331595">
                  <a:moveTo>
                    <a:pt x="5161947" y="0"/>
                  </a:moveTo>
                  <a:lnTo>
                    <a:pt x="5161947" y="1331416"/>
                  </a:lnTo>
                </a:path>
                <a:path w="5162550" h="1331595">
                  <a:moveTo>
                    <a:pt x="0" y="89852"/>
                  </a:moveTo>
                  <a:lnTo>
                    <a:pt x="0" y="261748"/>
                  </a:lnTo>
                  <a:lnTo>
                    <a:pt x="122285" y="304725"/>
                  </a:lnTo>
                  <a:lnTo>
                    <a:pt x="0" y="347696"/>
                  </a:lnTo>
                  <a:lnTo>
                    <a:pt x="0" y="519589"/>
                  </a:lnTo>
                  <a:lnTo>
                    <a:pt x="244570" y="433647"/>
                  </a:lnTo>
                  <a:lnTo>
                    <a:pt x="244570" y="175800"/>
                  </a:lnTo>
                  <a:lnTo>
                    <a:pt x="0" y="89852"/>
                  </a:lnTo>
                  <a:close/>
                </a:path>
              </a:pathLst>
            </a:custGeom>
            <a:ln w="9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42120" y="4520783"/>
            <a:ext cx="132790" cy="110366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618" spc="-22" dirty="0">
                <a:latin typeface="Arial MT"/>
                <a:cs typeface="Arial MT"/>
              </a:rPr>
              <a:t>EX</a:t>
            </a:r>
            <a:endParaRPr sz="618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14567" y="4436851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 txBox="1"/>
          <p:nvPr/>
        </p:nvSpPr>
        <p:spPr>
          <a:xfrm>
            <a:off x="3218704" y="4462873"/>
            <a:ext cx="183776" cy="27033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54912">
              <a:spcBef>
                <a:spcPts val="97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  <a:p>
            <a:pPr marL="120470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1372" y="4498813"/>
            <a:ext cx="1736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22" dirty="0">
                <a:latin typeface="Arial MT"/>
                <a:cs typeface="Arial MT"/>
              </a:rPr>
              <a:t>eco</a:t>
            </a:r>
            <a:endParaRPr sz="838">
              <a:latin typeface="Arial MT"/>
              <a:cs typeface="Arial MT"/>
            </a:endParaRPr>
          </a:p>
          <a:p>
            <a:pPr marL="47628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e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51377" y="4436851"/>
            <a:ext cx="378199" cy="167418"/>
          </a:xfrm>
          <a:prstGeom prst="rect">
            <a:avLst/>
          </a:prstGeom>
          <a:ln w="9376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9869">
              <a:spcBef>
                <a:spcPts val="300"/>
              </a:spcBef>
            </a:pPr>
            <a:r>
              <a:rPr sz="838" spc="-9" dirty="0">
                <a:latin typeface="Arial MT"/>
                <a:cs typeface="Arial MT"/>
              </a:rPr>
              <a:t>Fetch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33066" y="4436851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 txBox="1"/>
          <p:nvPr/>
        </p:nvSpPr>
        <p:spPr>
          <a:xfrm>
            <a:off x="4887052" y="4462873"/>
            <a:ext cx="261657" cy="141392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838" spc="-22" dirty="0">
                <a:latin typeface="Arial MT"/>
                <a:cs typeface="Arial MT"/>
              </a:rPr>
              <a:t>Mem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88367" y="4436851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5770057" y="4462873"/>
            <a:ext cx="192180" cy="266465"/>
          </a:xfrm>
          <a:prstGeom prst="rect">
            <a:avLst/>
          </a:prstGeom>
        </p:spPr>
        <p:txBody>
          <a:bodyPr vert="horz" wrap="square" lIns="0" tIns="7284" rIns="0" bIns="0" rtlCol="0">
            <a:spAutoFit/>
          </a:bodyPr>
          <a:lstStyle/>
          <a:p>
            <a:pPr marL="8965" marR="57152" indent="4483">
              <a:lnSpc>
                <a:spcPct val="103600"/>
              </a:lnSpc>
              <a:spcBef>
                <a:spcPts val="57"/>
              </a:spcBef>
            </a:pPr>
            <a:r>
              <a:rPr sz="838" spc="-22" dirty="0">
                <a:latin typeface="Arial MT"/>
                <a:cs typeface="Arial MT"/>
              </a:rPr>
              <a:t>ite ck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48541" y="4498813"/>
            <a:ext cx="1355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31" dirty="0">
                <a:latin typeface="Arial MT"/>
                <a:cs typeface="Arial MT"/>
              </a:rPr>
              <a:t>Wr</a:t>
            </a:r>
            <a:endParaRPr sz="838">
              <a:latin typeface="Arial MT"/>
              <a:cs typeface="Arial MT"/>
            </a:endParaRPr>
          </a:p>
          <a:p>
            <a:pPr marL="10646">
              <a:spcBef>
                <a:spcPts val="35"/>
              </a:spcBef>
            </a:pPr>
            <a:r>
              <a:rPr sz="838" spc="-22" dirty="0">
                <a:latin typeface="Arial MT"/>
                <a:cs typeface="Arial MT"/>
              </a:rPr>
              <a:t>ba</a:t>
            </a:r>
            <a:endParaRPr sz="838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733164" y="4432648"/>
            <a:ext cx="3037354" cy="463924"/>
            <a:chOff x="2945185" y="5023668"/>
            <a:chExt cx="3442335" cy="525780"/>
          </a:xfrm>
        </p:grpSpPr>
        <p:sp>
          <p:nvSpPr>
            <p:cNvPr id="20" name="object 20"/>
            <p:cNvSpPr/>
            <p:nvPr/>
          </p:nvSpPr>
          <p:spPr>
            <a:xfrm>
              <a:off x="3185066" y="5028431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0" y="0"/>
                  </a:moveTo>
                  <a:lnTo>
                    <a:pt x="122286" y="0"/>
                  </a:lnTo>
                  <a:lnTo>
                    <a:pt x="122286" y="515689"/>
                  </a:lnTo>
                  <a:lnTo>
                    <a:pt x="0" y="515689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0378" y="5474924"/>
              <a:ext cx="131663" cy="7383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02215" y="5028431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0" y="0"/>
                  </a:moveTo>
                  <a:lnTo>
                    <a:pt x="122286" y="0"/>
                  </a:lnTo>
                  <a:lnTo>
                    <a:pt x="122286" y="515689"/>
                  </a:lnTo>
                  <a:lnTo>
                    <a:pt x="0" y="515689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7527" y="5474924"/>
              <a:ext cx="131663" cy="7383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019364" y="5028431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6" y="0"/>
                  </a:lnTo>
                  <a:lnTo>
                    <a:pt x="122286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4676" y="5474924"/>
              <a:ext cx="131663" cy="7383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36513" y="5028431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6" y="0"/>
                  </a:lnTo>
                  <a:lnTo>
                    <a:pt x="122286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1824" y="5474924"/>
              <a:ext cx="131663" cy="7383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5185" y="5253459"/>
              <a:ext cx="226754" cy="6563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7353" y="5253459"/>
              <a:ext cx="170296" cy="6563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4502" y="5124533"/>
              <a:ext cx="262014" cy="6563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4502" y="5382381"/>
              <a:ext cx="262014" cy="6563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8778" y="5124537"/>
              <a:ext cx="170309" cy="6563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8778" y="5382381"/>
              <a:ext cx="170309" cy="6563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4213" y="5253459"/>
              <a:ext cx="262023" cy="6563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1650" y="5253459"/>
              <a:ext cx="170296" cy="6563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53077" y="5253459"/>
              <a:ext cx="170309" cy="6563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58799" y="5253459"/>
              <a:ext cx="111577" cy="6563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703485" y="5023751"/>
              <a:ext cx="2683510" cy="516255"/>
            </a:xfrm>
            <a:custGeom>
              <a:avLst/>
              <a:gdLst/>
              <a:ahLst/>
              <a:cxnLst/>
              <a:rect l="l" t="t" r="r" b="b"/>
              <a:pathLst>
                <a:path w="2683510" h="516254">
                  <a:moveTo>
                    <a:pt x="210604" y="0"/>
                  </a:moveTo>
                  <a:lnTo>
                    <a:pt x="0" y="0"/>
                  </a:lnTo>
                  <a:lnTo>
                    <a:pt x="0" y="515683"/>
                  </a:lnTo>
                  <a:lnTo>
                    <a:pt x="210604" y="515683"/>
                  </a:lnTo>
                  <a:lnTo>
                    <a:pt x="210604" y="0"/>
                  </a:lnTo>
                  <a:close/>
                </a:path>
                <a:path w="2683510" h="516254">
                  <a:moveTo>
                    <a:pt x="2683510" y="0"/>
                  </a:moveTo>
                  <a:lnTo>
                    <a:pt x="2472906" y="0"/>
                  </a:lnTo>
                  <a:lnTo>
                    <a:pt x="2472906" y="515683"/>
                  </a:lnTo>
                  <a:lnTo>
                    <a:pt x="2683510" y="515683"/>
                  </a:lnTo>
                  <a:lnTo>
                    <a:pt x="2683510" y="0"/>
                  </a:lnTo>
                  <a:close/>
                </a:path>
              </a:pathLst>
            </a:custGeom>
            <a:solidFill>
              <a:srgbClr val="000000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90433" y="4557667"/>
            <a:ext cx="1457325" cy="18160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03" dirty="0">
                <a:latin typeface="Courier New"/>
                <a:cs typeface="Courier New"/>
              </a:rPr>
              <a:t>add</a:t>
            </a:r>
            <a:r>
              <a:rPr sz="1103" spc="-22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$s0,</a:t>
            </a:r>
            <a:r>
              <a:rPr sz="1103" spc="-13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$t0,</a:t>
            </a:r>
            <a:r>
              <a:rPr sz="1103" spc="-9" dirty="0">
                <a:latin typeface="Courier New"/>
                <a:cs typeface="Courier New"/>
              </a:rPr>
              <a:t> </a:t>
            </a:r>
            <a:r>
              <a:rPr sz="1103" spc="-22" dirty="0">
                <a:latin typeface="Courier New"/>
                <a:cs typeface="Courier New"/>
              </a:rPr>
              <a:t>$t1</a:t>
            </a:r>
            <a:endParaRPr sz="1103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60626" y="5020434"/>
            <a:ext cx="378199" cy="167418"/>
          </a:xfrm>
          <a:prstGeom prst="rect">
            <a:avLst/>
          </a:prstGeom>
          <a:ln w="9376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9869">
              <a:spcBef>
                <a:spcPts val="300"/>
              </a:spcBef>
            </a:pPr>
            <a:r>
              <a:rPr sz="838" spc="-9" dirty="0">
                <a:latin typeface="Arial MT"/>
                <a:cs typeface="Arial MT"/>
              </a:rPr>
              <a:t>Fetch</a:t>
            </a:r>
            <a:endParaRPr sz="838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940620" y="5016232"/>
            <a:ext cx="925606" cy="463924"/>
            <a:chOff x="3180303" y="5685063"/>
            <a:chExt cx="1049020" cy="525780"/>
          </a:xfrm>
        </p:grpSpPr>
        <p:sp>
          <p:nvSpPr>
            <p:cNvPr id="42" name="object 42"/>
            <p:cNvSpPr/>
            <p:nvPr/>
          </p:nvSpPr>
          <p:spPr>
            <a:xfrm>
              <a:off x="4102215" y="5689825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0" y="0"/>
                  </a:moveTo>
                  <a:lnTo>
                    <a:pt x="122286" y="0"/>
                  </a:lnTo>
                  <a:lnTo>
                    <a:pt x="122286" y="515689"/>
                  </a:lnTo>
                  <a:lnTo>
                    <a:pt x="0" y="515689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97527" y="6136412"/>
              <a:ext cx="131663" cy="7383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57646" y="5914872"/>
              <a:ext cx="231442" cy="6563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185066" y="5689825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0" y="0"/>
                  </a:moveTo>
                  <a:lnTo>
                    <a:pt x="122286" y="0"/>
                  </a:lnTo>
                  <a:lnTo>
                    <a:pt x="122286" y="515689"/>
                  </a:lnTo>
                  <a:lnTo>
                    <a:pt x="0" y="515689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80378" y="6136412"/>
              <a:ext cx="131663" cy="7383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07353" y="5914854"/>
              <a:ext cx="111575" cy="6563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490433" y="5129188"/>
            <a:ext cx="1457325" cy="18160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03" dirty="0">
                <a:latin typeface="Courier New"/>
                <a:cs typeface="Courier New"/>
              </a:rPr>
              <a:t>sub</a:t>
            </a:r>
            <a:r>
              <a:rPr sz="1103" spc="-22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$t2,</a:t>
            </a:r>
            <a:r>
              <a:rPr sz="1103" spc="-13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$s0,</a:t>
            </a:r>
            <a:r>
              <a:rPr sz="1103" spc="-9" dirty="0">
                <a:latin typeface="Courier New"/>
                <a:cs typeface="Courier New"/>
              </a:rPr>
              <a:t> </a:t>
            </a:r>
            <a:r>
              <a:rPr sz="1103" spc="-22" dirty="0">
                <a:latin typeface="Courier New"/>
                <a:cs typeface="Courier New"/>
              </a:rPr>
              <a:t>$t3</a:t>
            </a:r>
            <a:endParaRPr sz="1103">
              <a:latin typeface="Courier New"/>
              <a:cs typeface="Courier New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189283" y="4225886"/>
            <a:ext cx="5634878" cy="58271"/>
            <a:chOff x="2328787" y="4789338"/>
            <a:chExt cx="6386195" cy="66040"/>
          </a:xfrm>
        </p:grpSpPr>
        <p:sp>
          <p:nvSpPr>
            <p:cNvPr id="50" name="object 50"/>
            <p:cNvSpPr/>
            <p:nvPr/>
          </p:nvSpPr>
          <p:spPr>
            <a:xfrm>
              <a:off x="2333550" y="4822155"/>
              <a:ext cx="6301740" cy="0"/>
            </a:xfrm>
            <a:custGeom>
              <a:avLst/>
              <a:gdLst/>
              <a:ahLst/>
              <a:cxnLst/>
              <a:rect l="l" t="t" r="r" b="b"/>
              <a:pathLst>
                <a:path w="6301740">
                  <a:moveTo>
                    <a:pt x="0" y="0"/>
                  </a:moveTo>
                  <a:lnTo>
                    <a:pt x="6301724" y="0"/>
                  </a:lnTo>
                </a:path>
              </a:pathLst>
            </a:custGeom>
            <a:ln w="9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30586" y="4789338"/>
              <a:ext cx="84385" cy="65633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651737" y="3958214"/>
            <a:ext cx="717737" cy="291421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1809" spc="-9" dirty="0">
                <a:latin typeface="Arial MT"/>
                <a:cs typeface="Arial MT"/>
              </a:rPr>
              <a:t>Cycles</a:t>
            </a:r>
            <a:endParaRPr sz="1809">
              <a:latin typeface="Arial MT"/>
              <a:cs typeface="Arial M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513669" y="5058326"/>
            <a:ext cx="216274" cy="379319"/>
          </a:xfrm>
          <a:custGeom>
            <a:avLst/>
            <a:gdLst/>
            <a:ahLst/>
            <a:cxnLst/>
            <a:rect l="l" t="t" r="r" b="b"/>
            <a:pathLst>
              <a:path w="245109" h="429895">
                <a:moveTo>
                  <a:pt x="0" y="0"/>
                </a:moveTo>
                <a:lnTo>
                  <a:pt x="0" y="171893"/>
                </a:lnTo>
                <a:lnTo>
                  <a:pt x="122286" y="214873"/>
                </a:lnTo>
                <a:lnTo>
                  <a:pt x="0" y="257844"/>
                </a:lnTo>
                <a:lnTo>
                  <a:pt x="0" y="429738"/>
                </a:lnTo>
                <a:lnTo>
                  <a:pt x="244570" y="343796"/>
                </a:lnTo>
                <a:lnTo>
                  <a:pt x="244570" y="85951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4" name="object 54"/>
          <p:cNvSpPr txBox="1"/>
          <p:nvPr/>
        </p:nvSpPr>
        <p:spPr>
          <a:xfrm>
            <a:off x="6551046" y="5104343"/>
            <a:ext cx="132790" cy="110366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618" spc="-22" dirty="0">
                <a:latin typeface="Arial MT"/>
                <a:cs typeface="Arial MT"/>
              </a:rPr>
              <a:t>EX</a:t>
            </a:r>
            <a:endParaRPr sz="618">
              <a:latin typeface="Arial MT"/>
              <a:cs typeface="Arial MT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623493" y="5020434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 txBox="1"/>
          <p:nvPr/>
        </p:nvSpPr>
        <p:spPr>
          <a:xfrm>
            <a:off x="5627630" y="5046458"/>
            <a:ext cx="183776" cy="27033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54912">
              <a:spcBef>
                <a:spcPts val="97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  <a:p>
            <a:pPr marL="120470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760298" y="5082398"/>
            <a:ext cx="1736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22" dirty="0">
                <a:latin typeface="Arial MT"/>
                <a:cs typeface="Arial MT"/>
              </a:rPr>
              <a:t>eco</a:t>
            </a:r>
            <a:endParaRPr sz="838">
              <a:latin typeface="Arial MT"/>
              <a:cs typeface="Arial MT"/>
            </a:endParaRPr>
          </a:p>
          <a:p>
            <a:pPr marL="47628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e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241992" y="5020434"/>
            <a:ext cx="378199" cy="167418"/>
          </a:xfrm>
          <a:prstGeom prst="rect">
            <a:avLst/>
          </a:prstGeom>
          <a:ln w="9376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64998">
              <a:spcBef>
                <a:spcPts val="300"/>
              </a:spcBef>
            </a:pPr>
            <a:r>
              <a:rPr sz="838" spc="-22" dirty="0">
                <a:latin typeface="Arial MT"/>
                <a:cs typeface="Arial MT"/>
              </a:rPr>
              <a:t>Mem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997292" y="5020434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0" name="object 60"/>
          <p:cNvSpPr txBox="1"/>
          <p:nvPr/>
        </p:nvSpPr>
        <p:spPr>
          <a:xfrm>
            <a:off x="8178983" y="5046458"/>
            <a:ext cx="192180" cy="266465"/>
          </a:xfrm>
          <a:prstGeom prst="rect">
            <a:avLst/>
          </a:prstGeom>
        </p:spPr>
        <p:txBody>
          <a:bodyPr vert="horz" wrap="square" lIns="0" tIns="7284" rIns="0" bIns="0" rtlCol="0">
            <a:spAutoFit/>
          </a:bodyPr>
          <a:lstStyle/>
          <a:p>
            <a:pPr marL="8965" marR="57152" indent="4483">
              <a:lnSpc>
                <a:spcPct val="103600"/>
              </a:lnSpc>
              <a:spcBef>
                <a:spcPts val="57"/>
              </a:spcBef>
            </a:pPr>
            <a:r>
              <a:rPr sz="838" spc="-22" dirty="0">
                <a:latin typeface="Arial MT"/>
                <a:cs typeface="Arial MT"/>
              </a:rPr>
              <a:t>ite ck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057467" y="5082398"/>
            <a:ext cx="1355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31" dirty="0">
                <a:latin typeface="Arial MT"/>
                <a:cs typeface="Arial MT"/>
              </a:rPr>
              <a:t>Wr</a:t>
            </a:r>
            <a:endParaRPr sz="838">
              <a:latin typeface="Arial MT"/>
              <a:cs typeface="Arial MT"/>
            </a:endParaRPr>
          </a:p>
          <a:p>
            <a:pPr marL="10646">
              <a:spcBef>
                <a:spcPts val="35"/>
              </a:spcBef>
            </a:pPr>
            <a:r>
              <a:rPr sz="838" spc="-22" dirty="0">
                <a:latin typeface="Arial MT"/>
                <a:cs typeface="Arial MT"/>
              </a:rPr>
              <a:t>ba</a:t>
            </a:r>
            <a:endParaRPr sz="838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052896" y="5016232"/>
            <a:ext cx="4126566" cy="463924"/>
            <a:chOff x="4440882" y="5685063"/>
            <a:chExt cx="4676775" cy="525780"/>
          </a:xfrm>
        </p:grpSpPr>
        <p:sp>
          <p:nvSpPr>
            <p:cNvPr id="63" name="object 63"/>
            <p:cNvSpPr/>
            <p:nvPr/>
          </p:nvSpPr>
          <p:spPr>
            <a:xfrm>
              <a:off x="6832330" y="5689825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5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6" y="0"/>
                  </a:lnTo>
                  <a:lnTo>
                    <a:pt x="122285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27642" y="6136319"/>
              <a:ext cx="131663" cy="73837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7749479" y="5689825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5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7" y="0"/>
                  </a:lnTo>
                  <a:lnTo>
                    <a:pt x="122285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4791" y="6136319"/>
              <a:ext cx="131663" cy="7383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8666628" y="5689825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6" y="0"/>
                  </a:lnTo>
                  <a:lnTo>
                    <a:pt x="122286" y="515689"/>
                  </a:lnTo>
                  <a:close/>
                </a:path>
                <a:path w="122554" h="516254">
                  <a:moveTo>
                    <a:pt x="122286" y="515642"/>
                  </a:moveTo>
                  <a:lnTo>
                    <a:pt x="61142" y="451181"/>
                  </a:lnTo>
                  <a:lnTo>
                    <a:pt x="0" y="515642"/>
                  </a:lnTo>
                  <a:lnTo>
                    <a:pt x="122286" y="515642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37465" y="5914854"/>
              <a:ext cx="170299" cy="6563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54616" y="5785903"/>
              <a:ext cx="262015" cy="6563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54616" y="6043748"/>
              <a:ext cx="262015" cy="6563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48895" y="5785931"/>
              <a:ext cx="170308" cy="65633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48895" y="6043776"/>
              <a:ext cx="170308" cy="6563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74329" y="5914854"/>
              <a:ext cx="262023" cy="6563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1765" y="5914854"/>
              <a:ext cx="170295" cy="6563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83193" y="5914854"/>
              <a:ext cx="170308" cy="65633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88915" y="5914854"/>
              <a:ext cx="111576" cy="65633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433604" y="5685142"/>
              <a:ext cx="2683510" cy="516255"/>
            </a:xfrm>
            <a:custGeom>
              <a:avLst/>
              <a:gdLst/>
              <a:ahLst/>
              <a:cxnLst/>
              <a:rect l="l" t="t" r="r" b="b"/>
              <a:pathLst>
                <a:path w="2683509" h="516254">
                  <a:moveTo>
                    <a:pt x="210604" y="0"/>
                  </a:moveTo>
                  <a:lnTo>
                    <a:pt x="0" y="0"/>
                  </a:lnTo>
                  <a:lnTo>
                    <a:pt x="0" y="515696"/>
                  </a:lnTo>
                  <a:lnTo>
                    <a:pt x="210604" y="515696"/>
                  </a:lnTo>
                  <a:lnTo>
                    <a:pt x="210604" y="0"/>
                  </a:lnTo>
                  <a:close/>
                </a:path>
                <a:path w="2683509" h="516254">
                  <a:moveTo>
                    <a:pt x="2683510" y="0"/>
                  </a:moveTo>
                  <a:lnTo>
                    <a:pt x="2472906" y="0"/>
                  </a:lnTo>
                  <a:lnTo>
                    <a:pt x="2472906" y="515696"/>
                  </a:lnTo>
                  <a:lnTo>
                    <a:pt x="2683510" y="515696"/>
                  </a:lnTo>
                  <a:lnTo>
                    <a:pt x="2683510" y="0"/>
                  </a:lnTo>
                  <a:close/>
                </a:path>
              </a:pathLst>
            </a:custGeom>
            <a:solidFill>
              <a:srgbClr val="000000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4445645" y="5732768"/>
              <a:ext cx="1379855" cy="383540"/>
            </a:xfrm>
            <a:custGeom>
              <a:avLst/>
              <a:gdLst/>
              <a:ahLst/>
              <a:cxnLst/>
              <a:rect l="l" t="t" r="r" b="b"/>
              <a:pathLst>
                <a:path w="1379854" h="383539">
                  <a:moveTo>
                    <a:pt x="0" y="0"/>
                  </a:moveTo>
                  <a:lnTo>
                    <a:pt x="1379797" y="0"/>
                  </a:lnTo>
                  <a:lnTo>
                    <a:pt x="1379797" y="383276"/>
                  </a:lnTo>
                  <a:lnTo>
                    <a:pt x="0" y="383276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4401038" y="5076075"/>
            <a:ext cx="521634" cy="32074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985" spc="-9" dirty="0">
                <a:latin typeface="Arial MT"/>
                <a:cs typeface="Arial MT"/>
              </a:rPr>
              <a:t>Stall</a:t>
            </a:r>
            <a:endParaRPr sz="1985">
              <a:latin typeface="Arial MT"/>
              <a:cs typeface="Arial MT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36177" y="246530"/>
            <a:ext cx="8471647" cy="6364941"/>
          </a:xfrm>
          <a:custGeom>
            <a:avLst/>
            <a:gdLst/>
            <a:ahLst/>
            <a:cxnLst/>
            <a:rect l="l" t="t" r="r" b="b"/>
            <a:pathLst>
              <a:path w="9601200" h="7213600">
                <a:moveTo>
                  <a:pt x="0" y="7213600"/>
                </a:moveTo>
                <a:lnTo>
                  <a:pt x="9601200" y="7213600"/>
                </a:lnTo>
                <a:lnTo>
                  <a:pt x="9601200" y="0"/>
                </a:lnTo>
                <a:lnTo>
                  <a:pt x="0" y="0"/>
                </a:lnTo>
                <a:lnTo>
                  <a:pt x="0" y="72136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1" name="object 81"/>
          <p:cNvSpPr txBox="1">
            <a:spLocks noGrp="1"/>
          </p:cNvSpPr>
          <p:nvPr>
            <p:ph type="sldNum" sz="quarter" idx="7"/>
          </p:nvPr>
        </p:nvSpPr>
        <p:spPr>
          <a:xfrm>
            <a:off x="9549879" y="7190783"/>
            <a:ext cx="194309" cy="219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spcBef>
                <a:spcPts val="20"/>
              </a:spcBef>
            </a:pPr>
            <a:fld id="{81D60167-4931-47E6-BA6A-407CBD079E47}" type="slidenum">
              <a:rPr lang="en-US" spc="-35" smtClean="0"/>
              <a:pPr marL="12700">
                <a:spcBef>
                  <a:spcPts val="20"/>
                </a:spcBef>
              </a:pPr>
              <a:t>21</a:t>
            </a:fld>
            <a:endParaRPr spc="-3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612" y="445845"/>
            <a:ext cx="6656294" cy="1087121"/>
          </a:xfrm>
          <a:prstGeom prst="rect">
            <a:avLst/>
          </a:prstGeom>
        </p:spPr>
        <p:txBody>
          <a:bodyPr vert="horz" wrap="square" lIns="0" tIns="242852" rIns="0" bIns="0" rtlCol="0" anchor="b">
            <a:spAutoFit/>
          </a:bodyPr>
          <a:lstStyle/>
          <a:p>
            <a:pPr marL="1045004">
              <a:lnSpc>
                <a:spcPct val="100000"/>
              </a:lnSpc>
              <a:spcBef>
                <a:spcPts val="88"/>
              </a:spcBef>
            </a:pPr>
            <a:r>
              <a:rPr sz="5471" spc="-335" dirty="0"/>
              <a:t>Stalling</a:t>
            </a:r>
            <a:r>
              <a:rPr sz="5471" spc="-49" dirty="0"/>
              <a:t> </a:t>
            </a:r>
            <a:r>
              <a:rPr sz="5471" spc="-40" dirty="0"/>
              <a:t>the</a:t>
            </a:r>
            <a:r>
              <a:rPr sz="5471" spc="-291" dirty="0"/>
              <a:t> </a:t>
            </a:r>
            <a:r>
              <a:rPr sz="5471" spc="-260" dirty="0"/>
              <a:t>pipeline</a:t>
            </a:r>
            <a:endParaRPr sz="5471"/>
          </a:p>
        </p:txBody>
      </p:sp>
      <p:sp>
        <p:nvSpPr>
          <p:cNvPr id="3" name="object 3"/>
          <p:cNvSpPr txBox="1"/>
          <p:nvPr/>
        </p:nvSpPr>
        <p:spPr>
          <a:xfrm>
            <a:off x="957823" y="1995168"/>
            <a:ext cx="7228354" cy="14219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94468" indent="-372055">
              <a:lnSpc>
                <a:spcPts val="2943"/>
              </a:lnSpc>
              <a:spcBef>
                <a:spcPts val="88"/>
              </a:spcBef>
              <a:buSzPct val="170967"/>
              <a:buChar char="•"/>
              <a:tabLst>
                <a:tab pos="394468" algn="l"/>
              </a:tabLst>
            </a:pPr>
            <a:r>
              <a:rPr sz="2735" spc="-199" dirty="0">
                <a:latin typeface="Arial MT"/>
                <a:cs typeface="Arial MT"/>
              </a:rPr>
              <a:t>Freeze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106" dirty="0">
                <a:latin typeface="Arial MT"/>
                <a:cs typeface="Arial MT"/>
              </a:rPr>
              <a:t>all</a:t>
            </a:r>
            <a:r>
              <a:rPr sz="2735" spc="-88" dirty="0">
                <a:latin typeface="Arial MT"/>
                <a:cs typeface="Arial MT"/>
              </a:rPr>
              <a:t> </a:t>
            </a:r>
            <a:r>
              <a:rPr sz="2735" spc="-124" dirty="0">
                <a:latin typeface="Arial MT"/>
                <a:cs typeface="Arial MT"/>
              </a:rPr>
              <a:t>pipeline</a:t>
            </a:r>
            <a:r>
              <a:rPr sz="2735" spc="-66" dirty="0">
                <a:latin typeface="Arial MT"/>
                <a:cs typeface="Arial MT"/>
              </a:rPr>
              <a:t> </a:t>
            </a:r>
            <a:r>
              <a:rPr sz="2735" spc="-243" dirty="0">
                <a:latin typeface="Arial MT"/>
                <a:cs typeface="Arial MT"/>
              </a:rPr>
              <a:t>stages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88" dirty="0">
                <a:latin typeface="Arial MT"/>
                <a:cs typeface="Arial MT"/>
              </a:rPr>
              <a:t>before </a:t>
            </a:r>
            <a:r>
              <a:rPr sz="2735" spc="-26" dirty="0">
                <a:latin typeface="Arial MT"/>
                <a:cs typeface="Arial MT"/>
              </a:rPr>
              <a:t>the</a:t>
            </a:r>
            <a:r>
              <a:rPr sz="2735" spc="-40" dirty="0">
                <a:latin typeface="Arial MT"/>
                <a:cs typeface="Arial MT"/>
              </a:rPr>
              <a:t> </a:t>
            </a:r>
            <a:r>
              <a:rPr sz="2735" spc="-224" dirty="0">
                <a:latin typeface="Arial MT"/>
                <a:cs typeface="Arial MT"/>
              </a:rPr>
              <a:t>stage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18" dirty="0">
                <a:latin typeface="Arial MT"/>
                <a:cs typeface="Arial MT"/>
              </a:rPr>
              <a:t>where</a:t>
            </a:r>
            <a:endParaRPr sz="2735" dirty="0">
              <a:latin typeface="Arial MT"/>
              <a:cs typeface="Arial MT"/>
            </a:endParaRPr>
          </a:p>
          <a:p>
            <a:pPr marL="394468">
              <a:lnSpc>
                <a:spcPts val="2749"/>
              </a:lnSpc>
            </a:pPr>
            <a:r>
              <a:rPr sz="2735" spc="-26" dirty="0">
                <a:latin typeface="Arial MT"/>
                <a:cs typeface="Arial MT"/>
              </a:rPr>
              <a:t>the</a:t>
            </a:r>
            <a:r>
              <a:rPr sz="2735" spc="-101" dirty="0">
                <a:latin typeface="Arial MT"/>
                <a:cs typeface="Arial MT"/>
              </a:rPr>
              <a:t> </a:t>
            </a:r>
            <a:r>
              <a:rPr sz="2735" spc="-199" dirty="0">
                <a:latin typeface="Arial MT"/>
                <a:cs typeface="Arial MT"/>
              </a:rPr>
              <a:t>hazard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9" dirty="0">
                <a:latin typeface="Arial MT"/>
                <a:cs typeface="Arial MT"/>
              </a:rPr>
              <a:t>occurred.</a:t>
            </a:r>
            <a:endParaRPr sz="2735" dirty="0">
              <a:latin typeface="Arial MT"/>
              <a:cs typeface="Arial MT"/>
            </a:endParaRPr>
          </a:p>
          <a:p>
            <a:pPr marL="683595" lvl="1" indent="-372055">
              <a:lnSpc>
                <a:spcPts val="2506"/>
              </a:lnSpc>
              <a:buSzPct val="172549"/>
              <a:buChar char="•"/>
              <a:tabLst>
                <a:tab pos="683595" algn="l"/>
              </a:tabLst>
            </a:pPr>
            <a:r>
              <a:rPr sz="2250" spc="-101" dirty="0">
                <a:latin typeface="Arial MT"/>
                <a:cs typeface="Arial MT"/>
              </a:rPr>
              <a:t>Disable</a:t>
            </a:r>
            <a:r>
              <a:rPr sz="2250" spc="-66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the</a:t>
            </a:r>
            <a:r>
              <a:rPr sz="2250" spc="-115" dirty="0">
                <a:latin typeface="Arial MT"/>
                <a:cs typeface="Arial MT"/>
              </a:rPr>
              <a:t> </a:t>
            </a:r>
            <a:r>
              <a:rPr sz="2250" spc="-180" dirty="0">
                <a:latin typeface="Arial MT"/>
                <a:cs typeface="Arial MT"/>
              </a:rPr>
              <a:t>PC</a:t>
            </a:r>
            <a:r>
              <a:rPr sz="2250" spc="9" dirty="0">
                <a:latin typeface="Arial MT"/>
                <a:cs typeface="Arial MT"/>
              </a:rPr>
              <a:t> </a:t>
            </a:r>
            <a:r>
              <a:rPr sz="2250" spc="-9" dirty="0">
                <a:latin typeface="Arial MT"/>
                <a:cs typeface="Arial MT"/>
              </a:rPr>
              <a:t>update</a:t>
            </a:r>
            <a:endParaRPr sz="22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6376" y="3379097"/>
            <a:ext cx="3788149" cy="360959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383262" indent="-372055">
              <a:spcBef>
                <a:spcPts val="115"/>
              </a:spcBef>
              <a:buSzPct val="172549"/>
              <a:buChar char="•"/>
              <a:tabLst>
                <a:tab pos="383262" algn="l"/>
              </a:tabLst>
            </a:pPr>
            <a:r>
              <a:rPr sz="2250" spc="-101" dirty="0">
                <a:latin typeface="Arial MT"/>
                <a:cs typeface="Arial MT"/>
              </a:rPr>
              <a:t>Disable</a:t>
            </a:r>
            <a:r>
              <a:rPr sz="2250" spc="-57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the</a:t>
            </a:r>
            <a:r>
              <a:rPr sz="2250" spc="-79" dirty="0">
                <a:latin typeface="Arial MT"/>
                <a:cs typeface="Arial MT"/>
              </a:rPr>
              <a:t> pipeline</a:t>
            </a:r>
            <a:r>
              <a:rPr sz="2250" spc="-71" dirty="0">
                <a:latin typeface="Arial MT"/>
                <a:cs typeface="Arial MT"/>
              </a:rPr>
              <a:t> </a:t>
            </a:r>
            <a:r>
              <a:rPr sz="2250" spc="-62" dirty="0">
                <a:latin typeface="Arial MT"/>
                <a:cs typeface="Arial MT"/>
              </a:rPr>
              <a:t>registers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6818" y="3538830"/>
            <a:ext cx="233082" cy="73106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4677" spc="-44" dirty="0">
                <a:latin typeface="Arial MT"/>
                <a:cs typeface="Arial MT"/>
              </a:rPr>
              <a:t>•</a:t>
            </a:r>
            <a:endParaRPr sz="467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107" y="3701749"/>
            <a:ext cx="6588499" cy="432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735" spc="-115" dirty="0">
                <a:latin typeface="Arial MT"/>
                <a:cs typeface="Arial MT"/>
              </a:rPr>
              <a:t>This</a:t>
            </a:r>
            <a:r>
              <a:rPr sz="2735" spc="-31" dirty="0">
                <a:latin typeface="Arial MT"/>
                <a:cs typeface="Arial MT"/>
              </a:rPr>
              <a:t> </a:t>
            </a:r>
            <a:r>
              <a:rPr sz="2735" spc="-163" dirty="0">
                <a:latin typeface="Arial MT"/>
                <a:cs typeface="Arial MT"/>
              </a:rPr>
              <a:t>essentially</a:t>
            </a:r>
            <a:r>
              <a:rPr sz="2735" spc="-18" dirty="0">
                <a:latin typeface="Arial MT"/>
                <a:cs typeface="Arial MT"/>
              </a:rPr>
              <a:t> </a:t>
            </a:r>
            <a:r>
              <a:rPr sz="2735" spc="-137" dirty="0">
                <a:latin typeface="Arial MT"/>
                <a:cs typeface="Arial MT"/>
              </a:rPr>
              <a:t>equivalent</a:t>
            </a:r>
            <a:r>
              <a:rPr sz="2735" spc="-13" dirty="0">
                <a:latin typeface="Arial MT"/>
                <a:cs typeface="Arial MT"/>
              </a:rPr>
              <a:t> </a:t>
            </a:r>
            <a:r>
              <a:rPr sz="2735" spc="66" dirty="0">
                <a:latin typeface="Arial MT"/>
                <a:cs typeface="Arial MT"/>
              </a:rPr>
              <a:t>to</a:t>
            </a:r>
            <a:r>
              <a:rPr sz="2735" spc="-18" dirty="0">
                <a:latin typeface="Arial MT"/>
                <a:cs typeface="Arial MT"/>
              </a:rPr>
              <a:t> </a:t>
            </a:r>
            <a:r>
              <a:rPr sz="2735" spc="-238" dirty="0">
                <a:latin typeface="Arial MT"/>
                <a:cs typeface="Arial MT"/>
              </a:rPr>
              <a:t>always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93" dirty="0">
                <a:latin typeface="Arial MT"/>
                <a:cs typeface="Arial MT"/>
              </a:rPr>
              <a:t>inserting</a:t>
            </a:r>
            <a:r>
              <a:rPr sz="2735" spc="-13" dirty="0">
                <a:latin typeface="Arial MT"/>
                <a:cs typeface="Arial MT"/>
              </a:rPr>
              <a:t> </a:t>
            </a:r>
            <a:r>
              <a:rPr sz="2735" spc="-410" dirty="0">
                <a:latin typeface="Arial MT"/>
                <a:cs typeface="Arial MT"/>
              </a:rPr>
              <a:t>a</a:t>
            </a:r>
            <a:endParaRPr sz="2735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9107" y="4024399"/>
            <a:ext cx="3584761" cy="432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735" spc="-88" dirty="0">
                <a:latin typeface="Arial MT"/>
                <a:cs typeface="Arial MT"/>
              </a:rPr>
              <a:t>nop</a:t>
            </a:r>
            <a:r>
              <a:rPr sz="2735" spc="-62" dirty="0">
                <a:latin typeface="Arial MT"/>
                <a:cs typeface="Arial MT"/>
              </a:rPr>
              <a:t> </a:t>
            </a:r>
            <a:r>
              <a:rPr sz="2735" spc="-132" dirty="0">
                <a:latin typeface="Arial MT"/>
                <a:cs typeface="Arial MT"/>
              </a:rPr>
              <a:t>when</a:t>
            </a:r>
            <a:r>
              <a:rPr sz="2735" spc="-18" dirty="0">
                <a:latin typeface="Arial MT"/>
                <a:cs typeface="Arial MT"/>
              </a:rPr>
              <a:t> </a:t>
            </a:r>
            <a:r>
              <a:rPr sz="2735" spc="-366" dirty="0">
                <a:latin typeface="Arial MT"/>
                <a:cs typeface="Arial MT"/>
              </a:rPr>
              <a:t>a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199" dirty="0">
                <a:latin typeface="Arial MT"/>
                <a:cs typeface="Arial MT"/>
              </a:rPr>
              <a:t>hazard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93" dirty="0">
                <a:latin typeface="Arial MT"/>
                <a:cs typeface="Arial MT"/>
              </a:rPr>
              <a:t>exists</a:t>
            </a:r>
            <a:endParaRPr sz="2735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6177" y="246530"/>
            <a:ext cx="8471647" cy="6364941"/>
          </a:xfrm>
          <a:custGeom>
            <a:avLst/>
            <a:gdLst/>
            <a:ahLst/>
            <a:cxnLst/>
            <a:rect l="l" t="t" r="r" b="b"/>
            <a:pathLst>
              <a:path w="9601200" h="7213600">
                <a:moveTo>
                  <a:pt x="0" y="7213600"/>
                </a:moveTo>
                <a:lnTo>
                  <a:pt x="9601200" y="7213600"/>
                </a:lnTo>
                <a:lnTo>
                  <a:pt x="9601200" y="0"/>
                </a:lnTo>
                <a:lnTo>
                  <a:pt x="0" y="0"/>
                </a:lnTo>
                <a:lnTo>
                  <a:pt x="0" y="72136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9549879" y="7190783"/>
            <a:ext cx="194309" cy="219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spcBef>
                <a:spcPts val="20"/>
              </a:spcBef>
            </a:pPr>
            <a:fld id="{81D60167-4931-47E6-BA6A-407CBD079E47}" type="slidenum">
              <a:rPr lang="en-US" spc="-35" smtClean="0"/>
              <a:pPr marL="12700">
                <a:spcBef>
                  <a:spcPts val="20"/>
                </a:spcBef>
              </a:pPr>
              <a:t>22</a:t>
            </a:fld>
            <a:endParaRPr spc="-3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594" y="605075"/>
            <a:ext cx="7391400" cy="672220"/>
          </a:xfrm>
          <a:prstGeom prst="rect">
            <a:avLst/>
          </a:prstGeom>
        </p:spPr>
        <p:txBody>
          <a:bodyPr vert="horz" wrap="square" lIns="0" tIns="13447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106"/>
              </a:spcBef>
              <a:tabLst>
                <a:tab pos="2623997" algn="l"/>
              </a:tabLst>
            </a:pPr>
            <a:r>
              <a:rPr sz="4280" spc="-137" dirty="0"/>
              <a:t>Solution</a:t>
            </a:r>
            <a:r>
              <a:rPr sz="4280" spc="-141" dirty="0"/>
              <a:t> </a:t>
            </a:r>
            <a:r>
              <a:rPr sz="4280" spc="-278" dirty="0"/>
              <a:t>3:</a:t>
            </a:r>
            <a:r>
              <a:rPr sz="4280" dirty="0"/>
              <a:t>	</a:t>
            </a:r>
            <a:r>
              <a:rPr sz="4280" spc="-269" dirty="0"/>
              <a:t>Bypassing/Forwarding</a:t>
            </a:r>
            <a:endParaRPr sz="4280"/>
          </a:p>
        </p:txBody>
      </p:sp>
      <p:sp>
        <p:nvSpPr>
          <p:cNvPr id="3" name="object 3"/>
          <p:cNvSpPr txBox="1"/>
          <p:nvPr/>
        </p:nvSpPr>
        <p:spPr>
          <a:xfrm>
            <a:off x="912360" y="1749299"/>
            <a:ext cx="6821021" cy="432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83262" indent="-372055">
              <a:spcBef>
                <a:spcPts val="88"/>
              </a:spcBef>
              <a:buSzPct val="170967"/>
              <a:buChar char="•"/>
              <a:tabLst>
                <a:tab pos="383262" algn="l"/>
              </a:tabLst>
            </a:pPr>
            <a:r>
              <a:rPr sz="2735" spc="-106" dirty="0">
                <a:latin typeface="Arial MT"/>
                <a:cs typeface="Arial MT"/>
              </a:rPr>
              <a:t>Data</a:t>
            </a:r>
            <a:r>
              <a:rPr sz="2735" spc="-88" dirty="0">
                <a:latin typeface="Arial MT"/>
                <a:cs typeface="Arial MT"/>
              </a:rPr>
              <a:t> </a:t>
            </a:r>
            <a:r>
              <a:rPr sz="2735" spc="-216" dirty="0">
                <a:latin typeface="Arial MT"/>
                <a:cs typeface="Arial MT"/>
              </a:rPr>
              <a:t>values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141" dirty="0">
                <a:latin typeface="Arial MT"/>
                <a:cs typeface="Arial MT"/>
              </a:rPr>
              <a:t>are</a:t>
            </a:r>
            <a:r>
              <a:rPr sz="2735" spc="-49" dirty="0">
                <a:latin typeface="Arial MT"/>
                <a:cs typeface="Arial MT"/>
              </a:rPr>
              <a:t> </a:t>
            </a:r>
            <a:r>
              <a:rPr sz="2735" spc="-110" dirty="0">
                <a:latin typeface="Arial MT"/>
                <a:cs typeface="Arial MT"/>
              </a:rPr>
              <a:t>computed</a:t>
            </a:r>
            <a:r>
              <a:rPr sz="2735" spc="-79" dirty="0">
                <a:latin typeface="Arial MT"/>
                <a:cs typeface="Arial MT"/>
              </a:rPr>
              <a:t> </a:t>
            </a:r>
            <a:r>
              <a:rPr sz="2735" dirty="0">
                <a:latin typeface="Arial MT"/>
                <a:cs typeface="Arial MT"/>
              </a:rPr>
              <a:t>in</a:t>
            </a:r>
            <a:r>
              <a:rPr sz="2735" spc="-88" dirty="0">
                <a:latin typeface="Arial MT"/>
                <a:cs typeface="Arial MT"/>
              </a:rPr>
              <a:t> </a:t>
            </a:r>
            <a:r>
              <a:rPr sz="2735" spc="-243" dirty="0">
                <a:latin typeface="Arial MT"/>
                <a:cs typeface="Arial MT"/>
              </a:rPr>
              <a:t>Ex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224" dirty="0">
                <a:latin typeface="Arial MT"/>
                <a:cs typeface="Arial MT"/>
              </a:rPr>
              <a:t>and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194" dirty="0">
                <a:latin typeface="Arial MT"/>
                <a:cs typeface="Arial MT"/>
              </a:rPr>
              <a:t>Mem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22" dirty="0">
                <a:latin typeface="Arial MT"/>
                <a:cs typeface="Arial MT"/>
              </a:rPr>
              <a:t>but</a:t>
            </a:r>
            <a:endParaRPr sz="2735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9949" y="2032907"/>
            <a:ext cx="5270687" cy="1234034"/>
          </a:xfrm>
          <a:prstGeom prst="rect">
            <a:avLst/>
          </a:prstGeom>
        </p:spPr>
        <p:txBody>
          <a:bodyPr vert="horz" wrap="square" lIns="0" tIns="58271" rIns="0" bIns="0" rtlCol="0">
            <a:spAutoFit/>
          </a:bodyPr>
          <a:lstStyle/>
          <a:p>
            <a:pPr marL="405675">
              <a:spcBef>
                <a:spcPts val="459"/>
              </a:spcBef>
            </a:pPr>
            <a:r>
              <a:rPr sz="2735" spc="-88" dirty="0">
                <a:latin typeface="Arial MT"/>
                <a:cs typeface="Arial MT"/>
              </a:rPr>
              <a:t>“publicized</a:t>
            </a:r>
            <a:r>
              <a:rPr sz="2735" spc="-79" dirty="0">
                <a:latin typeface="Arial MT"/>
                <a:cs typeface="Arial MT"/>
              </a:rPr>
              <a:t> </a:t>
            </a:r>
            <a:r>
              <a:rPr sz="2735" dirty="0">
                <a:latin typeface="Arial MT"/>
                <a:cs typeface="Arial MT"/>
              </a:rPr>
              <a:t>in</a:t>
            </a:r>
            <a:r>
              <a:rPr sz="2735" spc="-75" dirty="0">
                <a:latin typeface="Arial MT"/>
                <a:cs typeface="Arial MT"/>
              </a:rPr>
              <a:t> </a:t>
            </a:r>
            <a:r>
              <a:rPr sz="2735" dirty="0">
                <a:latin typeface="Arial MT"/>
                <a:cs typeface="Arial MT"/>
              </a:rPr>
              <a:t>write</a:t>
            </a:r>
            <a:r>
              <a:rPr sz="2735" spc="-75" dirty="0">
                <a:latin typeface="Arial MT"/>
                <a:cs typeface="Arial MT"/>
              </a:rPr>
              <a:t> </a:t>
            </a:r>
            <a:r>
              <a:rPr sz="2735" spc="-9" dirty="0">
                <a:latin typeface="Arial MT"/>
                <a:cs typeface="Arial MT"/>
              </a:rPr>
              <a:t>back”</a:t>
            </a:r>
            <a:endParaRPr sz="2735">
              <a:latin typeface="Arial MT"/>
              <a:cs typeface="Arial MT"/>
            </a:endParaRPr>
          </a:p>
          <a:p>
            <a:pPr marL="405675" indent="-372055">
              <a:spcBef>
                <a:spcPts val="2581"/>
              </a:spcBef>
              <a:buSzPct val="170967"/>
              <a:buChar char="•"/>
              <a:tabLst>
                <a:tab pos="405675" algn="l"/>
                <a:tab pos="2781448" algn="l"/>
              </a:tabLst>
            </a:pPr>
            <a:r>
              <a:rPr sz="2735" spc="-119" dirty="0">
                <a:latin typeface="Arial MT"/>
                <a:cs typeface="Arial MT"/>
              </a:rPr>
              <a:t>The</a:t>
            </a:r>
            <a:r>
              <a:rPr sz="2735" spc="-57" dirty="0">
                <a:latin typeface="Arial MT"/>
                <a:cs typeface="Arial MT"/>
              </a:rPr>
              <a:t> </a:t>
            </a:r>
            <a:r>
              <a:rPr sz="2735" spc="-176" dirty="0">
                <a:latin typeface="Arial MT"/>
                <a:cs typeface="Arial MT"/>
              </a:rPr>
              <a:t>data</a:t>
            </a:r>
            <a:r>
              <a:rPr sz="2735" spc="-13" dirty="0">
                <a:latin typeface="Arial MT"/>
                <a:cs typeface="Arial MT"/>
              </a:rPr>
              <a:t> </a:t>
            </a:r>
            <a:r>
              <a:rPr sz="2735" spc="-9" dirty="0">
                <a:latin typeface="Arial MT"/>
                <a:cs typeface="Arial MT"/>
              </a:rPr>
              <a:t>exists!</a:t>
            </a:r>
            <a:r>
              <a:rPr sz="2735" dirty="0">
                <a:latin typeface="Arial MT"/>
                <a:cs typeface="Arial MT"/>
              </a:rPr>
              <a:t>	</a:t>
            </a:r>
            <a:r>
              <a:rPr sz="2735" spc="-18" dirty="0">
                <a:latin typeface="Arial MT"/>
                <a:cs typeface="Arial MT"/>
              </a:rPr>
              <a:t>We</a:t>
            </a:r>
            <a:r>
              <a:rPr sz="2735" spc="-132" dirty="0">
                <a:latin typeface="Arial MT"/>
                <a:cs typeface="Arial MT"/>
              </a:rPr>
              <a:t> should</a:t>
            </a:r>
            <a:r>
              <a:rPr sz="2735" spc="-57" dirty="0">
                <a:latin typeface="Arial MT"/>
                <a:cs typeface="Arial MT"/>
              </a:rPr>
              <a:t> </a:t>
            </a:r>
            <a:r>
              <a:rPr sz="2735" spc="-238" dirty="0">
                <a:latin typeface="Arial MT"/>
                <a:cs typeface="Arial MT"/>
              </a:rPr>
              <a:t>use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22" dirty="0">
                <a:latin typeface="Arial MT"/>
                <a:cs typeface="Arial MT"/>
              </a:rPr>
              <a:t>it.</a:t>
            </a:r>
            <a:endParaRPr sz="2735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86657" y="4794408"/>
            <a:ext cx="375397" cy="660026"/>
          </a:xfrm>
          <a:custGeom>
            <a:avLst/>
            <a:gdLst/>
            <a:ahLst/>
            <a:cxnLst/>
            <a:rect l="l" t="t" r="r" b="b"/>
            <a:pathLst>
              <a:path w="425450" h="748029">
                <a:moveTo>
                  <a:pt x="0" y="0"/>
                </a:moveTo>
                <a:lnTo>
                  <a:pt x="0" y="298978"/>
                </a:lnTo>
                <a:lnTo>
                  <a:pt x="212688" y="373721"/>
                </a:lnTo>
                <a:lnTo>
                  <a:pt x="0" y="448465"/>
                </a:lnTo>
                <a:lnTo>
                  <a:pt x="0" y="747443"/>
                </a:lnTo>
                <a:lnTo>
                  <a:pt x="425377" y="597954"/>
                </a:lnTo>
                <a:lnTo>
                  <a:pt x="425377" y="149489"/>
                </a:lnTo>
                <a:lnTo>
                  <a:pt x="0" y="0"/>
                </a:lnTo>
                <a:close/>
              </a:path>
            </a:pathLst>
          </a:custGeom>
          <a:ln w="163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4159947" y="4882728"/>
            <a:ext cx="214592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103" spc="-22" dirty="0">
                <a:latin typeface="Arial MT"/>
                <a:cs typeface="Arial MT"/>
              </a:rPr>
              <a:t>EX</a:t>
            </a:r>
            <a:endParaRPr sz="1103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38387" y="4728463"/>
            <a:ext cx="657225" cy="791696"/>
          </a:xfrm>
          <a:custGeom>
            <a:avLst/>
            <a:gdLst/>
            <a:ahLst/>
            <a:cxnLst/>
            <a:rect l="l" t="t" r="r" b="b"/>
            <a:pathLst>
              <a:path w="744854" h="897254">
                <a:moveTo>
                  <a:pt x="0" y="0"/>
                </a:moveTo>
                <a:lnTo>
                  <a:pt x="744419" y="0"/>
                </a:lnTo>
                <a:lnTo>
                  <a:pt x="744419" y="896931"/>
                </a:lnTo>
                <a:lnTo>
                  <a:pt x="0" y="896931"/>
                </a:lnTo>
                <a:lnTo>
                  <a:pt x="0" y="0"/>
                </a:lnTo>
                <a:close/>
              </a:path>
            </a:pathLst>
          </a:custGeom>
          <a:ln w="163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2538387" y="4728462"/>
            <a:ext cx="657225" cy="528222"/>
          </a:xfrm>
          <a:prstGeom prst="rect">
            <a:avLst/>
          </a:prstGeom>
          <a:ln w="16307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02539">
              <a:spcBef>
                <a:spcPts val="525"/>
              </a:spcBef>
            </a:pPr>
            <a:r>
              <a:rPr sz="1456" spc="-44" dirty="0">
                <a:latin typeface="Arial MT"/>
                <a:cs typeface="Arial MT"/>
              </a:rPr>
              <a:t>D</a:t>
            </a:r>
            <a:endParaRPr sz="1456">
              <a:latin typeface="Arial MT"/>
              <a:cs typeface="Arial MT"/>
            </a:endParaRPr>
          </a:p>
          <a:p>
            <a:pPr marL="216845">
              <a:spcBef>
                <a:spcPts val="66"/>
              </a:spcBef>
            </a:pPr>
            <a:r>
              <a:rPr sz="1456" spc="-44" dirty="0">
                <a:latin typeface="Arial MT"/>
                <a:cs typeface="Arial MT"/>
              </a:rPr>
              <a:t>d</a:t>
            </a:r>
            <a:endParaRPr sz="1456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76328" y="4836234"/>
            <a:ext cx="301999" cy="416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4"/>
              </a:lnSpc>
            </a:pPr>
            <a:r>
              <a:rPr sz="1456" spc="-22" dirty="0">
                <a:latin typeface="Arial MT"/>
                <a:cs typeface="Arial MT"/>
              </a:rPr>
              <a:t>eco</a:t>
            </a:r>
            <a:endParaRPr sz="1456">
              <a:latin typeface="Arial MT"/>
              <a:cs typeface="Arial MT"/>
            </a:endParaRPr>
          </a:p>
          <a:p>
            <a:pPr marL="82928">
              <a:spcBef>
                <a:spcPts val="66"/>
              </a:spcBef>
            </a:pPr>
            <a:r>
              <a:rPr sz="1456" spc="-44" dirty="0">
                <a:latin typeface="Arial MT"/>
                <a:cs typeface="Arial MT"/>
              </a:rPr>
              <a:t>e</a:t>
            </a:r>
            <a:endParaRPr sz="1456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7052" y="4728463"/>
            <a:ext cx="657225" cy="291362"/>
          </a:xfrm>
          <a:prstGeom prst="rect">
            <a:avLst/>
          </a:prstGeom>
          <a:ln w="16307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86850">
              <a:spcBef>
                <a:spcPts val="525"/>
              </a:spcBef>
            </a:pPr>
            <a:r>
              <a:rPr sz="1456" spc="-9" dirty="0">
                <a:latin typeface="Arial MT"/>
                <a:cs typeface="Arial MT"/>
              </a:rPr>
              <a:t>Fetch</a:t>
            </a:r>
            <a:endParaRPr sz="1456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3417" y="4728463"/>
            <a:ext cx="657225" cy="291362"/>
          </a:xfrm>
          <a:prstGeom prst="rect">
            <a:avLst/>
          </a:prstGeom>
          <a:ln w="16307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13185">
              <a:spcBef>
                <a:spcPts val="525"/>
              </a:spcBef>
            </a:pPr>
            <a:r>
              <a:rPr sz="1456" spc="-22" dirty="0">
                <a:latin typeface="Arial MT"/>
                <a:cs typeface="Arial MT"/>
              </a:rPr>
              <a:t>Mem</a:t>
            </a:r>
            <a:endParaRPr sz="1456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67101" y="4728463"/>
            <a:ext cx="657225" cy="791696"/>
          </a:xfrm>
          <a:custGeom>
            <a:avLst/>
            <a:gdLst/>
            <a:ahLst/>
            <a:cxnLst/>
            <a:rect l="l" t="t" r="r" b="b"/>
            <a:pathLst>
              <a:path w="744854" h="897254">
                <a:moveTo>
                  <a:pt x="0" y="0"/>
                </a:moveTo>
                <a:lnTo>
                  <a:pt x="744419" y="0"/>
                </a:lnTo>
                <a:lnTo>
                  <a:pt x="744419" y="896931"/>
                </a:lnTo>
                <a:lnTo>
                  <a:pt x="0" y="896931"/>
                </a:lnTo>
                <a:lnTo>
                  <a:pt x="0" y="0"/>
                </a:lnTo>
                <a:close/>
              </a:path>
            </a:pathLst>
          </a:custGeom>
          <a:ln w="163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 txBox="1"/>
          <p:nvPr/>
        </p:nvSpPr>
        <p:spPr>
          <a:xfrm>
            <a:off x="6983113" y="4782007"/>
            <a:ext cx="333935" cy="455408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5689" marR="104781" indent="8405">
              <a:lnSpc>
                <a:spcPct val="103800"/>
              </a:lnSpc>
              <a:spcBef>
                <a:spcPts val="40"/>
              </a:spcBef>
            </a:pPr>
            <a:r>
              <a:rPr sz="1456" spc="-22" dirty="0">
                <a:latin typeface="Arial MT"/>
                <a:cs typeface="Arial MT"/>
              </a:rPr>
              <a:t>ite ck</a:t>
            </a:r>
            <a:endParaRPr sz="1456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71763" y="4836234"/>
            <a:ext cx="235884" cy="416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4"/>
              </a:lnSpc>
            </a:pPr>
            <a:r>
              <a:rPr sz="1456" spc="-31" dirty="0">
                <a:latin typeface="Arial MT"/>
                <a:cs typeface="Arial MT"/>
              </a:rPr>
              <a:t>Wr</a:t>
            </a:r>
            <a:endParaRPr sz="1456">
              <a:latin typeface="Arial MT"/>
              <a:cs typeface="Arial MT"/>
            </a:endParaRPr>
          </a:p>
          <a:p>
            <a:pPr marL="18491">
              <a:spcBef>
                <a:spcPts val="66"/>
              </a:spcBef>
            </a:pPr>
            <a:r>
              <a:rPr sz="1456" spc="-22" dirty="0">
                <a:latin typeface="Arial MT"/>
                <a:cs typeface="Arial MT"/>
              </a:rPr>
              <a:t>ba</a:t>
            </a:r>
            <a:endParaRPr sz="1456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4424" y="4721179"/>
            <a:ext cx="6329081" cy="806263"/>
            <a:chOff x="589280" y="5350669"/>
            <a:chExt cx="7172959" cy="913765"/>
          </a:xfrm>
        </p:grpSpPr>
        <p:sp>
          <p:nvSpPr>
            <p:cNvPr id="16" name="object 16"/>
            <p:cNvSpPr/>
            <p:nvPr/>
          </p:nvSpPr>
          <p:spPr>
            <a:xfrm>
              <a:off x="2192719" y="5358924"/>
              <a:ext cx="3403600" cy="897255"/>
            </a:xfrm>
            <a:custGeom>
              <a:avLst/>
              <a:gdLst/>
              <a:ahLst/>
              <a:cxnLst/>
              <a:rect l="l" t="t" r="r" b="b"/>
              <a:pathLst>
                <a:path w="3403600" h="897254">
                  <a:moveTo>
                    <a:pt x="212691" y="896931"/>
                  </a:moveTo>
                  <a:lnTo>
                    <a:pt x="0" y="896931"/>
                  </a:lnTo>
                  <a:lnTo>
                    <a:pt x="1" y="0"/>
                  </a:lnTo>
                  <a:lnTo>
                    <a:pt x="212693" y="0"/>
                  </a:lnTo>
                  <a:lnTo>
                    <a:pt x="212691" y="896931"/>
                  </a:lnTo>
                  <a:close/>
                </a:path>
                <a:path w="3403600" h="897254">
                  <a:moveTo>
                    <a:pt x="212693" y="896931"/>
                  </a:moveTo>
                  <a:lnTo>
                    <a:pt x="106346" y="784814"/>
                  </a:lnTo>
                  <a:lnTo>
                    <a:pt x="0" y="896931"/>
                  </a:lnTo>
                  <a:lnTo>
                    <a:pt x="212693" y="896931"/>
                  </a:lnTo>
                  <a:close/>
                </a:path>
                <a:path w="3403600" h="897254">
                  <a:moveTo>
                    <a:pt x="1807875" y="896931"/>
                  </a:moveTo>
                  <a:lnTo>
                    <a:pt x="1595184" y="896931"/>
                  </a:lnTo>
                  <a:lnTo>
                    <a:pt x="1595184" y="0"/>
                  </a:lnTo>
                  <a:lnTo>
                    <a:pt x="1807875" y="0"/>
                  </a:lnTo>
                  <a:lnTo>
                    <a:pt x="1807875" y="896931"/>
                  </a:lnTo>
                  <a:close/>
                </a:path>
                <a:path w="3403600" h="897254">
                  <a:moveTo>
                    <a:pt x="1807875" y="896931"/>
                  </a:moveTo>
                  <a:lnTo>
                    <a:pt x="1701530" y="784814"/>
                  </a:lnTo>
                  <a:lnTo>
                    <a:pt x="1595184" y="896931"/>
                  </a:lnTo>
                  <a:lnTo>
                    <a:pt x="1807875" y="896931"/>
                  </a:lnTo>
                  <a:close/>
                </a:path>
                <a:path w="3403600" h="897254">
                  <a:moveTo>
                    <a:pt x="3403060" y="896931"/>
                  </a:moveTo>
                  <a:lnTo>
                    <a:pt x="3190368" y="896931"/>
                  </a:lnTo>
                  <a:lnTo>
                    <a:pt x="3190368" y="0"/>
                  </a:lnTo>
                  <a:lnTo>
                    <a:pt x="3403060" y="0"/>
                  </a:lnTo>
                  <a:lnTo>
                    <a:pt x="3403060" y="896931"/>
                  </a:lnTo>
                  <a:close/>
                </a:path>
              </a:pathLst>
            </a:custGeom>
            <a:ln w="16307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4934" y="6135585"/>
              <a:ext cx="228999" cy="12842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978273" y="5358924"/>
              <a:ext cx="212725" cy="897255"/>
            </a:xfrm>
            <a:custGeom>
              <a:avLst/>
              <a:gdLst/>
              <a:ahLst/>
              <a:cxnLst/>
              <a:rect l="l" t="t" r="r" b="b"/>
              <a:pathLst>
                <a:path w="212725" h="897254">
                  <a:moveTo>
                    <a:pt x="212690" y="896931"/>
                  </a:moveTo>
                  <a:lnTo>
                    <a:pt x="0" y="896931"/>
                  </a:lnTo>
                  <a:lnTo>
                    <a:pt x="0" y="0"/>
                  </a:lnTo>
                  <a:lnTo>
                    <a:pt x="212691" y="0"/>
                  </a:lnTo>
                  <a:lnTo>
                    <a:pt x="212690" y="896931"/>
                  </a:lnTo>
                  <a:close/>
                </a:path>
              </a:pathLst>
            </a:custGeom>
            <a:ln w="16307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0120" y="6135585"/>
              <a:ext cx="228999" cy="1284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75498" y="5807389"/>
              <a:ext cx="255904" cy="0"/>
            </a:xfrm>
            <a:custGeom>
              <a:avLst/>
              <a:gdLst/>
              <a:ahLst/>
              <a:cxnLst/>
              <a:rect l="l" t="t" r="r" b="b"/>
              <a:pathLst>
                <a:path w="255905">
                  <a:moveTo>
                    <a:pt x="0" y="0"/>
                  </a:moveTo>
                  <a:lnTo>
                    <a:pt x="194063" y="0"/>
                  </a:lnTo>
                  <a:lnTo>
                    <a:pt x="223159" y="0"/>
                  </a:lnTo>
                  <a:lnTo>
                    <a:pt x="255775" y="0"/>
                  </a:lnTo>
                </a:path>
              </a:pathLst>
            </a:custGeom>
            <a:ln w="16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119" y="5750312"/>
              <a:ext cx="146770" cy="11415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5411" y="5750312"/>
              <a:ext cx="296194" cy="11415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000597" y="5583150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3"/>
                  </a:moveTo>
                  <a:lnTo>
                    <a:pt x="194063" y="3"/>
                  </a:lnTo>
                  <a:lnTo>
                    <a:pt x="284483" y="0"/>
                  </a:lnTo>
                  <a:lnTo>
                    <a:pt x="317099" y="0"/>
                  </a:lnTo>
                </a:path>
              </a:pathLst>
            </a:custGeom>
            <a:ln w="16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9542" y="5526072"/>
              <a:ext cx="146770" cy="11415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000597" y="6031619"/>
              <a:ext cx="317500" cy="635"/>
            </a:xfrm>
            <a:custGeom>
              <a:avLst/>
              <a:gdLst/>
              <a:ahLst/>
              <a:cxnLst/>
              <a:rect l="l" t="t" r="r" b="b"/>
              <a:pathLst>
                <a:path w="317500" h="635">
                  <a:moveTo>
                    <a:pt x="0" y="6"/>
                  </a:moveTo>
                  <a:lnTo>
                    <a:pt x="194063" y="6"/>
                  </a:lnTo>
                  <a:lnTo>
                    <a:pt x="284483" y="0"/>
                  </a:lnTo>
                  <a:lnTo>
                    <a:pt x="317099" y="0"/>
                  </a:lnTo>
                </a:path>
              </a:pathLst>
            </a:custGeom>
            <a:ln w="16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9542" y="5974541"/>
              <a:ext cx="146770" cy="11415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68857" y="5526079"/>
              <a:ext cx="296214" cy="11415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68857" y="5974546"/>
              <a:ext cx="296214" cy="11415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904522" y="5807384"/>
              <a:ext cx="317500" cy="0"/>
            </a:xfrm>
            <a:custGeom>
              <a:avLst/>
              <a:gdLst/>
              <a:ahLst/>
              <a:cxnLst/>
              <a:rect l="l" t="t" r="r" b="b"/>
              <a:pathLst>
                <a:path w="317500">
                  <a:moveTo>
                    <a:pt x="0" y="0"/>
                  </a:moveTo>
                  <a:lnTo>
                    <a:pt x="194064" y="0"/>
                  </a:lnTo>
                  <a:lnTo>
                    <a:pt x="284501" y="4"/>
                  </a:lnTo>
                  <a:lnTo>
                    <a:pt x="317117" y="4"/>
                  </a:lnTo>
                </a:path>
              </a:pathLst>
            </a:custGeom>
            <a:ln w="16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3486" y="5750312"/>
              <a:ext cx="146770" cy="11415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5779" y="5750312"/>
              <a:ext cx="296196" cy="11415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59225" y="5750312"/>
              <a:ext cx="296215" cy="11415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90965" y="5750312"/>
              <a:ext cx="194063" cy="11415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7535" y="5358924"/>
              <a:ext cx="212725" cy="897255"/>
            </a:xfrm>
            <a:custGeom>
              <a:avLst/>
              <a:gdLst/>
              <a:ahLst/>
              <a:cxnLst/>
              <a:rect l="l" t="t" r="r" b="b"/>
              <a:pathLst>
                <a:path w="212725" h="897254">
                  <a:moveTo>
                    <a:pt x="0" y="0"/>
                  </a:moveTo>
                  <a:lnTo>
                    <a:pt x="212691" y="0"/>
                  </a:lnTo>
                  <a:lnTo>
                    <a:pt x="212691" y="896931"/>
                  </a:lnTo>
                  <a:lnTo>
                    <a:pt x="0" y="896931"/>
                  </a:lnTo>
                  <a:lnTo>
                    <a:pt x="0" y="0"/>
                  </a:lnTo>
                  <a:close/>
                </a:path>
              </a:pathLst>
            </a:custGeom>
            <a:ln w="16307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381" y="6135585"/>
              <a:ext cx="228999" cy="1284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0227" y="5750312"/>
              <a:ext cx="194063" cy="11415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094405" y="5350776"/>
              <a:ext cx="4667885" cy="897255"/>
            </a:xfrm>
            <a:custGeom>
              <a:avLst/>
              <a:gdLst/>
              <a:ahLst/>
              <a:cxnLst/>
              <a:rect l="l" t="t" r="r" b="b"/>
              <a:pathLst>
                <a:path w="4667884" h="897254">
                  <a:moveTo>
                    <a:pt x="366306" y="0"/>
                  </a:moveTo>
                  <a:lnTo>
                    <a:pt x="0" y="0"/>
                  </a:lnTo>
                  <a:lnTo>
                    <a:pt x="0" y="896924"/>
                  </a:lnTo>
                  <a:lnTo>
                    <a:pt x="366306" y="896924"/>
                  </a:lnTo>
                  <a:lnTo>
                    <a:pt x="366306" y="0"/>
                  </a:lnTo>
                  <a:close/>
                </a:path>
                <a:path w="4667884" h="897254">
                  <a:moveTo>
                    <a:pt x="4667377" y="0"/>
                  </a:moveTo>
                  <a:lnTo>
                    <a:pt x="4301083" y="0"/>
                  </a:lnTo>
                  <a:lnTo>
                    <a:pt x="4301083" y="896924"/>
                  </a:lnTo>
                  <a:lnTo>
                    <a:pt x="4667377" y="896924"/>
                  </a:lnTo>
                  <a:lnTo>
                    <a:pt x="4667377" y="0"/>
                  </a:lnTo>
                  <a:close/>
                </a:path>
              </a:pathLst>
            </a:custGeom>
            <a:solidFill>
              <a:srgbClr val="000000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17318" y="3947431"/>
            <a:ext cx="1165972" cy="237614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56" dirty="0">
                <a:latin typeface="Arial MT"/>
                <a:cs typeface="Arial MT"/>
              </a:rPr>
              <a:t>results</a:t>
            </a:r>
            <a:r>
              <a:rPr sz="1456" spc="44" dirty="0">
                <a:latin typeface="Arial MT"/>
                <a:cs typeface="Arial MT"/>
              </a:rPr>
              <a:t> </a:t>
            </a:r>
            <a:r>
              <a:rPr sz="1456" spc="-9" dirty="0">
                <a:latin typeface="Arial MT"/>
                <a:cs typeface="Arial MT"/>
              </a:rPr>
              <a:t>known</a:t>
            </a:r>
            <a:endParaRPr sz="1456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78231" y="3947430"/>
            <a:ext cx="1632137" cy="455408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353004" marR="4483" indent="-342358">
              <a:lnSpc>
                <a:spcPct val="103800"/>
              </a:lnSpc>
              <a:spcBef>
                <a:spcPts val="40"/>
              </a:spcBef>
            </a:pPr>
            <a:r>
              <a:rPr sz="1456" dirty="0">
                <a:latin typeface="Arial MT"/>
                <a:cs typeface="Arial MT"/>
              </a:rPr>
              <a:t>Results</a:t>
            </a:r>
            <a:r>
              <a:rPr sz="1456" spc="49" dirty="0">
                <a:latin typeface="Arial MT"/>
                <a:cs typeface="Arial MT"/>
              </a:rPr>
              <a:t> </a:t>
            </a:r>
            <a:r>
              <a:rPr sz="1456" spc="-9" dirty="0">
                <a:latin typeface="Arial MT"/>
                <a:cs typeface="Arial MT"/>
              </a:rPr>
              <a:t>"published" </a:t>
            </a:r>
            <a:r>
              <a:rPr sz="1456" dirty="0">
                <a:latin typeface="Arial MT"/>
                <a:cs typeface="Arial MT"/>
              </a:rPr>
              <a:t>to</a:t>
            </a:r>
            <a:r>
              <a:rPr sz="1456" spc="9" dirty="0">
                <a:latin typeface="Arial MT"/>
                <a:cs typeface="Arial MT"/>
              </a:rPr>
              <a:t> </a:t>
            </a:r>
            <a:r>
              <a:rPr sz="1456" spc="-9" dirty="0">
                <a:latin typeface="Arial MT"/>
                <a:cs typeface="Arial MT"/>
              </a:rPr>
              <a:t>registers</a:t>
            </a:r>
            <a:endParaRPr sz="1456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261764" y="4260722"/>
            <a:ext cx="3183031" cy="636494"/>
            <a:chOff x="4677599" y="4828818"/>
            <a:chExt cx="3607435" cy="721360"/>
          </a:xfrm>
        </p:grpSpPr>
        <p:sp>
          <p:nvSpPr>
            <p:cNvPr id="41" name="object 41"/>
            <p:cNvSpPr/>
            <p:nvPr/>
          </p:nvSpPr>
          <p:spPr>
            <a:xfrm>
              <a:off x="4685854" y="4837073"/>
              <a:ext cx="191135" cy="581025"/>
            </a:xfrm>
            <a:custGeom>
              <a:avLst/>
              <a:gdLst/>
              <a:ahLst/>
              <a:cxnLst/>
              <a:rect l="l" t="t" r="r" b="b"/>
              <a:pathLst>
                <a:path w="191135" h="581025">
                  <a:moveTo>
                    <a:pt x="0" y="0"/>
                  </a:moveTo>
                  <a:lnTo>
                    <a:pt x="190868" y="580482"/>
                  </a:lnTo>
                </a:path>
              </a:pathLst>
            </a:custGeom>
            <a:ln w="16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22093" y="5394121"/>
              <a:ext cx="109259" cy="15552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77649" y="5089844"/>
              <a:ext cx="306902" cy="257447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692008" y="4177659"/>
            <a:ext cx="1520078" cy="237614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456" dirty="0">
                <a:latin typeface="Arial MT"/>
                <a:cs typeface="Arial MT"/>
              </a:rPr>
              <a:t>inputs</a:t>
            </a:r>
            <a:r>
              <a:rPr sz="1456" spc="26" dirty="0">
                <a:latin typeface="Arial MT"/>
                <a:cs typeface="Arial MT"/>
              </a:rPr>
              <a:t> </a:t>
            </a:r>
            <a:r>
              <a:rPr sz="1456" dirty="0">
                <a:latin typeface="Arial MT"/>
                <a:cs typeface="Arial MT"/>
              </a:rPr>
              <a:t>are</a:t>
            </a:r>
            <a:r>
              <a:rPr sz="1456" spc="31" dirty="0">
                <a:latin typeface="Arial MT"/>
                <a:cs typeface="Arial MT"/>
              </a:rPr>
              <a:t> </a:t>
            </a:r>
            <a:r>
              <a:rPr sz="1456" spc="-9" dirty="0">
                <a:latin typeface="Arial MT"/>
                <a:cs typeface="Arial MT"/>
              </a:rPr>
              <a:t>needed</a:t>
            </a:r>
            <a:endParaRPr sz="1456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33375" y="243728"/>
            <a:ext cx="8477250" cy="6370544"/>
            <a:chOff x="225425" y="276225"/>
            <a:chExt cx="9607550" cy="7219950"/>
          </a:xfrm>
        </p:grpSpPr>
        <p:sp>
          <p:nvSpPr>
            <p:cNvPr id="46" name="object 46"/>
            <p:cNvSpPr/>
            <p:nvPr/>
          </p:nvSpPr>
          <p:spPr>
            <a:xfrm>
              <a:off x="3202633" y="5097998"/>
              <a:ext cx="1028700" cy="384175"/>
            </a:xfrm>
            <a:custGeom>
              <a:avLst/>
              <a:gdLst/>
              <a:ahLst/>
              <a:cxnLst/>
              <a:rect l="l" t="t" r="r" b="b"/>
              <a:pathLst>
                <a:path w="1028700" h="384175">
                  <a:moveTo>
                    <a:pt x="0" y="0"/>
                  </a:moveTo>
                  <a:lnTo>
                    <a:pt x="1028211" y="383847"/>
                  </a:lnTo>
                </a:path>
              </a:pathLst>
            </a:custGeom>
            <a:ln w="16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05580" y="5427858"/>
              <a:ext cx="155642" cy="10797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28600" y="279400"/>
              <a:ext cx="9601200" cy="7213600"/>
            </a:xfrm>
            <a:custGeom>
              <a:avLst/>
              <a:gdLst/>
              <a:ahLst/>
              <a:cxnLst/>
              <a:rect l="l" t="t" r="r" b="b"/>
              <a:pathLst>
                <a:path w="9601200" h="7213600">
                  <a:moveTo>
                    <a:pt x="0" y="7213600"/>
                  </a:moveTo>
                  <a:lnTo>
                    <a:pt x="9601200" y="7213600"/>
                  </a:lnTo>
                  <a:lnTo>
                    <a:pt x="9601200" y="0"/>
                  </a:lnTo>
                  <a:lnTo>
                    <a:pt x="0" y="0"/>
                  </a:lnTo>
                  <a:lnTo>
                    <a:pt x="0" y="72136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xfrm>
            <a:off x="9549879" y="7190783"/>
            <a:ext cx="194309" cy="219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spcBef>
                <a:spcPts val="20"/>
              </a:spcBef>
            </a:pPr>
            <a:fld id="{81D60167-4931-47E6-BA6A-407CBD079E47}" type="slidenum">
              <a:rPr lang="en-US" spc="-35" smtClean="0"/>
              <a:pPr marL="12700">
                <a:spcBef>
                  <a:spcPts val="20"/>
                </a:spcBef>
              </a:pPr>
              <a:t>23</a:t>
            </a:fld>
            <a:endParaRPr spc="-3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817" y="2080223"/>
            <a:ext cx="5505450" cy="432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83262" indent="-372055">
              <a:spcBef>
                <a:spcPts val="88"/>
              </a:spcBef>
              <a:buSzPct val="170967"/>
              <a:buChar char="•"/>
              <a:tabLst>
                <a:tab pos="383262" algn="l"/>
              </a:tabLst>
            </a:pPr>
            <a:r>
              <a:rPr sz="2735" spc="-274" dirty="0">
                <a:latin typeface="Arial MT"/>
                <a:cs typeface="Arial MT"/>
              </a:rPr>
              <a:t>Take</a:t>
            </a:r>
            <a:r>
              <a:rPr sz="2735" dirty="0">
                <a:latin typeface="Arial MT"/>
                <a:cs typeface="Arial MT"/>
              </a:rPr>
              <a:t> </a:t>
            </a:r>
            <a:r>
              <a:rPr sz="2735" spc="-26" dirty="0">
                <a:latin typeface="Arial MT"/>
                <a:cs typeface="Arial MT"/>
              </a:rPr>
              <a:t>the</a:t>
            </a:r>
            <a:r>
              <a:rPr sz="2735" spc="-159" dirty="0">
                <a:latin typeface="Arial MT"/>
                <a:cs typeface="Arial MT"/>
              </a:rPr>
              <a:t> </a:t>
            </a:r>
            <a:r>
              <a:rPr sz="2735" spc="-212" dirty="0">
                <a:latin typeface="Arial MT"/>
                <a:cs typeface="Arial MT"/>
              </a:rPr>
              <a:t>values,</a:t>
            </a:r>
            <a:r>
              <a:rPr sz="2735" spc="-278" dirty="0">
                <a:latin typeface="Arial MT"/>
                <a:cs typeface="Arial MT"/>
              </a:rPr>
              <a:t> </a:t>
            </a:r>
            <a:r>
              <a:rPr sz="2735" spc="-88" dirty="0">
                <a:latin typeface="Arial MT"/>
                <a:cs typeface="Arial MT"/>
              </a:rPr>
              <a:t>where</a:t>
            </a:r>
            <a:r>
              <a:rPr sz="2735" spc="-62" dirty="0">
                <a:latin typeface="Arial MT"/>
                <a:cs typeface="Arial MT"/>
              </a:rPr>
              <a:t> </a:t>
            </a:r>
            <a:r>
              <a:rPr sz="2735" spc="-124" dirty="0">
                <a:latin typeface="Arial MT"/>
                <a:cs typeface="Arial MT"/>
              </a:rPr>
              <a:t>ever</a:t>
            </a:r>
            <a:r>
              <a:rPr sz="2735" spc="-57" dirty="0">
                <a:latin typeface="Arial MT"/>
                <a:cs typeface="Arial MT"/>
              </a:rPr>
              <a:t> </a:t>
            </a:r>
            <a:r>
              <a:rPr sz="2735" spc="-88" dirty="0">
                <a:latin typeface="Arial MT"/>
                <a:cs typeface="Arial MT"/>
              </a:rPr>
              <a:t>they</a:t>
            </a:r>
            <a:r>
              <a:rPr sz="2735" spc="-62" dirty="0">
                <a:latin typeface="Arial MT"/>
                <a:cs typeface="Arial MT"/>
              </a:rPr>
              <a:t> </a:t>
            </a:r>
            <a:r>
              <a:rPr sz="2735" spc="-66" dirty="0">
                <a:latin typeface="Arial MT"/>
                <a:cs typeface="Arial MT"/>
              </a:rPr>
              <a:t>are</a:t>
            </a:r>
            <a:endParaRPr sz="2735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6818" y="5284453"/>
            <a:ext cx="233082" cy="73106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4677" spc="-44" dirty="0">
                <a:latin typeface="Arial MT"/>
                <a:cs typeface="Arial MT"/>
              </a:rPr>
              <a:t>•</a:t>
            </a:r>
            <a:endParaRPr sz="4677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60612" y="478498"/>
            <a:ext cx="6656294" cy="1054468"/>
          </a:xfrm>
          <a:prstGeom prst="rect">
            <a:avLst/>
          </a:prstGeom>
        </p:spPr>
        <p:txBody>
          <a:bodyPr vert="horz" wrap="square" lIns="0" tIns="304685" rIns="0" bIns="0" rtlCol="0" anchor="b">
            <a:spAutoFit/>
          </a:bodyPr>
          <a:lstStyle/>
          <a:p>
            <a:pPr marL="669587">
              <a:lnSpc>
                <a:spcPct val="100000"/>
              </a:lnSpc>
              <a:spcBef>
                <a:spcPts val="119"/>
              </a:spcBef>
            </a:pPr>
            <a:r>
              <a:rPr sz="4853" spc="-415" dirty="0"/>
              <a:t>Bypassing</a:t>
            </a:r>
            <a:r>
              <a:rPr sz="4853" spc="22" dirty="0"/>
              <a:t> </a:t>
            </a:r>
            <a:r>
              <a:rPr sz="4853" spc="137" dirty="0"/>
              <a:t>or</a:t>
            </a:r>
            <a:r>
              <a:rPr sz="4853" spc="22" dirty="0"/>
              <a:t> </a:t>
            </a:r>
            <a:r>
              <a:rPr sz="4853" spc="-180" dirty="0"/>
              <a:t>Forwarding</a:t>
            </a:r>
            <a:endParaRPr sz="4853"/>
          </a:p>
        </p:txBody>
      </p:sp>
      <p:grpSp>
        <p:nvGrpSpPr>
          <p:cNvPr id="5" name="object 5"/>
          <p:cNvGrpSpPr/>
          <p:nvPr/>
        </p:nvGrpSpPr>
        <p:grpSpPr>
          <a:xfrm>
            <a:off x="2714031" y="3565470"/>
            <a:ext cx="5716121" cy="1414743"/>
            <a:chOff x="2923502" y="4040866"/>
            <a:chExt cx="6478270" cy="1603375"/>
          </a:xfrm>
        </p:grpSpPr>
        <p:sp>
          <p:nvSpPr>
            <p:cNvPr id="6" name="object 6"/>
            <p:cNvSpPr/>
            <p:nvPr/>
          </p:nvSpPr>
          <p:spPr>
            <a:xfrm>
              <a:off x="2934615" y="4051979"/>
              <a:ext cx="0" cy="1581150"/>
            </a:xfrm>
            <a:custGeom>
              <a:avLst/>
              <a:gdLst/>
              <a:ahLst/>
              <a:cxnLst/>
              <a:rect l="l" t="t" r="r" b="b"/>
              <a:pathLst>
                <a:path h="1581150">
                  <a:moveTo>
                    <a:pt x="0" y="724115"/>
                  </a:moveTo>
                  <a:lnTo>
                    <a:pt x="0" y="1580894"/>
                  </a:lnTo>
                </a:path>
                <a:path h="1581150">
                  <a:moveTo>
                    <a:pt x="0" y="0"/>
                  </a:moveTo>
                  <a:lnTo>
                    <a:pt x="0" y="116079"/>
                  </a:lnTo>
                </a:path>
              </a:pathLst>
            </a:custGeom>
            <a:ln w="221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3999651" y="4057507"/>
              <a:ext cx="4325620" cy="1570355"/>
            </a:xfrm>
            <a:custGeom>
              <a:avLst/>
              <a:gdLst/>
              <a:ahLst/>
              <a:cxnLst/>
              <a:rect l="l" t="t" r="r" b="b"/>
              <a:pathLst>
                <a:path w="4325620" h="1570354">
                  <a:moveTo>
                    <a:pt x="0" y="0"/>
                  </a:moveTo>
                  <a:lnTo>
                    <a:pt x="0" y="110551"/>
                  </a:lnTo>
                </a:path>
                <a:path w="4325620" h="1570354">
                  <a:moveTo>
                    <a:pt x="0" y="1514562"/>
                  </a:moveTo>
                  <a:lnTo>
                    <a:pt x="0" y="1569839"/>
                  </a:lnTo>
                </a:path>
                <a:path w="4325620" h="1570354">
                  <a:moveTo>
                    <a:pt x="0" y="718588"/>
                  </a:moveTo>
                  <a:lnTo>
                    <a:pt x="0" y="906526"/>
                  </a:lnTo>
                </a:path>
                <a:path w="4325620" h="1570354">
                  <a:moveTo>
                    <a:pt x="1081386" y="1514562"/>
                  </a:moveTo>
                  <a:lnTo>
                    <a:pt x="1081386" y="1569839"/>
                  </a:lnTo>
                </a:path>
                <a:path w="4325620" h="1570354">
                  <a:moveTo>
                    <a:pt x="1081386" y="0"/>
                  </a:moveTo>
                  <a:lnTo>
                    <a:pt x="1081386" y="110551"/>
                  </a:lnTo>
                </a:path>
                <a:path w="4325620" h="1570354">
                  <a:moveTo>
                    <a:pt x="1081386" y="718588"/>
                  </a:moveTo>
                  <a:lnTo>
                    <a:pt x="1081386" y="906526"/>
                  </a:lnTo>
                </a:path>
                <a:path w="4325620" h="1570354">
                  <a:moveTo>
                    <a:pt x="2162773" y="1514562"/>
                  </a:moveTo>
                  <a:lnTo>
                    <a:pt x="2162773" y="1569839"/>
                  </a:lnTo>
                </a:path>
                <a:path w="4325620" h="1570354">
                  <a:moveTo>
                    <a:pt x="2162773" y="718588"/>
                  </a:moveTo>
                  <a:lnTo>
                    <a:pt x="2162773" y="906526"/>
                  </a:lnTo>
                </a:path>
                <a:path w="4325620" h="1570354">
                  <a:moveTo>
                    <a:pt x="2162773" y="0"/>
                  </a:moveTo>
                  <a:lnTo>
                    <a:pt x="2162773" y="110551"/>
                  </a:lnTo>
                </a:path>
                <a:path w="4325620" h="1570354">
                  <a:moveTo>
                    <a:pt x="3244161" y="1514562"/>
                  </a:moveTo>
                  <a:lnTo>
                    <a:pt x="3244161" y="1569839"/>
                  </a:lnTo>
                </a:path>
                <a:path w="4325620" h="1570354">
                  <a:moveTo>
                    <a:pt x="3244161" y="0"/>
                  </a:moveTo>
                  <a:lnTo>
                    <a:pt x="3244161" y="110551"/>
                  </a:lnTo>
                </a:path>
                <a:path w="4325620" h="1570354">
                  <a:moveTo>
                    <a:pt x="3244161" y="718588"/>
                  </a:moveTo>
                  <a:lnTo>
                    <a:pt x="3244161" y="906526"/>
                  </a:lnTo>
                </a:path>
                <a:path w="4325620" h="1570354">
                  <a:moveTo>
                    <a:pt x="4325548" y="1514562"/>
                  </a:moveTo>
                  <a:lnTo>
                    <a:pt x="4325548" y="1569839"/>
                  </a:lnTo>
                </a:path>
                <a:path w="4325620" h="1570354">
                  <a:moveTo>
                    <a:pt x="4325548" y="0"/>
                  </a:moveTo>
                  <a:lnTo>
                    <a:pt x="4325548" y="906526"/>
                  </a:lnTo>
                </a:path>
              </a:pathLst>
            </a:custGeom>
            <a:ln w="11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5483073" y="4057507"/>
              <a:ext cx="3912870" cy="1570355"/>
            </a:xfrm>
            <a:custGeom>
              <a:avLst/>
              <a:gdLst/>
              <a:ahLst/>
              <a:cxnLst/>
              <a:rect l="l" t="t" r="r" b="b"/>
              <a:pathLst>
                <a:path w="3912870" h="1570354">
                  <a:moveTo>
                    <a:pt x="3912645" y="0"/>
                  </a:moveTo>
                  <a:lnTo>
                    <a:pt x="3912645" y="1569839"/>
                  </a:lnTo>
                </a:path>
                <a:path w="3912870" h="1570354">
                  <a:moveTo>
                    <a:pt x="0" y="161218"/>
                  </a:moveTo>
                  <a:lnTo>
                    <a:pt x="0" y="363897"/>
                  </a:lnTo>
                  <a:lnTo>
                    <a:pt x="144183" y="414566"/>
                  </a:lnTo>
                  <a:lnTo>
                    <a:pt x="0" y="465236"/>
                  </a:lnTo>
                  <a:lnTo>
                    <a:pt x="0" y="667915"/>
                  </a:lnTo>
                  <a:lnTo>
                    <a:pt x="288366" y="566575"/>
                  </a:lnTo>
                  <a:lnTo>
                    <a:pt x="288366" y="262557"/>
                  </a:lnTo>
                  <a:lnTo>
                    <a:pt x="0" y="161218"/>
                  </a:lnTo>
                  <a:close/>
                </a:path>
              </a:pathLst>
            </a:custGeom>
            <a:ln w="11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18552" y="3778667"/>
            <a:ext cx="152960" cy="128995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750" spc="-22" dirty="0">
                <a:latin typeface="Arial MT"/>
                <a:cs typeface="Arial MT"/>
              </a:rPr>
              <a:t>EX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22891" y="3677699"/>
            <a:ext cx="445434" cy="536762"/>
          </a:xfrm>
          <a:custGeom>
            <a:avLst/>
            <a:gdLst/>
            <a:ahLst/>
            <a:cxnLst/>
            <a:rect l="l" t="t" r="r" b="b"/>
            <a:pathLst>
              <a:path w="504825" h="608329">
                <a:moveTo>
                  <a:pt x="0" y="0"/>
                </a:moveTo>
                <a:lnTo>
                  <a:pt x="504647" y="0"/>
                </a:lnTo>
                <a:lnTo>
                  <a:pt x="504647" y="608036"/>
                </a:lnTo>
                <a:lnTo>
                  <a:pt x="0" y="608036"/>
                </a:lnTo>
                <a:lnTo>
                  <a:pt x="0" y="0"/>
                </a:lnTo>
                <a:close/>
              </a:path>
            </a:pathLst>
          </a:custGeom>
          <a:ln w="11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 txBox="1"/>
          <p:nvPr/>
        </p:nvSpPr>
        <p:spPr>
          <a:xfrm>
            <a:off x="3927768" y="3710389"/>
            <a:ext cx="216834" cy="326334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64437">
              <a:spcBef>
                <a:spcPts val="115"/>
              </a:spcBef>
            </a:pPr>
            <a:r>
              <a:rPr sz="971" spc="-44" dirty="0">
                <a:latin typeface="Arial MT"/>
                <a:cs typeface="Arial MT"/>
              </a:rPr>
              <a:t>D</a:t>
            </a:r>
            <a:endParaRPr sz="971">
              <a:latin typeface="Arial MT"/>
              <a:cs typeface="Arial MT"/>
            </a:endParaRPr>
          </a:p>
          <a:p>
            <a:pPr marL="142322">
              <a:spcBef>
                <a:spcPts val="66"/>
              </a:spcBef>
            </a:pPr>
            <a:r>
              <a:rPr sz="971" spc="-44" dirty="0">
                <a:latin typeface="Arial MT"/>
                <a:cs typeface="Arial MT"/>
              </a:rPr>
              <a:t>d</a:t>
            </a:r>
            <a:endParaRPr sz="971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84195" y="3750758"/>
            <a:ext cx="204507" cy="290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2"/>
              </a:lnSpc>
            </a:pPr>
            <a:r>
              <a:rPr sz="971" spc="-22" dirty="0">
                <a:latin typeface="Arial MT"/>
                <a:cs typeface="Arial MT"/>
              </a:rPr>
              <a:t>eco</a:t>
            </a:r>
            <a:endParaRPr sz="971">
              <a:latin typeface="Arial MT"/>
              <a:cs typeface="Arial MT"/>
            </a:endParaRPr>
          </a:p>
          <a:p>
            <a:pPr marL="56032">
              <a:spcBef>
                <a:spcPts val="62"/>
              </a:spcBef>
            </a:pPr>
            <a:r>
              <a:rPr sz="971" spc="-44" dirty="0">
                <a:latin typeface="Arial MT"/>
                <a:cs typeface="Arial MT"/>
              </a:rPr>
              <a:t>e</a:t>
            </a:r>
            <a:endParaRPr sz="971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5126" y="3677700"/>
            <a:ext cx="445434" cy="196924"/>
          </a:xfrm>
          <a:prstGeom prst="rect">
            <a:avLst/>
          </a:prstGeom>
          <a:ln w="11055">
            <a:solidFill>
              <a:srgbClr val="000000"/>
            </a:solidFill>
          </a:ln>
        </p:spPr>
        <p:txBody>
          <a:bodyPr vert="horz" wrap="square" lIns="0" tIns="47065" rIns="0" bIns="0" rtlCol="0">
            <a:spAutoFit/>
          </a:bodyPr>
          <a:lstStyle/>
          <a:p>
            <a:pPr marL="58834">
              <a:spcBef>
                <a:spcPts val="371"/>
              </a:spcBef>
            </a:pPr>
            <a:r>
              <a:rPr sz="971" spc="-9" dirty="0">
                <a:latin typeface="Arial MT"/>
                <a:cs typeface="Arial MT"/>
              </a:rPr>
              <a:t>Fetch</a:t>
            </a:r>
            <a:endParaRPr sz="971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31221" y="3677700"/>
            <a:ext cx="445434" cy="196924"/>
          </a:xfrm>
          <a:prstGeom prst="rect">
            <a:avLst/>
          </a:prstGeom>
          <a:ln w="11055">
            <a:solidFill>
              <a:srgbClr val="000000"/>
            </a:solidFill>
          </a:ln>
        </p:spPr>
        <p:txBody>
          <a:bodyPr vert="horz" wrap="square" lIns="0" tIns="47065" rIns="0" bIns="0" rtlCol="0">
            <a:spAutoFit/>
          </a:bodyPr>
          <a:lstStyle/>
          <a:p>
            <a:pPr marL="76764">
              <a:spcBef>
                <a:spcPts val="371"/>
              </a:spcBef>
            </a:pPr>
            <a:r>
              <a:rPr sz="971" spc="-22" dirty="0">
                <a:latin typeface="Arial MT"/>
                <a:cs typeface="Arial MT"/>
              </a:rPr>
              <a:t>Mem</a:t>
            </a:r>
            <a:endParaRPr sz="971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21777" y="3677699"/>
            <a:ext cx="445434" cy="536762"/>
          </a:xfrm>
          <a:custGeom>
            <a:avLst/>
            <a:gdLst/>
            <a:ahLst/>
            <a:cxnLst/>
            <a:rect l="l" t="t" r="r" b="b"/>
            <a:pathLst>
              <a:path w="504825" h="608329">
                <a:moveTo>
                  <a:pt x="0" y="0"/>
                </a:moveTo>
                <a:lnTo>
                  <a:pt x="504647" y="0"/>
                </a:lnTo>
                <a:lnTo>
                  <a:pt x="504647" y="608036"/>
                </a:lnTo>
                <a:lnTo>
                  <a:pt x="0" y="608036"/>
                </a:lnTo>
                <a:lnTo>
                  <a:pt x="0" y="0"/>
                </a:lnTo>
                <a:close/>
              </a:path>
            </a:pathLst>
          </a:custGeom>
          <a:ln w="11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 txBox="1"/>
          <p:nvPr/>
        </p:nvSpPr>
        <p:spPr>
          <a:xfrm>
            <a:off x="6936004" y="3710389"/>
            <a:ext cx="226359" cy="312323"/>
          </a:xfrm>
          <a:prstGeom prst="rect">
            <a:avLst/>
          </a:prstGeom>
        </p:spPr>
        <p:txBody>
          <a:bodyPr vert="horz" wrap="square" lIns="0" tIns="6724" rIns="0" bIns="0" rtlCol="0">
            <a:spAutoFit/>
          </a:bodyPr>
          <a:lstStyle/>
          <a:p>
            <a:pPr marL="10646" marR="68920" indent="5603">
              <a:lnSpc>
                <a:spcPct val="105500"/>
              </a:lnSpc>
              <a:spcBef>
                <a:spcPts val="53"/>
              </a:spcBef>
            </a:pPr>
            <a:r>
              <a:rPr sz="971" spc="-22" dirty="0">
                <a:latin typeface="Arial MT"/>
                <a:cs typeface="Arial MT"/>
              </a:rPr>
              <a:t>ite ck</a:t>
            </a:r>
            <a:endParaRPr sz="971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92729" y="3750758"/>
            <a:ext cx="159684" cy="290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2"/>
              </a:lnSpc>
            </a:pPr>
            <a:r>
              <a:rPr sz="971" spc="-22" dirty="0">
                <a:latin typeface="Arial MT"/>
                <a:cs typeface="Arial MT"/>
              </a:rPr>
              <a:t>Wr</a:t>
            </a:r>
            <a:endParaRPr sz="971">
              <a:latin typeface="Arial MT"/>
              <a:cs typeface="Arial MT"/>
            </a:endParaRPr>
          </a:p>
          <a:p>
            <a:pPr marL="12327">
              <a:spcBef>
                <a:spcPts val="62"/>
              </a:spcBef>
            </a:pPr>
            <a:r>
              <a:rPr sz="971" spc="-22" dirty="0">
                <a:latin typeface="Arial MT"/>
                <a:cs typeface="Arial MT"/>
              </a:rPr>
              <a:t>ba</a:t>
            </a:r>
            <a:endParaRPr sz="971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45635" y="3672656"/>
            <a:ext cx="4290732" cy="546847"/>
            <a:chOff x="2845986" y="4162343"/>
            <a:chExt cx="4862830" cy="619760"/>
          </a:xfrm>
        </p:grpSpPr>
        <p:sp>
          <p:nvSpPr>
            <p:cNvPr id="19" name="object 19"/>
            <p:cNvSpPr/>
            <p:nvPr/>
          </p:nvSpPr>
          <p:spPr>
            <a:xfrm>
              <a:off x="3933088" y="4168058"/>
              <a:ext cx="144780" cy="608330"/>
            </a:xfrm>
            <a:custGeom>
              <a:avLst/>
              <a:gdLst/>
              <a:ahLst/>
              <a:cxnLst/>
              <a:rect l="l" t="t" r="r" b="b"/>
              <a:pathLst>
                <a:path w="144779" h="608329">
                  <a:moveTo>
                    <a:pt x="144185" y="608036"/>
                  </a:moveTo>
                  <a:lnTo>
                    <a:pt x="0" y="608036"/>
                  </a:lnTo>
                  <a:lnTo>
                    <a:pt x="1" y="0"/>
                  </a:lnTo>
                  <a:lnTo>
                    <a:pt x="144186" y="0"/>
                  </a:lnTo>
                  <a:lnTo>
                    <a:pt x="144185" y="608036"/>
                  </a:lnTo>
                  <a:close/>
                </a:path>
              </a:pathLst>
            </a:custGeom>
            <a:ln w="1105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7560" y="4694563"/>
              <a:ext cx="155241" cy="870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014475" y="4168058"/>
              <a:ext cx="144780" cy="608330"/>
            </a:xfrm>
            <a:custGeom>
              <a:avLst/>
              <a:gdLst/>
              <a:ahLst/>
              <a:cxnLst/>
              <a:rect l="l" t="t" r="r" b="b"/>
              <a:pathLst>
                <a:path w="144779" h="608329">
                  <a:moveTo>
                    <a:pt x="144185" y="608036"/>
                  </a:moveTo>
                  <a:lnTo>
                    <a:pt x="0" y="608036"/>
                  </a:lnTo>
                  <a:lnTo>
                    <a:pt x="0" y="0"/>
                  </a:lnTo>
                  <a:lnTo>
                    <a:pt x="144185" y="0"/>
                  </a:lnTo>
                  <a:lnTo>
                    <a:pt x="144185" y="608036"/>
                  </a:lnTo>
                  <a:close/>
                </a:path>
              </a:pathLst>
            </a:custGeom>
            <a:ln w="1105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8947" y="4694563"/>
              <a:ext cx="155240" cy="8705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095862" y="4168058"/>
              <a:ext cx="144780" cy="608330"/>
            </a:xfrm>
            <a:custGeom>
              <a:avLst/>
              <a:gdLst/>
              <a:ahLst/>
              <a:cxnLst/>
              <a:rect l="l" t="t" r="r" b="b"/>
              <a:pathLst>
                <a:path w="144779" h="608329">
                  <a:moveTo>
                    <a:pt x="144185" y="608036"/>
                  </a:moveTo>
                  <a:lnTo>
                    <a:pt x="0" y="608036"/>
                  </a:lnTo>
                  <a:lnTo>
                    <a:pt x="0" y="0"/>
                  </a:lnTo>
                  <a:lnTo>
                    <a:pt x="144185" y="0"/>
                  </a:lnTo>
                  <a:lnTo>
                    <a:pt x="144185" y="608036"/>
                  </a:lnTo>
                  <a:close/>
                </a:path>
              </a:pathLst>
            </a:custGeom>
            <a:ln w="1105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0334" y="4694563"/>
              <a:ext cx="155240" cy="8705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177250" y="4168058"/>
              <a:ext cx="144780" cy="608330"/>
            </a:xfrm>
            <a:custGeom>
              <a:avLst/>
              <a:gdLst/>
              <a:ahLst/>
              <a:cxnLst/>
              <a:rect l="l" t="t" r="r" b="b"/>
              <a:pathLst>
                <a:path w="144779" h="608329">
                  <a:moveTo>
                    <a:pt x="144184" y="608036"/>
                  </a:moveTo>
                  <a:lnTo>
                    <a:pt x="0" y="608036"/>
                  </a:lnTo>
                  <a:lnTo>
                    <a:pt x="0" y="0"/>
                  </a:lnTo>
                  <a:lnTo>
                    <a:pt x="144185" y="0"/>
                  </a:lnTo>
                  <a:lnTo>
                    <a:pt x="144184" y="608036"/>
                  </a:lnTo>
                  <a:close/>
                </a:path>
              </a:pathLst>
            </a:custGeom>
            <a:ln w="1105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1722" y="4694563"/>
              <a:ext cx="155240" cy="870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4723" y="4433383"/>
              <a:ext cx="272888" cy="7738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7274" y="4433383"/>
              <a:ext cx="200791" cy="773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8660" y="4281370"/>
              <a:ext cx="308934" cy="7738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8660" y="4585390"/>
              <a:ext cx="308934" cy="7738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8191" y="4281372"/>
              <a:ext cx="200805" cy="773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8191" y="4585395"/>
              <a:ext cx="200805" cy="773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71440" y="4433383"/>
              <a:ext cx="308944" cy="773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0047" y="4433383"/>
              <a:ext cx="200793" cy="7738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60965" y="4433383"/>
              <a:ext cx="200806" cy="7738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21434" y="4433383"/>
              <a:ext cx="131556" cy="7738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851701" y="4168058"/>
              <a:ext cx="144780" cy="608330"/>
            </a:xfrm>
            <a:custGeom>
              <a:avLst/>
              <a:gdLst/>
              <a:ahLst/>
              <a:cxnLst/>
              <a:rect l="l" t="t" r="r" b="b"/>
              <a:pathLst>
                <a:path w="144780" h="608329">
                  <a:moveTo>
                    <a:pt x="0" y="0"/>
                  </a:moveTo>
                  <a:lnTo>
                    <a:pt x="144185" y="0"/>
                  </a:lnTo>
                  <a:lnTo>
                    <a:pt x="144185" y="608036"/>
                  </a:lnTo>
                  <a:lnTo>
                    <a:pt x="0" y="608036"/>
                  </a:lnTo>
                  <a:lnTo>
                    <a:pt x="0" y="0"/>
                  </a:lnTo>
                  <a:close/>
                </a:path>
              </a:pathLst>
            </a:custGeom>
            <a:ln w="1105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6173" y="4694563"/>
              <a:ext cx="155240" cy="8705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5886" y="4433383"/>
              <a:ext cx="131556" cy="7738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544352" y="4162539"/>
              <a:ext cx="3164205" cy="608330"/>
            </a:xfrm>
            <a:custGeom>
              <a:avLst/>
              <a:gdLst/>
              <a:ahLst/>
              <a:cxnLst/>
              <a:rect l="l" t="t" r="r" b="b"/>
              <a:pathLst>
                <a:path w="3164204" h="608329">
                  <a:moveTo>
                    <a:pt x="248310" y="0"/>
                  </a:moveTo>
                  <a:lnTo>
                    <a:pt x="0" y="0"/>
                  </a:lnTo>
                  <a:lnTo>
                    <a:pt x="0" y="608037"/>
                  </a:lnTo>
                  <a:lnTo>
                    <a:pt x="248310" y="608037"/>
                  </a:lnTo>
                  <a:lnTo>
                    <a:pt x="248310" y="0"/>
                  </a:lnTo>
                  <a:close/>
                </a:path>
                <a:path w="3164204" h="608329">
                  <a:moveTo>
                    <a:pt x="3164052" y="0"/>
                  </a:moveTo>
                  <a:lnTo>
                    <a:pt x="2915729" y="0"/>
                  </a:lnTo>
                  <a:lnTo>
                    <a:pt x="2915729" y="608037"/>
                  </a:lnTo>
                  <a:lnTo>
                    <a:pt x="3164052" y="608037"/>
                  </a:lnTo>
                  <a:lnTo>
                    <a:pt x="3164052" y="0"/>
                  </a:lnTo>
                  <a:close/>
                </a:path>
              </a:pathLst>
            </a:custGeom>
            <a:solidFill>
              <a:srgbClr val="000000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12940" y="3822156"/>
            <a:ext cx="1713939" cy="211559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>
              <a:spcBef>
                <a:spcPts val="115"/>
              </a:spcBef>
            </a:pPr>
            <a:r>
              <a:rPr sz="1279" dirty="0">
                <a:latin typeface="Courier New"/>
                <a:cs typeface="Courier New"/>
              </a:rPr>
              <a:t>add</a:t>
            </a:r>
            <a:r>
              <a:rPr sz="1279" spc="26" dirty="0">
                <a:latin typeface="Courier New"/>
                <a:cs typeface="Courier New"/>
              </a:rPr>
              <a:t> </a:t>
            </a:r>
            <a:r>
              <a:rPr sz="1279" dirty="0">
                <a:latin typeface="Courier New"/>
                <a:cs typeface="Courier New"/>
              </a:rPr>
              <a:t>$s0,</a:t>
            </a:r>
            <a:r>
              <a:rPr sz="1279" spc="31" dirty="0">
                <a:latin typeface="Courier New"/>
                <a:cs typeface="Courier New"/>
              </a:rPr>
              <a:t> </a:t>
            </a:r>
            <a:r>
              <a:rPr sz="1279" dirty="0">
                <a:latin typeface="Courier New"/>
                <a:cs typeface="Courier New"/>
              </a:rPr>
              <a:t>$t0,</a:t>
            </a:r>
            <a:r>
              <a:rPr sz="1279" spc="31" dirty="0">
                <a:latin typeface="Courier New"/>
                <a:cs typeface="Courier New"/>
              </a:rPr>
              <a:t> </a:t>
            </a:r>
            <a:r>
              <a:rPr sz="1279" spc="-22" dirty="0">
                <a:latin typeface="Courier New"/>
                <a:cs typeface="Courier New"/>
              </a:rPr>
              <a:t>$t1</a:t>
            </a:r>
            <a:endParaRPr sz="1279">
              <a:latin typeface="Courier New"/>
              <a:cs typeface="Courier New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918672" y="4424734"/>
            <a:ext cx="254934" cy="447115"/>
          </a:xfrm>
          <a:custGeom>
            <a:avLst/>
            <a:gdLst/>
            <a:ahLst/>
            <a:cxnLst/>
            <a:rect l="l" t="t" r="r" b="b"/>
            <a:pathLst>
              <a:path w="288925" h="506729">
                <a:moveTo>
                  <a:pt x="0" y="0"/>
                </a:moveTo>
                <a:lnTo>
                  <a:pt x="0" y="202679"/>
                </a:lnTo>
                <a:lnTo>
                  <a:pt x="144183" y="253348"/>
                </a:lnTo>
                <a:lnTo>
                  <a:pt x="0" y="304018"/>
                </a:lnTo>
                <a:lnTo>
                  <a:pt x="0" y="506697"/>
                </a:lnTo>
                <a:lnTo>
                  <a:pt x="288366" y="405357"/>
                </a:lnTo>
                <a:lnTo>
                  <a:pt x="288366" y="101339"/>
                </a:lnTo>
                <a:lnTo>
                  <a:pt x="0" y="0"/>
                </a:lnTo>
                <a:close/>
              </a:path>
            </a:pathLst>
          </a:custGeom>
          <a:ln w="11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3" name="object 43"/>
          <p:cNvSpPr txBox="1"/>
          <p:nvPr/>
        </p:nvSpPr>
        <p:spPr>
          <a:xfrm>
            <a:off x="5964747" y="4480998"/>
            <a:ext cx="152960" cy="128995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750" spc="-22" dirty="0">
                <a:latin typeface="Arial MT"/>
                <a:cs typeface="Arial MT"/>
              </a:rPr>
              <a:t>EX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869088" y="4380029"/>
            <a:ext cx="445434" cy="536762"/>
          </a:xfrm>
          <a:custGeom>
            <a:avLst/>
            <a:gdLst/>
            <a:ahLst/>
            <a:cxnLst/>
            <a:rect l="l" t="t" r="r" b="b"/>
            <a:pathLst>
              <a:path w="504825" h="608329">
                <a:moveTo>
                  <a:pt x="0" y="0"/>
                </a:moveTo>
                <a:lnTo>
                  <a:pt x="504647" y="0"/>
                </a:lnTo>
                <a:lnTo>
                  <a:pt x="504647" y="608036"/>
                </a:lnTo>
                <a:lnTo>
                  <a:pt x="0" y="608036"/>
                </a:lnTo>
                <a:lnTo>
                  <a:pt x="0" y="0"/>
                </a:lnTo>
                <a:close/>
              </a:path>
            </a:pathLst>
          </a:custGeom>
          <a:ln w="11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5" name="object 45"/>
          <p:cNvSpPr txBox="1"/>
          <p:nvPr/>
        </p:nvSpPr>
        <p:spPr>
          <a:xfrm>
            <a:off x="4869088" y="4380029"/>
            <a:ext cx="445434" cy="359148"/>
          </a:xfrm>
          <a:prstGeom prst="rect">
            <a:avLst/>
          </a:prstGeom>
          <a:ln w="11055">
            <a:solidFill>
              <a:srgbClr val="000000"/>
            </a:solidFill>
          </a:ln>
        </p:spPr>
        <p:txBody>
          <a:bodyPr vert="horz" wrap="square" lIns="0" tIns="47065" rIns="0" bIns="0" rtlCol="0">
            <a:spAutoFit/>
          </a:bodyPr>
          <a:lstStyle/>
          <a:p>
            <a:pPr marL="69480">
              <a:spcBef>
                <a:spcPts val="371"/>
              </a:spcBef>
            </a:pPr>
            <a:r>
              <a:rPr sz="971" spc="-44" dirty="0">
                <a:latin typeface="Arial MT"/>
                <a:cs typeface="Arial MT"/>
              </a:rPr>
              <a:t>D</a:t>
            </a:r>
            <a:endParaRPr sz="971">
              <a:latin typeface="Arial MT"/>
              <a:cs typeface="Arial MT"/>
            </a:endParaRPr>
          </a:p>
          <a:p>
            <a:pPr marL="146805">
              <a:spcBef>
                <a:spcPts val="66"/>
              </a:spcBef>
            </a:pPr>
            <a:r>
              <a:rPr sz="971" spc="-44" dirty="0">
                <a:latin typeface="Arial MT"/>
                <a:cs typeface="Arial MT"/>
              </a:rPr>
              <a:t>d</a:t>
            </a:r>
            <a:endParaRPr sz="971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30390" y="4453089"/>
            <a:ext cx="204507" cy="290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2"/>
              </a:lnSpc>
            </a:pPr>
            <a:r>
              <a:rPr sz="971" spc="-22" dirty="0">
                <a:latin typeface="Arial MT"/>
                <a:cs typeface="Arial MT"/>
              </a:rPr>
              <a:t>eco</a:t>
            </a:r>
            <a:endParaRPr sz="971">
              <a:latin typeface="Arial MT"/>
              <a:cs typeface="Arial MT"/>
            </a:endParaRPr>
          </a:p>
          <a:p>
            <a:pPr marL="56032">
              <a:spcBef>
                <a:spcPts val="62"/>
              </a:spcBef>
            </a:pPr>
            <a:r>
              <a:rPr sz="971" spc="-44" dirty="0">
                <a:latin typeface="Arial MT"/>
                <a:cs typeface="Arial MT"/>
              </a:rPr>
              <a:t>e</a:t>
            </a:r>
            <a:endParaRPr sz="971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51322" y="4380030"/>
            <a:ext cx="445434" cy="196924"/>
          </a:xfrm>
          <a:prstGeom prst="rect">
            <a:avLst/>
          </a:prstGeom>
          <a:ln w="11055">
            <a:solidFill>
              <a:srgbClr val="000000"/>
            </a:solidFill>
          </a:ln>
        </p:spPr>
        <p:txBody>
          <a:bodyPr vert="horz" wrap="square" lIns="0" tIns="47065" rIns="0" bIns="0" rtlCol="0">
            <a:spAutoFit/>
          </a:bodyPr>
          <a:lstStyle/>
          <a:p>
            <a:pPr marL="58834">
              <a:spcBef>
                <a:spcPts val="371"/>
              </a:spcBef>
            </a:pPr>
            <a:r>
              <a:rPr sz="971" spc="-9" dirty="0">
                <a:latin typeface="Arial MT"/>
                <a:cs typeface="Arial MT"/>
              </a:rPr>
              <a:t>Fetch</a:t>
            </a:r>
            <a:endParaRPr sz="971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777418" y="4380030"/>
            <a:ext cx="445434" cy="196924"/>
          </a:xfrm>
          <a:prstGeom prst="rect">
            <a:avLst/>
          </a:prstGeom>
          <a:ln w="11055">
            <a:solidFill>
              <a:srgbClr val="000000"/>
            </a:solidFill>
          </a:ln>
        </p:spPr>
        <p:txBody>
          <a:bodyPr vert="horz" wrap="square" lIns="0" tIns="47065" rIns="0" bIns="0" rtlCol="0">
            <a:spAutoFit/>
          </a:bodyPr>
          <a:lstStyle/>
          <a:p>
            <a:pPr marL="76764">
              <a:spcBef>
                <a:spcPts val="371"/>
              </a:spcBef>
            </a:pPr>
            <a:r>
              <a:rPr sz="971" spc="-22" dirty="0">
                <a:latin typeface="Arial MT"/>
                <a:cs typeface="Arial MT"/>
              </a:rPr>
              <a:t>Mem</a:t>
            </a:r>
            <a:endParaRPr sz="971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667972" y="4380029"/>
            <a:ext cx="445434" cy="536762"/>
          </a:xfrm>
          <a:custGeom>
            <a:avLst/>
            <a:gdLst/>
            <a:ahLst/>
            <a:cxnLst/>
            <a:rect l="l" t="t" r="r" b="b"/>
            <a:pathLst>
              <a:path w="504825" h="608329">
                <a:moveTo>
                  <a:pt x="0" y="0"/>
                </a:moveTo>
                <a:lnTo>
                  <a:pt x="504647" y="0"/>
                </a:lnTo>
                <a:lnTo>
                  <a:pt x="504647" y="608036"/>
                </a:lnTo>
                <a:lnTo>
                  <a:pt x="0" y="608036"/>
                </a:lnTo>
                <a:lnTo>
                  <a:pt x="0" y="0"/>
                </a:lnTo>
                <a:close/>
              </a:path>
            </a:pathLst>
          </a:custGeom>
          <a:ln w="11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 txBox="1"/>
          <p:nvPr/>
        </p:nvSpPr>
        <p:spPr>
          <a:xfrm>
            <a:off x="7882200" y="4412720"/>
            <a:ext cx="226359" cy="312323"/>
          </a:xfrm>
          <a:prstGeom prst="rect">
            <a:avLst/>
          </a:prstGeom>
        </p:spPr>
        <p:txBody>
          <a:bodyPr vert="horz" wrap="square" lIns="0" tIns="6724" rIns="0" bIns="0" rtlCol="0">
            <a:spAutoFit/>
          </a:bodyPr>
          <a:lstStyle/>
          <a:p>
            <a:pPr marL="10646" marR="68920" indent="5603">
              <a:lnSpc>
                <a:spcPct val="105500"/>
              </a:lnSpc>
              <a:spcBef>
                <a:spcPts val="53"/>
              </a:spcBef>
            </a:pPr>
            <a:r>
              <a:rPr sz="971" spc="-22" dirty="0">
                <a:latin typeface="Arial MT"/>
                <a:cs typeface="Arial MT"/>
              </a:rPr>
              <a:t>ite ck</a:t>
            </a:r>
            <a:endParaRPr sz="971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38924" y="4453089"/>
            <a:ext cx="159684" cy="290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2"/>
              </a:lnSpc>
            </a:pPr>
            <a:r>
              <a:rPr sz="971" spc="-22" dirty="0">
                <a:latin typeface="Arial MT"/>
                <a:cs typeface="Arial MT"/>
              </a:rPr>
              <a:t>Wr</a:t>
            </a:r>
            <a:endParaRPr sz="971">
              <a:latin typeface="Arial MT"/>
              <a:cs typeface="Arial MT"/>
            </a:endParaRPr>
          </a:p>
          <a:p>
            <a:pPr marL="12327">
              <a:spcBef>
                <a:spcPts val="62"/>
              </a:spcBef>
            </a:pPr>
            <a:r>
              <a:rPr sz="971" spc="-22" dirty="0">
                <a:latin typeface="Arial MT"/>
                <a:cs typeface="Arial MT"/>
              </a:rPr>
              <a:t>ba</a:t>
            </a:r>
            <a:endParaRPr sz="971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591830" y="4374987"/>
            <a:ext cx="4290732" cy="546847"/>
            <a:chOff x="3918341" y="4958318"/>
            <a:chExt cx="4862830" cy="619760"/>
          </a:xfrm>
        </p:grpSpPr>
        <p:sp>
          <p:nvSpPr>
            <p:cNvPr id="53" name="object 53"/>
            <p:cNvSpPr/>
            <p:nvPr/>
          </p:nvSpPr>
          <p:spPr>
            <a:xfrm>
              <a:off x="5005443" y="4964033"/>
              <a:ext cx="144780" cy="608330"/>
            </a:xfrm>
            <a:custGeom>
              <a:avLst/>
              <a:gdLst/>
              <a:ahLst/>
              <a:cxnLst/>
              <a:rect l="l" t="t" r="r" b="b"/>
              <a:pathLst>
                <a:path w="144779" h="608329">
                  <a:moveTo>
                    <a:pt x="144185" y="608036"/>
                  </a:moveTo>
                  <a:lnTo>
                    <a:pt x="0" y="608036"/>
                  </a:lnTo>
                  <a:lnTo>
                    <a:pt x="1" y="0"/>
                  </a:lnTo>
                  <a:lnTo>
                    <a:pt x="144186" y="0"/>
                  </a:lnTo>
                  <a:lnTo>
                    <a:pt x="144185" y="608036"/>
                  </a:lnTo>
                  <a:close/>
                </a:path>
              </a:pathLst>
            </a:custGeom>
            <a:ln w="1105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9915" y="5490537"/>
              <a:ext cx="155241" cy="8705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086830" y="4964033"/>
              <a:ext cx="144780" cy="608330"/>
            </a:xfrm>
            <a:custGeom>
              <a:avLst/>
              <a:gdLst/>
              <a:ahLst/>
              <a:cxnLst/>
              <a:rect l="l" t="t" r="r" b="b"/>
              <a:pathLst>
                <a:path w="144779" h="608329">
                  <a:moveTo>
                    <a:pt x="144185" y="608036"/>
                  </a:moveTo>
                  <a:lnTo>
                    <a:pt x="0" y="608036"/>
                  </a:lnTo>
                  <a:lnTo>
                    <a:pt x="0" y="0"/>
                  </a:lnTo>
                  <a:lnTo>
                    <a:pt x="144185" y="0"/>
                  </a:lnTo>
                  <a:lnTo>
                    <a:pt x="144185" y="608036"/>
                  </a:lnTo>
                  <a:close/>
                </a:path>
              </a:pathLst>
            </a:custGeom>
            <a:ln w="1105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81302" y="5490537"/>
              <a:ext cx="155240" cy="8705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168217" y="4964033"/>
              <a:ext cx="1226185" cy="608330"/>
            </a:xfrm>
            <a:custGeom>
              <a:avLst/>
              <a:gdLst/>
              <a:ahLst/>
              <a:cxnLst/>
              <a:rect l="l" t="t" r="r" b="b"/>
              <a:pathLst>
                <a:path w="1226184" h="608329">
                  <a:moveTo>
                    <a:pt x="144185" y="608036"/>
                  </a:moveTo>
                  <a:lnTo>
                    <a:pt x="0" y="608036"/>
                  </a:lnTo>
                  <a:lnTo>
                    <a:pt x="0" y="0"/>
                  </a:lnTo>
                  <a:lnTo>
                    <a:pt x="144185" y="0"/>
                  </a:lnTo>
                  <a:lnTo>
                    <a:pt x="144185" y="608036"/>
                  </a:lnTo>
                  <a:close/>
                </a:path>
                <a:path w="1226184" h="608329">
                  <a:moveTo>
                    <a:pt x="144185" y="608036"/>
                  </a:moveTo>
                  <a:lnTo>
                    <a:pt x="72093" y="532031"/>
                  </a:lnTo>
                  <a:lnTo>
                    <a:pt x="0" y="608036"/>
                  </a:lnTo>
                  <a:lnTo>
                    <a:pt x="144185" y="608036"/>
                  </a:lnTo>
                  <a:close/>
                </a:path>
                <a:path w="1226184" h="608329">
                  <a:moveTo>
                    <a:pt x="1225573" y="608036"/>
                  </a:moveTo>
                  <a:lnTo>
                    <a:pt x="1081388" y="608036"/>
                  </a:lnTo>
                  <a:lnTo>
                    <a:pt x="1081388" y="0"/>
                  </a:lnTo>
                  <a:lnTo>
                    <a:pt x="1225573" y="0"/>
                  </a:lnTo>
                  <a:lnTo>
                    <a:pt x="1225573" y="608036"/>
                  </a:lnTo>
                  <a:close/>
                </a:path>
              </a:pathLst>
            </a:custGeom>
            <a:ln w="1105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44077" y="5490537"/>
              <a:ext cx="155240" cy="8705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22605" y="5229358"/>
              <a:ext cx="267361" cy="7738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9629" y="5229358"/>
              <a:ext cx="200791" cy="7738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1015" y="5077345"/>
              <a:ext cx="308934" cy="7738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1015" y="5381365"/>
              <a:ext cx="308934" cy="7738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70546" y="5077347"/>
              <a:ext cx="200805" cy="7738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70546" y="5381369"/>
              <a:ext cx="200805" cy="7738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43795" y="5229358"/>
              <a:ext cx="308944" cy="7738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12402" y="5229358"/>
              <a:ext cx="200793" cy="7738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33320" y="5229358"/>
              <a:ext cx="200806" cy="7738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93790" y="5229358"/>
              <a:ext cx="131555" cy="77386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924056" y="4964033"/>
              <a:ext cx="144780" cy="608330"/>
            </a:xfrm>
            <a:custGeom>
              <a:avLst/>
              <a:gdLst/>
              <a:ahLst/>
              <a:cxnLst/>
              <a:rect l="l" t="t" r="r" b="b"/>
              <a:pathLst>
                <a:path w="144779" h="608329">
                  <a:moveTo>
                    <a:pt x="144185" y="608036"/>
                  </a:moveTo>
                  <a:lnTo>
                    <a:pt x="0" y="608036"/>
                  </a:lnTo>
                  <a:lnTo>
                    <a:pt x="1" y="0"/>
                  </a:lnTo>
                  <a:lnTo>
                    <a:pt x="144186" y="0"/>
                  </a:lnTo>
                  <a:lnTo>
                    <a:pt x="144185" y="608036"/>
                  </a:lnTo>
                  <a:close/>
                </a:path>
              </a:pathLst>
            </a:custGeom>
            <a:ln w="11055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8528" y="5490537"/>
              <a:ext cx="155241" cy="8705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68242" y="5229358"/>
              <a:ext cx="131556" cy="77386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616702" y="4958511"/>
              <a:ext cx="3164205" cy="608330"/>
            </a:xfrm>
            <a:custGeom>
              <a:avLst/>
              <a:gdLst/>
              <a:ahLst/>
              <a:cxnLst/>
              <a:rect l="l" t="t" r="r" b="b"/>
              <a:pathLst>
                <a:path w="3164204" h="608329">
                  <a:moveTo>
                    <a:pt x="248323" y="0"/>
                  </a:moveTo>
                  <a:lnTo>
                    <a:pt x="0" y="0"/>
                  </a:lnTo>
                  <a:lnTo>
                    <a:pt x="0" y="608037"/>
                  </a:lnTo>
                  <a:lnTo>
                    <a:pt x="248323" y="608037"/>
                  </a:lnTo>
                  <a:lnTo>
                    <a:pt x="248323" y="0"/>
                  </a:lnTo>
                  <a:close/>
                </a:path>
                <a:path w="3164204" h="608329">
                  <a:moveTo>
                    <a:pt x="3164052" y="0"/>
                  </a:moveTo>
                  <a:lnTo>
                    <a:pt x="2915729" y="0"/>
                  </a:lnTo>
                  <a:lnTo>
                    <a:pt x="2915729" y="608037"/>
                  </a:lnTo>
                  <a:lnTo>
                    <a:pt x="3164052" y="608037"/>
                  </a:lnTo>
                  <a:lnTo>
                    <a:pt x="3164052" y="0"/>
                  </a:lnTo>
                  <a:close/>
                </a:path>
              </a:pathLst>
            </a:custGeom>
            <a:solidFill>
              <a:srgbClr val="000000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712940" y="4496043"/>
            <a:ext cx="1713939" cy="211559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>
              <a:spcBef>
                <a:spcPts val="115"/>
              </a:spcBef>
            </a:pPr>
            <a:r>
              <a:rPr sz="1279" dirty="0">
                <a:latin typeface="Courier New"/>
                <a:cs typeface="Courier New"/>
              </a:rPr>
              <a:t>sub</a:t>
            </a:r>
            <a:r>
              <a:rPr sz="1279" spc="26" dirty="0">
                <a:latin typeface="Courier New"/>
                <a:cs typeface="Courier New"/>
              </a:rPr>
              <a:t> </a:t>
            </a:r>
            <a:r>
              <a:rPr sz="1279" dirty="0">
                <a:latin typeface="Courier New"/>
                <a:cs typeface="Courier New"/>
              </a:rPr>
              <a:t>$t2,</a:t>
            </a:r>
            <a:r>
              <a:rPr sz="1279" spc="31" dirty="0">
                <a:latin typeface="Courier New"/>
                <a:cs typeface="Courier New"/>
              </a:rPr>
              <a:t> </a:t>
            </a:r>
            <a:r>
              <a:rPr sz="1279" dirty="0">
                <a:latin typeface="Courier New"/>
                <a:cs typeface="Courier New"/>
              </a:rPr>
              <a:t>$s0,</a:t>
            </a:r>
            <a:r>
              <a:rPr sz="1279" spc="31" dirty="0">
                <a:latin typeface="Courier New"/>
                <a:cs typeface="Courier New"/>
              </a:rPr>
              <a:t> </a:t>
            </a:r>
            <a:r>
              <a:rPr sz="1279" spc="-22" dirty="0">
                <a:latin typeface="Courier New"/>
                <a:cs typeface="Courier New"/>
              </a:rPr>
              <a:t>$t3</a:t>
            </a:r>
            <a:endParaRPr sz="1279">
              <a:latin typeface="Courier New"/>
              <a:cs typeface="Courier New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2660850" y="3443252"/>
            <a:ext cx="5634878" cy="58271"/>
            <a:chOff x="2863229" y="3902352"/>
            <a:chExt cx="6386195" cy="66040"/>
          </a:xfrm>
        </p:grpSpPr>
        <p:sp>
          <p:nvSpPr>
            <p:cNvPr id="75" name="object 75"/>
            <p:cNvSpPr/>
            <p:nvPr/>
          </p:nvSpPr>
          <p:spPr>
            <a:xfrm>
              <a:off x="2867991" y="3935169"/>
              <a:ext cx="6301740" cy="0"/>
            </a:xfrm>
            <a:custGeom>
              <a:avLst/>
              <a:gdLst/>
              <a:ahLst/>
              <a:cxnLst/>
              <a:rect l="l" t="t" r="r" b="b"/>
              <a:pathLst>
                <a:path w="6301740">
                  <a:moveTo>
                    <a:pt x="0" y="0"/>
                  </a:moveTo>
                  <a:lnTo>
                    <a:pt x="6301724" y="0"/>
                  </a:lnTo>
                </a:path>
              </a:pathLst>
            </a:custGeom>
            <a:ln w="9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6" name="object 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65028" y="3902352"/>
              <a:ext cx="84385" cy="65633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5123302" y="3172271"/>
            <a:ext cx="717737" cy="291421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1809" spc="-9" dirty="0">
                <a:latin typeface="Arial MT"/>
                <a:cs typeface="Arial MT"/>
              </a:rPr>
              <a:t>Cycles</a:t>
            </a:r>
            <a:endParaRPr sz="1809">
              <a:latin typeface="Arial MT"/>
              <a:cs typeface="Arial MT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333375" y="243728"/>
            <a:ext cx="8477250" cy="6370544"/>
            <a:chOff x="225425" y="276225"/>
            <a:chExt cx="9607550" cy="7219950"/>
          </a:xfrm>
        </p:grpSpPr>
        <p:sp>
          <p:nvSpPr>
            <p:cNvPr id="79" name="object 79"/>
            <p:cNvSpPr/>
            <p:nvPr/>
          </p:nvSpPr>
          <p:spPr>
            <a:xfrm>
              <a:off x="5788669" y="4461172"/>
              <a:ext cx="544195" cy="568960"/>
            </a:xfrm>
            <a:custGeom>
              <a:avLst/>
              <a:gdLst/>
              <a:ahLst/>
              <a:cxnLst/>
              <a:rect l="l" t="t" r="r" b="b"/>
              <a:pathLst>
                <a:path w="544195" h="568960">
                  <a:moveTo>
                    <a:pt x="544050" y="568411"/>
                  </a:moveTo>
                  <a:lnTo>
                    <a:pt x="0" y="0"/>
                  </a:lnTo>
                </a:path>
              </a:pathLst>
            </a:custGeom>
            <a:ln w="28128">
              <a:solidFill>
                <a:srgbClr val="FF669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6286588" y="4985305"/>
              <a:ext cx="130810" cy="132715"/>
            </a:xfrm>
            <a:custGeom>
              <a:avLst/>
              <a:gdLst/>
              <a:ahLst/>
              <a:cxnLst/>
              <a:rect l="l" t="t" r="r" b="b"/>
              <a:pathLst>
                <a:path w="130810" h="132714">
                  <a:moveTo>
                    <a:pt x="89410" y="0"/>
                  </a:moveTo>
                  <a:lnTo>
                    <a:pt x="0" y="85578"/>
                  </a:lnTo>
                  <a:lnTo>
                    <a:pt x="130284" y="132199"/>
                  </a:lnTo>
                  <a:lnTo>
                    <a:pt x="89410" y="0"/>
                  </a:lnTo>
                  <a:close/>
                </a:path>
              </a:pathLst>
            </a:custGeom>
            <a:solidFill>
              <a:srgbClr val="FF669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228600" y="279400"/>
              <a:ext cx="9601200" cy="7213600"/>
            </a:xfrm>
            <a:custGeom>
              <a:avLst/>
              <a:gdLst/>
              <a:ahLst/>
              <a:cxnLst/>
              <a:rect l="l" t="t" r="r" b="b"/>
              <a:pathLst>
                <a:path w="9601200" h="7213600">
                  <a:moveTo>
                    <a:pt x="0" y="7213600"/>
                  </a:moveTo>
                  <a:lnTo>
                    <a:pt x="9601200" y="7213600"/>
                  </a:lnTo>
                  <a:lnTo>
                    <a:pt x="9601200" y="0"/>
                  </a:lnTo>
                  <a:lnTo>
                    <a:pt x="0" y="0"/>
                  </a:lnTo>
                  <a:lnTo>
                    <a:pt x="0" y="72136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xfrm>
            <a:off x="9549879" y="7190783"/>
            <a:ext cx="194309" cy="219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spcBef>
                <a:spcPts val="20"/>
              </a:spcBef>
            </a:pPr>
            <a:fld id="{81D60167-4931-47E6-BA6A-407CBD079E47}" type="slidenum">
              <a:rPr lang="en-US" spc="-35" smtClean="0"/>
              <a:pPr marL="12700">
                <a:spcBef>
                  <a:spcPts val="20"/>
                </a:spcBef>
              </a:pPr>
              <a:t>24</a:t>
            </a:fld>
            <a:endParaRPr spc="-3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612" y="445845"/>
            <a:ext cx="6656294" cy="1087121"/>
          </a:xfrm>
          <a:prstGeom prst="rect">
            <a:avLst/>
          </a:prstGeom>
        </p:spPr>
        <p:txBody>
          <a:bodyPr vert="horz" wrap="square" lIns="0" tIns="242852" rIns="0" bIns="0" rtlCol="0" anchor="b">
            <a:spAutoFit/>
          </a:bodyPr>
          <a:lstStyle/>
          <a:p>
            <a:pPr marL="1312279">
              <a:lnSpc>
                <a:spcPct val="100000"/>
              </a:lnSpc>
              <a:spcBef>
                <a:spcPts val="88"/>
              </a:spcBef>
            </a:pPr>
            <a:r>
              <a:rPr sz="5471" spc="-247" dirty="0"/>
              <a:t>Forwarding</a:t>
            </a:r>
            <a:r>
              <a:rPr sz="5471" spc="26" dirty="0"/>
              <a:t> </a:t>
            </a:r>
            <a:r>
              <a:rPr sz="5471" spc="-463" dirty="0"/>
              <a:t>Paths</a:t>
            </a:r>
            <a:endParaRPr sz="5471"/>
          </a:p>
        </p:txBody>
      </p:sp>
      <p:grpSp>
        <p:nvGrpSpPr>
          <p:cNvPr id="3" name="object 3"/>
          <p:cNvGrpSpPr/>
          <p:nvPr/>
        </p:nvGrpSpPr>
        <p:grpSpPr>
          <a:xfrm>
            <a:off x="2268308" y="2629043"/>
            <a:ext cx="6474758" cy="2589119"/>
            <a:chOff x="2418349" y="2979581"/>
            <a:chExt cx="7338059" cy="2934335"/>
          </a:xfrm>
        </p:grpSpPr>
        <p:sp>
          <p:nvSpPr>
            <p:cNvPr id="4" name="object 4"/>
            <p:cNvSpPr/>
            <p:nvPr/>
          </p:nvSpPr>
          <p:spPr>
            <a:xfrm>
              <a:off x="2427874" y="2989106"/>
              <a:ext cx="0" cy="2825750"/>
            </a:xfrm>
            <a:custGeom>
              <a:avLst/>
              <a:gdLst/>
              <a:ahLst/>
              <a:cxnLst/>
              <a:rect l="l" t="t" r="r" b="b"/>
              <a:pathLst>
                <a:path h="2825750">
                  <a:moveTo>
                    <a:pt x="0" y="614146"/>
                  </a:moveTo>
                  <a:lnTo>
                    <a:pt x="0" y="2825134"/>
                  </a:lnTo>
                </a:path>
                <a:path h="2825750">
                  <a:moveTo>
                    <a:pt x="0" y="0"/>
                  </a:moveTo>
                  <a:lnTo>
                    <a:pt x="0" y="98456"/>
                  </a:lnTo>
                </a:path>
              </a:pathLst>
            </a:custGeom>
            <a:ln w="187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3331156" y="2993794"/>
              <a:ext cx="5485130" cy="2816225"/>
            </a:xfrm>
            <a:custGeom>
              <a:avLst/>
              <a:gdLst/>
              <a:ahLst/>
              <a:cxnLst/>
              <a:rect l="l" t="t" r="r" b="b"/>
              <a:pathLst>
                <a:path w="5485130" h="2816225">
                  <a:moveTo>
                    <a:pt x="0" y="609458"/>
                  </a:moveTo>
                  <a:lnTo>
                    <a:pt x="0" y="768853"/>
                  </a:lnTo>
                </a:path>
                <a:path w="5485130" h="2816225">
                  <a:moveTo>
                    <a:pt x="0" y="0"/>
                  </a:moveTo>
                  <a:lnTo>
                    <a:pt x="0" y="93768"/>
                  </a:lnTo>
                </a:path>
                <a:path w="5485130" h="2816225">
                  <a:moveTo>
                    <a:pt x="0" y="1284543"/>
                  </a:moveTo>
                  <a:lnTo>
                    <a:pt x="0" y="2815757"/>
                  </a:lnTo>
                </a:path>
                <a:path w="5485130" h="2816225">
                  <a:moveTo>
                    <a:pt x="917148" y="2002663"/>
                  </a:moveTo>
                  <a:lnTo>
                    <a:pt x="917148" y="2815757"/>
                  </a:lnTo>
                </a:path>
                <a:path w="5485130" h="2816225">
                  <a:moveTo>
                    <a:pt x="917148" y="0"/>
                  </a:moveTo>
                  <a:lnTo>
                    <a:pt x="917148" y="93768"/>
                  </a:lnTo>
                </a:path>
                <a:path w="5485130" h="2816225">
                  <a:moveTo>
                    <a:pt x="917148" y="1284543"/>
                  </a:moveTo>
                  <a:lnTo>
                    <a:pt x="917148" y="1486973"/>
                  </a:lnTo>
                </a:path>
                <a:path w="5485130" h="2816225">
                  <a:moveTo>
                    <a:pt x="917148" y="609458"/>
                  </a:moveTo>
                  <a:lnTo>
                    <a:pt x="917148" y="768853"/>
                  </a:lnTo>
                </a:path>
                <a:path w="5485130" h="2816225">
                  <a:moveTo>
                    <a:pt x="1834297" y="2720690"/>
                  </a:moveTo>
                  <a:lnTo>
                    <a:pt x="1834297" y="2815757"/>
                  </a:lnTo>
                </a:path>
                <a:path w="5485130" h="2816225">
                  <a:moveTo>
                    <a:pt x="1834297" y="2002663"/>
                  </a:moveTo>
                  <a:lnTo>
                    <a:pt x="1834297" y="2205001"/>
                  </a:lnTo>
                </a:path>
                <a:path w="5485130" h="2816225">
                  <a:moveTo>
                    <a:pt x="1834297" y="0"/>
                  </a:moveTo>
                  <a:lnTo>
                    <a:pt x="1834297" y="93768"/>
                  </a:lnTo>
                </a:path>
                <a:path w="5485130" h="2816225">
                  <a:moveTo>
                    <a:pt x="1834297" y="609458"/>
                  </a:moveTo>
                  <a:lnTo>
                    <a:pt x="1834297" y="768853"/>
                  </a:lnTo>
                </a:path>
                <a:path w="5485130" h="2816225">
                  <a:moveTo>
                    <a:pt x="1834297" y="1284543"/>
                  </a:moveTo>
                  <a:lnTo>
                    <a:pt x="1834297" y="1486973"/>
                  </a:lnTo>
                </a:path>
                <a:path w="5485130" h="2816225">
                  <a:moveTo>
                    <a:pt x="2751446" y="1284543"/>
                  </a:moveTo>
                  <a:lnTo>
                    <a:pt x="2751446" y="1486973"/>
                  </a:lnTo>
                </a:path>
                <a:path w="5485130" h="2816225">
                  <a:moveTo>
                    <a:pt x="2751446" y="0"/>
                  </a:moveTo>
                  <a:lnTo>
                    <a:pt x="2751446" y="93768"/>
                  </a:lnTo>
                </a:path>
                <a:path w="5485130" h="2816225">
                  <a:moveTo>
                    <a:pt x="2751446" y="2720690"/>
                  </a:moveTo>
                  <a:lnTo>
                    <a:pt x="2751446" y="2815757"/>
                  </a:lnTo>
                </a:path>
                <a:path w="5485130" h="2816225">
                  <a:moveTo>
                    <a:pt x="2751446" y="609458"/>
                  </a:moveTo>
                  <a:lnTo>
                    <a:pt x="2751446" y="768853"/>
                  </a:lnTo>
                </a:path>
                <a:path w="5485130" h="2816225">
                  <a:moveTo>
                    <a:pt x="2751446" y="2002663"/>
                  </a:moveTo>
                  <a:lnTo>
                    <a:pt x="2751446" y="2205001"/>
                  </a:lnTo>
                </a:path>
                <a:path w="5485130" h="2816225">
                  <a:moveTo>
                    <a:pt x="3668595" y="2720690"/>
                  </a:moveTo>
                  <a:lnTo>
                    <a:pt x="3668595" y="2815757"/>
                  </a:lnTo>
                </a:path>
                <a:path w="5485130" h="2816225">
                  <a:moveTo>
                    <a:pt x="3668595" y="1284543"/>
                  </a:moveTo>
                  <a:lnTo>
                    <a:pt x="3668595" y="1486973"/>
                  </a:lnTo>
                </a:path>
                <a:path w="5485130" h="2816225">
                  <a:moveTo>
                    <a:pt x="3668595" y="0"/>
                  </a:moveTo>
                  <a:lnTo>
                    <a:pt x="3668595" y="768853"/>
                  </a:lnTo>
                </a:path>
                <a:path w="5485130" h="2816225">
                  <a:moveTo>
                    <a:pt x="3668595" y="2002663"/>
                  </a:moveTo>
                  <a:lnTo>
                    <a:pt x="3668595" y="2205001"/>
                  </a:lnTo>
                </a:path>
                <a:path w="5485130" h="2816225">
                  <a:moveTo>
                    <a:pt x="4576527" y="2002663"/>
                  </a:moveTo>
                  <a:lnTo>
                    <a:pt x="4576527" y="2205001"/>
                  </a:lnTo>
                </a:path>
                <a:path w="5485130" h="2816225">
                  <a:moveTo>
                    <a:pt x="4576527" y="2720690"/>
                  </a:moveTo>
                  <a:lnTo>
                    <a:pt x="4576527" y="2815757"/>
                  </a:lnTo>
                </a:path>
                <a:path w="5485130" h="2816225">
                  <a:moveTo>
                    <a:pt x="4576527" y="0"/>
                  </a:moveTo>
                  <a:lnTo>
                    <a:pt x="4576527" y="1486973"/>
                  </a:lnTo>
                </a:path>
                <a:path w="5485130" h="2816225">
                  <a:moveTo>
                    <a:pt x="5484515" y="0"/>
                  </a:moveTo>
                  <a:lnTo>
                    <a:pt x="5484515" y="2205001"/>
                  </a:lnTo>
                </a:path>
                <a:path w="5485130" h="2816225">
                  <a:moveTo>
                    <a:pt x="5484515" y="2720690"/>
                  </a:moveTo>
                  <a:lnTo>
                    <a:pt x="5484515" y="2815757"/>
                  </a:lnTo>
                </a:path>
              </a:pathLst>
            </a:custGeom>
            <a:ln w="9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4589279" y="3092994"/>
              <a:ext cx="5162550" cy="2816225"/>
            </a:xfrm>
            <a:custGeom>
              <a:avLst/>
              <a:gdLst/>
              <a:ahLst/>
              <a:cxnLst/>
              <a:rect l="l" t="t" r="r" b="b"/>
              <a:pathLst>
                <a:path w="5162550" h="2816225">
                  <a:moveTo>
                    <a:pt x="5161946" y="0"/>
                  </a:moveTo>
                  <a:lnTo>
                    <a:pt x="5161946" y="2815664"/>
                  </a:lnTo>
                </a:path>
                <a:path w="5162550" h="2816225">
                  <a:moveTo>
                    <a:pt x="0" y="37504"/>
                  </a:moveTo>
                  <a:lnTo>
                    <a:pt x="0" y="209398"/>
                  </a:lnTo>
                  <a:lnTo>
                    <a:pt x="122284" y="252378"/>
                  </a:lnTo>
                  <a:lnTo>
                    <a:pt x="0" y="295349"/>
                  </a:lnTo>
                  <a:lnTo>
                    <a:pt x="0" y="467242"/>
                  </a:lnTo>
                  <a:lnTo>
                    <a:pt x="244569" y="381300"/>
                  </a:lnTo>
                  <a:lnTo>
                    <a:pt x="244569" y="123456"/>
                  </a:lnTo>
                  <a:lnTo>
                    <a:pt x="0" y="37504"/>
                  </a:lnTo>
                  <a:close/>
                </a:path>
              </a:pathLst>
            </a:custGeom>
            <a:ln w="9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24852" y="2808228"/>
            <a:ext cx="132790" cy="110366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618" spc="-22" dirty="0">
                <a:latin typeface="Arial MT"/>
                <a:cs typeface="Arial MT"/>
              </a:rPr>
              <a:t>EX</a:t>
            </a:r>
            <a:endParaRPr sz="618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93658" y="2724315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3297794" y="2750343"/>
            <a:ext cx="187699" cy="27033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58274">
              <a:spcBef>
                <a:spcPts val="97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  <a:p>
            <a:pPr marL="123832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4105" y="2786284"/>
            <a:ext cx="1736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22" dirty="0">
                <a:latin typeface="Arial MT"/>
                <a:cs typeface="Arial MT"/>
              </a:rPr>
              <a:t>eco</a:t>
            </a:r>
            <a:endParaRPr sz="838">
              <a:latin typeface="Arial MT"/>
              <a:cs typeface="Arial MT"/>
            </a:endParaRPr>
          </a:p>
          <a:p>
            <a:pPr marL="47628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e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0468" y="2724314"/>
            <a:ext cx="378199" cy="167418"/>
          </a:xfrm>
          <a:prstGeom prst="rect">
            <a:avLst/>
          </a:prstGeom>
          <a:ln w="9376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3791">
              <a:spcBef>
                <a:spcPts val="300"/>
              </a:spcBef>
            </a:pPr>
            <a:r>
              <a:rPr sz="838" spc="-9" dirty="0">
                <a:latin typeface="Arial MT"/>
                <a:cs typeface="Arial MT"/>
              </a:rPr>
              <a:t>Fetch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2156" y="2724314"/>
            <a:ext cx="378199" cy="167418"/>
          </a:xfrm>
          <a:prstGeom prst="rect">
            <a:avLst/>
          </a:prstGeom>
          <a:ln w="9376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68360">
              <a:spcBef>
                <a:spcPts val="300"/>
              </a:spcBef>
            </a:pPr>
            <a:r>
              <a:rPr sz="838" spc="-22" dirty="0">
                <a:latin typeface="Arial MT"/>
                <a:cs typeface="Arial MT"/>
              </a:rPr>
              <a:t>Mem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67456" y="2724315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 txBox="1"/>
          <p:nvPr/>
        </p:nvSpPr>
        <p:spPr>
          <a:xfrm>
            <a:off x="5671593" y="2750343"/>
            <a:ext cx="373716" cy="266465"/>
          </a:xfrm>
          <a:prstGeom prst="rect">
            <a:avLst/>
          </a:prstGeom>
        </p:spPr>
        <p:txBody>
          <a:bodyPr vert="horz" wrap="square" lIns="0" tIns="7284" rIns="0" bIns="0" rtlCol="0">
            <a:spAutoFit/>
          </a:bodyPr>
          <a:lstStyle/>
          <a:p>
            <a:pPr marL="189950" marR="57713" indent="4483">
              <a:lnSpc>
                <a:spcPct val="103600"/>
              </a:lnSpc>
              <a:spcBef>
                <a:spcPts val="57"/>
              </a:spcBef>
            </a:pPr>
            <a:r>
              <a:rPr sz="838" spc="-22" dirty="0">
                <a:latin typeface="Arial MT"/>
                <a:cs typeface="Arial MT"/>
              </a:rPr>
              <a:t>ite ck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31273" y="2786284"/>
            <a:ext cx="1355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31" dirty="0">
                <a:latin typeface="Arial MT"/>
                <a:cs typeface="Arial MT"/>
              </a:rPr>
              <a:t>Wr</a:t>
            </a:r>
            <a:endParaRPr sz="838">
              <a:latin typeface="Arial MT"/>
              <a:cs typeface="Arial MT"/>
            </a:endParaRPr>
          </a:p>
          <a:p>
            <a:pPr marL="10646">
              <a:spcBef>
                <a:spcPts val="35"/>
              </a:spcBef>
            </a:pPr>
            <a:r>
              <a:rPr sz="838" spc="-22" dirty="0">
                <a:latin typeface="Arial MT"/>
                <a:cs typeface="Arial MT"/>
              </a:rPr>
              <a:t>ba</a:t>
            </a:r>
            <a:endParaRPr sz="838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10462" y="2720111"/>
            <a:ext cx="3642472" cy="463924"/>
            <a:chOff x="2352790" y="3082793"/>
            <a:chExt cx="4128135" cy="525780"/>
          </a:xfrm>
        </p:grpSpPr>
        <p:sp>
          <p:nvSpPr>
            <p:cNvPr id="17" name="object 17"/>
            <p:cNvSpPr/>
            <p:nvPr/>
          </p:nvSpPr>
          <p:spPr>
            <a:xfrm>
              <a:off x="3274702" y="3087556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0" y="0"/>
                  </a:moveTo>
                  <a:lnTo>
                    <a:pt x="122286" y="0"/>
                  </a:lnTo>
                  <a:lnTo>
                    <a:pt x="122286" y="515689"/>
                  </a:lnTo>
                  <a:lnTo>
                    <a:pt x="0" y="515689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0014" y="3534143"/>
              <a:ext cx="131663" cy="738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191851" y="3087556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0" y="0"/>
                  </a:moveTo>
                  <a:lnTo>
                    <a:pt x="122286" y="0"/>
                  </a:lnTo>
                  <a:lnTo>
                    <a:pt x="122286" y="515689"/>
                  </a:lnTo>
                  <a:lnTo>
                    <a:pt x="0" y="515689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87163" y="3534143"/>
              <a:ext cx="131663" cy="738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09000" y="3087556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6" y="0"/>
                  </a:lnTo>
                  <a:lnTo>
                    <a:pt x="122286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4312" y="3534143"/>
              <a:ext cx="131663" cy="7383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026149" y="3087556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5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7" y="0"/>
                  </a:lnTo>
                  <a:lnTo>
                    <a:pt x="122285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1461" y="3534143"/>
              <a:ext cx="131663" cy="7383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0133" y="3312612"/>
              <a:ext cx="231442" cy="6563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6989" y="3312584"/>
              <a:ext cx="170296" cy="6563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14138" y="3183633"/>
              <a:ext cx="262014" cy="6563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4138" y="3441478"/>
              <a:ext cx="262014" cy="6563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08414" y="3183671"/>
              <a:ext cx="170309" cy="6563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08414" y="3441544"/>
              <a:ext cx="170309" cy="6563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33849" y="3312612"/>
              <a:ext cx="262023" cy="6563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31287" y="3312584"/>
              <a:ext cx="170297" cy="6563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42713" y="3312612"/>
              <a:ext cx="170308" cy="6563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48436" y="3312584"/>
              <a:ext cx="111576" cy="6563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57553" y="3087556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5" h="516254">
                  <a:moveTo>
                    <a:pt x="0" y="0"/>
                  </a:moveTo>
                  <a:lnTo>
                    <a:pt x="122286" y="0"/>
                  </a:lnTo>
                  <a:lnTo>
                    <a:pt x="122286" y="515689"/>
                  </a:lnTo>
                  <a:lnTo>
                    <a:pt x="0" y="515689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2865" y="3534143"/>
              <a:ext cx="131663" cy="738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79840" y="3312584"/>
              <a:ext cx="111576" cy="6563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797249" y="3082886"/>
              <a:ext cx="2683510" cy="516255"/>
            </a:xfrm>
            <a:custGeom>
              <a:avLst/>
              <a:gdLst/>
              <a:ahLst/>
              <a:cxnLst/>
              <a:rect l="l" t="t" r="r" b="b"/>
              <a:pathLst>
                <a:path w="2683510" h="516254">
                  <a:moveTo>
                    <a:pt x="210604" y="0"/>
                  </a:moveTo>
                  <a:lnTo>
                    <a:pt x="0" y="0"/>
                  </a:lnTo>
                  <a:lnTo>
                    <a:pt x="0" y="515683"/>
                  </a:lnTo>
                  <a:lnTo>
                    <a:pt x="210604" y="515683"/>
                  </a:lnTo>
                  <a:lnTo>
                    <a:pt x="210604" y="0"/>
                  </a:lnTo>
                  <a:close/>
                </a:path>
                <a:path w="2683510" h="516254">
                  <a:moveTo>
                    <a:pt x="2683510" y="0"/>
                  </a:moveTo>
                  <a:lnTo>
                    <a:pt x="2472906" y="0"/>
                  </a:lnTo>
                  <a:lnTo>
                    <a:pt x="2472906" y="515683"/>
                  </a:lnTo>
                  <a:lnTo>
                    <a:pt x="2683510" y="515683"/>
                  </a:lnTo>
                  <a:lnTo>
                    <a:pt x="2683510" y="0"/>
                  </a:lnTo>
                  <a:close/>
                </a:path>
              </a:pathLst>
            </a:custGeom>
            <a:solidFill>
              <a:srgbClr val="000000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73164" y="2845153"/>
            <a:ext cx="1457325" cy="18160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03" dirty="0">
                <a:latin typeface="Courier New"/>
                <a:cs typeface="Courier New"/>
              </a:rPr>
              <a:t>add</a:t>
            </a:r>
            <a:r>
              <a:rPr sz="1103" spc="-22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$s0,</a:t>
            </a:r>
            <a:r>
              <a:rPr sz="1103" spc="-13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$t0,</a:t>
            </a:r>
            <a:r>
              <a:rPr sz="1103" spc="-9" dirty="0">
                <a:latin typeface="Courier New"/>
                <a:cs typeface="Courier New"/>
              </a:rPr>
              <a:t> </a:t>
            </a:r>
            <a:r>
              <a:rPr sz="1103" spc="-22" dirty="0">
                <a:latin typeface="Courier New"/>
                <a:cs typeface="Courier New"/>
              </a:rPr>
              <a:t>$t1</a:t>
            </a:r>
            <a:endParaRPr sz="1103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986324" y="3357868"/>
            <a:ext cx="216274" cy="379319"/>
          </a:xfrm>
          <a:custGeom>
            <a:avLst/>
            <a:gdLst/>
            <a:ahLst/>
            <a:cxnLst/>
            <a:rect l="l" t="t" r="r" b="b"/>
            <a:pathLst>
              <a:path w="245110" h="429895">
                <a:moveTo>
                  <a:pt x="0" y="0"/>
                </a:moveTo>
                <a:lnTo>
                  <a:pt x="0" y="171893"/>
                </a:lnTo>
                <a:lnTo>
                  <a:pt x="122284" y="214873"/>
                </a:lnTo>
                <a:lnTo>
                  <a:pt x="0" y="257844"/>
                </a:lnTo>
                <a:lnTo>
                  <a:pt x="0" y="429738"/>
                </a:lnTo>
                <a:lnTo>
                  <a:pt x="244569" y="343796"/>
                </a:lnTo>
                <a:lnTo>
                  <a:pt x="244569" y="85951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1" name="object 41"/>
          <p:cNvSpPr txBox="1"/>
          <p:nvPr/>
        </p:nvSpPr>
        <p:spPr>
          <a:xfrm>
            <a:off x="5027342" y="3403891"/>
            <a:ext cx="132790" cy="110366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618" spc="-22" dirty="0">
                <a:latin typeface="Arial MT"/>
                <a:cs typeface="Arial MT"/>
              </a:rPr>
              <a:t>EX</a:t>
            </a:r>
            <a:endParaRPr sz="618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096147" y="3319977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3" name="object 43"/>
          <p:cNvSpPr txBox="1"/>
          <p:nvPr/>
        </p:nvSpPr>
        <p:spPr>
          <a:xfrm>
            <a:off x="4100284" y="3346007"/>
            <a:ext cx="187699" cy="27033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58274">
              <a:spcBef>
                <a:spcPts val="97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  <a:p>
            <a:pPr marL="123832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36594" y="3381947"/>
            <a:ext cx="1736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22" dirty="0">
                <a:latin typeface="Arial MT"/>
                <a:cs typeface="Arial MT"/>
              </a:rPr>
              <a:t>eco</a:t>
            </a:r>
            <a:endParaRPr sz="838">
              <a:latin typeface="Arial MT"/>
              <a:cs typeface="Arial MT"/>
            </a:endParaRPr>
          </a:p>
          <a:p>
            <a:pPr marL="47628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e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32958" y="3319977"/>
            <a:ext cx="378199" cy="167418"/>
          </a:xfrm>
          <a:prstGeom prst="rect">
            <a:avLst/>
          </a:prstGeom>
          <a:ln w="9376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3791">
              <a:spcBef>
                <a:spcPts val="300"/>
              </a:spcBef>
            </a:pPr>
            <a:r>
              <a:rPr sz="838" spc="-9" dirty="0">
                <a:latin typeface="Arial MT"/>
                <a:cs typeface="Arial MT"/>
              </a:rPr>
              <a:t>Fetch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4646" y="3319977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7" name="object 47"/>
          <p:cNvSpPr txBox="1"/>
          <p:nvPr/>
        </p:nvSpPr>
        <p:spPr>
          <a:xfrm>
            <a:off x="5772273" y="3346007"/>
            <a:ext cx="261657" cy="141392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838" spc="-22" dirty="0">
                <a:latin typeface="Arial MT"/>
                <a:cs typeface="Arial MT"/>
              </a:rPr>
              <a:t>Mem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469946" y="3319977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9" name="object 49"/>
          <p:cNvSpPr txBox="1"/>
          <p:nvPr/>
        </p:nvSpPr>
        <p:spPr>
          <a:xfrm>
            <a:off x="6474083" y="3346007"/>
            <a:ext cx="373716" cy="266465"/>
          </a:xfrm>
          <a:prstGeom prst="rect">
            <a:avLst/>
          </a:prstGeom>
        </p:spPr>
        <p:txBody>
          <a:bodyPr vert="horz" wrap="square" lIns="0" tIns="7284" rIns="0" bIns="0" rtlCol="0">
            <a:spAutoFit/>
          </a:bodyPr>
          <a:lstStyle/>
          <a:p>
            <a:pPr marL="189950" marR="57713" indent="4483">
              <a:lnSpc>
                <a:spcPct val="103600"/>
              </a:lnSpc>
              <a:spcBef>
                <a:spcPts val="57"/>
              </a:spcBef>
            </a:pPr>
            <a:r>
              <a:rPr sz="838" spc="-22" dirty="0">
                <a:latin typeface="Arial MT"/>
                <a:cs typeface="Arial MT"/>
              </a:rPr>
              <a:t>ite ck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533764" y="3381947"/>
            <a:ext cx="1355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31" dirty="0">
                <a:latin typeface="Arial MT"/>
                <a:cs typeface="Arial MT"/>
              </a:rPr>
              <a:t>Wr</a:t>
            </a:r>
            <a:endParaRPr sz="838">
              <a:latin typeface="Arial MT"/>
              <a:cs typeface="Arial MT"/>
            </a:endParaRPr>
          </a:p>
          <a:p>
            <a:pPr marL="10646">
              <a:spcBef>
                <a:spcPts val="35"/>
              </a:spcBef>
            </a:pPr>
            <a:r>
              <a:rPr sz="838" spc="-22" dirty="0">
                <a:latin typeface="Arial MT"/>
                <a:cs typeface="Arial MT"/>
              </a:rPr>
              <a:t>ba</a:t>
            </a:r>
            <a:endParaRPr sz="838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012953" y="3315774"/>
            <a:ext cx="3642472" cy="463924"/>
            <a:chOff x="3262279" y="3757878"/>
            <a:chExt cx="4128135" cy="525780"/>
          </a:xfrm>
        </p:grpSpPr>
        <p:sp>
          <p:nvSpPr>
            <p:cNvPr id="52" name="object 52"/>
            <p:cNvSpPr/>
            <p:nvPr/>
          </p:nvSpPr>
          <p:spPr>
            <a:xfrm>
              <a:off x="4184191" y="3762640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0" y="0"/>
                  </a:moveTo>
                  <a:lnTo>
                    <a:pt x="122286" y="0"/>
                  </a:lnTo>
                  <a:lnTo>
                    <a:pt x="122286" y="515689"/>
                  </a:lnTo>
                  <a:lnTo>
                    <a:pt x="0" y="515689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79502" y="4209227"/>
              <a:ext cx="131663" cy="7383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101339" y="3762640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6" y="0"/>
                  </a:lnTo>
                  <a:lnTo>
                    <a:pt x="122286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96651" y="4209227"/>
              <a:ext cx="131663" cy="7383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018488" y="3762640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6" y="0"/>
                  </a:lnTo>
                  <a:lnTo>
                    <a:pt x="122286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13800" y="4209227"/>
              <a:ext cx="131663" cy="7383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935637" y="3762640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5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7" y="0"/>
                  </a:lnTo>
                  <a:lnTo>
                    <a:pt x="122285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30949" y="4209227"/>
              <a:ext cx="131663" cy="7383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39621" y="3987697"/>
              <a:ext cx="231443" cy="6563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06477" y="3987668"/>
              <a:ext cx="170296" cy="6563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3626" y="3858718"/>
              <a:ext cx="262014" cy="6563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23626" y="4116563"/>
              <a:ext cx="262014" cy="6563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17903" y="3858756"/>
              <a:ext cx="170309" cy="6563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17903" y="4116628"/>
              <a:ext cx="170309" cy="6563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43338" y="3987697"/>
              <a:ext cx="262023" cy="6563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40776" y="3987668"/>
              <a:ext cx="170296" cy="6563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52202" y="3987687"/>
              <a:ext cx="170308" cy="6563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57925" y="3987668"/>
              <a:ext cx="111576" cy="65633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267042" y="3762640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0" y="0"/>
                  </a:moveTo>
                  <a:lnTo>
                    <a:pt x="122286" y="0"/>
                  </a:lnTo>
                  <a:lnTo>
                    <a:pt x="122286" y="515689"/>
                  </a:lnTo>
                  <a:lnTo>
                    <a:pt x="0" y="515689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62353" y="4209227"/>
              <a:ext cx="131663" cy="7383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89328" y="3987668"/>
              <a:ext cx="111576" cy="65633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706734" y="3757968"/>
              <a:ext cx="2683510" cy="516255"/>
            </a:xfrm>
            <a:custGeom>
              <a:avLst/>
              <a:gdLst/>
              <a:ahLst/>
              <a:cxnLst/>
              <a:rect l="l" t="t" r="r" b="b"/>
              <a:pathLst>
                <a:path w="2683509" h="516254">
                  <a:moveTo>
                    <a:pt x="210604" y="0"/>
                  </a:moveTo>
                  <a:lnTo>
                    <a:pt x="0" y="0"/>
                  </a:lnTo>
                  <a:lnTo>
                    <a:pt x="0" y="515683"/>
                  </a:lnTo>
                  <a:lnTo>
                    <a:pt x="210604" y="515683"/>
                  </a:lnTo>
                  <a:lnTo>
                    <a:pt x="210604" y="0"/>
                  </a:lnTo>
                  <a:close/>
                </a:path>
                <a:path w="2683509" h="516254">
                  <a:moveTo>
                    <a:pt x="2683510" y="0"/>
                  </a:moveTo>
                  <a:lnTo>
                    <a:pt x="2472906" y="0"/>
                  </a:lnTo>
                  <a:lnTo>
                    <a:pt x="2472906" y="515683"/>
                  </a:lnTo>
                  <a:lnTo>
                    <a:pt x="2683510" y="515683"/>
                  </a:lnTo>
                  <a:lnTo>
                    <a:pt x="2683510" y="0"/>
                  </a:lnTo>
                  <a:close/>
                </a:path>
              </a:pathLst>
            </a:custGeom>
            <a:solidFill>
              <a:srgbClr val="000000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73164" y="3416659"/>
            <a:ext cx="1457325" cy="18160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03" dirty="0">
                <a:latin typeface="Courier New"/>
                <a:cs typeface="Courier New"/>
              </a:rPr>
              <a:t>sub</a:t>
            </a:r>
            <a:r>
              <a:rPr sz="1103" spc="-22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$t2,</a:t>
            </a:r>
            <a:r>
              <a:rPr sz="1103" spc="-13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$s0,</a:t>
            </a:r>
            <a:r>
              <a:rPr sz="1103" spc="-9" dirty="0">
                <a:latin typeface="Courier New"/>
                <a:cs typeface="Courier New"/>
              </a:rPr>
              <a:t> </a:t>
            </a:r>
            <a:r>
              <a:rPr sz="1103" spc="-22" dirty="0">
                <a:latin typeface="Courier New"/>
                <a:cs typeface="Courier New"/>
              </a:rPr>
              <a:t>$t3</a:t>
            </a:r>
            <a:endParaRPr sz="1103">
              <a:latin typeface="Courier New"/>
              <a:cs typeface="Courier New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268375" y="2513350"/>
            <a:ext cx="5634878" cy="58271"/>
            <a:chOff x="2418424" y="2848463"/>
            <a:chExt cx="6386195" cy="66040"/>
          </a:xfrm>
        </p:grpSpPr>
        <p:sp>
          <p:nvSpPr>
            <p:cNvPr id="76" name="object 76"/>
            <p:cNvSpPr/>
            <p:nvPr/>
          </p:nvSpPr>
          <p:spPr>
            <a:xfrm>
              <a:off x="2423186" y="2881280"/>
              <a:ext cx="6301740" cy="0"/>
            </a:xfrm>
            <a:custGeom>
              <a:avLst/>
              <a:gdLst/>
              <a:ahLst/>
              <a:cxnLst/>
              <a:rect l="l" t="t" r="r" b="b"/>
              <a:pathLst>
                <a:path w="6301740">
                  <a:moveTo>
                    <a:pt x="0" y="0"/>
                  </a:moveTo>
                  <a:lnTo>
                    <a:pt x="6301724" y="0"/>
                  </a:lnTo>
                </a:path>
              </a:pathLst>
            </a:custGeom>
            <a:ln w="9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7" name="object 7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720223" y="2848463"/>
              <a:ext cx="84385" cy="65633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4734470" y="2245684"/>
            <a:ext cx="717737" cy="291421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>
              <a:spcBef>
                <a:spcPts val="101"/>
              </a:spcBef>
            </a:pPr>
            <a:r>
              <a:rPr sz="1809" spc="-9" dirty="0">
                <a:latin typeface="Arial MT"/>
                <a:cs typeface="Arial MT"/>
              </a:rPr>
              <a:t>Cycles</a:t>
            </a:r>
            <a:endParaRPr sz="1809">
              <a:latin typeface="Arial MT"/>
              <a:cs typeface="Arial MT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802332" y="3991504"/>
            <a:ext cx="216274" cy="379319"/>
          </a:xfrm>
          <a:custGeom>
            <a:avLst/>
            <a:gdLst/>
            <a:ahLst/>
            <a:cxnLst/>
            <a:rect l="l" t="t" r="r" b="b"/>
            <a:pathLst>
              <a:path w="245109" h="429895">
                <a:moveTo>
                  <a:pt x="0" y="0"/>
                </a:moveTo>
                <a:lnTo>
                  <a:pt x="0" y="171893"/>
                </a:lnTo>
                <a:lnTo>
                  <a:pt x="122286" y="214873"/>
                </a:lnTo>
                <a:lnTo>
                  <a:pt x="0" y="257844"/>
                </a:lnTo>
                <a:lnTo>
                  <a:pt x="0" y="429747"/>
                </a:lnTo>
                <a:lnTo>
                  <a:pt x="244570" y="343796"/>
                </a:lnTo>
                <a:lnTo>
                  <a:pt x="244570" y="85951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0" name="object 80"/>
          <p:cNvSpPr txBox="1"/>
          <p:nvPr/>
        </p:nvSpPr>
        <p:spPr>
          <a:xfrm>
            <a:off x="5843351" y="4037528"/>
            <a:ext cx="132790" cy="110366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618" spc="-22" dirty="0">
                <a:latin typeface="Arial MT"/>
                <a:cs typeface="Arial MT"/>
              </a:rPr>
              <a:t>EX</a:t>
            </a:r>
            <a:endParaRPr sz="618">
              <a:latin typeface="Arial MT"/>
              <a:cs typeface="Arial MT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912156" y="3953613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2" name="object 82"/>
          <p:cNvSpPr txBox="1"/>
          <p:nvPr/>
        </p:nvSpPr>
        <p:spPr>
          <a:xfrm>
            <a:off x="4916293" y="3979642"/>
            <a:ext cx="187699" cy="27033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58274">
              <a:spcBef>
                <a:spcPts val="97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  <a:p>
            <a:pPr marL="123832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52604" y="4015582"/>
            <a:ext cx="1736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22" dirty="0">
                <a:latin typeface="Arial MT"/>
                <a:cs typeface="Arial MT"/>
              </a:rPr>
              <a:t>eco</a:t>
            </a:r>
            <a:endParaRPr sz="838">
              <a:latin typeface="Arial MT"/>
              <a:cs typeface="Arial MT"/>
            </a:endParaRPr>
          </a:p>
          <a:p>
            <a:pPr marL="47628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e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048966" y="3953613"/>
            <a:ext cx="378199" cy="167418"/>
          </a:xfrm>
          <a:prstGeom prst="rect">
            <a:avLst/>
          </a:prstGeom>
          <a:ln w="9376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3791">
              <a:spcBef>
                <a:spcPts val="300"/>
              </a:spcBef>
            </a:pPr>
            <a:r>
              <a:rPr sz="838" spc="-9" dirty="0">
                <a:latin typeface="Arial MT"/>
                <a:cs typeface="Arial MT"/>
              </a:rPr>
              <a:t>Fetch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530653" y="3953613"/>
            <a:ext cx="378199" cy="167418"/>
          </a:xfrm>
          <a:prstGeom prst="rect">
            <a:avLst/>
          </a:prstGeom>
          <a:ln w="9376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68360">
              <a:spcBef>
                <a:spcPts val="300"/>
              </a:spcBef>
            </a:pPr>
            <a:r>
              <a:rPr sz="838" spc="-22" dirty="0">
                <a:latin typeface="Arial MT"/>
                <a:cs typeface="Arial MT"/>
              </a:rPr>
              <a:t>Mem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7285954" y="3953613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7" name="object 87"/>
          <p:cNvSpPr txBox="1"/>
          <p:nvPr/>
        </p:nvSpPr>
        <p:spPr>
          <a:xfrm>
            <a:off x="7471287" y="3979642"/>
            <a:ext cx="188259" cy="266465"/>
          </a:xfrm>
          <a:prstGeom prst="rect">
            <a:avLst/>
          </a:prstGeom>
        </p:spPr>
        <p:txBody>
          <a:bodyPr vert="horz" wrap="square" lIns="0" tIns="7284" rIns="0" bIns="0" rtlCol="0">
            <a:spAutoFit/>
          </a:bodyPr>
          <a:lstStyle/>
          <a:p>
            <a:pPr marL="8965" marR="53791" indent="4483">
              <a:lnSpc>
                <a:spcPct val="103600"/>
              </a:lnSpc>
              <a:spcBef>
                <a:spcPts val="57"/>
              </a:spcBef>
            </a:pPr>
            <a:r>
              <a:rPr sz="838" spc="-22" dirty="0">
                <a:latin typeface="Arial MT"/>
                <a:cs typeface="Arial MT"/>
              </a:rPr>
              <a:t>ite ck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349772" y="4015582"/>
            <a:ext cx="1355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31" dirty="0">
                <a:latin typeface="Arial MT"/>
                <a:cs typeface="Arial MT"/>
              </a:rPr>
              <a:t>Wr</a:t>
            </a:r>
            <a:endParaRPr sz="838">
              <a:latin typeface="Arial MT"/>
              <a:cs typeface="Arial MT"/>
            </a:endParaRPr>
          </a:p>
          <a:p>
            <a:pPr marL="10646">
              <a:spcBef>
                <a:spcPts val="35"/>
              </a:spcBef>
            </a:pPr>
            <a:r>
              <a:rPr sz="838" spc="-22" dirty="0">
                <a:latin typeface="Arial MT"/>
                <a:cs typeface="Arial MT"/>
              </a:rPr>
              <a:t>ba</a:t>
            </a:r>
            <a:endParaRPr sz="838">
              <a:latin typeface="Arial MT"/>
              <a:cs typeface="Arial MT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828960" y="3949411"/>
            <a:ext cx="3642472" cy="1059516"/>
            <a:chOff x="4187088" y="4475999"/>
            <a:chExt cx="4128135" cy="1200785"/>
          </a:xfrm>
        </p:grpSpPr>
        <p:sp>
          <p:nvSpPr>
            <p:cNvPr id="90" name="object 90"/>
            <p:cNvSpPr/>
            <p:nvPr/>
          </p:nvSpPr>
          <p:spPr>
            <a:xfrm>
              <a:off x="5109000" y="4480761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6" y="0"/>
                  </a:lnTo>
                  <a:lnTo>
                    <a:pt x="122286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1" name="object 9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04311" y="4927348"/>
              <a:ext cx="131663" cy="73837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026149" y="4480761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5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7" y="0"/>
                  </a:lnTo>
                  <a:lnTo>
                    <a:pt x="122285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3" name="object 9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21460" y="4927348"/>
              <a:ext cx="131663" cy="73837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6943297" y="4480761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7" y="0"/>
                  </a:lnTo>
                  <a:lnTo>
                    <a:pt x="122286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5" name="object 9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38609" y="4927348"/>
              <a:ext cx="131663" cy="73837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7860446" y="4480761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6" y="0"/>
                  </a:lnTo>
                  <a:lnTo>
                    <a:pt x="122286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7" name="object 9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55758" y="4927348"/>
              <a:ext cx="131663" cy="7383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69119" y="4705808"/>
              <a:ext cx="226754" cy="65633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31286" y="4705789"/>
              <a:ext cx="170297" cy="65633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8434" y="4576839"/>
              <a:ext cx="262016" cy="65633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48434" y="4834684"/>
              <a:ext cx="262016" cy="656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42713" y="4576876"/>
              <a:ext cx="170308" cy="65633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842713" y="4834749"/>
              <a:ext cx="170308" cy="65633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68147" y="4705808"/>
              <a:ext cx="262023" cy="65633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65585" y="4705789"/>
              <a:ext cx="170294" cy="65633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77010" y="4705808"/>
              <a:ext cx="170309" cy="65633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982733" y="4705789"/>
              <a:ext cx="111576" cy="65633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4191851" y="4480761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0" y="0"/>
                  </a:moveTo>
                  <a:lnTo>
                    <a:pt x="122286" y="0"/>
                  </a:lnTo>
                  <a:lnTo>
                    <a:pt x="122286" y="515689"/>
                  </a:lnTo>
                  <a:lnTo>
                    <a:pt x="0" y="515689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9" name="object 10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87163" y="4927348"/>
              <a:ext cx="131663" cy="7383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14137" y="4705789"/>
              <a:ext cx="111576" cy="65633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5631548" y="4476089"/>
              <a:ext cx="2683510" cy="516255"/>
            </a:xfrm>
            <a:custGeom>
              <a:avLst/>
              <a:gdLst/>
              <a:ahLst/>
              <a:cxnLst/>
              <a:rect l="l" t="t" r="r" b="b"/>
              <a:pathLst>
                <a:path w="2683509" h="516254">
                  <a:moveTo>
                    <a:pt x="210604" y="0"/>
                  </a:moveTo>
                  <a:lnTo>
                    <a:pt x="0" y="0"/>
                  </a:lnTo>
                  <a:lnTo>
                    <a:pt x="0" y="515683"/>
                  </a:lnTo>
                  <a:lnTo>
                    <a:pt x="210604" y="515683"/>
                  </a:lnTo>
                  <a:lnTo>
                    <a:pt x="210604" y="0"/>
                  </a:lnTo>
                  <a:close/>
                </a:path>
                <a:path w="2683509" h="516254">
                  <a:moveTo>
                    <a:pt x="2683510" y="0"/>
                  </a:moveTo>
                  <a:lnTo>
                    <a:pt x="2472906" y="0"/>
                  </a:lnTo>
                  <a:lnTo>
                    <a:pt x="2472906" y="515683"/>
                  </a:lnTo>
                  <a:lnTo>
                    <a:pt x="2683510" y="515683"/>
                  </a:lnTo>
                  <a:lnTo>
                    <a:pt x="2683510" y="0"/>
                  </a:lnTo>
                  <a:close/>
                </a:path>
              </a:pathLst>
            </a:custGeom>
            <a:solidFill>
              <a:srgbClr val="000000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319422" y="5241731"/>
              <a:ext cx="245110" cy="429895"/>
            </a:xfrm>
            <a:custGeom>
              <a:avLst/>
              <a:gdLst/>
              <a:ahLst/>
              <a:cxnLst/>
              <a:rect l="l" t="t" r="r" b="b"/>
              <a:pathLst>
                <a:path w="245109" h="429895">
                  <a:moveTo>
                    <a:pt x="0" y="0"/>
                  </a:moveTo>
                  <a:lnTo>
                    <a:pt x="0" y="171893"/>
                  </a:lnTo>
                  <a:lnTo>
                    <a:pt x="122284" y="214873"/>
                  </a:lnTo>
                  <a:lnTo>
                    <a:pt x="0" y="257844"/>
                  </a:lnTo>
                  <a:lnTo>
                    <a:pt x="0" y="429738"/>
                  </a:lnTo>
                  <a:lnTo>
                    <a:pt x="244570" y="343796"/>
                  </a:lnTo>
                  <a:lnTo>
                    <a:pt x="244570" y="85951"/>
                  </a:lnTo>
                  <a:lnTo>
                    <a:pt x="0" y="0"/>
                  </a:lnTo>
                  <a:close/>
                </a:path>
              </a:pathLst>
            </a:custGeom>
            <a:ln w="9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6633803" y="4671081"/>
            <a:ext cx="132790" cy="110366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618" spc="-22" dirty="0">
                <a:latin typeface="Arial MT"/>
                <a:cs typeface="Arial MT"/>
              </a:rPr>
              <a:t>EX</a:t>
            </a:r>
            <a:endParaRPr sz="618">
              <a:latin typeface="Arial MT"/>
              <a:cs typeface="Arial MT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5702608" y="4587166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5" name="object 115"/>
          <p:cNvSpPr txBox="1"/>
          <p:nvPr/>
        </p:nvSpPr>
        <p:spPr>
          <a:xfrm>
            <a:off x="5706745" y="4613195"/>
            <a:ext cx="187699" cy="270337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58274">
              <a:spcBef>
                <a:spcPts val="97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  <a:p>
            <a:pPr marL="123832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d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843055" y="4649136"/>
            <a:ext cx="1736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22" dirty="0">
                <a:latin typeface="Arial MT"/>
                <a:cs typeface="Arial MT"/>
              </a:rPr>
              <a:t>eco</a:t>
            </a:r>
            <a:endParaRPr sz="838">
              <a:latin typeface="Arial MT"/>
              <a:cs typeface="Arial MT"/>
            </a:endParaRPr>
          </a:p>
          <a:p>
            <a:pPr marL="47628">
              <a:spcBef>
                <a:spcPts val="35"/>
              </a:spcBef>
            </a:pPr>
            <a:r>
              <a:rPr sz="838" spc="-44" dirty="0">
                <a:latin typeface="Arial MT"/>
                <a:cs typeface="Arial MT"/>
              </a:rPr>
              <a:t>e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4839418" y="4587166"/>
            <a:ext cx="378199" cy="167418"/>
          </a:xfrm>
          <a:prstGeom prst="rect">
            <a:avLst/>
          </a:prstGeom>
          <a:ln w="9376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3791">
              <a:spcBef>
                <a:spcPts val="300"/>
              </a:spcBef>
            </a:pPr>
            <a:r>
              <a:rPr sz="838" spc="-9" dirty="0">
                <a:latin typeface="Arial MT"/>
                <a:cs typeface="Arial MT"/>
              </a:rPr>
              <a:t>Fetch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321107" y="4587166"/>
            <a:ext cx="378199" cy="167418"/>
          </a:xfrm>
          <a:prstGeom prst="rect">
            <a:avLst/>
          </a:prstGeom>
          <a:ln w="9376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68360">
              <a:spcBef>
                <a:spcPts val="300"/>
              </a:spcBef>
            </a:pPr>
            <a:r>
              <a:rPr sz="838" spc="-22" dirty="0">
                <a:latin typeface="Arial MT"/>
                <a:cs typeface="Arial MT"/>
              </a:rPr>
              <a:t>Mem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8076408" y="4587166"/>
            <a:ext cx="378199" cy="455519"/>
          </a:xfrm>
          <a:custGeom>
            <a:avLst/>
            <a:gdLst/>
            <a:ahLst/>
            <a:cxnLst/>
            <a:rect l="l" t="t" r="r" b="b"/>
            <a:pathLst>
              <a:path w="428625" h="516254">
                <a:moveTo>
                  <a:pt x="0" y="0"/>
                </a:moveTo>
                <a:lnTo>
                  <a:pt x="428002" y="0"/>
                </a:lnTo>
                <a:lnTo>
                  <a:pt x="428002" y="515689"/>
                </a:lnTo>
                <a:lnTo>
                  <a:pt x="0" y="515689"/>
                </a:lnTo>
                <a:lnTo>
                  <a:pt x="0" y="0"/>
                </a:lnTo>
                <a:close/>
              </a:path>
            </a:pathLst>
          </a:custGeom>
          <a:ln w="9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0" name="object 120"/>
          <p:cNvSpPr txBox="1"/>
          <p:nvPr/>
        </p:nvSpPr>
        <p:spPr>
          <a:xfrm>
            <a:off x="8261740" y="4613195"/>
            <a:ext cx="188259" cy="266465"/>
          </a:xfrm>
          <a:prstGeom prst="rect">
            <a:avLst/>
          </a:prstGeom>
        </p:spPr>
        <p:txBody>
          <a:bodyPr vert="horz" wrap="square" lIns="0" tIns="7284" rIns="0" bIns="0" rtlCol="0">
            <a:spAutoFit/>
          </a:bodyPr>
          <a:lstStyle/>
          <a:p>
            <a:pPr marL="8965" marR="53791" indent="4483">
              <a:lnSpc>
                <a:spcPct val="103600"/>
              </a:lnSpc>
              <a:spcBef>
                <a:spcPts val="57"/>
              </a:spcBef>
            </a:pPr>
            <a:r>
              <a:rPr sz="838" spc="-22" dirty="0">
                <a:latin typeface="Arial MT"/>
                <a:cs typeface="Arial MT"/>
              </a:rPr>
              <a:t>ite ck</a:t>
            </a:r>
            <a:endParaRPr sz="838">
              <a:latin typeface="Arial MT"/>
              <a:cs typeface="Arial MT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8140225" y="4649136"/>
            <a:ext cx="135591" cy="231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1"/>
              </a:lnSpc>
            </a:pPr>
            <a:r>
              <a:rPr sz="838" spc="-31" dirty="0">
                <a:latin typeface="Arial MT"/>
                <a:cs typeface="Arial MT"/>
              </a:rPr>
              <a:t>Wr</a:t>
            </a:r>
            <a:endParaRPr sz="838">
              <a:latin typeface="Arial MT"/>
              <a:cs typeface="Arial MT"/>
            </a:endParaRPr>
          </a:p>
          <a:p>
            <a:pPr marL="10646">
              <a:spcBef>
                <a:spcPts val="35"/>
              </a:spcBef>
            </a:pPr>
            <a:r>
              <a:rPr sz="838" spc="-22" dirty="0">
                <a:latin typeface="Arial MT"/>
                <a:cs typeface="Arial MT"/>
              </a:rPr>
              <a:t>ba</a:t>
            </a:r>
            <a:endParaRPr sz="838">
              <a:latin typeface="Arial MT"/>
              <a:cs typeface="Arial MT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4619414" y="4582964"/>
            <a:ext cx="3642472" cy="463924"/>
            <a:chOff x="5082935" y="5194026"/>
            <a:chExt cx="4128135" cy="525780"/>
          </a:xfrm>
        </p:grpSpPr>
        <p:sp>
          <p:nvSpPr>
            <p:cNvPr id="123" name="object 123"/>
            <p:cNvSpPr/>
            <p:nvPr/>
          </p:nvSpPr>
          <p:spPr>
            <a:xfrm>
              <a:off x="6004846" y="5198788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7" y="0"/>
                  </a:lnTo>
                  <a:lnTo>
                    <a:pt x="122286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4" name="object 1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0158" y="5645375"/>
              <a:ext cx="131663" cy="73837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6921995" y="5198788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5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5" y="0"/>
                  </a:lnTo>
                  <a:lnTo>
                    <a:pt x="122285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6" name="object 1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17307" y="5645375"/>
              <a:ext cx="131662" cy="73837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7839143" y="5198788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7" y="515689"/>
                  </a:moveTo>
                  <a:lnTo>
                    <a:pt x="0" y="515689"/>
                  </a:lnTo>
                  <a:lnTo>
                    <a:pt x="1" y="0"/>
                  </a:lnTo>
                  <a:lnTo>
                    <a:pt x="122288" y="0"/>
                  </a:lnTo>
                  <a:lnTo>
                    <a:pt x="122287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8" name="object 1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4455" y="5645375"/>
              <a:ext cx="131664" cy="73837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8756293" y="5198788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6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6" y="0"/>
                  </a:lnTo>
                  <a:lnTo>
                    <a:pt x="122286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0" name="object 1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51605" y="5645375"/>
              <a:ext cx="131663" cy="73837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764965" y="5423835"/>
              <a:ext cx="226755" cy="65633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27134" y="5423816"/>
              <a:ext cx="170295" cy="65633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4281" y="5294866"/>
              <a:ext cx="262014" cy="65633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44281" y="5552711"/>
              <a:ext cx="262014" cy="65633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38560" y="5294904"/>
              <a:ext cx="170308" cy="65633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738560" y="5552776"/>
              <a:ext cx="170308" cy="65633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63994" y="5423835"/>
              <a:ext cx="262023" cy="65633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961431" y="5423816"/>
              <a:ext cx="170295" cy="65633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572856" y="5423835"/>
              <a:ext cx="170310" cy="65633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878580" y="5423816"/>
              <a:ext cx="111575" cy="65633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5087697" y="5198788"/>
              <a:ext cx="122555" cy="516255"/>
            </a:xfrm>
            <a:custGeom>
              <a:avLst/>
              <a:gdLst/>
              <a:ahLst/>
              <a:cxnLst/>
              <a:rect l="l" t="t" r="r" b="b"/>
              <a:pathLst>
                <a:path w="122554" h="516254">
                  <a:moveTo>
                    <a:pt x="122285" y="515689"/>
                  </a:moveTo>
                  <a:lnTo>
                    <a:pt x="0" y="515689"/>
                  </a:lnTo>
                  <a:lnTo>
                    <a:pt x="0" y="0"/>
                  </a:lnTo>
                  <a:lnTo>
                    <a:pt x="122287" y="0"/>
                  </a:lnTo>
                  <a:lnTo>
                    <a:pt x="122285" y="515689"/>
                  </a:lnTo>
                  <a:close/>
                </a:path>
              </a:pathLst>
            </a:custGeom>
            <a:ln w="9376">
              <a:solidFill>
                <a:srgbClr val="FF28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2" name="object 1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3009" y="5645375"/>
              <a:ext cx="131663" cy="73837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09985" y="5423816"/>
              <a:ext cx="111576" cy="65633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6527394" y="5194109"/>
              <a:ext cx="2683510" cy="516255"/>
            </a:xfrm>
            <a:custGeom>
              <a:avLst/>
              <a:gdLst/>
              <a:ahLst/>
              <a:cxnLst/>
              <a:rect l="l" t="t" r="r" b="b"/>
              <a:pathLst>
                <a:path w="2683509" h="516254">
                  <a:moveTo>
                    <a:pt x="210604" y="0"/>
                  </a:moveTo>
                  <a:lnTo>
                    <a:pt x="0" y="0"/>
                  </a:lnTo>
                  <a:lnTo>
                    <a:pt x="0" y="515696"/>
                  </a:lnTo>
                  <a:lnTo>
                    <a:pt x="210604" y="515696"/>
                  </a:lnTo>
                  <a:lnTo>
                    <a:pt x="210604" y="0"/>
                  </a:lnTo>
                  <a:close/>
                </a:path>
                <a:path w="2683509" h="516254">
                  <a:moveTo>
                    <a:pt x="2683510" y="0"/>
                  </a:moveTo>
                  <a:lnTo>
                    <a:pt x="2472906" y="0"/>
                  </a:lnTo>
                  <a:lnTo>
                    <a:pt x="2472906" y="515696"/>
                  </a:lnTo>
                  <a:lnTo>
                    <a:pt x="2683510" y="515696"/>
                  </a:lnTo>
                  <a:lnTo>
                    <a:pt x="2683510" y="0"/>
                  </a:lnTo>
                  <a:close/>
                </a:path>
              </a:pathLst>
            </a:custGeom>
            <a:solidFill>
              <a:srgbClr val="000000">
                <a:alpha val="579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573164" y="4062372"/>
            <a:ext cx="1457325" cy="18160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03" dirty="0">
                <a:latin typeface="Courier New"/>
                <a:cs typeface="Courier New"/>
              </a:rPr>
              <a:t>sub</a:t>
            </a:r>
            <a:r>
              <a:rPr sz="1103" spc="-22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$t2,</a:t>
            </a:r>
            <a:r>
              <a:rPr sz="1103" spc="-13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$s0,</a:t>
            </a:r>
            <a:r>
              <a:rPr sz="1103" spc="-9" dirty="0">
                <a:latin typeface="Courier New"/>
                <a:cs typeface="Courier New"/>
              </a:rPr>
              <a:t> </a:t>
            </a:r>
            <a:r>
              <a:rPr sz="1103" spc="-22" dirty="0">
                <a:latin typeface="Courier New"/>
                <a:cs typeface="Courier New"/>
              </a:rPr>
              <a:t>$t3</a:t>
            </a:r>
            <a:endParaRPr sz="1103">
              <a:latin typeface="Courier New"/>
              <a:cs typeface="Courier New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573164" y="4696009"/>
            <a:ext cx="1457325" cy="18160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03" dirty="0">
                <a:latin typeface="Courier New"/>
                <a:cs typeface="Courier New"/>
              </a:rPr>
              <a:t>sub</a:t>
            </a:r>
            <a:r>
              <a:rPr sz="1103" spc="-22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$t2,</a:t>
            </a:r>
            <a:r>
              <a:rPr sz="1103" spc="-13" dirty="0">
                <a:latin typeface="Courier New"/>
                <a:cs typeface="Courier New"/>
              </a:rPr>
              <a:t> </a:t>
            </a:r>
            <a:r>
              <a:rPr sz="1103" dirty="0">
                <a:latin typeface="Courier New"/>
                <a:cs typeface="Courier New"/>
              </a:rPr>
              <a:t>$s0,</a:t>
            </a:r>
            <a:r>
              <a:rPr sz="1103" spc="-9" dirty="0">
                <a:latin typeface="Courier New"/>
                <a:cs typeface="Courier New"/>
              </a:rPr>
              <a:t> </a:t>
            </a:r>
            <a:r>
              <a:rPr sz="1103" spc="-22" dirty="0">
                <a:latin typeface="Courier New"/>
                <a:cs typeface="Courier New"/>
              </a:rPr>
              <a:t>$t3</a:t>
            </a:r>
            <a:endParaRPr sz="1103">
              <a:latin typeface="Courier New"/>
              <a:cs typeface="Courier New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333375" y="243728"/>
            <a:ext cx="8477250" cy="6370544"/>
            <a:chOff x="225425" y="276225"/>
            <a:chExt cx="9607550" cy="7219950"/>
          </a:xfrm>
        </p:grpSpPr>
        <p:sp>
          <p:nvSpPr>
            <p:cNvPr id="148" name="object 148"/>
            <p:cNvSpPr/>
            <p:nvPr/>
          </p:nvSpPr>
          <p:spPr>
            <a:xfrm>
              <a:off x="1039638" y="3442725"/>
              <a:ext cx="412750" cy="412750"/>
            </a:xfrm>
            <a:custGeom>
              <a:avLst/>
              <a:gdLst/>
              <a:ahLst/>
              <a:cxnLst/>
              <a:rect l="l" t="t" r="r" b="b"/>
              <a:pathLst>
                <a:path w="412750" h="412750">
                  <a:moveTo>
                    <a:pt x="0" y="0"/>
                  </a:moveTo>
                  <a:lnTo>
                    <a:pt x="412547" y="412551"/>
                  </a:lnTo>
                </a:path>
              </a:pathLst>
            </a:custGeom>
            <a:ln w="9376">
              <a:solidFill>
                <a:srgbClr val="FF28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9" name="object 14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27608" y="3830692"/>
              <a:ext cx="82305" cy="82304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1030262" y="3442725"/>
              <a:ext cx="443865" cy="1104900"/>
            </a:xfrm>
            <a:custGeom>
              <a:avLst/>
              <a:gdLst/>
              <a:ahLst/>
              <a:cxnLst/>
              <a:rect l="l" t="t" r="r" b="b"/>
              <a:pathLst>
                <a:path w="443865" h="1104900">
                  <a:moveTo>
                    <a:pt x="0" y="0"/>
                  </a:moveTo>
                  <a:lnTo>
                    <a:pt x="443594" y="1104634"/>
                  </a:lnTo>
                </a:path>
              </a:pathLst>
            </a:custGeom>
            <a:ln w="9376">
              <a:solidFill>
                <a:srgbClr val="FF28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447753" y="4536885"/>
              <a:ext cx="54610" cy="80645"/>
            </a:xfrm>
            <a:custGeom>
              <a:avLst/>
              <a:gdLst/>
              <a:ahLst/>
              <a:cxnLst/>
              <a:rect l="l" t="t" r="r" b="b"/>
              <a:pathLst>
                <a:path w="54609" h="80645">
                  <a:moveTo>
                    <a:pt x="52205" y="0"/>
                  </a:moveTo>
                  <a:lnTo>
                    <a:pt x="0" y="20963"/>
                  </a:lnTo>
                  <a:lnTo>
                    <a:pt x="54056" y="80088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FF28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447753" y="4536878"/>
              <a:ext cx="54610" cy="80645"/>
            </a:xfrm>
            <a:custGeom>
              <a:avLst/>
              <a:gdLst/>
              <a:ahLst/>
              <a:cxnLst/>
              <a:rect l="l" t="t" r="r" b="b"/>
              <a:pathLst>
                <a:path w="54609" h="80645">
                  <a:moveTo>
                    <a:pt x="54055" y="80091"/>
                  </a:moveTo>
                  <a:lnTo>
                    <a:pt x="52205" y="0"/>
                  </a:lnTo>
                  <a:lnTo>
                    <a:pt x="0" y="20965"/>
                  </a:lnTo>
                  <a:lnTo>
                    <a:pt x="54055" y="80091"/>
                  </a:lnTo>
                  <a:close/>
                </a:path>
              </a:pathLst>
            </a:custGeom>
            <a:ln w="9376">
              <a:solidFill>
                <a:srgbClr val="FF28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030262" y="3442725"/>
              <a:ext cx="455295" cy="1779270"/>
            </a:xfrm>
            <a:custGeom>
              <a:avLst/>
              <a:gdLst/>
              <a:ahLst/>
              <a:cxnLst/>
              <a:rect l="l" t="t" r="r" b="b"/>
              <a:pathLst>
                <a:path w="455294" h="1779270">
                  <a:moveTo>
                    <a:pt x="0" y="0"/>
                  </a:moveTo>
                  <a:lnTo>
                    <a:pt x="455172" y="1778744"/>
                  </a:lnTo>
                </a:path>
              </a:pathLst>
            </a:custGeom>
            <a:ln w="9376">
              <a:solidFill>
                <a:srgbClr val="FF28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4" name="object 15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53497" y="5209805"/>
              <a:ext cx="63877" cy="89017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5231286" y="3345429"/>
              <a:ext cx="174625" cy="412750"/>
            </a:xfrm>
            <a:custGeom>
              <a:avLst/>
              <a:gdLst/>
              <a:ahLst/>
              <a:cxnLst/>
              <a:rect l="l" t="t" r="r" b="b"/>
              <a:pathLst>
                <a:path w="174625" h="412750">
                  <a:moveTo>
                    <a:pt x="0" y="0"/>
                  </a:moveTo>
                  <a:lnTo>
                    <a:pt x="174278" y="412260"/>
                  </a:lnTo>
                </a:path>
              </a:pathLst>
            </a:custGeom>
            <a:ln w="37504">
              <a:solidFill>
                <a:srgbClr val="FF28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6" name="object 15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45361" y="3721413"/>
              <a:ext cx="125688" cy="165564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6148436" y="3345429"/>
              <a:ext cx="212090" cy="1114425"/>
            </a:xfrm>
            <a:custGeom>
              <a:avLst/>
              <a:gdLst/>
              <a:ahLst/>
              <a:cxnLst/>
              <a:rect l="l" t="t" r="r" b="b"/>
              <a:pathLst>
                <a:path w="212089" h="1114425">
                  <a:moveTo>
                    <a:pt x="0" y="0"/>
                  </a:moveTo>
                  <a:lnTo>
                    <a:pt x="211882" y="1113982"/>
                  </a:lnTo>
                </a:path>
              </a:pathLst>
            </a:custGeom>
            <a:ln w="37504">
              <a:solidFill>
                <a:srgbClr val="FF28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8" name="object 15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297355" y="4432249"/>
              <a:ext cx="125929" cy="163811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6481321" y="3345401"/>
              <a:ext cx="769620" cy="1819275"/>
            </a:xfrm>
            <a:custGeom>
              <a:avLst/>
              <a:gdLst/>
              <a:ahLst/>
              <a:cxnLst/>
              <a:rect l="l" t="t" r="r" b="b"/>
              <a:pathLst>
                <a:path w="769620" h="1819275">
                  <a:moveTo>
                    <a:pt x="0" y="0"/>
                  </a:moveTo>
                  <a:lnTo>
                    <a:pt x="769092" y="1819061"/>
                  </a:lnTo>
                </a:path>
              </a:pathLst>
            </a:custGeom>
            <a:ln w="37504">
              <a:solidFill>
                <a:srgbClr val="FF28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0" name="object 16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190209" y="5128176"/>
              <a:ext cx="125692" cy="165573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228600" y="279400"/>
              <a:ext cx="9601200" cy="7213600"/>
            </a:xfrm>
            <a:custGeom>
              <a:avLst/>
              <a:gdLst/>
              <a:ahLst/>
              <a:cxnLst/>
              <a:rect l="l" t="t" r="r" b="b"/>
              <a:pathLst>
                <a:path w="9601200" h="7213600">
                  <a:moveTo>
                    <a:pt x="0" y="7213600"/>
                  </a:moveTo>
                  <a:lnTo>
                    <a:pt x="9601200" y="7213600"/>
                  </a:lnTo>
                  <a:lnTo>
                    <a:pt x="9601200" y="0"/>
                  </a:lnTo>
                  <a:lnTo>
                    <a:pt x="0" y="0"/>
                  </a:lnTo>
                  <a:lnTo>
                    <a:pt x="0" y="72136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2" name="object 162"/>
          <p:cNvSpPr txBox="1">
            <a:spLocks noGrp="1"/>
          </p:cNvSpPr>
          <p:nvPr>
            <p:ph type="sldNum" sz="quarter" idx="7"/>
          </p:nvPr>
        </p:nvSpPr>
        <p:spPr>
          <a:xfrm>
            <a:off x="9549879" y="7190783"/>
            <a:ext cx="194309" cy="219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spcBef>
                <a:spcPts val="20"/>
              </a:spcBef>
            </a:pPr>
            <a:fld id="{81D60167-4931-47E6-BA6A-407CBD079E47}" type="slidenum">
              <a:rPr lang="en-US" spc="-35" smtClean="0"/>
              <a:pPr marL="12700">
                <a:spcBef>
                  <a:spcPts val="20"/>
                </a:spcBef>
              </a:pPr>
              <a:t>25</a:t>
            </a:fld>
            <a:endParaRPr spc="-3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612" y="445845"/>
            <a:ext cx="6656294" cy="1087121"/>
          </a:xfrm>
          <a:prstGeom prst="rect">
            <a:avLst/>
          </a:prstGeom>
        </p:spPr>
        <p:txBody>
          <a:bodyPr vert="horz" wrap="square" lIns="0" tIns="242852" rIns="0" bIns="0" rtlCol="0" anchor="b">
            <a:spAutoFit/>
          </a:bodyPr>
          <a:lstStyle/>
          <a:p>
            <a:pPr marL="1292667">
              <a:lnSpc>
                <a:spcPct val="100000"/>
              </a:lnSpc>
              <a:spcBef>
                <a:spcPts val="88"/>
              </a:spcBef>
            </a:pPr>
            <a:r>
              <a:rPr sz="5471" dirty="0"/>
              <a:t>What</a:t>
            </a:r>
            <a:r>
              <a:rPr sz="5471" spc="-172" dirty="0"/>
              <a:t> </a:t>
            </a:r>
            <a:r>
              <a:rPr sz="5471" spc="-481" dirty="0"/>
              <a:t>can</a:t>
            </a:r>
            <a:r>
              <a:rPr sz="5471" dirty="0"/>
              <a:t> </a:t>
            </a:r>
            <a:r>
              <a:rPr sz="5471" spc="-291" dirty="0"/>
              <a:t>we</a:t>
            </a:r>
            <a:r>
              <a:rPr sz="5471" spc="-88" dirty="0"/>
              <a:t> </a:t>
            </a:r>
            <a:r>
              <a:rPr sz="5471" spc="-543" dirty="0"/>
              <a:t>do?</a:t>
            </a:r>
            <a:endParaRPr sz="5471"/>
          </a:p>
        </p:txBody>
      </p:sp>
      <p:sp>
        <p:nvSpPr>
          <p:cNvPr id="3" name="object 3"/>
          <p:cNvSpPr txBox="1"/>
          <p:nvPr/>
        </p:nvSpPr>
        <p:spPr>
          <a:xfrm>
            <a:off x="964405" y="2609701"/>
            <a:ext cx="3375212" cy="10500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05675" indent="-372055">
              <a:lnSpc>
                <a:spcPts val="3124"/>
              </a:lnSpc>
              <a:spcBef>
                <a:spcPts val="88"/>
              </a:spcBef>
              <a:buSzPct val="170967"/>
              <a:buChar char="•"/>
              <a:tabLst>
                <a:tab pos="405675" algn="l"/>
              </a:tabLst>
            </a:pPr>
            <a:r>
              <a:rPr sz="2735" spc="-150" dirty="0">
                <a:latin typeface="Arial MT"/>
                <a:cs typeface="Arial MT"/>
              </a:rPr>
              <a:t>Punt</a:t>
            </a:r>
            <a:r>
              <a:rPr sz="2735" spc="-44" dirty="0">
                <a:latin typeface="Arial MT"/>
                <a:cs typeface="Arial MT"/>
              </a:rPr>
              <a:t> </a:t>
            </a:r>
            <a:r>
              <a:rPr sz="2735" spc="66" dirty="0">
                <a:latin typeface="Arial MT"/>
                <a:cs typeface="Arial MT"/>
              </a:rPr>
              <a:t>to</a:t>
            </a:r>
            <a:r>
              <a:rPr sz="2735" spc="-71" dirty="0">
                <a:latin typeface="Arial MT"/>
                <a:cs typeface="Arial MT"/>
              </a:rPr>
              <a:t> </a:t>
            </a:r>
            <a:r>
              <a:rPr sz="2735" spc="-26" dirty="0">
                <a:latin typeface="Arial MT"/>
                <a:cs typeface="Arial MT"/>
              </a:rPr>
              <a:t>the</a:t>
            </a:r>
            <a:r>
              <a:rPr sz="2735" spc="-57" dirty="0">
                <a:latin typeface="Arial MT"/>
                <a:cs typeface="Arial MT"/>
              </a:rPr>
              <a:t> </a:t>
            </a:r>
            <a:r>
              <a:rPr sz="2735" spc="-44" dirty="0">
                <a:latin typeface="Arial MT"/>
                <a:cs typeface="Arial MT"/>
              </a:rPr>
              <a:t>compiler</a:t>
            </a:r>
            <a:endParaRPr sz="2735">
              <a:latin typeface="Arial MT"/>
              <a:cs typeface="Arial MT"/>
            </a:endParaRPr>
          </a:p>
          <a:p>
            <a:pPr marL="694802" lvl="1" indent="-372055">
              <a:lnSpc>
                <a:spcPts val="2427"/>
              </a:lnSpc>
              <a:buSzPct val="172549"/>
              <a:buChar char="•"/>
              <a:tabLst>
                <a:tab pos="694802" algn="l"/>
              </a:tabLst>
            </a:pPr>
            <a:r>
              <a:rPr sz="2250" spc="-265" dirty="0">
                <a:latin typeface="Arial MT"/>
                <a:cs typeface="Arial MT"/>
              </a:rPr>
              <a:t>Easy</a:t>
            </a:r>
            <a:r>
              <a:rPr sz="2250" spc="9" dirty="0">
                <a:latin typeface="Arial MT"/>
                <a:cs typeface="Arial MT"/>
              </a:rPr>
              <a:t> </a:t>
            </a:r>
            <a:r>
              <a:rPr sz="2250" spc="-9" dirty="0">
                <a:latin typeface="Arial MT"/>
                <a:cs typeface="Arial MT"/>
              </a:rPr>
              <a:t>enough.</a:t>
            </a:r>
            <a:endParaRPr sz="2250">
              <a:latin typeface="Arial MT"/>
              <a:cs typeface="Arial MT"/>
            </a:endParaRPr>
          </a:p>
          <a:p>
            <a:pPr marL="694802" lvl="1" indent="-372055">
              <a:lnSpc>
                <a:spcPts val="2590"/>
              </a:lnSpc>
              <a:buSzPct val="172549"/>
              <a:buChar char="•"/>
              <a:tabLst>
                <a:tab pos="694802" algn="l"/>
              </a:tabLst>
            </a:pPr>
            <a:r>
              <a:rPr sz="2250" spc="53" dirty="0">
                <a:latin typeface="Arial MT"/>
                <a:cs typeface="Arial MT"/>
              </a:rPr>
              <a:t>Will</a:t>
            </a:r>
            <a:r>
              <a:rPr sz="2250" spc="13" dirty="0">
                <a:latin typeface="Arial MT"/>
                <a:cs typeface="Arial MT"/>
              </a:rPr>
              <a:t> </a:t>
            </a:r>
            <a:r>
              <a:rPr sz="2250" spc="-18" dirty="0">
                <a:latin typeface="Arial MT"/>
                <a:cs typeface="Arial MT"/>
              </a:rPr>
              <a:t>work.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6376" y="3610744"/>
            <a:ext cx="3901888" cy="360959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383262" indent="-372055">
              <a:spcBef>
                <a:spcPts val="115"/>
              </a:spcBef>
              <a:buSzPct val="172549"/>
              <a:buChar char="•"/>
              <a:tabLst>
                <a:tab pos="383262" algn="l"/>
              </a:tabLst>
            </a:pPr>
            <a:r>
              <a:rPr sz="2250" spc="-256" dirty="0">
                <a:latin typeface="Arial MT"/>
                <a:cs typeface="Arial MT"/>
              </a:rPr>
              <a:t>Same</a:t>
            </a:r>
            <a:r>
              <a:rPr sz="2250" spc="4" dirty="0">
                <a:latin typeface="Arial MT"/>
                <a:cs typeface="Arial MT"/>
              </a:rPr>
              <a:t> </a:t>
            </a:r>
            <a:r>
              <a:rPr sz="2250" spc="-146" dirty="0">
                <a:latin typeface="Arial MT"/>
                <a:cs typeface="Arial MT"/>
              </a:rPr>
              <a:t>dangers</a:t>
            </a:r>
            <a:r>
              <a:rPr sz="2250" spc="4" dirty="0">
                <a:latin typeface="Arial MT"/>
                <a:cs typeface="Arial MT"/>
              </a:rPr>
              <a:t> </a:t>
            </a:r>
            <a:r>
              <a:rPr sz="2250" spc="-132" dirty="0">
                <a:latin typeface="Arial MT"/>
                <a:cs typeface="Arial MT"/>
              </a:rPr>
              <a:t>apply</a:t>
            </a:r>
            <a:r>
              <a:rPr sz="2250" dirty="0">
                <a:latin typeface="Arial MT"/>
                <a:cs typeface="Arial MT"/>
              </a:rPr>
              <a:t> </a:t>
            </a:r>
            <a:r>
              <a:rPr sz="2250" spc="-269" dirty="0">
                <a:latin typeface="Arial MT"/>
                <a:cs typeface="Arial MT"/>
              </a:rPr>
              <a:t>as</a:t>
            </a:r>
            <a:r>
              <a:rPr sz="2250" spc="4" dirty="0">
                <a:latin typeface="Arial MT"/>
                <a:cs typeface="Arial MT"/>
              </a:rPr>
              <a:t> </a:t>
            </a:r>
            <a:r>
              <a:rPr sz="2250" spc="-53" dirty="0">
                <a:latin typeface="Arial MT"/>
                <a:cs typeface="Arial MT"/>
              </a:rPr>
              <a:t>before.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6818" y="3770477"/>
            <a:ext cx="233082" cy="73106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4677" spc="-44" dirty="0">
                <a:latin typeface="Arial MT"/>
                <a:cs typeface="Arial MT"/>
              </a:rPr>
              <a:t>•</a:t>
            </a:r>
            <a:endParaRPr sz="467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107" y="3933395"/>
            <a:ext cx="1720103" cy="432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735" spc="-176" dirty="0">
                <a:latin typeface="Arial MT"/>
                <a:cs typeface="Arial MT"/>
              </a:rPr>
              <a:t>Always</a:t>
            </a:r>
            <a:r>
              <a:rPr sz="2735" spc="-9" dirty="0">
                <a:latin typeface="Arial MT"/>
                <a:cs typeface="Arial MT"/>
              </a:rPr>
              <a:t> </a:t>
            </a:r>
            <a:r>
              <a:rPr sz="2735" spc="-101" dirty="0">
                <a:latin typeface="Arial MT"/>
                <a:cs typeface="Arial MT"/>
              </a:rPr>
              <a:t>stall.</a:t>
            </a:r>
            <a:endParaRPr sz="2735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6818" y="4305684"/>
            <a:ext cx="5874684" cy="432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83262" indent="-372055">
              <a:spcBef>
                <a:spcPts val="88"/>
              </a:spcBef>
              <a:buSzPct val="170967"/>
              <a:buChar char="•"/>
              <a:tabLst>
                <a:tab pos="383262" algn="l"/>
              </a:tabLst>
            </a:pPr>
            <a:r>
              <a:rPr sz="2735" spc="-88" dirty="0">
                <a:latin typeface="Arial MT"/>
                <a:cs typeface="Arial MT"/>
              </a:rPr>
              <a:t>Forward</a:t>
            </a:r>
            <a:r>
              <a:rPr sz="2735" spc="-57" dirty="0">
                <a:latin typeface="Arial MT"/>
                <a:cs typeface="Arial MT"/>
              </a:rPr>
              <a:t> </a:t>
            </a:r>
            <a:r>
              <a:rPr sz="2735" spc="-132" dirty="0">
                <a:latin typeface="Arial MT"/>
                <a:cs typeface="Arial MT"/>
              </a:rPr>
              <a:t>when</a:t>
            </a:r>
            <a:r>
              <a:rPr sz="2735" spc="-35" dirty="0">
                <a:latin typeface="Arial MT"/>
                <a:cs typeface="Arial MT"/>
              </a:rPr>
              <a:t> </a:t>
            </a:r>
            <a:r>
              <a:rPr sz="2735" spc="-159" dirty="0">
                <a:latin typeface="Arial MT"/>
                <a:cs typeface="Arial MT"/>
              </a:rPr>
              <a:t>possible,</a:t>
            </a:r>
            <a:r>
              <a:rPr sz="2735" spc="-278" dirty="0">
                <a:latin typeface="Arial MT"/>
                <a:cs typeface="Arial MT"/>
              </a:rPr>
              <a:t> </a:t>
            </a:r>
            <a:r>
              <a:rPr sz="2735" spc="-97" dirty="0">
                <a:latin typeface="Arial MT"/>
                <a:cs typeface="Arial MT"/>
              </a:rPr>
              <a:t>stall</a:t>
            </a:r>
            <a:r>
              <a:rPr sz="2735" spc="-31" dirty="0">
                <a:latin typeface="Arial MT"/>
                <a:cs typeface="Arial MT"/>
              </a:rPr>
              <a:t> </a:t>
            </a:r>
            <a:r>
              <a:rPr sz="2735" spc="-44" dirty="0">
                <a:latin typeface="Arial MT"/>
                <a:cs typeface="Arial MT"/>
              </a:rPr>
              <a:t>otherwise</a:t>
            </a:r>
            <a:endParaRPr sz="2735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5170" y="4677973"/>
            <a:ext cx="6070787" cy="681559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394468" indent="-372055">
              <a:lnSpc>
                <a:spcPts val="2590"/>
              </a:lnSpc>
              <a:spcBef>
                <a:spcPts val="115"/>
              </a:spcBef>
              <a:buSzPct val="172549"/>
              <a:buChar char="•"/>
              <a:tabLst>
                <a:tab pos="394468" algn="l"/>
              </a:tabLst>
            </a:pPr>
            <a:r>
              <a:rPr sz="2250" spc="-9" dirty="0">
                <a:latin typeface="Arial MT"/>
                <a:cs typeface="Arial MT"/>
              </a:rPr>
              <a:t>Here</a:t>
            </a:r>
            <a:r>
              <a:rPr sz="2250" spc="-159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the</a:t>
            </a:r>
            <a:r>
              <a:rPr sz="2250" spc="-154" dirty="0">
                <a:latin typeface="Arial MT"/>
                <a:cs typeface="Arial MT"/>
              </a:rPr>
              <a:t> </a:t>
            </a:r>
            <a:r>
              <a:rPr sz="2250" spc="-40" dirty="0">
                <a:latin typeface="Arial MT"/>
                <a:cs typeface="Arial MT"/>
              </a:rPr>
              <a:t>compiler</a:t>
            </a:r>
            <a:r>
              <a:rPr sz="2250" spc="-97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still</a:t>
            </a:r>
            <a:r>
              <a:rPr sz="2250" spc="-101" dirty="0">
                <a:latin typeface="Arial MT"/>
                <a:cs typeface="Arial MT"/>
              </a:rPr>
              <a:t> </a:t>
            </a:r>
            <a:r>
              <a:rPr sz="2250" spc="-224" dirty="0">
                <a:latin typeface="Arial MT"/>
                <a:cs typeface="Arial MT"/>
              </a:rPr>
              <a:t>has</a:t>
            </a:r>
            <a:r>
              <a:rPr sz="2250" spc="9" dirty="0">
                <a:latin typeface="Arial MT"/>
                <a:cs typeface="Arial MT"/>
              </a:rPr>
              <a:t> </a:t>
            </a:r>
            <a:r>
              <a:rPr sz="2250" spc="-18" dirty="0">
                <a:latin typeface="Arial MT"/>
                <a:cs typeface="Arial MT"/>
              </a:rPr>
              <a:t>leverage</a:t>
            </a:r>
            <a:endParaRPr sz="2250">
              <a:latin typeface="Arial MT"/>
              <a:cs typeface="Arial MT"/>
            </a:endParaRPr>
          </a:p>
          <a:p>
            <a:pPr marL="394468" indent="-372055">
              <a:lnSpc>
                <a:spcPts val="2590"/>
              </a:lnSpc>
              <a:buSzPct val="172549"/>
              <a:buChar char="•"/>
              <a:tabLst>
                <a:tab pos="394468" algn="l"/>
              </a:tabLst>
            </a:pPr>
            <a:r>
              <a:rPr sz="2250" dirty="0">
                <a:latin typeface="Arial MT"/>
                <a:cs typeface="Arial MT"/>
              </a:rPr>
              <a:t>If</a:t>
            </a:r>
            <a:r>
              <a:rPr sz="2250" spc="-106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the</a:t>
            </a:r>
            <a:r>
              <a:rPr sz="2250" spc="-66" dirty="0">
                <a:latin typeface="Arial MT"/>
                <a:cs typeface="Arial MT"/>
              </a:rPr>
              <a:t> </a:t>
            </a:r>
            <a:r>
              <a:rPr sz="2250" spc="-40" dirty="0">
                <a:latin typeface="Arial MT"/>
                <a:cs typeface="Arial MT"/>
              </a:rPr>
              <a:t>compiler</a:t>
            </a:r>
            <a:r>
              <a:rPr sz="2250" spc="-62" dirty="0">
                <a:latin typeface="Arial MT"/>
                <a:cs typeface="Arial MT"/>
              </a:rPr>
              <a:t> </a:t>
            </a:r>
            <a:r>
              <a:rPr sz="2250" spc="-84" dirty="0">
                <a:latin typeface="Arial MT"/>
                <a:cs typeface="Arial MT"/>
              </a:rPr>
              <a:t>can’t</a:t>
            </a:r>
            <a:r>
              <a:rPr sz="2250" spc="-62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fix</a:t>
            </a:r>
            <a:r>
              <a:rPr sz="2250" spc="-62" dirty="0">
                <a:latin typeface="Arial MT"/>
                <a:cs typeface="Arial MT"/>
              </a:rPr>
              <a:t> </a:t>
            </a:r>
            <a:r>
              <a:rPr sz="2250" spc="-9" dirty="0">
                <a:latin typeface="Arial MT"/>
                <a:cs typeface="Arial MT"/>
              </a:rPr>
              <a:t>it,</a:t>
            </a:r>
            <a:r>
              <a:rPr sz="2250" spc="-221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the</a:t>
            </a:r>
            <a:r>
              <a:rPr sz="2250" spc="-62" dirty="0">
                <a:latin typeface="Arial MT"/>
                <a:cs typeface="Arial MT"/>
              </a:rPr>
              <a:t> </a:t>
            </a:r>
            <a:r>
              <a:rPr sz="2250" spc="-84" dirty="0">
                <a:latin typeface="Arial MT"/>
                <a:cs typeface="Arial MT"/>
              </a:rPr>
              <a:t>hardware</a:t>
            </a:r>
            <a:r>
              <a:rPr sz="2250" spc="-62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will</a:t>
            </a:r>
            <a:r>
              <a:rPr sz="2250" spc="-62" dirty="0">
                <a:latin typeface="Arial MT"/>
                <a:cs typeface="Arial MT"/>
              </a:rPr>
              <a:t> </a:t>
            </a:r>
            <a:r>
              <a:rPr sz="2250" spc="-9" dirty="0">
                <a:latin typeface="Arial MT"/>
                <a:cs typeface="Arial MT"/>
              </a:rPr>
              <a:t>stall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6177" y="246530"/>
            <a:ext cx="8471647" cy="6364941"/>
          </a:xfrm>
          <a:custGeom>
            <a:avLst/>
            <a:gdLst/>
            <a:ahLst/>
            <a:cxnLst/>
            <a:rect l="l" t="t" r="r" b="b"/>
            <a:pathLst>
              <a:path w="9601200" h="7213600">
                <a:moveTo>
                  <a:pt x="0" y="7213600"/>
                </a:moveTo>
                <a:lnTo>
                  <a:pt x="9601200" y="7213600"/>
                </a:lnTo>
                <a:lnTo>
                  <a:pt x="9601200" y="0"/>
                </a:lnTo>
                <a:lnTo>
                  <a:pt x="0" y="0"/>
                </a:lnTo>
                <a:lnTo>
                  <a:pt x="0" y="72136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 txBox="1"/>
          <p:nvPr/>
        </p:nvSpPr>
        <p:spPr>
          <a:xfrm>
            <a:off x="8538423" y="6344808"/>
            <a:ext cx="227479" cy="178786"/>
          </a:xfrm>
          <a:prstGeom prst="rect">
            <a:avLst/>
          </a:prstGeom>
        </p:spPr>
        <p:txBody>
          <a:bodyPr vert="horz" wrap="square" lIns="0" tIns="2241" rIns="0" bIns="0" rtlCol="0">
            <a:spAutoFit/>
          </a:bodyPr>
          <a:lstStyle/>
          <a:p>
            <a:pPr marL="33619">
              <a:spcBef>
                <a:spcPts val="18"/>
              </a:spcBef>
            </a:pPr>
            <a:fld id="{81D60167-4931-47E6-BA6A-407CBD079E47}" type="slidenum">
              <a:rPr sz="1147" spc="-22" dirty="0">
                <a:latin typeface="Arial MT"/>
                <a:cs typeface="Arial MT"/>
              </a:rPr>
              <a:pPr marL="33619">
                <a:spcBef>
                  <a:spcPts val="18"/>
                </a:spcBef>
              </a:pPr>
              <a:t>26</a:t>
            </a:fld>
            <a:endParaRPr sz="114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44AAA8-6DE4-8C95-BEF0-41B935225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540459"/>
            <a:ext cx="7752969" cy="3770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287F61-0882-2B5F-4FE8-1B1383E88D3B}"/>
              </a:ext>
            </a:extLst>
          </p:cNvPr>
          <p:cNvSpPr txBox="1"/>
          <p:nvPr/>
        </p:nvSpPr>
        <p:spPr>
          <a:xfrm>
            <a:off x="1295400" y="5867400"/>
            <a:ext cx="4461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Home task: Book Section C-2</a:t>
            </a:r>
          </a:p>
        </p:txBody>
      </p:sp>
    </p:spTree>
    <p:extLst>
      <p:ext uri="{BB962C8B-B14F-4D97-AF65-F5344CB8AC3E}">
        <p14:creationId xmlns:p14="http://schemas.microsoft.com/office/powerpoint/2010/main" val="535183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28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-254000"/>
            <a:ext cx="7543800" cy="14493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8305">
              <a:lnSpc>
                <a:spcPct val="100000"/>
              </a:lnSpc>
              <a:spcBef>
                <a:spcPts val="100"/>
              </a:spcBef>
            </a:pPr>
            <a:r>
              <a:rPr dirty="0"/>
              <a:t>BRANCH</a:t>
            </a:r>
            <a:r>
              <a:rPr spc="-85" dirty="0"/>
              <a:t> </a:t>
            </a:r>
            <a:r>
              <a:rPr spc="-10" dirty="0"/>
              <a:t>HAZARDS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1196085"/>
            <a:ext cx="8498840" cy="50203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7180" marR="835660" indent="-285115" algn="just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branch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interrupt)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conditional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 	</a:t>
            </a:r>
            <a:r>
              <a:rPr sz="2400" spc="-10" dirty="0">
                <a:latin typeface="Arial MT"/>
                <a:cs typeface="Arial MT"/>
              </a:rPr>
              <a:t>unconditional.</a:t>
            </a:r>
            <a:endParaRPr sz="2400">
              <a:latin typeface="Arial MT"/>
              <a:cs typeface="Arial MT"/>
            </a:endParaRPr>
          </a:p>
          <a:p>
            <a:pPr marL="695960" marR="5080" lvl="1" indent="-226695" algn="just">
              <a:lnSpc>
                <a:spcPts val="2160"/>
              </a:lnSpc>
              <a:spcBef>
                <a:spcPts val="725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unconditional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always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alters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sequential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flow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by 	</a:t>
            </a:r>
            <a:r>
              <a:rPr sz="2000" dirty="0">
                <a:latin typeface="Arial MT"/>
                <a:cs typeface="Arial MT"/>
              </a:rPr>
              <a:t>loading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(PC)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target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address.</a:t>
            </a:r>
            <a:endParaRPr sz="2000">
              <a:latin typeface="Arial MT"/>
              <a:cs typeface="Arial MT"/>
            </a:endParaRPr>
          </a:p>
          <a:p>
            <a:pPr marL="695960" marR="67310" lvl="1" indent="-226695" algn="just">
              <a:lnSpc>
                <a:spcPct val="90000"/>
              </a:lnSpc>
              <a:spcBef>
                <a:spcPts val="69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conditional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selects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target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condition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satisfied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next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sequential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condition 	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satisfied.</a:t>
            </a:r>
            <a:endParaRPr sz="2000">
              <a:latin typeface="Arial MT"/>
              <a:cs typeface="Arial MT"/>
            </a:endParaRPr>
          </a:p>
          <a:p>
            <a:pPr marL="1155700" marR="796290" indent="-229235" algn="just">
              <a:lnSpc>
                <a:spcPts val="1939"/>
              </a:lnSpc>
              <a:spcBef>
                <a:spcPts val="685"/>
              </a:spcBef>
            </a:pPr>
            <a:r>
              <a:rPr sz="1800" dirty="0">
                <a:latin typeface="Arial MT"/>
                <a:cs typeface="Arial MT"/>
              </a:rPr>
              <a:t>»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target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known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25" dirty="0">
                <a:latin typeface="Arial MT"/>
                <a:cs typeface="Arial MT"/>
              </a:rPr>
              <a:t> is </a:t>
            </a:r>
            <a:r>
              <a:rPr sz="1800" spc="-10" dirty="0">
                <a:latin typeface="Arial MT"/>
                <a:cs typeface="Arial MT"/>
              </a:rPr>
              <a:t>executed.</a:t>
            </a:r>
            <a:endParaRPr sz="1800">
              <a:latin typeface="Arial MT"/>
              <a:cs typeface="Arial MT"/>
            </a:endParaRPr>
          </a:p>
          <a:p>
            <a:pPr marL="299085" marR="1007110" indent="-287020">
              <a:lnSpc>
                <a:spcPts val="2590"/>
              </a:lnSpc>
              <a:spcBef>
                <a:spcPts val="181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major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occurrence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branch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instructions.</a:t>
            </a:r>
            <a:endParaRPr sz="2400">
              <a:latin typeface="Arial MT"/>
              <a:cs typeface="Arial MT"/>
            </a:endParaRPr>
          </a:p>
          <a:p>
            <a:pPr marL="695960" marR="50800" lvl="1" indent="-226695">
              <a:lnSpc>
                <a:spcPts val="2160"/>
              </a:lnSpc>
              <a:spcBef>
                <a:spcPts val="72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breaks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normal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instruction 	</a:t>
            </a:r>
            <a:r>
              <a:rPr sz="2000" dirty="0">
                <a:latin typeface="Arial MT"/>
                <a:cs typeface="Arial MT"/>
              </a:rPr>
              <a:t>stream,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causing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difficulties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pipeline.</a:t>
            </a:r>
            <a:endParaRPr sz="2000">
              <a:latin typeface="Arial MT"/>
              <a:cs typeface="Arial MT"/>
            </a:endParaRPr>
          </a:p>
          <a:p>
            <a:pPr marL="695960" marR="26670" lvl="1" indent="-226695">
              <a:lnSpc>
                <a:spcPts val="2160"/>
              </a:lnSpc>
              <a:spcBef>
                <a:spcPts val="72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interrupt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changes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PC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fetch 	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next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delayed.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5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29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600200" y="163513"/>
            <a:ext cx="7543800" cy="627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484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EXAMPLE</a:t>
            </a:r>
            <a:r>
              <a:rPr sz="4000" spc="-65" dirty="0"/>
              <a:t> </a:t>
            </a:r>
            <a:r>
              <a:rPr sz="4000" dirty="0"/>
              <a:t>OF</a:t>
            </a:r>
            <a:r>
              <a:rPr sz="4000" spc="-85" dirty="0"/>
              <a:t> </a:t>
            </a:r>
            <a:r>
              <a:rPr sz="4000" dirty="0"/>
              <a:t>BRANCH</a:t>
            </a:r>
            <a:r>
              <a:rPr sz="4000" spc="-35" dirty="0"/>
              <a:t> </a:t>
            </a:r>
            <a:r>
              <a:rPr sz="4000" spc="-10" dirty="0"/>
              <a:t>HAZARDS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6242" y="4642230"/>
            <a:ext cx="21462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Clo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7215" y="5033517"/>
            <a:ext cx="342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Instru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04665" y="5335270"/>
            <a:ext cx="447675" cy="3149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1080"/>
              </a:lnSpc>
              <a:spcBef>
                <a:spcPts val="229"/>
              </a:spcBef>
            </a:pPr>
            <a:r>
              <a:rPr sz="1000" b="1" dirty="0">
                <a:solidFill>
                  <a:srgbClr val="DD0805"/>
                </a:solidFill>
                <a:latin typeface="Arial"/>
                <a:cs typeface="Arial"/>
              </a:rPr>
              <a:t>A</a:t>
            </a:r>
            <a:r>
              <a:rPr sz="1000" b="1" spc="-15" dirty="0">
                <a:solidFill>
                  <a:srgbClr val="DD0805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DD0805"/>
                </a:solidFill>
                <a:latin typeface="Arial"/>
                <a:cs typeface="Arial"/>
              </a:rPr>
              <a:t>Bran </a:t>
            </a:r>
            <a:r>
              <a:rPr sz="1000" b="1" spc="-10" dirty="0">
                <a:solidFill>
                  <a:srgbClr val="DD0805"/>
                </a:solidFill>
                <a:latin typeface="Arial"/>
                <a:cs typeface="Arial"/>
              </a:rPr>
              <a:t>instruc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09110" y="1079119"/>
            <a:ext cx="1131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Fetch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6558" y="1191895"/>
            <a:ext cx="913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7609" y="1574672"/>
            <a:ext cx="1285875" cy="47498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algn="ctr">
              <a:lnSpc>
                <a:spcPct val="72900"/>
              </a:lnSpc>
              <a:spcBef>
                <a:spcPts val="490"/>
              </a:spcBef>
            </a:pPr>
            <a:r>
              <a:rPr sz="1200" dirty="0">
                <a:latin typeface="Arial MT"/>
                <a:cs typeface="Arial MT"/>
              </a:rPr>
              <a:t>Decode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instruction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calculate </a:t>
            </a:r>
            <a:r>
              <a:rPr sz="1200" dirty="0">
                <a:latin typeface="Arial MT"/>
                <a:cs typeface="Arial MT"/>
              </a:rPr>
              <a:t>effective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address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3059" y="2198623"/>
            <a:ext cx="594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Branch?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6961" y="2625597"/>
            <a:ext cx="1009015" cy="3498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80645" marR="5080" indent="-68580">
              <a:lnSpc>
                <a:spcPct val="77400"/>
              </a:lnSpc>
              <a:spcBef>
                <a:spcPts val="425"/>
              </a:spcBef>
            </a:pPr>
            <a:r>
              <a:rPr sz="1200" dirty="0">
                <a:latin typeface="Arial MT"/>
                <a:cs typeface="Arial MT"/>
              </a:rPr>
              <a:t>Fetch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operand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83584" y="3154426"/>
            <a:ext cx="1313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Execute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2359" y="3671773"/>
            <a:ext cx="6807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Interrupt?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0779" y="3617976"/>
            <a:ext cx="812800" cy="35814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20650">
              <a:lnSpc>
                <a:spcPts val="1245"/>
              </a:lnSpc>
              <a:spcBef>
                <a:spcPts val="225"/>
              </a:spcBef>
            </a:pPr>
            <a:r>
              <a:rPr sz="1200" spc="-10" dirty="0">
                <a:latin typeface="Arial MT"/>
                <a:cs typeface="Arial MT"/>
              </a:rPr>
              <a:t>Interrupt</a:t>
            </a:r>
            <a:endParaRPr sz="1200">
              <a:latin typeface="Arial MT"/>
              <a:cs typeface="Arial MT"/>
            </a:endParaRPr>
          </a:p>
          <a:p>
            <a:pPr marL="106045">
              <a:lnSpc>
                <a:spcPts val="1245"/>
              </a:lnSpc>
            </a:pPr>
            <a:r>
              <a:rPr sz="1200" spc="-10" dirty="0">
                <a:latin typeface="Arial MT"/>
                <a:cs typeface="Arial MT"/>
              </a:rPr>
              <a:t>handling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74164" y="4128515"/>
            <a:ext cx="887094" cy="208915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Update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PC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448" y="4543044"/>
            <a:ext cx="883919" cy="201295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Empty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pipe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95446" y="1074166"/>
            <a:ext cx="2117725" cy="3091180"/>
            <a:chOff x="3695446" y="1074166"/>
            <a:chExt cx="2117725" cy="3091180"/>
          </a:xfrm>
        </p:grpSpPr>
        <p:sp>
          <p:nvSpPr>
            <p:cNvPr id="17" name="object 17"/>
            <p:cNvSpPr/>
            <p:nvPr/>
          </p:nvSpPr>
          <p:spPr>
            <a:xfrm>
              <a:off x="3717036" y="1557528"/>
              <a:ext cx="1507490" cy="474345"/>
            </a:xfrm>
            <a:custGeom>
              <a:avLst/>
              <a:gdLst/>
              <a:ahLst/>
              <a:cxnLst/>
              <a:rect l="l" t="t" r="r" b="b"/>
              <a:pathLst>
                <a:path w="1507489" h="474344">
                  <a:moveTo>
                    <a:pt x="0" y="473963"/>
                  </a:moveTo>
                  <a:lnTo>
                    <a:pt x="1507236" y="473963"/>
                  </a:lnTo>
                  <a:lnTo>
                    <a:pt x="1507236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3504" y="1475232"/>
              <a:ext cx="91440" cy="90170"/>
            </a:xfrm>
            <a:custGeom>
              <a:avLst/>
              <a:gdLst/>
              <a:ahLst/>
              <a:cxnLst/>
              <a:rect l="l" t="t" r="r" b="b"/>
              <a:pathLst>
                <a:path w="91439" h="90169">
                  <a:moveTo>
                    <a:pt x="46355" y="0"/>
                  </a:moveTo>
                  <a:lnTo>
                    <a:pt x="34415" y="496"/>
                  </a:lnTo>
                  <a:lnTo>
                    <a:pt x="22653" y="1968"/>
                  </a:lnTo>
                  <a:lnTo>
                    <a:pt x="11154" y="4393"/>
                  </a:lnTo>
                  <a:lnTo>
                    <a:pt x="0" y="7746"/>
                  </a:lnTo>
                  <a:lnTo>
                    <a:pt x="46355" y="89915"/>
                  </a:lnTo>
                  <a:lnTo>
                    <a:pt x="91440" y="7365"/>
                  </a:lnTo>
                  <a:lnTo>
                    <a:pt x="80573" y="4179"/>
                  </a:lnTo>
                  <a:lnTo>
                    <a:pt x="69373" y="1873"/>
                  </a:lnTo>
                  <a:lnTo>
                    <a:pt x="57935" y="472"/>
                  </a:lnTo>
                  <a:lnTo>
                    <a:pt x="46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57700" y="1399032"/>
              <a:ext cx="0" cy="78105"/>
            </a:xfrm>
            <a:custGeom>
              <a:avLst/>
              <a:gdLst/>
              <a:ahLst/>
              <a:cxnLst/>
              <a:rect l="l" t="t" r="r" b="b"/>
              <a:pathLst>
                <a:path h="78105">
                  <a:moveTo>
                    <a:pt x="0" y="77723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01796" y="1080516"/>
              <a:ext cx="1508760" cy="314325"/>
            </a:xfrm>
            <a:custGeom>
              <a:avLst/>
              <a:gdLst/>
              <a:ahLst/>
              <a:cxnLst/>
              <a:rect l="l" t="t" r="r" b="b"/>
              <a:pathLst>
                <a:path w="1508760" h="314325">
                  <a:moveTo>
                    <a:pt x="0" y="313943"/>
                  </a:moveTo>
                  <a:lnTo>
                    <a:pt x="1508760" y="313943"/>
                  </a:lnTo>
                  <a:lnTo>
                    <a:pt x="1508760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27220" y="2071116"/>
              <a:ext cx="94615" cy="90170"/>
            </a:xfrm>
            <a:custGeom>
              <a:avLst/>
              <a:gdLst/>
              <a:ahLst/>
              <a:cxnLst/>
              <a:rect l="l" t="t" r="r" b="b"/>
              <a:pathLst>
                <a:path w="94614" h="90169">
                  <a:moveTo>
                    <a:pt x="47878" y="0"/>
                  </a:moveTo>
                  <a:lnTo>
                    <a:pt x="35558" y="498"/>
                  </a:lnTo>
                  <a:lnTo>
                    <a:pt x="23415" y="1984"/>
                  </a:lnTo>
                  <a:lnTo>
                    <a:pt x="11535" y="4446"/>
                  </a:lnTo>
                  <a:lnTo>
                    <a:pt x="0" y="7874"/>
                  </a:lnTo>
                  <a:lnTo>
                    <a:pt x="47878" y="89916"/>
                  </a:lnTo>
                  <a:lnTo>
                    <a:pt x="94487" y="7493"/>
                  </a:lnTo>
                  <a:lnTo>
                    <a:pt x="83240" y="4232"/>
                  </a:lnTo>
                  <a:lnTo>
                    <a:pt x="71659" y="1889"/>
                  </a:lnTo>
                  <a:lnTo>
                    <a:pt x="59840" y="474"/>
                  </a:lnTo>
                  <a:lnTo>
                    <a:pt x="478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45052" y="2039112"/>
              <a:ext cx="1237615" cy="447040"/>
            </a:xfrm>
            <a:custGeom>
              <a:avLst/>
              <a:gdLst/>
              <a:ahLst/>
              <a:cxnLst/>
              <a:rect l="l" t="t" r="r" b="b"/>
              <a:pathLst>
                <a:path w="1237614" h="447039">
                  <a:moveTo>
                    <a:pt x="624839" y="42672"/>
                  </a:moveTo>
                  <a:lnTo>
                    <a:pt x="624839" y="0"/>
                  </a:lnTo>
                </a:path>
                <a:path w="1237614" h="447039">
                  <a:moveTo>
                    <a:pt x="617220" y="124967"/>
                  </a:moveTo>
                  <a:lnTo>
                    <a:pt x="0" y="286512"/>
                  </a:lnTo>
                </a:path>
                <a:path w="1237614" h="447039">
                  <a:moveTo>
                    <a:pt x="1237488" y="286512"/>
                  </a:moveTo>
                  <a:lnTo>
                    <a:pt x="620268" y="446532"/>
                  </a:lnTo>
                </a:path>
                <a:path w="1237614" h="447039">
                  <a:moveTo>
                    <a:pt x="620268" y="124967"/>
                  </a:moveTo>
                  <a:lnTo>
                    <a:pt x="1237488" y="286512"/>
                  </a:lnTo>
                </a:path>
                <a:path w="1237614" h="447039">
                  <a:moveTo>
                    <a:pt x="0" y="286512"/>
                  </a:moveTo>
                  <a:lnTo>
                    <a:pt x="617220" y="44653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124" y="2557272"/>
              <a:ext cx="89915" cy="914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29228" y="2636519"/>
              <a:ext cx="1510665" cy="312420"/>
            </a:xfrm>
            <a:custGeom>
              <a:avLst/>
              <a:gdLst/>
              <a:ahLst/>
              <a:cxnLst/>
              <a:rect l="l" t="t" r="r" b="b"/>
              <a:pathLst>
                <a:path w="1510664" h="312419">
                  <a:moveTo>
                    <a:pt x="0" y="312420"/>
                  </a:moveTo>
                  <a:lnTo>
                    <a:pt x="1510284" y="312420"/>
                  </a:lnTo>
                  <a:lnTo>
                    <a:pt x="1510284" y="0"/>
                  </a:lnTo>
                  <a:lnTo>
                    <a:pt x="0" y="0"/>
                  </a:lnTo>
                  <a:lnTo>
                    <a:pt x="0" y="3124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48556" y="3067811"/>
              <a:ext cx="91440" cy="88900"/>
            </a:xfrm>
            <a:custGeom>
              <a:avLst/>
              <a:gdLst/>
              <a:ahLst/>
              <a:cxnLst/>
              <a:rect l="l" t="t" r="r" b="b"/>
              <a:pathLst>
                <a:path w="91439" h="88900">
                  <a:moveTo>
                    <a:pt x="46990" y="0"/>
                  </a:moveTo>
                  <a:lnTo>
                    <a:pt x="34861" y="498"/>
                  </a:lnTo>
                  <a:lnTo>
                    <a:pt x="22923" y="1984"/>
                  </a:lnTo>
                  <a:lnTo>
                    <a:pt x="11271" y="4446"/>
                  </a:lnTo>
                  <a:lnTo>
                    <a:pt x="0" y="7874"/>
                  </a:lnTo>
                  <a:lnTo>
                    <a:pt x="46990" y="88391"/>
                  </a:lnTo>
                  <a:lnTo>
                    <a:pt x="91440" y="6985"/>
                  </a:lnTo>
                  <a:lnTo>
                    <a:pt x="80690" y="3964"/>
                  </a:lnTo>
                  <a:lnTo>
                    <a:pt x="69643" y="1777"/>
                  </a:lnTo>
                  <a:lnTo>
                    <a:pt x="58382" y="448"/>
                  </a:lnTo>
                  <a:lnTo>
                    <a:pt x="469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86656" y="2958083"/>
              <a:ext cx="0" cy="131445"/>
            </a:xfrm>
            <a:custGeom>
              <a:avLst/>
              <a:gdLst/>
              <a:ahLst/>
              <a:cxnLst/>
              <a:rect l="l" t="t" r="r" b="b"/>
              <a:pathLst>
                <a:path h="131444">
                  <a:moveTo>
                    <a:pt x="0" y="131063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29228" y="3157727"/>
              <a:ext cx="1510665" cy="208915"/>
            </a:xfrm>
            <a:custGeom>
              <a:avLst/>
              <a:gdLst/>
              <a:ahLst/>
              <a:cxnLst/>
              <a:rect l="l" t="t" r="r" b="b"/>
              <a:pathLst>
                <a:path w="1510664" h="208914">
                  <a:moveTo>
                    <a:pt x="0" y="208787"/>
                  </a:moveTo>
                  <a:lnTo>
                    <a:pt x="1510284" y="208787"/>
                  </a:lnTo>
                  <a:lnTo>
                    <a:pt x="1510284" y="0"/>
                  </a:lnTo>
                  <a:lnTo>
                    <a:pt x="0" y="0"/>
                  </a:lnTo>
                  <a:lnTo>
                    <a:pt x="0" y="20878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53128" y="3531108"/>
              <a:ext cx="91440" cy="88900"/>
            </a:xfrm>
            <a:custGeom>
              <a:avLst/>
              <a:gdLst/>
              <a:ahLst/>
              <a:cxnLst/>
              <a:rect l="l" t="t" r="r" b="b"/>
              <a:pathLst>
                <a:path w="91439" h="88900">
                  <a:moveTo>
                    <a:pt x="46355" y="0"/>
                  </a:moveTo>
                  <a:lnTo>
                    <a:pt x="34415" y="496"/>
                  </a:lnTo>
                  <a:lnTo>
                    <a:pt x="22653" y="1968"/>
                  </a:lnTo>
                  <a:lnTo>
                    <a:pt x="11154" y="4393"/>
                  </a:lnTo>
                  <a:lnTo>
                    <a:pt x="0" y="7746"/>
                  </a:lnTo>
                  <a:lnTo>
                    <a:pt x="46355" y="88391"/>
                  </a:lnTo>
                  <a:lnTo>
                    <a:pt x="91439" y="7365"/>
                  </a:lnTo>
                  <a:lnTo>
                    <a:pt x="80573" y="4179"/>
                  </a:lnTo>
                  <a:lnTo>
                    <a:pt x="69373" y="1873"/>
                  </a:lnTo>
                  <a:lnTo>
                    <a:pt x="57935" y="472"/>
                  </a:lnTo>
                  <a:lnTo>
                    <a:pt x="46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74008" y="3374136"/>
              <a:ext cx="1932939" cy="784860"/>
            </a:xfrm>
            <a:custGeom>
              <a:avLst/>
              <a:gdLst/>
              <a:ahLst/>
              <a:cxnLst/>
              <a:rect l="l" t="t" r="r" b="b"/>
              <a:pathLst>
                <a:path w="1932939" h="784860">
                  <a:moveTo>
                    <a:pt x="615695" y="161543"/>
                  </a:moveTo>
                  <a:lnTo>
                    <a:pt x="615695" y="0"/>
                  </a:lnTo>
                </a:path>
                <a:path w="1932939" h="784860">
                  <a:moveTo>
                    <a:pt x="617219" y="243839"/>
                  </a:moveTo>
                  <a:lnTo>
                    <a:pt x="0" y="405383"/>
                  </a:lnTo>
                </a:path>
                <a:path w="1932939" h="784860">
                  <a:moveTo>
                    <a:pt x="1239012" y="405383"/>
                  </a:moveTo>
                  <a:lnTo>
                    <a:pt x="618743" y="566927"/>
                  </a:lnTo>
                </a:path>
                <a:path w="1932939" h="784860">
                  <a:moveTo>
                    <a:pt x="618743" y="243839"/>
                  </a:moveTo>
                  <a:lnTo>
                    <a:pt x="1239012" y="405383"/>
                  </a:lnTo>
                </a:path>
                <a:path w="1932939" h="784860">
                  <a:moveTo>
                    <a:pt x="0" y="405383"/>
                  </a:moveTo>
                  <a:lnTo>
                    <a:pt x="617219" y="566927"/>
                  </a:lnTo>
                </a:path>
                <a:path w="1932939" h="784860">
                  <a:moveTo>
                    <a:pt x="615695" y="784859"/>
                  </a:moveTo>
                  <a:lnTo>
                    <a:pt x="615695" y="569976"/>
                  </a:lnTo>
                </a:path>
                <a:path w="1932939" h="784860">
                  <a:moveTo>
                    <a:pt x="618743" y="784859"/>
                  </a:moveTo>
                  <a:lnTo>
                    <a:pt x="1932431" y="784859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517263" y="39231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35528" y="3567429"/>
            <a:ext cx="565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5595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yes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74160" y="2274823"/>
            <a:ext cx="2616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 MT"/>
                <a:cs typeface="Arial MT"/>
              </a:rPr>
              <a:t>yes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28184" y="242874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647189" y="874522"/>
            <a:ext cx="4161154" cy="4028440"/>
            <a:chOff x="1647189" y="874522"/>
            <a:chExt cx="4161154" cy="4028440"/>
          </a:xfrm>
        </p:grpSpPr>
        <p:sp>
          <p:nvSpPr>
            <p:cNvPr id="35" name="object 35"/>
            <p:cNvSpPr/>
            <p:nvPr/>
          </p:nvSpPr>
          <p:spPr>
            <a:xfrm>
              <a:off x="5801868" y="890016"/>
              <a:ext cx="0" cy="3263265"/>
            </a:xfrm>
            <a:custGeom>
              <a:avLst/>
              <a:gdLst/>
              <a:ahLst/>
              <a:cxnLst/>
              <a:rect l="l" t="t" r="r" b="b"/>
              <a:pathLst>
                <a:path h="3263265">
                  <a:moveTo>
                    <a:pt x="0" y="3262884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14316" y="984504"/>
              <a:ext cx="93345" cy="86995"/>
            </a:xfrm>
            <a:custGeom>
              <a:avLst/>
              <a:gdLst/>
              <a:ahLst/>
              <a:cxnLst/>
              <a:rect l="l" t="t" r="r" b="b"/>
              <a:pathLst>
                <a:path w="93345" h="86994">
                  <a:moveTo>
                    <a:pt x="47117" y="0"/>
                  </a:moveTo>
                  <a:lnTo>
                    <a:pt x="34986" y="476"/>
                  </a:lnTo>
                  <a:lnTo>
                    <a:pt x="23034" y="1905"/>
                  </a:lnTo>
                  <a:lnTo>
                    <a:pt x="11344" y="4286"/>
                  </a:lnTo>
                  <a:lnTo>
                    <a:pt x="0" y="7620"/>
                  </a:lnTo>
                  <a:lnTo>
                    <a:pt x="47117" y="86868"/>
                  </a:lnTo>
                  <a:lnTo>
                    <a:pt x="92963" y="7238"/>
                  </a:lnTo>
                  <a:lnTo>
                    <a:pt x="81907" y="4071"/>
                  </a:lnTo>
                  <a:lnTo>
                    <a:pt x="70516" y="1809"/>
                  </a:lnTo>
                  <a:lnTo>
                    <a:pt x="58888" y="452"/>
                  </a:lnTo>
                  <a:lnTo>
                    <a:pt x="47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58511" y="890016"/>
              <a:ext cx="0" cy="109855"/>
            </a:xfrm>
            <a:custGeom>
              <a:avLst/>
              <a:gdLst/>
              <a:ahLst/>
              <a:cxnLst/>
              <a:rect l="l" t="t" r="r" b="b"/>
              <a:pathLst>
                <a:path h="109855">
                  <a:moveTo>
                    <a:pt x="0" y="109728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5927" y="984504"/>
              <a:ext cx="91440" cy="86995"/>
            </a:xfrm>
            <a:custGeom>
              <a:avLst/>
              <a:gdLst/>
              <a:ahLst/>
              <a:cxnLst/>
              <a:rect l="l" t="t" r="r" b="b"/>
              <a:pathLst>
                <a:path w="91439" h="86994">
                  <a:moveTo>
                    <a:pt x="46989" y="0"/>
                  </a:moveTo>
                  <a:lnTo>
                    <a:pt x="34861" y="496"/>
                  </a:lnTo>
                  <a:lnTo>
                    <a:pt x="22923" y="1968"/>
                  </a:lnTo>
                  <a:lnTo>
                    <a:pt x="11271" y="4393"/>
                  </a:lnTo>
                  <a:lnTo>
                    <a:pt x="0" y="7747"/>
                  </a:lnTo>
                  <a:lnTo>
                    <a:pt x="46989" y="86868"/>
                  </a:lnTo>
                  <a:lnTo>
                    <a:pt x="91439" y="6858"/>
                  </a:lnTo>
                  <a:lnTo>
                    <a:pt x="80690" y="3857"/>
                  </a:lnTo>
                  <a:lnTo>
                    <a:pt x="69643" y="1714"/>
                  </a:lnTo>
                  <a:lnTo>
                    <a:pt x="58382" y="428"/>
                  </a:lnTo>
                  <a:lnTo>
                    <a:pt x="469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38600" y="880872"/>
              <a:ext cx="1755775" cy="143510"/>
            </a:xfrm>
            <a:custGeom>
              <a:avLst/>
              <a:gdLst/>
              <a:ahLst/>
              <a:cxnLst/>
              <a:rect l="l" t="t" r="r" b="b"/>
              <a:pathLst>
                <a:path w="1755775" h="143509">
                  <a:moveTo>
                    <a:pt x="0" y="143255"/>
                  </a:moveTo>
                  <a:lnTo>
                    <a:pt x="0" y="0"/>
                  </a:lnTo>
                </a:path>
                <a:path w="1755775" h="143509">
                  <a:moveTo>
                    <a:pt x="830579" y="7619"/>
                  </a:moveTo>
                  <a:lnTo>
                    <a:pt x="1755648" y="7619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5263" y="3742944"/>
              <a:ext cx="117348" cy="7315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727959" y="4041648"/>
              <a:ext cx="93345" cy="90170"/>
            </a:xfrm>
            <a:custGeom>
              <a:avLst/>
              <a:gdLst/>
              <a:ahLst/>
              <a:cxnLst/>
              <a:rect l="l" t="t" r="r" b="b"/>
              <a:pathLst>
                <a:path w="93344" h="90170">
                  <a:moveTo>
                    <a:pt x="47116" y="0"/>
                  </a:moveTo>
                  <a:lnTo>
                    <a:pt x="34986" y="498"/>
                  </a:lnTo>
                  <a:lnTo>
                    <a:pt x="23034" y="1984"/>
                  </a:lnTo>
                  <a:lnTo>
                    <a:pt x="11344" y="4446"/>
                  </a:lnTo>
                  <a:lnTo>
                    <a:pt x="0" y="7874"/>
                  </a:lnTo>
                  <a:lnTo>
                    <a:pt x="47116" y="89915"/>
                  </a:lnTo>
                  <a:lnTo>
                    <a:pt x="92963" y="7365"/>
                  </a:lnTo>
                  <a:lnTo>
                    <a:pt x="81907" y="4179"/>
                  </a:lnTo>
                  <a:lnTo>
                    <a:pt x="70516" y="1873"/>
                  </a:lnTo>
                  <a:lnTo>
                    <a:pt x="58888" y="472"/>
                  </a:lnTo>
                  <a:lnTo>
                    <a:pt x="47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70631" y="3985260"/>
              <a:ext cx="0" cy="85725"/>
            </a:xfrm>
            <a:custGeom>
              <a:avLst/>
              <a:gdLst/>
              <a:ahLst/>
              <a:cxnLst/>
              <a:rect l="l" t="t" r="r" b="b"/>
              <a:pathLst>
                <a:path h="85725">
                  <a:moveTo>
                    <a:pt x="0" y="85343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27731" y="4456175"/>
              <a:ext cx="91440" cy="90170"/>
            </a:xfrm>
            <a:custGeom>
              <a:avLst/>
              <a:gdLst/>
              <a:ahLst/>
              <a:cxnLst/>
              <a:rect l="l" t="t" r="r" b="b"/>
              <a:pathLst>
                <a:path w="91439" h="90170">
                  <a:moveTo>
                    <a:pt x="46355" y="0"/>
                  </a:moveTo>
                  <a:lnTo>
                    <a:pt x="34415" y="498"/>
                  </a:lnTo>
                  <a:lnTo>
                    <a:pt x="22653" y="1984"/>
                  </a:lnTo>
                  <a:lnTo>
                    <a:pt x="11154" y="4446"/>
                  </a:lnTo>
                  <a:lnTo>
                    <a:pt x="0" y="7874"/>
                  </a:lnTo>
                  <a:lnTo>
                    <a:pt x="46355" y="89916"/>
                  </a:lnTo>
                  <a:lnTo>
                    <a:pt x="91440" y="7366"/>
                  </a:lnTo>
                  <a:lnTo>
                    <a:pt x="80573" y="4179"/>
                  </a:lnTo>
                  <a:lnTo>
                    <a:pt x="69373" y="1873"/>
                  </a:lnTo>
                  <a:lnTo>
                    <a:pt x="57935" y="472"/>
                  </a:lnTo>
                  <a:lnTo>
                    <a:pt x="46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53539" y="4343400"/>
              <a:ext cx="821690" cy="553720"/>
            </a:xfrm>
            <a:custGeom>
              <a:avLst/>
              <a:gdLst/>
              <a:ahLst/>
              <a:cxnLst/>
              <a:rect l="l" t="t" r="r" b="b"/>
              <a:pathLst>
                <a:path w="821689" h="553720">
                  <a:moveTo>
                    <a:pt x="821436" y="131063"/>
                  </a:moveTo>
                  <a:lnTo>
                    <a:pt x="821436" y="0"/>
                  </a:lnTo>
                </a:path>
                <a:path w="821689" h="553720">
                  <a:moveTo>
                    <a:pt x="821436" y="545592"/>
                  </a:moveTo>
                  <a:lnTo>
                    <a:pt x="821436" y="408431"/>
                  </a:lnTo>
                </a:path>
                <a:path w="821689" h="553720">
                  <a:moveTo>
                    <a:pt x="818388" y="553212"/>
                  </a:moveTo>
                  <a:lnTo>
                    <a:pt x="0" y="55321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9423" y="4041648"/>
              <a:ext cx="94487" cy="8991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284475" y="2321052"/>
              <a:ext cx="1553210" cy="1743710"/>
            </a:xfrm>
            <a:custGeom>
              <a:avLst/>
              <a:gdLst/>
              <a:ahLst/>
              <a:cxnLst/>
              <a:rect l="l" t="t" r="r" b="b"/>
              <a:pathLst>
                <a:path w="1553210" h="1743710">
                  <a:moveTo>
                    <a:pt x="10668" y="1743456"/>
                  </a:moveTo>
                  <a:lnTo>
                    <a:pt x="10668" y="0"/>
                  </a:lnTo>
                </a:path>
                <a:path w="1553210" h="1743710">
                  <a:moveTo>
                    <a:pt x="1552956" y="3048"/>
                  </a:moveTo>
                  <a:lnTo>
                    <a:pt x="0" y="304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653539" y="880872"/>
              <a:ext cx="2383790" cy="4008754"/>
            </a:xfrm>
            <a:custGeom>
              <a:avLst/>
              <a:gdLst/>
              <a:ahLst/>
              <a:cxnLst/>
              <a:rect l="l" t="t" r="r" b="b"/>
              <a:pathLst>
                <a:path w="2383790" h="4008754">
                  <a:moveTo>
                    <a:pt x="0" y="4008501"/>
                  </a:moveTo>
                  <a:lnTo>
                    <a:pt x="0" y="0"/>
                  </a:lnTo>
                  <a:lnTo>
                    <a:pt x="2383536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726182" y="1145794"/>
            <a:ext cx="763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Segment1: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40532" y="1735073"/>
            <a:ext cx="763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Segment2: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753105" y="2701493"/>
            <a:ext cx="765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Segment3: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53105" y="3173729"/>
            <a:ext cx="766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Segment4: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457700" y="2491739"/>
            <a:ext cx="0" cy="66040"/>
          </a:xfrm>
          <a:custGeom>
            <a:avLst/>
            <a:gdLst/>
            <a:ahLst/>
            <a:cxnLst/>
            <a:rect l="l" t="t" r="r" b="b"/>
            <a:pathLst>
              <a:path h="66039">
                <a:moveTo>
                  <a:pt x="0" y="65532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10108" y="5260340"/>
            <a:ext cx="3590290" cy="120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 algn="ctr">
              <a:lnSpc>
                <a:spcPts val="1595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Consider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4-Segment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Pipeline</a:t>
            </a:r>
            <a:endParaRPr sz="1400">
              <a:latin typeface="Arial"/>
              <a:cs typeface="Arial"/>
            </a:endParaRPr>
          </a:p>
          <a:p>
            <a:pPr marL="307340" indent="-294640">
              <a:lnSpc>
                <a:spcPts val="1515"/>
              </a:lnSpc>
              <a:buAutoNum type="arabicPlain"/>
              <a:tabLst>
                <a:tab pos="307340" algn="l"/>
                <a:tab pos="710565" algn="l"/>
              </a:tabLst>
            </a:pPr>
            <a:r>
              <a:rPr sz="1400" spc="-25" dirty="0">
                <a:latin typeface="Arial MT"/>
                <a:cs typeface="Arial MT"/>
              </a:rPr>
              <a:t>FI:</a:t>
            </a:r>
            <a:r>
              <a:rPr sz="1400" dirty="0">
                <a:latin typeface="Arial MT"/>
                <a:cs typeface="Arial MT"/>
              </a:rPr>
              <a:t>	Fetch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instruction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memory</a:t>
            </a:r>
            <a:endParaRPr sz="1400">
              <a:latin typeface="Arial MT"/>
              <a:cs typeface="Arial MT"/>
            </a:endParaRPr>
          </a:p>
          <a:p>
            <a:pPr marL="306070" marR="5080" indent="-294005">
              <a:lnSpc>
                <a:spcPts val="1510"/>
              </a:lnSpc>
              <a:spcBef>
                <a:spcPts val="110"/>
              </a:spcBef>
              <a:buAutoNum type="arabicPlain"/>
              <a:tabLst>
                <a:tab pos="749935" algn="l"/>
              </a:tabLst>
            </a:pPr>
            <a:r>
              <a:rPr sz="1400" dirty="0">
                <a:latin typeface="Arial MT"/>
                <a:cs typeface="Arial MT"/>
              </a:rPr>
              <a:t>DA: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Decode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instruction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calculate 	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effective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address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operand</a:t>
            </a:r>
            <a:endParaRPr sz="1400">
              <a:latin typeface="Arial MT"/>
              <a:cs typeface="Arial MT"/>
            </a:endParaRPr>
          </a:p>
          <a:p>
            <a:pPr marL="306705" indent="-294005">
              <a:lnSpc>
                <a:spcPts val="1410"/>
              </a:lnSpc>
              <a:buAutoNum type="arabicPlain"/>
              <a:tabLst>
                <a:tab pos="306705" algn="l"/>
              </a:tabLst>
            </a:pPr>
            <a:r>
              <a:rPr sz="1400" dirty="0">
                <a:latin typeface="Arial MT"/>
                <a:cs typeface="Arial MT"/>
              </a:rPr>
              <a:t>FO:</a:t>
            </a:r>
            <a:r>
              <a:rPr sz="1400" spc="3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Fetch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operand</a:t>
            </a:r>
            <a:endParaRPr sz="1400">
              <a:latin typeface="Arial MT"/>
              <a:cs typeface="Arial MT"/>
            </a:endParaRPr>
          </a:p>
          <a:p>
            <a:pPr marL="306705" indent="-294005">
              <a:lnSpc>
                <a:spcPts val="1595"/>
              </a:lnSpc>
              <a:buAutoNum type="arabicPlain"/>
              <a:tabLst>
                <a:tab pos="306705" algn="l"/>
              </a:tabLst>
            </a:pPr>
            <a:r>
              <a:rPr sz="1400" dirty="0">
                <a:latin typeface="Arial MT"/>
                <a:cs typeface="Arial MT"/>
              </a:rPr>
              <a:t>EX:</a:t>
            </a:r>
            <a:r>
              <a:rPr sz="1400" spc="3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Execute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instruction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4206240" y="4625340"/>
          <a:ext cx="4730111" cy="185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3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17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17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3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98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0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ck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Cycles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81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140">
                <a:tc rowSpan="2" gridSpan="2"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ctions</a:t>
                      </a:r>
                      <a:r>
                        <a:rPr sz="1000" spc="4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75" baseline="-27777" dirty="0">
                          <a:latin typeface="Arial MT"/>
                          <a:cs typeface="Arial MT"/>
                        </a:rPr>
                        <a:t>2</a:t>
                      </a:r>
                      <a:endParaRPr sz="1500" baseline="-27777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065">
                        <a:lnSpc>
                          <a:spcPts val="1140"/>
                        </a:lnSpc>
                      </a:pPr>
                      <a:r>
                        <a:rPr sz="1000" b="1" dirty="0">
                          <a:solidFill>
                            <a:srgbClr val="DD0805"/>
                          </a:solidFill>
                          <a:latin typeface="Arial"/>
                          <a:cs typeface="Arial"/>
                        </a:rPr>
                        <a:t>ch</a:t>
                      </a:r>
                      <a:r>
                        <a:rPr sz="1000" b="1" spc="10" dirty="0">
                          <a:solidFill>
                            <a:srgbClr val="DD080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dirty="0">
                          <a:solidFill>
                            <a:srgbClr val="DD0805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000" spc="135" dirty="0">
                          <a:solidFill>
                            <a:srgbClr val="DD0805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3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19685">
                        <a:lnSpc>
                          <a:spcPts val="915"/>
                        </a:lnSpc>
                      </a:pPr>
                      <a:r>
                        <a:rPr sz="1000" b="1" spc="-20" dirty="0">
                          <a:solidFill>
                            <a:srgbClr val="DD0805"/>
                          </a:solidFill>
                          <a:latin typeface="Arial"/>
                          <a:cs typeface="Arial"/>
                        </a:rPr>
                        <a:t>tion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R="130175" algn="r">
                        <a:lnSpc>
                          <a:spcPts val="975"/>
                        </a:lnSpc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952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Stall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825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Stall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12700"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10160"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17780"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140">
                <a:tc gridSpan="2"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16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65">
                <a:tc gridSpan="2"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65">
                <a:tc gridSpan="2"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FI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DA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FO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EX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30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6200" y="526914"/>
            <a:ext cx="7543800" cy="566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0534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HOW</a:t>
            </a:r>
            <a:r>
              <a:rPr sz="3600" spc="-55" dirty="0"/>
              <a:t> </a:t>
            </a:r>
            <a:r>
              <a:rPr sz="3600" dirty="0"/>
              <a:t>TO</a:t>
            </a:r>
            <a:r>
              <a:rPr sz="3600" spc="-60" dirty="0"/>
              <a:t> </a:t>
            </a:r>
            <a:r>
              <a:rPr sz="3600" dirty="0"/>
              <a:t>AVOID</a:t>
            </a:r>
            <a:r>
              <a:rPr sz="3600" spc="-35" dirty="0"/>
              <a:t> </a:t>
            </a:r>
            <a:r>
              <a:rPr sz="3600" dirty="0"/>
              <a:t>BRANCH </a:t>
            </a:r>
            <a:r>
              <a:rPr sz="3600" spc="-10" dirty="0"/>
              <a:t>HAZARDS?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383" y="1132910"/>
            <a:ext cx="8357234" cy="52483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2000" dirty="0">
                <a:latin typeface="Arial MT"/>
                <a:cs typeface="Arial MT"/>
              </a:rPr>
              <a:t>Prefetch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Target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Instruction</a:t>
            </a:r>
            <a:endParaRPr sz="2000" dirty="0">
              <a:latin typeface="Arial MT"/>
              <a:cs typeface="Arial MT"/>
            </a:endParaRPr>
          </a:p>
          <a:p>
            <a:pPr marL="697865" indent="-227965">
              <a:lnSpc>
                <a:spcPct val="100000"/>
              </a:lnSpc>
              <a:spcBef>
                <a:spcPts val="229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Fetch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streams,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untaken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taken</a:t>
            </a:r>
            <a:endParaRPr sz="1800" dirty="0">
              <a:latin typeface="Arial MT"/>
              <a:cs typeface="Arial MT"/>
            </a:endParaRPr>
          </a:p>
          <a:p>
            <a:pPr marL="697230" marR="285115" indent="-227965">
              <a:lnSpc>
                <a:spcPct val="110000"/>
              </a:lnSpc>
              <a:buChar char="–"/>
              <a:tabLst>
                <a:tab pos="723900" algn="l"/>
              </a:tabLst>
            </a:pP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saved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executed.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right</a:t>
            </a:r>
            <a:r>
              <a:rPr sz="1800" spc="-10" dirty="0">
                <a:latin typeface="Arial MT"/>
                <a:cs typeface="Arial MT"/>
              </a:rPr>
              <a:t> instruction 	</a:t>
            </a:r>
            <a:r>
              <a:rPr sz="1800" dirty="0">
                <a:latin typeface="Arial MT"/>
                <a:cs typeface="Arial MT"/>
              </a:rPr>
              <a:t>stream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discard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wrong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stream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Delayed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Branch</a:t>
            </a:r>
            <a:endParaRPr sz="2000" dirty="0">
              <a:latin typeface="Arial MT"/>
              <a:cs typeface="Arial MT"/>
            </a:endParaRPr>
          </a:p>
          <a:p>
            <a:pPr marL="698500" marR="642620" indent="-228600">
              <a:lnSpc>
                <a:spcPct val="110000"/>
              </a:lnSpc>
              <a:spcBef>
                <a:spcPts val="5"/>
              </a:spcBef>
              <a:buChar char="–"/>
              <a:tabLst>
                <a:tab pos="698500" algn="l"/>
              </a:tabLst>
            </a:pPr>
            <a:r>
              <a:rPr sz="1800" dirty="0">
                <a:latin typeface="Arial MT"/>
                <a:cs typeface="Arial MT"/>
              </a:rPr>
              <a:t>Compiler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detects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rearranges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sequence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inserting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useful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keep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pipeline </a:t>
            </a:r>
            <a:r>
              <a:rPr sz="1800" spc="-20" dirty="0">
                <a:latin typeface="Arial MT"/>
                <a:cs typeface="Arial MT"/>
              </a:rPr>
              <a:t>busy</a:t>
            </a:r>
            <a:endParaRPr sz="1800" dirty="0">
              <a:latin typeface="Arial MT"/>
              <a:cs typeface="Arial MT"/>
            </a:endParaRPr>
          </a:p>
          <a:p>
            <a:pPr marL="6985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presence 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10" dirty="0">
                <a:latin typeface="Arial MT"/>
                <a:cs typeface="Arial MT"/>
              </a:rPr>
              <a:t> instruction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Prediction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(Speculation)</a:t>
            </a:r>
            <a:endParaRPr sz="2000" dirty="0">
              <a:latin typeface="Arial MT"/>
              <a:cs typeface="Arial MT"/>
            </a:endParaRPr>
          </a:p>
          <a:p>
            <a:pPr marL="697865" indent="-227965">
              <a:lnSpc>
                <a:spcPct val="100000"/>
              </a:lnSpc>
              <a:spcBef>
                <a:spcPts val="100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Guessing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condition,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fetching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stream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on</a:t>
            </a:r>
            <a:endParaRPr sz="1800" dirty="0">
              <a:latin typeface="Arial MT"/>
              <a:cs typeface="Arial MT"/>
            </a:endParaRPr>
          </a:p>
          <a:p>
            <a:pPr marL="6985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guess.</a:t>
            </a:r>
            <a:endParaRPr sz="1800" dirty="0">
              <a:latin typeface="Arial MT"/>
              <a:cs typeface="Arial MT"/>
            </a:endParaRPr>
          </a:p>
          <a:p>
            <a:pPr marL="697230" marR="149860" indent="-227965">
              <a:lnSpc>
                <a:spcPct val="105000"/>
              </a:lnSpc>
              <a:buChar char="–"/>
              <a:tabLst>
                <a:tab pos="723900" algn="l"/>
              </a:tabLst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speculate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outcome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implement 	</a:t>
            </a:r>
            <a:r>
              <a:rPr sz="1800" dirty="0">
                <a:latin typeface="Arial MT"/>
                <a:cs typeface="Arial MT"/>
              </a:rPr>
              <a:t>“delayed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branch”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could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executed 	earlier.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31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60363"/>
            <a:ext cx="7543800" cy="68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954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EXCEPTION</a:t>
            </a:r>
            <a:r>
              <a:rPr sz="4400" spc="-55" dirty="0"/>
              <a:t> </a:t>
            </a:r>
            <a:r>
              <a:rPr sz="4400" spc="-10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1220470"/>
            <a:ext cx="8288020" cy="49326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marR="80645" indent="-287020">
              <a:lnSpc>
                <a:spcPct val="90100"/>
              </a:lnSpc>
              <a:spcBef>
                <a:spcPts val="38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Exception: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unscheduled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unexpected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disrupts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normal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execution.</a:t>
            </a:r>
            <a:endParaRPr sz="240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84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Events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jumps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0" dirty="0">
                <a:latin typeface="Arial MT"/>
                <a:cs typeface="Arial MT"/>
              </a:rPr>
              <a:t> predicted.</a:t>
            </a:r>
            <a:endParaRPr sz="200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8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Come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processor,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arithmetic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overflow.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299085" marR="585470" indent="-287020">
              <a:lnSpc>
                <a:spcPts val="259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Interrupt: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exception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outside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processor,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I/O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device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request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marR="403225" indent="-287020">
              <a:lnSpc>
                <a:spcPts val="259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implementation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treats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exceptions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another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hazard.</a:t>
            </a:r>
            <a:endParaRPr sz="2400">
              <a:latin typeface="Arial MT"/>
              <a:cs typeface="Arial MT"/>
            </a:endParaRPr>
          </a:p>
          <a:p>
            <a:pPr marL="697865" lvl="1" indent="-227965">
              <a:lnSpc>
                <a:spcPts val="2050"/>
              </a:lnSpc>
              <a:spcBef>
                <a:spcPts val="405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suppose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arithmetic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overflow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instruction.</a:t>
            </a:r>
            <a:endParaRPr sz="1800">
              <a:latin typeface="Arial MT"/>
              <a:cs typeface="Arial MT"/>
            </a:endParaRPr>
          </a:p>
          <a:p>
            <a:pPr marL="697865" marR="255270">
              <a:lnSpc>
                <a:spcPct val="90100"/>
              </a:lnSpc>
              <a:spcBef>
                <a:spcPts val="105"/>
              </a:spcBef>
            </a:pPr>
            <a:r>
              <a:rPr sz="1800" dirty="0">
                <a:latin typeface="Arial MT"/>
                <a:cs typeface="Arial MT"/>
              </a:rPr>
              <a:t>Just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hazards,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must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flush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pipeline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begin </a:t>
            </a:r>
            <a:r>
              <a:rPr sz="1800" dirty="0">
                <a:latin typeface="Arial MT"/>
                <a:cs typeface="Arial MT"/>
              </a:rPr>
              <a:t>fetching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86DDBE-2CF4-4BD3-BE1B-287515A065A0}"/>
</file>

<file path=customXml/itemProps2.xml><?xml version="1.0" encoding="utf-8"?>
<ds:datastoreItem xmlns:ds="http://schemas.openxmlformats.org/officeDocument/2006/customXml" ds:itemID="{E07839EC-EBD4-49CB-9AC2-653DE9E973DF}"/>
</file>

<file path=customXml/itemProps3.xml><?xml version="1.0" encoding="utf-8"?>
<ds:datastoreItem xmlns:ds="http://schemas.openxmlformats.org/officeDocument/2006/customXml" ds:itemID="{59871ADF-AC85-4780-B715-1DA87EC2AB39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2366</TotalTime>
  <Words>2508</Words>
  <Application>Microsoft Office PowerPoint</Application>
  <PresentationFormat>On-screen Show (4:3)</PresentationFormat>
  <Paragraphs>566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 MT</vt:lpstr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Retrospect</vt:lpstr>
      <vt:lpstr>CS361: Computer Architecture</vt:lpstr>
      <vt:lpstr>WHAT IS THE “PRACTICALLY” POSSIBLE SPEEDUP?</vt:lpstr>
      <vt:lpstr>BASIC PERFORMANCE ISSUES IN PIPELINING</vt:lpstr>
      <vt:lpstr>PIPELINING OVERHEAD</vt:lpstr>
      <vt:lpstr>INSTRUCTION THROUGHPUT VS. INSTRUCTION LATENCY</vt:lpstr>
      <vt:lpstr>SPEEDUP SCENARIO-I</vt:lpstr>
      <vt:lpstr>SPEEDUP SCENARIO-I</vt:lpstr>
      <vt:lpstr>NUMERICAL EXAMPLE</vt:lpstr>
      <vt:lpstr>PowerPoint Presentation</vt:lpstr>
      <vt:lpstr>PIPELINING HAZARDS</vt:lpstr>
      <vt:lpstr>PowerPoint Presentation</vt:lpstr>
      <vt:lpstr>TYPE OF HAZARDS</vt:lpstr>
      <vt:lpstr>STRUCTURAL HAZARDS</vt:lpstr>
      <vt:lpstr>EXAMPLE OF A STRUCTURAL HAZARD</vt:lpstr>
      <vt:lpstr>HOW TO AVOID STRUCTURAL HAZARDS?</vt:lpstr>
      <vt:lpstr>DATA HAZARDS</vt:lpstr>
      <vt:lpstr>EXAMPLE OF A DATA HAZARD</vt:lpstr>
      <vt:lpstr>Simulation Example</vt:lpstr>
      <vt:lpstr>How can we fix it?</vt:lpstr>
      <vt:lpstr>Solution 1: Make the compiler deal with it.</vt:lpstr>
      <vt:lpstr>Solution 2: Stall</vt:lpstr>
      <vt:lpstr>Stalling the pipeline</vt:lpstr>
      <vt:lpstr>Solution 3: Bypassing/Forwarding</vt:lpstr>
      <vt:lpstr>Bypassing or Forwarding</vt:lpstr>
      <vt:lpstr>Forwarding Paths</vt:lpstr>
      <vt:lpstr>What can we do?</vt:lpstr>
      <vt:lpstr>PowerPoint Presentation</vt:lpstr>
      <vt:lpstr>BRANCH HAZARDS</vt:lpstr>
      <vt:lpstr>EXAMPLE OF BRANCH HAZARDS</vt:lpstr>
      <vt:lpstr>HOW TO AVOID BRANCH HAZARDS?</vt:lpstr>
      <vt:lpstr>EXCEPTION HANDLING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 LOGIC  CIRCUITS</dc:title>
  <dc:creator>Archilab</dc:creator>
  <cp:lastModifiedBy>Waheed Ahmad Lecturer FCSE</cp:lastModifiedBy>
  <cp:revision>18</cp:revision>
  <dcterms:created xsi:type="dcterms:W3CDTF">2025-11-19T13:07:00Z</dcterms:created>
  <dcterms:modified xsi:type="dcterms:W3CDTF">2025-11-25T10:41:40Z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2025-11-19T00:00:00Z</vt:filetime>
  </property>
  <property fmtid="{D5CDD505-2E9C-101B-9397-08002B2CF9AE}" pid="5" name="Producer">
    <vt:lpwstr>Microsoft® PowerPoint® 2016</vt:lpwstr>
  </property>
  <property fmtid="{D5CDD505-2E9C-101B-9397-08002B2CF9AE}" pid="6" name="ContentTypeId">
    <vt:lpwstr>0x0101006E4823951FA9BF42B980A03718EB0B18</vt:lpwstr>
  </property>
</Properties>
</file>