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  <p:sldMasterId id="2147483702" r:id="rId2"/>
    <p:sldMasterId id="2147483708" r:id="rId3"/>
  </p:sldMasterIdLst>
  <p:notesMasterIdLst>
    <p:notesMasterId r:id="rId13"/>
  </p:notesMasterIdLst>
  <p:sldIdLst>
    <p:sldId id="348" r:id="rId4"/>
    <p:sldId id="354" r:id="rId5"/>
    <p:sldId id="349" r:id="rId6"/>
    <p:sldId id="350" r:id="rId7"/>
    <p:sldId id="356" r:id="rId8"/>
    <p:sldId id="357" r:id="rId9"/>
    <p:sldId id="358" r:id="rId10"/>
    <p:sldId id="361" r:id="rId11"/>
    <p:sldId id="362" r:id="rId1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992" autoAdjust="0"/>
  </p:normalViewPr>
  <p:slideViewPr>
    <p:cSldViewPr>
      <p:cViewPr varScale="1">
        <p:scale>
          <a:sx n="59" d="100"/>
          <a:sy n="59" d="100"/>
        </p:scale>
        <p:origin x="171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66F392-4AE4-4FF3-A316-3A457C3BC9E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4D96D7-60C6-481A-B725-E0BD56A05223}">
      <dgm:prSet/>
      <dgm:spPr/>
      <dgm:t>
        <a:bodyPr/>
        <a:lstStyle/>
        <a:p>
          <a:r>
            <a:rPr lang="en-US"/>
            <a:t>Cache: A deep Dive</a:t>
          </a:r>
          <a:endParaRPr lang="en-US" dirty="0"/>
        </a:p>
      </dgm:t>
    </dgm:pt>
    <dgm:pt modelId="{FDB638BD-8229-4ABE-B8B0-B66F55E0F782}" type="parTrans" cxnId="{1D50B6D3-DF26-4858-A5B2-AFF1E64BF1B3}">
      <dgm:prSet/>
      <dgm:spPr/>
      <dgm:t>
        <a:bodyPr/>
        <a:lstStyle/>
        <a:p>
          <a:endParaRPr lang="en-US"/>
        </a:p>
      </dgm:t>
    </dgm:pt>
    <dgm:pt modelId="{3ED4B8D2-F7BC-4A74-A2CC-DA21EB1BB152}" type="sibTrans" cxnId="{1D50B6D3-DF26-4858-A5B2-AFF1E64BF1B3}">
      <dgm:prSet/>
      <dgm:spPr/>
      <dgm:t>
        <a:bodyPr/>
        <a:lstStyle/>
        <a:p>
          <a:endParaRPr lang="en-US"/>
        </a:p>
      </dgm:t>
    </dgm:pt>
    <dgm:pt modelId="{6838B180-E165-4091-90AE-5EDFDCF26411}">
      <dgm:prSet/>
      <dgm:spPr/>
      <dgm:t>
        <a:bodyPr/>
        <a:lstStyle/>
        <a:p>
          <a:pPr>
            <a:buNone/>
          </a:pPr>
          <a:r>
            <a:rPr lang="en-US" b="1" dirty="0" err="1"/>
            <a:t>Instrcutor:Waheed</a:t>
          </a:r>
          <a:r>
            <a:rPr lang="en-US" b="1" dirty="0"/>
            <a:t> Ahmad</a:t>
          </a:r>
          <a:endParaRPr lang="en-US" dirty="0"/>
        </a:p>
      </dgm:t>
    </dgm:pt>
    <dgm:pt modelId="{B4A504C4-8B71-498F-94FC-F027D7928ABA}" type="parTrans" cxnId="{6984D43E-45CA-4E66-8284-43588DD78694}">
      <dgm:prSet/>
      <dgm:spPr/>
      <dgm:t>
        <a:bodyPr/>
        <a:lstStyle/>
        <a:p>
          <a:endParaRPr lang="en-US"/>
        </a:p>
      </dgm:t>
    </dgm:pt>
    <dgm:pt modelId="{FECD6A8D-EB95-430A-B9A0-1F986D299335}" type="sibTrans" cxnId="{6984D43E-45CA-4E66-8284-43588DD78694}">
      <dgm:prSet/>
      <dgm:spPr/>
      <dgm:t>
        <a:bodyPr/>
        <a:lstStyle/>
        <a:p>
          <a:endParaRPr lang="en-US"/>
        </a:p>
      </dgm:t>
    </dgm:pt>
    <dgm:pt modelId="{0A434D4C-9EAC-42A0-82D0-5D78AD38D7F6}">
      <dgm:prSet/>
      <dgm:spPr/>
      <dgm:t>
        <a:bodyPr/>
        <a:lstStyle/>
        <a:p>
          <a:r>
            <a:rPr lang="en-US" b="1" dirty="0"/>
            <a:t>Week 7 </a:t>
          </a:r>
          <a:r>
            <a:rPr lang="en-US" b="1" dirty="0" err="1"/>
            <a:t>Lec</a:t>
          </a:r>
          <a:r>
            <a:rPr lang="en-US" b="1" dirty="0"/>
            <a:t> 2: Memory </a:t>
          </a:r>
          <a:endParaRPr lang="en-US" dirty="0"/>
        </a:p>
      </dgm:t>
    </dgm:pt>
    <dgm:pt modelId="{8F22A68D-EE81-4EB7-9147-8EE88C9608E3}" type="sibTrans" cxnId="{280EBE42-8871-4762-BAA1-4446810560E4}">
      <dgm:prSet/>
      <dgm:spPr/>
      <dgm:t>
        <a:bodyPr/>
        <a:lstStyle/>
        <a:p>
          <a:endParaRPr lang="en-US"/>
        </a:p>
      </dgm:t>
    </dgm:pt>
    <dgm:pt modelId="{5E051573-9DFA-4872-80A4-6FA64A490F7D}" type="parTrans" cxnId="{280EBE42-8871-4762-BAA1-4446810560E4}">
      <dgm:prSet/>
      <dgm:spPr/>
      <dgm:t>
        <a:bodyPr/>
        <a:lstStyle/>
        <a:p>
          <a:endParaRPr lang="en-US"/>
        </a:p>
      </dgm:t>
    </dgm:pt>
    <dgm:pt modelId="{2B5E29E6-E34B-4096-BD83-C6CBEC8AE8AD}" type="pres">
      <dgm:prSet presAssocID="{5366F392-4AE4-4FF3-A316-3A457C3BC9EB}" presName="linear" presStyleCnt="0">
        <dgm:presLayoutVars>
          <dgm:dir/>
          <dgm:animLvl val="lvl"/>
          <dgm:resizeHandles val="exact"/>
        </dgm:presLayoutVars>
      </dgm:prSet>
      <dgm:spPr/>
    </dgm:pt>
    <dgm:pt modelId="{781CF237-0A7F-45D4-98E2-7158BE9721CA}" type="pres">
      <dgm:prSet presAssocID="{0A434D4C-9EAC-42A0-82D0-5D78AD38D7F6}" presName="parentLin" presStyleCnt="0"/>
      <dgm:spPr/>
    </dgm:pt>
    <dgm:pt modelId="{6B446397-2B96-4C46-B8E2-461B8033535D}" type="pres">
      <dgm:prSet presAssocID="{0A434D4C-9EAC-42A0-82D0-5D78AD38D7F6}" presName="parentLeftMargin" presStyleLbl="node1" presStyleIdx="0" presStyleCnt="1"/>
      <dgm:spPr/>
    </dgm:pt>
    <dgm:pt modelId="{757D5B62-969B-4567-B907-6ADCCAFE9783}" type="pres">
      <dgm:prSet presAssocID="{0A434D4C-9EAC-42A0-82D0-5D78AD38D7F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05FC4ED-4C95-4B4B-8D2A-50F93178C292}" type="pres">
      <dgm:prSet presAssocID="{0A434D4C-9EAC-42A0-82D0-5D78AD38D7F6}" presName="negativeSpace" presStyleCnt="0"/>
      <dgm:spPr/>
    </dgm:pt>
    <dgm:pt modelId="{AB574F44-CD6D-4480-A010-F1222E0B4EB4}" type="pres">
      <dgm:prSet presAssocID="{0A434D4C-9EAC-42A0-82D0-5D78AD38D7F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6984D43E-45CA-4E66-8284-43588DD78694}" srcId="{0A434D4C-9EAC-42A0-82D0-5D78AD38D7F6}" destId="{6838B180-E165-4091-90AE-5EDFDCF26411}" srcOrd="1" destOrd="0" parTransId="{B4A504C4-8B71-498F-94FC-F027D7928ABA}" sibTransId="{FECD6A8D-EB95-430A-B9A0-1F986D299335}"/>
    <dgm:cxn modelId="{93724F5D-00E5-4734-AE1F-99B63D66250C}" type="presOf" srcId="{C44D96D7-60C6-481A-B725-E0BD56A05223}" destId="{AB574F44-CD6D-4480-A010-F1222E0B4EB4}" srcOrd="0" destOrd="0" presId="urn:microsoft.com/office/officeart/2005/8/layout/list1"/>
    <dgm:cxn modelId="{280EBE42-8871-4762-BAA1-4446810560E4}" srcId="{5366F392-4AE4-4FF3-A316-3A457C3BC9EB}" destId="{0A434D4C-9EAC-42A0-82D0-5D78AD38D7F6}" srcOrd="0" destOrd="0" parTransId="{5E051573-9DFA-4872-80A4-6FA64A490F7D}" sibTransId="{8F22A68D-EE81-4EB7-9147-8EE88C9608E3}"/>
    <dgm:cxn modelId="{00D91E4F-F006-4B81-A9A3-7E69FC834277}" type="presOf" srcId="{6838B180-E165-4091-90AE-5EDFDCF26411}" destId="{AB574F44-CD6D-4480-A010-F1222E0B4EB4}" srcOrd="0" destOrd="1" presId="urn:microsoft.com/office/officeart/2005/8/layout/list1"/>
    <dgm:cxn modelId="{0B1D8AA7-18A2-4560-A8B8-716EA214D0A9}" type="presOf" srcId="{5366F392-4AE4-4FF3-A316-3A457C3BC9EB}" destId="{2B5E29E6-E34B-4096-BD83-C6CBEC8AE8AD}" srcOrd="0" destOrd="0" presId="urn:microsoft.com/office/officeart/2005/8/layout/list1"/>
    <dgm:cxn modelId="{8973F5B6-DF43-4E51-8086-38C781AE4968}" type="presOf" srcId="{0A434D4C-9EAC-42A0-82D0-5D78AD38D7F6}" destId="{757D5B62-969B-4567-B907-6ADCCAFE9783}" srcOrd="1" destOrd="0" presId="urn:microsoft.com/office/officeart/2005/8/layout/list1"/>
    <dgm:cxn modelId="{1D50B6D3-DF26-4858-A5B2-AFF1E64BF1B3}" srcId="{0A434D4C-9EAC-42A0-82D0-5D78AD38D7F6}" destId="{C44D96D7-60C6-481A-B725-E0BD56A05223}" srcOrd="0" destOrd="0" parTransId="{FDB638BD-8229-4ABE-B8B0-B66F55E0F782}" sibTransId="{3ED4B8D2-F7BC-4A74-A2CC-DA21EB1BB152}"/>
    <dgm:cxn modelId="{B30C8FE4-E8D4-45A3-94D6-9951BEC079FD}" type="presOf" srcId="{0A434D4C-9EAC-42A0-82D0-5D78AD38D7F6}" destId="{6B446397-2B96-4C46-B8E2-461B8033535D}" srcOrd="0" destOrd="0" presId="urn:microsoft.com/office/officeart/2005/8/layout/list1"/>
    <dgm:cxn modelId="{F4301A25-DD72-4E7A-A939-55E53A618ADE}" type="presParOf" srcId="{2B5E29E6-E34B-4096-BD83-C6CBEC8AE8AD}" destId="{781CF237-0A7F-45D4-98E2-7158BE9721CA}" srcOrd="0" destOrd="0" presId="urn:microsoft.com/office/officeart/2005/8/layout/list1"/>
    <dgm:cxn modelId="{E3467E4D-8A51-4CBA-A478-BC388A627848}" type="presParOf" srcId="{781CF237-0A7F-45D4-98E2-7158BE9721CA}" destId="{6B446397-2B96-4C46-B8E2-461B8033535D}" srcOrd="0" destOrd="0" presId="urn:microsoft.com/office/officeart/2005/8/layout/list1"/>
    <dgm:cxn modelId="{4EC367AF-3151-4814-8171-126688C2B61B}" type="presParOf" srcId="{781CF237-0A7F-45D4-98E2-7158BE9721CA}" destId="{757D5B62-969B-4567-B907-6ADCCAFE9783}" srcOrd="1" destOrd="0" presId="urn:microsoft.com/office/officeart/2005/8/layout/list1"/>
    <dgm:cxn modelId="{4DEEE372-4038-49ED-A2CE-F29F28088251}" type="presParOf" srcId="{2B5E29E6-E34B-4096-BD83-C6CBEC8AE8AD}" destId="{B05FC4ED-4C95-4B4B-8D2A-50F93178C292}" srcOrd="1" destOrd="0" presId="urn:microsoft.com/office/officeart/2005/8/layout/list1"/>
    <dgm:cxn modelId="{3E379323-3AA5-4E3B-AD88-0235F251C83A}" type="presParOf" srcId="{2B5E29E6-E34B-4096-BD83-C6CBEC8AE8AD}" destId="{AB574F44-CD6D-4480-A010-F1222E0B4EB4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74F44-CD6D-4480-A010-F1222E0B4EB4}">
      <dsp:nvSpPr>
        <dsp:cNvPr id="0" name=""/>
        <dsp:cNvSpPr/>
      </dsp:nvSpPr>
      <dsp:spPr>
        <a:xfrm>
          <a:off x="0" y="453303"/>
          <a:ext cx="5978843" cy="1689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4025" tIns="604012" rIns="464025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Cache: A deep Dive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900" b="1" kern="1200" dirty="0" err="1"/>
            <a:t>Instrcutor:Waheed</a:t>
          </a:r>
          <a:r>
            <a:rPr lang="en-US" sz="2900" b="1" kern="1200" dirty="0"/>
            <a:t> Ahmad</a:t>
          </a:r>
          <a:endParaRPr lang="en-US" sz="2900" kern="1200" dirty="0"/>
        </a:p>
      </dsp:txBody>
      <dsp:txXfrm>
        <a:off x="0" y="453303"/>
        <a:ext cx="5978843" cy="1689975"/>
      </dsp:txXfrm>
    </dsp:sp>
    <dsp:sp modelId="{757D5B62-969B-4567-B907-6ADCCAFE9783}">
      <dsp:nvSpPr>
        <dsp:cNvPr id="0" name=""/>
        <dsp:cNvSpPr/>
      </dsp:nvSpPr>
      <dsp:spPr>
        <a:xfrm>
          <a:off x="298942" y="25263"/>
          <a:ext cx="4185190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190" tIns="0" rIns="15819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Week 7 </a:t>
          </a:r>
          <a:r>
            <a:rPr lang="en-US" sz="2900" b="1" kern="1200" dirty="0" err="1"/>
            <a:t>Lec</a:t>
          </a:r>
          <a:r>
            <a:rPr lang="en-US" sz="2900" b="1" kern="1200" dirty="0"/>
            <a:t> 2: Memory </a:t>
          </a:r>
          <a:endParaRPr lang="en-US" sz="2900" kern="1200" dirty="0"/>
        </a:p>
      </dsp:txBody>
      <dsp:txXfrm>
        <a:off x="340732" y="67053"/>
        <a:ext cx="4101610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3F113-1475-4662-BE9D-F2F6D638B30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77057-5EC4-4897-AA9D-4E236AB1D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44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77057-5EC4-4897-AA9D-4E236AB1DF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0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54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23598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23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90997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740097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16666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26909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04382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01656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36617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744900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80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CS324</a:t>
            </a:r>
            <a:r>
              <a:rPr spc="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7625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80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CS324</a:t>
            </a:r>
            <a:r>
              <a:rPr spc="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736264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80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CS324</a:t>
            </a:r>
            <a:r>
              <a:rPr spc="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973390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80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CS324</a:t>
            </a:r>
            <a:r>
              <a:rPr spc="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19058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CS324</a:t>
            </a:r>
            <a:r>
              <a:rPr spc="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41694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0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135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461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0951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845734"/>
            <a:ext cx="370332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747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77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470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7000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226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4948" cy="82296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3"/>
            <a:ext cx="7584948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375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256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8"/>
            <a:ext cx="5800725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60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51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300" y="733043"/>
            <a:ext cx="8912860" cy="58419"/>
          </a:xfrm>
          <a:custGeom>
            <a:avLst/>
            <a:gdLst/>
            <a:ahLst/>
            <a:cxnLst/>
            <a:rect l="l" t="t" r="r" b="b"/>
            <a:pathLst>
              <a:path w="8912860" h="58420">
                <a:moveTo>
                  <a:pt x="8912352" y="23114"/>
                </a:moveTo>
                <a:lnTo>
                  <a:pt x="0" y="23114"/>
                </a:lnTo>
                <a:lnTo>
                  <a:pt x="0" y="57912"/>
                </a:lnTo>
                <a:lnTo>
                  <a:pt x="8912352" y="57912"/>
                </a:lnTo>
                <a:lnTo>
                  <a:pt x="8912352" y="23114"/>
                </a:lnTo>
                <a:close/>
              </a:path>
              <a:path w="8912860" h="58420">
                <a:moveTo>
                  <a:pt x="8912352" y="0"/>
                </a:moveTo>
                <a:lnTo>
                  <a:pt x="0" y="0"/>
                </a:lnTo>
                <a:lnTo>
                  <a:pt x="0" y="11557"/>
                </a:lnTo>
                <a:lnTo>
                  <a:pt x="8912352" y="11557"/>
                </a:lnTo>
                <a:lnTo>
                  <a:pt x="89123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4300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96133" y="265557"/>
            <a:ext cx="3951732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80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5374" y="1248410"/>
            <a:ext cx="4241800" cy="3565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4401" y="6590918"/>
            <a:ext cx="2547620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CS324</a:t>
            </a:r>
            <a:r>
              <a:rPr spc="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23045" y="6607072"/>
            <a:ext cx="249554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157072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5734"/>
            <a:ext cx="75438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10/19/2025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600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326" y="5810192"/>
            <a:ext cx="647509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163"/>
              </a:lnSpc>
              <a:tabLst>
                <a:tab pos="6400324" algn="l"/>
              </a:tabLst>
              <a:defRPr/>
            </a:pP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CS324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Computer</a:t>
            </a:r>
            <a:r>
              <a:rPr sz="1050" b="1" i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Architecture</a:t>
            </a: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1575" b="1" spc="-56" baseline="-5952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1575" baseline="-5952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3400" y="685800"/>
            <a:ext cx="7384257" cy="5075111"/>
            <a:chOff x="111125" y="234568"/>
            <a:chExt cx="8921750" cy="6303645"/>
          </a:xfrm>
        </p:grpSpPr>
        <p:sp>
          <p:nvSpPr>
            <p:cNvPr id="4" name="object 4"/>
            <p:cNvSpPr/>
            <p:nvPr/>
          </p:nvSpPr>
          <p:spPr>
            <a:xfrm>
              <a:off x="114300" y="733424"/>
              <a:ext cx="8912860" cy="57150"/>
            </a:xfrm>
            <a:custGeom>
              <a:avLst/>
              <a:gdLst/>
              <a:ahLst/>
              <a:cxnLst/>
              <a:rect l="l" t="t" r="r" b="b"/>
              <a:pathLst>
                <a:path w="8912860" h="57150">
                  <a:moveTo>
                    <a:pt x="8912352" y="22860"/>
                  </a:moveTo>
                  <a:lnTo>
                    <a:pt x="0" y="22860"/>
                  </a:lnTo>
                  <a:lnTo>
                    <a:pt x="0" y="57150"/>
                  </a:lnTo>
                  <a:lnTo>
                    <a:pt x="8912352" y="57150"/>
                  </a:lnTo>
                  <a:lnTo>
                    <a:pt x="8912352" y="22860"/>
                  </a:lnTo>
                  <a:close/>
                </a:path>
                <a:path w="8912860" h="57150">
                  <a:moveTo>
                    <a:pt x="891235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8912352" y="11430"/>
                  </a:lnTo>
                  <a:lnTo>
                    <a:pt x="8912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17965" y="1886455"/>
            <a:ext cx="5010150" cy="425116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en-US" sz="2700" dirty="0"/>
              <a:t>CS361</a:t>
            </a:r>
            <a:r>
              <a:rPr sz="2700" dirty="0"/>
              <a:t>:</a:t>
            </a:r>
            <a:r>
              <a:rPr sz="2700" spc="-30" dirty="0"/>
              <a:t> </a:t>
            </a:r>
            <a:r>
              <a:rPr sz="2700" dirty="0"/>
              <a:t>Computer</a:t>
            </a:r>
            <a:r>
              <a:rPr sz="2700" spc="-15" dirty="0"/>
              <a:t> </a:t>
            </a:r>
            <a:r>
              <a:rPr sz="2700" spc="-8" dirty="0"/>
              <a:t>Architecture</a:t>
            </a:r>
            <a:endParaRPr sz="2700" dirty="0"/>
          </a:p>
        </p:txBody>
      </p:sp>
      <p:sp>
        <p:nvSpPr>
          <p:cNvPr id="9" name="object 9"/>
          <p:cNvSpPr/>
          <p:nvPr/>
        </p:nvSpPr>
        <p:spPr>
          <a:xfrm>
            <a:off x="1176148" y="5813299"/>
            <a:ext cx="6825139" cy="167164"/>
          </a:xfrm>
          <a:custGeom>
            <a:avLst/>
            <a:gdLst/>
            <a:ahLst/>
            <a:cxnLst/>
            <a:rect l="l" t="t" r="r" b="b"/>
            <a:pathLst>
              <a:path w="9100185" h="222884">
                <a:moveTo>
                  <a:pt x="9099804" y="0"/>
                </a:moveTo>
                <a:lnTo>
                  <a:pt x="0" y="0"/>
                </a:lnTo>
                <a:lnTo>
                  <a:pt x="0" y="222503"/>
                </a:lnTo>
                <a:lnTo>
                  <a:pt x="9099804" y="222503"/>
                </a:lnTo>
                <a:lnTo>
                  <a:pt x="9099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685800">
              <a:defRPr/>
            </a:pPr>
            <a:endParaRPr sz="135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Picture 9" descr="Page 98 – Ghulam Ishaq Khan Institute of Engineering ...">
            <a:extLst>
              <a:ext uri="{FF2B5EF4-FFF2-40B4-BE49-F238E27FC236}">
                <a16:creationId xmlns:a16="http://schemas.microsoft.com/office/drawing/2014/main" id="{B3A46A1E-4695-E2C0-8AAD-23FCC975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526" y="2455473"/>
            <a:ext cx="2057400" cy="2057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10471" y="4476783"/>
            <a:ext cx="682513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80"/>
              </a:spcBef>
            </a:pP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08011"/>
                </a:solidFill>
                <a:latin typeface="Arial"/>
                <a:cs typeface="Arial"/>
              </a:rPr>
              <a:t>Reading</a:t>
            </a:r>
            <a:r>
              <a:rPr sz="14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8011"/>
                </a:solidFill>
                <a:latin typeface="Arial"/>
                <a:cs typeface="Arial"/>
              </a:rPr>
              <a:t>Sections</a:t>
            </a:r>
            <a:r>
              <a:rPr sz="1400" dirty="0">
                <a:solidFill>
                  <a:srgbClr val="008011"/>
                </a:solidFill>
                <a:latin typeface="Arial MT"/>
                <a:cs typeface="Arial MT"/>
              </a:rPr>
              <a:t>:</a:t>
            </a:r>
            <a:r>
              <a:rPr sz="1400" spc="-5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008011"/>
                </a:solidFill>
                <a:latin typeface="Arial"/>
                <a:cs typeface="Arial"/>
              </a:rPr>
              <a:t>:</a:t>
            </a:r>
            <a:r>
              <a:rPr sz="1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Computer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Organization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Design: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HW/SW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Interface,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5th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Edition: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Section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5.1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Computer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Architecture:</a:t>
            </a:r>
            <a:r>
              <a:rPr sz="1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14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Quantitative</a:t>
            </a:r>
            <a:r>
              <a:rPr sz="14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Approach,</a:t>
            </a:r>
            <a:r>
              <a:rPr sz="1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Sixth</a:t>
            </a:r>
            <a:r>
              <a:rPr sz="14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Edition,</a:t>
            </a:r>
            <a:r>
              <a:rPr sz="14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Section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2.1</a:t>
            </a:r>
            <a:endParaRPr sz="1400" dirty="0">
              <a:latin typeface="Arial MT"/>
              <a:cs typeface="Arial MT"/>
            </a:endParaRPr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C47539E8-0F3D-09A5-F68C-17D1D2DBB7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1420379"/>
              </p:ext>
            </p:extLst>
          </p:nvPr>
        </p:nvGraphicFramePr>
        <p:xfrm>
          <a:off x="909944" y="2365396"/>
          <a:ext cx="5978843" cy="2168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80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A5C1E3-498F-6FBE-0602-1ADD6931F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17" y="1099907"/>
            <a:ext cx="7752969" cy="465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1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60867-AE4F-B455-677C-8C75519A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133" y="265557"/>
            <a:ext cx="3951732" cy="369332"/>
          </a:xfrm>
        </p:spPr>
        <p:txBody>
          <a:bodyPr/>
          <a:lstStyle/>
          <a:p>
            <a:r>
              <a:rPr lang="en-US" dirty="0"/>
              <a:t>Class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74763-3D6A-D141-40C1-A5988A6B2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5374" y="1248410"/>
            <a:ext cx="4241800" cy="4542789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AE4F4C-3163-778A-212A-99D841A10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599503"/>
              </p:ext>
            </p:extLst>
          </p:nvPr>
        </p:nvGraphicFramePr>
        <p:xfrm>
          <a:off x="225425" y="2164172"/>
          <a:ext cx="4241799" cy="22554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3933">
                  <a:extLst>
                    <a:ext uri="{9D8B030D-6E8A-4147-A177-3AD203B41FA5}">
                      <a16:colId xmlns:a16="http://schemas.microsoft.com/office/drawing/2014/main" val="2740541893"/>
                    </a:ext>
                  </a:extLst>
                </a:gridCol>
                <a:gridCol w="1413933">
                  <a:extLst>
                    <a:ext uri="{9D8B030D-6E8A-4147-A177-3AD203B41FA5}">
                      <a16:colId xmlns:a16="http://schemas.microsoft.com/office/drawing/2014/main" val="2694688442"/>
                    </a:ext>
                  </a:extLst>
                </a:gridCol>
                <a:gridCol w="1413933">
                  <a:extLst>
                    <a:ext uri="{9D8B030D-6E8A-4147-A177-3AD203B41FA5}">
                      <a16:colId xmlns:a16="http://schemas.microsoft.com/office/drawing/2014/main" val="3899618510"/>
                    </a:ext>
                  </a:extLst>
                </a:gridCol>
              </a:tblGrid>
              <a:tr h="3222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Address of Reference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Assigned Cache Block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Hit or Miss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31922436"/>
                  </a:ext>
                </a:extLst>
              </a:tr>
              <a:tr h="322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10101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56459136"/>
                  </a:ext>
                </a:extLst>
              </a:tr>
              <a:tr h="322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11001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5153191"/>
                  </a:ext>
                </a:extLst>
              </a:tr>
              <a:tr h="322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10101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91757971"/>
                  </a:ext>
                </a:extLst>
              </a:tr>
              <a:tr h="322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00101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9930772"/>
                  </a:ext>
                </a:extLst>
              </a:tr>
              <a:tr h="322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10001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1524837"/>
                  </a:ext>
                </a:extLst>
              </a:tr>
              <a:tr h="322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10101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939574"/>
                  </a:ext>
                </a:extLst>
              </a:tr>
            </a:tbl>
          </a:graphicData>
        </a:graphic>
      </p:graphicFrame>
      <p:grpSp>
        <p:nvGrpSpPr>
          <p:cNvPr id="5" name="object 3">
            <a:extLst>
              <a:ext uri="{FF2B5EF4-FFF2-40B4-BE49-F238E27FC236}">
                <a16:creationId xmlns:a16="http://schemas.microsoft.com/office/drawing/2014/main" id="{C1423D05-18ED-97F9-0D88-D9F6B3DEBFB5}"/>
              </a:ext>
            </a:extLst>
          </p:cNvPr>
          <p:cNvGrpSpPr/>
          <p:nvPr/>
        </p:nvGrpSpPr>
        <p:grpSpPr>
          <a:xfrm>
            <a:off x="5116195" y="1546225"/>
            <a:ext cx="3439160" cy="3073400"/>
            <a:chOff x="5116195" y="1546225"/>
            <a:chExt cx="3439160" cy="3073400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EAAAA41C-E302-B13B-08C1-4215D466CEC8}"/>
                </a:ext>
              </a:extLst>
            </p:cNvPr>
            <p:cNvSpPr/>
            <p:nvPr/>
          </p:nvSpPr>
          <p:spPr>
            <a:xfrm>
              <a:off x="5141595" y="1558924"/>
              <a:ext cx="3388360" cy="609600"/>
            </a:xfrm>
            <a:custGeom>
              <a:avLst/>
              <a:gdLst/>
              <a:ahLst/>
              <a:cxnLst/>
              <a:rect l="l" t="t" r="r" b="b"/>
              <a:pathLst>
                <a:path w="3388359" h="609600">
                  <a:moveTo>
                    <a:pt x="3387852" y="304800"/>
                  </a:moveTo>
                  <a:lnTo>
                    <a:pt x="3387725" y="304800"/>
                  </a:lnTo>
                  <a:lnTo>
                    <a:pt x="3387725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0" y="609600"/>
                  </a:lnTo>
                  <a:lnTo>
                    <a:pt x="659561" y="609600"/>
                  </a:lnTo>
                  <a:lnTo>
                    <a:pt x="659561" y="304800"/>
                  </a:lnTo>
                  <a:lnTo>
                    <a:pt x="659638" y="609600"/>
                  </a:lnTo>
                  <a:lnTo>
                    <a:pt x="1768856" y="609600"/>
                  </a:lnTo>
                  <a:lnTo>
                    <a:pt x="3387852" y="609600"/>
                  </a:lnTo>
                  <a:lnTo>
                    <a:pt x="3387852" y="304800"/>
                  </a:lnTo>
                  <a:close/>
                </a:path>
              </a:pathLst>
            </a:custGeom>
            <a:solidFill>
              <a:srgbClr val="0000D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BD653ACA-93E2-B89D-D01D-71CC73EF9247}"/>
                </a:ext>
              </a:extLst>
            </p:cNvPr>
            <p:cNvSpPr/>
            <p:nvPr/>
          </p:nvSpPr>
          <p:spPr>
            <a:xfrm>
              <a:off x="5141595" y="2168524"/>
              <a:ext cx="3388360" cy="304800"/>
            </a:xfrm>
            <a:custGeom>
              <a:avLst/>
              <a:gdLst/>
              <a:ahLst/>
              <a:cxnLst/>
              <a:rect l="l" t="t" r="r" b="b"/>
              <a:pathLst>
                <a:path w="3388359" h="304800">
                  <a:moveTo>
                    <a:pt x="659561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59561" y="304800"/>
                  </a:lnTo>
                  <a:lnTo>
                    <a:pt x="659561" y="0"/>
                  </a:lnTo>
                  <a:close/>
                </a:path>
                <a:path w="3388359" h="304800">
                  <a:moveTo>
                    <a:pt x="3387852" y="0"/>
                  </a:moveTo>
                  <a:lnTo>
                    <a:pt x="1768906" y="0"/>
                  </a:lnTo>
                  <a:lnTo>
                    <a:pt x="659638" y="0"/>
                  </a:lnTo>
                  <a:lnTo>
                    <a:pt x="659638" y="304800"/>
                  </a:lnTo>
                  <a:lnTo>
                    <a:pt x="1768856" y="304800"/>
                  </a:lnTo>
                  <a:lnTo>
                    <a:pt x="3387852" y="304800"/>
                  </a:lnTo>
                  <a:lnTo>
                    <a:pt x="3387852" y="0"/>
                  </a:lnTo>
                  <a:close/>
                </a:path>
              </a:pathLst>
            </a:custGeom>
            <a:solidFill>
              <a:srgbClr val="E7E7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C5D3766A-ECB0-5B11-DC90-29B8C2B92ED4}"/>
                </a:ext>
              </a:extLst>
            </p:cNvPr>
            <p:cNvSpPr/>
            <p:nvPr/>
          </p:nvSpPr>
          <p:spPr>
            <a:xfrm>
              <a:off x="5141595" y="2473324"/>
              <a:ext cx="3388360" cy="304800"/>
            </a:xfrm>
            <a:custGeom>
              <a:avLst/>
              <a:gdLst/>
              <a:ahLst/>
              <a:cxnLst/>
              <a:rect l="l" t="t" r="r" b="b"/>
              <a:pathLst>
                <a:path w="3388359" h="304800">
                  <a:moveTo>
                    <a:pt x="659561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59561" y="304800"/>
                  </a:lnTo>
                  <a:lnTo>
                    <a:pt x="659561" y="0"/>
                  </a:lnTo>
                  <a:close/>
                </a:path>
                <a:path w="3388359" h="304800">
                  <a:moveTo>
                    <a:pt x="3387852" y="0"/>
                  </a:moveTo>
                  <a:lnTo>
                    <a:pt x="1768906" y="0"/>
                  </a:lnTo>
                  <a:lnTo>
                    <a:pt x="659638" y="0"/>
                  </a:lnTo>
                  <a:lnTo>
                    <a:pt x="659638" y="304800"/>
                  </a:lnTo>
                  <a:lnTo>
                    <a:pt x="1768856" y="304800"/>
                  </a:lnTo>
                  <a:lnTo>
                    <a:pt x="3387852" y="304800"/>
                  </a:lnTo>
                  <a:lnTo>
                    <a:pt x="3387852" y="0"/>
                  </a:lnTo>
                  <a:close/>
                </a:path>
              </a:pathLst>
            </a:custGeom>
            <a:solidFill>
              <a:srgbClr val="CACAE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1225B8E-C3EE-C7A2-D4E8-6DFDBA84C9C7}"/>
                </a:ext>
              </a:extLst>
            </p:cNvPr>
            <p:cNvSpPr/>
            <p:nvPr/>
          </p:nvSpPr>
          <p:spPr>
            <a:xfrm>
              <a:off x="5141595" y="2778124"/>
              <a:ext cx="3388360" cy="304800"/>
            </a:xfrm>
            <a:custGeom>
              <a:avLst/>
              <a:gdLst/>
              <a:ahLst/>
              <a:cxnLst/>
              <a:rect l="l" t="t" r="r" b="b"/>
              <a:pathLst>
                <a:path w="3388359" h="304800">
                  <a:moveTo>
                    <a:pt x="659561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59561" y="304800"/>
                  </a:lnTo>
                  <a:lnTo>
                    <a:pt x="659561" y="0"/>
                  </a:lnTo>
                  <a:close/>
                </a:path>
                <a:path w="3388359" h="304800">
                  <a:moveTo>
                    <a:pt x="3387852" y="0"/>
                  </a:moveTo>
                  <a:lnTo>
                    <a:pt x="1768906" y="0"/>
                  </a:lnTo>
                  <a:lnTo>
                    <a:pt x="659638" y="0"/>
                  </a:lnTo>
                  <a:lnTo>
                    <a:pt x="659638" y="304800"/>
                  </a:lnTo>
                  <a:lnTo>
                    <a:pt x="1768856" y="304800"/>
                  </a:lnTo>
                  <a:lnTo>
                    <a:pt x="3387852" y="304800"/>
                  </a:lnTo>
                  <a:lnTo>
                    <a:pt x="3387852" y="0"/>
                  </a:lnTo>
                  <a:close/>
                </a:path>
              </a:pathLst>
            </a:custGeom>
            <a:solidFill>
              <a:srgbClr val="E7E7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6E38C3F0-27EC-BB7E-C1EB-1EFC2475D00B}"/>
                </a:ext>
              </a:extLst>
            </p:cNvPr>
            <p:cNvSpPr/>
            <p:nvPr/>
          </p:nvSpPr>
          <p:spPr>
            <a:xfrm>
              <a:off x="5141595" y="3082924"/>
              <a:ext cx="3388360" cy="304800"/>
            </a:xfrm>
            <a:custGeom>
              <a:avLst/>
              <a:gdLst/>
              <a:ahLst/>
              <a:cxnLst/>
              <a:rect l="l" t="t" r="r" b="b"/>
              <a:pathLst>
                <a:path w="3388359" h="304800">
                  <a:moveTo>
                    <a:pt x="659561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59561" y="304800"/>
                  </a:lnTo>
                  <a:lnTo>
                    <a:pt x="659561" y="0"/>
                  </a:lnTo>
                  <a:close/>
                </a:path>
                <a:path w="3388359" h="304800">
                  <a:moveTo>
                    <a:pt x="3387852" y="0"/>
                  </a:moveTo>
                  <a:lnTo>
                    <a:pt x="1768906" y="0"/>
                  </a:lnTo>
                  <a:lnTo>
                    <a:pt x="659638" y="0"/>
                  </a:lnTo>
                  <a:lnTo>
                    <a:pt x="659638" y="304800"/>
                  </a:lnTo>
                  <a:lnTo>
                    <a:pt x="1768856" y="304800"/>
                  </a:lnTo>
                  <a:lnTo>
                    <a:pt x="3387852" y="304800"/>
                  </a:lnTo>
                  <a:lnTo>
                    <a:pt x="3387852" y="0"/>
                  </a:lnTo>
                  <a:close/>
                </a:path>
              </a:pathLst>
            </a:custGeom>
            <a:solidFill>
              <a:srgbClr val="CACAE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C501337B-FDB2-7711-6711-BFF71509F36E}"/>
                </a:ext>
              </a:extLst>
            </p:cNvPr>
            <p:cNvSpPr/>
            <p:nvPr/>
          </p:nvSpPr>
          <p:spPr>
            <a:xfrm>
              <a:off x="5141595" y="3387724"/>
              <a:ext cx="3388360" cy="304800"/>
            </a:xfrm>
            <a:custGeom>
              <a:avLst/>
              <a:gdLst/>
              <a:ahLst/>
              <a:cxnLst/>
              <a:rect l="l" t="t" r="r" b="b"/>
              <a:pathLst>
                <a:path w="3388359" h="304800">
                  <a:moveTo>
                    <a:pt x="659561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59561" y="304800"/>
                  </a:lnTo>
                  <a:lnTo>
                    <a:pt x="659561" y="0"/>
                  </a:lnTo>
                  <a:close/>
                </a:path>
                <a:path w="3388359" h="304800">
                  <a:moveTo>
                    <a:pt x="3387852" y="0"/>
                  </a:moveTo>
                  <a:lnTo>
                    <a:pt x="1768906" y="0"/>
                  </a:lnTo>
                  <a:lnTo>
                    <a:pt x="659638" y="0"/>
                  </a:lnTo>
                  <a:lnTo>
                    <a:pt x="659638" y="304800"/>
                  </a:lnTo>
                  <a:lnTo>
                    <a:pt x="1768856" y="304800"/>
                  </a:lnTo>
                  <a:lnTo>
                    <a:pt x="3387852" y="304800"/>
                  </a:lnTo>
                  <a:lnTo>
                    <a:pt x="3387852" y="0"/>
                  </a:lnTo>
                  <a:close/>
                </a:path>
              </a:pathLst>
            </a:custGeom>
            <a:solidFill>
              <a:srgbClr val="E7E7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BFFF158B-A408-3331-F6DA-16BD39B51E8A}"/>
                </a:ext>
              </a:extLst>
            </p:cNvPr>
            <p:cNvSpPr/>
            <p:nvPr/>
          </p:nvSpPr>
          <p:spPr>
            <a:xfrm>
              <a:off x="5141595" y="3692524"/>
              <a:ext cx="3388360" cy="304800"/>
            </a:xfrm>
            <a:custGeom>
              <a:avLst/>
              <a:gdLst/>
              <a:ahLst/>
              <a:cxnLst/>
              <a:rect l="l" t="t" r="r" b="b"/>
              <a:pathLst>
                <a:path w="3388359" h="304800">
                  <a:moveTo>
                    <a:pt x="659561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59561" y="304800"/>
                  </a:lnTo>
                  <a:lnTo>
                    <a:pt x="659561" y="0"/>
                  </a:lnTo>
                  <a:close/>
                </a:path>
                <a:path w="3388359" h="304800">
                  <a:moveTo>
                    <a:pt x="3387852" y="0"/>
                  </a:moveTo>
                  <a:lnTo>
                    <a:pt x="1768906" y="0"/>
                  </a:lnTo>
                  <a:lnTo>
                    <a:pt x="659638" y="0"/>
                  </a:lnTo>
                  <a:lnTo>
                    <a:pt x="659638" y="304800"/>
                  </a:lnTo>
                  <a:lnTo>
                    <a:pt x="1768856" y="304800"/>
                  </a:lnTo>
                  <a:lnTo>
                    <a:pt x="3387852" y="304800"/>
                  </a:lnTo>
                  <a:lnTo>
                    <a:pt x="3387852" y="0"/>
                  </a:lnTo>
                  <a:close/>
                </a:path>
              </a:pathLst>
            </a:custGeom>
            <a:solidFill>
              <a:srgbClr val="CACAE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5ED045F8-24E2-D426-2E99-FD2250FE4D28}"/>
                </a:ext>
              </a:extLst>
            </p:cNvPr>
            <p:cNvSpPr/>
            <p:nvPr/>
          </p:nvSpPr>
          <p:spPr>
            <a:xfrm>
              <a:off x="5141595" y="3997324"/>
              <a:ext cx="3388360" cy="304800"/>
            </a:xfrm>
            <a:custGeom>
              <a:avLst/>
              <a:gdLst/>
              <a:ahLst/>
              <a:cxnLst/>
              <a:rect l="l" t="t" r="r" b="b"/>
              <a:pathLst>
                <a:path w="3388359" h="304800">
                  <a:moveTo>
                    <a:pt x="659561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59561" y="304800"/>
                  </a:lnTo>
                  <a:lnTo>
                    <a:pt x="659561" y="0"/>
                  </a:lnTo>
                  <a:close/>
                </a:path>
                <a:path w="3388359" h="304800">
                  <a:moveTo>
                    <a:pt x="3387852" y="0"/>
                  </a:moveTo>
                  <a:lnTo>
                    <a:pt x="1768906" y="0"/>
                  </a:lnTo>
                  <a:lnTo>
                    <a:pt x="659638" y="0"/>
                  </a:lnTo>
                  <a:lnTo>
                    <a:pt x="659638" y="304800"/>
                  </a:lnTo>
                  <a:lnTo>
                    <a:pt x="1768856" y="304800"/>
                  </a:lnTo>
                  <a:lnTo>
                    <a:pt x="3387852" y="304800"/>
                  </a:lnTo>
                  <a:lnTo>
                    <a:pt x="3387852" y="0"/>
                  </a:lnTo>
                  <a:close/>
                </a:path>
              </a:pathLst>
            </a:custGeom>
            <a:solidFill>
              <a:srgbClr val="E7E7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49D44AC0-750B-5F4E-60A8-E80B4AC73FA6}"/>
                </a:ext>
              </a:extLst>
            </p:cNvPr>
            <p:cNvSpPr/>
            <p:nvPr/>
          </p:nvSpPr>
          <p:spPr>
            <a:xfrm>
              <a:off x="5141595" y="4302124"/>
              <a:ext cx="3388360" cy="304800"/>
            </a:xfrm>
            <a:custGeom>
              <a:avLst/>
              <a:gdLst/>
              <a:ahLst/>
              <a:cxnLst/>
              <a:rect l="l" t="t" r="r" b="b"/>
              <a:pathLst>
                <a:path w="3388359" h="304800">
                  <a:moveTo>
                    <a:pt x="659561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59561" y="304800"/>
                  </a:lnTo>
                  <a:lnTo>
                    <a:pt x="659561" y="0"/>
                  </a:lnTo>
                  <a:close/>
                </a:path>
                <a:path w="3388359" h="304800">
                  <a:moveTo>
                    <a:pt x="3387852" y="0"/>
                  </a:moveTo>
                  <a:lnTo>
                    <a:pt x="1768906" y="0"/>
                  </a:lnTo>
                  <a:lnTo>
                    <a:pt x="659638" y="0"/>
                  </a:lnTo>
                  <a:lnTo>
                    <a:pt x="659638" y="304800"/>
                  </a:lnTo>
                  <a:lnTo>
                    <a:pt x="1768856" y="304800"/>
                  </a:lnTo>
                  <a:lnTo>
                    <a:pt x="3387852" y="304800"/>
                  </a:lnTo>
                  <a:lnTo>
                    <a:pt x="3387852" y="0"/>
                  </a:lnTo>
                  <a:close/>
                </a:path>
              </a:pathLst>
            </a:custGeom>
            <a:solidFill>
              <a:srgbClr val="CACAE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1072DEBC-5D58-307E-9273-7490D0B7A1DB}"/>
                </a:ext>
              </a:extLst>
            </p:cNvPr>
            <p:cNvSpPr/>
            <p:nvPr/>
          </p:nvSpPr>
          <p:spPr>
            <a:xfrm>
              <a:off x="5801233" y="1844675"/>
              <a:ext cx="1109345" cy="2768600"/>
            </a:xfrm>
            <a:custGeom>
              <a:avLst/>
              <a:gdLst/>
              <a:ahLst/>
              <a:cxnLst/>
              <a:rect l="l" t="t" r="r" b="b"/>
              <a:pathLst>
                <a:path w="1109345" h="2768600">
                  <a:moveTo>
                    <a:pt x="0" y="0"/>
                  </a:moveTo>
                  <a:lnTo>
                    <a:pt x="0" y="2768600"/>
                  </a:lnTo>
                </a:path>
                <a:path w="1109345" h="2768600">
                  <a:moveTo>
                    <a:pt x="1109217" y="0"/>
                  </a:moveTo>
                  <a:lnTo>
                    <a:pt x="1109217" y="27686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26268D5E-455D-2DA8-1E83-A7B83493EAA6}"/>
                </a:ext>
              </a:extLst>
            </p:cNvPr>
            <p:cNvSpPr/>
            <p:nvPr/>
          </p:nvSpPr>
          <p:spPr>
            <a:xfrm>
              <a:off x="5135245" y="1863725"/>
              <a:ext cx="3401060" cy="0"/>
            </a:xfrm>
            <a:custGeom>
              <a:avLst/>
              <a:gdLst/>
              <a:ahLst/>
              <a:cxnLst/>
              <a:rect l="l" t="t" r="r" b="b"/>
              <a:pathLst>
                <a:path w="3401059">
                  <a:moveTo>
                    <a:pt x="0" y="0"/>
                  </a:moveTo>
                  <a:lnTo>
                    <a:pt x="340055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6D52D65E-D255-DC40-EBE3-B80FCDB21B4F}"/>
                </a:ext>
              </a:extLst>
            </p:cNvPr>
            <p:cNvSpPr/>
            <p:nvPr/>
          </p:nvSpPr>
          <p:spPr>
            <a:xfrm>
              <a:off x="5135245" y="1552575"/>
              <a:ext cx="3401060" cy="3060700"/>
            </a:xfrm>
            <a:custGeom>
              <a:avLst/>
              <a:gdLst/>
              <a:ahLst/>
              <a:cxnLst/>
              <a:rect l="l" t="t" r="r" b="b"/>
              <a:pathLst>
                <a:path w="3401059" h="3060700">
                  <a:moveTo>
                    <a:pt x="0" y="615950"/>
                  </a:moveTo>
                  <a:lnTo>
                    <a:pt x="3400552" y="615950"/>
                  </a:lnTo>
                </a:path>
                <a:path w="3401059" h="3060700">
                  <a:moveTo>
                    <a:pt x="0" y="920750"/>
                  </a:moveTo>
                  <a:lnTo>
                    <a:pt x="3400552" y="920750"/>
                  </a:lnTo>
                </a:path>
                <a:path w="3401059" h="3060700">
                  <a:moveTo>
                    <a:pt x="0" y="1225550"/>
                  </a:moveTo>
                  <a:lnTo>
                    <a:pt x="3400552" y="1225550"/>
                  </a:lnTo>
                </a:path>
                <a:path w="3401059" h="3060700">
                  <a:moveTo>
                    <a:pt x="0" y="1530350"/>
                  </a:moveTo>
                  <a:lnTo>
                    <a:pt x="3400552" y="1530350"/>
                  </a:lnTo>
                </a:path>
                <a:path w="3401059" h="3060700">
                  <a:moveTo>
                    <a:pt x="0" y="1835150"/>
                  </a:moveTo>
                  <a:lnTo>
                    <a:pt x="3400552" y="1835150"/>
                  </a:lnTo>
                </a:path>
                <a:path w="3401059" h="3060700">
                  <a:moveTo>
                    <a:pt x="0" y="2139950"/>
                  </a:moveTo>
                  <a:lnTo>
                    <a:pt x="3400552" y="2139950"/>
                  </a:lnTo>
                </a:path>
                <a:path w="3401059" h="3060700">
                  <a:moveTo>
                    <a:pt x="0" y="2444750"/>
                  </a:moveTo>
                  <a:lnTo>
                    <a:pt x="3400552" y="2444750"/>
                  </a:lnTo>
                </a:path>
                <a:path w="3401059" h="3060700">
                  <a:moveTo>
                    <a:pt x="0" y="2749550"/>
                  </a:moveTo>
                  <a:lnTo>
                    <a:pt x="3400552" y="2749550"/>
                  </a:lnTo>
                </a:path>
                <a:path w="3401059" h="3060700">
                  <a:moveTo>
                    <a:pt x="6350" y="0"/>
                  </a:moveTo>
                  <a:lnTo>
                    <a:pt x="6350" y="3060700"/>
                  </a:lnTo>
                </a:path>
                <a:path w="3401059" h="3060700">
                  <a:moveTo>
                    <a:pt x="3394202" y="0"/>
                  </a:moveTo>
                  <a:lnTo>
                    <a:pt x="3394202" y="3060700"/>
                  </a:lnTo>
                </a:path>
                <a:path w="3401059" h="3060700">
                  <a:moveTo>
                    <a:pt x="0" y="6350"/>
                  </a:moveTo>
                  <a:lnTo>
                    <a:pt x="3400552" y="6350"/>
                  </a:lnTo>
                </a:path>
                <a:path w="3401059" h="3060700">
                  <a:moveTo>
                    <a:pt x="0" y="3054350"/>
                  </a:moveTo>
                  <a:lnTo>
                    <a:pt x="3400552" y="3054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941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6F3E-E2CF-DC55-1D45-761683DB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54F03-013D-8F32-C69C-6EB29E2D4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00094"/>
            <a:ext cx="8215408" cy="405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2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data&#10;&#10;AI-generated content may be incorrect.">
            <a:extLst>
              <a:ext uri="{FF2B5EF4-FFF2-40B4-BE49-F238E27FC236}">
                <a16:creationId xmlns:a16="http://schemas.microsoft.com/office/drawing/2014/main" id="{B8240179-DC37-892E-EE0E-07DD142B2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898" y="905933"/>
            <a:ext cx="7098207" cy="503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7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white sign with black text&#10;&#10;AI-generated content may be incorrect.">
            <a:extLst>
              <a:ext uri="{FF2B5EF4-FFF2-40B4-BE49-F238E27FC236}">
                <a16:creationId xmlns:a16="http://schemas.microsoft.com/office/drawing/2014/main" id="{5538A796-1E2D-084C-49CF-3F2CC2148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17" y="2059337"/>
            <a:ext cx="7752969" cy="273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59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63C3507C-8DA7-0076-B246-A1C22718A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17" y="2030263"/>
            <a:ext cx="7752969" cy="279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4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186A76-FEB7-429C-81FD-926AC0D1C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15" y="905933"/>
            <a:ext cx="6880173" cy="503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0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BEEE-6A90-BDF5-6564-2DE8DBAE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AA13E4-93AC-4C4A-F753-CD29754D7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105" y="2290706"/>
            <a:ext cx="7673441" cy="174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106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83cb9b3dcaf276b9eb74d806d95a1dd8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5722cf350847c68a0f09e51844e1376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E92374-8EA5-41A1-ADBA-744D13BBAAF2}"/>
</file>

<file path=customXml/itemProps2.xml><?xml version="1.0" encoding="utf-8"?>
<ds:datastoreItem xmlns:ds="http://schemas.openxmlformats.org/officeDocument/2006/customXml" ds:itemID="{2704EDDD-BBDF-44EA-8C1A-264E010731CE}"/>
</file>

<file path=customXml/itemProps3.xml><?xml version="1.0" encoding="utf-8"?>
<ds:datastoreItem xmlns:ds="http://schemas.openxmlformats.org/officeDocument/2006/customXml" ds:itemID="{7E1B9F20-BD11-4B6F-90A0-EF332D49E627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396</TotalTime>
  <Words>74</Words>
  <Application>Microsoft Office PowerPoint</Application>
  <PresentationFormat>On-screen Show (4:3)</PresentationFormat>
  <Paragraphs>20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 MT</vt:lpstr>
      <vt:lpstr>Aptos</vt:lpstr>
      <vt:lpstr>Arial</vt:lpstr>
      <vt:lpstr>Calibri</vt:lpstr>
      <vt:lpstr>Calibri Light</vt:lpstr>
      <vt:lpstr>Retrospect</vt:lpstr>
      <vt:lpstr>1_Office Theme</vt:lpstr>
      <vt:lpstr>1_Retrospect</vt:lpstr>
      <vt:lpstr>CS361: Computer Architecture</vt:lpstr>
      <vt:lpstr>PowerPoint Presentation</vt:lpstr>
      <vt:lpstr>Class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 LOGIC  CIRCUITS</dc:title>
  <dc:creator>Archilab</dc:creator>
  <cp:lastModifiedBy>waheed ahmad</cp:lastModifiedBy>
  <cp:revision>13</cp:revision>
  <dcterms:created xsi:type="dcterms:W3CDTF">2025-10-08T17:48:09Z</dcterms:created>
  <dcterms:modified xsi:type="dcterms:W3CDTF">2025-10-19T09:53:11Z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2025-10-08T00:00:00Z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0x0101006E4823951FA9BF42B980A03718EB0B18</vt:lpwstr>
  </property>
</Properties>
</file>