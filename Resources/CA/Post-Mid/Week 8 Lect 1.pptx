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diagrams/data1.xml" ContentType="application/vnd.openxmlformats-officedocument.drawingml.diagramData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ink/ink1.xml" ContentType="application/inkml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348" r:id="rId3"/>
    <p:sldId id="351" r:id="rId4"/>
    <p:sldId id="361" r:id="rId5"/>
    <p:sldId id="362" r:id="rId6"/>
    <p:sldId id="363" r:id="rId7"/>
    <p:sldId id="364" r:id="rId8"/>
    <p:sldId id="359" r:id="rId9"/>
    <p:sldId id="360" r:id="rId10"/>
    <p:sldId id="352" r:id="rId11"/>
    <p:sldId id="35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customXml" Target="../customXml/item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66F392-4AE4-4FF3-A316-3A457C3BC9E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4D96D7-60C6-481A-B725-E0BD56A05223}">
      <dgm:prSet/>
      <dgm:spPr/>
      <dgm:t>
        <a:bodyPr/>
        <a:lstStyle/>
        <a:p>
          <a:r>
            <a:rPr lang="en-US" dirty="0"/>
            <a:t>Cache: A deep Dive</a:t>
          </a:r>
        </a:p>
      </dgm:t>
    </dgm:pt>
    <dgm:pt modelId="{FDB638BD-8229-4ABE-B8B0-B66F55E0F782}" type="parTrans" cxnId="{1D50B6D3-DF26-4858-A5B2-AFF1E64BF1B3}">
      <dgm:prSet/>
      <dgm:spPr/>
      <dgm:t>
        <a:bodyPr/>
        <a:lstStyle/>
        <a:p>
          <a:endParaRPr lang="en-US"/>
        </a:p>
      </dgm:t>
    </dgm:pt>
    <dgm:pt modelId="{3ED4B8D2-F7BC-4A74-A2CC-DA21EB1BB152}" type="sibTrans" cxnId="{1D50B6D3-DF26-4858-A5B2-AFF1E64BF1B3}">
      <dgm:prSet/>
      <dgm:spPr/>
      <dgm:t>
        <a:bodyPr/>
        <a:lstStyle/>
        <a:p>
          <a:endParaRPr lang="en-US"/>
        </a:p>
      </dgm:t>
    </dgm:pt>
    <dgm:pt modelId="{6838B180-E165-4091-90AE-5EDFDCF26411}">
      <dgm:prSet/>
      <dgm:spPr/>
      <dgm:t>
        <a:bodyPr/>
        <a:lstStyle/>
        <a:p>
          <a:pPr>
            <a:buNone/>
          </a:pPr>
          <a:r>
            <a:rPr lang="en-US" b="1" dirty="0" err="1"/>
            <a:t>Instrcutor:Waheed</a:t>
          </a:r>
          <a:r>
            <a:rPr lang="en-US" b="1" dirty="0"/>
            <a:t> Ahmad</a:t>
          </a:r>
          <a:endParaRPr lang="en-US" dirty="0"/>
        </a:p>
      </dgm:t>
    </dgm:pt>
    <dgm:pt modelId="{B4A504C4-8B71-498F-94FC-F027D7928ABA}" type="parTrans" cxnId="{6984D43E-45CA-4E66-8284-43588DD78694}">
      <dgm:prSet/>
      <dgm:spPr/>
      <dgm:t>
        <a:bodyPr/>
        <a:lstStyle/>
        <a:p>
          <a:endParaRPr lang="en-US"/>
        </a:p>
      </dgm:t>
    </dgm:pt>
    <dgm:pt modelId="{FECD6A8D-EB95-430A-B9A0-1F986D299335}" type="sibTrans" cxnId="{6984D43E-45CA-4E66-8284-43588DD78694}">
      <dgm:prSet/>
      <dgm:spPr/>
      <dgm:t>
        <a:bodyPr/>
        <a:lstStyle/>
        <a:p>
          <a:endParaRPr lang="en-US"/>
        </a:p>
      </dgm:t>
    </dgm:pt>
    <dgm:pt modelId="{0A434D4C-9EAC-42A0-82D0-5D78AD38D7F6}">
      <dgm:prSet/>
      <dgm:spPr/>
      <dgm:t>
        <a:bodyPr/>
        <a:lstStyle/>
        <a:p>
          <a:r>
            <a:rPr lang="en-US" b="1" dirty="0"/>
            <a:t>Week 8 </a:t>
          </a:r>
          <a:r>
            <a:rPr lang="en-US" b="1" dirty="0" err="1"/>
            <a:t>Lec</a:t>
          </a:r>
          <a:r>
            <a:rPr lang="en-US" b="1" dirty="0"/>
            <a:t> 1: Memory </a:t>
          </a:r>
          <a:endParaRPr lang="en-US" dirty="0"/>
        </a:p>
      </dgm:t>
    </dgm:pt>
    <dgm:pt modelId="{8F22A68D-EE81-4EB7-9147-8EE88C9608E3}" type="sibTrans" cxnId="{280EBE42-8871-4762-BAA1-4446810560E4}">
      <dgm:prSet/>
      <dgm:spPr/>
      <dgm:t>
        <a:bodyPr/>
        <a:lstStyle/>
        <a:p>
          <a:endParaRPr lang="en-US"/>
        </a:p>
      </dgm:t>
    </dgm:pt>
    <dgm:pt modelId="{5E051573-9DFA-4872-80A4-6FA64A490F7D}" type="parTrans" cxnId="{280EBE42-8871-4762-BAA1-4446810560E4}">
      <dgm:prSet/>
      <dgm:spPr/>
      <dgm:t>
        <a:bodyPr/>
        <a:lstStyle/>
        <a:p>
          <a:endParaRPr lang="en-US"/>
        </a:p>
      </dgm:t>
    </dgm:pt>
    <dgm:pt modelId="{2B5E29E6-E34B-4096-BD83-C6CBEC8AE8AD}" type="pres">
      <dgm:prSet presAssocID="{5366F392-4AE4-4FF3-A316-3A457C3BC9EB}" presName="linear" presStyleCnt="0">
        <dgm:presLayoutVars>
          <dgm:dir/>
          <dgm:animLvl val="lvl"/>
          <dgm:resizeHandles val="exact"/>
        </dgm:presLayoutVars>
      </dgm:prSet>
      <dgm:spPr/>
    </dgm:pt>
    <dgm:pt modelId="{781CF237-0A7F-45D4-98E2-7158BE9721CA}" type="pres">
      <dgm:prSet presAssocID="{0A434D4C-9EAC-42A0-82D0-5D78AD38D7F6}" presName="parentLin" presStyleCnt="0"/>
      <dgm:spPr/>
    </dgm:pt>
    <dgm:pt modelId="{6B446397-2B96-4C46-B8E2-461B8033535D}" type="pres">
      <dgm:prSet presAssocID="{0A434D4C-9EAC-42A0-82D0-5D78AD38D7F6}" presName="parentLeftMargin" presStyleLbl="node1" presStyleIdx="0" presStyleCnt="1"/>
      <dgm:spPr/>
    </dgm:pt>
    <dgm:pt modelId="{757D5B62-969B-4567-B907-6ADCCAFE9783}" type="pres">
      <dgm:prSet presAssocID="{0A434D4C-9EAC-42A0-82D0-5D78AD38D7F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05FC4ED-4C95-4B4B-8D2A-50F93178C292}" type="pres">
      <dgm:prSet presAssocID="{0A434D4C-9EAC-42A0-82D0-5D78AD38D7F6}" presName="negativeSpace" presStyleCnt="0"/>
      <dgm:spPr/>
    </dgm:pt>
    <dgm:pt modelId="{AB574F44-CD6D-4480-A010-F1222E0B4EB4}" type="pres">
      <dgm:prSet presAssocID="{0A434D4C-9EAC-42A0-82D0-5D78AD38D7F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6984D43E-45CA-4E66-8284-43588DD78694}" srcId="{0A434D4C-9EAC-42A0-82D0-5D78AD38D7F6}" destId="{6838B180-E165-4091-90AE-5EDFDCF26411}" srcOrd="1" destOrd="0" parTransId="{B4A504C4-8B71-498F-94FC-F027D7928ABA}" sibTransId="{FECD6A8D-EB95-430A-B9A0-1F986D299335}"/>
    <dgm:cxn modelId="{93724F5D-00E5-4734-AE1F-99B63D66250C}" type="presOf" srcId="{C44D96D7-60C6-481A-B725-E0BD56A05223}" destId="{AB574F44-CD6D-4480-A010-F1222E0B4EB4}" srcOrd="0" destOrd="0" presId="urn:microsoft.com/office/officeart/2005/8/layout/list1"/>
    <dgm:cxn modelId="{280EBE42-8871-4762-BAA1-4446810560E4}" srcId="{5366F392-4AE4-4FF3-A316-3A457C3BC9EB}" destId="{0A434D4C-9EAC-42A0-82D0-5D78AD38D7F6}" srcOrd="0" destOrd="0" parTransId="{5E051573-9DFA-4872-80A4-6FA64A490F7D}" sibTransId="{8F22A68D-EE81-4EB7-9147-8EE88C9608E3}"/>
    <dgm:cxn modelId="{00D91E4F-F006-4B81-A9A3-7E69FC834277}" type="presOf" srcId="{6838B180-E165-4091-90AE-5EDFDCF26411}" destId="{AB574F44-CD6D-4480-A010-F1222E0B4EB4}" srcOrd="0" destOrd="1" presId="urn:microsoft.com/office/officeart/2005/8/layout/list1"/>
    <dgm:cxn modelId="{0B1D8AA7-18A2-4560-A8B8-716EA214D0A9}" type="presOf" srcId="{5366F392-4AE4-4FF3-A316-3A457C3BC9EB}" destId="{2B5E29E6-E34B-4096-BD83-C6CBEC8AE8AD}" srcOrd="0" destOrd="0" presId="urn:microsoft.com/office/officeart/2005/8/layout/list1"/>
    <dgm:cxn modelId="{8973F5B6-DF43-4E51-8086-38C781AE4968}" type="presOf" srcId="{0A434D4C-9EAC-42A0-82D0-5D78AD38D7F6}" destId="{757D5B62-969B-4567-B907-6ADCCAFE9783}" srcOrd="1" destOrd="0" presId="urn:microsoft.com/office/officeart/2005/8/layout/list1"/>
    <dgm:cxn modelId="{1D50B6D3-DF26-4858-A5B2-AFF1E64BF1B3}" srcId="{0A434D4C-9EAC-42A0-82D0-5D78AD38D7F6}" destId="{C44D96D7-60C6-481A-B725-E0BD56A05223}" srcOrd="0" destOrd="0" parTransId="{FDB638BD-8229-4ABE-B8B0-B66F55E0F782}" sibTransId="{3ED4B8D2-F7BC-4A74-A2CC-DA21EB1BB152}"/>
    <dgm:cxn modelId="{B30C8FE4-E8D4-45A3-94D6-9951BEC079FD}" type="presOf" srcId="{0A434D4C-9EAC-42A0-82D0-5D78AD38D7F6}" destId="{6B446397-2B96-4C46-B8E2-461B8033535D}" srcOrd="0" destOrd="0" presId="urn:microsoft.com/office/officeart/2005/8/layout/list1"/>
    <dgm:cxn modelId="{F4301A25-DD72-4E7A-A939-55E53A618ADE}" type="presParOf" srcId="{2B5E29E6-E34B-4096-BD83-C6CBEC8AE8AD}" destId="{781CF237-0A7F-45D4-98E2-7158BE9721CA}" srcOrd="0" destOrd="0" presId="urn:microsoft.com/office/officeart/2005/8/layout/list1"/>
    <dgm:cxn modelId="{E3467E4D-8A51-4CBA-A478-BC388A627848}" type="presParOf" srcId="{781CF237-0A7F-45D4-98E2-7158BE9721CA}" destId="{6B446397-2B96-4C46-B8E2-461B8033535D}" srcOrd="0" destOrd="0" presId="urn:microsoft.com/office/officeart/2005/8/layout/list1"/>
    <dgm:cxn modelId="{4EC367AF-3151-4814-8171-126688C2B61B}" type="presParOf" srcId="{781CF237-0A7F-45D4-98E2-7158BE9721CA}" destId="{757D5B62-969B-4567-B907-6ADCCAFE9783}" srcOrd="1" destOrd="0" presId="urn:microsoft.com/office/officeart/2005/8/layout/list1"/>
    <dgm:cxn modelId="{4DEEE372-4038-49ED-A2CE-F29F28088251}" type="presParOf" srcId="{2B5E29E6-E34B-4096-BD83-C6CBEC8AE8AD}" destId="{B05FC4ED-4C95-4B4B-8D2A-50F93178C292}" srcOrd="1" destOrd="0" presId="urn:microsoft.com/office/officeart/2005/8/layout/list1"/>
    <dgm:cxn modelId="{3E379323-3AA5-4E3B-AD88-0235F251C83A}" type="presParOf" srcId="{2B5E29E6-E34B-4096-BD83-C6CBEC8AE8AD}" destId="{AB574F44-CD6D-4480-A010-F1222E0B4EB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74F44-CD6D-4480-A010-F1222E0B4EB4}">
      <dsp:nvSpPr>
        <dsp:cNvPr id="0" name=""/>
        <dsp:cNvSpPr/>
      </dsp:nvSpPr>
      <dsp:spPr>
        <a:xfrm>
          <a:off x="0" y="453303"/>
          <a:ext cx="5978843" cy="1689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4025" tIns="604012" rIns="464025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Cache: A deep Dive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900" b="1" kern="1200" dirty="0" err="1"/>
            <a:t>Instrcutor:Waheed</a:t>
          </a:r>
          <a:r>
            <a:rPr lang="en-US" sz="2900" b="1" kern="1200" dirty="0"/>
            <a:t> Ahmad</a:t>
          </a:r>
          <a:endParaRPr lang="en-US" sz="2900" kern="1200" dirty="0"/>
        </a:p>
      </dsp:txBody>
      <dsp:txXfrm>
        <a:off x="0" y="453303"/>
        <a:ext cx="5978843" cy="1689975"/>
      </dsp:txXfrm>
    </dsp:sp>
    <dsp:sp modelId="{757D5B62-969B-4567-B907-6ADCCAFE9783}">
      <dsp:nvSpPr>
        <dsp:cNvPr id="0" name=""/>
        <dsp:cNvSpPr/>
      </dsp:nvSpPr>
      <dsp:spPr>
        <a:xfrm>
          <a:off x="298942" y="25263"/>
          <a:ext cx="4185190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190" tIns="0" rIns="15819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Week 8 </a:t>
          </a:r>
          <a:r>
            <a:rPr lang="en-US" sz="2900" b="1" kern="1200" dirty="0" err="1"/>
            <a:t>Lec</a:t>
          </a:r>
          <a:r>
            <a:rPr lang="en-US" sz="2900" b="1" kern="1200" dirty="0"/>
            <a:t> 1: Memory </a:t>
          </a:r>
          <a:endParaRPr lang="en-US" sz="2900" kern="1200" dirty="0"/>
        </a:p>
      </dsp:txBody>
      <dsp:txXfrm>
        <a:off x="340732" y="67053"/>
        <a:ext cx="4101610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5-10-19T10:40: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20513 4366 0,'-124'99'203,"75"-25"-187,24-49-16,-99 173 31,99-123-15,0-25-16,1 24 15,-1 0 1,25-49-16,-25 74 16,25-49-1,0-25-15,0 49 16,0 1 15,0-51-15,0 1-16,0 25 15,25-1 1,0-24-16,-1 25 16,26 24-1,0-24 1,-1-1-16,26 26 31,-26-50-15,-24 0-1,0-1 1</inkml:trace>
  <inkml:trace contextRef="#ctx0" brushRef="#br0" timeOffset="1933.55">20613 4762 0,'74'0'188,"25"0"-173,-49-24 1,0 24 0,-1 0-1,26 24 1,-1-24 0,-49 25-1,0 0-15,-1-25 16,1 25 15,-25 0-15,25-25-1,-25 25 1,0-1 0,0 1-1,-25 0 1,-24-25-1,24 25 1,0-25 0,0 25-1,0-25-15,1 24 16,-1-24 0,0 0-1,-25 0 1,26 0 31,-1 0-32,0 0 1,50 0 62,24 0-47,-24 0-15,0 0 0,25 0-1,-50 25 1,24-25 15,1 25-15,0-25-1,-25 25 1,25 0 0,-25-1 15,0 1-16,0 0 17,0 0-17,0 0 1,0 24 0,0-24-1,0 0 1,-50 0 31,25-25-32,1 0 1,-1 24 0,-25-24-1,25 0 1,1 0-1,-1 0 1,0 0 0,0 0-1,0 0 1,1 0 15,-1 0-15</inkml:trace>
  <inkml:trace contextRef="#ctx0" brushRef="#br0" timeOffset="3616.93">22200 4688 0,'-25'0'203,"-49"0"-187,49 0-1,-24 0 1,-1 0 15,0 25-15,26 0-1,-1-1 1,0 1 0,0 0-1,0 0-15,25 0 16,-24 0-1,-1-25-15,0 49 16,0 1 0,25-25-1,0-1-15,0 1 16,0 0 0,0 0-1,0 0 1,0 24 15,0-24-15,0 0-1,25 0 1,0 24 0,-25-24-1,25 0 1,-1 0-1,-24-1-15,50-24 16,-25 25 0,0-25-1,-1 25 1,1-25 0,25 0-1,-25 0 1,-1 0 15,1 0-15,25 0-1,-50-25 1,49 25 0,-24-25-1,0 25 16,25 0-15,-26 0 0,-24-24-1,-24 24 32</inkml:trace>
  <inkml:trace contextRef="#ctx0" brushRef="#br0" timeOffset="4883.46">22523 4911 0,'0'25'328,"0"0"-297,0 0-15,0 0 15</inkml:trace>
  <inkml:trace contextRef="#ctx0" brushRef="#br0" timeOffset="6650.38">22870 5011 0,'-25'0'187,"0"0"-171,1 0 15,-1 0-15,0 24 15,0 1 0,25 0-31,-25-25 16,0 0 15,25 25-31,0 0 31,0-1 1,0 1-17,25-25-15,0 0 31,-25 25-15,25-25 0,25 0 15,-26 0-15,1 0-1,25 0 32,-25 0-31,-1 25 15,-24 24 16,0-24-16,0 0 0,0 0 1,0 0-17,-24-25 1,-1 24 15,0-24-15,0 0-1,0 0 1,1 0 15,-1 0-15,0 0 15,25-24-15,-25 24-1,25-25 1,-25 25-16</inkml:trace>
  <inkml:trace contextRef="#ctx0" brushRef="#br0" timeOffset="7824.96">23019 4242 0,'49'74'172,"51"75"-156,-51-100-1,1 26 16,-25-26-31,-1-24 16,26 50 0,-50-51-16</inkml:trace>
  <inkml:trace contextRef="#ctx0" brushRef="#br0" timeOffset="10833.48">23019 4316 0,'0'25'187,"49"24"-155,-24 26-17,0-75-15,0 49 16,49 26 0,1-1-1,-26 25 1,1-74-1,-1 25 1,-24-25 0,0 24-1,0-24 1,-25 0 0,25 0-1,-25 0 1,24-25-16,1 24 15,-25 1 17,0 25-17,0-25 1,0-1 0,0 26-1,0-25 1,0 24-1,-25-24 1,25 25 0,-24-25-16,24-1 15,-25 26 1,-25 0 0,25-1-1,-24 1 1,-1-1 15,25 1-15,-49 24-1,24-49 1,1 50 0,24-50-1,-25-1 1,26 1-16,-1 25 31,0-50-15,25 25-1,-25-25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16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2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10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3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119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99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85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11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99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63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479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646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939557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741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742815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760742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570979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8139414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800427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6273696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796521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74869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3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‹#›</a:t>
            </a:fld>
            <a:endParaRPr lang="en-US" spc="-5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6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62327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ts val="11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400324" algn="l"/>
              </a:tabLst>
              <a:defRPr/>
            </a:pPr>
            <a:r>
              <a:rPr kumimoji="0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CS324 </a:t>
            </a:r>
            <a:r>
              <a:rPr kumimoji="0" sz="1050" b="1" i="1" u="none" strike="noStrike" kern="120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Computer</a:t>
            </a:r>
            <a:r>
              <a:rPr kumimoji="0" sz="1050" b="1" i="1" u="none" strike="noStrike" kern="1200" cap="none" spc="-4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050" b="1" i="1" u="none" strike="noStrike" kern="120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Architecture</a:t>
            </a:r>
            <a:r>
              <a:rPr kumimoji="0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	</a:t>
            </a:r>
            <a:r>
              <a:rPr kumimoji="0" sz="1575" b="1" i="0" u="none" strike="noStrike" kern="1200" cap="none" spc="-56" normalizeH="0" baseline="-5952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endParaRPr kumimoji="0" sz="1575" b="0" i="0" u="none" strike="noStrike" kern="1200" cap="none" spc="0" normalizeH="0" baseline="-5952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57401" y="685801"/>
            <a:ext cx="7384257" cy="5075111"/>
            <a:chOff x="111125" y="234568"/>
            <a:chExt cx="8921750" cy="6303645"/>
          </a:xfrm>
        </p:grpSpPr>
        <p:sp>
          <p:nvSpPr>
            <p:cNvPr id="4" name="object 4"/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41965" y="1886455"/>
            <a:ext cx="5010150" cy="425116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dirty="0"/>
              <a:t>CS361</a:t>
            </a:r>
            <a:r>
              <a:rPr sz="2700" dirty="0"/>
              <a:t>:</a:t>
            </a:r>
            <a:r>
              <a:rPr sz="2700" spc="-30" dirty="0"/>
              <a:t> </a:t>
            </a:r>
            <a:r>
              <a:rPr sz="2700" dirty="0"/>
              <a:t>Computer</a:t>
            </a:r>
            <a:r>
              <a:rPr sz="2700" spc="-15" dirty="0"/>
              <a:t> </a:t>
            </a:r>
            <a:r>
              <a:rPr sz="2700" spc="-8" dirty="0"/>
              <a:t>Architecture</a:t>
            </a:r>
            <a:endParaRPr sz="2700" dirty="0"/>
          </a:p>
        </p:txBody>
      </p:sp>
      <p:sp>
        <p:nvSpPr>
          <p:cNvPr id="9" name="object 9"/>
          <p:cNvSpPr/>
          <p:nvPr/>
        </p:nvSpPr>
        <p:spPr>
          <a:xfrm>
            <a:off x="2700149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B3A46A1E-4695-E2C0-8AAD-23FCC975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526" y="2455473"/>
            <a:ext cx="2057400" cy="2057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334471" y="4476783"/>
            <a:ext cx="682513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801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Reading</a:t>
            </a:r>
            <a:r>
              <a:rPr kumimoji="0" sz="1400" b="1" i="0" u="none" strike="noStrike" kern="1200" cap="none" spc="-40" normalizeH="0" baseline="0" noProof="0" dirty="0">
                <a:ln>
                  <a:noFill/>
                </a:ln>
                <a:solidFill>
                  <a:srgbClr val="00801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801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Sections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8011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:</a:t>
            </a: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srgbClr val="008011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801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</a:t>
            </a:r>
            <a:r>
              <a:rPr kumimoji="0" sz="1400" b="1" i="0" u="none" strike="noStrike" kern="1200" cap="none" spc="-35" normalizeH="0" baseline="0" noProof="0" dirty="0">
                <a:ln>
                  <a:noFill/>
                </a:ln>
                <a:solidFill>
                  <a:srgbClr val="00801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Computer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Organization</a:t>
            </a:r>
            <a:r>
              <a:rPr kumimoji="0" sz="1400" b="0" i="0" u="none" strike="noStrike" kern="120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&amp;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Design: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HW/SW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Interface,</a:t>
            </a: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5th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Edition:</a:t>
            </a: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Section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5.1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MT"/>
              <a:ea typeface="+mn-ea"/>
              <a:cs typeface="Arial MT"/>
            </a:endParaRPr>
          </a:p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Computer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Architecture:</a:t>
            </a:r>
            <a:r>
              <a:rPr kumimoji="0" sz="1400" b="0" i="0" u="none" strike="noStrike" kern="1200" cap="none" spc="-7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A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Quantitative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Approach,</a:t>
            </a:r>
            <a:r>
              <a:rPr kumimoji="0" sz="1400" b="0" i="0" u="none" strike="noStrike" kern="1200" cap="none" spc="-6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Sixth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Edition,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Section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2.1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MT"/>
              <a:ea typeface="+mn-ea"/>
              <a:cs typeface="Arial MT"/>
            </a:endParaRP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C47539E8-0F3D-09A5-F68C-17D1D2DBB72D}"/>
              </a:ext>
            </a:extLst>
          </p:cNvPr>
          <p:cNvGraphicFramePr/>
          <p:nvPr/>
        </p:nvGraphicFramePr>
        <p:xfrm>
          <a:off x="2433945" y="2365396"/>
          <a:ext cx="5978843" cy="2168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80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6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8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16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32E978-02F0-E9DB-AE8C-5616C6CC9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518" y="1350738"/>
            <a:ext cx="7752969" cy="41501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CD0A86C-B1CD-B933-35A9-7AFAF1299A46}"/>
                  </a:ext>
                </a:extLst>
              </p14:cNvPr>
              <p14:cNvContentPartPr/>
              <p14:nvPr/>
            </p14:nvContentPartPr>
            <p14:xfrm>
              <a:off x="7224120" y="1527120"/>
              <a:ext cx="1268280" cy="64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CD0A86C-B1CD-B933-35A9-7AFAF1299A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4760" y="1517760"/>
                <a:ext cx="1287000" cy="66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639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B040-4034-9205-B1EC-10FB287B6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Fully Associative Cache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9FE4F-9CB0-DBAA-4C35-5E3C1AB5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Analogy: "Park Anywhere"</a:t>
            </a:r>
            <a:endParaRPr lang="en-US" dirty="0"/>
          </a:p>
          <a:p>
            <a:r>
              <a:rPr lang="en-US" dirty="0"/>
              <a:t>A piece of data (a car) can park in </a:t>
            </a:r>
            <a:r>
              <a:rPr lang="en-US" b="1" dirty="0"/>
              <a:t>any available spot</a:t>
            </a:r>
            <a:r>
              <a:rPr lang="en-US" dirty="0"/>
              <a:t> in the </a:t>
            </a:r>
            <a:r>
              <a:rPr lang="en-US" i="1" dirty="0"/>
              <a:t>entire</a:t>
            </a:r>
            <a:r>
              <a:rPr lang="en-US" dirty="0"/>
              <a:t> garage (cache).</a:t>
            </a:r>
          </a:p>
          <a:p>
            <a:r>
              <a:rPr lang="en-US" b="1" dirty="0"/>
              <a:t>Pro :</a:t>
            </a:r>
            <a:endParaRPr lang="en-US" dirty="0"/>
          </a:p>
          <a:p>
            <a:pPr lvl="1"/>
            <a:r>
              <a:rPr lang="en-US" dirty="0"/>
              <a:t>Very flexible.</a:t>
            </a:r>
          </a:p>
          <a:p>
            <a:pPr lvl="1"/>
            <a:r>
              <a:rPr lang="en-US" dirty="0"/>
              <a:t>You'll always find a spot if one exists. No wasted space.</a:t>
            </a:r>
          </a:p>
          <a:p>
            <a:r>
              <a:rPr lang="en-US" b="1" dirty="0"/>
              <a:t>Con :</a:t>
            </a:r>
            <a:endParaRPr lang="en-US" dirty="0"/>
          </a:p>
          <a:p>
            <a:pPr lvl="1"/>
            <a:r>
              <a:rPr lang="en-US" b="1" dirty="0"/>
              <a:t>Very slow to find data.</a:t>
            </a:r>
            <a:endParaRPr lang="en-US" dirty="0"/>
          </a:p>
          <a:p>
            <a:pPr lvl="1"/>
            <a:r>
              <a:rPr lang="en-US" dirty="0"/>
              <a:t>The CPU has to ask, "Where is my car?" and the cache must check </a:t>
            </a:r>
            <a:r>
              <a:rPr lang="en-US" i="1" dirty="0"/>
              <a:t>every single parking spot</a:t>
            </a:r>
            <a:r>
              <a:rPr lang="en-US" dirty="0"/>
              <a:t> at the same time to find it.</a:t>
            </a:r>
          </a:p>
          <a:p>
            <a:pPr lvl="1"/>
            <a:r>
              <a:rPr lang="en-US" dirty="0"/>
              <a:t>Requires complex and expensive hardware.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360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2757-5EDF-8A4C-DD04-A800A4CF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Associative Cache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D1CE-71D0-2CBC-BFE0-C69253048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Analogy: "Park on Your Assigned Floor"</a:t>
            </a:r>
            <a:endParaRPr lang="en-US" dirty="0"/>
          </a:p>
          <a:p>
            <a:r>
              <a:rPr lang="en-US" dirty="0"/>
              <a:t>The garage (cache) is divided into </a:t>
            </a:r>
            <a:r>
              <a:rPr lang="en-US" b="1" dirty="0"/>
              <a:t>"sets"</a:t>
            </a:r>
            <a:r>
              <a:rPr lang="en-US" dirty="0"/>
              <a:t> (floors).</a:t>
            </a:r>
          </a:p>
          <a:p>
            <a:r>
              <a:rPr lang="en-US" dirty="0"/>
              <a:t>Your data's address (license plate) determines which </a:t>
            </a:r>
            <a:r>
              <a:rPr lang="en-US" b="1" dirty="0"/>
              <a:t>floor (set)</a:t>
            </a:r>
            <a:r>
              <a:rPr lang="en-US" dirty="0"/>
              <a:t> it </a:t>
            </a:r>
            <a:r>
              <a:rPr lang="en-US" i="1" dirty="0"/>
              <a:t>must</a:t>
            </a:r>
            <a:r>
              <a:rPr lang="en-US" dirty="0"/>
              <a:t> go to.</a:t>
            </a:r>
          </a:p>
          <a:p>
            <a:r>
              <a:rPr lang="en-US" dirty="0"/>
              <a:t>It can park in </a:t>
            </a:r>
            <a:r>
              <a:rPr lang="en-US" b="1" dirty="0"/>
              <a:t>any of the available spots </a:t>
            </a:r>
            <a:r>
              <a:rPr lang="en-US" b="1" i="1" dirty="0"/>
              <a:t>on that specific floor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Example: An "8-way" set means there are 8 spots on your assigned floor.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26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2F964-09DF-CC69-2486-8E22342E1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Associative (Pros &amp; Cons)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BF02A-E5E3-ADCE-1313-7AC13C9FD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 :</a:t>
            </a:r>
            <a:endParaRPr lang="en-US" dirty="0"/>
          </a:p>
          <a:p>
            <a:pPr lvl="1"/>
            <a:r>
              <a:rPr lang="en-US" b="1" dirty="0"/>
              <a:t>A perfect balance!</a:t>
            </a:r>
            <a:endParaRPr lang="en-US" dirty="0"/>
          </a:p>
          <a:p>
            <a:pPr lvl="1"/>
            <a:r>
              <a:rPr lang="en-US" b="1" dirty="0"/>
              <a:t>Fast to find data:</a:t>
            </a:r>
            <a:r>
              <a:rPr lang="en-US" dirty="0"/>
              <a:t> The CPU knows </a:t>
            </a:r>
            <a:r>
              <a:rPr lang="en-US" i="1" dirty="0"/>
              <a:t>exactly which floor (set)</a:t>
            </a:r>
            <a:r>
              <a:rPr lang="en-US" dirty="0"/>
              <a:t> to search. It only has to check the 8 spots on that floor, not the 500 spots in the whole garage.</a:t>
            </a:r>
          </a:p>
          <a:p>
            <a:pPr lvl="1"/>
            <a:r>
              <a:rPr lang="en-US" b="1" dirty="0"/>
              <a:t>Flexible:</a:t>
            </a:r>
            <a:r>
              <a:rPr lang="en-US" dirty="0"/>
              <a:t> Still has a choice of spots, which avoids most "your spot is full" problems.</a:t>
            </a:r>
          </a:p>
          <a:p>
            <a:r>
              <a:rPr lang="en-US" b="1" dirty="0"/>
              <a:t>Con :</a:t>
            </a:r>
            <a:endParaRPr lang="en-US" dirty="0"/>
          </a:p>
          <a:p>
            <a:pPr lvl="1"/>
            <a:r>
              <a:rPr lang="en-US" dirty="0"/>
              <a:t>It's possible (but unlikely) that your </a:t>
            </a:r>
            <a:r>
              <a:rPr lang="en-US" i="1" dirty="0"/>
              <a:t>one floor</a:t>
            </a:r>
            <a:r>
              <a:rPr lang="en-US" dirty="0"/>
              <a:t> could fill up, even if other floors have empty spots.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8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13562F2-01C5-3B4F-75A7-245E69AB12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3467" y="895753"/>
          <a:ext cx="10905068" cy="4545656"/>
        </p:xfrm>
        <a:graphic>
          <a:graphicData uri="http://schemas.openxmlformats.org/drawingml/2006/table">
            <a:tbl>
              <a:tblPr/>
              <a:tblGrid>
                <a:gridCol w="2495804">
                  <a:extLst>
                    <a:ext uri="{9D8B030D-6E8A-4147-A177-3AD203B41FA5}">
                      <a16:colId xmlns:a16="http://schemas.microsoft.com/office/drawing/2014/main" val="15336173"/>
                    </a:ext>
                  </a:extLst>
                </a:gridCol>
                <a:gridCol w="2891767">
                  <a:extLst>
                    <a:ext uri="{9D8B030D-6E8A-4147-A177-3AD203B41FA5}">
                      <a16:colId xmlns:a16="http://schemas.microsoft.com/office/drawing/2014/main" val="1702052397"/>
                    </a:ext>
                  </a:extLst>
                </a:gridCol>
                <a:gridCol w="2792777">
                  <a:extLst>
                    <a:ext uri="{9D8B030D-6E8A-4147-A177-3AD203B41FA5}">
                      <a16:colId xmlns:a16="http://schemas.microsoft.com/office/drawing/2014/main" val="1584069449"/>
                    </a:ext>
                  </a:extLst>
                </a:gridCol>
                <a:gridCol w="2724720">
                  <a:extLst>
                    <a:ext uri="{9D8B030D-6E8A-4147-A177-3AD203B41FA5}">
                      <a16:colId xmlns:a16="http://schemas.microsoft.com/office/drawing/2014/main" val="1885712"/>
                    </a:ext>
                  </a:extLst>
                </a:gridCol>
              </a:tblGrid>
              <a:tr h="95823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Cache Type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Parking Garage Analogy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Where Data Can Go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Speed &amp; Complexity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606773"/>
                  </a:ext>
                </a:extLst>
              </a:tr>
              <a:tr h="95823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Direct-Mapped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"Your one </a:t>
                      </a:r>
                      <a:r>
                        <a:rPr lang="en-US" sz="2300" b="0" i="1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assigned spot</a:t>
                      </a: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Exactly one specific slot in the cache.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Fastest &amp; Simplest</a:t>
                      </a: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(but high conflict)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063589"/>
                  </a:ext>
                </a:extLst>
              </a:tr>
              <a:tr h="131459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Set Associative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"Park anywhere on your </a:t>
                      </a:r>
                      <a:r>
                        <a:rPr lang="en-US" sz="2300" b="0" i="1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assigned floor</a:t>
                      </a: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Any slot within its one assigned set.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Balanced Speed &amp; Complexity</a:t>
                      </a: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(The sweet spot)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565705"/>
                  </a:ext>
                </a:extLst>
              </a:tr>
              <a:tr h="131459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Fully Associative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"Park </a:t>
                      </a:r>
                      <a:r>
                        <a:rPr lang="en-US" sz="2300" b="0" i="1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anywhere</a:t>
                      </a: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in the garage"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Any slot in the entire cache.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300" b="1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Slowest &amp; Most Complex</a:t>
                      </a:r>
                      <a:r>
                        <a:rPr lang="en-US" sz="23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(but no conflict)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486" marR="148486" marT="98991" marB="9899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336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893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6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8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16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6C2C96-63DE-334B-2B3E-4A075440A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518" y="1119290"/>
            <a:ext cx="7752969" cy="461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90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6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8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16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14C3EE-1601-FFE5-840F-08953E7E2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518" y="1041760"/>
            <a:ext cx="7752969" cy="476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32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6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8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16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0A4307-0CC8-BB31-19C5-C972BE95E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6291" y="905933"/>
            <a:ext cx="6843420" cy="503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42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C6E708-659B-9206-0A4E-0814628A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More on this…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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599996D0-52DC-C5F5-A127-BD7BD151F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457" y="640080"/>
            <a:ext cx="10835295" cy="360273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800589"/>
      </p:ext>
    </p:extLst>
  </p:cSld>
  <p:clrMapOvr>
    <a:masterClrMapping/>
  </p:clrMapOvr>
</p:sld>
</file>

<file path=ppt/theme/theme1.xml><?xml version="1.0" encoding="utf-8"?>
<a:theme xmlns:a="http://schemas.openxmlformats.org/drawingml/2006/main" name="2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73E2D3-3190-4990-8789-6B63F211D5D7}"/>
</file>

<file path=customXml/itemProps2.xml><?xml version="1.0" encoding="utf-8"?>
<ds:datastoreItem xmlns:ds="http://schemas.openxmlformats.org/officeDocument/2006/customXml" ds:itemID="{9B80286B-B933-49F7-B6A0-3F258F6BFE31}"/>
</file>

<file path=customXml/itemProps3.xml><?xml version="1.0" encoding="utf-8"?>
<ds:datastoreItem xmlns:ds="http://schemas.openxmlformats.org/officeDocument/2006/customXml" ds:itemID="{AF61081F-21E9-46D3-968C-C7CA61AF13E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 MT</vt:lpstr>
      <vt:lpstr>Google Sans Text</vt:lpstr>
      <vt:lpstr>Arial</vt:lpstr>
      <vt:lpstr>Calibri</vt:lpstr>
      <vt:lpstr>Calibri Light</vt:lpstr>
      <vt:lpstr>Wingdings</vt:lpstr>
      <vt:lpstr>2_Retrospect</vt:lpstr>
      <vt:lpstr>Retrospect</vt:lpstr>
      <vt:lpstr>CS361: Computer Architecture</vt:lpstr>
      <vt:lpstr>PowerPoint Presentation</vt:lpstr>
      <vt:lpstr>Fully Associative Cache </vt:lpstr>
      <vt:lpstr>Set Associative Cache </vt:lpstr>
      <vt:lpstr>Set Associative (Pros &amp; Cons) </vt:lpstr>
      <vt:lpstr>PowerPoint Presentation</vt:lpstr>
      <vt:lpstr>PowerPoint Presentation</vt:lpstr>
      <vt:lpstr>PowerPoint Presentation</vt:lpstr>
      <vt:lpstr>PowerPoint Presentation</vt:lpstr>
      <vt:lpstr>More on this…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waheed ahmad</dc:creator>
  <cp:lastModifiedBy>waheed ahmad</cp:lastModifiedBy>
  <cp:revision>1</cp:revision>
  <dcterms:created xsi:type="dcterms:W3CDTF">2025-10-20T09:28:16Z</dcterms:created>
  <dcterms:modified xsi:type="dcterms:W3CDTF">2025-10-20T09:28:58Z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0x0101006E4823951FA9BF42B980A03718EB0B18</vt:lpwstr>
  </property>
</Properties>
</file>