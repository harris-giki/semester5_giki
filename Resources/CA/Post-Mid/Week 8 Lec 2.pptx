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diagrams/data1.xml" ContentType="application/vnd.openxmlformats-officedocument.drawingml.diagramData+xml"/>
  <Override PartName="/ppt/diagrams/data2.xml" ContentType="application/vnd.openxmlformats-officedocument.drawingml.diagramData+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notesSlides/notesSlide1.xml" ContentType="application/vnd.openxmlformats-officedocument.presentationml.notesSlide+xml"/>
  <Override PartName="/ppt/slideLayouts/slideLayout28.xml" ContentType="application/vnd.openxmlformats-officedocument.presentationml.slideLayout+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diagrams/drawing1.xml" ContentType="application/vnd.ms-office.drawingml.diagramDrawing+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diagrams/layout2.xml" ContentType="application/vnd.openxmlformats-officedocument.drawingml.diagram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ppt/revisionInfo.xml" ContentType="application/vnd.ms-powerpoint.revisioninfo+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Lst>
  <p:notesMasterIdLst>
    <p:notesMasterId r:id="rId15"/>
  </p:notesMasterIdLst>
  <p:sldIdLst>
    <p:sldId id="348" r:id="rId4"/>
    <p:sldId id="265" r:id="rId5"/>
    <p:sldId id="259" r:id="rId6"/>
    <p:sldId id="365" r:id="rId7"/>
    <p:sldId id="260" r:id="rId8"/>
    <p:sldId id="289" r:id="rId9"/>
    <p:sldId id="261" r:id="rId10"/>
    <p:sldId id="267" r:id="rId11"/>
    <p:sldId id="290" r:id="rId12"/>
    <p:sldId id="262" r:id="rId13"/>
    <p:sldId id="35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C97366-2163-438F-BAFD-2A2A314C3B87}" v="5" dt="2025-10-21T05:50:46.2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3074" autoAdjust="0"/>
  </p:normalViewPr>
  <p:slideViewPr>
    <p:cSldViewPr snapToGrid="0">
      <p:cViewPr varScale="1">
        <p:scale>
          <a:sx n="57" d="100"/>
          <a:sy n="57" d="100"/>
        </p:scale>
        <p:origin x="12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customXml" Target="../customXml/item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notesMaster" Target="notesMasters/notesMaster1.xml"/><Relationship Id="rId23" Type="http://schemas.openxmlformats.org/officeDocument/2006/relationships/customXml" Target="../customXml/item3.xml"/><Relationship Id="rId10" Type="http://schemas.openxmlformats.org/officeDocument/2006/relationships/slide" Target="slides/slide7.xml"/><Relationship Id="rId19"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customXml" Target="../customXml/item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66F392-4AE4-4FF3-A316-3A457C3BC9E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C44D96D7-60C6-481A-B725-E0BD56A05223}">
      <dgm:prSet/>
      <dgm:spPr/>
      <dgm:t>
        <a:bodyPr/>
        <a:lstStyle/>
        <a:p>
          <a:r>
            <a:rPr lang="en-US" dirty="0"/>
            <a:t>Cache: A deep Dive</a:t>
          </a:r>
        </a:p>
      </dgm:t>
    </dgm:pt>
    <dgm:pt modelId="{FDB638BD-8229-4ABE-B8B0-B66F55E0F782}" type="parTrans" cxnId="{1D50B6D3-DF26-4858-A5B2-AFF1E64BF1B3}">
      <dgm:prSet/>
      <dgm:spPr/>
      <dgm:t>
        <a:bodyPr/>
        <a:lstStyle/>
        <a:p>
          <a:endParaRPr lang="en-US"/>
        </a:p>
      </dgm:t>
    </dgm:pt>
    <dgm:pt modelId="{3ED4B8D2-F7BC-4A74-A2CC-DA21EB1BB152}" type="sibTrans" cxnId="{1D50B6D3-DF26-4858-A5B2-AFF1E64BF1B3}">
      <dgm:prSet/>
      <dgm:spPr/>
      <dgm:t>
        <a:bodyPr/>
        <a:lstStyle/>
        <a:p>
          <a:endParaRPr lang="en-US"/>
        </a:p>
      </dgm:t>
    </dgm:pt>
    <dgm:pt modelId="{0A434D4C-9EAC-42A0-82D0-5D78AD38D7F6}">
      <dgm:prSet/>
      <dgm:spPr/>
      <dgm:t>
        <a:bodyPr/>
        <a:lstStyle/>
        <a:p>
          <a:r>
            <a:rPr lang="en-US" b="1" dirty="0"/>
            <a:t>Week 8 </a:t>
          </a:r>
          <a:r>
            <a:rPr lang="en-US" b="1" dirty="0" err="1"/>
            <a:t>Lec</a:t>
          </a:r>
          <a:r>
            <a:rPr lang="en-US" b="1" dirty="0"/>
            <a:t> 2: Memory </a:t>
          </a:r>
          <a:endParaRPr lang="en-US" dirty="0"/>
        </a:p>
      </dgm:t>
    </dgm:pt>
    <dgm:pt modelId="{8F22A68D-EE81-4EB7-9147-8EE88C9608E3}" type="sibTrans" cxnId="{280EBE42-8871-4762-BAA1-4446810560E4}">
      <dgm:prSet/>
      <dgm:spPr/>
      <dgm:t>
        <a:bodyPr/>
        <a:lstStyle/>
        <a:p>
          <a:endParaRPr lang="en-US"/>
        </a:p>
      </dgm:t>
    </dgm:pt>
    <dgm:pt modelId="{5E051573-9DFA-4872-80A4-6FA64A490F7D}" type="parTrans" cxnId="{280EBE42-8871-4762-BAA1-4446810560E4}">
      <dgm:prSet/>
      <dgm:spPr/>
      <dgm:t>
        <a:bodyPr/>
        <a:lstStyle/>
        <a:p>
          <a:endParaRPr lang="en-US"/>
        </a:p>
      </dgm:t>
    </dgm:pt>
    <dgm:pt modelId="{F77902A2-F618-4BB6-B472-86EE618ABBDE}">
      <dgm:prSet/>
      <dgm:spPr/>
      <dgm:t>
        <a:bodyPr/>
        <a:lstStyle/>
        <a:p>
          <a:r>
            <a:rPr lang="en-US" dirty="0"/>
            <a:t>Cache Coherence</a:t>
          </a:r>
        </a:p>
      </dgm:t>
    </dgm:pt>
    <dgm:pt modelId="{D006EB20-449D-45CD-97C5-FB5C701D9738}" type="parTrans" cxnId="{30857602-8108-4EB1-B16F-13CEFFEB9DDC}">
      <dgm:prSet/>
      <dgm:spPr/>
      <dgm:t>
        <a:bodyPr/>
        <a:lstStyle/>
        <a:p>
          <a:endParaRPr lang="en-US"/>
        </a:p>
      </dgm:t>
    </dgm:pt>
    <dgm:pt modelId="{73934591-4EC6-409C-B0B5-3E39FA0BB348}" type="sibTrans" cxnId="{30857602-8108-4EB1-B16F-13CEFFEB9DDC}">
      <dgm:prSet/>
      <dgm:spPr/>
      <dgm:t>
        <a:bodyPr/>
        <a:lstStyle/>
        <a:p>
          <a:endParaRPr lang="en-US"/>
        </a:p>
      </dgm:t>
    </dgm:pt>
    <dgm:pt modelId="{2B5E29E6-E34B-4096-BD83-C6CBEC8AE8AD}" type="pres">
      <dgm:prSet presAssocID="{5366F392-4AE4-4FF3-A316-3A457C3BC9EB}" presName="linear" presStyleCnt="0">
        <dgm:presLayoutVars>
          <dgm:dir/>
          <dgm:animLvl val="lvl"/>
          <dgm:resizeHandles val="exact"/>
        </dgm:presLayoutVars>
      </dgm:prSet>
      <dgm:spPr/>
    </dgm:pt>
    <dgm:pt modelId="{781CF237-0A7F-45D4-98E2-7158BE9721CA}" type="pres">
      <dgm:prSet presAssocID="{0A434D4C-9EAC-42A0-82D0-5D78AD38D7F6}" presName="parentLin" presStyleCnt="0"/>
      <dgm:spPr/>
    </dgm:pt>
    <dgm:pt modelId="{6B446397-2B96-4C46-B8E2-461B8033535D}" type="pres">
      <dgm:prSet presAssocID="{0A434D4C-9EAC-42A0-82D0-5D78AD38D7F6}" presName="parentLeftMargin" presStyleLbl="node1" presStyleIdx="0" presStyleCnt="1"/>
      <dgm:spPr/>
    </dgm:pt>
    <dgm:pt modelId="{757D5B62-969B-4567-B907-6ADCCAFE9783}" type="pres">
      <dgm:prSet presAssocID="{0A434D4C-9EAC-42A0-82D0-5D78AD38D7F6}" presName="parentText" presStyleLbl="node1" presStyleIdx="0" presStyleCnt="1">
        <dgm:presLayoutVars>
          <dgm:chMax val="0"/>
          <dgm:bulletEnabled val="1"/>
        </dgm:presLayoutVars>
      </dgm:prSet>
      <dgm:spPr/>
    </dgm:pt>
    <dgm:pt modelId="{B05FC4ED-4C95-4B4B-8D2A-50F93178C292}" type="pres">
      <dgm:prSet presAssocID="{0A434D4C-9EAC-42A0-82D0-5D78AD38D7F6}" presName="negativeSpace" presStyleCnt="0"/>
      <dgm:spPr/>
    </dgm:pt>
    <dgm:pt modelId="{AB574F44-CD6D-4480-A010-F1222E0B4EB4}" type="pres">
      <dgm:prSet presAssocID="{0A434D4C-9EAC-42A0-82D0-5D78AD38D7F6}" presName="childText" presStyleLbl="conFgAcc1" presStyleIdx="0" presStyleCnt="1">
        <dgm:presLayoutVars>
          <dgm:bulletEnabled val="1"/>
        </dgm:presLayoutVars>
      </dgm:prSet>
      <dgm:spPr/>
    </dgm:pt>
  </dgm:ptLst>
  <dgm:cxnLst>
    <dgm:cxn modelId="{30857602-8108-4EB1-B16F-13CEFFEB9DDC}" srcId="{0A434D4C-9EAC-42A0-82D0-5D78AD38D7F6}" destId="{F77902A2-F618-4BB6-B472-86EE618ABBDE}" srcOrd="1" destOrd="0" parTransId="{D006EB20-449D-45CD-97C5-FB5C701D9738}" sibTransId="{73934591-4EC6-409C-B0B5-3E39FA0BB348}"/>
    <dgm:cxn modelId="{93724F5D-00E5-4734-AE1F-99B63D66250C}" type="presOf" srcId="{C44D96D7-60C6-481A-B725-E0BD56A05223}" destId="{AB574F44-CD6D-4480-A010-F1222E0B4EB4}" srcOrd="0" destOrd="0" presId="urn:microsoft.com/office/officeart/2005/8/layout/list1"/>
    <dgm:cxn modelId="{280EBE42-8871-4762-BAA1-4446810560E4}" srcId="{5366F392-4AE4-4FF3-A316-3A457C3BC9EB}" destId="{0A434D4C-9EAC-42A0-82D0-5D78AD38D7F6}" srcOrd="0" destOrd="0" parTransId="{5E051573-9DFA-4872-80A4-6FA64A490F7D}" sibTransId="{8F22A68D-EE81-4EB7-9147-8EE88C9608E3}"/>
    <dgm:cxn modelId="{B636098A-FEA2-44DF-A31F-D3EE321F3C14}" type="presOf" srcId="{F77902A2-F618-4BB6-B472-86EE618ABBDE}" destId="{AB574F44-CD6D-4480-A010-F1222E0B4EB4}" srcOrd="0" destOrd="1" presId="urn:microsoft.com/office/officeart/2005/8/layout/list1"/>
    <dgm:cxn modelId="{0B1D8AA7-18A2-4560-A8B8-716EA214D0A9}" type="presOf" srcId="{5366F392-4AE4-4FF3-A316-3A457C3BC9EB}" destId="{2B5E29E6-E34B-4096-BD83-C6CBEC8AE8AD}" srcOrd="0" destOrd="0" presId="urn:microsoft.com/office/officeart/2005/8/layout/list1"/>
    <dgm:cxn modelId="{8973F5B6-DF43-4E51-8086-38C781AE4968}" type="presOf" srcId="{0A434D4C-9EAC-42A0-82D0-5D78AD38D7F6}" destId="{757D5B62-969B-4567-B907-6ADCCAFE9783}" srcOrd="1" destOrd="0" presId="urn:microsoft.com/office/officeart/2005/8/layout/list1"/>
    <dgm:cxn modelId="{1D50B6D3-DF26-4858-A5B2-AFF1E64BF1B3}" srcId="{0A434D4C-9EAC-42A0-82D0-5D78AD38D7F6}" destId="{C44D96D7-60C6-481A-B725-E0BD56A05223}" srcOrd="0" destOrd="0" parTransId="{FDB638BD-8229-4ABE-B8B0-B66F55E0F782}" sibTransId="{3ED4B8D2-F7BC-4A74-A2CC-DA21EB1BB152}"/>
    <dgm:cxn modelId="{B30C8FE4-E8D4-45A3-94D6-9951BEC079FD}" type="presOf" srcId="{0A434D4C-9EAC-42A0-82D0-5D78AD38D7F6}" destId="{6B446397-2B96-4C46-B8E2-461B8033535D}" srcOrd="0" destOrd="0" presId="urn:microsoft.com/office/officeart/2005/8/layout/list1"/>
    <dgm:cxn modelId="{F4301A25-DD72-4E7A-A939-55E53A618ADE}" type="presParOf" srcId="{2B5E29E6-E34B-4096-BD83-C6CBEC8AE8AD}" destId="{781CF237-0A7F-45D4-98E2-7158BE9721CA}" srcOrd="0" destOrd="0" presId="urn:microsoft.com/office/officeart/2005/8/layout/list1"/>
    <dgm:cxn modelId="{E3467E4D-8A51-4CBA-A478-BC388A627848}" type="presParOf" srcId="{781CF237-0A7F-45D4-98E2-7158BE9721CA}" destId="{6B446397-2B96-4C46-B8E2-461B8033535D}" srcOrd="0" destOrd="0" presId="urn:microsoft.com/office/officeart/2005/8/layout/list1"/>
    <dgm:cxn modelId="{4EC367AF-3151-4814-8171-126688C2B61B}" type="presParOf" srcId="{781CF237-0A7F-45D4-98E2-7158BE9721CA}" destId="{757D5B62-969B-4567-B907-6ADCCAFE9783}" srcOrd="1" destOrd="0" presId="urn:microsoft.com/office/officeart/2005/8/layout/list1"/>
    <dgm:cxn modelId="{4DEEE372-4038-49ED-A2CE-F29F28088251}" type="presParOf" srcId="{2B5E29E6-E34B-4096-BD83-C6CBEC8AE8AD}" destId="{B05FC4ED-4C95-4B4B-8D2A-50F93178C292}" srcOrd="1" destOrd="0" presId="urn:microsoft.com/office/officeart/2005/8/layout/list1"/>
    <dgm:cxn modelId="{3E379323-3AA5-4E3B-AD88-0235F251C83A}" type="presParOf" srcId="{2B5E29E6-E34B-4096-BD83-C6CBEC8AE8AD}" destId="{AB574F44-CD6D-4480-A010-F1222E0B4EB4}"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32F62B7-38F1-4E80-8580-FD87D48BBD0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5F0C9BC-499C-49DD-9BFD-5F276EB0CE02}">
      <dgm:prSet/>
      <dgm:spPr/>
      <dgm:t>
        <a:bodyPr/>
        <a:lstStyle/>
        <a:p>
          <a:r>
            <a:rPr lang="en-US"/>
            <a:t>Cache coherence is the principle that ensures that multiple caches in a system, each storing a copy of the same memory location, are kept in sync.</a:t>
          </a:r>
        </a:p>
      </dgm:t>
    </dgm:pt>
    <dgm:pt modelId="{AF14F4B9-5961-43E8-B8FB-683BE2563389}" type="parTrans" cxnId="{8D63170B-6854-4181-9AA6-2FC103DFC770}">
      <dgm:prSet/>
      <dgm:spPr/>
      <dgm:t>
        <a:bodyPr/>
        <a:lstStyle/>
        <a:p>
          <a:endParaRPr lang="en-US"/>
        </a:p>
      </dgm:t>
    </dgm:pt>
    <dgm:pt modelId="{EB5028F8-F2CE-4EC3-9188-2EA0B3245B30}" type="sibTrans" cxnId="{8D63170B-6854-4181-9AA6-2FC103DFC770}">
      <dgm:prSet/>
      <dgm:spPr/>
      <dgm:t>
        <a:bodyPr/>
        <a:lstStyle/>
        <a:p>
          <a:endParaRPr lang="en-US"/>
        </a:p>
      </dgm:t>
    </dgm:pt>
    <dgm:pt modelId="{6A3AC2AC-4FC8-45B5-BBB5-F9C63B6E1C90}">
      <dgm:prSet/>
      <dgm:spPr/>
      <dgm:t>
        <a:bodyPr/>
        <a:lstStyle/>
        <a:p>
          <a:r>
            <a:rPr lang="en-US" dirty="0"/>
            <a:t>It guarantees that all processors see a consistent view of memory despite the presence of local caches.</a:t>
          </a:r>
        </a:p>
      </dgm:t>
    </dgm:pt>
    <dgm:pt modelId="{B502CDAE-655F-4C0D-80E3-D02D9C5FE775}" type="parTrans" cxnId="{6B1AA5DC-9196-4F78-A588-C564E32075F2}">
      <dgm:prSet/>
      <dgm:spPr/>
      <dgm:t>
        <a:bodyPr/>
        <a:lstStyle/>
        <a:p>
          <a:endParaRPr lang="en-US"/>
        </a:p>
      </dgm:t>
    </dgm:pt>
    <dgm:pt modelId="{8BA0C546-2AD0-4387-B0E2-6014D5DD5E3A}" type="sibTrans" cxnId="{6B1AA5DC-9196-4F78-A588-C564E32075F2}">
      <dgm:prSet/>
      <dgm:spPr/>
      <dgm:t>
        <a:bodyPr/>
        <a:lstStyle/>
        <a:p>
          <a:endParaRPr lang="en-US"/>
        </a:p>
      </dgm:t>
    </dgm:pt>
    <dgm:pt modelId="{31F58EFD-826F-4AB9-B356-E2E97398DCD3}">
      <dgm:prSet/>
      <dgm:spPr/>
      <dgm:t>
        <a:bodyPr/>
        <a:lstStyle/>
        <a:p>
          <a:r>
            <a:rPr lang="en-US"/>
            <a:t>Maintaining cache coherence is essential for data consistency and program correctness.</a:t>
          </a:r>
        </a:p>
      </dgm:t>
    </dgm:pt>
    <dgm:pt modelId="{3B41D809-7F67-49C7-8903-17E6F5EF42EC}" type="parTrans" cxnId="{36ADF54E-0249-4C03-8589-C0DD97AC34EB}">
      <dgm:prSet/>
      <dgm:spPr/>
      <dgm:t>
        <a:bodyPr/>
        <a:lstStyle/>
        <a:p>
          <a:endParaRPr lang="en-US"/>
        </a:p>
      </dgm:t>
    </dgm:pt>
    <dgm:pt modelId="{5C18107E-D325-4162-AC76-086260F823E4}" type="sibTrans" cxnId="{36ADF54E-0249-4C03-8589-C0DD97AC34EB}">
      <dgm:prSet/>
      <dgm:spPr/>
      <dgm:t>
        <a:bodyPr/>
        <a:lstStyle/>
        <a:p>
          <a:endParaRPr lang="en-US"/>
        </a:p>
      </dgm:t>
    </dgm:pt>
    <dgm:pt modelId="{AD3DD08B-0229-4216-94CD-D234DBC7EFA5}" type="pres">
      <dgm:prSet presAssocID="{C32F62B7-38F1-4E80-8580-FD87D48BBD02}" presName="linear" presStyleCnt="0">
        <dgm:presLayoutVars>
          <dgm:animLvl val="lvl"/>
          <dgm:resizeHandles val="exact"/>
        </dgm:presLayoutVars>
      </dgm:prSet>
      <dgm:spPr/>
    </dgm:pt>
    <dgm:pt modelId="{4F14D607-85F3-437F-85A0-639CFE17B7BC}" type="pres">
      <dgm:prSet presAssocID="{75F0C9BC-499C-49DD-9BFD-5F276EB0CE02}" presName="parentText" presStyleLbl="node1" presStyleIdx="0" presStyleCnt="3">
        <dgm:presLayoutVars>
          <dgm:chMax val="0"/>
          <dgm:bulletEnabled val="1"/>
        </dgm:presLayoutVars>
      </dgm:prSet>
      <dgm:spPr/>
    </dgm:pt>
    <dgm:pt modelId="{60112807-4065-4C1E-93C2-C35388EF0F4C}" type="pres">
      <dgm:prSet presAssocID="{EB5028F8-F2CE-4EC3-9188-2EA0B3245B30}" presName="spacer" presStyleCnt="0"/>
      <dgm:spPr/>
    </dgm:pt>
    <dgm:pt modelId="{6A825C30-7C8E-42FA-8BFE-D3951992456E}" type="pres">
      <dgm:prSet presAssocID="{6A3AC2AC-4FC8-45B5-BBB5-F9C63B6E1C90}" presName="parentText" presStyleLbl="node1" presStyleIdx="1" presStyleCnt="3">
        <dgm:presLayoutVars>
          <dgm:chMax val="0"/>
          <dgm:bulletEnabled val="1"/>
        </dgm:presLayoutVars>
      </dgm:prSet>
      <dgm:spPr/>
    </dgm:pt>
    <dgm:pt modelId="{999A06D2-A537-4D04-B7E6-1AC87ADF50C0}" type="pres">
      <dgm:prSet presAssocID="{8BA0C546-2AD0-4387-B0E2-6014D5DD5E3A}" presName="spacer" presStyleCnt="0"/>
      <dgm:spPr/>
    </dgm:pt>
    <dgm:pt modelId="{1CE60883-E339-40B6-BF34-4B6A0475FA94}" type="pres">
      <dgm:prSet presAssocID="{31F58EFD-826F-4AB9-B356-E2E97398DCD3}" presName="parentText" presStyleLbl="node1" presStyleIdx="2" presStyleCnt="3">
        <dgm:presLayoutVars>
          <dgm:chMax val="0"/>
          <dgm:bulletEnabled val="1"/>
        </dgm:presLayoutVars>
      </dgm:prSet>
      <dgm:spPr/>
    </dgm:pt>
  </dgm:ptLst>
  <dgm:cxnLst>
    <dgm:cxn modelId="{8D63170B-6854-4181-9AA6-2FC103DFC770}" srcId="{C32F62B7-38F1-4E80-8580-FD87D48BBD02}" destId="{75F0C9BC-499C-49DD-9BFD-5F276EB0CE02}" srcOrd="0" destOrd="0" parTransId="{AF14F4B9-5961-43E8-B8FB-683BE2563389}" sibTransId="{EB5028F8-F2CE-4EC3-9188-2EA0B3245B30}"/>
    <dgm:cxn modelId="{37C68320-A4D0-4732-983D-6D4C25CC367F}" type="presOf" srcId="{75F0C9BC-499C-49DD-9BFD-5F276EB0CE02}" destId="{4F14D607-85F3-437F-85A0-639CFE17B7BC}" srcOrd="0" destOrd="0" presId="urn:microsoft.com/office/officeart/2005/8/layout/vList2"/>
    <dgm:cxn modelId="{16C38C36-D12F-49FF-A0B5-8818DDD3F017}" type="presOf" srcId="{6A3AC2AC-4FC8-45B5-BBB5-F9C63B6E1C90}" destId="{6A825C30-7C8E-42FA-8BFE-D3951992456E}" srcOrd="0" destOrd="0" presId="urn:microsoft.com/office/officeart/2005/8/layout/vList2"/>
    <dgm:cxn modelId="{36ADF54E-0249-4C03-8589-C0DD97AC34EB}" srcId="{C32F62B7-38F1-4E80-8580-FD87D48BBD02}" destId="{31F58EFD-826F-4AB9-B356-E2E97398DCD3}" srcOrd="2" destOrd="0" parTransId="{3B41D809-7F67-49C7-8903-17E6F5EF42EC}" sibTransId="{5C18107E-D325-4162-AC76-086260F823E4}"/>
    <dgm:cxn modelId="{57A556AC-5905-40BD-BC80-49194DB3FB86}" type="presOf" srcId="{C32F62B7-38F1-4E80-8580-FD87D48BBD02}" destId="{AD3DD08B-0229-4216-94CD-D234DBC7EFA5}" srcOrd="0" destOrd="0" presId="urn:microsoft.com/office/officeart/2005/8/layout/vList2"/>
    <dgm:cxn modelId="{6B1AA5DC-9196-4F78-A588-C564E32075F2}" srcId="{C32F62B7-38F1-4E80-8580-FD87D48BBD02}" destId="{6A3AC2AC-4FC8-45B5-BBB5-F9C63B6E1C90}" srcOrd="1" destOrd="0" parTransId="{B502CDAE-655F-4C0D-80E3-D02D9C5FE775}" sibTransId="{8BA0C546-2AD0-4387-B0E2-6014D5DD5E3A}"/>
    <dgm:cxn modelId="{3B7437FA-ECA1-4589-ABBE-6598F8A1C25B}" type="presOf" srcId="{31F58EFD-826F-4AB9-B356-E2E97398DCD3}" destId="{1CE60883-E339-40B6-BF34-4B6A0475FA94}" srcOrd="0" destOrd="0" presId="urn:microsoft.com/office/officeart/2005/8/layout/vList2"/>
    <dgm:cxn modelId="{B6F7A610-E0A1-47E7-B815-FC950EA61FE9}" type="presParOf" srcId="{AD3DD08B-0229-4216-94CD-D234DBC7EFA5}" destId="{4F14D607-85F3-437F-85A0-639CFE17B7BC}" srcOrd="0" destOrd="0" presId="urn:microsoft.com/office/officeart/2005/8/layout/vList2"/>
    <dgm:cxn modelId="{6D3BBA9F-3653-4650-AAA9-0ED49EFB86FF}" type="presParOf" srcId="{AD3DD08B-0229-4216-94CD-D234DBC7EFA5}" destId="{60112807-4065-4C1E-93C2-C35388EF0F4C}" srcOrd="1" destOrd="0" presId="urn:microsoft.com/office/officeart/2005/8/layout/vList2"/>
    <dgm:cxn modelId="{4A271978-48A0-4D9B-81EC-B77606C30E5E}" type="presParOf" srcId="{AD3DD08B-0229-4216-94CD-D234DBC7EFA5}" destId="{6A825C30-7C8E-42FA-8BFE-D3951992456E}" srcOrd="2" destOrd="0" presId="urn:microsoft.com/office/officeart/2005/8/layout/vList2"/>
    <dgm:cxn modelId="{271EA068-891D-41E3-BBD0-8269BDF9FC06}" type="presParOf" srcId="{AD3DD08B-0229-4216-94CD-D234DBC7EFA5}" destId="{999A06D2-A537-4D04-B7E6-1AC87ADF50C0}" srcOrd="3" destOrd="0" presId="urn:microsoft.com/office/officeart/2005/8/layout/vList2"/>
    <dgm:cxn modelId="{3B9D413A-954B-4CE5-9A64-9309506BD4B8}" type="presParOf" srcId="{AD3DD08B-0229-4216-94CD-D234DBC7EFA5}" destId="{1CE60883-E339-40B6-BF34-4B6A0475FA94}"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574F44-CD6D-4480-A010-F1222E0B4EB4}">
      <dsp:nvSpPr>
        <dsp:cNvPr id="0" name=""/>
        <dsp:cNvSpPr/>
      </dsp:nvSpPr>
      <dsp:spPr>
        <a:xfrm>
          <a:off x="0" y="453303"/>
          <a:ext cx="5978843" cy="1689975"/>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64025" tIns="604012" rIns="464025" bIns="206248" numCol="1" spcCol="1270" anchor="t" anchorCtr="0">
          <a:noAutofit/>
        </a:bodyPr>
        <a:lstStyle/>
        <a:p>
          <a:pPr marL="285750" lvl="1" indent="-285750" algn="l" defTabSz="1289050">
            <a:lnSpc>
              <a:spcPct val="90000"/>
            </a:lnSpc>
            <a:spcBef>
              <a:spcPct val="0"/>
            </a:spcBef>
            <a:spcAft>
              <a:spcPct val="15000"/>
            </a:spcAft>
            <a:buChar char="•"/>
          </a:pPr>
          <a:r>
            <a:rPr lang="en-US" sz="2900" kern="1200" dirty="0"/>
            <a:t>Cache: A deep Dive</a:t>
          </a:r>
        </a:p>
        <a:p>
          <a:pPr marL="285750" lvl="1" indent="-285750" algn="l" defTabSz="1289050">
            <a:lnSpc>
              <a:spcPct val="90000"/>
            </a:lnSpc>
            <a:spcBef>
              <a:spcPct val="0"/>
            </a:spcBef>
            <a:spcAft>
              <a:spcPct val="15000"/>
            </a:spcAft>
            <a:buChar char="•"/>
          </a:pPr>
          <a:r>
            <a:rPr lang="en-US" sz="2900" kern="1200" dirty="0"/>
            <a:t>Cache Coherence</a:t>
          </a:r>
        </a:p>
      </dsp:txBody>
      <dsp:txXfrm>
        <a:off x="0" y="453303"/>
        <a:ext cx="5978843" cy="1689975"/>
      </dsp:txXfrm>
    </dsp:sp>
    <dsp:sp modelId="{757D5B62-969B-4567-B907-6ADCCAFE9783}">
      <dsp:nvSpPr>
        <dsp:cNvPr id="0" name=""/>
        <dsp:cNvSpPr/>
      </dsp:nvSpPr>
      <dsp:spPr>
        <a:xfrm>
          <a:off x="298942" y="25263"/>
          <a:ext cx="4185190" cy="85608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8190" tIns="0" rIns="158190" bIns="0" numCol="1" spcCol="1270" anchor="ctr" anchorCtr="0">
          <a:noAutofit/>
        </a:bodyPr>
        <a:lstStyle/>
        <a:p>
          <a:pPr marL="0" lvl="0" indent="0" algn="l" defTabSz="1289050">
            <a:lnSpc>
              <a:spcPct val="90000"/>
            </a:lnSpc>
            <a:spcBef>
              <a:spcPct val="0"/>
            </a:spcBef>
            <a:spcAft>
              <a:spcPct val="35000"/>
            </a:spcAft>
            <a:buNone/>
          </a:pPr>
          <a:r>
            <a:rPr lang="en-US" sz="2900" b="1" kern="1200" dirty="0"/>
            <a:t>Week 8 </a:t>
          </a:r>
          <a:r>
            <a:rPr lang="en-US" sz="2900" b="1" kern="1200" dirty="0" err="1"/>
            <a:t>Lec</a:t>
          </a:r>
          <a:r>
            <a:rPr lang="en-US" sz="2900" b="1" kern="1200" dirty="0"/>
            <a:t> 2: Memory </a:t>
          </a:r>
          <a:endParaRPr lang="en-US" sz="2900" kern="1200" dirty="0"/>
        </a:p>
      </dsp:txBody>
      <dsp:txXfrm>
        <a:off x="340732" y="67053"/>
        <a:ext cx="4101610" cy="7725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14D607-85F3-437F-85A0-639CFE17B7BC}">
      <dsp:nvSpPr>
        <dsp:cNvPr id="0" name=""/>
        <dsp:cNvSpPr/>
      </dsp:nvSpPr>
      <dsp:spPr>
        <a:xfrm>
          <a:off x="0" y="690831"/>
          <a:ext cx="6797675" cy="137475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Cache coherence is the principle that ensures that multiple caches in a system, each storing a copy of the same memory location, are kept in sync.</a:t>
          </a:r>
        </a:p>
      </dsp:txBody>
      <dsp:txXfrm>
        <a:off x="67110" y="757941"/>
        <a:ext cx="6663455" cy="1240530"/>
      </dsp:txXfrm>
    </dsp:sp>
    <dsp:sp modelId="{6A825C30-7C8E-42FA-8BFE-D3951992456E}">
      <dsp:nvSpPr>
        <dsp:cNvPr id="0" name=""/>
        <dsp:cNvSpPr/>
      </dsp:nvSpPr>
      <dsp:spPr>
        <a:xfrm>
          <a:off x="0" y="2137581"/>
          <a:ext cx="6797675" cy="1374750"/>
        </a:xfrm>
        <a:prstGeom prst="roundRect">
          <a:avLst/>
        </a:prstGeom>
        <a:solidFill>
          <a:schemeClr val="accent2">
            <a:hueOff val="19519"/>
            <a:satOff val="-13438"/>
            <a:lumOff val="-343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It guarantees that all processors see a consistent view of memory despite the presence of local caches.</a:t>
          </a:r>
        </a:p>
      </dsp:txBody>
      <dsp:txXfrm>
        <a:off x="67110" y="2204691"/>
        <a:ext cx="6663455" cy="1240530"/>
      </dsp:txXfrm>
    </dsp:sp>
    <dsp:sp modelId="{1CE60883-E339-40B6-BF34-4B6A0475FA94}">
      <dsp:nvSpPr>
        <dsp:cNvPr id="0" name=""/>
        <dsp:cNvSpPr/>
      </dsp:nvSpPr>
      <dsp:spPr>
        <a:xfrm>
          <a:off x="0" y="3584331"/>
          <a:ext cx="6797675" cy="1374750"/>
        </a:xfrm>
        <a:prstGeom prst="roundRect">
          <a:avLst/>
        </a:prstGeom>
        <a:solidFill>
          <a:schemeClr val="accent2">
            <a:hueOff val="39038"/>
            <a:satOff val="-26876"/>
            <a:lumOff val="-686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Maintaining cache coherence is essential for data consistency and program correctness.</a:t>
          </a:r>
        </a:p>
      </dsp:txBody>
      <dsp:txXfrm>
        <a:off x="67110" y="3651441"/>
        <a:ext cx="6663455" cy="124053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54C105-89D2-45EA-8233-91B76C12AA0D}"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5D7243-11EB-46CB-B857-B3F0F3A5ADD2}" type="slidenum">
              <a:rPr lang="en-US" smtClean="0"/>
              <a:t>‹#›</a:t>
            </a:fld>
            <a:endParaRPr lang="en-US"/>
          </a:p>
        </p:txBody>
      </p:sp>
    </p:spTree>
    <p:extLst>
      <p:ext uri="{BB962C8B-B14F-4D97-AF65-F5344CB8AC3E}">
        <p14:creationId xmlns:p14="http://schemas.microsoft.com/office/powerpoint/2010/main" val="2177682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ECECEC"/>
                </a:solidFill>
                <a:effectLst/>
                <a:latin typeface="Söhne"/>
              </a:rPr>
              <a:t>Cache coherence refers to the consistency of data stored in different caches that mirror the same data in a computer system. In a multiprocessor or multicore system, each processor or core typically has its own cache to store frequently used data. However, when multiple caches are involved, it becomes crucial to ensure that the copies of data in different caches are synchronized and consistent.</a:t>
            </a:r>
          </a:p>
          <a:p>
            <a:pPr algn="l"/>
            <a:r>
              <a:rPr lang="en-US" b="0" i="0" dirty="0">
                <a:solidFill>
                  <a:srgbClr val="ECECEC"/>
                </a:solidFill>
                <a:effectLst/>
                <a:latin typeface="Söhne"/>
              </a:rPr>
              <a:t>The primary goal of cache coherence is to prevent data inconsistencies that may arise due to multiple caches storing the same data</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0CDAAC4-81CD-4E71-BDC6-3AF8E64AED2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06320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300"/>
              </a:spcBef>
              <a:buFont typeface="Arial" panose="020B0604020202020204" pitchFamily="34" charset="0"/>
              <a:buChar char="•"/>
            </a:pPr>
            <a:r>
              <a:rPr lang="en-US" b="0" i="0" dirty="0">
                <a:solidFill>
                  <a:srgbClr val="F8FAFF"/>
                </a:solidFill>
                <a:effectLst/>
                <a:latin typeface="Inter"/>
              </a:rPr>
              <a:t>When a core (let’s call it the "faulting processor") needs to access a memory location, it sends a </a:t>
            </a:r>
            <a:r>
              <a:rPr lang="en-US" b="1" i="0" dirty="0">
                <a:solidFill>
                  <a:srgbClr val="F8FAFF"/>
                </a:solidFill>
                <a:effectLst/>
                <a:latin typeface="Inter"/>
              </a:rPr>
              <a:t>broadcast message</a:t>
            </a:r>
            <a:r>
              <a:rPr lang="en-US" b="0" i="0" dirty="0">
                <a:solidFill>
                  <a:srgbClr val="F8FAFF"/>
                </a:solidFill>
                <a:effectLst/>
                <a:latin typeface="Inter"/>
              </a:rPr>
              <a:t> (called a "search probe") over the shared bus.</a:t>
            </a:r>
          </a:p>
          <a:p>
            <a:pPr algn="l">
              <a:spcBef>
                <a:spcPts val="300"/>
              </a:spcBef>
              <a:buFont typeface="Arial" panose="020B0604020202020204" pitchFamily="34" charset="0"/>
              <a:buChar char="•"/>
            </a:pPr>
            <a:r>
              <a:rPr lang="en-US" b="0" i="0" dirty="0">
                <a:solidFill>
                  <a:srgbClr val="F8FAFF"/>
                </a:solidFill>
                <a:effectLst/>
                <a:latin typeface="Inter"/>
              </a:rPr>
              <a:t>All other cores </a:t>
            </a:r>
            <a:r>
              <a:rPr lang="en-US" b="1" i="0" dirty="0">
                <a:solidFill>
                  <a:srgbClr val="F8FAFF"/>
                </a:solidFill>
                <a:effectLst/>
                <a:latin typeface="Inter"/>
              </a:rPr>
              <a:t>listen</a:t>
            </a:r>
            <a:r>
              <a:rPr lang="en-US" b="0" i="0" dirty="0">
                <a:solidFill>
                  <a:srgbClr val="F8FAFF"/>
                </a:solidFill>
                <a:effectLst/>
                <a:latin typeface="Inter"/>
              </a:rPr>
              <a:t> to this message (they "snoop" on the bus).</a:t>
            </a:r>
          </a:p>
          <a:p>
            <a:pPr algn="l">
              <a:spcBef>
                <a:spcPts val="300"/>
              </a:spcBef>
              <a:buFont typeface="Arial" panose="020B0604020202020204" pitchFamily="34" charset="0"/>
              <a:buChar char="•"/>
            </a:pPr>
            <a:r>
              <a:rPr lang="en-US" b="0" i="0" dirty="0">
                <a:solidFill>
                  <a:srgbClr val="F8FAFF"/>
                </a:solidFill>
                <a:effectLst/>
                <a:latin typeface="Inter"/>
              </a:rPr>
              <a:t>If another core has the requested data, it responds and takes the necessary action (e.g., sending the data or invalidating its copy).</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0CDAAC4-81CD-4E71-BDC6-3AF8E64AED24}"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984745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userDrawn="1"/>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6" name="Slide Number Placeholder 5"/>
          <p:cNvSpPr>
            <a:spLocks noGrp="1"/>
          </p:cNvSpPr>
          <p:nvPr>
            <p:ph type="sldNum" sz="quarter" idx="12"/>
          </p:nvPr>
        </p:nvSpPr>
        <p:spPr/>
        <p:txBody>
          <a:bodyPr/>
          <a:lstStyle/>
          <a:p>
            <a:pPr marL="38100">
              <a:lnSpc>
                <a:spcPts val="1650"/>
              </a:lnSpc>
            </a:pPr>
            <a:fld id="{81D60167-4931-47E6-BA6A-407CBD079E47}" type="slidenum">
              <a:rPr lang="en-US" spc="-50" smtClean="0"/>
              <a:pPr marL="38100">
                <a:lnSpc>
                  <a:spcPts val="1650"/>
                </a:lnSpc>
              </a:pPr>
              <a:t>‹#›</a:t>
            </a:fld>
            <a:endParaRPr lang="en-US" spc="-50" dirty="0"/>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4441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pPr marL="38100">
              <a:lnSpc>
                <a:spcPts val="1650"/>
              </a:lnSpc>
            </a:pPr>
            <a:fld id="{81D60167-4931-47E6-BA6A-407CBD079E47}" type="slidenum">
              <a:rPr lang="en-US" spc="-50" smtClean="0"/>
              <a:pPr marL="38100">
                <a:lnSpc>
                  <a:spcPts val="1650"/>
                </a:lnSpc>
              </a:pPr>
              <a:t>‹#›</a:t>
            </a:fld>
            <a:endParaRPr lang="en-US" spc="-50" dirty="0"/>
          </a:p>
        </p:txBody>
      </p:sp>
    </p:spTree>
    <p:extLst>
      <p:ext uri="{BB962C8B-B14F-4D97-AF65-F5344CB8AC3E}">
        <p14:creationId xmlns:p14="http://schemas.microsoft.com/office/powerpoint/2010/main" val="3502383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97282" y="6459787"/>
            <a:ext cx="2472271" cy="365125"/>
          </a:xfrm>
          <a:prstGeom prst="rect">
            <a:avLst/>
          </a:prstGeom>
        </p:spPr>
        <p:txBody>
          <a:bodyPr/>
          <a:lstStyle/>
          <a:p>
            <a:fld id="{1D8BD707-D9CF-40AE-B4C6-C98DA3205C09}" type="datetimeFigureOut">
              <a:rPr lang="en-US" smtClean="0"/>
              <a:t>10/21/2025</a:t>
            </a:fld>
            <a:endParaRPr lang="en-US"/>
          </a:p>
        </p:txBody>
      </p:sp>
      <p:sp>
        <p:nvSpPr>
          <p:cNvPr id="6" name="Slide Number Placeholder 5"/>
          <p:cNvSpPr>
            <a:spLocks noGrp="1"/>
          </p:cNvSpPr>
          <p:nvPr>
            <p:ph type="sldNum" sz="quarter" idx="12"/>
          </p:nvPr>
        </p:nvSpPr>
        <p:spPr/>
        <p:txBody>
          <a:bodyPr/>
          <a:lstStyle/>
          <a:p>
            <a:pPr marL="38100">
              <a:lnSpc>
                <a:spcPts val="1650"/>
              </a:lnSpc>
            </a:pPr>
            <a:fld id="{81D60167-4931-47E6-BA6A-407CBD079E47}" type="slidenum">
              <a:rPr lang="en-US" spc="-50" smtClean="0"/>
              <a:pPr marL="38100">
                <a:lnSpc>
                  <a:spcPts val="1650"/>
                </a:lnSpc>
              </a:pPr>
              <a:t>‹#›</a:t>
            </a:fld>
            <a:endParaRPr lang="en-US" spc="-50" dirty="0"/>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85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7"/>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1097282" y="6459787"/>
            <a:ext cx="2472271" cy="365125"/>
          </a:xfrm>
          <a:prstGeom prst="rect">
            <a:avLst/>
          </a:prstGeom>
        </p:spPr>
        <p:txBody>
          <a:bodyPr/>
          <a:lstStyle/>
          <a:p>
            <a:fld id="{1D8BD707-D9CF-40AE-B4C6-C98DA3205C09}" type="datetimeFigureOut">
              <a:rPr lang="en-US" smtClean="0"/>
              <a:t>10/21/2025</a:t>
            </a:fld>
            <a:endParaRPr lang="en-US"/>
          </a:p>
        </p:txBody>
      </p:sp>
      <p:sp>
        <p:nvSpPr>
          <p:cNvPr id="7" name="Slide Number Placeholder 6"/>
          <p:cNvSpPr>
            <a:spLocks noGrp="1"/>
          </p:cNvSpPr>
          <p:nvPr>
            <p:ph type="sldNum" sz="quarter" idx="12"/>
          </p:nvPr>
        </p:nvSpPr>
        <p:spPr/>
        <p:txBody>
          <a:bodyPr/>
          <a:lstStyle/>
          <a:p>
            <a:pPr marL="38100">
              <a:lnSpc>
                <a:spcPts val="1650"/>
              </a:lnSpc>
            </a:pPr>
            <a:fld id="{81D60167-4931-47E6-BA6A-407CBD079E47}" type="slidenum">
              <a:rPr lang="en-US" spc="-50" smtClean="0"/>
              <a:pPr marL="38100">
                <a:lnSpc>
                  <a:spcPts val="1650"/>
                </a:lnSpc>
              </a:pPr>
              <a:t>‹#›</a:t>
            </a:fld>
            <a:endParaRPr lang="en-US" spc="-50" dirty="0"/>
          </a:p>
        </p:txBody>
      </p:sp>
    </p:spTree>
    <p:extLst>
      <p:ext uri="{BB962C8B-B14F-4D97-AF65-F5344CB8AC3E}">
        <p14:creationId xmlns:p14="http://schemas.microsoft.com/office/powerpoint/2010/main" val="2882690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1097282" y="6459787"/>
            <a:ext cx="2472271" cy="365125"/>
          </a:xfrm>
          <a:prstGeom prst="rect">
            <a:avLst/>
          </a:prstGeom>
        </p:spPr>
        <p:txBody>
          <a:bodyPr/>
          <a:lstStyle/>
          <a:p>
            <a:fld id="{1D8BD707-D9CF-40AE-B4C6-C98DA3205C09}" type="datetimeFigureOut">
              <a:rPr lang="en-US" smtClean="0"/>
              <a:t>10/21/2025</a:t>
            </a:fld>
            <a:endParaRPr lang="en-US"/>
          </a:p>
        </p:txBody>
      </p:sp>
      <p:sp>
        <p:nvSpPr>
          <p:cNvPr id="9" name="Slide Number Placeholder 8"/>
          <p:cNvSpPr>
            <a:spLocks noGrp="1"/>
          </p:cNvSpPr>
          <p:nvPr>
            <p:ph type="sldNum" sz="quarter" idx="12"/>
          </p:nvPr>
        </p:nvSpPr>
        <p:spPr/>
        <p:txBody>
          <a:bodyPr/>
          <a:lstStyle/>
          <a:p>
            <a:pPr marL="38100">
              <a:lnSpc>
                <a:spcPts val="1650"/>
              </a:lnSpc>
            </a:pPr>
            <a:fld id="{81D60167-4931-47E6-BA6A-407CBD079E47}" type="slidenum">
              <a:rPr lang="en-US" spc="-50" smtClean="0"/>
              <a:pPr marL="38100">
                <a:lnSpc>
                  <a:spcPts val="1650"/>
                </a:lnSpc>
              </a:pPr>
              <a:t>‹#›</a:t>
            </a:fld>
            <a:endParaRPr lang="en-US" spc="-50" dirty="0"/>
          </a:p>
        </p:txBody>
      </p:sp>
    </p:spTree>
    <p:extLst>
      <p:ext uri="{BB962C8B-B14F-4D97-AF65-F5344CB8AC3E}">
        <p14:creationId xmlns:p14="http://schemas.microsoft.com/office/powerpoint/2010/main" val="1446964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1097282" y="6459787"/>
            <a:ext cx="2472271" cy="365125"/>
          </a:xfrm>
          <a:prstGeom prst="rect">
            <a:avLst/>
          </a:prstGeom>
        </p:spPr>
        <p:txBody>
          <a:bodyPr/>
          <a:lstStyle/>
          <a:p>
            <a:fld id="{1D8BD707-D9CF-40AE-B4C6-C98DA3205C09}" type="datetimeFigureOut">
              <a:rPr lang="en-US" smtClean="0"/>
              <a:t>10/21/2025</a:t>
            </a:fld>
            <a:endParaRPr lang="en-US"/>
          </a:p>
        </p:txBody>
      </p:sp>
      <p:sp>
        <p:nvSpPr>
          <p:cNvPr id="5" name="Slide Number Placeholder 4"/>
          <p:cNvSpPr>
            <a:spLocks noGrp="1"/>
          </p:cNvSpPr>
          <p:nvPr>
            <p:ph type="sldNum" sz="quarter" idx="12"/>
          </p:nvPr>
        </p:nvSpPr>
        <p:spPr/>
        <p:txBody>
          <a:bodyPr/>
          <a:lstStyle/>
          <a:p>
            <a:pPr marL="38100">
              <a:lnSpc>
                <a:spcPts val="1650"/>
              </a:lnSpc>
            </a:pPr>
            <a:fld id="{81D60167-4931-47E6-BA6A-407CBD079E47}" type="slidenum">
              <a:rPr lang="en-US" spc="-50" smtClean="0"/>
              <a:pPr marL="38100">
                <a:lnSpc>
                  <a:spcPts val="1650"/>
                </a:lnSpc>
              </a:pPr>
              <a:t>‹#›</a:t>
            </a:fld>
            <a:endParaRPr lang="en-US" spc="-50" dirty="0"/>
          </a:p>
        </p:txBody>
      </p:sp>
    </p:spTree>
    <p:extLst>
      <p:ext uri="{BB962C8B-B14F-4D97-AF65-F5344CB8AC3E}">
        <p14:creationId xmlns:p14="http://schemas.microsoft.com/office/powerpoint/2010/main" val="2704114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a:xfrm>
            <a:off x="1097282" y="6459787"/>
            <a:ext cx="2472271" cy="365125"/>
          </a:xfrm>
          <a:prstGeom prst="rect">
            <a:avLst/>
          </a:prstGeom>
        </p:spPr>
        <p:txBody>
          <a:bodyPr/>
          <a:lstStyle/>
          <a:p>
            <a:fld id="{1D8BD707-D9CF-40AE-B4C6-C98DA3205C09}" type="datetimeFigureOut">
              <a:rPr lang="en-US" smtClean="0"/>
              <a:t>10/21/2025</a:t>
            </a:fld>
            <a:endParaRPr lang="en-US"/>
          </a:p>
        </p:txBody>
      </p:sp>
      <p:sp>
        <p:nvSpPr>
          <p:cNvPr id="9" name="Slide Number Placeholder 8"/>
          <p:cNvSpPr>
            <a:spLocks noGrp="1"/>
          </p:cNvSpPr>
          <p:nvPr>
            <p:ph type="sldNum" sz="quarter" idx="12"/>
          </p:nvPr>
        </p:nvSpPr>
        <p:spPr/>
        <p:txBody>
          <a:bodyPr/>
          <a:lstStyle/>
          <a:p>
            <a:pPr marL="38100">
              <a:lnSpc>
                <a:spcPts val="1650"/>
              </a:lnSpc>
            </a:pPr>
            <a:fld id="{81D60167-4931-47E6-BA6A-407CBD079E47}" type="slidenum">
              <a:rPr lang="en-US" spc="-50" smtClean="0"/>
              <a:pPr marL="38100">
                <a:lnSpc>
                  <a:spcPts val="1650"/>
                </a:lnSpc>
              </a:pPr>
              <a:t>‹#›</a:t>
            </a:fld>
            <a:endParaRPr lang="en-US" spc="-50" dirty="0"/>
          </a:p>
        </p:txBody>
      </p:sp>
    </p:spTree>
    <p:extLst>
      <p:ext uri="{BB962C8B-B14F-4D97-AF65-F5344CB8AC3E}">
        <p14:creationId xmlns:p14="http://schemas.microsoft.com/office/powerpoint/2010/main" val="4072846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8"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613650" y="731520"/>
            <a:ext cx="6679191"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3" y="6459787"/>
            <a:ext cx="2618511" cy="365125"/>
          </a:xfrm>
          <a:prstGeom prst="rect">
            <a:avLst/>
          </a:prstGeom>
        </p:spPr>
        <p:txBody>
          <a:bodyPr/>
          <a:lstStyle>
            <a:lvl1pPr algn="l">
              <a:defRPr/>
            </a:lvl1pPr>
          </a:lstStyle>
          <a:p>
            <a:fld id="{1D8BD707-D9CF-40AE-B4C6-C98DA3205C09}" type="datetimeFigureOut">
              <a:rPr lang="en-US" smtClean="0"/>
              <a:t>10/21/2025</a:t>
            </a:fld>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marL="38100">
              <a:lnSpc>
                <a:spcPts val="1650"/>
              </a:lnSpc>
            </a:pPr>
            <a:fld id="{81D60167-4931-47E6-BA6A-407CBD079E47}" type="slidenum">
              <a:rPr lang="en-US" spc="-50" smtClean="0"/>
              <a:pPr marL="38100">
                <a:lnSpc>
                  <a:spcPts val="1650"/>
                </a:lnSpc>
              </a:pPr>
              <a:t>‹#›</a:t>
            </a:fld>
            <a:endParaRPr lang="en-US" spc="-50" dirty="0"/>
          </a:p>
        </p:txBody>
      </p:sp>
    </p:spTree>
    <p:extLst>
      <p:ext uri="{BB962C8B-B14F-4D97-AF65-F5344CB8AC3E}">
        <p14:creationId xmlns:p14="http://schemas.microsoft.com/office/powerpoint/2010/main" val="1311451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936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79" y="5907024"/>
            <a:ext cx="1011936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97282" y="6459787"/>
            <a:ext cx="2472271" cy="365125"/>
          </a:xfrm>
          <a:prstGeom prst="rect">
            <a:avLst/>
          </a:prstGeom>
        </p:spPr>
        <p:txBody>
          <a:bodyPr/>
          <a:lstStyle/>
          <a:p>
            <a:fld id="{1D8BD707-D9CF-40AE-B4C6-C98DA3205C09}" type="datetimeFigureOut">
              <a:rPr lang="en-US" smtClean="0"/>
              <a:t>10/21/2025</a:t>
            </a:fld>
            <a:endParaRPr lang="en-US"/>
          </a:p>
        </p:txBody>
      </p:sp>
      <p:sp>
        <p:nvSpPr>
          <p:cNvPr id="6" name="Footer Placeholder 5"/>
          <p:cNvSpPr>
            <a:spLocks noGrp="1"/>
          </p:cNvSpPr>
          <p:nvPr>
            <p:ph type="ftr" sz="quarter" idx="11"/>
          </p:nvPr>
        </p:nvSpPr>
        <p:spPr>
          <a:xfrm>
            <a:off x="3686186" y="6459787"/>
            <a:ext cx="4822804" cy="365125"/>
          </a:xfrm>
          <a:prstGeom prst="rect">
            <a:avLst/>
          </a:prstGeom>
        </p:spPr>
        <p:txBody>
          <a:bodyPr/>
          <a:lstStyle/>
          <a:p>
            <a:pPr marL="12700">
              <a:lnSpc>
                <a:spcPts val="1650"/>
              </a:lnSpc>
            </a:pPr>
            <a:r>
              <a:rPr lang="en-US"/>
              <a:t>CS324 </a:t>
            </a:r>
            <a:r>
              <a:rPr lang="en-US" spc="-10"/>
              <a:t>Computer</a:t>
            </a:r>
            <a:r>
              <a:rPr lang="en-US" spc="-65"/>
              <a:t> </a:t>
            </a:r>
            <a:r>
              <a:rPr lang="en-US" spc="-10"/>
              <a:t>Architecture</a:t>
            </a:r>
            <a:endParaRPr lang="en-US" spc="-10" dirty="0"/>
          </a:p>
        </p:txBody>
      </p:sp>
      <p:sp>
        <p:nvSpPr>
          <p:cNvPr id="7" name="Slide Number Placeholder 6"/>
          <p:cNvSpPr>
            <a:spLocks noGrp="1"/>
          </p:cNvSpPr>
          <p:nvPr>
            <p:ph type="sldNum" sz="quarter" idx="12"/>
          </p:nvPr>
        </p:nvSpPr>
        <p:spPr/>
        <p:txBody>
          <a:bodyPr/>
          <a:lstStyle/>
          <a:p>
            <a:pPr marL="38100">
              <a:lnSpc>
                <a:spcPts val="1650"/>
              </a:lnSpc>
            </a:pPr>
            <a:fld id="{81D60167-4931-47E6-BA6A-407CBD079E47}" type="slidenum">
              <a:rPr lang="en-US" spc="-50" smtClean="0"/>
              <a:pPr marL="38100">
                <a:lnSpc>
                  <a:spcPts val="1650"/>
                </a:lnSpc>
              </a:pPr>
              <a:t>‹#›</a:t>
            </a:fld>
            <a:endParaRPr lang="en-US" spc="-50" dirty="0"/>
          </a:p>
        </p:txBody>
      </p:sp>
    </p:spTree>
    <p:extLst>
      <p:ext uri="{BB962C8B-B14F-4D97-AF65-F5344CB8AC3E}">
        <p14:creationId xmlns:p14="http://schemas.microsoft.com/office/powerpoint/2010/main" val="624390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2" y="6459787"/>
            <a:ext cx="2472271" cy="365125"/>
          </a:xfrm>
          <a:prstGeom prst="rect">
            <a:avLst/>
          </a:prstGeom>
        </p:spPr>
        <p:txBody>
          <a:bodyPr/>
          <a:lstStyle/>
          <a:p>
            <a:fld id="{1D8BD707-D9CF-40AE-B4C6-C98DA3205C09}" type="datetimeFigureOut">
              <a:rPr lang="en-US" smtClean="0"/>
              <a:t>10/21/2025</a:t>
            </a:fld>
            <a:endParaRPr lang="en-US"/>
          </a:p>
        </p:txBody>
      </p:sp>
      <p:sp>
        <p:nvSpPr>
          <p:cNvPr id="6" name="Slide Number Placeholder 5"/>
          <p:cNvSpPr>
            <a:spLocks noGrp="1"/>
          </p:cNvSpPr>
          <p:nvPr>
            <p:ph type="sldNum" sz="quarter" idx="12"/>
          </p:nvPr>
        </p:nvSpPr>
        <p:spPr/>
        <p:txBody>
          <a:bodyPr/>
          <a:lstStyle/>
          <a:p>
            <a:pPr marL="38100">
              <a:lnSpc>
                <a:spcPts val="1650"/>
              </a:lnSpc>
            </a:pPr>
            <a:fld id="{81D60167-4931-47E6-BA6A-407CBD079E47}" type="slidenum">
              <a:rPr lang="en-US" spc="-50" smtClean="0"/>
              <a:pPr marL="38100">
                <a:lnSpc>
                  <a:spcPts val="1650"/>
                </a:lnSpc>
              </a:pPr>
              <a:t>‹#›</a:t>
            </a:fld>
            <a:endParaRPr lang="en-US" spc="-50" dirty="0"/>
          </a:p>
        </p:txBody>
      </p:sp>
    </p:spTree>
    <p:extLst>
      <p:ext uri="{BB962C8B-B14F-4D97-AF65-F5344CB8AC3E}">
        <p14:creationId xmlns:p14="http://schemas.microsoft.com/office/powerpoint/2010/main" val="1221563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1" y="414780"/>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14779"/>
            <a:ext cx="7734300"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97282" y="6459787"/>
            <a:ext cx="2472271" cy="365125"/>
          </a:xfrm>
          <a:prstGeom prst="rect">
            <a:avLst/>
          </a:prstGeom>
        </p:spPr>
        <p:txBody>
          <a:bodyPr/>
          <a:lstStyle/>
          <a:p>
            <a:fld id="{1D8BD707-D9CF-40AE-B4C6-C98DA3205C09}" type="datetimeFigureOut">
              <a:rPr lang="en-US" smtClean="0"/>
              <a:t>10/21/2025</a:t>
            </a:fld>
            <a:endParaRPr lang="en-US"/>
          </a:p>
        </p:txBody>
      </p:sp>
      <p:sp>
        <p:nvSpPr>
          <p:cNvPr id="6" name="Slide Number Placeholder 5"/>
          <p:cNvSpPr>
            <a:spLocks noGrp="1"/>
          </p:cNvSpPr>
          <p:nvPr>
            <p:ph type="sldNum" sz="quarter" idx="12"/>
          </p:nvPr>
        </p:nvSpPr>
        <p:spPr/>
        <p:txBody>
          <a:bodyPr/>
          <a:lstStyle/>
          <a:p>
            <a:pPr marL="38100">
              <a:lnSpc>
                <a:spcPts val="1650"/>
              </a:lnSpc>
            </a:pPr>
            <a:fld id="{81D60167-4931-47E6-BA6A-407CBD079E47}" type="slidenum">
              <a:rPr lang="en-US" spc="-50" smtClean="0"/>
              <a:pPr marL="38100">
                <a:lnSpc>
                  <a:spcPts val="1650"/>
                </a:lnSpc>
              </a:pPr>
              <a:t>‹#›</a:t>
            </a:fld>
            <a:endParaRPr lang="en-US" spc="-50" dirty="0"/>
          </a:p>
        </p:txBody>
      </p:sp>
    </p:spTree>
    <p:extLst>
      <p:ext uri="{BB962C8B-B14F-4D97-AF65-F5344CB8AC3E}">
        <p14:creationId xmlns:p14="http://schemas.microsoft.com/office/powerpoint/2010/main" val="36546433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7BA8AEA-DB46-4C15-9786-7ADC107BB092}"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A02D34-271E-4AA8-B139-369B5E3C1DB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99050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BA8AEA-DB46-4C15-9786-7ADC107BB092}"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A02D34-271E-4AA8-B139-369B5E3C1DB0}" type="slidenum">
              <a:rPr lang="en-US" smtClean="0"/>
              <a:t>‹#›</a:t>
            </a:fld>
            <a:endParaRPr lang="en-US"/>
          </a:p>
        </p:txBody>
      </p:sp>
    </p:spTree>
    <p:extLst>
      <p:ext uri="{BB962C8B-B14F-4D97-AF65-F5344CB8AC3E}">
        <p14:creationId xmlns:p14="http://schemas.microsoft.com/office/powerpoint/2010/main" val="24096598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BA8AEA-DB46-4C15-9786-7ADC107BB092}"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A02D34-271E-4AA8-B139-369B5E3C1DB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33935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7BA8AEA-DB46-4C15-9786-7ADC107BB092}"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A02D34-271E-4AA8-B139-369B5E3C1DB0}" type="slidenum">
              <a:rPr lang="en-US" smtClean="0"/>
              <a:t>‹#›</a:t>
            </a:fld>
            <a:endParaRPr lang="en-US"/>
          </a:p>
        </p:txBody>
      </p:sp>
    </p:spTree>
    <p:extLst>
      <p:ext uri="{BB962C8B-B14F-4D97-AF65-F5344CB8AC3E}">
        <p14:creationId xmlns:p14="http://schemas.microsoft.com/office/powerpoint/2010/main" val="27763326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7BA8AEA-DB46-4C15-9786-7ADC107BB092}" type="datetimeFigureOut">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CA02D34-271E-4AA8-B139-369B5E3C1DB0}" type="slidenum">
              <a:rPr lang="en-US" smtClean="0"/>
              <a:t>‹#›</a:t>
            </a:fld>
            <a:endParaRPr lang="en-US"/>
          </a:p>
        </p:txBody>
      </p:sp>
    </p:spTree>
    <p:extLst>
      <p:ext uri="{BB962C8B-B14F-4D97-AF65-F5344CB8AC3E}">
        <p14:creationId xmlns:p14="http://schemas.microsoft.com/office/powerpoint/2010/main" val="32177502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7BA8AEA-DB46-4C15-9786-7ADC107BB092}" type="datetimeFigureOut">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CA02D34-271E-4AA8-B139-369B5E3C1DB0}" type="slidenum">
              <a:rPr lang="en-US" smtClean="0"/>
              <a:t>‹#›</a:t>
            </a:fld>
            <a:endParaRPr lang="en-US"/>
          </a:p>
        </p:txBody>
      </p:sp>
    </p:spTree>
    <p:extLst>
      <p:ext uri="{BB962C8B-B14F-4D97-AF65-F5344CB8AC3E}">
        <p14:creationId xmlns:p14="http://schemas.microsoft.com/office/powerpoint/2010/main" val="14219973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7BA8AEA-DB46-4C15-9786-7ADC107BB092}" type="datetimeFigureOut">
              <a:rPr lang="en-US" smtClean="0"/>
              <a:t>10/21/2025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0CA02D34-271E-4AA8-B139-369B5E3C1DB0}" type="slidenum">
              <a:rPr lang="en-US" smtClean="0"/>
              <a:t>‹#›</a:t>
            </a:fld>
            <a:endParaRPr lang="en-US"/>
          </a:p>
        </p:txBody>
      </p:sp>
    </p:spTree>
    <p:extLst>
      <p:ext uri="{BB962C8B-B14F-4D97-AF65-F5344CB8AC3E}">
        <p14:creationId xmlns:p14="http://schemas.microsoft.com/office/powerpoint/2010/main" val="40151834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7BA8AEA-DB46-4C15-9786-7ADC107BB092}" type="datetimeFigureOut">
              <a:rPr lang="en-US" smtClean="0"/>
              <a:t>10/21/2025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CA02D34-271E-4AA8-B139-369B5E3C1DB0}" type="slidenum">
              <a:rPr lang="en-US" smtClean="0"/>
              <a:t>‹#›</a:t>
            </a:fld>
            <a:endParaRPr lang="en-US"/>
          </a:p>
        </p:txBody>
      </p:sp>
    </p:spTree>
    <p:extLst>
      <p:ext uri="{BB962C8B-B14F-4D97-AF65-F5344CB8AC3E}">
        <p14:creationId xmlns:p14="http://schemas.microsoft.com/office/powerpoint/2010/main" val="1477346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BA8AEA-DB46-4C15-9786-7ADC107BB092}"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CA02D34-271E-4AA8-B139-369B5E3C1DB0}" type="slidenum">
              <a:rPr lang="en-US" smtClean="0"/>
              <a:t>‹#›</a:t>
            </a:fld>
            <a:endParaRPr lang="en-US"/>
          </a:p>
        </p:txBody>
      </p:sp>
    </p:spTree>
    <p:extLst>
      <p:ext uri="{BB962C8B-B14F-4D97-AF65-F5344CB8AC3E}">
        <p14:creationId xmlns:p14="http://schemas.microsoft.com/office/powerpoint/2010/main" val="37658174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BA8AEA-DB46-4C15-9786-7ADC107BB092}"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A02D34-271E-4AA8-B139-369B5E3C1DB0}" type="slidenum">
              <a:rPr lang="en-US" smtClean="0"/>
              <a:t>‹#›</a:t>
            </a:fld>
            <a:endParaRPr lang="en-US"/>
          </a:p>
        </p:txBody>
      </p:sp>
    </p:spTree>
    <p:extLst>
      <p:ext uri="{BB962C8B-B14F-4D97-AF65-F5344CB8AC3E}">
        <p14:creationId xmlns:p14="http://schemas.microsoft.com/office/powerpoint/2010/main" val="40815024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BA8AEA-DB46-4C15-9786-7ADC107BB092}"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CA02D34-271E-4AA8-B139-369B5E3C1DB0}" type="slidenum">
              <a:rPr lang="en-US" smtClean="0"/>
              <a:t>‹#›</a:t>
            </a:fld>
            <a:endParaRPr lang="en-US"/>
          </a:p>
        </p:txBody>
      </p:sp>
    </p:spTree>
    <p:extLst>
      <p:ext uri="{BB962C8B-B14F-4D97-AF65-F5344CB8AC3E}">
        <p14:creationId xmlns:p14="http://schemas.microsoft.com/office/powerpoint/2010/main" val="26597556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350"/>
          </a:p>
        </p:txBody>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350"/>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6000" spc="-38"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dirty="0"/>
              <a:t>Click to edit Master subtitle style</a:t>
            </a:r>
          </a:p>
        </p:txBody>
      </p:sp>
      <p:sp>
        <p:nvSpPr>
          <p:cNvPr id="4" name="Date Placeholder 3"/>
          <p:cNvSpPr>
            <a:spLocks noGrp="1"/>
          </p:cNvSpPr>
          <p:nvPr>
            <p:ph type="dt" sz="half" idx="10"/>
          </p:nvPr>
        </p:nvSpPr>
        <p:spPr/>
        <p:txBody>
          <a:bodyPr/>
          <a:lstStyle/>
          <a:p>
            <a:fld id="{4BDF68E2-58F2-4D09-BE8B-E3BD06533059}" type="datetimeFigureOut">
              <a:rPr lang="en-US" dirty="0"/>
              <a:t>10/21/2025</a:t>
            </a:fld>
            <a:endParaRPr lang="en-US" dirty="0"/>
          </a:p>
        </p:txBody>
      </p:sp>
      <p:sp>
        <p:nvSpPr>
          <p:cNvPr id="5" name="Footer Placeholder 4"/>
          <p:cNvSpPr>
            <a:spLocks noGrp="1"/>
          </p:cNvSpPr>
          <p:nvPr>
            <p:ph type="ftr" sz="quarter" idx="11"/>
          </p:nvPr>
        </p:nvSpPr>
        <p:spPr>
          <a:xfrm>
            <a:off x="3686186" y="6459787"/>
            <a:ext cx="4822804"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46845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28FC5F6-F338-4AE4-BB23-26385BCFC423}" type="datetimeFigureOut">
              <a:rPr lang="en-US" dirty="0"/>
              <a:t>10/21/2025</a:t>
            </a:fld>
            <a:endParaRPr lang="en-US" dirty="0"/>
          </a:p>
        </p:txBody>
      </p:sp>
      <p:sp>
        <p:nvSpPr>
          <p:cNvPr id="5" name="Footer Placeholder 4"/>
          <p:cNvSpPr>
            <a:spLocks noGrp="1"/>
          </p:cNvSpPr>
          <p:nvPr>
            <p:ph type="ftr" sz="quarter" idx="11"/>
          </p:nvPr>
        </p:nvSpPr>
        <p:spPr>
          <a:xfrm>
            <a:off x="3686186" y="6459787"/>
            <a:ext cx="4822804"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extLst>
      <p:ext uri="{BB962C8B-B14F-4D97-AF65-F5344CB8AC3E}">
        <p14:creationId xmlns:p14="http://schemas.microsoft.com/office/powerpoint/2010/main" val="7722432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6000" b="0">
                <a:solidFill>
                  <a:schemeClr val="tx1">
                    <a:lumMod val="85000"/>
                    <a:lumOff val="15000"/>
                  </a:schemeClr>
                </a:solidFill>
              </a:defRPr>
            </a:lvl1pPr>
          </a:lstStyle>
          <a:p>
            <a:r>
              <a:rPr lang="en-US" dirty="0"/>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10/21/2025</a:t>
            </a:fld>
            <a:endParaRPr lang="en-US" dirty="0"/>
          </a:p>
        </p:txBody>
      </p:sp>
      <p:sp>
        <p:nvSpPr>
          <p:cNvPr id="5" name="Footer Placeholder 4"/>
          <p:cNvSpPr>
            <a:spLocks noGrp="1"/>
          </p:cNvSpPr>
          <p:nvPr>
            <p:ph type="ftr" sz="quarter" idx="11"/>
          </p:nvPr>
        </p:nvSpPr>
        <p:spPr>
          <a:xfrm>
            <a:off x="3686186" y="6459787"/>
            <a:ext cx="4822804"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69017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5"/>
            <a:ext cx="10058400" cy="1450757"/>
          </a:xfrm>
        </p:spPr>
        <p:txBody>
          <a:bodyPr/>
          <a:lstStyle/>
          <a:p>
            <a:r>
              <a:rPr lang="en-US" dirty="0"/>
              <a:t>Click to edit Master title style</a:t>
            </a:r>
          </a:p>
        </p:txBody>
      </p:sp>
      <p:sp>
        <p:nvSpPr>
          <p:cNvPr id="3" name="Content Placeholder 2"/>
          <p:cNvSpPr>
            <a:spLocks noGrp="1"/>
          </p:cNvSpPr>
          <p:nvPr>
            <p:ph sz="half" idx="1"/>
          </p:nvPr>
        </p:nvSpPr>
        <p:spPr>
          <a:xfrm>
            <a:off x="1097279" y="1845734"/>
            <a:ext cx="493776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19AB4D41-86C1-4908-B66A-0B50CEB3BF29}" type="datetimeFigureOut">
              <a:rPr lang="en-US" dirty="0"/>
              <a:t>10/21/2025</a:t>
            </a:fld>
            <a:endParaRPr lang="en-US" dirty="0"/>
          </a:p>
        </p:txBody>
      </p:sp>
      <p:sp>
        <p:nvSpPr>
          <p:cNvPr id="6" name="Footer Placeholder 5"/>
          <p:cNvSpPr>
            <a:spLocks noGrp="1"/>
          </p:cNvSpPr>
          <p:nvPr>
            <p:ph type="ftr" sz="quarter" idx="11"/>
          </p:nvPr>
        </p:nvSpPr>
        <p:spPr>
          <a:xfrm>
            <a:off x="3686186" y="6459787"/>
            <a:ext cx="4822804"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5394175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5"/>
            <a:ext cx="10058400" cy="1450757"/>
          </a:xfrm>
        </p:spPr>
        <p:txBody>
          <a:bodyPr/>
          <a:lstStyle/>
          <a:p>
            <a:r>
              <a:rPr lang="en-US" dirty="0"/>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6426E2C-56C1-4E0D-A793-0088A7FDD37E}" type="datetimeFigureOut">
              <a:rPr lang="en-US" dirty="0"/>
              <a:t>10/21/2025</a:t>
            </a:fld>
            <a:endParaRPr lang="en-US" dirty="0"/>
          </a:p>
        </p:txBody>
      </p:sp>
      <p:sp>
        <p:nvSpPr>
          <p:cNvPr id="8" name="Footer Placeholder 7"/>
          <p:cNvSpPr>
            <a:spLocks noGrp="1"/>
          </p:cNvSpPr>
          <p:nvPr>
            <p:ph type="ftr" sz="quarter" idx="11"/>
          </p:nvPr>
        </p:nvSpPr>
        <p:spPr>
          <a:xfrm>
            <a:off x="3686186" y="6459787"/>
            <a:ext cx="4822804" cy="365125"/>
          </a:xfrm>
          <a:prstGeom prst="rect">
            <a:avLst/>
          </a:prstGeom>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90209866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8C39B41-D8B5-4052-B551-9B5525EAA8B6}" type="datetimeFigureOut">
              <a:rPr lang="en-US" dirty="0"/>
              <a:t>10/21/2025</a:t>
            </a:fld>
            <a:endParaRPr lang="en-US" dirty="0"/>
          </a:p>
        </p:txBody>
      </p:sp>
      <p:sp>
        <p:nvSpPr>
          <p:cNvPr id="4" name="Footer Placeholder 3"/>
          <p:cNvSpPr>
            <a:spLocks noGrp="1"/>
          </p:cNvSpPr>
          <p:nvPr>
            <p:ph type="ftr" sz="quarter" idx="11"/>
          </p:nvPr>
        </p:nvSpPr>
        <p:spPr>
          <a:xfrm>
            <a:off x="3686186" y="6459787"/>
            <a:ext cx="4822804" cy="365125"/>
          </a:xfrm>
          <a:prstGeom prst="rect">
            <a:avLst/>
          </a:prstGeom>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06470216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10/21/2025</a:t>
            </a:fld>
            <a:endParaRPr lang="en-US" dirty="0"/>
          </a:p>
        </p:txBody>
      </p:sp>
      <p:sp>
        <p:nvSpPr>
          <p:cNvPr id="8" name="Footer Placeholder 7"/>
          <p:cNvSpPr>
            <a:spLocks noGrp="1"/>
          </p:cNvSpPr>
          <p:nvPr>
            <p:ph type="ftr" sz="quarter" idx="11"/>
          </p:nvPr>
        </p:nvSpPr>
        <p:spPr>
          <a:xfrm>
            <a:off x="3686186" y="6459787"/>
            <a:ext cx="4822804" cy="365125"/>
          </a:xfrm>
          <a:prstGeom prst="rect">
            <a:avLst/>
          </a:prstGeom>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11087241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8"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2700" b="0">
                <a:solidFill>
                  <a:srgbClr val="FFFFFF"/>
                </a:solidFill>
              </a:defRPr>
            </a:lvl1pPr>
          </a:lstStyle>
          <a:p>
            <a:r>
              <a:rPr lang="en-US" dirty="0"/>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a:xfrm>
            <a:off x="465513" y="6459787"/>
            <a:ext cx="2618511" cy="365125"/>
          </a:xfrm>
        </p:spPr>
        <p:txBody>
          <a:bodyPr/>
          <a:lstStyle>
            <a:lvl1pPr algn="l">
              <a:defRPr/>
            </a:lvl1pPr>
          </a:lstStyle>
          <a:p>
            <a:fld id="{32ABBEA6-7C60-4B02-AE87-00D78D8422AF}" type="datetimeFigureOut">
              <a:rPr lang="en-US" dirty="0"/>
              <a:t>10/21/2025</a:t>
            </a:fld>
            <a:endParaRPr lang="en-US" dirty="0"/>
          </a:p>
        </p:txBody>
      </p:sp>
      <p:sp>
        <p:nvSpPr>
          <p:cNvPr id="6" name="Footer Placeholder 5"/>
          <p:cNvSpPr>
            <a:spLocks noGrp="1"/>
          </p:cNvSpPr>
          <p:nvPr>
            <p:ph type="ftr" sz="quarter" idx="11"/>
          </p:nvPr>
        </p:nvSpPr>
        <p:spPr>
          <a:xfrm>
            <a:off x="4800600" y="6459787"/>
            <a:ext cx="4648200" cy="365125"/>
          </a:xfrm>
          <a:prstGeom prst="rect">
            <a:avLst/>
          </a:prstGeo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28129259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2700" b="0">
                <a:solidFill>
                  <a:srgbClr val="FFFFFF"/>
                </a:solidFill>
              </a:defRPr>
            </a:lvl1pPr>
          </a:lstStyle>
          <a:p>
            <a:r>
              <a:rPr lang="en-US" dirty="0"/>
              <a:t>Click to edit Master title style</a:t>
            </a:r>
          </a:p>
        </p:txBody>
      </p:sp>
      <p:sp>
        <p:nvSpPr>
          <p:cNvPr id="3" name="Picture Placeholder 2"/>
          <p:cNvSpPr>
            <a:spLocks noGrp="1" noChangeAspect="1"/>
          </p:cNvSpPr>
          <p:nvPr>
            <p:ph type="pic" idx="1"/>
          </p:nvPr>
        </p:nvSpPr>
        <p:spPr>
          <a:xfrm>
            <a:off x="17" y="0"/>
            <a:ext cx="12191985" cy="4915076"/>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10/21/2025</a:t>
            </a:fld>
            <a:endParaRPr lang="en-US" dirty="0"/>
          </a:p>
        </p:txBody>
      </p:sp>
      <p:sp>
        <p:nvSpPr>
          <p:cNvPr id="6" name="Footer Placeholder 5"/>
          <p:cNvSpPr>
            <a:spLocks noGrp="1"/>
          </p:cNvSpPr>
          <p:nvPr>
            <p:ph type="ftr" sz="quarter" idx="11"/>
          </p:nvPr>
        </p:nvSpPr>
        <p:spPr>
          <a:xfrm>
            <a:off x="3686186" y="6459787"/>
            <a:ext cx="4822804"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34997938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E2D6473-DF6D-4702-B328-E0DD40540A4E}" type="datetimeFigureOut">
              <a:rPr lang="en-US" dirty="0"/>
              <a:t>10/21/2025</a:t>
            </a:fld>
            <a:endParaRPr lang="en-US" dirty="0"/>
          </a:p>
        </p:txBody>
      </p:sp>
      <p:sp>
        <p:nvSpPr>
          <p:cNvPr id="5" name="Footer Placeholder 4"/>
          <p:cNvSpPr>
            <a:spLocks noGrp="1"/>
          </p:cNvSpPr>
          <p:nvPr>
            <p:ph type="ftr" sz="quarter" idx="11"/>
          </p:nvPr>
        </p:nvSpPr>
        <p:spPr>
          <a:xfrm>
            <a:off x="3686186" y="6459787"/>
            <a:ext cx="4822804"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9322194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1" y="414780"/>
            <a:ext cx="2628900" cy="5757421"/>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1" y="414778"/>
            <a:ext cx="7734300" cy="5757422"/>
          </a:xfrm>
        </p:spPr>
        <p:txBody>
          <a:bodyPr vert="eaVert" lIns="45720" tIns="0" rIns="4572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26F7E3A-B166-407D-9866-32884E7D5B37}" type="datetimeFigureOut">
              <a:rPr lang="en-US" dirty="0"/>
              <a:t>10/21/2025</a:t>
            </a:fld>
            <a:endParaRPr lang="en-US" dirty="0"/>
          </a:p>
        </p:txBody>
      </p:sp>
      <p:sp>
        <p:nvSpPr>
          <p:cNvPr id="5" name="Footer Placeholder 4"/>
          <p:cNvSpPr>
            <a:spLocks noGrp="1"/>
          </p:cNvSpPr>
          <p:nvPr>
            <p:ph type="ftr" sz="quarter" idx="11"/>
          </p:nvPr>
        </p:nvSpPr>
        <p:spPr>
          <a:xfrm>
            <a:off x="3686186" y="6459787"/>
            <a:ext cx="4822804"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75199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1" y="6400800"/>
            <a:ext cx="12192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800"/>
          </a:p>
        </p:txBody>
      </p:sp>
      <p:sp>
        <p:nvSpPr>
          <p:cNvPr id="9" name="Rectangle 8"/>
          <p:cNvSpPr/>
          <p:nvPr/>
        </p:nvSpPr>
        <p:spPr>
          <a:xfrm>
            <a:off x="1" y="6334316"/>
            <a:ext cx="12192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800"/>
          </a:p>
        </p:txBody>
      </p:sp>
      <p:sp>
        <p:nvSpPr>
          <p:cNvPr id="2" name="Title Placeholder 1"/>
          <p:cNvSpPr>
            <a:spLocks noGrp="1"/>
          </p:cNvSpPr>
          <p:nvPr>
            <p:ph type="title"/>
          </p:nvPr>
        </p:nvSpPr>
        <p:spPr>
          <a:xfrm>
            <a:off x="1097280" y="286605"/>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79" y="1845734"/>
            <a:ext cx="100584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9900460" y="6459787"/>
            <a:ext cx="1312025" cy="365125"/>
          </a:xfrm>
          <a:prstGeom prst="rect">
            <a:avLst/>
          </a:prstGeom>
        </p:spPr>
        <p:txBody>
          <a:bodyPr vert="horz" lIns="91440" tIns="45720" rIns="91440" bIns="45720" rtlCol="0" anchor="ctr"/>
          <a:lstStyle>
            <a:lvl1pPr algn="r">
              <a:defRPr sz="1050">
                <a:solidFill>
                  <a:srgbClr val="FFFFFF"/>
                </a:solidFill>
              </a:defRPr>
            </a:lvl1pPr>
          </a:lstStyle>
          <a:p>
            <a:pPr marL="38100">
              <a:lnSpc>
                <a:spcPts val="1650"/>
              </a:lnSpc>
            </a:pPr>
            <a:fld id="{81D60167-4931-47E6-BA6A-407CBD079E47}" type="slidenum">
              <a:rPr lang="en-US" spc="-50" smtClean="0"/>
              <a:pPr marL="38100">
                <a:lnSpc>
                  <a:spcPts val="1650"/>
                </a:lnSpc>
              </a:pPr>
              <a:t>‹#›</a:t>
            </a:fld>
            <a:endParaRPr lang="en-US" spc="-50"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8444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07BA8AEA-DB46-4C15-9786-7ADC107BB092}" type="datetimeFigureOut">
              <a:rPr lang="en-US" smtClean="0"/>
              <a:t>10/21/2025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0CA02D34-271E-4AA8-B139-369B5E3C1DB0}"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28317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350"/>
          </a:p>
        </p:txBody>
      </p:sp>
      <p:sp>
        <p:nvSpPr>
          <p:cNvPr id="9" name="Rectangle 8"/>
          <p:cNvSpPr/>
          <p:nvPr/>
        </p:nvSpPr>
        <p:spPr>
          <a:xfrm>
            <a:off x="1"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sz="1350"/>
          </a:p>
        </p:txBody>
      </p:sp>
      <p:sp>
        <p:nvSpPr>
          <p:cNvPr id="2" name="Title Placeholder 1"/>
          <p:cNvSpPr>
            <a:spLocks noGrp="1"/>
          </p:cNvSpPr>
          <p:nvPr>
            <p:ph type="title"/>
          </p:nvPr>
        </p:nvSpPr>
        <p:spPr>
          <a:xfrm>
            <a:off x="1097280" y="286605"/>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97282" y="6459787"/>
            <a:ext cx="2472271" cy="365125"/>
          </a:xfrm>
          <a:prstGeom prst="rect">
            <a:avLst/>
          </a:prstGeom>
        </p:spPr>
        <p:txBody>
          <a:bodyPr vert="horz" lIns="91440" tIns="45720" rIns="91440" bIns="45720" rtlCol="0" anchor="ctr"/>
          <a:lstStyle>
            <a:lvl1pPr algn="l">
              <a:defRPr sz="675">
                <a:solidFill>
                  <a:srgbClr val="FFFFFF"/>
                </a:solidFill>
              </a:defRPr>
            </a:lvl1pPr>
          </a:lstStyle>
          <a:p>
            <a:fld id="{98624D31-43A5-475A-80CF-332C9F6DCF35}" type="datetimeFigureOut">
              <a:rPr lang="en-US" dirty="0"/>
              <a:t>10/21/2025</a:t>
            </a:fld>
            <a:endParaRPr lang="en-US" dirty="0"/>
          </a:p>
        </p:txBody>
      </p:sp>
      <p:sp>
        <p:nvSpPr>
          <p:cNvPr id="6" name="Slide Number Placeholder 5"/>
          <p:cNvSpPr>
            <a:spLocks noGrp="1"/>
          </p:cNvSpPr>
          <p:nvPr>
            <p:ph type="sldNum" sz="quarter" idx="4"/>
          </p:nvPr>
        </p:nvSpPr>
        <p:spPr>
          <a:xfrm>
            <a:off x="9900460" y="6459787"/>
            <a:ext cx="1312025" cy="365125"/>
          </a:xfrm>
          <a:prstGeom prst="rect">
            <a:avLst/>
          </a:prstGeom>
        </p:spPr>
        <p:txBody>
          <a:bodyPr vert="horz" lIns="91440" tIns="45720" rIns="91440" bIns="45720" rtlCol="0" anchor="ctr"/>
          <a:lstStyle>
            <a:lvl1pPr algn="r">
              <a:defRPr sz="788">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647259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62327" y="5810192"/>
            <a:ext cx="6475095" cy="153888"/>
          </a:xfrm>
          <a:prstGeom prst="rect">
            <a:avLst/>
          </a:prstGeom>
        </p:spPr>
        <p:txBody>
          <a:bodyPr vert="horz" wrap="square" lIns="0" tIns="0" rIns="0" bIns="0" rtlCol="0">
            <a:spAutoFit/>
          </a:bodyPr>
          <a:lstStyle/>
          <a:p>
            <a:pPr defTabSz="685800">
              <a:lnSpc>
                <a:spcPts val="1163"/>
              </a:lnSpc>
              <a:tabLst>
                <a:tab pos="6400324" algn="l"/>
              </a:tabLst>
              <a:defRPr/>
            </a:pPr>
            <a:r>
              <a:rPr sz="1050" b="1" i="1" dirty="0">
                <a:solidFill>
                  <a:srgbClr val="000000"/>
                </a:solidFill>
                <a:latin typeface="Arial"/>
                <a:cs typeface="Arial"/>
              </a:rPr>
              <a:t>CS324 </a:t>
            </a:r>
            <a:r>
              <a:rPr sz="1050" b="1" i="1" spc="-8" dirty="0">
                <a:solidFill>
                  <a:srgbClr val="000000"/>
                </a:solidFill>
                <a:latin typeface="Arial"/>
                <a:cs typeface="Arial"/>
              </a:rPr>
              <a:t>Computer</a:t>
            </a:r>
            <a:r>
              <a:rPr sz="1050" b="1" i="1" spc="-49" dirty="0">
                <a:solidFill>
                  <a:srgbClr val="000000"/>
                </a:solidFill>
                <a:latin typeface="Arial"/>
                <a:cs typeface="Arial"/>
              </a:rPr>
              <a:t> </a:t>
            </a:r>
            <a:r>
              <a:rPr sz="1050" b="1" i="1" spc="-8" dirty="0">
                <a:solidFill>
                  <a:srgbClr val="000000"/>
                </a:solidFill>
                <a:latin typeface="Arial"/>
                <a:cs typeface="Arial"/>
              </a:rPr>
              <a:t>Architecture</a:t>
            </a:r>
            <a:r>
              <a:rPr sz="1050" b="1" i="1" dirty="0">
                <a:solidFill>
                  <a:srgbClr val="000000"/>
                </a:solidFill>
                <a:latin typeface="Arial"/>
                <a:cs typeface="Arial"/>
              </a:rPr>
              <a:t>	</a:t>
            </a:r>
            <a:r>
              <a:rPr sz="1575" b="1" spc="-56" baseline="-5952" dirty="0">
                <a:solidFill>
                  <a:srgbClr val="000000"/>
                </a:solidFill>
                <a:latin typeface="Arial"/>
                <a:cs typeface="Arial"/>
              </a:rPr>
              <a:t>1</a:t>
            </a:r>
            <a:endParaRPr sz="1575" baseline="-5952">
              <a:solidFill>
                <a:srgbClr val="000000"/>
              </a:solidFill>
              <a:latin typeface="Arial"/>
              <a:cs typeface="Arial"/>
            </a:endParaRPr>
          </a:p>
        </p:txBody>
      </p:sp>
      <p:grpSp>
        <p:nvGrpSpPr>
          <p:cNvPr id="3" name="object 3"/>
          <p:cNvGrpSpPr/>
          <p:nvPr/>
        </p:nvGrpSpPr>
        <p:grpSpPr>
          <a:xfrm>
            <a:off x="2057401" y="685801"/>
            <a:ext cx="7384257" cy="5075111"/>
            <a:chOff x="111125" y="234568"/>
            <a:chExt cx="8921750" cy="6303645"/>
          </a:xfrm>
        </p:grpSpPr>
        <p:sp>
          <p:nvSpPr>
            <p:cNvPr id="4" name="object 4"/>
            <p:cNvSpPr/>
            <p:nvPr/>
          </p:nvSpPr>
          <p:spPr>
            <a:xfrm>
              <a:off x="114300" y="733424"/>
              <a:ext cx="8912860" cy="57150"/>
            </a:xfrm>
            <a:custGeom>
              <a:avLst/>
              <a:gdLst/>
              <a:ahLst/>
              <a:cxnLst/>
              <a:rect l="l" t="t" r="r" b="b"/>
              <a:pathLst>
                <a:path w="8912860" h="57150">
                  <a:moveTo>
                    <a:pt x="8912352" y="22860"/>
                  </a:moveTo>
                  <a:lnTo>
                    <a:pt x="0" y="22860"/>
                  </a:lnTo>
                  <a:lnTo>
                    <a:pt x="0" y="57150"/>
                  </a:lnTo>
                  <a:lnTo>
                    <a:pt x="8912352" y="57150"/>
                  </a:lnTo>
                  <a:lnTo>
                    <a:pt x="8912352" y="22860"/>
                  </a:lnTo>
                  <a:close/>
                </a:path>
                <a:path w="8912860" h="57150">
                  <a:moveTo>
                    <a:pt x="8912352" y="0"/>
                  </a:moveTo>
                  <a:lnTo>
                    <a:pt x="0" y="0"/>
                  </a:lnTo>
                  <a:lnTo>
                    <a:pt x="0" y="11430"/>
                  </a:lnTo>
                  <a:lnTo>
                    <a:pt x="8912352" y="11430"/>
                  </a:lnTo>
                  <a:lnTo>
                    <a:pt x="8912352" y="0"/>
                  </a:lnTo>
                  <a:close/>
                </a:path>
              </a:pathLst>
            </a:custGeom>
            <a:solidFill>
              <a:srgbClr val="000000"/>
            </a:solidFill>
          </p:spPr>
          <p:txBody>
            <a:bodyPr wrap="square" lIns="0" tIns="0" rIns="0" bIns="0" rtlCol="0"/>
            <a:lstStyle/>
            <a:p>
              <a:pPr defTabSz="685800">
                <a:defRPr/>
              </a:pPr>
              <a:endParaRPr sz="1350">
                <a:solidFill>
                  <a:srgbClr val="000000"/>
                </a:solidFill>
                <a:latin typeface="Calibri" panose="020F0502020204030204"/>
              </a:endParaRPr>
            </a:p>
          </p:txBody>
        </p:sp>
        <p:sp>
          <p:nvSpPr>
            <p:cNvPr id="5" name="object 5"/>
            <p:cNvSpPr/>
            <p:nvPr/>
          </p:nvSpPr>
          <p:spPr>
            <a:xfrm>
              <a:off x="114300" y="237743"/>
              <a:ext cx="8915400" cy="6297295"/>
            </a:xfrm>
            <a:custGeom>
              <a:avLst/>
              <a:gdLst/>
              <a:ahLst/>
              <a:cxnLst/>
              <a:rect l="l" t="t" r="r" b="b"/>
              <a:pathLst>
                <a:path w="8915400" h="6297295">
                  <a:moveTo>
                    <a:pt x="0" y="6297168"/>
                  </a:moveTo>
                  <a:lnTo>
                    <a:pt x="8915400" y="6297168"/>
                  </a:lnTo>
                  <a:lnTo>
                    <a:pt x="8915400" y="0"/>
                  </a:lnTo>
                  <a:lnTo>
                    <a:pt x="0" y="0"/>
                  </a:lnTo>
                  <a:lnTo>
                    <a:pt x="0" y="6297168"/>
                  </a:lnTo>
                  <a:close/>
                </a:path>
              </a:pathLst>
            </a:custGeom>
            <a:ln w="6350">
              <a:solidFill>
                <a:srgbClr val="000000"/>
              </a:solidFill>
            </a:ln>
          </p:spPr>
          <p:txBody>
            <a:bodyPr wrap="square" lIns="0" tIns="0" rIns="0" bIns="0" rtlCol="0"/>
            <a:lstStyle/>
            <a:p>
              <a:pPr defTabSz="685800">
                <a:defRPr/>
              </a:pPr>
              <a:endParaRPr sz="1350">
                <a:solidFill>
                  <a:srgbClr val="000000"/>
                </a:solidFill>
                <a:latin typeface="Calibri" panose="020F0502020204030204"/>
              </a:endParaRPr>
            </a:p>
          </p:txBody>
        </p:sp>
      </p:grpSp>
      <p:sp>
        <p:nvSpPr>
          <p:cNvPr id="6" name="object 6"/>
          <p:cNvSpPr txBox="1">
            <a:spLocks noGrp="1"/>
          </p:cNvSpPr>
          <p:nvPr>
            <p:ph type="title"/>
          </p:nvPr>
        </p:nvSpPr>
        <p:spPr>
          <a:xfrm>
            <a:off x="3241965" y="1886455"/>
            <a:ext cx="5010150" cy="425116"/>
          </a:xfrm>
          <a:prstGeom prst="rect">
            <a:avLst/>
          </a:prstGeom>
        </p:spPr>
        <p:txBody>
          <a:bodyPr vert="horz" wrap="square" lIns="0" tIns="9525" rIns="0" bIns="0" rtlCol="0" anchor="b">
            <a:spAutoFit/>
          </a:bodyPr>
          <a:lstStyle/>
          <a:p>
            <a:pPr marL="9525">
              <a:lnSpc>
                <a:spcPct val="100000"/>
              </a:lnSpc>
              <a:spcBef>
                <a:spcPts val="75"/>
              </a:spcBef>
            </a:pPr>
            <a:r>
              <a:rPr lang="en-US" sz="2700" dirty="0"/>
              <a:t>CS361</a:t>
            </a:r>
            <a:r>
              <a:rPr sz="2700" dirty="0"/>
              <a:t>:</a:t>
            </a:r>
            <a:r>
              <a:rPr sz="2700" spc="-30" dirty="0"/>
              <a:t> </a:t>
            </a:r>
            <a:r>
              <a:rPr sz="2700" dirty="0"/>
              <a:t>Computer</a:t>
            </a:r>
            <a:r>
              <a:rPr sz="2700" spc="-15" dirty="0"/>
              <a:t> </a:t>
            </a:r>
            <a:r>
              <a:rPr sz="2700" spc="-8" dirty="0"/>
              <a:t>Architecture</a:t>
            </a:r>
            <a:endParaRPr sz="2700" dirty="0"/>
          </a:p>
        </p:txBody>
      </p:sp>
      <p:sp>
        <p:nvSpPr>
          <p:cNvPr id="9" name="object 9"/>
          <p:cNvSpPr/>
          <p:nvPr/>
        </p:nvSpPr>
        <p:spPr>
          <a:xfrm>
            <a:off x="2700149" y="5813299"/>
            <a:ext cx="6825139" cy="167164"/>
          </a:xfrm>
          <a:custGeom>
            <a:avLst/>
            <a:gdLst/>
            <a:ahLst/>
            <a:cxnLst/>
            <a:rect l="l" t="t" r="r" b="b"/>
            <a:pathLst>
              <a:path w="9100185" h="222884">
                <a:moveTo>
                  <a:pt x="9099804" y="0"/>
                </a:moveTo>
                <a:lnTo>
                  <a:pt x="0" y="0"/>
                </a:lnTo>
                <a:lnTo>
                  <a:pt x="0" y="222503"/>
                </a:lnTo>
                <a:lnTo>
                  <a:pt x="9099804" y="222503"/>
                </a:lnTo>
                <a:lnTo>
                  <a:pt x="9099804" y="0"/>
                </a:lnTo>
                <a:close/>
              </a:path>
            </a:pathLst>
          </a:custGeom>
          <a:solidFill>
            <a:srgbClr val="FFFFFF"/>
          </a:solidFill>
        </p:spPr>
        <p:txBody>
          <a:bodyPr wrap="square" lIns="0" tIns="0" rIns="0" bIns="0" rtlCol="0"/>
          <a:lstStyle/>
          <a:p>
            <a:pPr defTabSz="685800">
              <a:defRPr/>
            </a:pPr>
            <a:endParaRPr sz="1350">
              <a:solidFill>
                <a:srgbClr val="000000"/>
              </a:solidFill>
              <a:latin typeface="Calibri" panose="020F0502020204030204"/>
            </a:endParaRPr>
          </a:p>
        </p:txBody>
      </p:sp>
      <p:pic>
        <p:nvPicPr>
          <p:cNvPr id="10" name="Picture 9" descr="Page 98 – Ghulam Ishaq Khan Institute of Engineering ...">
            <a:extLst>
              <a:ext uri="{FF2B5EF4-FFF2-40B4-BE49-F238E27FC236}">
                <a16:creationId xmlns:a16="http://schemas.microsoft.com/office/drawing/2014/main" id="{B3A46A1E-4695-E2C0-8AAD-23FCC9750704}"/>
              </a:ext>
            </a:extLst>
          </p:cNvPr>
          <p:cNvPicPr>
            <a:picLocks noChangeAspect="1"/>
          </p:cNvPicPr>
          <p:nvPr/>
        </p:nvPicPr>
        <p:blipFill>
          <a:blip r:embed="rId2"/>
          <a:stretch>
            <a:fillRect/>
          </a:stretch>
        </p:blipFill>
        <p:spPr>
          <a:xfrm>
            <a:off x="8492526" y="2455473"/>
            <a:ext cx="2057400" cy="2057400"/>
          </a:xfrm>
          <a:prstGeom prst="rect">
            <a:avLst/>
          </a:prstGeom>
        </p:spPr>
      </p:pic>
      <p:graphicFrame>
        <p:nvGraphicFramePr>
          <p:cNvPr id="12" name="object 7">
            <a:extLst>
              <a:ext uri="{FF2B5EF4-FFF2-40B4-BE49-F238E27FC236}">
                <a16:creationId xmlns:a16="http://schemas.microsoft.com/office/drawing/2014/main" id="{C47539E8-0F3D-09A5-F68C-17D1D2DBB72D}"/>
              </a:ext>
            </a:extLst>
          </p:cNvPr>
          <p:cNvGraphicFramePr/>
          <p:nvPr>
            <p:extLst>
              <p:ext uri="{D42A27DB-BD31-4B8C-83A1-F6EECF244321}">
                <p14:modId xmlns:p14="http://schemas.microsoft.com/office/powerpoint/2010/main" val="1238404416"/>
              </p:ext>
            </p:extLst>
          </p:nvPr>
        </p:nvGraphicFramePr>
        <p:xfrm>
          <a:off x="2433945" y="2365396"/>
          <a:ext cx="5978843" cy="21685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98049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C2579DAE-C141-48DB-810E-C070C3008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33" name="Rectangle 1032">
            <a:extLst>
              <a:ext uri="{FF2B5EF4-FFF2-40B4-BE49-F238E27FC236}">
                <a16:creationId xmlns:a16="http://schemas.microsoft.com/office/drawing/2014/main" id="{02FD90C3-6350-4D5B-9738-6E94EDF30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Inconsistency in Sharing of Writable Data">
            <a:extLst>
              <a:ext uri="{FF2B5EF4-FFF2-40B4-BE49-F238E27FC236}">
                <a16:creationId xmlns:a16="http://schemas.microsoft.com/office/drawing/2014/main" id="{2AA6EBE8-D45F-D650-0C71-ED6FB6EA9EB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723420" y="643467"/>
            <a:ext cx="10745159" cy="5050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559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852EBE4-89D8-A349-6061-50867562A364}"/>
              </a:ext>
            </a:extLst>
          </p:cNvPr>
          <p:cNvSpPr>
            <a:spLocks noGrp="1"/>
          </p:cNvSpPr>
          <p:nvPr>
            <p:ph type="title"/>
          </p:nvPr>
        </p:nvSpPr>
        <p:spPr>
          <a:xfrm>
            <a:off x="492370" y="516835"/>
            <a:ext cx="3084844" cy="5772840"/>
          </a:xfrm>
        </p:spPr>
        <p:txBody>
          <a:bodyPr anchor="ctr">
            <a:normAutofit/>
          </a:bodyPr>
          <a:lstStyle/>
          <a:p>
            <a:r>
              <a:rPr lang="en-US" sz="3600">
                <a:solidFill>
                  <a:srgbClr val="FFFFFF"/>
                </a:solidFill>
              </a:rPr>
              <a:t>Cache Coherence</a:t>
            </a:r>
            <a:br>
              <a:rPr lang="en-US" sz="3600">
                <a:solidFill>
                  <a:srgbClr val="FFFFFF"/>
                </a:solidFill>
              </a:rPr>
            </a:br>
            <a:endParaRPr lang="en-US" sz="3600">
              <a:solidFill>
                <a:srgbClr val="FFFFFF"/>
              </a:solidFill>
            </a:endParaRPr>
          </a:p>
        </p:txBody>
      </p:sp>
      <p:sp>
        <p:nvSpPr>
          <p:cNvPr id="17" name="Rectangle 16">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8" name="Content Placeholder 2">
            <a:extLst>
              <a:ext uri="{FF2B5EF4-FFF2-40B4-BE49-F238E27FC236}">
                <a16:creationId xmlns:a16="http://schemas.microsoft.com/office/drawing/2014/main" id="{683FEBB6-B479-3F7B-EF0D-69A7CC8FCB7B}"/>
              </a:ext>
            </a:extLst>
          </p:cNvPr>
          <p:cNvGraphicFramePr>
            <a:graphicFrameLocks noGrp="1"/>
          </p:cNvGraphicFramePr>
          <p:nvPr>
            <p:ph idx="1"/>
            <p:extLst>
              <p:ext uri="{D42A27DB-BD31-4B8C-83A1-F6EECF244321}">
                <p14:modId xmlns:p14="http://schemas.microsoft.com/office/powerpoint/2010/main" val="982590659"/>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19503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4F477-4A03-7CC8-29BA-22D65EF8BF33}"/>
              </a:ext>
            </a:extLst>
          </p:cNvPr>
          <p:cNvSpPr>
            <a:spLocks noGrp="1"/>
          </p:cNvSpPr>
          <p:nvPr>
            <p:ph type="title"/>
          </p:nvPr>
        </p:nvSpPr>
        <p:spPr/>
        <p:txBody>
          <a:bodyPr/>
          <a:lstStyle/>
          <a:p>
            <a:r>
              <a:rPr lang="en-US" b="1" dirty="0"/>
              <a:t>The MESI Protocol</a:t>
            </a:r>
            <a:br>
              <a:rPr lang="en-US" b="1" dirty="0"/>
            </a:br>
            <a:endParaRPr lang="en-US" dirty="0"/>
          </a:p>
        </p:txBody>
      </p:sp>
      <p:sp>
        <p:nvSpPr>
          <p:cNvPr id="3" name="Content Placeholder 2">
            <a:extLst>
              <a:ext uri="{FF2B5EF4-FFF2-40B4-BE49-F238E27FC236}">
                <a16:creationId xmlns:a16="http://schemas.microsoft.com/office/drawing/2014/main" id="{2BD077B7-F76A-B1BA-6D5E-DB94B2C048B1}"/>
              </a:ext>
            </a:extLst>
          </p:cNvPr>
          <p:cNvSpPr>
            <a:spLocks noGrp="1"/>
          </p:cNvSpPr>
          <p:nvPr>
            <p:ph idx="1"/>
          </p:nvPr>
        </p:nvSpPr>
        <p:spPr/>
        <p:txBody>
          <a:bodyPr/>
          <a:lstStyle/>
          <a:p>
            <a:r>
              <a:rPr lang="en-US" dirty="0"/>
              <a:t>Your laptop's CPU almost certainly uses this. Every single cache line (a 64-byte chunk of data) in a core's cache is tagged with one of four states:</a:t>
            </a:r>
          </a:p>
          <a:p>
            <a:r>
              <a:rPr lang="en-US" b="1" dirty="0"/>
              <a:t>M - Modified:</a:t>
            </a:r>
            <a:r>
              <a:rPr lang="en-US" dirty="0"/>
              <a:t> This cache has the </a:t>
            </a:r>
            <a:r>
              <a:rPr lang="en-US" i="1" dirty="0"/>
              <a:t>only</a:t>
            </a:r>
            <a:r>
              <a:rPr lang="en-US" dirty="0"/>
              <a:t> valid copy, and it is </a:t>
            </a:r>
            <a:r>
              <a:rPr lang="en-US" b="1" dirty="0"/>
              <a:t>dirty</a:t>
            </a:r>
            <a:r>
              <a:rPr lang="en-US" dirty="0"/>
              <a:t> (it has been changed and is different from main memory). If another core asks for this, this cache </a:t>
            </a:r>
            <a:r>
              <a:rPr lang="en-US" i="1" dirty="0"/>
              <a:t>must</a:t>
            </a:r>
            <a:r>
              <a:rPr lang="en-US" dirty="0"/>
              <a:t> provide it (and write it back to memory).</a:t>
            </a:r>
          </a:p>
          <a:p>
            <a:r>
              <a:rPr lang="en-US" b="1" dirty="0"/>
              <a:t>E - Exclusive:</a:t>
            </a:r>
            <a:r>
              <a:rPr lang="en-US" dirty="0"/>
              <a:t> This cache has the </a:t>
            </a:r>
            <a:r>
              <a:rPr lang="en-US" i="1" dirty="0"/>
              <a:t>only</a:t>
            </a:r>
            <a:r>
              <a:rPr lang="en-US" dirty="0"/>
              <a:t> valid copy, and it is </a:t>
            </a:r>
            <a:r>
              <a:rPr lang="en-US" b="1" dirty="0"/>
              <a:t>clean</a:t>
            </a:r>
            <a:r>
              <a:rPr lang="en-US" dirty="0"/>
              <a:t> (it matches main memory). It can be changed to </a:t>
            </a:r>
            <a:r>
              <a:rPr lang="en-US" b="1" dirty="0"/>
              <a:t>M</a:t>
            </a:r>
            <a:r>
              <a:rPr lang="en-US" dirty="0"/>
              <a:t> at any time without telling anyone.</a:t>
            </a:r>
          </a:p>
          <a:p>
            <a:r>
              <a:rPr lang="en-US" b="1" dirty="0"/>
              <a:t>S - Shared:</a:t>
            </a:r>
            <a:r>
              <a:rPr lang="en-US" dirty="0"/>
              <a:t> </a:t>
            </a:r>
            <a:r>
              <a:rPr lang="en-US" i="1" dirty="0"/>
              <a:t>Multiple</a:t>
            </a:r>
            <a:r>
              <a:rPr lang="en-US" dirty="0"/>
              <a:t> caches have a copy of this data, and it is </a:t>
            </a:r>
            <a:r>
              <a:rPr lang="en-US" b="1" dirty="0"/>
              <a:t>clean</a:t>
            </a:r>
            <a:r>
              <a:rPr lang="en-US" dirty="0"/>
              <a:t>. If a core wants to write to this, it must first tell all other sharers to invalidate their copies.</a:t>
            </a:r>
          </a:p>
          <a:p>
            <a:r>
              <a:rPr lang="en-US" b="1" dirty="0"/>
              <a:t>I - Invalid:</a:t>
            </a:r>
            <a:r>
              <a:rPr lang="en-US" dirty="0"/>
              <a:t> This cache line's data is garbage. It's not valid and cannot be read.</a:t>
            </a:r>
          </a:p>
          <a:p>
            <a:endParaRPr lang="en-US" dirty="0"/>
          </a:p>
        </p:txBody>
      </p:sp>
    </p:spTree>
    <p:extLst>
      <p:ext uri="{BB962C8B-B14F-4D97-AF65-F5344CB8AC3E}">
        <p14:creationId xmlns:p14="http://schemas.microsoft.com/office/powerpoint/2010/main" val="545091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C0A67-B677-E5EF-0D7C-91AD2CE2AC2C}"/>
              </a:ext>
            </a:extLst>
          </p:cNvPr>
          <p:cNvSpPr>
            <a:spLocks noGrp="1"/>
          </p:cNvSpPr>
          <p:nvPr>
            <p:ph type="title"/>
          </p:nvPr>
        </p:nvSpPr>
        <p:spPr/>
        <p:txBody>
          <a:bodyPr/>
          <a:lstStyle/>
          <a:p>
            <a:r>
              <a:rPr lang="en-US" dirty="0"/>
              <a:t>Cache Coherence Techniques</a:t>
            </a:r>
            <a:br>
              <a:rPr lang="en-US" dirty="0"/>
            </a:br>
            <a:endParaRPr lang="en-US" dirty="0"/>
          </a:p>
        </p:txBody>
      </p:sp>
      <p:sp>
        <p:nvSpPr>
          <p:cNvPr id="3" name="Content Placeholder 2">
            <a:extLst>
              <a:ext uri="{FF2B5EF4-FFF2-40B4-BE49-F238E27FC236}">
                <a16:creationId xmlns:a16="http://schemas.microsoft.com/office/drawing/2014/main" id="{0A0BEBAE-7488-6BC1-5971-B1F2DFC1B10D}"/>
              </a:ext>
            </a:extLst>
          </p:cNvPr>
          <p:cNvSpPr>
            <a:spLocks noGrp="1"/>
          </p:cNvSpPr>
          <p:nvPr>
            <p:ph idx="1"/>
          </p:nvPr>
        </p:nvSpPr>
        <p:spPr/>
        <p:txBody>
          <a:bodyPr/>
          <a:lstStyle/>
          <a:p>
            <a:r>
              <a:rPr lang="en-US" dirty="0"/>
              <a:t>Cache coherence is achieved through various techniques, with two common approaches being </a:t>
            </a:r>
            <a:r>
              <a:rPr lang="en-US" dirty="0">
                <a:solidFill>
                  <a:srgbClr val="FF0000"/>
                </a:solidFill>
              </a:rPr>
              <a:t>Snoopy and Directories.</a:t>
            </a:r>
          </a:p>
          <a:p>
            <a:r>
              <a:rPr lang="en-US" dirty="0"/>
              <a:t>These techniques manage the communication between caches and ensure data consistency across multiple processors.</a:t>
            </a:r>
          </a:p>
        </p:txBody>
      </p:sp>
    </p:spTree>
    <p:extLst>
      <p:ext uri="{BB962C8B-B14F-4D97-AF65-F5344CB8AC3E}">
        <p14:creationId xmlns:p14="http://schemas.microsoft.com/office/powerpoint/2010/main" val="3883290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p:nvPr>
        </p:nvSpPr>
        <p:spPr/>
        <p:txBody>
          <a:bodyPr/>
          <a:lstStyle/>
          <a:p>
            <a:r>
              <a:rPr lang="en-US" dirty="0">
                <a:ea typeface="ＭＳ Ｐゴシック" charset="-128"/>
                <a:cs typeface="ＭＳ Ｐゴシック" charset="-128"/>
              </a:rPr>
              <a:t>Snoopy Cache-Coherency Protocols</a:t>
            </a:r>
          </a:p>
        </p:txBody>
      </p:sp>
      <p:sp>
        <p:nvSpPr>
          <p:cNvPr id="38914" name="Rectangle 3"/>
          <p:cNvSpPr>
            <a:spLocks noGrp="1" noChangeArrowheads="1"/>
          </p:cNvSpPr>
          <p:nvPr>
            <p:ph type="body" idx="1"/>
          </p:nvPr>
        </p:nvSpPr>
        <p:spPr/>
        <p:txBody>
          <a:bodyPr>
            <a:normAutofit fontScale="92500" lnSpcReduction="10000"/>
          </a:bodyPr>
          <a:lstStyle/>
          <a:p>
            <a:endParaRPr lang="en-US" dirty="0">
              <a:ea typeface="ＭＳ Ｐゴシック" charset="-128"/>
              <a:cs typeface="ＭＳ Ｐゴシック" charset="-128"/>
            </a:endParaRPr>
          </a:p>
          <a:p>
            <a:endParaRPr lang="en-US" dirty="0">
              <a:ea typeface="ＭＳ Ｐゴシック" charset="-128"/>
              <a:cs typeface="ＭＳ Ｐゴシック" charset="-128"/>
            </a:endParaRPr>
          </a:p>
          <a:p>
            <a:endParaRPr lang="en-US" dirty="0">
              <a:ea typeface="ＭＳ Ｐゴシック" charset="-128"/>
              <a:cs typeface="ＭＳ Ｐゴシック" charset="-128"/>
            </a:endParaRPr>
          </a:p>
          <a:p>
            <a:endParaRPr lang="en-US" dirty="0">
              <a:ea typeface="ＭＳ Ｐゴシック" charset="-128"/>
              <a:cs typeface="ＭＳ Ｐゴシック" charset="-128"/>
            </a:endParaRPr>
          </a:p>
          <a:p>
            <a:r>
              <a:rPr lang="en-US" dirty="0">
                <a:ea typeface="ＭＳ Ｐゴシック" charset="-128"/>
                <a:cs typeface="ＭＳ Ｐゴシック" charset="-128"/>
              </a:rPr>
              <a:t>Bus is a broadcast medium</a:t>
            </a:r>
          </a:p>
          <a:p>
            <a:r>
              <a:rPr lang="en-US" dirty="0">
                <a:ea typeface="ＭＳ Ｐゴシック" charset="-128"/>
                <a:cs typeface="ＭＳ Ｐゴシック" charset="-128"/>
              </a:rPr>
              <a:t>Caches know what they have</a:t>
            </a:r>
          </a:p>
          <a:p>
            <a:r>
              <a:rPr lang="en-US" dirty="0">
                <a:ea typeface="ＭＳ Ｐゴシック" charset="-128"/>
                <a:cs typeface="ＭＳ Ｐゴシック" charset="-128"/>
              </a:rPr>
              <a:t>Cache controller </a:t>
            </a:r>
            <a:r>
              <a:rPr lang="ja-JP" altLang="en-US" dirty="0">
                <a:ea typeface="ＭＳ Ｐゴシック" charset="-128"/>
                <a:cs typeface="ＭＳ Ｐゴシック" charset="-128"/>
              </a:rPr>
              <a:t>“</a:t>
            </a:r>
            <a:r>
              <a:rPr lang="en-US" altLang="ja-JP" dirty="0">
                <a:ea typeface="ＭＳ Ｐゴシック" charset="-128"/>
                <a:cs typeface="ＭＳ Ｐゴシック" charset="-128"/>
              </a:rPr>
              <a:t>snoops</a:t>
            </a:r>
            <a:r>
              <a:rPr lang="ja-JP" altLang="en-US" dirty="0">
                <a:ea typeface="ＭＳ Ｐゴシック" charset="-128"/>
                <a:cs typeface="ＭＳ Ｐゴシック" charset="-128"/>
              </a:rPr>
              <a:t>”</a:t>
            </a:r>
            <a:r>
              <a:rPr lang="en-US" altLang="ja-JP" dirty="0">
                <a:ea typeface="ＭＳ Ｐゴシック" charset="-128"/>
                <a:cs typeface="ＭＳ Ｐゴシック" charset="-128"/>
              </a:rPr>
              <a:t> all transactions on shared bus</a:t>
            </a:r>
          </a:p>
          <a:p>
            <a:pPr lvl="1"/>
            <a:r>
              <a:rPr lang="en-US" dirty="0"/>
              <a:t>relevant transaction if for a block its cache contains</a:t>
            </a:r>
          </a:p>
          <a:p>
            <a:pPr lvl="1"/>
            <a:r>
              <a:rPr lang="en-US" dirty="0"/>
              <a:t>take action to ensure coherence</a:t>
            </a:r>
          </a:p>
          <a:p>
            <a:pPr lvl="2"/>
            <a:r>
              <a:rPr lang="en-US" dirty="0"/>
              <a:t>invalidate, update, or supply value</a:t>
            </a:r>
          </a:p>
          <a:p>
            <a:pPr lvl="1"/>
            <a:r>
              <a:rPr lang="en-US" dirty="0"/>
              <a:t>depends on state of the block and the protocol</a:t>
            </a:r>
          </a:p>
        </p:txBody>
      </p:sp>
      <p:pic>
        <p:nvPicPr>
          <p:cNvPr id="38916" name="Picture 11" descr="C:\Outgoing\0504.wmf"/>
          <p:cNvPicPr>
            <a:picLocks noChangeAspect="1" noChangeArrowheads="1"/>
          </p:cNvPicPr>
          <p:nvPr/>
        </p:nvPicPr>
        <p:blipFill>
          <a:blip r:embed="rId3"/>
          <a:srcRect/>
          <a:stretch>
            <a:fillRect/>
          </a:stretch>
        </p:blipFill>
        <p:spPr bwMode="auto">
          <a:xfrm>
            <a:off x="5381307" y="1737360"/>
            <a:ext cx="5713413" cy="2362200"/>
          </a:xfrm>
          <a:prstGeom prst="rect">
            <a:avLst/>
          </a:prstGeom>
          <a:noFill/>
          <a:ln w="9525">
            <a:noFill/>
            <a:miter lim="800000"/>
            <a:headEnd/>
            <a:tailEnd/>
          </a:ln>
        </p:spPr>
      </p:pic>
      <p:sp>
        <p:nvSpPr>
          <p:cNvPr id="13" name="Slide Number Placeholder 4"/>
          <p:cNvSpPr>
            <a:spLocks noGrp="1"/>
          </p:cNvSpPr>
          <p:nvPr>
            <p:ph type="sldNum" sz="quarter" idx="4294967295"/>
          </p:nvPr>
        </p:nvSpPr>
        <p:spPr>
          <a:xfrm>
            <a:off x="8077200" y="6369050"/>
            <a:ext cx="2133600" cy="488950"/>
          </a:xfrm>
          <a:prstGeom prst="rect">
            <a:avLst/>
          </a:prstGeo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2F21A90-E327-C84D-81B5-071D4C5C9FC6}" type="slidenum">
              <a:rPr kumimoji="0" lang="en-US" sz="1050" b="0" i="0" u="none" strike="noStrike" kern="1200" cap="none" spc="0" normalizeH="0" baseline="0" noProof="0" smtClean="0">
                <a:ln>
                  <a:noFill/>
                </a:ln>
                <a:solidFill>
                  <a:srgbClr val="FFFFFF"/>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05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6F289-03B8-5C9B-C105-7BF177B41405}"/>
              </a:ext>
            </a:extLst>
          </p:cNvPr>
          <p:cNvSpPr>
            <a:spLocks noGrp="1"/>
          </p:cNvSpPr>
          <p:nvPr>
            <p:ph type="title"/>
          </p:nvPr>
        </p:nvSpPr>
        <p:spPr>
          <a:xfrm>
            <a:off x="1097280" y="988906"/>
            <a:ext cx="10058400" cy="1450757"/>
          </a:xfrm>
        </p:spPr>
        <p:txBody>
          <a:bodyPr/>
          <a:lstStyle/>
          <a:p>
            <a:r>
              <a:rPr lang="en-US" dirty="0"/>
              <a:t>Snoopy Cache Coherence</a:t>
            </a:r>
            <a:br>
              <a:rPr lang="en-US" dirty="0"/>
            </a:br>
            <a:endParaRPr lang="en-US" dirty="0"/>
          </a:p>
        </p:txBody>
      </p:sp>
      <p:sp>
        <p:nvSpPr>
          <p:cNvPr id="3" name="Content Placeholder 2">
            <a:extLst>
              <a:ext uri="{FF2B5EF4-FFF2-40B4-BE49-F238E27FC236}">
                <a16:creationId xmlns:a16="http://schemas.microsoft.com/office/drawing/2014/main" id="{F804AC8D-AC7D-D69F-F13C-D23D1D638D53}"/>
              </a:ext>
            </a:extLst>
          </p:cNvPr>
          <p:cNvSpPr>
            <a:spLocks noGrp="1"/>
          </p:cNvSpPr>
          <p:nvPr>
            <p:ph idx="1"/>
          </p:nvPr>
        </p:nvSpPr>
        <p:spPr/>
        <p:txBody>
          <a:bodyPr/>
          <a:lstStyle/>
          <a:p>
            <a:pPr>
              <a:buFont typeface="Wingdings" panose="05000000000000000000" pitchFamily="2" charset="2"/>
              <a:buChar char="Ø"/>
            </a:pPr>
            <a:r>
              <a:rPr lang="en-US" dirty="0"/>
              <a:t>Snoopy cache coherence is a distributed approach where each cache </a:t>
            </a:r>
            <a:r>
              <a:rPr lang="en-US" b="1" dirty="0"/>
              <a:t>snoops or monitors </a:t>
            </a:r>
            <a:r>
              <a:rPr lang="en-US" dirty="0"/>
              <a:t>the bus for memory operations.</a:t>
            </a:r>
          </a:p>
          <a:p>
            <a:pPr>
              <a:buFont typeface="Wingdings" panose="05000000000000000000" pitchFamily="2" charset="2"/>
              <a:buChar char="Ø"/>
            </a:pPr>
            <a:r>
              <a:rPr lang="en-US" dirty="0"/>
              <a:t>When a cache detects a memory operation that affects its cached data, it takes appropriate actions to maintain coherence.</a:t>
            </a:r>
          </a:p>
          <a:p>
            <a:pPr>
              <a:buFont typeface="Wingdings" panose="05000000000000000000" pitchFamily="2" charset="2"/>
              <a:buChar char="Ø"/>
            </a:pPr>
            <a:r>
              <a:rPr lang="en-US" dirty="0"/>
              <a:t>Snoopy protocols are often used in smaller-scale systems.</a:t>
            </a:r>
          </a:p>
          <a:p>
            <a:pPr>
              <a:buFont typeface="Wingdings" panose="05000000000000000000" pitchFamily="2" charset="2"/>
              <a:buChar char="Ø"/>
            </a:pPr>
            <a:endParaRPr lang="en-US" dirty="0"/>
          </a:p>
          <a:p>
            <a:pPr>
              <a:buFont typeface="Wingdings" panose="05000000000000000000" pitchFamily="2" charset="2"/>
              <a:buChar char="Ø"/>
            </a:pPr>
            <a:r>
              <a:rPr lang="en-US" dirty="0"/>
              <a:t>Example: Imagine a watchful friend in a group who keeps an eye on everyone's actions. If someone takes or updates information, this friend immediately informs others to keep everyone in sync.</a:t>
            </a:r>
          </a:p>
        </p:txBody>
      </p:sp>
    </p:spTree>
    <p:extLst>
      <p:ext uri="{BB962C8B-B14F-4D97-AF65-F5344CB8AC3E}">
        <p14:creationId xmlns:p14="http://schemas.microsoft.com/office/powerpoint/2010/main" val="3620422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3E576-D641-829B-6B9E-8C4B925D87C3}"/>
              </a:ext>
            </a:extLst>
          </p:cNvPr>
          <p:cNvSpPr>
            <a:spLocks noGrp="1"/>
          </p:cNvSpPr>
          <p:nvPr>
            <p:ph type="title"/>
          </p:nvPr>
        </p:nvSpPr>
        <p:spPr/>
        <p:txBody>
          <a:bodyPr/>
          <a:lstStyle/>
          <a:p>
            <a:r>
              <a:rPr lang="en-US"/>
              <a:t>Invalidate and update operation</a:t>
            </a:r>
            <a:endParaRPr lang="en-US" dirty="0"/>
          </a:p>
        </p:txBody>
      </p:sp>
      <p:pic>
        <p:nvPicPr>
          <p:cNvPr id="3074" name="Picture 2" descr="Write Invalidate Operation">
            <a:extLst>
              <a:ext uri="{FF2B5EF4-FFF2-40B4-BE49-F238E27FC236}">
                <a16:creationId xmlns:a16="http://schemas.microsoft.com/office/drawing/2014/main" id="{F609E725-8177-8691-07FE-D705593998C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94790" y="1909325"/>
            <a:ext cx="5574214" cy="40227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Write Update Operation">
            <a:extLst>
              <a:ext uri="{FF2B5EF4-FFF2-40B4-BE49-F238E27FC236}">
                <a16:creationId xmlns:a16="http://schemas.microsoft.com/office/drawing/2014/main" id="{6C70FEB0-85D1-685B-0324-B485C165B52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637282" y="1925467"/>
            <a:ext cx="5087724" cy="4006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0620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DDF56-247B-6C05-B7C0-9ADEE72EDB88}"/>
              </a:ext>
            </a:extLst>
          </p:cNvPr>
          <p:cNvSpPr>
            <a:spLocks noGrp="1"/>
          </p:cNvSpPr>
          <p:nvPr>
            <p:ph type="title"/>
          </p:nvPr>
        </p:nvSpPr>
        <p:spPr/>
        <p:txBody>
          <a:bodyPr/>
          <a:lstStyle/>
          <a:p>
            <a:r>
              <a:rPr lang="en-US" dirty="0"/>
              <a:t>Directory based: more scalable</a:t>
            </a:r>
          </a:p>
        </p:txBody>
      </p:sp>
      <p:sp>
        <p:nvSpPr>
          <p:cNvPr id="3" name="Content Placeholder 2">
            <a:extLst>
              <a:ext uri="{FF2B5EF4-FFF2-40B4-BE49-F238E27FC236}">
                <a16:creationId xmlns:a16="http://schemas.microsoft.com/office/drawing/2014/main" id="{FEDA7542-6DB5-3CFE-2684-68D98190AF76}"/>
              </a:ext>
            </a:extLst>
          </p:cNvPr>
          <p:cNvSpPr>
            <a:spLocks noGrp="1"/>
          </p:cNvSpPr>
          <p:nvPr>
            <p:ph idx="1"/>
          </p:nvPr>
        </p:nvSpPr>
        <p:spPr/>
        <p:txBody>
          <a:bodyPr/>
          <a:lstStyle/>
          <a:p>
            <a:pPr marL="342900" marR="0" lvl="0" indent="-342900" algn="l" defTabSz="457200" rtl="0" eaLnBrk="1" fontAlgn="base" latinLnBrk="0" hangingPunct="1">
              <a:lnSpc>
                <a:spcPct val="100000"/>
              </a:lnSpc>
              <a:spcBef>
                <a:spcPct val="20000"/>
              </a:spcBef>
              <a:spcAft>
                <a:spcPct val="0"/>
              </a:spcAft>
              <a:buClrTx/>
              <a:buSzPct val="65000"/>
              <a:buFont typeface="Wingdings" charset="2"/>
              <a:buChar char="q"/>
              <a:tabLst/>
              <a:defRPr/>
            </a:pPr>
            <a:r>
              <a:rPr kumimoji="0" lang="en-US" sz="3200" b="0" i="0" u="none" strike="noStrike" kern="1200" cap="none" spc="0" normalizeH="0" baseline="0" noProof="0" dirty="0">
                <a:ln>
                  <a:noFill/>
                </a:ln>
                <a:solidFill>
                  <a:prstClr val="black"/>
                </a:solidFill>
                <a:effectLst/>
                <a:uLnTx/>
                <a:uFillTx/>
                <a:latin typeface="Times New Roman"/>
                <a:ea typeface="ＭＳ Ｐゴシック" charset="-128"/>
                <a:cs typeface="ＭＳ Ｐゴシック" charset="-128"/>
              </a:rPr>
              <a:t>Every memory block has associated directory information</a:t>
            </a:r>
          </a:p>
          <a:p>
            <a:pPr marL="742950" marR="0" lvl="1" indent="-285750" algn="l" defTabSz="457200" rtl="0" eaLnBrk="1" fontAlgn="base" latinLnBrk="0" hangingPunct="1">
              <a:lnSpc>
                <a:spcPct val="100000"/>
              </a:lnSpc>
              <a:spcBef>
                <a:spcPct val="20000"/>
              </a:spcBef>
              <a:spcAft>
                <a:spcPct val="0"/>
              </a:spcAft>
              <a:buClrTx/>
              <a:buSzPct val="65000"/>
              <a:buFont typeface="Lucida Grande"/>
              <a:buChar char="❍"/>
              <a:tabLst/>
              <a:defRPr/>
            </a:pPr>
            <a:r>
              <a:rPr kumimoji="0" lang="en-US" sz="2800" b="0" i="0" u="none" strike="noStrike" kern="1200" cap="none" spc="0" normalizeH="0" baseline="0" noProof="0" dirty="0">
                <a:ln>
                  <a:noFill/>
                </a:ln>
                <a:solidFill>
                  <a:prstClr val="black"/>
                </a:solidFill>
                <a:effectLst/>
                <a:uLnTx/>
                <a:uFillTx/>
                <a:latin typeface="Times New Roman"/>
                <a:ea typeface="ＭＳ Ｐゴシック" charset="0"/>
                <a:cs typeface="Times New Roman"/>
              </a:rPr>
              <a:t>keeps track of copies of cached blocks and their states</a:t>
            </a:r>
          </a:p>
          <a:p>
            <a:pPr marL="742950" marR="0" lvl="1" indent="-285750" algn="l" defTabSz="457200" rtl="0" eaLnBrk="1" fontAlgn="base" latinLnBrk="0" hangingPunct="1">
              <a:lnSpc>
                <a:spcPct val="100000"/>
              </a:lnSpc>
              <a:spcBef>
                <a:spcPct val="20000"/>
              </a:spcBef>
              <a:spcAft>
                <a:spcPct val="0"/>
              </a:spcAft>
              <a:buClrTx/>
              <a:buSzPct val="65000"/>
              <a:buFont typeface="Lucida Grande"/>
              <a:buChar char="❍"/>
              <a:tabLst/>
              <a:defRPr/>
            </a:pPr>
            <a:r>
              <a:rPr kumimoji="0" lang="en-US" sz="2800" b="0" i="0" u="none" strike="noStrike" kern="1200" cap="none" spc="0" normalizeH="0" baseline="0" noProof="0" dirty="0">
                <a:ln>
                  <a:noFill/>
                </a:ln>
                <a:solidFill>
                  <a:prstClr val="black"/>
                </a:solidFill>
                <a:effectLst/>
                <a:uLnTx/>
                <a:uFillTx/>
                <a:latin typeface="Times New Roman"/>
                <a:ea typeface="ＭＳ Ｐゴシック" charset="0"/>
                <a:cs typeface="Times New Roman"/>
              </a:rPr>
              <a:t>on a miss, find directory entry, look it up, and communicate only with the nodes that have copies if necessary</a:t>
            </a:r>
          </a:p>
          <a:p>
            <a:pPr marL="742950" marR="0" lvl="1" indent="-285750" algn="l" defTabSz="457200" rtl="0" eaLnBrk="1" fontAlgn="base" latinLnBrk="0" hangingPunct="1">
              <a:lnSpc>
                <a:spcPct val="100000"/>
              </a:lnSpc>
              <a:spcBef>
                <a:spcPct val="20000"/>
              </a:spcBef>
              <a:spcAft>
                <a:spcPct val="0"/>
              </a:spcAft>
              <a:buClrTx/>
              <a:buSzPct val="65000"/>
              <a:buFont typeface="Lucida Grande"/>
              <a:buChar char="❍"/>
              <a:tabLst/>
              <a:defRPr/>
            </a:pPr>
            <a:r>
              <a:rPr kumimoji="0" lang="en-US" sz="2800" b="0" i="0" u="none" strike="noStrike" kern="1200" cap="none" spc="0" normalizeH="0" baseline="0" noProof="0" dirty="0">
                <a:ln>
                  <a:noFill/>
                </a:ln>
                <a:solidFill>
                  <a:prstClr val="black"/>
                </a:solidFill>
                <a:effectLst/>
                <a:uLnTx/>
                <a:uFillTx/>
                <a:latin typeface="Times New Roman"/>
                <a:ea typeface="ＭＳ Ｐゴシック" charset="0"/>
                <a:cs typeface="Times New Roman"/>
              </a:rPr>
              <a:t>in scalable networks, communication with directory and copies is through network transactions</a:t>
            </a:r>
          </a:p>
          <a:p>
            <a:pPr marL="342900" marR="0" lvl="0" indent="-342900" algn="l" defTabSz="457200" rtl="0" eaLnBrk="1" fontAlgn="base" latinLnBrk="0" hangingPunct="1">
              <a:lnSpc>
                <a:spcPct val="100000"/>
              </a:lnSpc>
              <a:spcBef>
                <a:spcPct val="20000"/>
              </a:spcBef>
              <a:spcAft>
                <a:spcPct val="0"/>
              </a:spcAft>
              <a:buClrTx/>
              <a:buSzPct val="65000"/>
              <a:buFont typeface="Wingdings" charset="2"/>
              <a:buChar char="q"/>
              <a:tabLst/>
              <a:defRPr/>
            </a:pPr>
            <a:r>
              <a:rPr kumimoji="0" lang="en-US" sz="3200" b="0" i="0" u="none" strike="noStrike" kern="1200" cap="none" spc="0" normalizeH="0" baseline="0" noProof="0" dirty="0">
                <a:ln>
                  <a:noFill/>
                </a:ln>
                <a:solidFill>
                  <a:prstClr val="black"/>
                </a:solidFill>
                <a:effectLst/>
                <a:uLnTx/>
                <a:uFillTx/>
                <a:latin typeface="Times New Roman"/>
                <a:ea typeface="ＭＳ Ｐゴシック" charset="-128"/>
                <a:cs typeface="ＭＳ Ｐゴシック" charset="-128"/>
              </a:rPr>
              <a:t>Many alternatives for organizing directory information</a:t>
            </a:r>
          </a:p>
          <a:p>
            <a:endParaRPr lang="en-US" dirty="0"/>
          </a:p>
        </p:txBody>
      </p:sp>
    </p:spTree>
    <p:extLst>
      <p:ext uri="{BB962C8B-B14F-4D97-AF65-F5344CB8AC3E}">
        <p14:creationId xmlns:p14="http://schemas.microsoft.com/office/powerpoint/2010/main" val="483431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42CC9-F033-3A92-A85E-69B9D0A01B65}"/>
              </a:ext>
            </a:extLst>
          </p:cNvPr>
          <p:cNvSpPr>
            <a:spLocks noGrp="1"/>
          </p:cNvSpPr>
          <p:nvPr>
            <p:ph type="title"/>
          </p:nvPr>
        </p:nvSpPr>
        <p:spPr>
          <a:xfrm>
            <a:off x="1097280" y="988906"/>
            <a:ext cx="10058400" cy="1450757"/>
          </a:xfrm>
        </p:spPr>
        <p:txBody>
          <a:bodyPr/>
          <a:lstStyle/>
          <a:p>
            <a:r>
              <a:rPr lang="en-US" dirty="0"/>
              <a:t>Directory-Based Cache Coherence</a:t>
            </a:r>
            <a:br>
              <a:rPr lang="en-US" dirty="0"/>
            </a:br>
            <a:endParaRPr lang="en-US" dirty="0"/>
          </a:p>
        </p:txBody>
      </p:sp>
      <p:sp>
        <p:nvSpPr>
          <p:cNvPr id="3" name="Content Placeholder 2">
            <a:extLst>
              <a:ext uri="{FF2B5EF4-FFF2-40B4-BE49-F238E27FC236}">
                <a16:creationId xmlns:a16="http://schemas.microsoft.com/office/drawing/2014/main" id="{B1F388BB-0062-935B-9D91-31EF32B17064}"/>
              </a:ext>
            </a:extLst>
          </p:cNvPr>
          <p:cNvSpPr>
            <a:spLocks noGrp="1"/>
          </p:cNvSpPr>
          <p:nvPr>
            <p:ph idx="1"/>
          </p:nvPr>
        </p:nvSpPr>
        <p:spPr/>
        <p:txBody>
          <a:bodyPr/>
          <a:lstStyle/>
          <a:p>
            <a:r>
              <a:rPr lang="en-US" dirty="0"/>
              <a:t>Directory-based cache coherence relies on a central directory that keeps track of the status of data blocks in the system.</a:t>
            </a:r>
          </a:p>
          <a:p>
            <a:r>
              <a:rPr lang="en-US" dirty="0"/>
              <a:t>Caches communicate with the directory to request and update data.</a:t>
            </a:r>
          </a:p>
          <a:p>
            <a:r>
              <a:rPr lang="en-US" dirty="0"/>
              <a:t>This approach is commonly used in larger multi-core and multi-processor systems.</a:t>
            </a:r>
          </a:p>
          <a:p>
            <a:endParaRPr lang="en-US" dirty="0"/>
          </a:p>
          <a:p>
            <a:endParaRPr lang="en-US" dirty="0"/>
          </a:p>
          <a:p>
            <a:r>
              <a:rPr lang="en-US" dirty="0"/>
              <a:t>Example: Think of a supervisor in an office who maintains a directory of tasks. Employees must check with the supervisor before starting a task to ensure coordination and avoid conflicts.</a:t>
            </a:r>
          </a:p>
        </p:txBody>
      </p:sp>
    </p:spTree>
    <p:extLst>
      <p:ext uri="{BB962C8B-B14F-4D97-AF65-F5344CB8AC3E}">
        <p14:creationId xmlns:p14="http://schemas.microsoft.com/office/powerpoint/2010/main" val="1050839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2F624-2949-9ACF-1312-A19D8CABBCE2}"/>
              </a:ext>
            </a:extLst>
          </p:cNvPr>
          <p:cNvSpPr>
            <a:spLocks noGrp="1"/>
          </p:cNvSpPr>
          <p:nvPr>
            <p:ph type="title"/>
          </p:nvPr>
        </p:nvSpPr>
        <p:spPr/>
        <p:txBody>
          <a:bodyPr/>
          <a:lstStyle/>
          <a:p>
            <a:r>
              <a:rPr lang="en-US" dirty="0"/>
              <a:t>Improving caches???</a:t>
            </a:r>
          </a:p>
        </p:txBody>
      </p:sp>
      <p:pic>
        <p:nvPicPr>
          <p:cNvPr id="5" name="Content Placeholder 4">
            <a:extLst>
              <a:ext uri="{FF2B5EF4-FFF2-40B4-BE49-F238E27FC236}">
                <a16:creationId xmlns:a16="http://schemas.microsoft.com/office/drawing/2014/main" id="{5509073E-6A11-EA1F-5CF2-616B1AF29203}"/>
              </a:ext>
            </a:extLst>
          </p:cNvPr>
          <p:cNvPicPr>
            <a:picLocks noGrp="1" noChangeAspect="1"/>
          </p:cNvPicPr>
          <p:nvPr>
            <p:ph idx="1"/>
          </p:nvPr>
        </p:nvPicPr>
        <p:blipFill>
          <a:blip r:embed="rId2"/>
          <a:stretch>
            <a:fillRect/>
          </a:stretch>
        </p:blipFill>
        <p:spPr>
          <a:xfrm>
            <a:off x="2971800" y="1737361"/>
            <a:ext cx="6019800" cy="4364080"/>
          </a:xfrm>
          <a:prstGeom prst="rect">
            <a:avLst/>
          </a:prstGeom>
        </p:spPr>
      </p:pic>
    </p:spTree>
    <p:extLst>
      <p:ext uri="{BB962C8B-B14F-4D97-AF65-F5344CB8AC3E}">
        <p14:creationId xmlns:p14="http://schemas.microsoft.com/office/powerpoint/2010/main" val="389447360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1_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2_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E4823951FA9BF42B980A03718EB0B18" ma:contentTypeVersion="3" ma:contentTypeDescription="Create a new document." ma:contentTypeScope="" ma:versionID="83cb9b3dcaf276b9eb74d806d95a1dd8">
  <xsd:schema xmlns:xsd="http://www.w3.org/2001/XMLSchema" xmlns:xs="http://www.w3.org/2001/XMLSchema" xmlns:p="http://schemas.microsoft.com/office/2006/metadata/properties" xmlns:ns2="6bf15077-4e46-4e3a-99a0-3fd5e4d406d3" targetNamespace="http://schemas.microsoft.com/office/2006/metadata/properties" ma:root="true" ma:fieldsID="5722cf350847c68a0f09e51844e13762" ns2:_="">
    <xsd:import namespace="6bf15077-4e46-4e3a-99a0-3fd5e4d406d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f15077-4e46-4e3a-99a0-3fd5e4d406d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5AD22CD-0A5C-43A9-B5AC-941E0B30089E}"/>
</file>

<file path=customXml/itemProps2.xml><?xml version="1.0" encoding="utf-8"?>
<ds:datastoreItem xmlns:ds="http://schemas.openxmlformats.org/officeDocument/2006/customXml" ds:itemID="{81F026AC-6CAE-4138-B834-EAAADCCBEB09}"/>
</file>

<file path=customXml/itemProps3.xml><?xml version="1.0" encoding="utf-8"?>
<ds:datastoreItem xmlns:ds="http://schemas.openxmlformats.org/officeDocument/2006/customXml" ds:itemID="{DD04622F-72AA-479A-B8E9-C8177FD4B575}"/>
</file>

<file path=docProps/app.xml><?xml version="1.0" encoding="utf-8"?>
<Properties xmlns="http://schemas.openxmlformats.org/officeDocument/2006/extended-properties" xmlns:vt="http://schemas.openxmlformats.org/officeDocument/2006/docPropsVTypes">
  <TotalTime>1512</TotalTime>
  <Words>764</Words>
  <Application>Microsoft Office PowerPoint</Application>
  <PresentationFormat>Widescreen</PresentationFormat>
  <Paragraphs>59</Paragraphs>
  <Slides>11</Slides>
  <Notes>2</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11</vt:i4>
      </vt:variant>
    </vt:vector>
  </HeadingPairs>
  <TitlesOfParts>
    <vt:vector size="24" baseType="lpstr">
      <vt:lpstr>Inter</vt:lpstr>
      <vt:lpstr>Lucida Grande</vt:lpstr>
      <vt:lpstr>ＭＳ Ｐゴシック</vt:lpstr>
      <vt:lpstr>Söhne</vt:lpstr>
      <vt:lpstr>Aptos</vt:lpstr>
      <vt:lpstr>Arial</vt:lpstr>
      <vt:lpstr>Calibri</vt:lpstr>
      <vt:lpstr>Calibri Light</vt:lpstr>
      <vt:lpstr>Times New Roman</vt:lpstr>
      <vt:lpstr>Wingdings</vt:lpstr>
      <vt:lpstr>Retrospect</vt:lpstr>
      <vt:lpstr>1_Retrospect</vt:lpstr>
      <vt:lpstr>2_Retrospect</vt:lpstr>
      <vt:lpstr>CS361: Computer Architecture</vt:lpstr>
      <vt:lpstr>PowerPoint Presentation</vt:lpstr>
      <vt:lpstr>Cache Coherence </vt:lpstr>
      <vt:lpstr>The MESI Protocol </vt:lpstr>
      <vt:lpstr>Cache Coherence Techniques </vt:lpstr>
      <vt:lpstr>Snoopy Cache-Coherency Protocols</vt:lpstr>
      <vt:lpstr>Snoopy Cache Coherence </vt:lpstr>
      <vt:lpstr>Invalidate and update operation</vt:lpstr>
      <vt:lpstr>Directory based: more scalable</vt:lpstr>
      <vt:lpstr>Directory-Based Cache Coherence </vt:lpstr>
      <vt:lpstr>Improving caches???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waheed ahmad</dc:creator>
  <cp:lastModifiedBy>waheed ahmad</cp:lastModifiedBy>
  <cp:revision>2</cp:revision>
  <cp:lastPrinted>2025-10-19T10:14:32Z</cp:lastPrinted>
  <dcterms:created xsi:type="dcterms:W3CDTF">2025-10-19T09:51:00Z</dcterms:created>
  <dcterms:modified xsi:type="dcterms:W3CDTF">2025-10-21T17:07:55Z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0x0101006E4823951FA9BF42B980A03718EB0B18</vt:lpwstr>
  </property>
</Properties>
</file>