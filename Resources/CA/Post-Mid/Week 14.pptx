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media/image4.jpg" ContentType="image/jpg"/>
  <Override PartName="/ppt/media/image5.jpg" ContentType="image/jpg"/>
  <Override PartName="/ppt/media/image3.jpg" ContentType="image/jpg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34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49" r:id="rId15"/>
    <p:sldId id="350" r:id="rId16"/>
    <p:sldId id="351" r:id="rId17"/>
    <p:sldId id="353" r:id="rId18"/>
    <p:sldId id="354" r:id="rId19"/>
    <p:sldId id="355" r:id="rId20"/>
    <p:sldId id="356" r:id="rId21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67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778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768087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273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97959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693223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515194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96762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033909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576363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984580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7020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650"/>
              </a:lnSpc>
            </a:pPr>
            <a:r>
              <a:rPr lang="en-US"/>
              <a:t>CS324 </a:t>
            </a:r>
            <a:r>
              <a:rPr lang="en-US" spc="-10"/>
              <a:t>Computer</a:t>
            </a:r>
            <a:r>
              <a:rPr lang="en-US" spc="-65"/>
              <a:t> </a:t>
            </a:r>
            <a:r>
              <a:rPr lang="en-US" spc="-10"/>
              <a:t>Architecture</a:t>
            </a:r>
            <a:endParaRPr lang="en-US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433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38326" y="5810192"/>
            <a:ext cx="6475095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685800">
              <a:lnSpc>
                <a:spcPts val="1163"/>
              </a:lnSpc>
              <a:tabLst>
                <a:tab pos="6400324" algn="l"/>
              </a:tabLst>
              <a:defRPr/>
            </a:pP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CS324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Computer</a:t>
            </a:r>
            <a:r>
              <a:rPr sz="1050" b="1" i="1" spc="-4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050" b="1" i="1" spc="-8" dirty="0">
                <a:solidFill>
                  <a:srgbClr val="000000"/>
                </a:solidFill>
                <a:latin typeface="Arial"/>
                <a:cs typeface="Arial"/>
              </a:rPr>
              <a:t>Architecture</a:t>
            </a:r>
            <a:r>
              <a:rPr sz="1050" b="1" i="1" dirty="0">
                <a:solidFill>
                  <a:srgbClr val="000000"/>
                </a:solidFill>
                <a:latin typeface="Arial"/>
                <a:cs typeface="Arial"/>
              </a:rPr>
              <a:t>	</a:t>
            </a:r>
            <a:r>
              <a:rPr sz="1575" b="1" spc="-56" baseline="-5952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sz="1575" baseline="-5952">
              <a:solidFill>
                <a:srgbClr val="000000"/>
              </a:solidFill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9692" y="521922"/>
            <a:ext cx="6691313" cy="4727734"/>
            <a:chOff x="111125" y="234568"/>
            <a:chExt cx="8921750" cy="6303645"/>
          </a:xfrm>
        </p:grpSpPr>
        <p:sp>
          <p:nvSpPr>
            <p:cNvPr id="4" name="object 4"/>
            <p:cNvSpPr/>
            <p:nvPr/>
          </p:nvSpPr>
          <p:spPr>
            <a:xfrm>
              <a:off x="114300" y="733424"/>
              <a:ext cx="8912860" cy="57150"/>
            </a:xfrm>
            <a:custGeom>
              <a:avLst/>
              <a:gdLst/>
              <a:ahLst/>
              <a:cxnLst/>
              <a:rect l="l" t="t" r="r" b="b"/>
              <a:pathLst>
                <a:path w="8912860" h="57150">
                  <a:moveTo>
                    <a:pt x="8912352" y="22860"/>
                  </a:moveTo>
                  <a:lnTo>
                    <a:pt x="0" y="22860"/>
                  </a:lnTo>
                  <a:lnTo>
                    <a:pt x="0" y="57150"/>
                  </a:lnTo>
                  <a:lnTo>
                    <a:pt x="8912352" y="57150"/>
                  </a:lnTo>
                  <a:lnTo>
                    <a:pt x="8912352" y="22860"/>
                  </a:lnTo>
                  <a:close/>
                </a:path>
                <a:path w="8912860" h="57150">
                  <a:moveTo>
                    <a:pt x="8912352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8912352" y="11430"/>
                  </a:lnTo>
                  <a:lnTo>
                    <a:pt x="891235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114300" y="237743"/>
              <a:ext cx="8915400" cy="6297295"/>
            </a:xfrm>
            <a:custGeom>
              <a:avLst/>
              <a:gdLst/>
              <a:ahLst/>
              <a:cxnLst/>
              <a:rect l="l" t="t" r="r" b="b"/>
              <a:pathLst>
                <a:path w="8915400" h="6297295">
                  <a:moveTo>
                    <a:pt x="0" y="6297168"/>
                  </a:moveTo>
                  <a:lnTo>
                    <a:pt x="8915400" y="6297168"/>
                  </a:lnTo>
                  <a:lnTo>
                    <a:pt x="8915400" y="0"/>
                  </a:lnTo>
                  <a:lnTo>
                    <a:pt x="0" y="0"/>
                  </a:lnTo>
                  <a:lnTo>
                    <a:pt x="0" y="629716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defTabSz="685800">
                <a:defRPr/>
              </a:pPr>
              <a:endParaRPr sz="1350">
                <a:solidFill>
                  <a:srgbClr val="000000"/>
                </a:solidFill>
                <a:latin typeface="Calibri" panose="020F0502020204030204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1371600" y="1605729"/>
            <a:ext cx="5010150" cy="425450"/>
          </a:xfrm>
          <a:prstGeom prst="rect">
            <a:avLst/>
          </a:prstGeom>
        </p:spPr>
        <p:txBody>
          <a:bodyPr vert="horz" wrap="square" lIns="0" tIns="9525" rIns="0" bIns="0" rtlCol="0" anchor="b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lang="en-US" sz="2700" b="1" dirty="0">
                <a:solidFill>
                  <a:schemeClr val="tx1"/>
                </a:solidFill>
              </a:rPr>
              <a:t>CS361</a:t>
            </a:r>
            <a:r>
              <a:rPr sz="2700" b="1" dirty="0">
                <a:solidFill>
                  <a:schemeClr val="tx1"/>
                </a:solidFill>
              </a:rPr>
              <a:t>:</a:t>
            </a:r>
            <a:r>
              <a:rPr sz="2700" b="1" spc="-30" dirty="0">
                <a:solidFill>
                  <a:schemeClr val="tx1"/>
                </a:solidFill>
              </a:rPr>
              <a:t> </a:t>
            </a:r>
            <a:r>
              <a:rPr sz="2700" b="1" dirty="0">
                <a:solidFill>
                  <a:schemeClr val="tx1"/>
                </a:solidFill>
              </a:rPr>
              <a:t>Computer</a:t>
            </a:r>
            <a:r>
              <a:rPr sz="2700" b="1" spc="-15" dirty="0">
                <a:solidFill>
                  <a:schemeClr val="tx1"/>
                </a:solidFill>
              </a:rPr>
              <a:t> </a:t>
            </a:r>
            <a:r>
              <a:rPr sz="2700" b="1" spc="-8" dirty="0">
                <a:solidFill>
                  <a:schemeClr val="tx1"/>
                </a:solidFill>
              </a:rPr>
              <a:t>Architecture</a:t>
            </a:r>
            <a:endParaRPr sz="2700" b="1" dirty="0">
              <a:solidFill>
                <a:schemeClr val="tx1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1176148" y="5813299"/>
            <a:ext cx="6825139" cy="167164"/>
          </a:xfrm>
          <a:custGeom>
            <a:avLst/>
            <a:gdLst/>
            <a:ahLst/>
            <a:cxnLst/>
            <a:rect l="l" t="t" r="r" b="b"/>
            <a:pathLst>
              <a:path w="9100185" h="222884">
                <a:moveTo>
                  <a:pt x="9099804" y="0"/>
                </a:moveTo>
                <a:lnTo>
                  <a:pt x="0" y="0"/>
                </a:lnTo>
                <a:lnTo>
                  <a:pt x="0" y="222503"/>
                </a:lnTo>
                <a:lnTo>
                  <a:pt x="9099804" y="222503"/>
                </a:lnTo>
                <a:lnTo>
                  <a:pt x="90998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defTabSz="685800">
              <a:defRPr/>
            </a:pPr>
            <a:endParaRPr sz="1350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" name="Picture 9" descr="Page 98 – Ghulam Ishaq Khan Institute of Engineering ...">
            <a:extLst>
              <a:ext uri="{FF2B5EF4-FFF2-40B4-BE49-F238E27FC236}">
                <a16:creationId xmlns:a16="http://schemas.microsoft.com/office/drawing/2014/main" id="{B3A46A1E-4695-E2C0-8AAD-23FCC9750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644531"/>
            <a:ext cx="2057400" cy="2057400"/>
          </a:xfrm>
          <a:prstGeom prst="rect">
            <a:avLst/>
          </a:prstGeom>
        </p:spPr>
      </p:pic>
      <p:sp>
        <p:nvSpPr>
          <p:cNvPr id="7" name="object 7">
            <a:extLst>
              <a:ext uri="{FF2B5EF4-FFF2-40B4-BE49-F238E27FC236}">
                <a16:creationId xmlns:a16="http://schemas.microsoft.com/office/drawing/2014/main" id="{ABB0E011-348D-471A-0422-C12E0008068A}"/>
              </a:ext>
            </a:extLst>
          </p:cNvPr>
          <p:cNvSpPr txBox="1"/>
          <p:nvPr/>
        </p:nvSpPr>
        <p:spPr>
          <a:xfrm>
            <a:off x="1144918" y="2460058"/>
            <a:ext cx="5788660" cy="1179168"/>
          </a:xfrm>
          <a:prstGeom prst="rect">
            <a:avLst/>
          </a:prstGeom>
        </p:spPr>
        <p:txBody>
          <a:bodyPr vert="horz" wrap="square" lIns="0" tIns="2178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2400" b="1" spc="-10" dirty="0">
                <a:latin typeface="Arial"/>
                <a:cs typeface="Arial"/>
              </a:rPr>
              <a:t>Instruction-</a:t>
            </a:r>
            <a:r>
              <a:rPr sz="2400" b="1" dirty="0">
                <a:latin typeface="Arial"/>
                <a:cs typeface="Arial"/>
              </a:rPr>
              <a:t>level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Parallelism</a:t>
            </a:r>
            <a:r>
              <a:rPr lang="en-US" sz="2000" spc="-10" dirty="0">
                <a:latin typeface="Arial MT"/>
                <a:cs typeface="Arial MT"/>
              </a:rPr>
              <a:t>..</a:t>
            </a:r>
          </a:p>
          <a:p>
            <a:pPr marL="1169035" indent="-342900">
              <a:lnSpc>
                <a:spcPts val="2280"/>
              </a:lnSpc>
              <a:buClr>
                <a:srgbClr val="008011"/>
              </a:buClr>
              <a:buFont typeface="Arial" panose="020B0604020202020204" pitchFamily="34" charset="0"/>
              <a:buChar char="•"/>
              <a:tabLst>
                <a:tab pos="1173480" algn="l"/>
              </a:tabLst>
            </a:pPr>
            <a:r>
              <a:rPr lang="en-US" sz="2000" spc="-10" dirty="0">
                <a:latin typeface="Arial MT"/>
                <a:cs typeface="Arial MT"/>
              </a:rPr>
              <a:t>Vector</a:t>
            </a:r>
            <a:r>
              <a:rPr lang="en-US" sz="2000" spc="-95" dirty="0">
                <a:latin typeface="Arial MT"/>
                <a:cs typeface="Arial MT"/>
              </a:rPr>
              <a:t> </a:t>
            </a:r>
            <a:r>
              <a:rPr lang="en-US" sz="2000" spc="-10" dirty="0">
                <a:latin typeface="Arial MT"/>
                <a:cs typeface="Arial MT"/>
              </a:rPr>
              <a:t>Processors</a:t>
            </a:r>
            <a:endParaRPr lang="en-US" sz="2000" dirty="0">
              <a:latin typeface="Arial MT"/>
              <a:cs typeface="Arial MT"/>
            </a:endParaRPr>
          </a:p>
          <a:p>
            <a:pPr marL="826135">
              <a:lnSpc>
                <a:spcPts val="2280"/>
              </a:lnSpc>
              <a:buClr>
                <a:srgbClr val="008011"/>
              </a:buClr>
              <a:tabLst>
                <a:tab pos="1173480" algn="l"/>
              </a:tabLst>
            </a:pPr>
            <a:endParaRPr lang="en-US" sz="2000" spc="-1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98049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58720">
              <a:lnSpc>
                <a:spcPct val="100000"/>
              </a:lnSpc>
              <a:spcBef>
                <a:spcPts val="100"/>
              </a:spcBef>
            </a:pPr>
            <a:r>
              <a:rPr dirty="0"/>
              <a:t>RECALL</a:t>
            </a:r>
            <a:r>
              <a:rPr spc="-70" dirty="0"/>
              <a:t> </a:t>
            </a:r>
            <a:r>
              <a:rPr spc="-10" dirty="0"/>
              <a:t>VECTOR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7543" y="1559123"/>
            <a:ext cx="8296909" cy="2586990"/>
          </a:xfrm>
          <a:prstGeom prst="rect">
            <a:avLst/>
          </a:prstGeom>
        </p:spPr>
        <p:txBody>
          <a:bodyPr vert="horz" wrap="square" lIns="0" tIns="205104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1614"/>
              </a:spcBef>
              <a:buChar char="•"/>
              <a:tabLst>
                <a:tab pos="3244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dimensional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array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items</a:t>
            </a:r>
            <a:endParaRPr sz="2400">
              <a:latin typeface="Arial MT"/>
              <a:cs typeface="Arial MT"/>
            </a:endParaRPr>
          </a:p>
          <a:p>
            <a:pPr marL="324485" indent="-286385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324485" algn="l"/>
              </a:tabLst>
            </a:pPr>
            <a:r>
              <a:rPr sz="2400" b="1" dirty="0">
                <a:latin typeface="Arial"/>
                <a:cs typeface="Arial"/>
              </a:rPr>
              <a:t>V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[V</a:t>
            </a:r>
            <a:r>
              <a:rPr sz="2400" b="1" baseline="-20833" dirty="0">
                <a:latin typeface="Arial"/>
                <a:cs typeface="Arial"/>
              </a:rPr>
              <a:t>1</a:t>
            </a:r>
            <a:r>
              <a:rPr sz="2400" b="1" spc="315" baseline="-208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</a:t>
            </a:r>
            <a:r>
              <a:rPr sz="2400" b="1" baseline="-20833" dirty="0">
                <a:latin typeface="Arial"/>
                <a:cs typeface="Arial"/>
              </a:rPr>
              <a:t>2</a:t>
            </a:r>
            <a:r>
              <a:rPr sz="2400" b="1" spc="292" baseline="-208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</a:t>
            </a:r>
            <a:r>
              <a:rPr sz="2400" b="1" baseline="-20833" dirty="0">
                <a:latin typeface="Arial"/>
                <a:cs typeface="Arial"/>
              </a:rPr>
              <a:t>3</a:t>
            </a:r>
            <a:r>
              <a:rPr sz="2400" b="1" spc="315" baseline="-20833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•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•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•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V</a:t>
            </a:r>
            <a:r>
              <a:rPr sz="2400" b="1" baseline="-20833" dirty="0">
                <a:latin typeface="Arial"/>
                <a:cs typeface="Arial"/>
              </a:rPr>
              <a:t>n</a:t>
            </a:r>
            <a:r>
              <a:rPr sz="2400" b="1" dirty="0">
                <a:latin typeface="Arial"/>
                <a:cs typeface="Arial"/>
              </a:rPr>
              <a:t>]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represents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row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V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length </a:t>
            </a:r>
            <a:r>
              <a:rPr sz="2400" b="1" spc="-50" dirty="0">
                <a:latin typeface="Arial"/>
                <a:cs typeface="Arial"/>
              </a:rPr>
              <a:t>n</a:t>
            </a:r>
            <a:endParaRPr sz="2400">
              <a:latin typeface="Arial"/>
              <a:cs typeface="Arial"/>
            </a:endParaRPr>
          </a:p>
          <a:p>
            <a:pPr marL="324485" indent="-286385">
              <a:lnSpc>
                <a:spcPct val="100000"/>
              </a:lnSpc>
              <a:spcBef>
                <a:spcPts val="1510"/>
              </a:spcBef>
              <a:buFont typeface="Arial MT"/>
              <a:buChar char="•"/>
              <a:tabLst>
                <a:tab pos="324485" algn="l"/>
              </a:tabLst>
            </a:pPr>
            <a:r>
              <a:rPr sz="2400" b="1" dirty="0">
                <a:latin typeface="Arial"/>
                <a:cs typeface="Arial"/>
              </a:rPr>
              <a:t>V</a:t>
            </a:r>
            <a:r>
              <a:rPr sz="2400" b="1" baseline="24305" dirty="0">
                <a:latin typeface="Arial"/>
                <a:cs typeface="Arial"/>
              </a:rPr>
              <a:t>T</a:t>
            </a:r>
            <a:r>
              <a:rPr sz="2400" b="1" spc="254" baseline="243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represent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column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vector</a:t>
            </a:r>
            <a:endParaRPr sz="2400">
              <a:latin typeface="Arial MT"/>
              <a:cs typeface="Arial MT"/>
            </a:endParaRPr>
          </a:p>
          <a:p>
            <a:pPr marL="324485" indent="-286385">
              <a:lnSpc>
                <a:spcPts val="2735"/>
              </a:lnSpc>
              <a:spcBef>
                <a:spcPts val="1515"/>
              </a:spcBef>
              <a:buFont typeface="Arial MT"/>
              <a:buChar char="•"/>
              <a:tabLst>
                <a:tab pos="324485" algn="l"/>
              </a:tabLst>
            </a:pPr>
            <a:r>
              <a:rPr sz="2400" b="1" dirty="0">
                <a:latin typeface="Arial"/>
                <a:cs typeface="Arial"/>
              </a:rPr>
              <a:t>V</a:t>
            </a:r>
            <a:r>
              <a:rPr sz="2400" b="1" baseline="-20833" dirty="0">
                <a:latin typeface="Arial"/>
                <a:cs typeface="Arial"/>
              </a:rPr>
              <a:t>i</a:t>
            </a:r>
            <a:r>
              <a:rPr sz="2400" b="1" spc="607" baseline="-20833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represents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element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V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subscript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b="1" spc="-50" dirty="0">
                <a:latin typeface="Arial"/>
                <a:cs typeface="Arial"/>
              </a:rPr>
              <a:t>i</a:t>
            </a:r>
            <a:endParaRPr sz="2400">
              <a:latin typeface="Arial"/>
              <a:cs typeface="Arial"/>
            </a:endParaRPr>
          </a:p>
          <a:p>
            <a:pPr marL="324485">
              <a:lnSpc>
                <a:spcPts val="2735"/>
              </a:lnSpc>
            </a:pPr>
            <a:r>
              <a:rPr sz="2400" dirty="0">
                <a:latin typeface="Arial MT"/>
                <a:cs typeface="Arial MT"/>
              </a:rPr>
              <a:t>refers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memory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address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element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stored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0200" y="0"/>
            <a:ext cx="7543800" cy="14507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3755">
              <a:lnSpc>
                <a:spcPct val="100000"/>
              </a:lnSpc>
              <a:spcBef>
                <a:spcPts val="100"/>
              </a:spcBef>
            </a:pPr>
            <a:r>
              <a:rPr dirty="0"/>
              <a:t>VECTOR</a:t>
            </a:r>
            <a:r>
              <a:rPr spc="-45" dirty="0"/>
              <a:t> </a:t>
            </a:r>
            <a:r>
              <a:rPr spc="-10" dirty="0"/>
              <a:t>PROCESSOR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22580" y="2057400"/>
            <a:ext cx="8498840" cy="306260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508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conventional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sequential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capable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processing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operand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time.</a:t>
            </a:r>
            <a:endParaRPr sz="2400" dirty="0">
              <a:latin typeface="Arial MT"/>
              <a:cs typeface="Arial MT"/>
            </a:endParaRPr>
          </a:p>
          <a:p>
            <a:pPr marL="299085" marR="210185" indent="-287020">
              <a:lnSpc>
                <a:spcPts val="2590"/>
              </a:lnSpc>
              <a:spcBef>
                <a:spcPts val="180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Therefore,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must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broken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down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into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computations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subscripted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variables.</a:t>
            </a:r>
            <a:endParaRPr sz="2400" dirty="0">
              <a:latin typeface="Arial MT"/>
              <a:cs typeface="Arial MT"/>
            </a:endParaRPr>
          </a:p>
          <a:p>
            <a:pPr marL="455930">
              <a:lnSpc>
                <a:spcPct val="100000"/>
              </a:lnSpc>
              <a:spcBef>
                <a:spcPts val="45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-3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following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performs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vector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arithmetic.</a:t>
            </a:r>
            <a:endParaRPr sz="2000" dirty="0">
              <a:latin typeface="Arial MT"/>
              <a:cs typeface="Arial MT"/>
            </a:endParaRPr>
          </a:p>
          <a:p>
            <a:pPr marL="88265" algn="ctr">
              <a:lnSpc>
                <a:spcPct val="100000"/>
              </a:lnSpc>
              <a:spcBef>
                <a:spcPts val="2210"/>
              </a:spcBef>
              <a:tabLst>
                <a:tab pos="2620010" algn="l"/>
              </a:tabLst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for</a:t>
            </a:r>
            <a:r>
              <a:rPr sz="20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(i=0;i&lt;100;</a:t>
            </a:r>
            <a:r>
              <a:rPr sz="2000" spc="-5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8011"/>
                </a:solidFill>
                <a:latin typeface="Arial MT"/>
                <a:cs typeface="Arial MT"/>
              </a:rPr>
              <a:t>i++)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	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[i]</a:t>
            </a:r>
            <a:r>
              <a:rPr sz="20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=</a:t>
            </a:r>
            <a:r>
              <a:rPr sz="20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[i]</a:t>
            </a:r>
            <a:r>
              <a:rPr sz="20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+</a:t>
            </a:r>
            <a:r>
              <a:rPr sz="20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b="1" spc="-10" dirty="0">
                <a:solidFill>
                  <a:srgbClr val="008011"/>
                </a:solidFill>
                <a:latin typeface="Arial"/>
                <a:cs typeface="Arial"/>
              </a:rPr>
              <a:t>B</a:t>
            </a:r>
            <a:r>
              <a:rPr sz="2000" spc="-10" dirty="0">
                <a:solidFill>
                  <a:srgbClr val="008011"/>
                </a:solidFill>
                <a:latin typeface="Arial MT"/>
                <a:cs typeface="Arial MT"/>
              </a:rPr>
              <a:t>[i];</a:t>
            </a:r>
            <a:endParaRPr sz="2000" dirty="0">
              <a:latin typeface="Arial MT"/>
              <a:cs typeface="Arial MT"/>
            </a:endParaRPr>
          </a:p>
          <a:p>
            <a:pPr marL="678180">
              <a:lnSpc>
                <a:spcPct val="100000"/>
              </a:lnSpc>
              <a:spcBef>
                <a:spcPts val="1560"/>
              </a:spcBef>
            </a:pPr>
            <a:r>
              <a:rPr sz="2000" dirty="0">
                <a:latin typeface="Arial MT"/>
                <a:cs typeface="Arial MT"/>
              </a:rPr>
              <a:t>Vector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Processors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speedup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operations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-1524000" y="0"/>
            <a:ext cx="7543800" cy="14493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3755">
              <a:lnSpc>
                <a:spcPct val="100000"/>
              </a:lnSpc>
              <a:spcBef>
                <a:spcPts val="100"/>
              </a:spcBef>
            </a:pPr>
            <a:r>
              <a:rPr dirty="0"/>
              <a:t>VECTOR</a:t>
            </a:r>
            <a:r>
              <a:rPr spc="-45" dirty="0"/>
              <a:t> </a:t>
            </a:r>
            <a:r>
              <a:rPr spc="-10" dirty="0"/>
              <a:t>PROCESSOR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1527809"/>
            <a:ext cx="8039100" cy="351027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508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architecture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eliminates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overhead </a:t>
            </a:r>
            <a:r>
              <a:rPr sz="2400" dirty="0">
                <a:latin typeface="Arial MT"/>
                <a:cs typeface="Arial MT"/>
              </a:rPr>
              <a:t>associated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program loops.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marR="393700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allows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specified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vector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form</a:t>
            </a:r>
            <a:endParaRPr sz="2400">
              <a:latin typeface="Arial MT"/>
              <a:cs typeface="Arial MT"/>
            </a:endParaRPr>
          </a:p>
          <a:p>
            <a:pPr marR="653415" algn="ctr">
              <a:lnSpc>
                <a:spcPct val="100000"/>
              </a:lnSpc>
              <a:spcBef>
                <a:spcPts val="2680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C(1:100)</a:t>
            </a:r>
            <a:r>
              <a:rPr sz="24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2400" b="1" spc="-5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A(1:100)</a:t>
            </a:r>
            <a:r>
              <a:rPr sz="24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+</a:t>
            </a:r>
            <a:r>
              <a:rPr sz="24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B(1:100)</a:t>
            </a: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71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addition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array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processor.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276357"/>
            <a:ext cx="75438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ARRAY</a:t>
            </a:r>
            <a:r>
              <a:rPr sz="4400" spc="-35" dirty="0"/>
              <a:t> </a:t>
            </a:r>
            <a:r>
              <a:rPr sz="4400" dirty="0"/>
              <a:t>PROCESSORS</a:t>
            </a:r>
            <a:r>
              <a:rPr sz="4400" spc="-80" dirty="0"/>
              <a:t> </a:t>
            </a:r>
            <a:r>
              <a:rPr sz="4400" b="0" dirty="0">
                <a:latin typeface="Arial MT"/>
                <a:cs typeface="Arial MT"/>
              </a:rPr>
              <a:t>VS.</a:t>
            </a:r>
            <a:r>
              <a:rPr sz="4400" b="0" spc="-65" dirty="0">
                <a:latin typeface="Arial MT"/>
                <a:cs typeface="Arial MT"/>
              </a:rPr>
              <a:t> </a:t>
            </a:r>
            <a:r>
              <a:rPr sz="4400" dirty="0"/>
              <a:t>VECTOR</a:t>
            </a:r>
            <a:r>
              <a:rPr sz="4400" spc="-55" dirty="0"/>
              <a:t> </a:t>
            </a:r>
            <a:r>
              <a:rPr sz="4400" spc="-10" dirty="0"/>
              <a:t>PROCESSORS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1652142"/>
            <a:ext cx="8463915" cy="24187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40005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Rather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ALUs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additions simultaneously,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array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processors,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vector architecture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ALU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good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performance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at </a:t>
            </a:r>
            <a:r>
              <a:rPr sz="2400" dirty="0">
                <a:latin typeface="Arial MT"/>
                <a:cs typeface="Arial MT"/>
              </a:rPr>
              <a:t>lower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cost.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marR="5080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example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C(1:100)</a:t>
            </a:r>
            <a:r>
              <a:rPr sz="24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=</a:t>
            </a:r>
            <a:r>
              <a:rPr sz="2400" b="1" spc="-5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A(1:100)</a:t>
            </a:r>
            <a:r>
              <a:rPr sz="2400" b="1" spc="-4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+</a:t>
            </a:r>
            <a:r>
              <a:rPr sz="2400" b="1" spc="-6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B(1:100),</a:t>
            </a:r>
            <a:r>
              <a:rPr sz="2400" b="1" spc="-4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addition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pipelined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adder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23825"/>
            <a:ext cx="7543800" cy="566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5844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WHY</a:t>
            </a:r>
            <a:r>
              <a:rPr sz="3600" spc="-75" dirty="0"/>
              <a:t> </a:t>
            </a:r>
            <a:r>
              <a:rPr sz="3600" dirty="0"/>
              <a:t>NEED</a:t>
            </a:r>
            <a:r>
              <a:rPr sz="3600" spc="-50" dirty="0"/>
              <a:t> </a:t>
            </a:r>
            <a:r>
              <a:rPr sz="3600" dirty="0"/>
              <a:t>VECTOR</a:t>
            </a:r>
            <a:r>
              <a:rPr sz="3600" spc="-50" dirty="0"/>
              <a:t> </a:t>
            </a:r>
            <a:r>
              <a:rPr sz="3600" spc="-10" dirty="0"/>
              <a:t>PROCESSORS?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941578"/>
            <a:ext cx="8415020" cy="52673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10922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class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computational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beyond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capabilities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conventional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computer.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marR="192405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require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computations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conventional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days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weeks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spc="-10" dirty="0">
                <a:latin typeface="Arial MT"/>
                <a:cs typeface="Arial MT"/>
              </a:rPr>
              <a:t>complete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297180" marR="5080" indent="-285115" algn="just">
              <a:lnSpc>
                <a:spcPct val="9010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science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engineering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applications,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problems 	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formulated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matrices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lend 	</a:t>
            </a:r>
            <a:r>
              <a:rPr sz="2400" dirty="0">
                <a:latin typeface="Arial MT"/>
                <a:cs typeface="Arial MT"/>
              </a:rPr>
              <a:t>themselves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processing</a:t>
            </a:r>
            <a:endParaRPr sz="2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271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application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areas:</a:t>
            </a:r>
            <a:endParaRPr sz="2400">
              <a:latin typeface="Arial MT"/>
              <a:cs typeface="Arial MT"/>
            </a:endParaRPr>
          </a:p>
          <a:p>
            <a:pPr marL="697230" lvl="1" indent="-227329">
              <a:lnSpc>
                <a:spcPct val="100000"/>
              </a:lnSpc>
              <a:spcBef>
                <a:spcPts val="484"/>
              </a:spcBef>
              <a:buChar char="–"/>
              <a:tabLst>
                <a:tab pos="697230" algn="l"/>
              </a:tabLst>
            </a:pPr>
            <a:r>
              <a:rPr sz="2000" dirty="0">
                <a:latin typeface="Arial MT"/>
                <a:cs typeface="Arial MT"/>
              </a:rPr>
              <a:t>Weather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forecasting</a:t>
            </a:r>
            <a:endParaRPr sz="200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8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Image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processing</a:t>
            </a:r>
            <a:endParaRPr sz="2000">
              <a:latin typeface="Arial MT"/>
              <a:cs typeface="Arial MT"/>
            </a:endParaRPr>
          </a:p>
          <a:p>
            <a:pPr marL="696595" lvl="1" indent="-226695">
              <a:lnSpc>
                <a:spcPct val="100000"/>
              </a:lnSpc>
              <a:spcBef>
                <a:spcPts val="48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Medical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diagnosis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263272" y="109357"/>
            <a:ext cx="7543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23085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RECALL</a:t>
            </a:r>
            <a:r>
              <a:rPr sz="4000" spc="-50" dirty="0"/>
              <a:t> </a:t>
            </a:r>
            <a:r>
              <a:rPr sz="4000" dirty="0"/>
              <a:t>INNER</a:t>
            </a:r>
            <a:r>
              <a:rPr sz="4000" spc="-60" dirty="0"/>
              <a:t> </a:t>
            </a:r>
            <a:r>
              <a:rPr sz="4000" spc="-10" dirty="0"/>
              <a:t>PRODUCT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941578"/>
            <a:ext cx="810577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9085" marR="5080" indent="-287020">
              <a:lnSpc>
                <a:spcPts val="2590"/>
              </a:lnSpc>
              <a:spcBef>
                <a:spcPts val="42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inner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equivalent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column </a:t>
            </a:r>
            <a:r>
              <a:rPr sz="2400" dirty="0">
                <a:latin typeface="Arial MT"/>
                <a:cs typeface="Arial MT"/>
              </a:rPr>
              <a:t>vector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multiplied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left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row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vector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1272" y="2395854"/>
            <a:ext cx="534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𝐶</a:t>
            </a:r>
            <a:r>
              <a:rPr sz="2400" spc="229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08628" y="2485517"/>
            <a:ext cx="2028189" cy="282575"/>
          </a:xfrm>
          <a:custGeom>
            <a:avLst/>
            <a:gdLst/>
            <a:ahLst/>
            <a:cxnLst/>
            <a:rect l="l" t="t" r="r" b="b"/>
            <a:pathLst>
              <a:path w="2028189" h="282575">
                <a:moveTo>
                  <a:pt x="1938147" y="0"/>
                </a:moveTo>
                <a:lnTo>
                  <a:pt x="1934210" y="11430"/>
                </a:lnTo>
                <a:lnTo>
                  <a:pt x="1950517" y="18504"/>
                </a:lnTo>
                <a:lnTo>
                  <a:pt x="1964563" y="28305"/>
                </a:lnTo>
                <a:lnTo>
                  <a:pt x="1993086" y="73852"/>
                </a:lnTo>
                <a:lnTo>
                  <a:pt x="2001341" y="115339"/>
                </a:lnTo>
                <a:lnTo>
                  <a:pt x="2002409" y="139700"/>
                </a:lnTo>
                <a:lnTo>
                  <a:pt x="2001363" y="164580"/>
                </a:lnTo>
                <a:lnTo>
                  <a:pt x="1993032" y="207529"/>
                </a:lnTo>
                <a:lnTo>
                  <a:pt x="1964610" y="253777"/>
                </a:lnTo>
                <a:lnTo>
                  <a:pt x="1934591" y="270763"/>
                </a:lnTo>
                <a:lnTo>
                  <a:pt x="1938147" y="282321"/>
                </a:lnTo>
                <a:lnTo>
                  <a:pt x="1976643" y="264239"/>
                </a:lnTo>
                <a:lnTo>
                  <a:pt x="2004949" y="232918"/>
                </a:lnTo>
                <a:lnTo>
                  <a:pt x="2022379" y="191071"/>
                </a:lnTo>
                <a:lnTo>
                  <a:pt x="2028190" y="141224"/>
                </a:lnTo>
                <a:lnTo>
                  <a:pt x="2026753" y="115623"/>
                </a:lnTo>
                <a:lnTo>
                  <a:pt x="2015116" y="69429"/>
                </a:lnTo>
                <a:lnTo>
                  <a:pt x="1991993" y="32093"/>
                </a:lnTo>
                <a:lnTo>
                  <a:pt x="1958603" y="7379"/>
                </a:lnTo>
                <a:lnTo>
                  <a:pt x="1938147" y="0"/>
                </a:lnTo>
                <a:close/>
              </a:path>
              <a:path w="2028189" h="282575">
                <a:moveTo>
                  <a:pt x="90043" y="0"/>
                </a:moveTo>
                <a:lnTo>
                  <a:pt x="51641" y="18081"/>
                </a:lnTo>
                <a:lnTo>
                  <a:pt x="23241" y="49403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4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3" y="282321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845" y="141224"/>
                </a:lnTo>
                <a:lnTo>
                  <a:pt x="25781" y="139700"/>
                </a:lnTo>
                <a:lnTo>
                  <a:pt x="29972" y="93678"/>
                </a:lnTo>
                <a:lnTo>
                  <a:pt x="42545" y="56134"/>
                </a:lnTo>
                <a:lnTo>
                  <a:pt x="77799" y="18504"/>
                </a:lnTo>
                <a:lnTo>
                  <a:pt x="94107" y="11430"/>
                </a:lnTo>
                <a:lnTo>
                  <a:pt x="900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45332" y="2348610"/>
            <a:ext cx="19227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673100" algn="l"/>
                <a:tab pos="1567815" algn="l"/>
              </a:tabLst>
            </a:pPr>
            <a:r>
              <a:rPr sz="2400" spc="-25" dirty="0">
                <a:latin typeface="Cambria Math"/>
                <a:cs typeface="Cambria Math"/>
              </a:rPr>
              <a:t>𝑎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625" spc="172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…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𝑎</a:t>
            </a:r>
            <a:r>
              <a:rPr sz="2625" spc="-37" baseline="-15873" dirty="0">
                <a:latin typeface="Cambria Math"/>
                <a:cs typeface="Cambria Math"/>
              </a:rPr>
              <a:t>𝑘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36259" y="1966341"/>
            <a:ext cx="712470" cy="1322070"/>
          </a:xfrm>
          <a:custGeom>
            <a:avLst/>
            <a:gdLst/>
            <a:ahLst/>
            <a:cxnLst/>
            <a:rect l="l" t="t" r="r" b="b"/>
            <a:pathLst>
              <a:path w="712470" h="1322070">
                <a:moveTo>
                  <a:pt x="532384" y="0"/>
                </a:moveTo>
                <a:lnTo>
                  <a:pt x="520700" y="9651"/>
                </a:lnTo>
                <a:lnTo>
                  <a:pt x="545306" y="47732"/>
                </a:lnTo>
                <a:lnTo>
                  <a:pt x="567943" y="89459"/>
                </a:lnTo>
                <a:lnTo>
                  <a:pt x="588613" y="134842"/>
                </a:lnTo>
                <a:lnTo>
                  <a:pt x="607313" y="183886"/>
                </a:lnTo>
                <a:lnTo>
                  <a:pt x="624046" y="236599"/>
                </a:lnTo>
                <a:lnTo>
                  <a:pt x="638810" y="292988"/>
                </a:lnTo>
                <a:lnTo>
                  <a:pt x="649781" y="343203"/>
                </a:lnTo>
                <a:lnTo>
                  <a:pt x="659075" y="394135"/>
                </a:lnTo>
                <a:lnTo>
                  <a:pt x="666695" y="445787"/>
                </a:lnTo>
                <a:lnTo>
                  <a:pt x="672641" y="498161"/>
                </a:lnTo>
                <a:lnTo>
                  <a:pt x="676917" y="551259"/>
                </a:lnTo>
                <a:lnTo>
                  <a:pt x="679524" y="605084"/>
                </a:lnTo>
                <a:lnTo>
                  <a:pt x="680463" y="659764"/>
                </a:lnTo>
                <a:lnTo>
                  <a:pt x="679682" y="708771"/>
                </a:lnTo>
                <a:lnTo>
                  <a:pt x="679618" y="712807"/>
                </a:lnTo>
                <a:lnTo>
                  <a:pt x="677075" y="765636"/>
                </a:lnTo>
                <a:lnTo>
                  <a:pt x="672838" y="818128"/>
                </a:lnTo>
                <a:lnTo>
                  <a:pt x="666905" y="870284"/>
                </a:lnTo>
                <a:lnTo>
                  <a:pt x="659277" y="922107"/>
                </a:lnTo>
                <a:lnTo>
                  <a:pt x="649954" y="973599"/>
                </a:lnTo>
                <a:lnTo>
                  <a:pt x="638937" y="1024763"/>
                </a:lnTo>
                <a:lnTo>
                  <a:pt x="624163" y="1082325"/>
                </a:lnTo>
                <a:lnTo>
                  <a:pt x="607408" y="1136010"/>
                </a:lnTo>
                <a:lnTo>
                  <a:pt x="588676" y="1185814"/>
                </a:lnTo>
                <a:lnTo>
                  <a:pt x="567976" y="1231735"/>
                </a:lnTo>
                <a:lnTo>
                  <a:pt x="545315" y="1273768"/>
                </a:lnTo>
                <a:lnTo>
                  <a:pt x="520700" y="1311910"/>
                </a:lnTo>
                <a:lnTo>
                  <a:pt x="532384" y="1321689"/>
                </a:lnTo>
                <a:lnTo>
                  <a:pt x="558671" y="1284224"/>
                </a:lnTo>
                <a:lnTo>
                  <a:pt x="583169" y="1242699"/>
                </a:lnTo>
                <a:lnTo>
                  <a:pt x="605869" y="1197117"/>
                </a:lnTo>
                <a:lnTo>
                  <a:pt x="626759" y="1147482"/>
                </a:lnTo>
                <a:lnTo>
                  <a:pt x="645828" y="1093797"/>
                </a:lnTo>
                <a:lnTo>
                  <a:pt x="663066" y="1036066"/>
                </a:lnTo>
                <a:lnTo>
                  <a:pt x="674549" y="990976"/>
                </a:lnTo>
                <a:lnTo>
                  <a:pt x="684516" y="945336"/>
                </a:lnTo>
                <a:lnTo>
                  <a:pt x="692961" y="899142"/>
                </a:lnTo>
                <a:lnTo>
                  <a:pt x="699881" y="852392"/>
                </a:lnTo>
                <a:lnTo>
                  <a:pt x="705270" y="805082"/>
                </a:lnTo>
                <a:lnTo>
                  <a:pt x="709126" y="757209"/>
                </a:lnTo>
                <a:lnTo>
                  <a:pt x="711442" y="708771"/>
                </a:lnTo>
                <a:lnTo>
                  <a:pt x="712215" y="659764"/>
                </a:lnTo>
                <a:lnTo>
                  <a:pt x="711442" y="609693"/>
                </a:lnTo>
                <a:lnTo>
                  <a:pt x="709126" y="560441"/>
                </a:lnTo>
                <a:lnTo>
                  <a:pt x="705270" y="512007"/>
                </a:lnTo>
                <a:lnTo>
                  <a:pt x="699881" y="464391"/>
                </a:lnTo>
                <a:lnTo>
                  <a:pt x="692961" y="417590"/>
                </a:lnTo>
                <a:lnTo>
                  <a:pt x="684516" y="371603"/>
                </a:lnTo>
                <a:lnTo>
                  <a:pt x="674549" y="326429"/>
                </a:lnTo>
                <a:lnTo>
                  <a:pt x="663066" y="282067"/>
                </a:lnTo>
                <a:lnTo>
                  <a:pt x="645828" y="225392"/>
                </a:lnTo>
                <a:lnTo>
                  <a:pt x="626759" y="172588"/>
                </a:lnTo>
                <a:lnTo>
                  <a:pt x="605869" y="123650"/>
                </a:lnTo>
                <a:lnTo>
                  <a:pt x="583169" y="78575"/>
                </a:lnTo>
                <a:lnTo>
                  <a:pt x="558671" y="37359"/>
                </a:lnTo>
                <a:lnTo>
                  <a:pt x="532384" y="0"/>
                </a:lnTo>
                <a:close/>
              </a:path>
              <a:path w="712470" h="1322070">
                <a:moveTo>
                  <a:pt x="179959" y="0"/>
                </a:moveTo>
                <a:lnTo>
                  <a:pt x="153627" y="37359"/>
                </a:lnTo>
                <a:lnTo>
                  <a:pt x="129111" y="78575"/>
                </a:lnTo>
                <a:lnTo>
                  <a:pt x="106410" y="123650"/>
                </a:lnTo>
                <a:lnTo>
                  <a:pt x="85518" y="172588"/>
                </a:lnTo>
                <a:lnTo>
                  <a:pt x="66432" y="225392"/>
                </a:lnTo>
                <a:lnTo>
                  <a:pt x="49149" y="282067"/>
                </a:lnTo>
                <a:lnTo>
                  <a:pt x="37671" y="326429"/>
                </a:lnTo>
                <a:lnTo>
                  <a:pt x="27717" y="371603"/>
                </a:lnTo>
                <a:lnTo>
                  <a:pt x="19288" y="417590"/>
                </a:lnTo>
                <a:lnTo>
                  <a:pt x="12382" y="464391"/>
                </a:lnTo>
                <a:lnTo>
                  <a:pt x="7000" y="512007"/>
                </a:lnTo>
                <a:lnTo>
                  <a:pt x="3143" y="560441"/>
                </a:lnTo>
                <a:lnTo>
                  <a:pt x="809" y="609693"/>
                </a:lnTo>
                <a:lnTo>
                  <a:pt x="0" y="659764"/>
                </a:lnTo>
                <a:lnTo>
                  <a:pt x="809" y="708771"/>
                </a:lnTo>
                <a:lnTo>
                  <a:pt x="3143" y="757209"/>
                </a:lnTo>
                <a:lnTo>
                  <a:pt x="7000" y="805082"/>
                </a:lnTo>
                <a:lnTo>
                  <a:pt x="12382" y="852392"/>
                </a:lnTo>
                <a:lnTo>
                  <a:pt x="19288" y="899142"/>
                </a:lnTo>
                <a:lnTo>
                  <a:pt x="27717" y="945336"/>
                </a:lnTo>
                <a:lnTo>
                  <a:pt x="37671" y="990976"/>
                </a:lnTo>
                <a:lnTo>
                  <a:pt x="49149" y="1036066"/>
                </a:lnTo>
                <a:lnTo>
                  <a:pt x="66432" y="1093797"/>
                </a:lnTo>
                <a:lnTo>
                  <a:pt x="85518" y="1147482"/>
                </a:lnTo>
                <a:lnTo>
                  <a:pt x="106410" y="1197117"/>
                </a:lnTo>
                <a:lnTo>
                  <a:pt x="129111" y="1242699"/>
                </a:lnTo>
                <a:lnTo>
                  <a:pt x="153627" y="1284224"/>
                </a:lnTo>
                <a:lnTo>
                  <a:pt x="179959" y="1321689"/>
                </a:lnTo>
                <a:lnTo>
                  <a:pt x="191515" y="1311910"/>
                </a:lnTo>
                <a:lnTo>
                  <a:pt x="166909" y="1273768"/>
                </a:lnTo>
                <a:lnTo>
                  <a:pt x="144267" y="1231735"/>
                </a:lnTo>
                <a:lnTo>
                  <a:pt x="123586" y="1185814"/>
                </a:lnTo>
                <a:lnTo>
                  <a:pt x="104864" y="1136010"/>
                </a:lnTo>
                <a:lnTo>
                  <a:pt x="88096" y="1082325"/>
                </a:lnTo>
                <a:lnTo>
                  <a:pt x="73278" y="1024763"/>
                </a:lnTo>
                <a:lnTo>
                  <a:pt x="62268" y="973599"/>
                </a:lnTo>
                <a:lnTo>
                  <a:pt x="52963" y="922107"/>
                </a:lnTo>
                <a:lnTo>
                  <a:pt x="45360" y="870284"/>
                </a:lnTo>
                <a:lnTo>
                  <a:pt x="39454" y="818128"/>
                </a:lnTo>
                <a:lnTo>
                  <a:pt x="35241" y="765636"/>
                </a:lnTo>
                <a:lnTo>
                  <a:pt x="32717" y="712807"/>
                </a:lnTo>
                <a:lnTo>
                  <a:pt x="31879" y="659764"/>
                </a:lnTo>
                <a:lnTo>
                  <a:pt x="32695" y="609693"/>
                </a:lnTo>
                <a:lnTo>
                  <a:pt x="35344" y="551259"/>
                </a:lnTo>
                <a:lnTo>
                  <a:pt x="39598" y="498161"/>
                </a:lnTo>
                <a:lnTo>
                  <a:pt x="45530" y="445787"/>
                </a:lnTo>
                <a:lnTo>
                  <a:pt x="53143" y="394135"/>
                </a:lnTo>
                <a:lnTo>
                  <a:pt x="62434" y="343203"/>
                </a:lnTo>
                <a:lnTo>
                  <a:pt x="73405" y="292988"/>
                </a:lnTo>
                <a:lnTo>
                  <a:pt x="88169" y="236599"/>
                </a:lnTo>
                <a:lnTo>
                  <a:pt x="104901" y="183886"/>
                </a:lnTo>
                <a:lnTo>
                  <a:pt x="123602" y="134842"/>
                </a:lnTo>
                <a:lnTo>
                  <a:pt x="144272" y="89459"/>
                </a:lnTo>
                <a:lnTo>
                  <a:pt x="166909" y="47732"/>
                </a:lnTo>
                <a:lnTo>
                  <a:pt x="191515" y="9651"/>
                </a:lnTo>
                <a:lnTo>
                  <a:pt x="179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00978" y="1862454"/>
            <a:ext cx="367030" cy="1433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𝑏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  <a:p>
            <a:pPr marL="5715" algn="ctr">
              <a:lnSpc>
                <a:spcPts val="2850"/>
              </a:lnSpc>
              <a:spcBef>
                <a:spcPts val="45"/>
              </a:spcBef>
            </a:pPr>
            <a:r>
              <a:rPr sz="2400" spc="-25" dirty="0">
                <a:latin typeface="Cambria Math"/>
                <a:cs typeface="Cambria Math"/>
              </a:rPr>
              <a:t>𝑏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  <a:p>
            <a:pPr marL="17780" algn="ctr">
              <a:lnSpc>
                <a:spcPts val="2640"/>
              </a:lnSpc>
            </a:pPr>
            <a:r>
              <a:rPr sz="2400" spc="-50" dirty="0">
                <a:latin typeface="Cambria Math"/>
                <a:cs typeface="Cambria Math"/>
              </a:rPr>
              <a:t>⋮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ts val="2670"/>
              </a:lnSpc>
            </a:pPr>
            <a:r>
              <a:rPr sz="2400" spc="-25" dirty="0">
                <a:latin typeface="Cambria Math"/>
                <a:cs typeface="Cambria Math"/>
              </a:rPr>
              <a:t>𝑏</a:t>
            </a:r>
            <a:r>
              <a:rPr sz="2625" spc="-37" baseline="-15873" dirty="0">
                <a:latin typeface="Cambria Math"/>
                <a:cs typeface="Cambria Math"/>
              </a:rPr>
              <a:t>𝑘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0243" y="3575684"/>
            <a:ext cx="6167120" cy="2887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6645"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𝐶</a:t>
            </a:r>
            <a:r>
              <a:rPr sz="2400" spc="25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𝑏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569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Arial MT"/>
                <a:cs typeface="Arial MT"/>
              </a:rPr>
              <a:t>+ </a:t>
            </a:r>
            <a:r>
              <a:rPr sz="2400" dirty="0">
                <a:latin typeface="Cambria Math"/>
                <a:cs typeface="Cambria Math"/>
              </a:rPr>
              <a:t>𝑎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400" dirty="0">
                <a:latin typeface="Cambria Math"/>
                <a:cs typeface="Cambria Math"/>
              </a:rPr>
              <a:t>𝑏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625" spc="59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dirty="0">
                <a:latin typeface="Cambria Math"/>
                <a:cs typeface="Cambria Math"/>
              </a:rPr>
              <a:t>⋯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+𝑎</a:t>
            </a:r>
            <a:r>
              <a:rPr sz="2625" baseline="-15873" dirty="0">
                <a:latin typeface="Cambria Math"/>
                <a:cs typeface="Cambria Math"/>
              </a:rPr>
              <a:t>𝑘</a:t>
            </a:r>
            <a:r>
              <a:rPr sz="2625" spc="472" baseline="-15873" dirty="0">
                <a:latin typeface="Cambria Math"/>
                <a:cs typeface="Cambria Math"/>
              </a:rPr>
              <a:t> </a:t>
            </a:r>
            <a:r>
              <a:rPr sz="2400" spc="-25" dirty="0">
                <a:latin typeface="Cambria Math"/>
                <a:cs typeface="Cambria Math"/>
              </a:rPr>
              <a:t>𝑏</a:t>
            </a:r>
            <a:r>
              <a:rPr sz="2625" spc="-37" baseline="-15873" dirty="0">
                <a:latin typeface="Cambria Math"/>
                <a:cs typeface="Cambria Math"/>
              </a:rPr>
              <a:t>𝑘</a:t>
            </a:r>
            <a:endParaRPr sz="2625" baseline="-15873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989"/>
              </a:spcBef>
            </a:pPr>
            <a:endParaRPr sz="2400" dirty="0">
              <a:latin typeface="Cambria Math"/>
              <a:cs typeface="Cambria Math"/>
            </a:endParaRPr>
          </a:p>
          <a:p>
            <a:pPr marL="2401570" algn="ctr">
              <a:lnSpc>
                <a:spcPct val="100000"/>
              </a:lnSpc>
            </a:pPr>
            <a:r>
              <a:rPr sz="1750" spc="45" dirty="0">
                <a:latin typeface="Cambria Math"/>
                <a:cs typeface="Cambria Math"/>
              </a:rPr>
              <a:t>𝑘</a:t>
            </a:r>
            <a:endParaRPr sz="1750" dirty="0">
              <a:latin typeface="Cambria Math"/>
              <a:cs typeface="Cambria Math"/>
            </a:endParaRPr>
          </a:p>
          <a:p>
            <a:pPr marL="2367280" algn="ctr">
              <a:lnSpc>
                <a:spcPct val="100000"/>
              </a:lnSpc>
              <a:spcBef>
                <a:spcPts val="825"/>
              </a:spcBef>
            </a:pPr>
            <a:r>
              <a:rPr sz="2400" dirty="0">
                <a:latin typeface="Cambria Math"/>
                <a:cs typeface="Cambria Math"/>
              </a:rPr>
              <a:t>𝐶</a:t>
            </a:r>
            <a:r>
              <a:rPr sz="2400" spc="2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lang="en-US" sz="2400" spc="765" dirty="0">
                <a:latin typeface="Cambria Math"/>
                <a:cs typeface="Cambria Math"/>
              </a:rPr>
              <a:t>∑</a:t>
            </a:r>
            <a:r>
              <a:rPr sz="2400" spc="-140" dirty="0">
                <a:latin typeface="Cambria Math"/>
                <a:cs typeface="Cambria Math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𝑎</a:t>
            </a:r>
            <a:r>
              <a:rPr sz="2625" spc="-30" baseline="-15873" dirty="0">
                <a:latin typeface="Cambria Math"/>
                <a:cs typeface="Cambria Math"/>
              </a:rPr>
              <a:t>𝑖</a:t>
            </a:r>
            <a:r>
              <a:rPr sz="2400" spc="-20" dirty="0">
                <a:latin typeface="Cambria Math"/>
                <a:cs typeface="Cambria Math"/>
              </a:rPr>
              <a:t>𝑏</a:t>
            </a:r>
            <a:r>
              <a:rPr sz="2625" spc="-30" baseline="-15873" dirty="0">
                <a:latin typeface="Cambria Math"/>
                <a:cs typeface="Cambria Math"/>
              </a:rPr>
              <a:t>𝑖</a:t>
            </a:r>
            <a:endParaRPr sz="2625" baseline="-15873" dirty="0">
              <a:latin typeface="Cambria Math"/>
              <a:cs typeface="Cambria Math"/>
            </a:endParaRPr>
          </a:p>
          <a:p>
            <a:pPr marL="2407920" algn="ctr">
              <a:lnSpc>
                <a:spcPct val="100000"/>
              </a:lnSpc>
              <a:spcBef>
                <a:spcPts val="835"/>
              </a:spcBef>
            </a:pPr>
            <a:r>
              <a:rPr sz="1750" spc="-25" dirty="0">
                <a:latin typeface="Cambria Math"/>
                <a:cs typeface="Cambria Math"/>
              </a:rPr>
              <a:t>𝑖=1</a:t>
            </a:r>
            <a:endParaRPr sz="1750" dirty="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1750" dirty="0">
              <a:latin typeface="Cambria Math"/>
              <a:cs typeface="Cambria Math"/>
            </a:endParaRPr>
          </a:p>
          <a:p>
            <a:pPr marL="311785" indent="-286385">
              <a:lnSpc>
                <a:spcPct val="100000"/>
              </a:lnSpc>
              <a:buChar char="•"/>
              <a:tabLst>
                <a:tab pos="311785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typical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application </a:t>
            </a:r>
            <a:r>
              <a:rPr sz="2400" i="1" dirty="0">
                <a:latin typeface="Arial"/>
                <a:cs typeface="Arial"/>
              </a:rPr>
              <a:t>k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may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very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large.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4843" y="265557"/>
            <a:ext cx="8295005" cy="316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6695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MATRIX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MULTIPLICATION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00">
              <a:latin typeface="Arial"/>
              <a:cs typeface="Arial"/>
            </a:endParaRPr>
          </a:p>
          <a:p>
            <a:pPr marL="337185" marR="643890" indent="-287020">
              <a:lnSpc>
                <a:spcPts val="2590"/>
              </a:lnSpc>
              <a:buChar char="•"/>
              <a:tabLst>
                <a:tab pos="337185" algn="l"/>
              </a:tabLst>
            </a:pPr>
            <a:r>
              <a:rPr sz="2400" dirty="0">
                <a:latin typeface="Arial MT"/>
                <a:cs typeface="Arial MT"/>
              </a:rPr>
              <a:t>Matrix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multiplication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most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computational </a:t>
            </a:r>
            <a:r>
              <a:rPr sz="2400" dirty="0">
                <a:latin typeface="Arial MT"/>
                <a:cs typeface="Arial MT"/>
              </a:rPr>
              <a:t>intensive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vector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processors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337185" marR="43180" indent="-287020">
              <a:lnSpc>
                <a:spcPts val="2590"/>
              </a:lnSpc>
              <a:buChar char="•"/>
              <a:tabLst>
                <a:tab pos="33718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multiplication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matrices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baseline="24305" dirty="0">
                <a:latin typeface="Arial MT"/>
                <a:cs typeface="Arial MT"/>
              </a:rPr>
              <a:t>2</a:t>
            </a:r>
            <a:r>
              <a:rPr sz="2400" spc="300" baseline="243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inner products.</a:t>
            </a:r>
            <a:endParaRPr sz="2400">
              <a:latin typeface="Arial MT"/>
              <a:cs typeface="Arial MT"/>
            </a:endParaRPr>
          </a:p>
          <a:p>
            <a:pPr marL="735330" lvl="1" indent="-227329">
              <a:lnSpc>
                <a:spcPct val="100000"/>
              </a:lnSpc>
              <a:spcBef>
                <a:spcPts val="450"/>
              </a:spcBef>
              <a:buChar char="–"/>
              <a:tabLst>
                <a:tab pos="735330" algn="l"/>
              </a:tabLst>
            </a:pP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inner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requiring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n</a:t>
            </a:r>
            <a:r>
              <a:rPr sz="2000" i="1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 MT"/>
                <a:cs typeface="Arial MT"/>
              </a:rPr>
              <a:t>multiply-</a:t>
            </a:r>
            <a:r>
              <a:rPr sz="2000" dirty="0">
                <a:latin typeface="Arial MT"/>
                <a:cs typeface="Arial MT"/>
              </a:rPr>
              <a:t>add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operations.</a:t>
            </a:r>
            <a:endParaRPr sz="2000">
              <a:latin typeface="Arial MT"/>
              <a:cs typeface="Arial MT"/>
            </a:endParaRPr>
          </a:p>
          <a:p>
            <a:pPr marL="734695" lvl="1" indent="-226695">
              <a:lnSpc>
                <a:spcPct val="100000"/>
              </a:lnSpc>
              <a:spcBef>
                <a:spcPts val="480"/>
              </a:spcBef>
              <a:buChar char="–"/>
              <a:tabLst>
                <a:tab pos="734695" algn="l"/>
              </a:tabLst>
            </a:pPr>
            <a:r>
              <a:rPr sz="2000" dirty="0">
                <a:latin typeface="Arial MT"/>
                <a:cs typeface="Arial MT"/>
              </a:rPr>
              <a:t>Consider,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example,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multiplication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x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3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matrices</a:t>
            </a:r>
            <a:r>
              <a:rPr sz="2000" i="1" spc="-10" dirty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58951" y="3863340"/>
            <a:ext cx="7759065" cy="2289175"/>
            <a:chOff x="758951" y="3863340"/>
            <a:chExt cx="7759065" cy="22891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3744" y="5356860"/>
              <a:ext cx="4369308" cy="7955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951" y="3863340"/>
              <a:ext cx="7758683" cy="150723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602483" y="5894933"/>
            <a:ext cx="3810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0" dirty="0"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2943" y="265557"/>
            <a:ext cx="6150610" cy="1067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759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MATRIX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MULTIPLICATION</a:t>
            </a:r>
            <a:endParaRPr sz="24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244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Consider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x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8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matrices,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B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943" y="1652142"/>
            <a:ext cx="4294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first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inner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be: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95955" y="2411095"/>
            <a:ext cx="686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mbria Math"/>
                <a:cs typeface="Cambria Math"/>
              </a:rPr>
              <a:t>𝐶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284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22345" y="2500757"/>
            <a:ext cx="2086610" cy="282575"/>
          </a:xfrm>
          <a:custGeom>
            <a:avLst/>
            <a:gdLst/>
            <a:ahLst/>
            <a:cxnLst/>
            <a:rect l="l" t="t" r="r" b="b"/>
            <a:pathLst>
              <a:path w="2086610" h="282575">
                <a:moveTo>
                  <a:pt x="1996058" y="0"/>
                </a:moveTo>
                <a:lnTo>
                  <a:pt x="1992121" y="11429"/>
                </a:lnTo>
                <a:lnTo>
                  <a:pt x="2008429" y="18504"/>
                </a:lnTo>
                <a:lnTo>
                  <a:pt x="2022475" y="28305"/>
                </a:lnTo>
                <a:lnTo>
                  <a:pt x="2050998" y="73852"/>
                </a:lnTo>
                <a:lnTo>
                  <a:pt x="2059253" y="115339"/>
                </a:lnTo>
                <a:lnTo>
                  <a:pt x="2060320" y="139700"/>
                </a:lnTo>
                <a:lnTo>
                  <a:pt x="2059275" y="164580"/>
                </a:lnTo>
                <a:lnTo>
                  <a:pt x="2050944" y="207529"/>
                </a:lnTo>
                <a:lnTo>
                  <a:pt x="2022522" y="253777"/>
                </a:lnTo>
                <a:lnTo>
                  <a:pt x="1992502" y="270763"/>
                </a:lnTo>
                <a:lnTo>
                  <a:pt x="1996058" y="282320"/>
                </a:lnTo>
                <a:lnTo>
                  <a:pt x="2034555" y="264239"/>
                </a:lnTo>
                <a:lnTo>
                  <a:pt x="2062860" y="232917"/>
                </a:lnTo>
                <a:lnTo>
                  <a:pt x="2080291" y="191071"/>
                </a:lnTo>
                <a:lnTo>
                  <a:pt x="2086102" y="141223"/>
                </a:lnTo>
                <a:lnTo>
                  <a:pt x="2084665" y="115623"/>
                </a:lnTo>
                <a:lnTo>
                  <a:pt x="2073028" y="69429"/>
                </a:lnTo>
                <a:lnTo>
                  <a:pt x="2049905" y="32093"/>
                </a:lnTo>
                <a:lnTo>
                  <a:pt x="2016515" y="7379"/>
                </a:lnTo>
                <a:lnTo>
                  <a:pt x="1996058" y="0"/>
                </a:lnTo>
                <a:close/>
              </a:path>
              <a:path w="2086610" h="282575">
                <a:moveTo>
                  <a:pt x="90042" y="0"/>
                </a:moveTo>
                <a:lnTo>
                  <a:pt x="51641" y="18081"/>
                </a:lnTo>
                <a:lnTo>
                  <a:pt x="23240" y="49402"/>
                </a:lnTo>
                <a:lnTo>
                  <a:pt x="5810" y="91408"/>
                </a:lnTo>
                <a:lnTo>
                  <a:pt x="85" y="139700"/>
                </a:lnTo>
                <a:lnTo>
                  <a:pt x="0" y="141223"/>
                </a:lnTo>
                <a:lnTo>
                  <a:pt x="1452" y="167159"/>
                </a:lnTo>
                <a:lnTo>
                  <a:pt x="13073" y="212982"/>
                </a:lnTo>
                <a:lnTo>
                  <a:pt x="36125" y="250227"/>
                </a:lnTo>
                <a:lnTo>
                  <a:pt x="69514" y="274941"/>
                </a:lnTo>
                <a:lnTo>
                  <a:pt x="90042" y="282320"/>
                </a:lnTo>
                <a:lnTo>
                  <a:pt x="93599" y="270763"/>
                </a:lnTo>
                <a:lnTo>
                  <a:pt x="77531" y="263663"/>
                </a:lnTo>
                <a:lnTo>
                  <a:pt x="63642" y="253777"/>
                </a:lnTo>
                <a:lnTo>
                  <a:pt x="35210" y="207529"/>
                </a:lnTo>
                <a:lnTo>
                  <a:pt x="26828" y="164580"/>
                </a:lnTo>
                <a:lnTo>
                  <a:pt x="25845" y="141223"/>
                </a:lnTo>
                <a:lnTo>
                  <a:pt x="25780" y="139700"/>
                </a:lnTo>
                <a:lnTo>
                  <a:pt x="29971" y="93678"/>
                </a:lnTo>
                <a:lnTo>
                  <a:pt x="42544" y="56133"/>
                </a:lnTo>
                <a:lnTo>
                  <a:pt x="77799" y="18504"/>
                </a:lnTo>
                <a:lnTo>
                  <a:pt x="94106" y="11429"/>
                </a:lnTo>
                <a:lnTo>
                  <a:pt x="900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59047" y="2394330"/>
            <a:ext cx="1988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695960" algn="l"/>
                <a:tab pos="1614805" algn="l"/>
              </a:tabLst>
            </a:pPr>
            <a:r>
              <a:rPr sz="2400" spc="-25" dirty="0">
                <a:latin typeface="Cambria Math"/>
                <a:cs typeface="Cambria Math"/>
              </a:rPr>
              <a:t>𝐴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r>
              <a:rPr sz="2625" baseline="-15873" dirty="0">
                <a:latin typeface="Cambria Math"/>
                <a:cs typeface="Cambria Math"/>
              </a:rPr>
              <a:t>	</a:t>
            </a:r>
            <a:r>
              <a:rPr sz="2400" dirty="0">
                <a:latin typeface="Cambria Math"/>
                <a:cs typeface="Cambria Math"/>
              </a:rPr>
              <a:t>𝐴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625" spc="179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Cambria Math"/>
                <a:cs typeface="Cambria Math"/>
              </a:rPr>
              <a:t>…</a:t>
            </a:r>
            <a:r>
              <a:rPr sz="2400" dirty="0">
                <a:latin typeface="Cambria Math"/>
                <a:cs typeface="Cambria Math"/>
              </a:rPr>
              <a:t>	</a:t>
            </a:r>
            <a:r>
              <a:rPr sz="2400" spc="-25" dirty="0">
                <a:latin typeface="Cambria Math"/>
                <a:cs typeface="Cambria Math"/>
              </a:rPr>
              <a:t>𝐴</a:t>
            </a:r>
            <a:r>
              <a:rPr sz="2625" spc="-37" baseline="-15873" dirty="0">
                <a:latin typeface="Cambria Math"/>
                <a:cs typeface="Cambria Math"/>
              </a:rPr>
              <a:t>8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07888" y="1981580"/>
            <a:ext cx="730885" cy="1322070"/>
          </a:xfrm>
          <a:custGeom>
            <a:avLst/>
            <a:gdLst/>
            <a:ahLst/>
            <a:cxnLst/>
            <a:rect l="l" t="t" r="r" b="b"/>
            <a:pathLst>
              <a:path w="730885" h="1322070">
                <a:moveTo>
                  <a:pt x="550672" y="0"/>
                </a:moveTo>
                <a:lnTo>
                  <a:pt x="538988" y="9652"/>
                </a:lnTo>
                <a:lnTo>
                  <a:pt x="563594" y="47732"/>
                </a:lnTo>
                <a:lnTo>
                  <a:pt x="586231" y="89459"/>
                </a:lnTo>
                <a:lnTo>
                  <a:pt x="606901" y="134842"/>
                </a:lnTo>
                <a:lnTo>
                  <a:pt x="625601" y="183886"/>
                </a:lnTo>
                <a:lnTo>
                  <a:pt x="642334" y="236599"/>
                </a:lnTo>
                <a:lnTo>
                  <a:pt x="657098" y="292989"/>
                </a:lnTo>
                <a:lnTo>
                  <a:pt x="668069" y="343203"/>
                </a:lnTo>
                <a:lnTo>
                  <a:pt x="677363" y="394135"/>
                </a:lnTo>
                <a:lnTo>
                  <a:pt x="684983" y="445787"/>
                </a:lnTo>
                <a:lnTo>
                  <a:pt x="690929" y="498161"/>
                </a:lnTo>
                <a:lnTo>
                  <a:pt x="695205" y="551259"/>
                </a:lnTo>
                <a:lnTo>
                  <a:pt x="697812" y="605084"/>
                </a:lnTo>
                <a:lnTo>
                  <a:pt x="698751" y="659765"/>
                </a:lnTo>
                <a:lnTo>
                  <a:pt x="697970" y="708771"/>
                </a:lnTo>
                <a:lnTo>
                  <a:pt x="697906" y="712807"/>
                </a:lnTo>
                <a:lnTo>
                  <a:pt x="695363" y="765636"/>
                </a:lnTo>
                <a:lnTo>
                  <a:pt x="691126" y="818128"/>
                </a:lnTo>
                <a:lnTo>
                  <a:pt x="685193" y="870284"/>
                </a:lnTo>
                <a:lnTo>
                  <a:pt x="677565" y="922107"/>
                </a:lnTo>
                <a:lnTo>
                  <a:pt x="668242" y="973599"/>
                </a:lnTo>
                <a:lnTo>
                  <a:pt x="657225" y="1024763"/>
                </a:lnTo>
                <a:lnTo>
                  <a:pt x="642451" y="1082325"/>
                </a:lnTo>
                <a:lnTo>
                  <a:pt x="625696" y="1136010"/>
                </a:lnTo>
                <a:lnTo>
                  <a:pt x="606964" y="1185814"/>
                </a:lnTo>
                <a:lnTo>
                  <a:pt x="586264" y="1231735"/>
                </a:lnTo>
                <a:lnTo>
                  <a:pt x="563603" y="1273768"/>
                </a:lnTo>
                <a:lnTo>
                  <a:pt x="538988" y="1311910"/>
                </a:lnTo>
                <a:lnTo>
                  <a:pt x="550672" y="1321689"/>
                </a:lnTo>
                <a:lnTo>
                  <a:pt x="576959" y="1284224"/>
                </a:lnTo>
                <a:lnTo>
                  <a:pt x="601457" y="1242699"/>
                </a:lnTo>
                <a:lnTo>
                  <a:pt x="624157" y="1197117"/>
                </a:lnTo>
                <a:lnTo>
                  <a:pt x="645047" y="1147482"/>
                </a:lnTo>
                <a:lnTo>
                  <a:pt x="664116" y="1093797"/>
                </a:lnTo>
                <a:lnTo>
                  <a:pt x="681354" y="1036066"/>
                </a:lnTo>
                <a:lnTo>
                  <a:pt x="692837" y="990976"/>
                </a:lnTo>
                <a:lnTo>
                  <a:pt x="702804" y="945336"/>
                </a:lnTo>
                <a:lnTo>
                  <a:pt x="711249" y="899142"/>
                </a:lnTo>
                <a:lnTo>
                  <a:pt x="718169" y="852392"/>
                </a:lnTo>
                <a:lnTo>
                  <a:pt x="723558" y="805082"/>
                </a:lnTo>
                <a:lnTo>
                  <a:pt x="727414" y="757209"/>
                </a:lnTo>
                <a:lnTo>
                  <a:pt x="729730" y="708771"/>
                </a:lnTo>
                <a:lnTo>
                  <a:pt x="730503" y="659765"/>
                </a:lnTo>
                <a:lnTo>
                  <a:pt x="729730" y="609693"/>
                </a:lnTo>
                <a:lnTo>
                  <a:pt x="727414" y="560441"/>
                </a:lnTo>
                <a:lnTo>
                  <a:pt x="723558" y="512007"/>
                </a:lnTo>
                <a:lnTo>
                  <a:pt x="718169" y="464391"/>
                </a:lnTo>
                <a:lnTo>
                  <a:pt x="711249" y="417590"/>
                </a:lnTo>
                <a:lnTo>
                  <a:pt x="702804" y="371603"/>
                </a:lnTo>
                <a:lnTo>
                  <a:pt x="692837" y="326429"/>
                </a:lnTo>
                <a:lnTo>
                  <a:pt x="681354" y="282067"/>
                </a:lnTo>
                <a:lnTo>
                  <a:pt x="664116" y="225392"/>
                </a:lnTo>
                <a:lnTo>
                  <a:pt x="645047" y="172588"/>
                </a:lnTo>
                <a:lnTo>
                  <a:pt x="624157" y="123650"/>
                </a:lnTo>
                <a:lnTo>
                  <a:pt x="601457" y="78575"/>
                </a:lnTo>
                <a:lnTo>
                  <a:pt x="576959" y="37359"/>
                </a:lnTo>
                <a:lnTo>
                  <a:pt x="550672" y="0"/>
                </a:lnTo>
                <a:close/>
              </a:path>
              <a:path w="730885" h="1322070">
                <a:moveTo>
                  <a:pt x="179959" y="0"/>
                </a:moveTo>
                <a:lnTo>
                  <a:pt x="153627" y="37359"/>
                </a:lnTo>
                <a:lnTo>
                  <a:pt x="129111" y="78575"/>
                </a:lnTo>
                <a:lnTo>
                  <a:pt x="106410" y="123650"/>
                </a:lnTo>
                <a:lnTo>
                  <a:pt x="85518" y="172588"/>
                </a:lnTo>
                <a:lnTo>
                  <a:pt x="66432" y="225392"/>
                </a:lnTo>
                <a:lnTo>
                  <a:pt x="49149" y="282067"/>
                </a:lnTo>
                <a:lnTo>
                  <a:pt x="37671" y="326429"/>
                </a:lnTo>
                <a:lnTo>
                  <a:pt x="27717" y="371603"/>
                </a:lnTo>
                <a:lnTo>
                  <a:pt x="19288" y="417590"/>
                </a:lnTo>
                <a:lnTo>
                  <a:pt x="12382" y="464391"/>
                </a:lnTo>
                <a:lnTo>
                  <a:pt x="7000" y="512007"/>
                </a:lnTo>
                <a:lnTo>
                  <a:pt x="3143" y="560441"/>
                </a:lnTo>
                <a:lnTo>
                  <a:pt x="809" y="609693"/>
                </a:lnTo>
                <a:lnTo>
                  <a:pt x="0" y="659765"/>
                </a:lnTo>
                <a:lnTo>
                  <a:pt x="809" y="708771"/>
                </a:lnTo>
                <a:lnTo>
                  <a:pt x="3143" y="757209"/>
                </a:lnTo>
                <a:lnTo>
                  <a:pt x="7000" y="805082"/>
                </a:lnTo>
                <a:lnTo>
                  <a:pt x="12382" y="852392"/>
                </a:lnTo>
                <a:lnTo>
                  <a:pt x="19288" y="899142"/>
                </a:lnTo>
                <a:lnTo>
                  <a:pt x="27717" y="945336"/>
                </a:lnTo>
                <a:lnTo>
                  <a:pt x="37671" y="990976"/>
                </a:lnTo>
                <a:lnTo>
                  <a:pt x="49149" y="1036066"/>
                </a:lnTo>
                <a:lnTo>
                  <a:pt x="66432" y="1093797"/>
                </a:lnTo>
                <a:lnTo>
                  <a:pt x="85518" y="1147482"/>
                </a:lnTo>
                <a:lnTo>
                  <a:pt x="106410" y="1197117"/>
                </a:lnTo>
                <a:lnTo>
                  <a:pt x="129111" y="1242699"/>
                </a:lnTo>
                <a:lnTo>
                  <a:pt x="153627" y="1284224"/>
                </a:lnTo>
                <a:lnTo>
                  <a:pt x="179959" y="1321689"/>
                </a:lnTo>
                <a:lnTo>
                  <a:pt x="191515" y="1311910"/>
                </a:lnTo>
                <a:lnTo>
                  <a:pt x="166909" y="1273768"/>
                </a:lnTo>
                <a:lnTo>
                  <a:pt x="144267" y="1231735"/>
                </a:lnTo>
                <a:lnTo>
                  <a:pt x="123586" y="1185814"/>
                </a:lnTo>
                <a:lnTo>
                  <a:pt x="104864" y="1136010"/>
                </a:lnTo>
                <a:lnTo>
                  <a:pt x="88096" y="1082325"/>
                </a:lnTo>
                <a:lnTo>
                  <a:pt x="73278" y="1024763"/>
                </a:lnTo>
                <a:lnTo>
                  <a:pt x="62268" y="973599"/>
                </a:lnTo>
                <a:lnTo>
                  <a:pt x="52963" y="922107"/>
                </a:lnTo>
                <a:lnTo>
                  <a:pt x="45360" y="870284"/>
                </a:lnTo>
                <a:lnTo>
                  <a:pt x="39454" y="818128"/>
                </a:lnTo>
                <a:lnTo>
                  <a:pt x="35241" y="765636"/>
                </a:lnTo>
                <a:lnTo>
                  <a:pt x="32717" y="712807"/>
                </a:lnTo>
                <a:lnTo>
                  <a:pt x="31879" y="659765"/>
                </a:lnTo>
                <a:lnTo>
                  <a:pt x="32695" y="609693"/>
                </a:lnTo>
                <a:lnTo>
                  <a:pt x="35344" y="551259"/>
                </a:lnTo>
                <a:lnTo>
                  <a:pt x="39598" y="498161"/>
                </a:lnTo>
                <a:lnTo>
                  <a:pt x="45530" y="445787"/>
                </a:lnTo>
                <a:lnTo>
                  <a:pt x="53143" y="394135"/>
                </a:lnTo>
                <a:lnTo>
                  <a:pt x="62434" y="343203"/>
                </a:lnTo>
                <a:lnTo>
                  <a:pt x="73406" y="292989"/>
                </a:lnTo>
                <a:lnTo>
                  <a:pt x="88169" y="236599"/>
                </a:lnTo>
                <a:lnTo>
                  <a:pt x="104902" y="183886"/>
                </a:lnTo>
                <a:lnTo>
                  <a:pt x="123602" y="134842"/>
                </a:lnTo>
                <a:lnTo>
                  <a:pt x="144272" y="89459"/>
                </a:lnTo>
                <a:lnTo>
                  <a:pt x="166909" y="47732"/>
                </a:lnTo>
                <a:lnTo>
                  <a:pt x="191515" y="9652"/>
                </a:lnTo>
                <a:lnTo>
                  <a:pt x="179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872607" y="1882266"/>
            <a:ext cx="391160" cy="1414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70"/>
              </a:lnSpc>
              <a:spcBef>
                <a:spcPts val="100"/>
              </a:spcBef>
            </a:pPr>
            <a:r>
              <a:rPr sz="2400" spc="-25" dirty="0">
                <a:latin typeface="Cambria Math"/>
                <a:cs typeface="Cambria Math"/>
              </a:rPr>
              <a:t>𝐵</a:t>
            </a:r>
            <a:r>
              <a:rPr sz="2625" spc="-37" baseline="-15873" dirty="0">
                <a:latin typeface="Cambria Math"/>
                <a:cs typeface="Cambria Math"/>
              </a:rPr>
              <a:t>1</a:t>
            </a:r>
            <a:endParaRPr sz="2625" baseline="-15873">
              <a:latin typeface="Cambria Math"/>
              <a:cs typeface="Cambria Math"/>
            </a:endParaRPr>
          </a:p>
          <a:p>
            <a:pPr algn="ctr">
              <a:lnSpc>
                <a:spcPts val="2830"/>
              </a:lnSpc>
            </a:pPr>
            <a:r>
              <a:rPr sz="2400" spc="-25" dirty="0">
                <a:latin typeface="Cambria Math"/>
                <a:cs typeface="Cambria Math"/>
              </a:rPr>
              <a:t>𝐵</a:t>
            </a:r>
            <a:r>
              <a:rPr sz="2625" spc="-37" baseline="-15873" dirty="0">
                <a:latin typeface="Cambria Math"/>
                <a:cs typeface="Cambria Math"/>
              </a:rPr>
              <a:t>2</a:t>
            </a:r>
            <a:endParaRPr sz="2625" baseline="-15873">
              <a:latin typeface="Cambria Math"/>
              <a:cs typeface="Cambria Math"/>
            </a:endParaRPr>
          </a:p>
          <a:p>
            <a:pPr marL="11430" algn="ctr">
              <a:lnSpc>
                <a:spcPts val="2600"/>
              </a:lnSpc>
            </a:pPr>
            <a:r>
              <a:rPr sz="2400" spc="-50" dirty="0">
                <a:latin typeface="Cambria Math"/>
                <a:cs typeface="Cambria Math"/>
              </a:rPr>
              <a:t>⋮</a:t>
            </a:r>
            <a:endParaRPr sz="2400">
              <a:latin typeface="Cambria Math"/>
              <a:cs typeface="Cambria Math"/>
            </a:endParaRPr>
          </a:p>
          <a:p>
            <a:pPr algn="ctr">
              <a:lnSpc>
                <a:spcPts val="2635"/>
              </a:lnSpc>
            </a:pPr>
            <a:r>
              <a:rPr sz="2400" spc="-25" dirty="0">
                <a:latin typeface="Cambria Math"/>
                <a:cs typeface="Cambria Math"/>
              </a:rPr>
              <a:t>𝐵</a:t>
            </a:r>
            <a:r>
              <a:rPr sz="2625" spc="-37" baseline="-15873" dirty="0">
                <a:latin typeface="Cambria Math"/>
                <a:cs typeface="Cambria Math"/>
              </a:rPr>
              <a:t>8</a:t>
            </a:r>
            <a:endParaRPr sz="2625" baseline="-15873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320243" y="3398520"/>
            <a:ext cx="7545070" cy="291592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R="2152650" algn="r">
              <a:lnSpc>
                <a:spcPct val="100000"/>
              </a:lnSpc>
              <a:spcBef>
                <a:spcPts val="1015"/>
              </a:spcBef>
            </a:pPr>
            <a:r>
              <a:rPr sz="2400" dirty="0">
                <a:latin typeface="Cambria Math"/>
                <a:cs typeface="Cambria Math"/>
              </a:rPr>
              <a:t>=</a:t>
            </a:r>
            <a:r>
              <a:rPr sz="2400" spc="12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𝐴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400" dirty="0">
                <a:latin typeface="Cambria Math"/>
                <a:cs typeface="Cambria Math"/>
              </a:rPr>
              <a:t>𝐵</a:t>
            </a:r>
            <a:r>
              <a:rPr sz="2625" baseline="-15873" dirty="0">
                <a:latin typeface="Cambria Math"/>
                <a:cs typeface="Cambria Math"/>
              </a:rPr>
              <a:t>1</a:t>
            </a:r>
            <a:r>
              <a:rPr sz="2625" spc="53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𝐴</a:t>
            </a:r>
            <a:r>
              <a:rPr sz="2625" baseline="-15873" dirty="0">
                <a:latin typeface="Cambria Math"/>
                <a:cs typeface="Cambria Math"/>
              </a:rPr>
              <a:t>5</a:t>
            </a:r>
            <a:r>
              <a:rPr sz="2400" dirty="0">
                <a:latin typeface="Cambria Math"/>
                <a:cs typeface="Cambria Math"/>
              </a:rPr>
              <a:t>𝐵</a:t>
            </a:r>
            <a:r>
              <a:rPr sz="2625" baseline="-15873" dirty="0">
                <a:latin typeface="Cambria Math"/>
                <a:cs typeface="Cambria Math"/>
              </a:rPr>
              <a:t>5</a:t>
            </a:r>
            <a:r>
              <a:rPr sz="2625" spc="337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Arial MT"/>
                <a:cs typeface="Arial MT"/>
              </a:rPr>
              <a:t>+</a:t>
            </a:r>
            <a:endParaRPr sz="2400">
              <a:latin typeface="Arial MT"/>
              <a:cs typeface="Arial MT"/>
            </a:endParaRPr>
          </a:p>
          <a:p>
            <a:pPr marR="2175510" algn="r">
              <a:lnSpc>
                <a:spcPct val="100000"/>
              </a:lnSpc>
              <a:spcBef>
                <a:spcPts val="915"/>
              </a:spcBef>
            </a:pPr>
            <a:r>
              <a:rPr sz="2400" dirty="0">
                <a:latin typeface="Cambria Math"/>
                <a:cs typeface="Cambria Math"/>
              </a:rPr>
              <a:t>𝐴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400" dirty="0">
                <a:latin typeface="Cambria Math"/>
                <a:cs typeface="Cambria Math"/>
              </a:rPr>
              <a:t>𝐵</a:t>
            </a:r>
            <a:r>
              <a:rPr sz="2625" baseline="-15873" dirty="0">
                <a:latin typeface="Cambria Math"/>
                <a:cs typeface="Cambria Math"/>
              </a:rPr>
              <a:t>2</a:t>
            </a:r>
            <a:r>
              <a:rPr sz="2625" spc="62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𝐴</a:t>
            </a:r>
            <a:r>
              <a:rPr sz="2625" baseline="-15873" dirty="0">
                <a:latin typeface="Cambria Math"/>
                <a:cs typeface="Cambria Math"/>
              </a:rPr>
              <a:t>6</a:t>
            </a:r>
            <a:r>
              <a:rPr sz="2400" dirty="0">
                <a:latin typeface="Cambria Math"/>
                <a:cs typeface="Cambria Math"/>
              </a:rPr>
              <a:t>𝐵</a:t>
            </a:r>
            <a:r>
              <a:rPr sz="2625" baseline="-15873" dirty="0">
                <a:latin typeface="Cambria Math"/>
                <a:cs typeface="Cambria Math"/>
              </a:rPr>
              <a:t>6</a:t>
            </a:r>
            <a:r>
              <a:rPr sz="2625" spc="382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Arial MT"/>
                <a:cs typeface="Arial MT"/>
              </a:rPr>
              <a:t>+</a:t>
            </a:r>
            <a:endParaRPr sz="2400">
              <a:latin typeface="Arial MT"/>
              <a:cs typeface="Arial MT"/>
            </a:endParaRPr>
          </a:p>
          <a:p>
            <a:pPr marR="2175510" algn="r">
              <a:lnSpc>
                <a:spcPct val="100000"/>
              </a:lnSpc>
              <a:spcBef>
                <a:spcPts val="910"/>
              </a:spcBef>
            </a:pPr>
            <a:r>
              <a:rPr sz="2400" dirty="0">
                <a:latin typeface="Cambria Math"/>
                <a:cs typeface="Cambria Math"/>
              </a:rPr>
              <a:t>𝐴</a:t>
            </a:r>
            <a:r>
              <a:rPr sz="2625" baseline="-15873" dirty="0">
                <a:latin typeface="Cambria Math"/>
                <a:cs typeface="Cambria Math"/>
              </a:rPr>
              <a:t>3</a:t>
            </a:r>
            <a:r>
              <a:rPr sz="2400" dirty="0">
                <a:latin typeface="Cambria Math"/>
                <a:cs typeface="Cambria Math"/>
              </a:rPr>
              <a:t>𝐵</a:t>
            </a:r>
            <a:r>
              <a:rPr sz="2625" baseline="-15873" dirty="0">
                <a:latin typeface="Cambria Math"/>
                <a:cs typeface="Cambria Math"/>
              </a:rPr>
              <a:t>3</a:t>
            </a:r>
            <a:r>
              <a:rPr sz="2625" spc="622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𝐴</a:t>
            </a:r>
            <a:r>
              <a:rPr sz="2625" baseline="-15873" dirty="0">
                <a:latin typeface="Cambria Math"/>
                <a:cs typeface="Cambria Math"/>
              </a:rPr>
              <a:t>7</a:t>
            </a:r>
            <a:r>
              <a:rPr sz="2400" dirty="0">
                <a:latin typeface="Cambria Math"/>
                <a:cs typeface="Cambria Math"/>
              </a:rPr>
              <a:t>𝐵</a:t>
            </a:r>
            <a:r>
              <a:rPr sz="2625" baseline="-15873" dirty="0">
                <a:latin typeface="Cambria Math"/>
                <a:cs typeface="Cambria Math"/>
              </a:rPr>
              <a:t>7</a:t>
            </a:r>
            <a:r>
              <a:rPr sz="2625" spc="382" baseline="-15873" dirty="0">
                <a:latin typeface="Cambria Math"/>
                <a:cs typeface="Cambria Math"/>
              </a:rPr>
              <a:t> </a:t>
            </a:r>
            <a:r>
              <a:rPr sz="2400" spc="-50" dirty="0">
                <a:latin typeface="Arial MT"/>
                <a:cs typeface="Arial MT"/>
              </a:rPr>
              <a:t>+</a:t>
            </a:r>
            <a:endParaRPr sz="2400">
              <a:latin typeface="Arial MT"/>
              <a:cs typeface="Arial MT"/>
            </a:endParaRPr>
          </a:p>
          <a:p>
            <a:pPr marL="3474085">
              <a:lnSpc>
                <a:spcPct val="100000"/>
              </a:lnSpc>
              <a:spcBef>
                <a:spcPts val="910"/>
              </a:spcBef>
            </a:pPr>
            <a:r>
              <a:rPr sz="2400" dirty="0">
                <a:latin typeface="Cambria Math"/>
                <a:cs typeface="Cambria Math"/>
              </a:rPr>
              <a:t>𝐴</a:t>
            </a:r>
            <a:r>
              <a:rPr sz="2625" baseline="-15873" dirty="0">
                <a:latin typeface="Cambria Math"/>
                <a:cs typeface="Cambria Math"/>
              </a:rPr>
              <a:t>4</a:t>
            </a:r>
            <a:r>
              <a:rPr sz="2400" dirty="0">
                <a:latin typeface="Cambria Math"/>
                <a:cs typeface="Cambria Math"/>
              </a:rPr>
              <a:t>𝐵</a:t>
            </a:r>
            <a:r>
              <a:rPr sz="2625" baseline="-15873" dirty="0">
                <a:latin typeface="Cambria Math"/>
                <a:cs typeface="Cambria Math"/>
              </a:rPr>
              <a:t>4</a:t>
            </a:r>
            <a:r>
              <a:rPr sz="2625" spc="525" baseline="-15873" dirty="0">
                <a:latin typeface="Cambria Math"/>
                <a:cs typeface="Cambria Math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Cambria Math"/>
                <a:cs typeface="Cambria Math"/>
              </a:rPr>
              <a:t>𝐴</a:t>
            </a:r>
            <a:r>
              <a:rPr sz="2625" spc="-30" baseline="-15873" dirty="0">
                <a:latin typeface="Cambria Math"/>
                <a:cs typeface="Cambria Math"/>
              </a:rPr>
              <a:t>8</a:t>
            </a:r>
            <a:r>
              <a:rPr sz="2400" spc="-20" dirty="0">
                <a:latin typeface="Cambria Math"/>
                <a:cs typeface="Cambria Math"/>
              </a:rPr>
              <a:t>𝐵</a:t>
            </a:r>
            <a:r>
              <a:rPr sz="2625" spc="-30" baseline="-15873" dirty="0">
                <a:latin typeface="Cambria Math"/>
                <a:cs typeface="Cambria Math"/>
              </a:rPr>
              <a:t>8</a:t>
            </a:r>
            <a:endParaRPr sz="2625" baseline="-15873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895"/>
              </a:spcBef>
            </a:pPr>
            <a:endParaRPr sz="2400">
              <a:latin typeface="Cambria Math"/>
              <a:cs typeface="Cambria Math"/>
            </a:endParaRPr>
          </a:p>
          <a:p>
            <a:pPr marL="311785" indent="-286385">
              <a:lnSpc>
                <a:spcPct val="100000"/>
              </a:lnSpc>
              <a:buChar char="•"/>
              <a:tabLst>
                <a:tab pos="311785" algn="l"/>
              </a:tabLst>
            </a:pPr>
            <a:r>
              <a:rPr sz="2400" dirty="0">
                <a:latin typeface="Arial MT"/>
                <a:cs typeface="Arial MT"/>
              </a:rPr>
              <a:t>Lets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calculating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inner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product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6962" rIns="0" bIns="0" rtlCol="0">
            <a:spAutoFit/>
          </a:bodyPr>
          <a:lstStyle/>
          <a:p>
            <a:pPr marL="1304925">
              <a:lnSpc>
                <a:spcPct val="100000"/>
              </a:lnSpc>
              <a:spcBef>
                <a:spcPts val="95"/>
              </a:spcBef>
            </a:pPr>
            <a:r>
              <a:rPr sz="2200" dirty="0"/>
              <a:t>PIPELINE</a:t>
            </a:r>
            <a:r>
              <a:rPr sz="2200" spc="-70" dirty="0"/>
              <a:t> </a:t>
            </a:r>
            <a:r>
              <a:rPr sz="2200" dirty="0"/>
              <a:t>FOR</a:t>
            </a:r>
            <a:r>
              <a:rPr sz="2200" spc="-40" dirty="0"/>
              <a:t> </a:t>
            </a:r>
            <a:r>
              <a:rPr sz="2200" dirty="0"/>
              <a:t>AN</a:t>
            </a:r>
            <a:r>
              <a:rPr sz="2200" spc="-60" dirty="0"/>
              <a:t> </a:t>
            </a:r>
            <a:r>
              <a:rPr sz="2200" dirty="0"/>
              <a:t>INNER</a:t>
            </a:r>
            <a:r>
              <a:rPr sz="2200" spc="-65" dirty="0"/>
              <a:t> </a:t>
            </a:r>
            <a:r>
              <a:rPr sz="2200" spc="-10" dirty="0"/>
              <a:t>PRODUCT</a:t>
            </a:r>
            <a:endParaRPr sz="2200"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14683" y="2041644"/>
            <a:ext cx="1207770" cy="667385"/>
          </a:xfrm>
          <a:prstGeom prst="rect">
            <a:avLst/>
          </a:prstGeom>
          <a:ln w="38673">
            <a:solidFill>
              <a:srgbClr val="000000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536575" marR="230504" indent="-364490">
              <a:lnSpc>
                <a:spcPts val="2160"/>
              </a:lnSpc>
              <a:spcBef>
                <a:spcPts val="434"/>
              </a:spcBef>
            </a:pPr>
            <a:r>
              <a:rPr sz="1850" b="1" spc="-10" dirty="0">
                <a:latin typeface="Arial"/>
                <a:cs typeface="Arial"/>
              </a:rPr>
              <a:t>Source </a:t>
            </a:r>
            <a:r>
              <a:rPr sz="1850" b="1" spc="-50" dirty="0">
                <a:latin typeface="Arial"/>
                <a:cs typeface="Arial"/>
              </a:rPr>
              <a:t>A</a:t>
            </a:r>
            <a:endParaRPr sz="1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683" y="3160295"/>
            <a:ext cx="1207770" cy="667385"/>
          </a:xfrm>
          <a:prstGeom prst="rect">
            <a:avLst/>
          </a:prstGeom>
          <a:ln w="38673">
            <a:solidFill>
              <a:srgbClr val="000000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536575" marR="230504" indent="-364490">
              <a:lnSpc>
                <a:spcPts val="2160"/>
              </a:lnSpc>
              <a:spcBef>
                <a:spcPts val="434"/>
              </a:spcBef>
            </a:pPr>
            <a:r>
              <a:rPr sz="1850" b="1" spc="-10" dirty="0">
                <a:latin typeface="Arial"/>
                <a:cs typeface="Arial"/>
              </a:rPr>
              <a:t>Source </a:t>
            </a:r>
            <a:r>
              <a:rPr sz="1850" b="1" spc="-50" dirty="0">
                <a:latin typeface="Arial"/>
                <a:cs typeface="Arial"/>
              </a:rPr>
              <a:t>B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6558" y="3285062"/>
            <a:ext cx="1089660" cy="5829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89535" marR="5080" indent="-77470">
              <a:lnSpc>
                <a:spcPts val="2170"/>
              </a:lnSpc>
              <a:spcBef>
                <a:spcPts val="215"/>
              </a:spcBef>
            </a:pPr>
            <a:r>
              <a:rPr sz="1850" b="1" spc="-10" dirty="0">
                <a:latin typeface="Arial"/>
                <a:cs typeface="Arial"/>
              </a:rPr>
              <a:t>Multiplier pipeline</a:t>
            </a:r>
            <a:endParaRPr sz="18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0905" y="3285063"/>
            <a:ext cx="918210" cy="58293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133985">
              <a:lnSpc>
                <a:spcPts val="2170"/>
              </a:lnSpc>
              <a:spcBef>
                <a:spcPts val="215"/>
              </a:spcBef>
            </a:pPr>
            <a:r>
              <a:rPr sz="1850" b="1" spc="-10" dirty="0">
                <a:latin typeface="Arial"/>
                <a:cs typeface="Arial"/>
              </a:rPr>
              <a:t>Adder pipeline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03278" y="2149776"/>
            <a:ext cx="7074534" cy="1354455"/>
            <a:chOff x="1703278" y="2149776"/>
            <a:chExt cx="7074534" cy="1354455"/>
          </a:xfrm>
        </p:grpSpPr>
        <p:sp>
          <p:nvSpPr>
            <p:cNvPr id="8" name="object 8"/>
            <p:cNvSpPr/>
            <p:nvPr/>
          </p:nvSpPr>
          <p:spPr>
            <a:xfrm>
              <a:off x="2680888" y="2590984"/>
              <a:ext cx="575310" cy="667385"/>
            </a:xfrm>
            <a:custGeom>
              <a:avLst/>
              <a:gdLst/>
              <a:ahLst/>
              <a:cxnLst/>
              <a:rect l="l" t="t" r="r" b="b"/>
              <a:pathLst>
                <a:path w="575310" h="667385">
                  <a:moveTo>
                    <a:pt x="0" y="667208"/>
                  </a:moveTo>
                  <a:lnTo>
                    <a:pt x="575291" y="667208"/>
                  </a:lnTo>
                  <a:lnTo>
                    <a:pt x="575291" y="0"/>
                  </a:lnTo>
                  <a:lnTo>
                    <a:pt x="0" y="0"/>
                  </a:lnTo>
                  <a:lnTo>
                    <a:pt x="0" y="667208"/>
                  </a:lnTo>
                  <a:close/>
                </a:path>
              </a:pathLst>
            </a:custGeom>
            <a:ln w="38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36762" y="2590984"/>
              <a:ext cx="537210" cy="667385"/>
            </a:xfrm>
            <a:custGeom>
              <a:avLst/>
              <a:gdLst/>
              <a:ahLst/>
              <a:cxnLst/>
              <a:rect l="l" t="t" r="r" b="b"/>
              <a:pathLst>
                <a:path w="537210" h="667385">
                  <a:moveTo>
                    <a:pt x="0" y="667208"/>
                  </a:moveTo>
                  <a:lnTo>
                    <a:pt x="536821" y="667208"/>
                  </a:lnTo>
                  <a:lnTo>
                    <a:pt x="536821" y="0"/>
                  </a:lnTo>
                  <a:lnTo>
                    <a:pt x="0" y="0"/>
                  </a:lnTo>
                  <a:lnTo>
                    <a:pt x="0" y="667208"/>
                  </a:lnTo>
                  <a:close/>
                </a:path>
              </a:pathLst>
            </a:custGeom>
            <a:ln w="383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73659" y="2590984"/>
              <a:ext cx="556895" cy="667385"/>
            </a:xfrm>
            <a:custGeom>
              <a:avLst/>
              <a:gdLst/>
              <a:ahLst/>
              <a:cxnLst/>
              <a:rect l="l" t="t" r="r" b="b"/>
              <a:pathLst>
                <a:path w="556895" h="667385">
                  <a:moveTo>
                    <a:pt x="0" y="667208"/>
                  </a:moveTo>
                  <a:lnTo>
                    <a:pt x="556276" y="667208"/>
                  </a:lnTo>
                  <a:lnTo>
                    <a:pt x="556276" y="0"/>
                  </a:lnTo>
                  <a:lnTo>
                    <a:pt x="0" y="0"/>
                  </a:lnTo>
                  <a:lnTo>
                    <a:pt x="0" y="667208"/>
                  </a:lnTo>
                  <a:close/>
                </a:path>
              </a:pathLst>
            </a:custGeom>
            <a:ln w="38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10366" y="2590984"/>
              <a:ext cx="575310" cy="667385"/>
            </a:xfrm>
            <a:custGeom>
              <a:avLst/>
              <a:gdLst/>
              <a:ahLst/>
              <a:cxnLst/>
              <a:rect l="l" t="t" r="r" b="b"/>
              <a:pathLst>
                <a:path w="575310" h="667385">
                  <a:moveTo>
                    <a:pt x="0" y="667208"/>
                  </a:moveTo>
                  <a:lnTo>
                    <a:pt x="575291" y="667208"/>
                  </a:lnTo>
                  <a:lnTo>
                    <a:pt x="575291" y="0"/>
                  </a:lnTo>
                  <a:lnTo>
                    <a:pt x="0" y="0"/>
                  </a:lnTo>
                  <a:lnTo>
                    <a:pt x="0" y="667208"/>
                  </a:lnTo>
                  <a:close/>
                </a:path>
              </a:pathLst>
            </a:custGeom>
            <a:ln w="383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39844" y="2590984"/>
              <a:ext cx="556895" cy="667385"/>
            </a:xfrm>
            <a:custGeom>
              <a:avLst/>
              <a:gdLst/>
              <a:ahLst/>
              <a:cxnLst/>
              <a:rect l="l" t="t" r="r" b="b"/>
              <a:pathLst>
                <a:path w="556895" h="667385">
                  <a:moveTo>
                    <a:pt x="0" y="667208"/>
                  </a:moveTo>
                  <a:lnTo>
                    <a:pt x="556276" y="667208"/>
                  </a:lnTo>
                  <a:lnTo>
                    <a:pt x="556276" y="0"/>
                  </a:lnTo>
                  <a:lnTo>
                    <a:pt x="0" y="0"/>
                  </a:lnTo>
                  <a:lnTo>
                    <a:pt x="0" y="667208"/>
                  </a:lnTo>
                  <a:close/>
                </a:path>
              </a:pathLst>
            </a:custGeom>
            <a:ln w="38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496101" y="2590984"/>
              <a:ext cx="556260" cy="667385"/>
            </a:xfrm>
            <a:custGeom>
              <a:avLst/>
              <a:gdLst/>
              <a:ahLst/>
              <a:cxnLst/>
              <a:rect l="l" t="t" r="r" b="b"/>
              <a:pathLst>
                <a:path w="556259" h="667385">
                  <a:moveTo>
                    <a:pt x="0" y="667208"/>
                  </a:moveTo>
                  <a:lnTo>
                    <a:pt x="555816" y="667208"/>
                  </a:lnTo>
                  <a:lnTo>
                    <a:pt x="555816" y="0"/>
                  </a:lnTo>
                  <a:lnTo>
                    <a:pt x="0" y="0"/>
                  </a:lnTo>
                  <a:lnTo>
                    <a:pt x="0" y="667208"/>
                  </a:lnTo>
                  <a:close/>
                </a:path>
              </a:pathLst>
            </a:custGeom>
            <a:ln w="38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32999" y="2590984"/>
              <a:ext cx="556260" cy="667385"/>
            </a:xfrm>
            <a:custGeom>
              <a:avLst/>
              <a:gdLst/>
              <a:ahLst/>
              <a:cxnLst/>
              <a:rect l="l" t="t" r="r" b="b"/>
              <a:pathLst>
                <a:path w="556259" h="667385">
                  <a:moveTo>
                    <a:pt x="0" y="667208"/>
                  </a:moveTo>
                  <a:lnTo>
                    <a:pt x="555816" y="667208"/>
                  </a:lnTo>
                  <a:lnTo>
                    <a:pt x="555816" y="0"/>
                  </a:lnTo>
                  <a:lnTo>
                    <a:pt x="0" y="0"/>
                  </a:lnTo>
                  <a:lnTo>
                    <a:pt x="0" y="667208"/>
                  </a:lnTo>
                  <a:close/>
                </a:path>
              </a:pathLst>
            </a:custGeom>
            <a:ln w="38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88681" y="2590984"/>
              <a:ext cx="556260" cy="667385"/>
            </a:xfrm>
            <a:custGeom>
              <a:avLst/>
              <a:gdLst/>
              <a:ahLst/>
              <a:cxnLst/>
              <a:rect l="l" t="t" r="r" b="b"/>
              <a:pathLst>
                <a:path w="556259" h="667385">
                  <a:moveTo>
                    <a:pt x="0" y="667208"/>
                  </a:moveTo>
                  <a:lnTo>
                    <a:pt x="555816" y="667208"/>
                  </a:lnTo>
                  <a:lnTo>
                    <a:pt x="555816" y="0"/>
                  </a:lnTo>
                  <a:lnTo>
                    <a:pt x="0" y="0"/>
                  </a:lnTo>
                  <a:lnTo>
                    <a:pt x="0" y="667208"/>
                  </a:lnTo>
                  <a:close/>
                </a:path>
              </a:pathLst>
            </a:custGeom>
            <a:ln w="383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08567" y="2610955"/>
              <a:ext cx="172720" cy="156845"/>
            </a:xfrm>
            <a:custGeom>
              <a:avLst/>
              <a:gdLst/>
              <a:ahLst/>
              <a:cxnLst/>
              <a:rect l="l" t="t" r="r" b="b"/>
              <a:pathLst>
                <a:path w="172719" h="156844">
                  <a:moveTo>
                    <a:pt x="0" y="0"/>
                  </a:moveTo>
                  <a:lnTo>
                    <a:pt x="0" y="156811"/>
                  </a:lnTo>
                  <a:lnTo>
                    <a:pt x="172320" y="78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259094" y="2699135"/>
              <a:ext cx="268605" cy="19685"/>
            </a:xfrm>
            <a:custGeom>
              <a:avLst/>
              <a:gdLst/>
              <a:ahLst/>
              <a:cxnLst/>
              <a:rect l="l" t="t" r="r" b="b"/>
              <a:pathLst>
                <a:path w="268605" h="19685">
                  <a:moveTo>
                    <a:pt x="0" y="0"/>
                  </a:moveTo>
                  <a:lnTo>
                    <a:pt x="0" y="19433"/>
                  </a:lnTo>
                  <a:lnTo>
                    <a:pt x="268410" y="19433"/>
                  </a:lnTo>
                  <a:lnTo>
                    <a:pt x="2684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08567" y="3061928"/>
              <a:ext cx="172720" cy="157480"/>
            </a:xfrm>
            <a:custGeom>
              <a:avLst/>
              <a:gdLst/>
              <a:ahLst/>
              <a:cxnLst/>
              <a:rect l="l" t="t" r="r" b="b"/>
              <a:pathLst>
                <a:path w="172719" h="157480">
                  <a:moveTo>
                    <a:pt x="0" y="0"/>
                  </a:moveTo>
                  <a:lnTo>
                    <a:pt x="0" y="157301"/>
                  </a:lnTo>
                  <a:lnTo>
                    <a:pt x="172320" y="788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03273" y="2365527"/>
              <a:ext cx="824230" cy="1138555"/>
            </a:xfrm>
            <a:custGeom>
              <a:avLst/>
              <a:gdLst/>
              <a:ahLst/>
              <a:cxnLst/>
              <a:rect l="l" t="t" r="r" b="b"/>
              <a:pathLst>
                <a:path w="824230" h="1138554">
                  <a:moveTo>
                    <a:pt x="565315" y="9740"/>
                  </a:moveTo>
                  <a:lnTo>
                    <a:pt x="555815" y="9740"/>
                  </a:lnTo>
                  <a:lnTo>
                    <a:pt x="555815" y="0"/>
                  </a:lnTo>
                  <a:lnTo>
                    <a:pt x="0" y="0"/>
                  </a:lnTo>
                  <a:lnTo>
                    <a:pt x="0" y="19431"/>
                  </a:lnTo>
                  <a:lnTo>
                    <a:pt x="546315" y="19431"/>
                  </a:lnTo>
                  <a:lnTo>
                    <a:pt x="546315" y="343331"/>
                  </a:lnTo>
                  <a:lnTo>
                    <a:pt x="565315" y="343331"/>
                  </a:lnTo>
                  <a:lnTo>
                    <a:pt x="565315" y="9740"/>
                  </a:lnTo>
                  <a:close/>
                </a:path>
                <a:path w="824230" h="1138554">
                  <a:moveTo>
                    <a:pt x="824230" y="785063"/>
                  </a:moveTo>
                  <a:lnTo>
                    <a:pt x="555815" y="785063"/>
                  </a:lnTo>
                  <a:lnTo>
                    <a:pt x="555815" y="794791"/>
                  </a:lnTo>
                  <a:lnTo>
                    <a:pt x="546315" y="794791"/>
                  </a:lnTo>
                  <a:lnTo>
                    <a:pt x="546315" y="1118666"/>
                  </a:lnTo>
                  <a:lnTo>
                    <a:pt x="0" y="1118666"/>
                  </a:lnTo>
                  <a:lnTo>
                    <a:pt x="0" y="1138110"/>
                  </a:lnTo>
                  <a:lnTo>
                    <a:pt x="555815" y="1138110"/>
                  </a:lnTo>
                  <a:lnTo>
                    <a:pt x="555815" y="1128382"/>
                  </a:lnTo>
                  <a:lnTo>
                    <a:pt x="565315" y="1128382"/>
                  </a:lnTo>
                  <a:lnTo>
                    <a:pt x="565315" y="804494"/>
                  </a:lnTo>
                  <a:lnTo>
                    <a:pt x="824230" y="804494"/>
                  </a:lnTo>
                  <a:lnTo>
                    <a:pt x="824230" y="7850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67331" y="2826701"/>
              <a:ext cx="172720" cy="156845"/>
            </a:xfrm>
            <a:custGeom>
              <a:avLst/>
              <a:gdLst/>
              <a:ahLst/>
              <a:cxnLst/>
              <a:rect l="l" t="t" r="r" b="b"/>
              <a:pathLst>
                <a:path w="172720" h="156844">
                  <a:moveTo>
                    <a:pt x="0" y="0"/>
                  </a:moveTo>
                  <a:lnTo>
                    <a:pt x="0" y="156811"/>
                  </a:lnTo>
                  <a:lnTo>
                    <a:pt x="172512" y="78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66623" y="2914881"/>
              <a:ext cx="920750" cy="19685"/>
            </a:xfrm>
            <a:custGeom>
              <a:avLst/>
              <a:gdLst/>
              <a:ahLst/>
              <a:cxnLst/>
              <a:rect l="l" t="t" r="r" b="b"/>
              <a:pathLst>
                <a:path w="920750" h="19685">
                  <a:moveTo>
                    <a:pt x="0" y="0"/>
                  </a:moveTo>
                  <a:lnTo>
                    <a:pt x="0" y="19433"/>
                  </a:lnTo>
                  <a:lnTo>
                    <a:pt x="920182" y="19433"/>
                  </a:lnTo>
                  <a:lnTo>
                    <a:pt x="92018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67331" y="2610955"/>
              <a:ext cx="172720" cy="156845"/>
            </a:xfrm>
            <a:custGeom>
              <a:avLst/>
              <a:gdLst/>
              <a:ahLst/>
              <a:cxnLst/>
              <a:rect l="l" t="t" r="r" b="b"/>
              <a:pathLst>
                <a:path w="172720" h="156844">
                  <a:moveTo>
                    <a:pt x="0" y="0"/>
                  </a:moveTo>
                  <a:lnTo>
                    <a:pt x="0" y="156811"/>
                  </a:lnTo>
                  <a:lnTo>
                    <a:pt x="172512" y="78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09018" y="2149779"/>
              <a:ext cx="2952115" cy="775335"/>
            </a:xfrm>
            <a:custGeom>
              <a:avLst/>
              <a:gdLst/>
              <a:ahLst/>
              <a:cxnLst/>
              <a:rect l="l" t="t" r="r" b="b"/>
              <a:pathLst>
                <a:path w="2952115" h="775335">
                  <a:moveTo>
                    <a:pt x="2951911" y="9715"/>
                  </a:moveTo>
                  <a:lnTo>
                    <a:pt x="2942602" y="9715"/>
                  </a:lnTo>
                  <a:lnTo>
                    <a:pt x="2942602" y="0"/>
                  </a:lnTo>
                  <a:lnTo>
                    <a:pt x="9499" y="0"/>
                  </a:lnTo>
                  <a:lnTo>
                    <a:pt x="9499" y="9740"/>
                  </a:lnTo>
                  <a:lnTo>
                    <a:pt x="0" y="9740"/>
                  </a:lnTo>
                  <a:lnTo>
                    <a:pt x="0" y="559079"/>
                  </a:lnTo>
                  <a:lnTo>
                    <a:pt x="9499" y="559079"/>
                  </a:lnTo>
                  <a:lnTo>
                    <a:pt x="9499" y="568794"/>
                  </a:lnTo>
                  <a:lnTo>
                    <a:pt x="277914" y="568794"/>
                  </a:lnTo>
                  <a:lnTo>
                    <a:pt x="277914" y="549363"/>
                  </a:lnTo>
                  <a:lnTo>
                    <a:pt x="19011" y="549363"/>
                  </a:lnTo>
                  <a:lnTo>
                    <a:pt x="19011" y="19431"/>
                  </a:lnTo>
                  <a:lnTo>
                    <a:pt x="2932912" y="19431"/>
                  </a:lnTo>
                  <a:lnTo>
                    <a:pt x="2932912" y="774827"/>
                  </a:lnTo>
                  <a:lnTo>
                    <a:pt x="2951911" y="774827"/>
                  </a:lnTo>
                  <a:lnTo>
                    <a:pt x="2951911" y="97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604973" y="2826701"/>
              <a:ext cx="172720" cy="156845"/>
            </a:xfrm>
            <a:custGeom>
              <a:avLst/>
              <a:gdLst/>
              <a:ahLst/>
              <a:cxnLst/>
              <a:rect l="l" t="t" r="r" b="b"/>
              <a:pathLst>
                <a:path w="172720" h="156844">
                  <a:moveTo>
                    <a:pt x="0" y="0"/>
                  </a:moveTo>
                  <a:lnTo>
                    <a:pt x="0" y="156811"/>
                  </a:lnTo>
                  <a:lnTo>
                    <a:pt x="172320" y="784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14500" y="2377185"/>
              <a:ext cx="6909434" cy="557530"/>
            </a:xfrm>
            <a:custGeom>
              <a:avLst/>
              <a:gdLst/>
              <a:ahLst/>
              <a:cxnLst/>
              <a:rect l="l" t="t" r="r" b="b"/>
              <a:pathLst>
                <a:path w="6909434" h="557530">
                  <a:moveTo>
                    <a:pt x="53441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534416" y="12700"/>
                  </a:lnTo>
                  <a:lnTo>
                    <a:pt x="534416" y="0"/>
                  </a:lnTo>
                  <a:close/>
                </a:path>
                <a:path w="6909434" h="557530">
                  <a:moveTo>
                    <a:pt x="6909409" y="537705"/>
                  </a:moveTo>
                  <a:lnTo>
                    <a:pt x="6411074" y="537705"/>
                  </a:lnTo>
                  <a:lnTo>
                    <a:pt x="6411074" y="557136"/>
                  </a:lnTo>
                  <a:lnTo>
                    <a:pt x="6909409" y="557136"/>
                  </a:lnTo>
                  <a:lnTo>
                    <a:pt x="6909409" y="5377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304800"/>
            <a:ext cx="7543800" cy="566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204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PIPELINE</a:t>
            </a:r>
            <a:r>
              <a:rPr sz="3600" spc="-45" dirty="0"/>
              <a:t> </a:t>
            </a:r>
            <a:r>
              <a:rPr sz="3600" dirty="0"/>
              <a:t>FOR</a:t>
            </a:r>
            <a:r>
              <a:rPr sz="3600" spc="-35" dirty="0"/>
              <a:t> </a:t>
            </a:r>
            <a:r>
              <a:rPr sz="3600" dirty="0"/>
              <a:t>AN</a:t>
            </a:r>
            <a:r>
              <a:rPr sz="3600" spc="-25" dirty="0"/>
              <a:t> </a:t>
            </a:r>
            <a:r>
              <a:rPr sz="3600" dirty="0"/>
              <a:t>INNER</a:t>
            </a:r>
            <a:r>
              <a:rPr sz="3600" spc="-25" dirty="0"/>
              <a:t> </a:t>
            </a:r>
            <a:r>
              <a:rPr sz="3600" spc="-10" dirty="0"/>
              <a:t>PRODUCT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4294967295"/>
          </p:nvPr>
        </p:nvSpPr>
        <p:spPr>
          <a:xfrm>
            <a:off x="685800" y="990600"/>
            <a:ext cx="7543800" cy="4024312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06705" marR="160020" indent="-287020">
              <a:lnSpc>
                <a:spcPts val="2160"/>
              </a:lnSpc>
              <a:spcBef>
                <a:spcPts val="375"/>
              </a:spcBef>
              <a:buChar char="•"/>
              <a:tabLst>
                <a:tab pos="307340" algn="l"/>
              </a:tabLst>
            </a:pPr>
            <a:r>
              <a:rPr dirty="0"/>
              <a:t>All</a:t>
            </a:r>
            <a:r>
              <a:rPr spc="-30" dirty="0"/>
              <a:t> </a:t>
            </a:r>
            <a:r>
              <a:rPr dirty="0"/>
              <a:t>segment</a:t>
            </a:r>
            <a:r>
              <a:rPr spc="-55" dirty="0"/>
              <a:t> </a:t>
            </a:r>
            <a:r>
              <a:rPr dirty="0"/>
              <a:t>registers</a:t>
            </a:r>
            <a:r>
              <a:rPr spc="-6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multiplier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adder</a:t>
            </a:r>
            <a:r>
              <a:rPr spc="-45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dirty="0"/>
              <a:t>initialized</a:t>
            </a:r>
            <a:r>
              <a:rPr spc="-2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spc="-25" dirty="0"/>
              <a:t>0. </a:t>
            </a:r>
            <a:r>
              <a:rPr dirty="0"/>
              <a:t>Therefore,</a:t>
            </a:r>
            <a:r>
              <a:rPr spc="-5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output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adder</a:t>
            </a:r>
            <a:r>
              <a:rPr spc="-3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0</a:t>
            </a:r>
            <a:r>
              <a:rPr spc="-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first</a:t>
            </a:r>
            <a:r>
              <a:rPr spc="-25" dirty="0"/>
              <a:t> </a:t>
            </a:r>
            <a:r>
              <a:rPr dirty="0"/>
              <a:t>eight</a:t>
            </a:r>
            <a:r>
              <a:rPr spc="-25" dirty="0"/>
              <a:t> </a:t>
            </a:r>
            <a:r>
              <a:rPr dirty="0"/>
              <a:t>cycles</a:t>
            </a:r>
            <a:r>
              <a:rPr spc="-30" dirty="0"/>
              <a:t> </a:t>
            </a:r>
            <a:r>
              <a:rPr dirty="0"/>
              <a:t>until</a:t>
            </a:r>
            <a:r>
              <a:rPr spc="-5" dirty="0"/>
              <a:t> </a:t>
            </a:r>
            <a:r>
              <a:rPr spc="-20" dirty="0"/>
              <a:t>both </a:t>
            </a:r>
            <a:r>
              <a:rPr dirty="0"/>
              <a:t>pipes</a:t>
            </a:r>
            <a:r>
              <a:rPr spc="-10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spc="-10" dirty="0"/>
              <a:t>full.</a:t>
            </a:r>
          </a:p>
          <a:p>
            <a:pPr marL="477520">
              <a:lnSpc>
                <a:spcPts val="2055"/>
              </a:lnSpc>
              <a:spcBef>
                <a:spcPts val="409"/>
              </a:spcBef>
            </a:pPr>
            <a:r>
              <a:rPr sz="1800" dirty="0"/>
              <a:t>–</a:t>
            </a:r>
            <a:r>
              <a:rPr sz="1800" spc="254" dirty="0"/>
              <a:t> </a:t>
            </a:r>
            <a:r>
              <a:rPr sz="1800" dirty="0"/>
              <a:t>Ai</a:t>
            </a:r>
            <a:r>
              <a:rPr sz="1800" spc="-20" dirty="0"/>
              <a:t> </a:t>
            </a:r>
            <a:r>
              <a:rPr sz="1800" dirty="0"/>
              <a:t>and</a:t>
            </a:r>
            <a:r>
              <a:rPr sz="1800" spc="-15" dirty="0"/>
              <a:t> </a:t>
            </a:r>
            <a:r>
              <a:rPr sz="1800" dirty="0"/>
              <a:t>Bi</a:t>
            </a:r>
            <a:r>
              <a:rPr sz="1800" spc="-20" dirty="0"/>
              <a:t> </a:t>
            </a:r>
            <a:r>
              <a:rPr sz="1800" dirty="0"/>
              <a:t>pairs</a:t>
            </a:r>
            <a:r>
              <a:rPr sz="1800" spc="-25" dirty="0"/>
              <a:t> </a:t>
            </a:r>
            <a:r>
              <a:rPr sz="1800" dirty="0"/>
              <a:t>are</a:t>
            </a:r>
            <a:r>
              <a:rPr sz="1800" spc="-10" dirty="0"/>
              <a:t> </a:t>
            </a:r>
            <a:r>
              <a:rPr sz="1800" dirty="0"/>
              <a:t>brought</a:t>
            </a:r>
            <a:r>
              <a:rPr sz="1800" spc="-5" dirty="0"/>
              <a:t> </a:t>
            </a:r>
            <a:r>
              <a:rPr sz="1800" dirty="0"/>
              <a:t>in</a:t>
            </a:r>
            <a:r>
              <a:rPr sz="1800" spc="-30" dirty="0"/>
              <a:t> </a:t>
            </a:r>
            <a:r>
              <a:rPr sz="1800" dirty="0"/>
              <a:t>and</a:t>
            </a:r>
            <a:r>
              <a:rPr sz="1800" spc="-10" dirty="0"/>
              <a:t> </a:t>
            </a:r>
            <a:r>
              <a:rPr sz="1800" dirty="0"/>
              <a:t>multiplied</a:t>
            </a:r>
            <a:r>
              <a:rPr sz="1800" spc="5" dirty="0"/>
              <a:t> </a:t>
            </a:r>
            <a:r>
              <a:rPr sz="1800" dirty="0"/>
              <a:t>at</a:t>
            </a:r>
            <a:r>
              <a:rPr sz="1800" spc="-25" dirty="0"/>
              <a:t> </a:t>
            </a:r>
            <a:r>
              <a:rPr sz="1800" dirty="0"/>
              <a:t>a</a:t>
            </a:r>
            <a:r>
              <a:rPr sz="1800" spc="-20" dirty="0"/>
              <a:t> </a:t>
            </a:r>
            <a:r>
              <a:rPr sz="1800" dirty="0"/>
              <a:t>rate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10" dirty="0"/>
              <a:t> </a:t>
            </a:r>
            <a:r>
              <a:rPr sz="1800" dirty="0"/>
              <a:t>one</a:t>
            </a:r>
            <a:r>
              <a:rPr sz="1800" spc="-15" dirty="0"/>
              <a:t> </a:t>
            </a:r>
            <a:r>
              <a:rPr sz="1800" dirty="0"/>
              <a:t>pair</a:t>
            </a:r>
            <a:r>
              <a:rPr sz="1800" spc="-15" dirty="0"/>
              <a:t> </a:t>
            </a:r>
            <a:r>
              <a:rPr sz="1800" dirty="0"/>
              <a:t>per</a:t>
            </a:r>
            <a:r>
              <a:rPr sz="1800" spc="-5" dirty="0"/>
              <a:t> </a:t>
            </a:r>
            <a:r>
              <a:rPr sz="1800" spc="-10" dirty="0"/>
              <a:t>cycle.</a:t>
            </a:r>
            <a:endParaRPr sz="1800" dirty="0"/>
          </a:p>
          <a:p>
            <a:pPr marL="705485" marR="78105">
              <a:lnSpc>
                <a:spcPts val="1939"/>
              </a:lnSpc>
              <a:spcBef>
                <a:spcPts val="140"/>
              </a:spcBef>
            </a:pPr>
            <a:r>
              <a:rPr sz="1800" dirty="0"/>
              <a:t>After</a:t>
            </a:r>
            <a:r>
              <a:rPr sz="1800" spc="-40" dirty="0"/>
              <a:t> </a:t>
            </a:r>
            <a:r>
              <a:rPr sz="1800" dirty="0"/>
              <a:t>the</a:t>
            </a:r>
            <a:r>
              <a:rPr sz="1800" spc="-25" dirty="0"/>
              <a:t> </a:t>
            </a:r>
            <a:r>
              <a:rPr sz="1800" dirty="0"/>
              <a:t>first</a:t>
            </a:r>
            <a:r>
              <a:rPr sz="1800" spc="-15" dirty="0"/>
              <a:t> </a:t>
            </a:r>
            <a:r>
              <a:rPr sz="1800" dirty="0"/>
              <a:t>four</a:t>
            </a:r>
            <a:r>
              <a:rPr sz="1800" spc="-10" dirty="0"/>
              <a:t> </a:t>
            </a:r>
            <a:r>
              <a:rPr sz="1800" dirty="0"/>
              <a:t>cycles,</a:t>
            </a:r>
            <a:r>
              <a:rPr sz="1800" spc="20" dirty="0"/>
              <a:t> </a:t>
            </a:r>
            <a:r>
              <a:rPr sz="1800" dirty="0"/>
              <a:t>the</a:t>
            </a:r>
            <a:r>
              <a:rPr sz="1800" spc="-25" dirty="0"/>
              <a:t> </a:t>
            </a:r>
            <a:r>
              <a:rPr sz="1800" dirty="0"/>
              <a:t>products</a:t>
            </a:r>
            <a:r>
              <a:rPr sz="1800" spc="-10" dirty="0"/>
              <a:t> </a:t>
            </a:r>
            <a:r>
              <a:rPr sz="1800" dirty="0"/>
              <a:t>begin</a:t>
            </a:r>
            <a:r>
              <a:rPr sz="1800" spc="5" dirty="0"/>
              <a:t> </a:t>
            </a:r>
            <a:r>
              <a:rPr sz="1800" dirty="0"/>
              <a:t>to</a:t>
            </a:r>
            <a:r>
              <a:rPr sz="1800" spc="-25" dirty="0"/>
              <a:t> </a:t>
            </a:r>
            <a:r>
              <a:rPr sz="1800" dirty="0"/>
              <a:t>be</a:t>
            </a:r>
            <a:r>
              <a:rPr sz="1800" spc="-5" dirty="0"/>
              <a:t> </a:t>
            </a:r>
            <a:r>
              <a:rPr sz="1800" dirty="0"/>
              <a:t>added</a:t>
            </a:r>
            <a:r>
              <a:rPr sz="1800" spc="-10" dirty="0"/>
              <a:t> </a:t>
            </a:r>
            <a:r>
              <a:rPr sz="1800" dirty="0"/>
              <a:t>to</a:t>
            </a:r>
            <a:r>
              <a:rPr sz="1800" spc="-15" dirty="0"/>
              <a:t> </a:t>
            </a:r>
            <a:r>
              <a:rPr sz="1800" dirty="0"/>
              <a:t>the</a:t>
            </a:r>
            <a:r>
              <a:rPr sz="1800" spc="-20" dirty="0"/>
              <a:t> </a:t>
            </a:r>
            <a:r>
              <a:rPr sz="1800" dirty="0"/>
              <a:t>output</a:t>
            </a:r>
            <a:r>
              <a:rPr sz="1800" spc="-1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spc="-25" dirty="0"/>
              <a:t>the </a:t>
            </a:r>
            <a:r>
              <a:rPr sz="1800" dirty="0"/>
              <a:t>adder.</a:t>
            </a:r>
            <a:r>
              <a:rPr sz="1800" spc="-10" dirty="0"/>
              <a:t> </a:t>
            </a:r>
            <a:r>
              <a:rPr sz="1800" dirty="0"/>
              <a:t>During</a:t>
            </a:r>
            <a:r>
              <a:rPr sz="1800" spc="-20" dirty="0"/>
              <a:t> </a:t>
            </a:r>
            <a:r>
              <a:rPr sz="1800" dirty="0"/>
              <a:t>the</a:t>
            </a:r>
            <a:r>
              <a:rPr sz="1800" spc="-30" dirty="0"/>
              <a:t> </a:t>
            </a:r>
            <a:r>
              <a:rPr sz="1800" dirty="0"/>
              <a:t>next</a:t>
            </a:r>
            <a:r>
              <a:rPr sz="1800" spc="-5" dirty="0"/>
              <a:t> </a:t>
            </a:r>
            <a:r>
              <a:rPr sz="1800" dirty="0"/>
              <a:t>four</a:t>
            </a:r>
            <a:r>
              <a:rPr sz="1800" spc="-25" dirty="0"/>
              <a:t> </a:t>
            </a:r>
            <a:r>
              <a:rPr sz="1800" dirty="0"/>
              <a:t>cycles</a:t>
            </a:r>
            <a:r>
              <a:rPr sz="1800" spc="5" dirty="0"/>
              <a:t> </a:t>
            </a:r>
            <a:r>
              <a:rPr sz="1800" dirty="0"/>
              <a:t>0</a:t>
            </a:r>
            <a:r>
              <a:rPr sz="1800" spc="-25" dirty="0"/>
              <a:t> </a:t>
            </a:r>
            <a:r>
              <a:rPr sz="1800" dirty="0"/>
              <a:t>is</a:t>
            </a:r>
            <a:r>
              <a:rPr sz="1800" spc="-20" dirty="0"/>
              <a:t> </a:t>
            </a:r>
            <a:r>
              <a:rPr sz="1800" dirty="0"/>
              <a:t>added</a:t>
            </a:r>
            <a:r>
              <a:rPr sz="1800" spc="-10" dirty="0"/>
              <a:t> </a:t>
            </a:r>
            <a:r>
              <a:rPr sz="1800" dirty="0"/>
              <a:t>to</a:t>
            </a:r>
            <a:r>
              <a:rPr sz="1800" spc="-15" dirty="0"/>
              <a:t> </a:t>
            </a:r>
            <a:r>
              <a:rPr sz="1800" dirty="0"/>
              <a:t>the</a:t>
            </a:r>
            <a:r>
              <a:rPr sz="1800" spc="-35" dirty="0"/>
              <a:t> </a:t>
            </a:r>
            <a:r>
              <a:rPr sz="1800" dirty="0"/>
              <a:t>products</a:t>
            </a:r>
            <a:r>
              <a:rPr sz="1800" spc="-5" dirty="0"/>
              <a:t> </a:t>
            </a:r>
            <a:r>
              <a:rPr sz="1800" dirty="0"/>
              <a:t>entering</a:t>
            </a:r>
            <a:r>
              <a:rPr sz="1800" spc="-20" dirty="0"/>
              <a:t> </a:t>
            </a:r>
            <a:r>
              <a:rPr sz="1800" spc="-25" dirty="0"/>
              <a:t>the </a:t>
            </a:r>
            <a:r>
              <a:rPr sz="1800" dirty="0"/>
              <a:t>adder</a:t>
            </a:r>
            <a:r>
              <a:rPr sz="1800" spc="-30" dirty="0"/>
              <a:t> </a:t>
            </a:r>
            <a:r>
              <a:rPr sz="1800" spc="-10" dirty="0"/>
              <a:t>pipeline.</a:t>
            </a:r>
            <a:endParaRPr sz="1800" dirty="0"/>
          </a:p>
          <a:p>
            <a:pPr marL="7620">
              <a:lnSpc>
                <a:spcPct val="100000"/>
              </a:lnSpc>
              <a:spcBef>
                <a:spcPts val="935"/>
              </a:spcBef>
            </a:pPr>
            <a:endParaRPr sz="1800" dirty="0"/>
          </a:p>
          <a:p>
            <a:pPr marL="306705" marR="5080" indent="-287020">
              <a:lnSpc>
                <a:spcPts val="2160"/>
              </a:lnSpc>
              <a:buChar char="•"/>
              <a:tabLst>
                <a:tab pos="307340" algn="l"/>
              </a:tabLst>
            </a:pPr>
            <a:r>
              <a:rPr dirty="0"/>
              <a:t>At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end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eighth</a:t>
            </a:r>
            <a:r>
              <a:rPr spc="-20" dirty="0"/>
              <a:t> </a:t>
            </a:r>
            <a:r>
              <a:rPr dirty="0"/>
              <a:t>cycle,</a:t>
            </a:r>
            <a:r>
              <a:rPr spc="-3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first</a:t>
            </a:r>
            <a:r>
              <a:rPr spc="-35" dirty="0"/>
              <a:t> </a:t>
            </a:r>
            <a:r>
              <a:rPr dirty="0"/>
              <a:t>four</a:t>
            </a:r>
            <a:r>
              <a:rPr spc="-35" dirty="0"/>
              <a:t> </a:t>
            </a:r>
            <a:r>
              <a:rPr dirty="0"/>
              <a:t>products</a:t>
            </a:r>
            <a:r>
              <a:rPr spc="-50" dirty="0"/>
              <a:t> </a:t>
            </a:r>
            <a:r>
              <a:rPr dirty="0"/>
              <a:t>A1</a:t>
            </a:r>
            <a:r>
              <a:rPr spc="-15" dirty="0"/>
              <a:t> </a:t>
            </a:r>
            <a:r>
              <a:rPr dirty="0"/>
              <a:t>B1</a:t>
            </a:r>
            <a:r>
              <a:rPr spc="-15" dirty="0"/>
              <a:t> </a:t>
            </a:r>
            <a:r>
              <a:rPr dirty="0"/>
              <a:t>through</a:t>
            </a:r>
            <a:r>
              <a:rPr spc="-35" dirty="0"/>
              <a:t> </a:t>
            </a:r>
            <a:r>
              <a:rPr spc="-20" dirty="0"/>
              <a:t>A4B4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four</a:t>
            </a:r>
            <a:r>
              <a:rPr spc="-30" dirty="0"/>
              <a:t> </a:t>
            </a:r>
            <a:r>
              <a:rPr dirty="0"/>
              <a:t>adder</a:t>
            </a:r>
            <a:r>
              <a:rPr spc="-25" dirty="0"/>
              <a:t> </a:t>
            </a:r>
            <a:r>
              <a:rPr dirty="0"/>
              <a:t>segments,</a:t>
            </a:r>
            <a:r>
              <a:rPr spc="-6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next</a:t>
            </a:r>
            <a:r>
              <a:rPr spc="-15" dirty="0"/>
              <a:t> </a:t>
            </a:r>
            <a:r>
              <a:rPr dirty="0"/>
              <a:t>four</a:t>
            </a:r>
            <a:r>
              <a:rPr spc="-25" dirty="0"/>
              <a:t> </a:t>
            </a:r>
            <a:r>
              <a:rPr dirty="0"/>
              <a:t>products,</a:t>
            </a:r>
            <a:r>
              <a:rPr spc="-55" dirty="0"/>
              <a:t> </a:t>
            </a:r>
            <a:r>
              <a:rPr dirty="0"/>
              <a:t>A5</a:t>
            </a:r>
            <a:r>
              <a:rPr spc="-10" dirty="0"/>
              <a:t> </a:t>
            </a:r>
            <a:r>
              <a:rPr spc="-25" dirty="0"/>
              <a:t>B5 </a:t>
            </a:r>
            <a:r>
              <a:rPr dirty="0"/>
              <a:t>through</a:t>
            </a:r>
            <a:r>
              <a:rPr spc="-60" dirty="0"/>
              <a:t> </a:t>
            </a:r>
            <a:r>
              <a:rPr dirty="0"/>
              <a:t>A8</a:t>
            </a:r>
            <a:r>
              <a:rPr spc="-20" dirty="0"/>
              <a:t> </a:t>
            </a:r>
            <a:r>
              <a:rPr dirty="0"/>
              <a:t>B8,</a:t>
            </a:r>
            <a:r>
              <a:rPr spc="-30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multiplier</a:t>
            </a:r>
            <a:r>
              <a:rPr spc="-25" dirty="0"/>
              <a:t> </a:t>
            </a:r>
            <a:r>
              <a:rPr spc="-10" dirty="0"/>
              <a:t>segments.</a:t>
            </a:r>
          </a:p>
          <a:p>
            <a:pPr marL="7620">
              <a:lnSpc>
                <a:spcPct val="100000"/>
              </a:lnSpc>
              <a:spcBef>
                <a:spcPts val="700"/>
              </a:spcBef>
              <a:buFont typeface="Arial MT"/>
              <a:buChar char="•"/>
            </a:pPr>
            <a:endParaRPr spc="-10" dirty="0"/>
          </a:p>
          <a:p>
            <a:pPr marL="306705" marR="146685" indent="-287020">
              <a:lnSpc>
                <a:spcPts val="2160"/>
              </a:lnSpc>
              <a:spcBef>
                <a:spcPts val="5"/>
              </a:spcBef>
              <a:buChar char="•"/>
              <a:tabLst>
                <a:tab pos="307340" algn="l"/>
              </a:tabLst>
            </a:pPr>
            <a:r>
              <a:rPr dirty="0"/>
              <a:t>At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beginning</a:t>
            </a:r>
            <a:r>
              <a:rPr spc="-2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ninth</a:t>
            </a:r>
            <a:r>
              <a:rPr spc="-15" dirty="0"/>
              <a:t> </a:t>
            </a:r>
            <a:r>
              <a:rPr dirty="0"/>
              <a:t>cycle,</a:t>
            </a:r>
            <a:r>
              <a:rPr spc="-3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output</a:t>
            </a:r>
            <a:r>
              <a:rPr spc="-4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adder</a:t>
            </a:r>
            <a:r>
              <a:rPr spc="-4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A1</a:t>
            </a:r>
            <a:r>
              <a:rPr spc="-15" dirty="0"/>
              <a:t> </a:t>
            </a:r>
            <a:r>
              <a:rPr dirty="0"/>
              <a:t>B1</a:t>
            </a:r>
            <a:r>
              <a:rPr spc="-20" dirty="0"/>
              <a:t> </a:t>
            </a:r>
            <a:r>
              <a:rPr spc="-25" dirty="0"/>
              <a:t>and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output</a:t>
            </a:r>
            <a:r>
              <a:rPr spc="-4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multiplier</a:t>
            </a:r>
            <a:r>
              <a:rPr spc="-2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A5</a:t>
            </a:r>
            <a:r>
              <a:rPr spc="-20" dirty="0"/>
              <a:t> </a:t>
            </a:r>
            <a:r>
              <a:rPr dirty="0"/>
              <a:t>B5.</a:t>
            </a:r>
            <a:r>
              <a:rPr spc="-30" dirty="0"/>
              <a:t> </a:t>
            </a:r>
            <a:r>
              <a:rPr dirty="0"/>
              <a:t>Thus</a:t>
            </a:r>
            <a:r>
              <a:rPr spc="-2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ninth</a:t>
            </a:r>
            <a:r>
              <a:rPr spc="-35" dirty="0"/>
              <a:t> </a:t>
            </a:r>
            <a:r>
              <a:rPr dirty="0"/>
              <a:t>cycle</a:t>
            </a:r>
            <a:r>
              <a:rPr spc="-25" dirty="0"/>
              <a:t> </a:t>
            </a:r>
            <a:r>
              <a:rPr dirty="0"/>
              <a:t>starts</a:t>
            </a:r>
            <a:r>
              <a:rPr spc="-50" dirty="0"/>
              <a:t> </a:t>
            </a:r>
            <a:r>
              <a:rPr spc="-25" dirty="0"/>
              <a:t>the </a:t>
            </a:r>
            <a:r>
              <a:rPr dirty="0"/>
              <a:t>addition</a:t>
            </a:r>
            <a:r>
              <a:rPr spc="-35" dirty="0"/>
              <a:t> </a:t>
            </a:r>
            <a:r>
              <a:rPr dirty="0"/>
              <a:t>A1</a:t>
            </a:r>
            <a:r>
              <a:rPr spc="-25" dirty="0"/>
              <a:t> </a:t>
            </a:r>
            <a:r>
              <a:rPr dirty="0"/>
              <a:t>B1</a:t>
            </a:r>
            <a:r>
              <a:rPr spc="-25" dirty="0"/>
              <a:t> </a:t>
            </a:r>
            <a:r>
              <a:rPr dirty="0"/>
              <a:t>+</a:t>
            </a:r>
            <a:r>
              <a:rPr spc="-30" dirty="0"/>
              <a:t> </a:t>
            </a:r>
            <a:r>
              <a:rPr dirty="0"/>
              <a:t>A5</a:t>
            </a:r>
            <a:r>
              <a:rPr spc="-20" dirty="0"/>
              <a:t> </a:t>
            </a:r>
            <a:r>
              <a:rPr dirty="0"/>
              <a:t>B5.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adder</a:t>
            </a:r>
            <a:r>
              <a:rPr spc="-40" dirty="0"/>
              <a:t> </a:t>
            </a:r>
            <a:r>
              <a:rPr dirty="0"/>
              <a:t>pipeline.</a:t>
            </a:r>
            <a:r>
              <a:rPr spc="-4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tenth</a:t>
            </a:r>
            <a:r>
              <a:rPr spc="-45" dirty="0"/>
              <a:t> </a:t>
            </a:r>
            <a:r>
              <a:rPr dirty="0"/>
              <a:t>cycle</a:t>
            </a:r>
            <a:r>
              <a:rPr spc="-30" dirty="0"/>
              <a:t> </a:t>
            </a:r>
            <a:r>
              <a:rPr dirty="0"/>
              <a:t>starts</a:t>
            </a:r>
            <a:r>
              <a:rPr spc="-45" dirty="0"/>
              <a:t> </a:t>
            </a:r>
            <a:r>
              <a:rPr spc="-25" dirty="0"/>
              <a:t>the </a:t>
            </a:r>
            <a:r>
              <a:rPr dirty="0"/>
              <a:t>addition</a:t>
            </a:r>
            <a:r>
              <a:rPr spc="-25" dirty="0"/>
              <a:t> </a:t>
            </a:r>
            <a:r>
              <a:rPr dirty="0"/>
              <a:t>A2</a:t>
            </a:r>
            <a:r>
              <a:rPr spc="-15" dirty="0"/>
              <a:t> </a:t>
            </a:r>
            <a:r>
              <a:rPr dirty="0"/>
              <a:t>B2</a:t>
            </a:r>
            <a:r>
              <a:rPr spc="-15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dirty="0"/>
              <a:t>A6</a:t>
            </a:r>
            <a:r>
              <a:rPr spc="-20" dirty="0"/>
              <a:t> </a:t>
            </a:r>
            <a:r>
              <a:rPr dirty="0"/>
              <a:t>B6,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so</a:t>
            </a:r>
            <a:r>
              <a:rPr spc="-20" dirty="0"/>
              <a:t> </a:t>
            </a:r>
            <a:r>
              <a:rPr spc="-25" dirty="0"/>
              <a:t>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6438" y="265229"/>
            <a:ext cx="7543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204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PIPELINE</a:t>
            </a:r>
            <a:r>
              <a:rPr sz="3600" spc="-45" dirty="0"/>
              <a:t> </a:t>
            </a:r>
            <a:r>
              <a:rPr sz="3600" dirty="0"/>
              <a:t>FOR</a:t>
            </a:r>
            <a:r>
              <a:rPr sz="3600" spc="-35" dirty="0"/>
              <a:t> </a:t>
            </a:r>
            <a:r>
              <a:rPr sz="3600" dirty="0"/>
              <a:t>AN</a:t>
            </a:r>
            <a:r>
              <a:rPr sz="3600" spc="-25" dirty="0"/>
              <a:t> </a:t>
            </a:r>
            <a:r>
              <a:rPr sz="3600" dirty="0"/>
              <a:t>INNER</a:t>
            </a:r>
            <a:r>
              <a:rPr sz="3600" spc="-25" dirty="0"/>
              <a:t> </a:t>
            </a:r>
            <a:r>
              <a:rPr sz="3600" spc="-10" dirty="0"/>
              <a:t>PRODUCT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32943" y="947674"/>
            <a:ext cx="814133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pattern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breaks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down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summation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four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sections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follows: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943" y="4225290"/>
            <a:ext cx="8272780" cy="20840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95910" marR="5080" indent="-283845" algn="just">
              <a:lnSpc>
                <a:spcPts val="2160"/>
              </a:lnSpc>
              <a:spcBef>
                <a:spcPts val="375"/>
              </a:spcBef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terms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added,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inserts 	</a:t>
            </a:r>
            <a:r>
              <a:rPr sz="2000" dirty="0">
                <a:latin typeface="Arial MT"/>
                <a:cs typeface="Arial MT"/>
              </a:rPr>
              <a:t>four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zeros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multiplier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pipeline.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295910" marR="71120" indent="-283845" algn="just">
              <a:lnSpc>
                <a:spcPct val="9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adder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have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product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four 	</a:t>
            </a:r>
            <a:r>
              <a:rPr sz="2000" dirty="0">
                <a:latin typeface="Arial MT"/>
                <a:cs typeface="Arial MT"/>
              </a:rPr>
              <a:t>segments,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corresponding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four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sums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listed 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four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rows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above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equation.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four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partial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sums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added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final 	</a:t>
            </a:r>
            <a:r>
              <a:rPr sz="2000" dirty="0">
                <a:latin typeface="Arial MT"/>
                <a:cs typeface="Arial MT"/>
              </a:rPr>
              <a:t>sum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through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separate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adders.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7908" y="1565147"/>
            <a:ext cx="7054848" cy="24322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04788"/>
            <a:ext cx="7543800" cy="504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7355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VECTOR</a:t>
            </a:r>
            <a:r>
              <a:rPr sz="3200" spc="-80" dirty="0"/>
              <a:t> </a:t>
            </a:r>
            <a:r>
              <a:rPr sz="3200" dirty="0"/>
              <a:t>VERSUS</a:t>
            </a:r>
            <a:r>
              <a:rPr sz="3200" spc="-70" dirty="0"/>
              <a:t> </a:t>
            </a:r>
            <a:r>
              <a:rPr sz="3200" dirty="0"/>
              <a:t>SCALAR</a:t>
            </a:r>
            <a:r>
              <a:rPr sz="3200" spc="-70" dirty="0"/>
              <a:t> </a:t>
            </a:r>
            <a:r>
              <a:rPr sz="3200" spc="-10" dirty="0"/>
              <a:t>ARCHITECTURES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941578"/>
            <a:ext cx="8529955" cy="54864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7180" marR="5080" indent="-285115" algn="just">
              <a:lnSpc>
                <a:spcPct val="90100"/>
              </a:lnSpc>
              <a:spcBef>
                <a:spcPts val="38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Vector</a:t>
            </a:r>
            <a:r>
              <a:rPr sz="2400" spc="49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instructions</a:t>
            </a:r>
            <a:r>
              <a:rPr sz="2400" spc="484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484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several</a:t>
            </a:r>
            <a:r>
              <a:rPr sz="2400" spc="484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490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properties 	</a:t>
            </a:r>
            <a:r>
              <a:rPr sz="2400" dirty="0">
                <a:latin typeface="Arial MT"/>
                <a:cs typeface="Arial MT"/>
              </a:rPr>
              <a:t>compared</a:t>
            </a:r>
            <a:r>
              <a:rPr sz="2400" spc="28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28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conventional</a:t>
            </a:r>
            <a:r>
              <a:rPr sz="2400" spc="290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instruction</a:t>
            </a:r>
            <a:r>
              <a:rPr sz="2400" spc="295" dirty="0">
                <a:latin typeface="Arial MT"/>
                <a:cs typeface="Arial MT"/>
              </a:rPr>
              <a:t> 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285" dirty="0">
                <a:latin typeface="Arial MT"/>
                <a:cs typeface="Arial MT"/>
              </a:rPr>
              <a:t>  </a:t>
            </a:r>
            <a:r>
              <a:rPr sz="2400" spc="-10" dirty="0">
                <a:latin typeface="Arial MT"/>
                <a:cs typeface="Arial MT"/>
              </a:rPr>
              <a:t>architectures, 	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scalar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architectures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context:</a:t>
            </a:r>
            <a:endParaRPr sz="2400" dirty="0">
              <a:latin typeface="Arial MT"/>
              <a:cs typeface="Arial MT"/>
            </a:endParaRPr>
          </a:p>
          <a:p>
            <a:pPr marL="695960" marR="938530" lvl="1" indent="-226695">
              <a:lnSpc>
                <a:spcPts val="2160"/>
              </a:lnSpc>
              <a:spcBef>
                <a:spcPts val="1835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single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vector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specifies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great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deal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work—it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is 	</a:t>
            </a:r>
            <a:r>
              <a:rPr sz="2000" dirty="0">
                <a:latin typeface="Arial MT"/>
                <a:cs typeface="Arial MT"/>
              </a:rPr>
              <a:t>equivalent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entire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loop.</a:t>
            </a:r>
            <a:endParaRPr sz="2000" dirty="0">
              <a:latin typeface="Arial MT"/>
              <a:cs typeface="Arial MT"/>
            </a:endParaRPr>
          </a:p>
          <a:p>
            <a:pPr marL="695960" marR="315595" lvl="1" indent="-226695">
              <a:lnSpc>
                <a:spcPts val="2160"/>
              </a:lnSpc>
              <a:spcBef>
                <a:spcPts val="180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fetch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decode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bandwidth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dramatically 	reduced.</a:t>
            </a:r>
            <a:endParaRPr sz="2000" dirty="0">
              <a:latin typeface="Arial MT"/>
              <a:cs typeface="Arial MT"/>
            </a:endParaRPr>
          </a:p>
          <a:p>
            <a:pPr marL="696595" lvl="1" indent="-226695">
              <a:lnSpc>
                <a:spcPts val="2280"/>
              </a:lnSpc>
              <a:spcBef>
                <a:spcPts val="1530"/>
              </a:spcBef>
              <a:buChar char="–"/>
              <a:tabLst>
                <a:tab pos="696595" algn="l"/>
              </a:tabLst>
            </a:pPr>
            <a:r>
              <a:rPr sz="2000" dirty="0">
                <a:latin typeface="Arial MT"/>
                <a:cs typeface="Arial MT"/>
              </a:rPr>
              <a:t>Hardware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only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check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hazards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between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vector</a:t>
            </a:r>
            <a:endParaRPr sz="2000" dirty="0">
              <a:latin typeface="Arial MT"/>
              <a:cs typeface="Arial MT"/>
            </a:endParaRPr>
          </a:p>
          <a:p>
            <a:pPr marL="697865">
              <a:lnSpc>
                <a:spcPts val="2280"/>
              </a:lnSpc>
            </a:pPr>
            <a:r>
              <a:rPr sz="2000" dirty="0">
                <a:latin typeface="Arial MT"/>
                <a:cs typeface="Arial MT"/>
              </a:rPr>
              <a:t>instructions.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Reduced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checking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save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power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well.</a:t>
            </a:r>
            <a:endParaRPr sz="2000" dirty="0">
              <a:latin typeface="Arial MT"/>
              <a:cs typeface="Arial MT"/>
            </a:endParaRPr>
          </a:p>
          <a:p>
            <a:pPr marL="695960" marR="586105" lvl="1" indent="-226695" algn="just">
              <a:lnSpc>
                <a:spcPts val="2160"/>
              </a:lnSpc>
              <a:spcBef>
                <a:spcPts val="1835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Because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entire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loop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replaced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vector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whose 	</a:t>
            </a:r>
            <a:r>
              <a:rPr sz="2000" dirty="0">
                <a:latin typeface="Arial MT"/>
                <a:cs typeface="Arial MT"/>
              </a:rPr>
              <a:t>behaviour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predetermined,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control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hazards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would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normally 	</a:t>
            </a:r>
            <a:r>
              <a:rPr sz="2000" dirty="0">
                <a:latin typeface="Arial MT"/>
                <a:cs typeface="Arial MT"/>
              </a:rPr>
              <a:t>arise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branch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nonexistent.</a:t>
            </a:r>
            <a:endParaRPr sz="2000" dirty="0">
              <a:latin typeface="Arial MT"/>
              <a:cs typeface="Arial MT"/>
            </a:endParaRPr>
          </a:p>
          <a:p>
            <a:pPr marL="695960" marR="18415" lvl="1" indent="-226695">
              <a:lnSpc>
                <a:spcPts val="2160"/>
              </a:lnSpc>
              <a:spcBef>
                <a:spcPts val="1800"/>
              </a:spcBef>
              <a:buChar char="–"/>
              <a:tabLst>
                <a:tab pos="697865" algn="l"/>
              </a:tabLst>
            </a:pP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savings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instruction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bandwidth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hazard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checking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give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vector 	</a:t>
            </a:r>
            <a:r>
              <a:rPr sz="2000" dirty="0">
                <a:latin typeface="Arial MT"/>
                <a:cs typeface="Arial MT"/>
              </a:rPr>
              <a:t>architectures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advantages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power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energy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versus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scalar 	architectures.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8186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15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9050"/>
            <a:ext cx="7543800" cy="566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302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ARITHMETIC</a:t>
            </a:r>
            <a:r>
              <a:rPr sz="3600" spc="-35" dirty="0"/>
              <a:t> </a:t>
            </a:r>
            <a:r>
              <a:rPr sz="3600" spc="-10" dirty="0"/>
              <a:t>PIPELINE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6717" y="842134"/>
            <a:ext cx="8330565" cy="536130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99085" marR="5080" indent="-287020">
              <a:lnSpc>
                <a:spcPct val="90000"/>
              </a:lnSpc>
              <a:spcBef>
                <a:spcPts val="38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numerical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applications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make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repeated </a:t>
            </a:r>
            <a:r>
              <a:rPr sz="2400" dirty="0">
                <a:latin typeface="Arial MT"/>
                <a:cs typeface="Arial MT"/>
              </a:rPr>
              <a:t>arithmetic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(loops)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elements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vectors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arrays.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Architectures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specialized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such </a:t>
            </a:r>
            <a:r>
              <a:rPr sz="2400" dirty="0">
                <a:latin typeface="Arial MT"/>
                <a:cs typeface="Arial MT"/>
              </a:rPr>
              <a:t>applications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accelerate </a:t>
            </a:r>
            <a:r>
              <a:rPr sz="2400" dirty="0">
                <a:latin typeface="Arial MT"/>
                <a:cs typeface="Arial MT"/>
              </a:rPr>
              <a:t>computation/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processing.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</a:t>
            </a:r>
            <a:endParaRPr sz="2400" dirty="0">
              <a:latin typeface="Arial MT"/>
              <a:cs typeface="Arial MT"/>
            </a:endParaRPr>
          </a:p>
          <a:p>
            <a:pPr marL="299085">
              <a:lnSpc>
                <a:spcPts val="2590"/>
              </a:lnSpc>
            </a:pP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arithmetic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pipelining.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2400" dirty="0">
              <a:latin typeface="Arial"/>
              <a:cs typeface="Arial"/>
            </a:endParaRPr>
          </a:p>
          <a:p>
            <a:pPr marL="299085" marR="139700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Arithmetic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method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arithmetic </a:t>
            </a:r>
            <a:r>
              <a:rPr sz="2400" dirty="0">
                <a:latin typeface="Arial MT"/>
                <a:cs typeface="Arial MT"/>
              </a:rPr>
              <a:t>computations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performing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parts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multiple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parallel.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2400" dirty="0">
              <a:latin typeface="Arial MT"/>
              <a:cs typeface="Arial MT"/>
            </a:endParaRPr>
          </a:p>
          <a:p>
            <a:pPr marL="299085" marR="614680" indent="-287020">
              <a:lnSpc>
                <a:spcPts val="259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Pipelined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arithmetic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implement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vector </a:t>
            </a:r>
            <a:r>
              <a:rPr sz="2400" dirty="0">
                <a:latin typeface="Arial MT"/>
                <a:cs typeface="Arial MT"/>
              </a:rPr>
              <a:t>processing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architectures</a:t>
            </a:r>
            <a:endParaRPr sz="2400" dirty="0">
              <a:latin typeface="Arial MT"/>
              <a:cs typeface="Arial MT"/>
            </a:endParaRPr>
          </a:p>
          <a:p>
            <a:pPr marL="697865" marR="187325" indent="-228600">
              <a:lnSpc>
                <a:spcPts val="2160"/>
              </a:lnSpc>
              <a:spcBef>
                <a:spcPts val="720"/>
              </a:spcBef>
            </a:pPr>
            <a:r>
              <a:rPr sz="2000" dirty="0">
                <a:latin typeface="Arial MT"/>
                <a:cs typeface="Arial MT"/>
              </a:rPr>
              <a:t>–</a:t>
            </a:r>
            <a:r>
              <a:rPr sz="2000" spc="114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implement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floating-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operations,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multiplication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fixed- </a:t>
            </a:r>
            <a:r>
              <a:rPr sz="2000" dirty="0">
                <a:latin typeface="Arial MT"/>
                <a:cs typeface="Arial MT"/>
              </a:rPr>
              <a:t>point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numbers,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similar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computations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encountered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scientific problems</a:t>
            </a:r>
            <a:endParaRPr sz="20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16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206375"/>
            <a:ext cx="7543800" cy="628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ARITHMETIC</a:t>
            </a:r>
            <a:r>
              <a:rPr sz="4000" spc="-20" dirty="0"/>
              <a:t> </a:t>
            </a:r>
            <a:r>
              <a:rPr sz="4000" dirty="0"/>
              <a:t>PIPELINING</a:t>
            </a:r>
            <a:r>
              <a:rPr sz="4000" spc="-45" dirty="0"/>
              <a:t> </a:t>
            </a:r>
            <a:r>
              <a:rPr sz="4000"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943" y="750050"/>
            <a:ext cx="7548245" cy="2202180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605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Consider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following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loop:</a:t>
            </a:r>
            <a:endParaRPr sz="2400">
              <a:latin typeface="Arial MT"/>
              <a:cs typeface="Arial MT"/>
            </a:endParaRPr>
          </a:p>
          <a:p>
            <a:pPr marR="484505" algn="ctr">
              <a:lnSpc>
                <a:spcPct val="100000"/>
              </a:lnSpc>
              <a:spcBef>
                <a:spcPts val="1515"/>
              </a:spcBef>
            </a:pP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for</a:t>
            </a:r>
            <a:r>
              <a:rPr sz="24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(i=1;</a:t>
            </a:r>
            <a:r>
              <a:rPr sz="24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i&lt;=1000;</a:t>
            </a:r>
            <a:r>
              <a:rPr sz="2400" spc="-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8011"/>
                </a:solidFill>
                <a:latin typeface="Arial MT"/>
                <a:cs typeface="Arial MT"/>
              </a:rPr>
              <a:t>i++)</a:t>
            </a:r>
            <a:endParaRPr sz="2400">
              <a:latin typeface="Arial MT"/>
              <a:cs typeface="Arial MT"/>
            </a:endParaRPr>
          </a:p>
          <a:p>
            <a:pPr marR="512445" algn="ctr">
              <a:lnSpc>
                <a:spcPct val="100000"/>
              </a:lnSpc>
              <a:spcBef>
                <a:spcPts val="365"/>
              </a:spcBef>
            </a:pP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X[i]</a:t>
            </a:r>
            <a:r>
              <a:rPr sz="2000" spc="-1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=</a:t>
            </a:r>
            <a:r>
              <a:rPr sz="2000" spc="-3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(A[i]</a:t>
            </a:r>
            <a:r>
              <a:rPr sz="20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+</a:t>
            </a:r>
            <a:r>
              <a:rPr sz="20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B[i])</a:t>
            </a:r>
            <a:r>
              <a:rPr sz="2000" spc="-3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*</a:t>
            </a:r>
            <a:r>
              <a:rPr sz="2000" spc="-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8011"/>
                </a:solidFill>
                <a:latin typeface="Arial MT"/>
                <a:cs typeface="Arial MT"/>
              </a:rPr>
              <a:t>C[i];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0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3-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arithmetic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operation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1251" y="5185449"/>
            <a:ext cx="8267065" cy="119253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78765" indent="-266065">
              <a:lnSpc>
                <a:spcPct val="100000"/>
              </a:lnSpc>
              <a:spcBef>
                <a:spcPts val="509"/>
              </a:spcBef>
              <a:buChar char="–"/>
              <a:tabLst>
                <a:tab pos="278765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first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segment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loads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A[i],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B[i]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C[i]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into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registers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R1,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R2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R3,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respectively.</a:t>
            </a:r>
            <a:endParaRPr sz="1700">
              <a:latin typeface="Arial MT"/>
              <a:cs typeface="Arial MT"/>
            </a:endParaRPr>
          </a:p>
          <a:p>
            <a:pPr marL="279400" marR="226060" indent="-266700">
              <a:lnSpc>
                <a:spcPts val="1839"/>
              </a:lnSpc>
              <a:spcBef>
                <a:spcPts val="640"/>
              </a:spcBef>
              <a:buChar char="–"/>
              <a:tabLst>
                <a:tab pos="279400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second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segment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adds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A[i]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B[i]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stores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result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R4.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also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passes </a:t>
            </a:r>
            <a:r>
              <a:rPr sz="1700" dirty="0">
                <a:latin typeface="Arial MT"/>
                <a:cs typeface="Arial MT"/>
              </a:rPr>
              <a:t>C[i]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R3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R5.</a:t>
            </a:r>
            <a:endParaRPr sz="1700">
              <a:latin typeface="Arial MT"/>
              <a:cs typeface="Arial MT"/>
            </a:endParaRPr>
          </a:p>
          <a:p>
            <a:pPr marL="278765" indent="-266065">
              <a:lnSpc>
                <a:spcPct val="100000"/>
              </a:lnSpc>
              <a:spcBef>
                <a:spcPts val="375"/>
              </a:spcBef>
              <a:buChar char="–"/>
              <a:tabLst>
                <a:tab pos="278765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third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segment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multiplies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R4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R5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stores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them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R6.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289746" y="3109531"/>
            <a:ext cx="3883660" cy="1949450"/>
            <a:chOff x="2289746" y="3109531"/>
            <a:chExt cx="3883660" cy="194945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7762" y="4072073"/>
              <a:ext cx="131492" cy="1219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11907" y="3131820"/>
              <a:ext cx="3838955" cy="19049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300858" y="3120644"/>
              <a:ext cx="3861435" cy="1927225"/>
            </a:xfrm>
            <a:custGeom>
              <a:avLst/>
              <a:gdLst/>
              <a:ahLst/>
              <a:cxnLst/>
              <a:rect l="l" t="t" r="r" b="b"/>
              <a:pathLst>
                <a:path w="3861435" h="1927225">
                  <a:moveTo>
                    <a:pt x="0" y="1927224"/>
                  </a:moveTo>
                  <a:lnTo>
                    <a:pt x="3861180" y="1927224"/>
                  </a:lnTo>
                  <a:lnTo>
                    <a:pt x="3861180" y="0"/>
                  </a:lnTo>
                  <a:lnTo>
                    <a:pt x="0" y="0"/>
                  </a:lnTo>
                  <a:lnTo>
                    <a:pt x="0" y="1927224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20" dirty="0"/>
              <a:t> </a:t>
            </a:r>
            <a:r>
              <a:rPr dirty="0"/>
              <a:t>PIPELINING</a:t>
            </a:r>
            <a:r>
              <a:rPr spc="-45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8775" y="911923"/>
            <a:ext cx="8200390" cy="1951355"/>
            <a:chOff x="358775" y="911923"/>
            <a:chExt cx="8200390" cy="19513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6591" y="934212"/>
              <a:ext cx="3822191" cy="17830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6946" y="1874465"/>
              <a:ext cx="124015" cy="1219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934212"/>
              <a:ext cx="3840479" cy="19065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9887" y="923036"/>
              <a:ext cx="3862704" cy="1929130"/>
            </a:xfrm>
            <a:custGeom>
              <a:avLst/>
              <a:gdLst/>
              <a:ahLst/>
              <a:cxnLst/>
              <a:rect l="l" t="t" r="r" b="b"/>
              <a:pathLst>
                <a:path w="3862704" h="1929130">
                  <a:moveTo>
                    <a:pt x="0" y="1928749"/>
                  </a:moveTo>
                  <a:lnTo>
                    <a:pt x="3862704" y="1928749"/>
                  </a:lnTo>
                  <a:lnTo>
                    <a:pt x="3862704" y="0"/>
                  </a:lnTo>
                  <a:lnTo>
                    <a:pt x="0" y="0"/>
                  </a:lnTo>
                  <a:lnTo>
                    <a:pt x="0" y="1928749"/>
                  </a:lnTo>
                  <a:close/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2575305" y="4487227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>
                <a:moveTo>
                  <a:pt x="0" y="0"/>
                </a:moveTo>
                <a:lnTo>
                  <a:pt x="342900" y="0"/>
                </a:lnTo>
              </a:path>
            </a:pathLst>
          </a:custGeom>
          <a:ln w="12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575305" y="4924361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>
                <a:moveTo>
                  <a:pt x="0" y="0"/>
                </a:moveTo>
                <a:lnTo>
                  <a:pt x="342900" y="0"/>
                </a:lnTo>
              </a:path>
            </a:pathLst>
          </a:custGeom>
          <a:ln w="12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218688" y="4924361"/>
            <a:ext cx="342900" cy="0"/>
          </a:xfrm>
          <a:custGeom>
            <a:avLst/>
            <a:gdLst/>
            <a:ahLst/>
            <a:cxnLst/>
            <a:rect l="l" t="t" r="r" b="b"/>
            <a:pathLst>
              <a:path w="342900">
                <a:moveTo>
                  <a:pt x="0" y="0"/>
                </a:moveTo>
                <a:lnTo>
                  <a:pt x="342900" y="0"/>
                </a:lnTo>
              </a:path>
            </a:pathLst>
          </a:custGeom>
          <a:ln w="125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18133" y="3359658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D3"/>
                </a:solidFill>
                <a:latin typeface="Arial MT"/>
                <a:cs typeface="Arial MT"/>
              </a:rPr>
              <a:t>Clock</a:t>
            </a:r>
            <a:r>
              <a:rPr sz="1800" spc="-30" dirty="0">
                <a:solidFill>
                  <a:srgbClr val="0000D3"/>
                </a:solidFill>
                <a:latin typeface="Arial MT"/>
                <a:cs typeface="Arial MT"/>
              </a:rPr>
              <a:t> </a:t>
            </a:r>
            <a:r>
              <a:rPr sz="1800" spc="-60" dirty="0">
                <a:solidFill>
                  <a:srgbClr val="0000D3"/>
                </a:solidFill>
                <a:latin typeface="Arial MT"/>
                <a:cs typeface="Arial MT"/>
              </a:rPr>
              <a:t>c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775079" y="3309492"/>
          <a:ext cx="4502782" cy="174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3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3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32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32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spc="-10" dirty="0">
                          <a:solidFill>
                            <a:srgbClr val="0000D3"/>
                          </a:solidFill>
                          <a:latin typeface="Arial MT"/>
                          <a:cs typeface="Arial MT"/>
                        </a:rPr>
                        <a:t>ycles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D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8011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80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39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80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i=4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6026658" y="2743022"/>
            <a:ext cx="9772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flow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2943" y="5105857"/>
            <a:ext cx="8389620" cy="1338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747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Space-</a:t>
            </a:r>
            <a:r>
              <a:rPr sz="1800" dirty="0">
                <a:latin typeface="Arial MT"/>
                <a:cs typeface="Arial MT"/>
              </a:rPr>
              <a:t>time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diagram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800">
              <a:latin typeface="Arial MT"/>
              <a:cs typeface="Arial MT"/>
            </a:endParaRPr>
          </a:p>
          <a:p>
            <a:pPr marL="299085" marR="5080" indent="-287020" algn="just">
              <a:lnSpc>
                <a:spcPct val="90000"/>
              </a:lnSpc>
              <a:buChar char="•"/>
              <a:tabLst>
                <a:tab pos="299085" algn="l"/>
              </a:tabLst>
            </a:pPr>
            <a:r>
              <a:rPr sz="1750" dirty="0">
                <a:latin typeface="Arial MT"/>
                <a:cs typeface="Arial MT"/>
              </a:rPr>
              <a:t>Note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that</a:t>
            </a:r>
            <a:r>
              <a:rPr sz="1750" spc="-6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pipelining</a:t>
            </a:r>
            <a:r>
              <a:rPr sz="1750" spc="-2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doesn’t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speed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up</a:t>
            </a:r>
            <a:r>
              <a:rPr sz="1750" spc="-5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individual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computation.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However,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since</a:t>
            </a:r>
            <a:r>
              <a:rPr sz="1750" spc="-55" dirty="0">
                <a:latin typeface="Arial MT"/>
                <a:cs typeface="Arial MT"/>
              </a:rPr>
              <a:t> </a:t>
            </a:r>
            <a:r>
              <a:rPr sz="1750" spc="-25" dirty="0">
                <a:latin typeface="Arial MT"/>
                <a:cs typeface="Arial MT"/>
              </a:rPr>
              <a:t>new </a:t>
            </a:r>
            <a:r>
              <a:rPr sz="1750" dirty="0">
                <a:latin typeface="Arial MT"/>
                <a:cs typeface="Arial MT"/>
              </a:rPr>
              <a:t>data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is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fed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into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</a:t>
            </a:r>
            <a:r>
              <a:rPr sz="1750" spc="-5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pipeline</a:t>
            </a:r>
            <a:r>
              <a:rPr sz="1750" spc="-1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every</a:t>
            </a:r>
            <a:r>
              <a:rPr sz="1750" spc="-3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clock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cycle;</a:t>
            </a:r>
            <a:r>
              <a:rPr sz="1750" spc="-1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therefore,</a:t>
            </a:r>
            <a:r>
              <a:rPr sz="1750" spc="-4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a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result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is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produced</a:t>
            </a:r>
            <a:r>
              <a:rPr sz="1750" spc="-30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every </a:t>
            </a:r>
            <a:r>
              <a:rPr sz="1750" dirty="0">
                <a:latin typeface="Arial MT"/>
                <a:cs typeface="Arial MT"/>
              </a:rPr>
              <a:t>cycle</a:t>
            </a:r>
            <a:r>
              <a:rPr sz="1750" spc="-1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(once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pipe</a:t>
            </a:r>
            <a:r>
              <a:rPr sz="1750" spc="-2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is</a:t>
            </a:r>
            <a:r>
              <a:rPr sz="1750" spc="-4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full).</a:t>
            </a:r>
            <a:r>
              <a:rPr sz="1750" spc="-3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This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speeds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up</a:t>
            </a:r>
            <a:r>
              <a:rPr sz="1750" spc="-3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computation</a:t>
            </a:r>
            <a:r>
              <a:rPr sz="1750" spc="-2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of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the</a:t>
            </a:r>
            <a:r>
              <a:rPr sz="1750" spc="-30" dirty="0">
                <a:latin typeface="Arial MT"/>
                <a:cs typeface="Arial MT"/>
              </a:rPr>
              <a:t> </a:t>
            </a:r>
            <a:r>
              <a:rPr sz="1750" dirty="0">
                <a:latin typeface="Arial MT"/>
                <a:cs typeface="Arial MT"/>
              </a:rPr>
              <a:t>entire</a:t>
            </a:r>
            <a:r>
              <a:rPr sz="1750" spc="-35" dirty="0">
                <a:latin typeface="Arial MT"/>
                <a:cs typeface="Arial MT"/>
              </a:rPr>
              <a:t> </a:t>
            </a:r>
            <a:r>
              <a:rPr sz="1750" spc="-10" dirty="0">
                <a:latin typeface="Arial MT"/>
                <a:cs typeface="Arial MT"/>
              </a:rPr>
              <a:t>task.</a:t>
            </a:r>
            <a:endParaRPr sz="17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93686" y="3919139"/>
            <a:ext cx="281305" cy="105283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spc="-10" dirty="0">
                <a:solidFill>
                  <a:srgbClr val="008011"/>
                </a:solidFill>
                <a:latin typeface="Arial MT"/>
                <a:cs typeface="Arial MT"/>
              </a:rPr>
              <a:t>Segments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457700" y="1511807"/>
            <a:ext cx="4369435" cy="1257300"/>
          </a:xfrm>
          <a:custGeom>
            <a:avLst/>
            <a:gdLst/>
            <a:ahLst/>
            <a:cxnLst/>
            <a:rect l="l" t="t" r="r" b="b"/>
            <a:pathLst>
              <a:path w="4369434" h="1257300">
                <a:moveTo>
                  <a:pt x="4369308" y="633984"/>
                </a:moveTo>
                <a:lnTo>
                  <a:pt x="4305300" y="633984"/>
                </a:lnTo>
                <a:lnTo>
                  <a:pt x="4305300" y="0"/>
                </a:lnTo>
                <a:lnTo>
                  <a:pt x="88392" y="0"/>
                </a:lnTo>
                <a:lnTo>
                  <a:pt x="88392" y="304800"/>
                </a:lnTo>
                <a:lnTo>
                  <a:pt x="0" y="304800"/>
                </a:lnTo>
                <a:lnTo>
                  <a:pt x="0" y="1091184"/>
                </a:lnTo>
                <a:lnTo>
                  <a:pt x="88392" y="1091184"/>
                </a:lnTo>
                <a:lnTo>
                  <a:pt x="88392" y="1257300"/>
                </a:lnTo>
                <a:lnTo>
                  <a:pt x="4305300" y="1257300"/>
                </a:lnTo>
                <a:lnTo>
                  <a:pt x="4305300" y="1231392"/>
                </a:lnTo>
                <a:lnTo>
                  <a:pt x="4369308" y="1231392"/>
                </a:lnTo>
                <a:lnTo>
                  <a:pt x="4369308" y="1117092"/>
                </a:lnTo>
                <a:lnTo>
                  <a:pt x="4369308" y="888492"/>
                </a:lnTo>
                <a:lnTo>
                  <a:pt x="4369308" y="6339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648445" y="6607378"/>
            <a:ext cx="1250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z="1400" b="1" spc="-50" dirty="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2943" y="265557"/>
            <a:ext cx="8377555" cy="3247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6040"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ARITHMETIC</a:t>
            </a:r>
            <a:r>
              <a:rPr sz="2400" b="1" spc="-20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8011"/>
                </a:solidFill>
                <a:latin typeface="Arial"/>
                <a:cs typeface="Arial"/>
              </a:rPr>
              <a:t>PIPELINE</a:t>
            </a:r>
            <a:r>
              <a:rPr sz="2400" b="1" spc="-35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008011"/>
                </a:solidFill>
                <a:latin typeface="Arial"/>
                <a:cs typeface="Arial"/>
              </a:rPr>
              <a:t>SPEEDUP</a:t>
            </a:r>
            <a:endParaRPr sz="2400">
              <a:latin typeface="Arial"/>
              <a:cs typeface="Arial"/>
            </a:endParaRPr>
          </a:p>
          <a:p>
            <a:pPr marL="299085" marR="5080" indent="-287020">
              <a:lnSpc>
                <a:spcPct val="90000"/>
              </a:lnSpc>
              <a:spcBef>
                <a:spcPts val="2730"/>
              </a:spcBef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Speedup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measure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performance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pipeline.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is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ratio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pieces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un-</a:t>
            </a:r>
            <a:r>
              <a:rPr sz="2400" dirty="0">
                <a:latin typeface="Arial MT"/>
                <a:cs typeface="Arial MT"/>
              </a:rPr>
              <a:t>pipelined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pipelined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299085" marR="507365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reduction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rather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un- </a:t>
            </a:r>
            <a:r>
              <a:rPr sz="2400" dirty="0">
                <a:latin typeface="Arial MT"/>
                <a:cs typeface="Arial MT"/>
              </a:rPr>
              <a:t>pipelined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unit: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743" y="4761738"/>
            <a:ext cx="7797800" cy="16573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64160" marR="30480" indent="-226695">
              <a:lnSpc>
                <a:spcPts val="2160"/>
              </a:lnSpc>
              <a:spcBef>
                <a:spcPts val="375"/>
              </a:spcBef>
              <a:buFont typeface="Arial MT"/>
              <a:buChar char="–"/>
              <a:tabLst>
                <a:tab pos="266065" algn="l"/>
              </a:tabLst>
            </a:pPr>
            <a:r>
              <a:rPr sz="2000" b="1" dirty="0">
                <a:latin typeface="Arial"/>
                <a:cs typeface="Arial"/>
              </a:rPr>
              <a:t>t</a:t>
            </a:r>
            <a:r>
              <a:rPr sz="1950" b="1" baseline="-21367" dirty="0">
                <a:latin typeface="Arial"/>
                <a:cs typeface="Arial"/>
              </a:rPr>
              <a:t>n</a:t>
            </a:r>
            <a:r>
              <a:rPr sz="1950" b="1" spc="247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sequential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(un-</a:t>
            </a:r>
            <a:r>
              <a:rPr sz="2000" spc="-10" dirty="0">
                <a:latin typeface="Arial MT"/>
                <a:cs typeface="Arial MT"/>
              </a:rPr>
              <a:t>pipelined)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processing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time.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equal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	</a:t>
            </a:r>
            <a:r>
              <a:rPr sz="2000" dirty="0">
                <a:latin typeface="Arial MT"/>
                <a:cs typeface="Arial MT"/>
              </a:rPr>
              <a:t>sum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carry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out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operation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plus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time 	</a:t>
            </a:r>
            <a:r>
              <a:rPr sz="2000" dirty="0">
                <a:latin typeface="Arial MT"/>
                <a:cs typeface="Arial MT"/>
              </a:rPr>
              <a:t>needed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latch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final</a:t>
            </a:r>
            <a:r>
              <a:rPr sz="2000" spc="-10" dirty="0">
                <a:latin typeface="Arial MT"/>
                <a:cs typeface="Arial MT"/>
              </a:rPr>
              <a:t> result.</a:t>
            </a:r>
            <a:endParaRPr sz="2000">
              <a:latin typeface="Arial MT"/>
              <a:cs typeface="Arial MT"/>
            </a:endParaRPr>
          </a:p>
          <a:p>
            <a:pPr marL="264160" marR="400685" indent="-226695">
              <a:lnSpc>
                <a:spcPts val="2160"/>
              </a:lnSpc>
              <a:spcBef>
                <a:spcPts val="1800"/>
              </a:spcBef>
              <a:buFont typeface="Arial MT"/>
              <a:buChar char="–"/>
              <a:tabLst>
                <a:tab pos="266065" algn="l"/>
              </a:tabLst>
            </a:pPr>
            <a:r>
              <a:rPr sz="2000" b="1" dirty="0">
                <a:latin typeface="Arial"/>
                <a:cs typeface="Arial"/>
              </a:rPr>
              <a:t>t</a:t>
            </a:r>
            <a:r>
              <a:rPr sz="1950" b="1" baseline="-21367" dirty="0">
                <a:latin typeface="Arial"/>
                <a:cs typeface="Arial"/>
              </a:rPr>
              <a:t>p</a:t>
            </a:r>
            <a:r>
              <a:rPr sz="1950" b="1" spc="240" baseline="-21367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clock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period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pipeline.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equal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5" dirty="0">
                <a:latin typeface="Arial MT"/>
                <a:cs typeface="Arial MT"/>
              </a:rPr>
              <a:t> the 	</a:t>
            </a:r>
            <a:r>
              <a:rPr sz="2000" dirty="0">
                <a:latin typeface="Arial MT"/>
                <a:cs typeface="Arial MT"/>
              </a:rPr>
              <a:t>slowest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stage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plus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needed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latch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results.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57525" y="3955879"/>
            <a:ext cx="1762760" cy="0"/>
          </a:xfrm>
          <a:custGeom>
            <a:avLst/>
            <a:gdLst/>
            <a:ahLst/>
            <a:cxnLst/>
            <a:rect l="l" t="t" r="r" b="b"/>
            <a:pathLst>
              <a:path w="1762760">
                <a:moveTo>
                  <a:pt x="0" y="0"/>
                </a:moveTo>
                <a:lnTo>
                  <a:pt x="1762445" y="0"/>
                </a:lnTo>
              </a:path>
            </a:pathLst>
          </a:custGeom>
          <a:ln w="637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17652" y="3524400"/>
            <a:ext cx="1809114" cy="8299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35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n</a:t>
            </a:r>
            <a:r>
              <a:rPr sz="2400" b="1" spc="-380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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b="1" spc="-25" dirty="0">
                <a:latin typeface="Arial"/>
                <a:cs typeface="Arial"/>
              </a:rPr>
              <a:t>t</a:t>
            </a:r>
            <a:r>
              <a:rPr sz="2850" b="1" spc="-37" baseline="-19005" dirty="0">
                <a:latin typeface="Arial"/>
                <a:cs typeface="Arial"/>
              </a:rPr>
              <a:t>n</a:t>
            </a:r>
            <a:endParaRPr sz="2850" baseline="-19005">
              <a:latin typeface="Arial"/>
              <a:cs typeface="Arial"/>
            </a:endParaRPr>
          </a:p>
          <a:p>
            <a:pPr algn="ctr">
              <a:lnSpc>
                <a:spcPts val="3495"/>
              </a:lnSpc>
            </a:pPr>
            <a:r>
              <a:rPr sz="4425" spc="-127" baseline="-2824" dirty="0">
                <a:latin typeface="Symbol"/>
                <a:cs typeface="Symbol"/>
              </a:rPr>
              <a:t></a:t>
            </a:r>
            <a:r>
              <a:rPr sz="2400" b="1" spc="-85" dirty="0">
                <a:latin typeface="Arial"/>
                <a:cs typeface="Arial"/>
              </a:rPr>
              <a:t>k</a:t>
            </a:r>
            <a:r>
              <a:rPr sz="2400" b="1" spc="-125" dirty="0">
                <a:latin typeface="Arial"/>
                <a:cs typeface="Arial"/>
              </a:rPr>
              <a:t> </a:t>
            </a:r>
            <a:r>
              <a:rPr sz="2400" dirty="0">
                <a:latin typeface="Symbol"/>
                <a:cs typeface="Symbol"/>
              </a:rPr>
              <a:t></a:t>
            </a:r>
            <a:r>
              <a:rPr sz="2400" spc="-2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n</a:t>
            </a:r>
            <a:r>
              <a:rPr sz="2400" b="1" spc="-260" dirty="0">
                <a:latin typeface="Arial"/>
                <a:cs typeface="Arial"/>
              </a:rPr>
              <a:t> </a:t>
            </a:r>
            <a:r>
              <a:rPr sz="2400" spc="-25" dirty="0">
                <a:latin typeface="Symbol"/>
                <a:cs typeface="Symbol"/>
              </a:rPr>
              <a:t></a:t>
            </a:r>
            <a:r>
              <a:rPr sz="2400" spc="-25" dirty="0">
                <a:latin typeface="Times New Roman"/>
                <a:cs typeface="Times New Roman"/>
              </a:rPr>
              <a:t>1</a:t>
            </a:r>
            <a:r>
              <a:rPr sz="4425" spc="-37" baseline="-2824" dirty="0">
                <a:latin typeface="Symbol"/>
                <a:cs typeface="Symbol"/>
              </a:rPr>
              <a:t></a:t>
            </a:r>
            <a:r>
              <a:rPr sz="4425" spc="-419" baseline="-2824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Arial"/>
                <a:cs typeface="Arial"/>
              </a:rPr>
              <a:t>*</a:t>
            </a:r>
            <a:r>
              <a:rPr sz="2400" b="1" spc="-17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t</a:t>
            </a:r>
            <a:r>
              <a:rPr sz="2850" b="1" spc="-37" baseline="-19005" dirty="0">
                <a:latin typeface="Arial"/>
                <a:cs typeface="Arial"/>
              </a:rPr>
              <a:t>p</a:t>
            </a:r>
            <a:endParaRPr sz="2850" baseline="-19005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1885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18</a:t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2853133" y="3714696"/>
            <a:ext cx="15335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speedup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spc="-50" dirty="0">
                <a:latin typeface="Symbol"/>
                <a:cs typeface="Symbol"/>
              </a:rPr>
              <a:t></a:t>
            </a:r>
            <a:endParaRPr sz="24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19</a:t>
            </a:fld>
            <a:endParaRPr spc="-5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0" y="190500"/>
            <a:ext cx="7543800" cy="6905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935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SPEEDUP</a:t>
            </a:r>
            <a:r>
              <a:rPr sz="4400" spc="-125" dirty="0"/>
              <a:t> </a:t>
            </a:r>
            <a:r>
              <a:rPr sz="4400"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1504" y="957571"/>
            <a:ext cx="8609965" cy="44894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349885" marR="267970" indent="-287020">
              <a:lnSpc>
                <a:spcPct val="90000"/>
              </a:lnSpc>
              <a:spcBef>
                <a:spcPts val="340"/>
              </a:spcBef>
              <a:buChar char="•"/>
              <a:tabLst>
                <a:tab pos="349885" algn="l"/>
              </a:tabLst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arithmetic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shown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previous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slides,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suppose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that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adder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segment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takes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</a:t>
            </a:r>
            <a:r>
              <a:rPr sz="1950" baseline="-21367" dirty="0">
                <a:latin typeface="Arial MT"/>
                <a:cs typeface="Arial MT"/>
              </a:rPr>
              <a:t>1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20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task,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multiplier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segment </a:t>
            </a:r>
            <a:r>
              <a:rPr sz="2000" dirty="0">
                <a:latin typeface="Arial MT"/>
                <a:cs typeface="Arial MT"/>
              </a:rPr>
              <a:t>takes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</a:t>
            </a:r>
            <a:r>
              <a:rPr sz="1950" baseline="-21367" dirty="0">
                <a:latin typeface="Arial MT"/>
                <a:cs typeface="Arial MT"/>
              </a:rPr>
              <a:t>2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25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each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register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takes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</a:t>
            </a:r>
            <a:r>
              <a:rPr sz="1950" baseline="-21367" dirty="0">
                <a:latin typeface="Arial MT"/>
                <a:cs typeface="Arial MT"/>
              </a:rPr>
              <a:t>r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5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latch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its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results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(i.e. </a:t>
            </a:r>
            <a:r>
              <a:rPr sz="2000" dirty="0">
                <a:latin typeface="Arial MT"/>
                <a:cs typeface="Arial MT"/>
              </a:rPr>
              <a:t>time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delay).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would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speedup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offered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pipelined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unit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if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loop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executed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1000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times?</a:t>
            </a:r>
            <a:endParaRPr sz="2000" dirty="0">
              <a:latin typeface="Arial MT"/>
              <a:cs typeface="Arial MT"/>
            </a:endParaRPr>
          </a:p>
          <a:p>
            <a:pPr marL="349885" marR="583565" indent="-287020">
              <a:lnSpc>
                <a:spcPts val="2160"/>
              </a:lnSpc>
              <a:spcBef>
                <a:spcPts val="1835"/>
              </a:spcBef>
              <a:buChar char="•"/>
              <a:tabLst>
                <a:tab pos="349885" algn="l"/>
              </a:tabLst>
            </a:pP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clock</a:t>
            </a:r>
            <a:r>
              <a:rPr sz="2000" spc="-3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cycle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time</a:t>
            </a:r>
            <a:r>
              <a:rPr sz="2000" spc="-1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t</a:t>
            </a:r>
            <a:r>
              <a:rPr sz="1950" b="1" baseline="-21367" dirty="0">
                <a:solidFill>
                  <a:srgbClr val="00AFEF"/>
                </a:solidFill>
                <a:latin typeface="Arial"/>
                <a:cs typeface="Arial"/>
              </a:rPr>
              <a:t>p</a:t>
            </a:r>
            <a:r>
              <a:rPr sz="1950" b="1" spc="-15" baseline="-21367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for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this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pipelined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unit</a:t>
            </a:r>
            <a:r>
              <a:rPr sz="2000" spc="-2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chosen</a:t>
            </a:r>
            <a:r>
              <a:rPr sz="2000" spc="-5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be</a:t>
            </a:r>
            <a:r>
              <a:rPr sz="2000" spc="-1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0AFEF"/>
                </a:solidFill>
                <a:latin typeface="Arial MT"/>
                <a:cs typeface="Arial MT"/>
              </a:rPr>
              <a:t>time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taken</a:t>
            </a:r>
            <a:r>
              <a:rPr sz="2000" spc="-4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by</a:t>
            </a:r>
            <a:r>
              <a:rPr sz="2000" spc="-2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slowest</a:t>
            </a:r>
            <a:r>
              <a:rPr sz="2000" spc="-4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stage</a:t>
            </a:r>
            <a:r>
              <a:rPr sz="2000" spc="-4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plus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time</a:t>
            </a:r>
            <a:r>
              <a:rPr sz="2000" spc="-1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delay</a:t>
            </a:r>
            <a:r>
              <a:rPr sz="2000" spc="-2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to</a:t>
            </a:r>
            <a:r>
              <a:rPr sz="2000" spc="-3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latch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AFEF"/>
                </a:solidFill>
                <a:latin typeface="Arial MT"/>
                <a:cs typeface="Arial MT"/>
              </a:rPr>
              <a:t>results:</a:t>
            </a:r>
            <a:endParaRPr sz="2000" dirty="0">
              <a:latin typeface="Arial MT"/>
              <a:cs typeface="Arial MT"/>
            </a:endParaRPr>
          </a:p>
          <a:p>
            <a:pPr marL="2299335">
              <a:lnSpc>
                <a:spcPts val="2130"/>
              </a:lnSpc>
            </a:pPr>
            <a:r>
              <a:rPr sz="2000" b="1" dirty="0">
                <a:solidFill>
                  <a:srgbClr val="00AFEF"/>
                </a:solidFill>
                <a:latin typeface="Arial"/>
                <a:cs typeface="Arial"/>
              </a:rPr>
              <a:t>t</a:t>
            </a:r>
            <a:r>
              <a:rPr sz="1950" b="1" baseline="-21367" dirty="0">
                <a:solidFill>
                  <a:srgbClr val="00AFEF"/>
                </a:solidFill>
                <a:latin typeface="Arial"/>
                <a:cs typeface="Arial"/>
              </a:rPr>
              <a:t>p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=</a:t>
            </a:r>
            <a:r>
              <a:rPr sz="2000" spc="-3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</a:t>
            </a:r>
            <a:r>
              <a:rPr sz="1950" baseline="-21367" dirty="0">
                <a:solidFill>
                  <a:srgbClr val="00AFEF"/>
                </a:solidFill>
                <a:latin typeface="Arial MT"/>
                <a:cs typeface="Arial MT"/>
              </a:rPr>
              <a:t>2</a:t>
            </a:r>
            <a:r>
              <a:rPr sz="1950" spc="277" baseline="-21367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+</a:t>
            </a:r>
            <a:r>
              <a:rPr sz="2000" spc="-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</a:t>
            </a:r>
            <a:r>
              <a:rPr sz="1950" baseline="-21367" dirty="0">
                <a:solidFill>
                  <a:srgbClr val="00AFEF"/>
                </a:solidFill>
                <a:latin typeface="Arial MT"/>
                <a:cs typeface="Arial MT"/>
              </a:rPr>
              <a:t>r</a:t>
            </a:r>
            <a:r>
              <a:rPr sz="1950" spc="292" baseline="-21367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Wingdings"/>
                <a:cs typeface="Wingdings"/>
              </a:rPr>
              <a:t></a:t>
            </a:r>
            <a:r>
              <a:rPr sz="2000" spc="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25+5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=</a:t>
            </a:r>
            <a:r>
              <a:rPr sz="2000" spc="-1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30</a:t>
            </a:r>
            <a:r>
              <a:rPr sz="2000" spc="-1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AFEF"/>
                </a:solidFill>
                <a:latin typeface="Arial MT"/>
                <a:cs typeface="Arial MT"/>
              </a:rPr>
              <a:t>ns</a:t>
            </a:r>
            <a:endParaRPr sz="2000" dirty="0">
              <a:latin typeface="Arial MT"/>
              <a:cs typeface="Arial MT"/>
            </a:endParaRPr>
          </a:p>
          <a:p>
            <a:pPr marL="520700">
              <a:lnSpc>
                <a:spcPts val="2280"/>
              </a:lnSpc>
              <a:spcBef>
                <a:spcPts val="480"/>
              </a:spcBef>
            </a:pP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–</a:t>
            </a:r>
            <a:r>
              <a:rPr sz="2000" spc="10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This</a:t>
            </a:r>
            <a:r>
              <a:rPr sz="2000" spc="-3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is</a:t>
            </a:r>
            <a:r>
              <a:rPr sz="2000" spc="-1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because</a:t>
            </a:r>
            <a:r>
              <a:rPr sz="2000" spc="-5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slowest</a:t>
            </a:r>
            <a:r>
              <a:rPr sz="2000" spc="-4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stage</a:t>
            </a:r>
            <a:r>
              <a:rPr sz="2000" spc="-4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takes</a:t>
            </a:r>
            <a:r>
              <a:rPr sz="2000" spc="-4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25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ns</a:t>
            </a:r>
            <a:r>
              <a:rPr sz="2000" spc="-3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multiply</a:t>
            </a:r>
            <a:r>
              <a:rPr sz="2000" spc="-2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data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and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0AFEF"/>
                </a:solidFill>
                <a:latin typeface="Arial MT"/>
                <a:cs typeface="Arial MT"/>
              </a:rPr>
              <a:t>5</a:t>
            </a:r>
            <a:endParaRPr sz="2000" dirty="0">
              <a:latin typeface="Arial MT"/>
              <a:cs typeface="Arial MT"/>
            </a:endParaRPr>
          </a:p>
          <a:p>
            <a:pPr marL="748665">
              <a:lnSpc>
                <a:spcPts val="2280"/>
              </a:lnSpc>
            </a:pP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ns</a:t>
            </a:r>
            <a:r>
              <a:rPr sz="2000" spc="-2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latch</a:t>
            </a:r>
            <a:r>
              <a:rPr sz="2000" spc="-25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AFEF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0AFEF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0AFEF"/>
                </a:solidFill>
                <a:latin typeface="Arial MT"/>
                <a:cs typeface="Arial MT"/>
              </a:rPr>
              <a:t>result.</a:t>
            </a:r>
            <a:endParaRPr sz="2000" dirty="0">
              <a:latin typeface="Arial MT"/>
              <a:cs typeface="Arial MT"/>
            </a:endParaRPr>
          </a:p>
          <a:p>
            <a:pPr marL="349885" indent="-286385">
              <a:lnSpc>
                <a:spcPct val="100000"/>
              </a:lnSpc>
              <a:spcBef>
                <a:spcPts val="910"/>
              </a:spcBef>
              <a:buChar char="•"/>
              <a:tabLst>
                <a:tab pos="349885" algn="l"/>
              </a:tabLst>
            </a:pP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An</a:t>
            </a:r>
            <a:r>
              <a:rPr sz="2400" spc="-9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equivalent</a:t>
            </a:r>
            <a:r>
              <a:rPr sz="2400" spc="-5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008011"/>
                </a:solidFill>
                <a:latin typeface="Arial MT"/>
                <a:cs typeface="Arial MT"/>
              </a:rPr>
              <a:t>un-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pipelined</a:t>
            </a:r>
            <a:r>
              <a:rPr sz="2400" spc="-4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circuit</a:t>
            </a:r>
            <a:r>
              <a:rPr sz="2400" spc="-8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will</a:t>
            </a:r>
            <a:r>
              <a:rPr sz="2400" spc="-7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have</a:t>
            </a:r>
            <a:r>
              <a:rPr sz="2400" spc="-8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a</a:t>
            </a:r>
            <a:r>
              <a:rPr sz="2400" spc="-9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11"/>
                </a:solidFill>
                <a:latin typeface="Arial MT"/>
                <a:cs typeface="Arial MT"/>
              </a:rPr>
              <a:t>sequential</a:t>
            </a:r>
            <a:r>
              <a:rPr sz="2400" spc="-6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8011"/>
                </a:solidFill>
                <a:latin typeface="Arial MT"/>
                <a:cs typeface="Arial MT"/>
              </a:rPr>
              <a:t>time:</a:t>
            </a:r>
            <a:endParaRPr sz="2400" dirty="0">
              <a:latin typeface="Arial MT"/>
              <a:cs typeface="Arial MT"/>
            </a:endParaRPr>
          </a:p>
          <a:p>
            <a:pPr marL="1587500">
              <a:lnSpc>
                <a:spcPct val="100000"/>
              </a:lnSpc>
              <a:spcBef>
                <a:spcPts val="114"/>
              </a:spcBef>
            </a:pPr>
            <a:r>
              <a:rPr sz="2000" b="1" dirty="0">
                <a:solidFill>
                  <a:srgbClr val="008011"/>
                </a:solidFill>
                <a:latin typeface="Arial"/>
                <a:cs typeface="Arial"/>
              </a:rPr>
              <a:t>t</a:t>
            </a:r>
            <a:r>
              <a:rPr sz="1950" b="1" baseline="-21367" dirty="0">
                <a:solidFill>
                  <a:srgbClr val="008011"/>
                </a:solidFill>
                <a:latin typeface="Arial"/>
                <a:cs typeface="Arial"/>
              </a:rPr>
              <a:t>n</a:t>
            </a:r>
            <a:r>
              <a:rPr sz="1950" b="1" spc="270" baseline="-21367" dirty="0">
                <a:solidFill>
                  <a:srgbClr val="00801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=</a:t>
            </a:r>
            <a:r>
              <a:rPr sz="20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t</a:t>
            </a:r>
            <a:r>
              <a:rPr sz="1950" baseline="-21367" dirty="0">
                <a:solidFill>
                  <a:srgbClr val="008011"/>
                </a:solidFill>
                <a:latin typeface="Arial MT"/>
                <a:cs typeface="Arial MT"/>
              </a:rPr>
              <a:t>1</a:t>
            </a:r>
            <a:r>
              <a:rPr sz="1950" spc="284" baseline="-21367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+</a:t>
            </a:r>
            <a:r>
              <a:rPr sz="20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t</a:t>
            </a:r>
            <a:r>
              <a:rPr sz="1950" baseline="-21367" dirty="0">
                <a:solidFill>
                  <a:srgbClr val="008011"/>
                </a:solidFill>
                <a:latin typeface="Arial MT"/>
                <a:cs typeface="Arial MT"/>
              </a:rPr>
              <a:t>2</a:t>
            </a:r>
            <a:r>
              <a:rPr sz="1950" spc="270" baseline="-21367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+</a:t>
            </a:r>
            <a:r>
              <a:rPr sz="20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t</a:t>
            </a:r>
            <a:r>
              <a:rPr sz="1950" baseline="-21367" dirty="0">
                <a:solidFill>
                  <a:srgbClr val="008011"/>
                </a:solidFill>
                <a:latin typeface="Arial MT"/>
                <a:cs typeface="Arial MT"/>
              </a:rPr>
              <a:t>r</a:t>
            </a:r>
            <a:r>
              <a:rPr sz="1950" spc="292" baseline="-21367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Wingdings"/>
                <a:cs typeface="Wingdings"/>
              </a:rPr>
              <a:t></a:t>
            </a:r>
            <a:r>
              <a:rPr sz="2000" spc="45" dirty="0">
                <a:solidFill>
                  <a:srgbClr val="008011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20</a:t>
            </a:r>
            <a:r>
              <a:rPr sz="2000" spc="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+</a:t>
            </a:r>
            <a:r>
              <a:rPr sz="2000" spc="-2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25</a:t>
            </a:r>
            <a:r>
              <a:rPr sz="2000" spc="-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+</a:t>
            </a:r>
            <a:r>
              <a:rPr sz="2000" spc="-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5</a:t>
            </a:r>
            <a:r>
              <a:rPr sz="2000" spc="5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=</a:t>
            </a:r>
            <a:r>
              <a:rPr sz="2000" spc="-2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08011"/>
                </a:solidFill>
                <a:latin typeface="Arial MT"/>
                <a:cs typeface="Arial MT"/>
              </a:rPr>
              <a:t>50</a:t>
            </a:r>
            <a:r>
              <a:rPr sz="2000" spc="10" dirty="0">
                <a:solidFill>
                  <a:srgbClr val="008011"/>
                </a:solidFill>
                <a:latin typeface="Arial MT"/>
                <a:cs typeface="Arial MT"/>
              </a:rPr>
              <a:t> </a:t>
            </a:r>
            <a:r>
              <a:rPr sz="2000" spc="-25" dirty="0">
                <a:solidFill>
                  <a:srgbClr val="008011"/>
                </a:solidFill>
                <a:latin typeface="Arial MT"/>
                <a:cs typeface="Arial MT"/>
              </a:rPr>
              <a:t>ns</a:t>
            </a:r>
            <a:endParaRPr sz="2000" dirty="0">
              <a:latin typeface="Arial MT"/>
              <a:cs typeface="Arial MT"/>
            </a:endParaRPr>
          </a:p>
          <a:p>
            <a:pPr marL="349885" indent="-286385">
              <a:lnSpc>
                <a:spcPct val="100000"/>
              </a:lnSpc>
              <a:spcBef>
                <a:spcPts val="1595"/>
              </a:spcBef>
              <a:buChar char="•"/>
              <a:tabLst>
                <a:tab pos="349885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offers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speedup: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56608" y="5849796"/>
            <a:ext cx="3569970" cy="0"/>
          </a:xfrm>
          <a:custGeom>
            <a:avLst/>
            <a:gdLst/>
            <a:ahLst/>
            <a:cxnLst/>
            <a:rect l="l" t="t" r="r" b="b"/>
            <a:pathLst>
              <a:path w="3569970">
                <a:moveTo>
                  <a:pt x="0" y="0"/>
                </a:moveTo>
                <a:lnTo>
                  <a:pt x="1477039" y="0"/>
                </a:lnTo>
              </a:path>
              <a:path w="3569970">
                <a:moveTo>
                  <a:pt x="1759495" y="0"/>
                </a:moveTo>
                <a:lnTo>
                  <a:pt x="3569442" y="0"/>
                </a:lnTo>
              </a:path>
            </a:pathLst>
          </a:custGeom>
          <a:ln w="61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69164" y="5584881"/>
            <a:ext cx="370205" cy="4051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dirty="0">
                <a:latin typeface="Symbol"/>
                <a:cs typeface="Symbol"/>
              </a:rPr>
              <a:t>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3675" spc="-75" baseline="-37414" dirty="0">
                <a:latin typeface="Symbol"/>
                <a:cs typeface="Symbol"/>
              </a:rPr>
              <a:t></a:t>
            </a:r>
            <a:endParaRPr sz="3675" baseline="-37414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01396" y="5488517"/>
            <a:ext cx="1738630" cy="709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1000</a:t>
            </a:r>
            <a:r>
              <a:rPr sz="2000" spc="-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</a:t>
            </a:r>
            <a:r>
              <a:rPr sz="2000" spc="-25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50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3000" baseline="2777" dirty="0">
                <a:latin typeface="Times New Roman"/>
                <a:cs typeface="Times New Roman"/>
              </a:rPr>
              <a:t>3</a:t>
            </a:r>
            <a:r>
              <a:rPr sz="3000" spc="-284" baseline="2777" dirty="0">
                <a:latin typeface="Times New Roman"/>
                <a:cs typeface="Times New Roman"/>
              </a:rPr>
              <a:t> </a:t>
            </a:r>
            <a:r>
              <a:rPr sz="3000" baseline="2777" dirty="0">
                <a:latin typeface="Symbol"/>
                <a:cs typeface="Symbol"/>
              </a:rPr>
              <a:t></a:t>
            </a:r>
            <a:r>
              <a:rPr sz="3000" spc="-434" baseline="2777" dirty="0">
                <a:latin typeface="Times New Roman"/>
                <a:cs typeface="Times New Roman"/>
              </a:rPr>
              <a:t> </a:t>
            </a:r>
            <a:r>
              <a:rPr sz="3000" baseline="2777" dirty="0">
                <a:latin typeface="Times New Roman"/>
                <a:cs typeface="Times New Roman"/>
              </a:rPr>
              <a:t>1000</a:t>
            </a:r>
            <a:r>
              <a:rPr sz="3000" spc="-195" baseline="2777" dirty="0">
                <a:latin typeface="Times New Roman"/>
                <a:cs typeface="Times New Roman"/>
              </a:rPr>
              <a:t> </a:t>
            </a:r>
            <a:r>
              <a:rPr sz="3000" spc="-15" baseline="2777" dirty="0">
                <a:latin typeface="Symbol"/>
                <a:cs typeface="Symbol"/>
              </a:rPr>
              <a:t></a:t>
            </a:r>
            <a:r>
              <a:rPr sz="3000" spc="-15" baseline="2777" dirty="0">
                <a:latin typeface="Times New Roman"/>
                <a:cs typeface="Times New Roman"/>
              </a:rPr>
              <a:t>1</a:t>
            </a:r>
            <a:r>
              <a:rPr sz="2450" spc="-10" dirty="0">
                <a:latin typeface="Symbol"/>
                <a:cs typeface="Symbol"/>
              </a:rPr>
              <a:t></a:t>
            </a:r>
            <a:r>
              <a:rPr sz="2450" spc="-330" dirty="0">
                <a:latin typeface="Times New Roman"/>
                <a:cs typeface="Times New Roman"/>
              </a:rPr>
              <a:t> </a:t>
            </a:r>
            <a:r>
              <a:rPr sz="3000" baseline="2777" dirty="0">
                <a:latin typeface="Symbol"/>
                <a:cs typeface="Symbol"/>
              </a:rPr>
              <a:t></a:t>
            </a:r>
            <a:r>
              <a:rPr sz="3000" spc="-382" baseline="2777" dirty="0">
                <a:latin typeface="Times New Roman"/>
                <a:cs typeface="Times New Roman"/>
              </a:rPr>
              <a:t> </a:t>
            </a:r>
            <a:r>
              <a:rPr sz="3000" spc="-52" baseline="2777" dirty="0">
                <a:latin typeface="Times New Roman"/>
                <a:cs typeface="Times New Roman"/>
              </a:rPr>
              <a:t>30</a:t>
            </a:r>
            <a:endParaRPr sz="3000" baseline="2777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26930" y="5606161"/>
            <a:ext cx="15113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0" dirty="0">
                <a:latin typeface="Arial"/>
                <a:cs typeface="Arial"/>
              </a:rPr>
              <a:t>n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84146" y="5488229"/>
            <a:ext cx="4660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n</a:t>
            </a:r>
            <a:r>
              <a:rPr sz="2000" b="1" spc="-32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</a:t>
            </a:r>
            <a:r>
              <a:rPr sz="2000" spc="-185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08496" y="5793309"/>
            <a:ext cx="1436370" cy="4051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3000" b="1" baseline="2777" dirty="0">
                <a:latin typeface="Arial"/>
                <a:cs typeface="Arial"/>
              </a:rPr>
              <a:t>k</a:t>
            </a:r>
            <a:r>
              <a:rPr sz="3000" b="1" spc="-165" baseline="2777" dirty="0">
                <a:latin typeface="Arial"/>
                <a:cs typeface="Arial"/>
              </a:rPr>
              <a:t> </a:t>
            </a:r>
            <a:r>
              <a:rPr sz="3000" baseline="2777" dirty="0">
                <a:latin typeface="Symbol"/>
                <a:cs typeface="Symbol"/>
              </a:rPr>
              <a:t></a:t>
            </a:r>
            <a:r>
              <a:rPr sz="3000" spc="-292" baseline="2777" dirty="0">
                <a:latin typeface="Times New Roman"/>
                <a:cs typeface="Times New Roman"/>
              </a:rPr>
              <a:t> </a:t>
            </a:r>
            <a:r>
              <a:rPr sz="3000" b="1" baseline="2777" dirty="0">
                <a:latin typeface="Arial"/>
                <a:cs typeface="Arial"/>
              </a:rPr>
              <a:t>n</a:t>
            </a:r>
            <a:r>
              <a:rPr sz="3000" b="1" spc="-322" baseline="2777" dirty="0">
                <a:latin typeface="Arial"/>
                <a:cs typeface="Arial"/>
              </a:rPr>
              <a:t> </a:t>
            </a:r>
            <a:r>
              <a:rPr sz="3000" spc="-15" baseline="2777" dirty="0">
                <a:latin typeface="Symbol"/>
                <a:cs typeface="Symbol"/>
              </a:rPr>
              <a:t></a:t>
            </a:r>
            <a:r>
              <a:rPr sz="3000" spc="-15" baseline="2777" dirty="0">
                <a:latin typeface="Times New Roman"/>
                <a:cs typeface="Times New Roman"/>
              </a:rPr>
              <a:t>1</a:t>
            </a:r>
            <a:r>
              <a:rPr sz="2450" spc="-10" dirty="0">
                <a:latin typeface="Symbol"/>
                <a:cs typeface="Symbol"/>
              </a:rPr>
              <a:t></a:t>
            </a:r>
            <a:r>
              <a:rPr sz="2450" spc="-240" dirty="0">
                <a:latin typeface="Times New Roman"/>
                <a:cs typeface="Times New Roman"/>
              </a:rPr>
              <a:t> </a:t>
            </a:r>
            <a:r>
              <a:rPr sz="3000" b="1" baseline="2777" dirty="0">
                <a:latin typeface="Arial"/>
                <a:cs typeface="Arial"/>
              </a:rPr>
              <a:t>*</a:t>
            </a:r>
            <a:r>
              <a:rPr sz="3000" b="1" spc="-232" baseline="2777" dirty="0">
                <a:latin typeface="Arial"/>
                <a:cs typeface="Arial"/>
              </a:rPr>
              <a:t> </a:t>
            </a:r>
            <a:r>
              <a:rPr sz="3000" b="1" spc="-37" baseline="2777" dirty="0">
                <a:latin typeface="Arial"/>
                <a:cs typeface="Arial"/>
              </a:rPr>
              <a:t>t</a:t>
            </a:r>
            <a:r>
              <a:rPr sz="2400" b="1" spc="-37" baseline="-15625" dirty="0">
                <a:latin typeface="Arial"/>
                <a:cs typeface="Arial"/>
              </a:rPr>
              <a:t>p</a:t>
            </a:r>
            <a:endParaRPr sz="2400" baseline="-15625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2131" y="5584881"/>
            <a:ext cx="1487805" cy="4051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000" b="1" dirty="0">
                <a:latin typeface="Arial"/>
                <a:cs typeface="Arial"/>
              </a:rPr>
              <a:t>speedup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3675" spc="-75" baseline="-37414" dirty="0">
                <a:latin typeface="Symbol"/>
                <a:cs typeface="Symbol"/>
              </a:rPr>
              <a:t></a:t>
            </a:r>
            <a:endParaRPr sz="3675" baseline="-37414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86931" y="5646234"/>
            <a:ext cx="6578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Symbol"/>
                <a:cs typeface="Symbol"/>
              </a:rPr>
              <a:t></a:t>
            </a:r>
            <a:r>
              <a:rPr sz="2000" spc="-2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1</a:t>
            </a:r>
            <a:r>
              <a:rPr sz="2000" b="1" spc="-20" dirty="0">
                <a:latin typeface="Arial"/>
                <a:cs typeface="Arial"/>
              </a:rPr>
              <a:t>.</a:t>
            </a:r>
            <a:r>
              <a:rPr sz="2000" spc="-20" dirty="0">
                <a:latin typeface="Times New Roman"/>
                <a:cs typeface="Times New Roman"/>
              </a:rPr>
              <a:t>66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ARITHMETIC</a:t>
            </a:r>
            <a:r>
              <a:rPr spc="-50" dirty="0"/>
              <a:t> </a:t>
            </a:r>
            <a:r>
              <a:rPr sz="2000" b="0" dirty="0">
                <a:latin typeface="Arial MT"/>
                <a:cs typeface="Arial MT"/>
              </a:rPr>
              <a:t>VS.</a:t>
            </a:r>
            <a:r>
              <a:rPr sz="2000" b="0" spc="60" dirty="0">
                <a:latin typeface="Arial MT"/>
                <a:cs typeface="Arial MT"/>
              </a:rPr>
              <a:t> </a:t>
            </a:r>
            <a:r>
              <a:rPr dirty="0"/>
              <a:t>INSTRUCTION</a:t>
            </a:r>
            <a:r>
              <a:rPr spc="-55" dirty="0"/>
              <a:t> </a:t>
            </a:r>
            <a:r>
              <a:rPr spc="-10" dirty="0"/>
              <a:t>PIPELINE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623045" y="6607378"/>
            <a:ext cx="18859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lang="en-US" spc="-50" smtClean="0"/>
              <a:pPr marL="38100">
                <a:lnSpc>
                  <a:spcPts val="1650"/>
                </a:lnSpc>
              </a:pPr>
              <a:t>20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99085" marR="77470" indent="-287020">
              <a:lnSpc>
                <a:spcPct val="90000"/>
              </a:lnSpc>
              <a:spcBef>
                <a:spcPts val="390"/>
              </a:spcBef>
              <a:buChar char="•"/>
              <a:tabLst>
                <a:tab pos="299085" algn="l"/>
              </a:tabLst>
            </a:pPr>
            <a:r>
              <a:rPr dirty="0"/>
              <a:t>An</a:t>
            </a:r>
            <a:r>
              <a:rPr spc="-70" dirty="0"/>
              <a:t> </a:t>
            </a:r>
            <a:r>
              <a:rPr dirty="0"/>
              <a:t>arithmetic</a:t>
            </a:r>
            <a:r>
              <a:rPr spc="-60" dirty="0"/>
              <a:t> </a:t>
            </a:r>
            <a:r>
              <a:rPr dirty="0"/>
              <a:t>pipeline</a:t>
            </a:r>
            <a:r>
              <a:rPr spc="-25" dirty="0"/>
              <a:t> </a:t>
            </a:r>
            <a:r>
              <a:rPr dirty="0"/>
              <a:t>divides</a:t>
            </a:r>
            <a:r>
              <a:rPr spc="-50" dirty="0"/>
              <a:t> </a:t>
            </a:r>
            <a:r>
              <a:rPr dirty="0"/>
              <a:t>an</a:t>
            </a:r>
            <a:r>
              <a:rPr spc="-70" dirty="0"/>
              <a:t> </a:t>
            </a:r>
            <a:r>
              <a:rPr dirty="0"/>
              <a:t>arithmetic</a:t>
            </a:r>
            <a:r>
              <a:rPr spc="-60" dirty="0"/>
              <a:t> </a:t>
            </a:r>
            <a:r>
              <a:rPr dirty="0"/>
              <a:t>operation</a:t>
            </a:r>
            <a:r>
              <a:rPr spc="-50" dirty="0"/>
              <a:t> </a:t>
            </a:r>
            <a:r>
              <a:rPr spc="-20" dirty="0"/>
              <a:t>into </a:t>
            </a:r>
            <a:r>
              <a:rPr dirty="0"/>
              <a:t>suboperations</a:t>
            </a:r>
            <a:r>
              <a:rPr spc="-60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execution</a:t>
            </a:r>
            <a:r>
              <a:rPr spc="-60" dirty="0"/>
              <a:t> </a:t>
            </a:r>
            <a:r>
              <a:rPr dirty="0"/>
              <a:t>in</a:t>
            </a:r>
            <a:r>
              <a:rPr spc="-95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dirty="0"/>
              <a:t>pipeline</a:t>
            </a:r>
            <a:r>
              <a:rPr spc="-45" dirty="0"/>
              <a:t> </a:t>
            </a:r>
            <a:r>
              <a:rPr spc="-10" dirty="0"/>
              <a:t>segments, </a:t>
            </a:r>
            <a:r>
              <a:rPr dirty="0"/>
              <a:t>whereas</a:t>
            </a:r>
            <a:r>
              <a:rPr spc="-65" dirty="0"/>
              <a:t> </a:t>
            </a:r>
            <a:r>
              <a:rPr dirty="0"/>
              <a:t>an</a:t>
            </a:r>
            <a:r>
              <a:rPr spc="-70" dirty="0"/>
              <a:t> </a:t>
            </a:r>
            <a:r>
              <a:rPr dirty="0"/>
              <a:t>instruction</a:t>
            </a:r>
            <a:r>
              <a:rPr spc="-75" dirty="0"/>
              <a:t> </a:t>
            </a:r>
            <a:r>
              <a:rPr dirty="0"/>
              <a:t>pipeline</a:t>
            </a:r>
            <a:r>
              <a:rPr spc="-30" dirty="0"/>
              <a:t> </a:t>
            </a:r>
            <a:r>
              <a:rPr dirty="0"/>
              <a:t>operates</a:t>
            </a:r>
            <a:r>
              <a:rPr spc="-60" dirty="0"/>
              <a:t> </a:t>
            </a:r>
            <a:r>
              <a:rPr dirty="0"/>
              <a:t>on</a:t>
            </a:r>
            <a:r>
              <a:rPr spc="-75" dirty="0"/>
              <a:t> </a:t>
            </a:r>
            <a:r>
              <a:rPr dirty="0"/>
              <a:t>a</a:t>
            </a:r>
            <a:r>
              <a:rPr spc="-80" dirty="0"/>
              <a:t> </a:t>
            </a:r>
            <a:r>
              <a:rPr dirty="0"/>
              <a:t>stream</a:t>
            </a:r>
            <a:r>
              <a:rPr spc="-80" dirty="0"/>
              <a:t> </a:t>
            </a:r>
            <a:r>
              <a:rPr spc="-25" dirty="0"/>
              <a:t>of </a:t>
            </a:r>
            <a:r>
              <a:rPr dirty="0"/>
              <a:t>instructions</a:t>
            </a:r>
            <a:r>
              <a:rPr spc="-55" dirty="0"/>
              <a:t> </a:t>
            </a:r>
            <a:r>
              <a:rPr dirty="0"/>
              <a:t>by</a:t>
            </a:r>
            <a:r>
              <a:rPr spc="-65" dirty="0"/>
              <a:t> </a:t>
            </a:r>
            <a:r>
              <a:rPr dirty="0"/>
              <a:t>overlapping</a:t>
            </a:r>
            <a:r>
              <a:rPr spc="-2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fetch,</a:t>
            </a:r>
            <a:r>
              <a:rPr spc="-75" dirty="0"/>
              <a:t> </a:t>
            </a:r>
            <a:r>
              <a:rPr dirty="0"/>
              <a:t>decode,</a:t>
            </a:r>
            <a:r>
              <a:rPr spc="-4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execute </a:t>
            </a:r>
            <a:r>
              <a:rPr dirty="0"/>
              <a:t>phases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instruction</a:t>
            </a:r>
            <a:r>
              <a:rPr spc="-60" dirty="0"/>
              <a:t> </a:t>
            </a:r>
            <a:r>
              <a:rPr spc="-10" dirty="0"/>
              <a:t>cycle.</a:t>
            </a:r>
          </a:p>
          <a:p>
            <a:pPr marL="697865" marR="5080" indent="-228600">
              <a:lnSpc>
                <a:spcPts val="2160"/>
              </a:lnSpc>
              <a:spcBef>
                <a:spcPts val="755"/>
              </a:spcBef>
            </a:pPr>
            <a:r>
              <a:rPr sz="2000" dirty="0"/>
              <a:t>–</a:t>
            </a:r>
            <a:r>
              <a:rPr sz="2000" spc="95" dirty="0"/>
              <a:t> </a:t>
            </a:r>
            <a:r>
              <a:rPr sz="2000" dirty="0"/>
              <a:t>Arithmetic</a:t>
            </a:r>
            <a:r>
              <a:rPr sz="2000" spc="-40" dirty="0"/>
              <a:t> </a:t>
            </a:r>
            <a:r>
              <a:rPr sz="2000" dirty="0"/>
              <a:t>pipelines</a:t>
            </a:r>
            <a:r>
              <a:rPr sz="2000" spc="-25" dirty="0"/>
              <a:t> </a:t>
            </a:r>
            <a:r>
              <a:rPr sz="2000" dirty="0"/>
              <a:t>are</a:t>
            </a:r>
            <a:r>
              <a:rPr sz="2000" spc="-45" dirty="0"/>
              <a:t> </a:t>
            </a:r>
            <a:r>
              <a:rPr sz="2000" dirty="0"/>
              <a:t>used</a:t>
            </a:r>
            <a:r>
              <a:rPr sz="2000" spc="-45" dirty="0"/>
              <a:t> </a:t>
            </a:r>
            <a:r>
              <a:rPr sz="2000" dirty="0"/>
              <a:t>to</a:t>
            </a:r>
            <a:r>
              <a:rPr sz="2000" spc="-30" dirty="0"/>
              <a:t> </a:t>
            </a:r>
            <a:r>
              <a:rPr sz="2000" dirty="0"/>
              <a:t>speedup</a:t>
            </a:r>
            <a:r>
              <a:rPr sz="2000" spc="-60" dirty="0"/>
              <a:t> </a:t>
            </a:r>
            <a:r>
              <a:rPr sz="2000" dirty="0"/>
              <a:t>arithmetic</a:t>
            </a:r>
            <a:r>
              <a:rPr sz="2000" spc="-45" dirty="0"/>
              <a:t> </a:t>
            </a:r>
            <a:r>
              <a:rPr sz="2000" spc="-10" dirty="0"/>
              <a:t>computations. </a:t>
            </a:r>
            <a:r>
              <a:rPr sz="2000" dirty="0"/>
              <a:t>Instruction</a:t>
            </a:r>
            <a:r>
              <a:rPr sz="2000" spc="-65" dirty="0"/>
              <a:t> </a:t>
            </a:r>
            <a:r>
              <a:rPr sz="2000" dirty="0"/>
              <a:t>pipelines</a:t>
            </a:r>
            <a:r>
              <a:rPr sz="2000" spc="-35" dirty="0"/>
              <a:t> </a:t>
            </a:r>
            <a:r>
              <a:rPr sz="2000" dirty="0"/>
              <a:t>are</a:t>
            </a:r>
            <a:r>
              <a:rPr sz="2000" spc="-50" dirty="0"/>
              <a:t> </a:t>
            </a:r>
            <a:r>
              <a:rPr sz="2000" dirty="0"/>
              <a:t>used</a:t>
            </a:r>
            <a:r>
              <a:rPr sz="2000" spc="-35" dirty="0"/>
              <a:t> </a:t>
            </a:r>
            <a:r>
              <a:rPr sz="2000" dirty="0"/>
              <a:t>to</a:t>
            </a:r>
            <a:r>
              <a:rPr sz="2000" spc="-40" dirty="0"/>
              <a:t> </a:t>
            </a:r>
            <a:r>
              <a:rPr sz="2000" dirty="0"/>
              <a:t>speedup</a:t>
            </a:r>
            <a:r>
              <a:rPr sz="2000" spc="-60" dirty="0"/>
              <a:t>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spc="-10" dirty="0"/>
              <a:t>fetch/decode/execute </a:t>
            </a:r>
            <a:r>
              <a:rPr sz="2000" dirty="0"/>
              <a:t>process</a:t>
            </a:r>
            <a:r>
              <a:rPr sz="2000" spc="-50" dirty="0"/>
              <a:t> </a:t>
            </a:r>
            <a:r>
              <a:rPr sz="2000" dirty="0"/>
              <a:t>of </a:t>
            </a:r>
            <a:r>
              <a:rPr sz="2000" spc="-10" dirty="0"/>
              <a:t>instructions.</a:t>
            </a:r>
            <a:endParaRPr sz="2000"/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000"/>
          </a:p>
          <a:p>
            <a:pPr marL="299085" marR="327660" indent="-287020">
              <a:lnSpc>
                <a:spcPts val="2590"/>
              </a:lnSpc>
              <a:buChar char="•"/>
              <a:tabLst>
                <a:tab pos="299085" algn="l"/>
              </a:tabLst>
            </a:pPr>
            <a:r>
              <a:rPr dirty="0"/>
              <a:t>Arithmetic</a:t>
            </a:r>
            <a:r>
              <a:rPr spc="-95" dirty="0"/>
              <a:t> </a:t>
            </a:r>
            <a:r>
              <a:rPr dirty="0"/>
              <a:t>pipelines</a:t>
            </a:r>
            <a:r>
              <a:rPr spc="-50" dirty="0"/>
              <a:t> </a:t>
            </a:r>
            <a:r>
              <a:rPr dirty="0"/>
              <a:t>promote</a:t>
            </a:r>
            <a:r>
              <a:rPr spc="-100" dirty="0"/>
              <a:t> </a:t>
            </a:r>
            <a:r>
              <a:rPr dirty="0"/>
              <a:t>vector</a:t>
            </a:r>
            <a:r>
              <a:rPr spc="-95" dirty="0"/>
              <a:t> </a:t>
            </a:r>
            <a:r>
              <a:rPr dirty="0"/>
              <a:t>processing</a:t>
            </a:r>
            <a:r>
              <a:rPr spc="-70" dirty="0"/>
              <a:t> </a:t>
            </a:r>
            <a:r>
              <a:rPr dirty="0"/>
              <a:t>for</a:t>
            </a:r>
            <a:r>
              <a:rPr spc="-90" dirty="0"/>
              <a:t> </a:t>
            </a:r>
            <a:r>
              <a:rPr spc="-20" dirty="0"/>
              <a:t>SMID </a:t>
            </a:r>
            <a:r>
              <a:rPr spc="-10" dirty="0"/>
              <a:t>Architecture</a:t>
            </a:r>
            <a:r>
              <a:rPr spc="-65" dirty="0"/>
              <a:t> </a:t>
            </a:r>
            <a:r>
              <a:rPr spc="-10" dirty="0"/>
              <a:t>(Data-</a:t>
            </a:r>
            <a:r>
              <a:rPr dirty="0"/>
              <a:t>level</a:t>
            </a:r>
            <a:r>
              <a:rPr spc="-50" dirty="0"/>
              <a:t> </a:t>
            </a:r>
            <a:r>
              <a:rPr spc="-10" dirty="0"/>
              <a:t>Parallelism)</a:t>
            </a:r>
          </a:p>
          <a:p>
            <a:pPr marL="299085" indent="-286385">
              <a:lnSpc>
                <a:spcPct val="100000"/>
              </a:lnSpc>
              <a:spcBef>
                <a:spcPts val="2680"/>
              </a:spcBef>
              <a:buChar char="•"/>
              <a:tabLst>
                <a:tab pos="299085" algn="l"/>
              </a:tabLst>
            </a:pPr>
            <a:r>
              <a:rPr dirty="0"/>
              <a:t>Instruction</a:t>
            </a:r>
            <a:r>
              <a:rPr spc="-75" dirty="0"/>
              <a:t> </a:t>
            </a:r>
            <a:r>
              <a:rPr dirty="0"/>
              <a:t>pipelines</a:t>
            </a:r>
            <a:r>
              <a:rPr spc="-25" dirty="0"/>
              <a:t> </a:t>
            </a:r>
            <a:r>
              <a:rPr dirty="0"/>
              <a:t>promote</a:t>
            </a:r>
            <a:r>
              <a:rPr spc="-60" dirty="0"/>
              <a:t> </a:t>
            </a:r>
            <a:r>
              <a:rPr spc="-10" dirty="0"/>
              <a:t>Instruction-</a:t>
            </a:r>
            <a:r>
              <a:rPr dirty="0"/>
              <a:t>level</a:t>
            </a:r>
            <a:r>
              <a:rPr spc="-60" dirty="0"/>
              <a:t> </a:t>
            </a:r>
            <a:r>
              <a:rPr spc="-10" dirty="0"/>
              <a:t>Parallelism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4823951FA9BF42B980A03718EB0B18" ma:contentTypeVersion="3" ma:contentTypeDescription="Create a new document." ma:contentTypeScope="" ma:versionID="25a50b09105562264fb4b1a4f834e0bb">
  <xsd:schema xmlns:xsd="http://www.w3.org/2001/XMLSchema" xmlns:xs="http://www.w3.org/2001/XMLSchema" xmlns:p="http://schemas.microsoft.com/office/2006/metadata/properties" xmlns:ns2="6bf15077-4e46-4e3a-99a0-3fd5e4d406d3" targetNamespace="http://schemas.microsoft.com/office/2006/metadata/properties" ma:root="true" ma:fieldsID="ff57562ea5f29b8a889136f2d3c08a42" ns2:_="">
    <xsd:import namespace="6bf15077-4e46-4e3a-99a0-3fd5e4d406d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15077-4e46-4e3a-99a0-3fd5e4d406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213985A-D055-4AEF-8FF8-CAA749C3DDE8}"/>
</file>

<file path=customXml/itemProps2.xml><?xml version="1.0" encoding="utf-8"?>
<ds:datastoreItem xmlns:ds="http://schemas.openxmlformats.org/officeDocument/2006/customXml" ds:itemID="{F888D322-75FC-40D4-AFFB-FB04A9F57EA1}"/>
</file>

<file path=customXml/itemProps3.xml><?xml version="1.0" encoding="utf-8"?>
<ds:datastoreItem xmlns:ds="http://schemas.openxmlformats.org/officeDocument/2006/customXml" ds:itemID="{3310D69A-5E25-4977-97A3-109AADB2BBE9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</TotalTime>
  <Words>1773</Words>
  <Application>Microsoft Office PowerPoint</Application>
  <PresentationFormat>On-screen Show (4:3)</PresentationFormat>
  <Paragraphs>199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 MT</vt:lpstr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Retrospect</vt:lpstr>
      <vt:lpstr>CS361: Computer Architecture</vt:lpstr>
      <vt:lpstr>RECALL VECTOR</vt:lpstr>
      <vt:lpstr>VECTOR PROCESSOR</vt:lpstr>
      <vt:lpstr>VECTOR PROCESSOR</vt:lpstr>
      <vt:lpstr>ARRAY PROCESSORS VS. VECTOR PROCESSORS</vt:lpstr>
      <vt:lpstr>WHY NEED VECTOR PROCESSORS?</vt:lpstr>
      <vt:lpstr>RECALL INNER PRODUCT</vt:lpstr>
      <vt:lpstr>PowerPoint Presentation</vt:lpstr>
      <vt:lpstr>PowerPoint Presentation</vt:lpstr>
      <vt:lpstr>PIPELINE FOR AN INNER PRODUCT</vt:lpstr>
      <vt:lpstr>PIPELINE FOR AN INNER PRODUCT</vt:lpstr>
      <vt:lpstr>PIPELINE FOR AN INNER PRODUCT</vt:lpstr>
      <vt:lpstr>VECTOR VERSUS SCALAR ARCHITECTURES</vt:lpstr>
      <vt:lpstr>PowerPoint Presentation</vt:lpstr>
      <vt:lpstr>ARITHMETIC PIPELINE</vt:lpstr>
      <vt:lpstr>ARITHMETIC PIPELINING EXAMPLE</vt:lpstr>
      <vt:lpstr>ARITHMETIC PIPELINING EXAMPLE</vt:lpstr>
      <vt:lpstr>PowerPoint Presentation</vt:lpstr>
      <vt:lpstr>SPEEDUP EXAMPLE</vt:lpstr>
      <vt:lpstr>ARITHMETIC VS. INSTRUCTION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 LOGIC  CIRCUITS</dc:title>
  <dc:creator>Archilab</dc:creator>
  <cp:lastModifiedBy>waheed ahmad</cp:lastModifiedBy>
  <cp:revision>3</cp:revision>
  <dcterms:created xsi:type="dcterms:W3CDTF">2025-12-16T04:58:03Z</dcterms:created>
  <dcterms:modified xsi:type="dcterms:W3CDTF">2025-12-16T05:12:32Z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2022-10-28T00:00:00Z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2025-12-16T00:00:00Z</vt:filetime>
  </property>
  <property fmtid="{D5CDD505-2E9C-101B-9397-08002B2CF9AE}" pid="5" name="Producer">
    <vt:lpwstr>Microsoft® PowerPoint® for Microsoft 365</vt:lpwstr>
  </property>
  <property fmtid="{D5CDD505-2E9C-101B-9397-08002B2CF9AE}" pid="6" name="ContentTypeId">
    <vt:lpwstr>0x0101006E4823951FA9BF42B980A03718EB0B18</vt:lpwstr>
  </property>
</Properties>
</file>