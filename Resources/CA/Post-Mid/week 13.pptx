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media/image3.jpg" ContentType="image/jpg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48" r:id="rId2"/>
    <p:sldId id="260" r:id="rId3"/>
    <p:sldId id="261" r:id="rId4"/>
    <p:sldId id="349" r:id="rId5"/>
    <p:sldId id="262" r:id="rId6"/>
    <p:sldId id="352" r:id="rId7"/>
    <p:sldId id="257" r:id="rId8"/>
    <p:sldId id="258" r:id="rId9"/>
    <p:sldId id="259" r:id="rId10"/>
    <p:sldId id="353" r:id="rId11"/>
    <p:sldId id="354" r:id="rId12"/>
    <p:sldId id="350" r:id="rId13"/>
    <p:sldId id="355" r:id="rId14"/>
    <p:sldId id="351" r:id="rId15"/>
    <p:sldId id="356" r:id="rId16"/>
    <p:sldId id="357" r:id="rId17"/>
    <p:sldId id="358" r:id="rId18"/>
    <p:sldId id="359" r:id="rId19"/>
    <p:sldId id="373" r:id="rId20"/>
    <p:sldId id="360" r:id="rId21"/>
    <p:sldId id="364" r:id="rId22"/>
    <p:sldId id="366" r:id="rId23"/>
    <p:sldId id="367" r:id="rId24"/>
    <p:sldId id="368" r:id="rId25"/>
    <p:sldId id="369" r:id="rId26"/>
    <p:sldId id="361" r:id="rId27"/>
    <p:sldId id="370" r:id="rId28"/>
    <p:sldId id="263" r:id="rId29"/>
    <p:sldId id="264" r:id="rId30"/>
    <p:sldId id="363" r:id="rId31"/>
    <p:sldId id="371" r:id="rId32"/>
    <p:sldId id="362" r:id="rId33"/>
    <p:sldId id="372" r:id="rId3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>
      <p:cViewPr varScale="1">
        <p:scale>
          <a:sx n="64" d="100"/>
          <a:sy n="64" d="100"/>
        </p:scale>
        <p:origin x="64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41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31458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53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72806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612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8731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645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94999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7912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4560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1251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692" y="521922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1371600" y="1605729"/>
            <a:ext cx="5010150" cy="425450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b="1" dirty="0">
                <a:solidFill>
                  <a:schemeClr val="tx1"/>
                </a:solidFill>
              </a:rPr>
              <a:t>CS361</a:t>
            </a:r>
            <a:r>
              <a:rPr sz="2700" b="1" dirty="0">
                <a:solidFill>
                  <a:schemeClr val="tx1"/>
                </a:solidFill>
              </a:rPr>
              <a:t>:</a:t>
            </a:r>
            <a:r>
              <a:rPr sz="2700" b="1" spc="-30" dirty="0">
                <a:solidFill>
                  <a:schemeClr val="tx1"/>
                </a:solidFill>
              </a:rPr>
              <a:t> </a:t>
            </a:r>
            <a:r>
              <a:rPr sz="2700" b="1" dirty="0">
                <a:solidFill>
                  <a:schemeClr val="tx1"/>
                </a:solidFill>
              </a:rPr>
              <a:t>Computer</a:t>
            </a:r>
            <a:r>
              <a:rPr sz="2700" b="1" spc="-15" dirty="0">
                <a:solidFill>
                  <a:schemeClr val="tx1"/>
                </a:solidFill>
              </a:rPr>
              <a:t> </a:t>
            </a:r>
            <a:r>
              <a:rPr sz="2700" b="1" spc="-8" dirty="0">
                <a:solidFill>
                  <a:schemeClr val="tx1"/>
                </a:solidFill>
              </a:rPr>
              <a:t>Architecture</a:t>
            </a:r>
            <a:endParaRPr sz="2700" b="1" dirty="0">
              <a:solidFill>
                <a:schemeClr val="tx1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44531"/>
            <a:ext cx="2057400" cy="20574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BB0E011-348D-471A-0422-C12E0008068A}"/>
              </a:ext>
            </a:extLst>
          </p:cNvPr>
          <p:cNvSpPr txBox="1"/>
          <p:nvPr/>
        </p:nvSpPr>
        <p:spPr>
          <a:xfrm>
            <a:off x="1207378" y="3364564"/>
            <a:ext cx="5788660" cy="147412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400" b="1" spc="-10" dirty="0">
                <a:latin typeface="Arial"/>
                <a:cs typeface="Arial"/>
              </a:rPr>
              <a:t>Instruction-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r>
              <a:rPr lang="en-US" sz="2000" spc="-10" dirty="0">
                <a:latin typeface="Arial MT"/>
                <a:cs typeface="Arial MT"/>
              </a:rPr>
              <a:t>..</a:t>
            </a:r>
          </a:p>
          <a:p>
            <a:pPr marL="11734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r>
              <a:rPr lang="en-US" sz="2000" spc="-10" dirty="0">
                <a:latin typeface="Arial MT"/>
                <a:cs typeface="Arial MT"/>
              </a:rPr>
              <a:t>RISC Architecture</a:t>
            </a:r>
          </a:p>
          <a:p>
            <a:pPr marL="11734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r>
              <a:rPr lang="en-US" sz="2000" spc="-10" dirty="0">
                <a:latin typeface="Arial MT"/>
                <a:cs typeface="Arial MT"/>
              </a:rPr>
              <a:t>Advanced ILP</a:t>
            </a:r>
          </a:p>
          <a:p>
            <a:pPr marL="826135">
              <a:lnSpc>
                <a:spcPts val="2280"/>
              </a:lnSpc>
              <a:buClr>
                <a:srgbClr val="008011"/>
              </a:buClr>
              <a:tabLst>
                <a:tab pos="1173480" algn="l"/>
              </a:tabLst>
            </a:pPr>
            <a:endParaRPr lang="en-US" sz="2000" spc="-1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3D0F9-C59B-6E3A-6DAA-61DB6C243911}"/>
              </a:ext>
            </a:extLst>
          </p:cNvPr>
          <p:cNvSpPr txBox="1"/>
          <p:nvPr/>
        </p:nvSpPr>
        <p:spPr>
          <a:xfrm>
            <a:off x="204918" y="5328717"/>
            <a:ext cx="8939082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800" dirty="0">
                <a:latin typeface="Arial MT"/>
                <a:cs typeface="Arial MT"/>
              </a:rPr>
              <a:t>Book Computer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Architecture:</a:t>
            </a:r>
            <a:r>
              <a:rPr lang="en-US" sz="1800" spc="-6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Quantitative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Approach,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Sixth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Edition,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Section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spc="-25" dirty="0">
                <a:latin typeface="Arial MT"/>
                <a:cs typeface="Arial MT"/>
              </a:rPr>
              <a:t>C.1 – C2 3.1,.3.2,3.3</a:t>
            </a: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38400" y="115123"/>
            <a:ext cx="268763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z="3600" dirty="0">
                <a:solidFill>
                  <a:schemeClr val="tx1"/>
                </a:solidFill>
              </a:rPr>
              <a:t>RISC	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20" y="576580"/>
            <a:ext cx="8163559" cy="570484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latin typeface="Arial"/>
                <a:cs typeface="Arial"/>
              </a:rPr>
              <a:t>Instruction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Cycles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Three</a:t>
            </a:r>
            <a:r>
              <a:rPr sz="18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Segment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Pipeline</a:t>
            </a:r>
            <a:endParaRPr sz="1800" dirty="0">
              <a:latin typeface="Arial"/>
              <a:cs typeface="Arial"/>
            </a:endParaRPr>
          </a:p>
          <a:p>
            <a:pPr marL="85090">
              <a:lnSpc>
                <a:spcPts val="2055"/>
              </a:lnSpc>
              <a:spcBef>
                <a:spcPts val="121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Load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and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Store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Instructions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ts val="1945"/>
              </a:lnSpc>
              <a:tabLst>
                <a:tab pos="1036955" algn="l"/>
              </a:tabLst>
            </a:pPr>
            <a:r>
              <a:rPr sz="1800" spc="-25" dirty="0">
                <a:latin typeface="Arial MT"/>
                <a:cs typeface="Arial MT"/>
              </a:rPr>
              <a:t>I:</a:t>
            </a:r>
            <a:r>
              <a:rPr sz="1800" dirty="0">
                <a:latin typeface="Arial MT"/>
                <a:cs typeface="Arial MT"/>
              </a:rPr>
              <a:t>	Instruction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Fetch</a:t>
            </a:r>
            <a:endParaRPr sz="1800" dirty="0">
              <a:latin typeface="Arial MT"/>
              <a:cs typeface="Arial MT"/>
            </a:endParaRPr>
          </a:p>
          <a:p>
            <a:pPr marL="516255">
              <a:lnSpc>
                <a:spcPts val="1945"/>
              </a:lnSpc>
              <a:tabLst>
                <a:tab pos="1049020" algn="l"/>
              </a:tabLst>
            </a:pPr>
            <a:r>
              <a:rPr sz="1800" spc="-25" dirty="0">
                <a:latin typeface="Arial MT"/>
                <a:cs typeface="Arial MT"/>
              </a:rPr>
              <a:t>A:</a:t>
            </a:r>
            <a:r>
              <a:rPr sz="1800" dirty="0">
                <a:latin typeface="Arial MT"/>
                <a:cs typeface="Arial MT"/>
              </a:rPr>
              <a:t>	Decode,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Evaluate</a:t>
            </a:r>
            <a:r>
              <a:rPr sz="1800" spc="-10" dirty="0">
                <a:latin typeface="Arial MT"/>
                <a:cs typeface="Arial MT"/>
              </a:rPr>
              <a:t> Effective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</a:t>
            </a:r>
            <a:endParaRPr sz="1800" dirty="0">
              <a:latin typeface="Arial MT"/>
              <a:cs typeface="Arial MT"/>
            </a:endParaRPr>
          </a:p>
          <a:p>
            <a:pPr marL="530225">
              <a:lnSpc>
                <a:spcPts val="2050"/>
              </a:lnSpc>
              <a:tabLst>
                <a:tab pos="1062990" algn="l"/>
              </a:tabLst>
            </a:pPr>
            <a:r>
              <a:rPr sz="1800" spc="-25" dirty="0">
                <a:latin typeface="Arial MT"/>
                <a:cs typeface="Arial MT"/>
              </a:rPr>
              <a:t>E: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Register-to-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Memory-to-Register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1800" dirty="0">
              <a:latin typeface="Arial MT"/>
              <a:cs typeface="Arial MT"/>
            </a:endParaRPr>
          </a:p>
          <a:p>
            <a:pPr marL="85090">
              <a:lnSpc>
                <a:spcPts val="2050"/>
              </a:lnSpc>
              <a:spcBef>
                <a:spcPts val="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Manipulation</a:t>
            </a:r>
            <a:r>
              <a:rPr sz="18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Instructions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ts val="1945"/>
              </a:lnSpc>
              <a:tabLst>
                <a:tab pos="1037590" algn="l"/>
              </a:tabLst>
            </a:pPr>
            <a:r>
              <a:rPr sz="1800" spc="-25" dirty="0">
                <a:latin typeface="Arial MT"/>
                <a:cs typeface="Arial MT"/>
              </a:rPr>
              <a:t>I:</a:t>
            </a:r>
            <a:r>
              <a:rPr sz="1800" dirty="0">
                <a:latin typeface="Arial MT"/>
                <a:cs typeface="Arial MT"/>
              </a:rPr>
              <a:t>	Instruction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Fetch</a:t>
            </a:r>
            <a:endParaRPr sz="1800" dirty="0">
              <a:latin typeface="Arial MT"/>
              <a:cs typeface="Arial MT"/>
            </a:endParaRPr>
          </a:p>
          <a:p>
            <a:pPr marL="530225" marR="2878455" indent="-13970">
              <a:lnSpc>
                <a:spcPts val="1939"/>
              </a:lnSpc>
              <a:spcBef>
                <a:spcPts val="140"/>
              </a:spcBef>
              <a:tabLst>
                <a:tab pos="1049020" algn="l"/>
              </a:tabLst>
            </a:pPr>
            <a:r>
              <a:rPr sz="1800" spc="-25" dirty="0">
                <a:latin typeface="Arial MT"/>
                <a:cs typeface="Arial MT"/>
              </a:rPr>
              <a:t>A:</a:t>
            </a:r>
            <a:r>
              <a:rPr sz="1800" dirty="0">
                <a:latin typeface="Arial MT"/>
                <a:cs typeface="Arial MT"/>
              </a:rPr>
              <a:t>	Decode,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Registers,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 </a:t>
            </a:r>
            <a:r>
              <a:rPr sz="1800" spc="-25" dirty="0">
                <a:latin typeface="Arial MT"/>
                <a:cs typeface="Arial MT"/>
              </a:rPr>
              <a:t>E: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</a:t>
            </a: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1800" dirty="0">
              <a:latin typeface="Arial MT"/>
              <a:cs typeface="Arial MT"/>
            </a:endParaRPr>
          </a:p>
          <a:p>
            <a:pPr marL="85090">
              <a:lnSpc>
                <a:spcPts val="2050"/>
              </a:lnSpc>
              <a:spcBef>
                <a:spcPts val="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Program</a:t>
            </a:r>
            <a:r>
              <a:rPr sz="18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Control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Instructions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ts val="1945"/>
              </a:lnSpc>
              <a:tabLst>
                <a:tab pos="1037590" algn="l"/>
              </a:tabLst>
            </a:pPr>
            <a:r>
              <a:rPr sz="1800" spc="-25" dirty="0">
                <a:latin typeface="Arial MT"/>
                <a:cs typeface="Arial MT"/>
              </a:rPr>
              <a:t>I:</a:t>
            </a:r>
            <a:r>
              <a:rPr sz="1800" dirty="0">
                <a:latin typeface="Arial MT"/>
                <a:cs typeface="Arial MT"/>
              </a:rPr>
              <a:t>	Instruction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Fetch</a:t>
            </a:r>
            <a:endParaRPr sz="1800" dirty="0">
              <a:latin typeface="Arial MT"/>
              <a:cs typeface="Arial MT"/>
            </a:endParaRPr>
          </a:p>
          <a:p>
            <a:pPr marL="530225" marR="3627120" indent="-13970">
              <a:lnSpc>
                <a:spcPts val="1939"/>
              </a:lnSpc>
              <a:spcBef>
                <a:spcPts val="140"/>
              </a:spcBef>
              <a:tabLst>
                <a:tab pos="1049020" algn="l"/>
              </a:tabLst>
            </a:pPr>
            <a:r>
              <a:rPr sz="1800" spc="-25" dirty="0">
                <a:latin typeface="Arial MT"/>
                <a:cs typeface="Arial MT"/>
              </a:rPr>
              <a:t>A:</a:t>
            </a:r>
            <a:r>
              <a:rPr sz="1800" dirty="0">
                <a:latin typeface="Arial MT"/>
                <a:cs typeface="Arial MT"/>
              </a:rPr>
              <a:t>	Decode,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Evaluate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 </a:t>
            </a:r>
            <a:r>
              <a:rPr sz="1800" spc="-25" dirty="0">
                <a:latin typeface="Arial MT"/>
                <a:cs typeface="Arial MT"/>
              </a:rPr>
              <a:t>E: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Register(PC)</a:t>
            </a: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050"/>
              </a:lnSpc>
            </a:pPr>
            <a:r>
              <a:rPr sz="1800" b="1" dirty="0">
                <a:latin typeface="Arial"/>
                <a:cs typeface="Arial"/>
              </a:rPr>
              <a:t>RICS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pipelining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benefits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complier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handling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hazards,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such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delayed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load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delayed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branch</a:t>
            </a:r>
            <a:r>
              <a:rPr sz="1800" b="1" spc="-1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46063"/>
            <a:ext cx="7543800" cy="3825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95"/>
              </a:spcBef>
            </a:pPr>
            <a:r>
              <a:rPr sz="2400" dirty="0"/>
              <a:t>DATA</a:t>
            </a:r>
            <a:r>
              <a:rPr sz="2400" spc="-55" dirty="0"/>
              <a:t> </a:t>
            </a:r>
            <a:r>
              <a:rPr sz="2400" dirty="0"/>
              <a:t>HAZARDS</a:t>
            </a:r>
            <a:r>
              <a:rPr sz="2400" spc="-35" dirty="0"/>
              <a:t> </a:t>
            </a:r>
            <a:r>
              <a:rPr sz="2400" dirty="0"/>
              <a:t>IN</a:t>
            </a:r>
            <a:r>
              <a:rPr sz="2400" spc="-70" dirty="0"/>
              <a:t> </a:t>
            </a:r>
            <a:r>
              <a:rPr sz="2400" dirty="0"/>
              <a:t>A</a:t>
            </a:r>
            <a:r>
              <a:rPr sz="2400" spc="-65" dirty="0"/>
              <a:t> </a:t>
            </a:r>
            <a:r>
              <a:rPr sz="2400" dirty="0"/>
              <a:t>RISC</a:t>
            </a:r>
            <a:r>
              <a:rPr sz="2400" spc="-60" dirty="0"/>
              <a:t> </a:t>
            </a:r>
            <a:r>
              <a:rPr sz="2400" spc="-10" dirty="0"/>
              <a:t>PIPELINE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3273297" y="2750058"/>
            <a:ext cx="173990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331470" algn="l"/>
                <a:tab pos="647700" algn="l"/>
                <a:tab pos="965200" algn="l"/>
                <a:tab pos="1283335" algn="l"/>
                <a:tab pos="1599565" algn="l"/>
              </a:tabLst>
            </a:pPr>
            <a:r>
              <a:rPr sz="1800" spc="-50" dirty="0">
                <a:latin typeface="Arial MT"/>
                <a:cs typeface="Arial MT"/>
              </a:rPr>
              <a:t>1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2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4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5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6</a:t>
            </a:r>
            <a:endParaRPr sz="1800" dirty="0">
              <a:latin typeface="Arial MT"/>
              <a:cs typeface="Arial MT"/>
            </a:endParaRPr>
          </a:p>
          <a:p>
            <a:pPr marL="88900">
              <a:lnSpc>
                <a:spcPts val="2050"/>
              </a:lnSpc>
              <a:tabLst>
                <a:tab pos="331470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A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0152" y="2750058"/>
            <a:ext cx="1668780" cy="12877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3200" marR="528955" indent="-191135" algn="just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cycle </a:t>
            </a:r>
            <a:r>
              <a:rPr sz="1800" dirty="0">
                <a:latin typeface="Arial MT"/>
                <a:cs typeface="Arial MT"/>
              </a:rPr>
              <a:t>Load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R1 </a:t>
            </a:r>
            <a:r>
              <a:rPr sz="1800" dirty="0">
                <a:latin typeface="Arial MT"/>
                <a:cs typeface="Arial MT"/>
              </a:rPr>
              <a:t>Load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R2</a:t>
            </a:r>
            <a:endParaRPr sz="1800">
              <a:latin typeface="Arial MT"/>
              <a:cs typeface="Arial MT"/>
            </a:endParaRPr>
          </a:p>
          <a:p>
            <a:pPr marL="191135">
              <a:lnSpc>
                <a:spcPts val="1820"/>
              </a:lnSpc>
              <a:tabLst>
                <a:tab pos="786765" algn="l"/>
              </a:tabLst>
            </a:pPr>
            <a:r>
              <a:rPr sz="1800" spc="-25" dirty="0">
                <a:latin typeface="Arial MT"/>
                <a:cs typeface="Arial MT"/>
              </a:rPr>
              <a:t>Add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R1(+</a:t>
            </a:r>
            <a:r>
              <a:rPr sz="1800" spc="-10" dirty="0">
                <a:solidFill>
                  <a:srgbClr val="DD0805"/>
                </a:solidFill>
                <a:latin typeface="Arial MT"/>
                <a:cs typeface="Arial MT"/>
              </a:rPr>
              <a:t>R2)</a:t>
            </a:r>
            <a:endParaRPr sz="1800">
              <a:latin typeface="Arial MT"/>
              <a:cs typeface="Arial MT"/>
            </a:endParaRPr>
          </a:p>
          <a:p>
            <a:pPr marL="203200">
              <a:lnSpc>
                <a:spcPts val="2050"/>
              </a:lnSpc>
              <a:tabLst>
                <a:tab pos="876300" algn="l"/>
              </a:tabLst>
            </a:pPr>
            <a:r>
              <a:rPr sz="1800" spc="-10" dirty="0">
                <a:latin typeface="Arial MT"/>
                <a:cs typeface="Arial MT"/>
              </a:rPr>
              <a:t>Store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R3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2247" y="3243529"/>
            <a:ext cx="136144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  <a:tabLst>
                <a:tab pos="316865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A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287020">
              <a:lnSpc>
                <a:spcPts val="1945"/>
              </a:lnSpc>
              <a:tabLst>
                <a:tab pos="591820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A</a:t>
            </a:r>
            <a:r>
              <a:rPr sz="1800" spc="40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624205">
              <a:lnSpc>
                <a:spcPts val="2050"/>
              </a:lnSpc>
              <a:tabLst>
                <a:tab pos="864869" algn="l"/>
                <a:tab pos="1195705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17191" y="807211"/>
            <a:ext cx="711200" cy="5715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z="1800" spc="-10" dirty="0">
                <a:latin typeface="Arial MT"/>
                <a:cs typeface="Arial MT"/>
              </a:rPr>
              <a:t>LOAD: LOAD: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2175" y="807211"/>
            <a:ext cx="1991995" cy="57150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z="1800" dirty="0">
                <a:latin typeface="Arial MT"/>
                <a:cs typeface="Arial MT"/>
              </a:rPr>
              <a:t>R1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M[address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1] </a:t>
            </a:r>
            <a:r>
              <a:rPr sz="1800" dirty="0">
                <a:latin typeface="Arial MT"/>
                <a:cs typeface="Arial MT"/>
              </a:rPr>
              <a:t>R2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M[address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2]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777" y="1280597"/>
            <a:ext cx="5137150" cy="145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0425">
              <a:lnSpc>
                <a:spcPts val="2150"/>
              </a:lnSpc>
              <a:spcBef>
                <a:spcPts val="100"/>
              </a:spcBef>
              <a:tabLst>
                <a:tab pos="3158490" algn="l"/>
              </a:tabLst>
            </a:pPr>
            <a:r>
              <a:rPr sz="1800" spc="-20" dirty="0">
                <a:latin typeface="Arial MT"/>
                <a:cs typeface="Arial MT"/>
              </a:rPr>
              <a:t>ADD:</a:t>
            </a:r>
            <a:r>
              <a:rPr sz="1800" dirty="0">
                <a:latin typeface="Arial MT"/>
                <a:cs typeface="Arial MT"/>
              </a:rPr>
              <a:t>	R3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 MT"/>
                <a:cs typeface="Arial MT"/>
              </a:rPr>
              <a:t>R1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 </a:t>
            </a:r>
            <a:r>
              <a:rPr sz="1800" spc="-25" dirty="0">
                <a:latin typeface="Arial MT"/>
                <a:cs typeface="Arial MT"/>
              </a:rPr>
              <a:t>R2</a:t>
            </a:r>
            <a:endParaRPr sz="1800" dirty="0">
              <a:latin typeface="Arial MT"/>
              <a:cs typeface="Arial MT"/>
            </a:endParaRPr>
          </a:p>
          <a:p>
            <a:pPr marL="2143760">
              <a:lnSpc>
                <a:spcPts val="2150"/>
              </a:lnSpc>
              <a:tabLst>
                <a:tab pos="3158490" algn="l"/>
              </a:tabLst>
            </a:pPr>
            <a:r>
              <a:rPr sz="1800" spc="-10" dirty="0">
                <a:latin typeface="Arial MT"/>
                <a:cs typeface="Arial MT"/>
              </a:rPr>
              <a:t>STORE:</a:t>
            </a:r>
            <a:r>
              <a:rPr sz="1800" dirty="0">
                <a:latin typeface="Arial MT"/>
                <a:cs typeface="Arial MT"/>
              </a:rPr>
              <a:t>	M[address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3]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 MT"/>
                <a:cs typeface="Arial MT"/>
              </a:rPr>
              <a:t>R3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Three-</a:t>
            </a:r>
            <a:r>
              <a:rPr sz="1800" dirty="0">
                <a:latin typeface="Arial MT"/>
                <a:cs typeface="Arial MT"/>
              </a:rPr>
              <a:t>segment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</a:t>
            </a:r>
            <a:r>
              <a:rPr sz="1800" spc="-10" dirty="0">
                <a:latin typeface="Arial MT"/>
                <a:cs typeface="Arial MT"/>
              </a:rPr>
              <a:t> timing</a:t>
            </a:r>
            <a:endParaRPr sz="1800" dirty="0">
              <a:latin typeface="Arial MT"/>
              <a:cs typeface="Arial MT"/>
            </a:endParaRPr>
          </a:p>
          <a:p>
            <a:pPr marL="434975">
              <a:lnSpc>
                <a:spcPct val="100000"/>
              </a:lnSpc>
              <a:spcBef>
                <a:spcPts val="509"/>
              </a:spcBef>
            </a:pPr>
            <a:r>
              <a:rPr sz="1800" b="1" dirty="0">
                <a:latin typeface="Arial"/>
                <a:cs typeface="Arial"/>
              </a:rPr>
              <a:t>Pipeline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timing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with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conflict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56126" y="3254502"/>
            <a:ext cx="403860" cy="2827020"/>
          </a:xfrm>
          <a:custGeom>
            <a:avLst/>
            <a:gdLst/>
            <a:ahLst/>
            <a:cxnLst/>
            <a:rect l="l" t="t" r="r" b="b"/>
            <a:pathLst>
              <a:path w="403860" h="2827020">
                <a:moveTo>
                  <a:pt x="65532" y="271272"/>
                </a:moveTo>
                <a:lnTo>
                  <a:pt x="68966" y="216589"/>
                </a:lnTo>
                <a:lnTo>
                  <a:pt x="78819" y="165663"/>
                </a:lnTo>
                <a:lnTo>
                  <a:pt x="94410" y="119583"/>
                </a:lnTo>
                <a:lnTo>
                  <a:pt x="115062" y="79438"/>
                </a:lnTo>
                <a:lnTo>
                  <a:pt x="140094" y="46318"/>
                </a:lnTo>
                <a:lnTo>
                  <a:pt x="200590" y="5509"/>
                </a:lnTo>
                <a:lnTo>
                  <a:pt x="234696" y="0"/>
                </a:lnTo>
                <a:lnTo>
                  <a:pt x="268801" y="5509"/>
                </a:lnTo>
                <a:lnTo>
                  <a:pt x="329297" y="46318"/>
                </a:lnTo>
                <a:lnTo>
                  <a:pt x="354330" y="79438"/>
                </a:lnTo>
                <a:lnTo>
                  <a:pt x="374981" y="119583"/>
                </a:lnTo>
                <a:lnTo>
                  <a:pt x="390572" y="165663"/>
                </a:lnTo>
                <a:lnTo>
                  <a:pt x="400425" y="216589"/>
                </a:lnTo>
                <a:lnTo>
                  <a:pt x="403860" y="271272"/>
                </a:lnTo>
                <a:lnTo>
                  <a:pt x="400425" y="325954"/>
                </a:lnTo>
                <a:lnTo>
                  <a:pt x="390572" y="376880"/>
                </a:lnTo>
                <a:lnTo>
                  <a:pt x="374981" y="422960"/>
                </a:lnTo>
                <a:lnTo>
                  <a:pt x="354329" y="463105"/>
                </a:lnTo>
                <a:lnTo>
                  <a:pt x="329297" y="496225"/>
                </a:lnTo>
                <a:lnTo>
                  <a:pt x="268801" y="537034"/>
                </a:lnTo>
                <a:lnTo>
                  <a:pt x="234696" y="542544"/>
                </a:lnTo>
                <a:lnTo>
                  <a:pt x="200590" y="537034"/>
                </a:lnTo>
                <a:lnTo>
                  <a:pt x="140094" y="496225"/>
                </a:lnTo>
                <a:lnTo>
                  <a:pt x="115062" y="463105"/>
                </a:lnTo>
                <a:lnTo>
                  <a:pt x="94410" y="422960"/>
                </a:lnTo>
                <a:lnTo>
                  <a:pt x="78819" y="376880"/>
                </a:lnTo>
                <a:lnTo>
                  <a:pt x="68966" y="325954"/>
                </a:lnTo>
                <a:lnTo>
                  <a:pt x="65532" y="271272"/>
                </a:lnTo>
                <a:close/>
              </a:path>
              <a:path w="403860" h="2827020">
                <a:moveTo>
                  <a:pt x="0" y="2406396"/>
                </a:moveTo>
                <a:lnTo>
                  <a:pt x="2242" y="2338173"/>
                </a:lnTo>
                <a:lnTo>
                  <a:pt x="8735" y="2273454"/>
                </a:lnTo>
                <a:lnTo>
                  <a:pt x="19126" y="2213104"/>
                </a:lnTo>
                <a:lnTo>
                  <a:pt x="33064" y="2157990"/>
                </a:lnTo>
                <a:lnTo>
                  <a:pt x="50196" y="2108977"/>
                </a:lnTo>
                <a:lnTo>
                  <a:pt x="70171" y="2066934"/>
                </a:lnTo>
                <a:lnTo>
                  <a:pt x="92635" y="2032725"/>
                </a:lnTo>
                <a:lnTo>
                  <a:pt x="143627" y="1991277"/>
                </a:lnTo>
                <a:lnTo>
                  <a:pt x="171450" y="1985772"/>
                </a:lnTo>
                <a:lnTo>
                  <a:pt x="199272" y="1991277"/>
                </a:lnTo>
                <a:lnTo>
                  <a:pt x="250264" y="2032725"/>
                </a:lnTo>
                <a:lnTo>
                  <a:pt x="272728" y="2066934"/>
                </a:lnTo>
                <a:lnTo>
                  <a:pt x="292703" y="2108977"/>
                </a:lnTo>
                <a:lnTo>
                  <a:pt x="309835" y="2157990"/>
                </a:lnTo>
                <a:lnTo>
                  <a:pt x="323773" y="2213104"/>
                </a:lnTo>
                <a:lnTo>
                  <a:pt x="334164" y="2273454"/>
                </a:lnTo>
                <a:lnTo>
                  <a:pt x="340657" y="2338173"/>
                </a:lnTo>
                <a:lnTo>
                  <a:pt x="342900" y="2406396"/>
                </a:lnTo>
                <a:lnTo>
                  <a:pt x="340657" y="2474624"/>
                </a:lnTo>
                <a:lnTo>
                  <a:pt x="334164" y="2539347"/>
                </a:lnTo>
                <a:lnTo>
                  <a:pt x="323773" y="2599698"/>
                </a:lnTo>
                <a:lnTo>
                  <a:pt x="309835" y="2654812"/>
                </a:lnTo>
                <a:lnTo>
                  <a:pt x="292703" y="2703823"/>
                </a:lnTo>
                <a:lnTo>
                  <a:pt x="272728" y="2745865"/>
                </a:lnTo>
                <a:lnTo>
                  <a:pt x="250264" y="2780071"/>
                </a:lnTo>
                <a:lnTo>
                  <a:pt x="199272" y="2821514"/>
                </a:lnTo>
                <a:lnTo>
                  <a:pt x="171450" y="2827020"/>
                </a:lnTo>
                <a:lnTo>
                  <a:pt x="143627" y="2821514"/>
                </a:lnTo>
                <a:lnTo>
                  <a:pt x="92635" y="2780071"/>
                </a:lnTo>
                <a:lnTo>
                  <a:pt x="70171" y="2745865"/>
                </a:lnTo>
                <a:lnTo>
                  <a:pt x="50196" y="2703823"/>
                </a:lnTo>
                <a:lnTo>
                  <a:pt x="33064" y="2654812"/>
                </a:lnTo>
                <a:lnTo>
                  <a:pt x="19126" y="2599698"/>
                </a:lnTo>
                <a:lnTo>
                  <a:pt x="8735" y="2539347"/>
                </a:lnTo>
                <a:lnTo>
                  <a:pt x="2242" y="2474624"/>
                </a:lnTo>
                <a:lnTo>
                  <a:pt x="0" y="2406396"/>
                </a:lnTo>
                <a:close/>
              </a:path>
            </a:pathLst>
          </a:custGeom>
          <a:ln w="25908">
            <a:solidFill>
              <a:srgbClr val="DD08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71413" y="2942335"/>
            <a:ext cx="3065780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ts val="1370"/>
              </a:lnSpc>
              <a:spcBef>
                <a:spcPts val="100"/>
              </a:spcBef>
              <a:tabLst>
                <a:tab pos="363855" algn="l"/>
              </a:tabLst>
            </a:pP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I: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	Fetch</a:t>
            </a:r>
            <a:r>
              <a:rPr sz="1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295"/>
              </a:lnSpc>
              <a:tabLst>
                <a:tab pos="371475" algn="l"/>
              </a:tabLst>
            </a:pP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A: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	Decode,</a:t>
            </a:r>
            <a:r>
              <a:rPr sz="1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Read</a:t>
            </a:r>
            <a:r>
              <a:rPr sz="1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registers,</a:t>
            </a:r>
            <a:r>
              <a:rPr sz="12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ALU</a:t>
            </a:r>
            <a:r>
              <a:rPr sz="1200" spc="-10" dirty="0">
                <a:solidFill>
                  <a:srgbClr val="7E7E7E"/>
                </a:solidFill>
                <a:latin typeface="Arial MT"/>
                <a:cs typeface="Arial MT"/>
              </a:rPr>
              <a:t> Operation</a:t>
            </a:r>
            <a:endParaRPr sz="1200">
              <a:latin typeface="Arial MT"/>
              <a:cs typeface="Arial MT"/>
            </a:endParaRPr>
          </a:p>
          <a:p>
            <a:pPr marL="407034" marR="245745" indent="-386080">
              <a:lnSpc>
                <a:spcPts val="1300"/>
              </a:lnSpc>
              <a:spcBef>
                <a:spcPts val="85"/>
              </a:spcBef>
              <a:tabLst>
                <a:tab pos="379095" algn="l"/>
              </a:tabLst>
            </a:pP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E: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	Execute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(write</a:t>
            </a:r>
            <a:r>
              <a:rPr sz="1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reg,</a:t>
            </a:r>
            <a:r>
              <a:rPr sz="1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reg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mem,</a:t>
            </a:r>
            <a:r>
              <a:rPr sz="1200" spc="-25" dirty="0">
                <a:solidFill>
                  <a:srgbClr val="7E7E7E"/>
                </a:solidFill>
                <a:latin typeface="Arial MT"/>
                <a:cs typeface="Arial MT"/>
              </a:rPr>
              <a:t> or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mem</a:t>
            </a:r>
            <a:r>
              <a:rPr sz="1200" spc="3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2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7E7E7E"/>
                </a:solidFill>
                <a:latin typeface="Arial MT"/>
                <a:cs typeface="Arial MT"/>
              </a:rPr>
              <a:t>reg)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>
            <a:extLst>
              <a:ext uri="{FF2B5EF4-FFF2-40B4-BE49-F238E27FC236}">
                <a16:creationId xmlns:a16="http://schemas.microsoft.com/office/drawing/2014/main" id="{9ED1A469-E93F-A01A-37FB-055BE7943538}"/>
              </a:ext>
            </a:extLst>
          </p:cNvPr>
          <p:cNvSpPr txBox="1"/>
          <p:nvPr/>
        </p:nvSpPr>
        <p:spPr>
          <a:xfrm>
            <a:off x="457200" y="1371600"/>
            <a:ext cx="3618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Pipeline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timing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with</a:t>
            </a:r>
            <a:r>
              <a:rPr sz="18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delayed</a:t>
            </a:r>
            <a:r>
              <a:rPr sz="1800" b="1" spc="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load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905ECAD8-44B2-54EA-6E83-DE87FB9D3CDF}"/>
              </a:ext>
            </a:extLst>
          </p:cNvPr>
          <p:cNvSpPr txBox="1"/>
          <p:nvPr/>
        </p:nvSpPr>
        <p:spPr>
          <a:xfrm>
            <a:off x="1219201" y="1618183"/>
            <a:ext cx="1668780" cy="15354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53365" marR="5080" indent="-241300">
              <a:lnSpc>
                <a:spcPct val="90000"/>
              </a:lnSpc>
              <a:spcBef>
                <a:spcPts val="315"/>
              </a:spcBef>
              <a:tabLst>
                <a:tab pos="786765" algn="l"/>
                <a:tab pos="950594" algn="l"/>
              </a:tabLst>
            </a:pP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cycle</a:t>
            </a:r>
            <a:r>
              <a:rPr sz="1800" spc="50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Load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25" dirty="0">
                <a:latin typeface="Arial MT"/>
                <a:cs typeface="Arial MT"/>
              </a:rPr>
              <a:t>R1 </a:t>
            </a:r>
            <a:r>
              <a:rPr sz="1800" spc="-20" dirty="0">
                <a:latin typeface="Arial MT"/>
                <a:cs typeface="Arial MT"/>
              </a:rPr>
              <a:t>Load</a:t>
            </a:r>
            <a:r>
              <a:rPr sz="1800" dirty="0">
                <a:latin typeface="Arial MT"/>
                <a:cs typeface="Arial MT"/>
              </a:rPr>
              <a:t>		</a:t>
            </a:r>
            <a:r>
              <a:rPr sz="1800" spc="-25" dirty="0">
                <a:latin typeface="Arial MT"/>
                <a:cs typeface="Arial MT"/>
              </a:rPr>
              <a:t>R2 </a:t>
            </a:r>
            <a:r>
              <a:rPr sz="1800" b="1" dirty="0">
                <a:solidFill>
                  <a:srgbClr val="DD0805"/>
                </a:solidFill>
                <a:latin typeface="Arial"/>
                <a:cs typeface="Arial"/>
              </a:rPr>
              <a:t>NOP</a:t>
            </a:r>
            <a:r>
              <a:rPr sz="1800" b="1" spc="-35" dirty="0">
                <a:solidFill>
                  <a:srgbClr val="DD080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DD0805"/>
                </a:solidFill>
                <a:latin typeface="Arial"/>
                <a:cs typeface="Arial"/>
              </a:rPr>
              <a:t>(stall) </a:t>
            </a:r>
            <a:r>
              <a:rPr sz="1800" spc="-25" dirty="0">
                <a:latin typeface="Arial MT"/>
                <a:cs typeface="Arial MT"/>
              </a:rPr>
              <a:t>Add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R1(+R2)</a:t>
            </a:r>
            <a:endParaRPr sz="1800">
              <a:latin typeface="Arial MT"/>
              <a:cs typeface="Arial MT"/>
            </a:endParaRPr>
          </a:p>
          <a:p>
            <a:pPr marL="267335">
              <a:lnSpc>
                <a:spcPts val="1945"/>
              </a:lnSpc>
              <a:tabLst>
                <a:tab pos="1003300" algn="l"/>
              </a:tabLst>
            </a:pPr>
            <a:r>
              <a:rPr sz="1800" spc="-10" dirty="0">
                <a:latin typeface="Arial MT"/>
                <a:cs typeface="Arial MT"/>
              </a:rPr>
              <a:t>Store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R3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1B6B2E50-2A57-5E28-3A0E-4A3D3D08E6CA}"/>
              </a:ext>
            </a:extLst>
          </p:cNvPr>
          <p:cNvSpPr txBox="1"/>
          <p:nvPr/>
        </p:nvSpPr>
        <p:spPr>
          <a:xfrm>
            <a:off x="2895854" y="1618183"/>
            <a:ext cx="2062480" cy="153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  <a:tabLst>
                <a:tab pos="329565" algn="l"/>
                <a:tab pos="648335" algn="l"/>
                <a:tab pos="965835" algn="l"/>
                <a:tab pos="1285240" algn="l"/>
                <a:tab pos="1603375" algn="l"/>
                <a:tab pos="1921510" algn="l"/>
              </a:tabLst>
            </a:pPr>
            <a:r>
              <a:rPr sz="1800" spc="-50" dirty="0">
                <a:latin typeface="Arial MT"/>
                <a:cs typeface="Arial MT"/>
              </a:rPr>
              <a:t>1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2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3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4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5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6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  <a:p>
            <a:pPr marL="87630">
              <a:lnSpc>
                <a:spcPts val="1945"/>
              </a:lnSpc>
              <a:tabLst>
                <a:tab pos="391795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A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403860">
              <a:lnSpc>
                <a:spcPts val="1945"/>
              </a:lnSpc>
              <a:tabLst>
                <a:tab pos="708660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A</a:t>
            </a:r>
            <a:r>
              <a:rPr sz="1800" spc="40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812800">
              <a:lnSpc>
                <a:spcPts val="1945"/>
              </a:lnSpc>
            </a:pPr>
            <a:r>
              <a:rPr sz="1800" b="1" dirty="0">
                <a:solidFill>
                  <a:srgbClr val="DD0805"/>
                </a:solidFill>
                <a:latin typeface="Arial"/>
                <a:cs typeface="Arial"/>
              </a:rPr>
              <a:t>I</a:t>
            </a:r>
            <a:r>
              <a:rPr sz="1800" b="1" spc="434" dirty="0">
                <a:solidFill>
                  <a:srgbClr val="DD080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D0805"/>
                </a:solidFill>
                <a:latin typeface="Arial"/>
                <a:cs typeface="Arial"/>
              </a:rPr>
              <a:t>A</a:t>
            </a:r>
            <a:r>
              <a:rPr sz="1800" b="1" spc="430" dirty="0">
                <a:solidFill>
                  <a:srgbClr val="DD0805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DD0805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061085">
              <a:lnSpc>
                <a:spcPts val="1945"/>
              </a:lnSpc>
              <a:tabLst>
                <a:tab pos="1301750" algn="l"/>
                <a:tab pos="1631950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  <a:p>
            <a:pPr marL="1334135">
              <a:lnSpc>
                <a:spcPts val="2050"/>
              </a:lnSpc>
              <a:tabLst>
                <a:tab pos="1574800" algn="l"/>
              </a:tabLst>
            </a:pPr>
            <a:r>
              <a:rPr sz="1800" spc="-50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	A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5000" y="1542696"/>
            <a:ext cx="2783205" cy="22440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5"/>
              </a:spcBef>
            </a:pPr>
            <a:r>
              <a:rPr sz="1600" dirty="0">
                <a:latin typeface="Arial MT"/>
                <a:cs typeface="Arial MT"/>
              </a:rPr>
              <a:t>If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cannot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 </a:t>
            </a:r>
            <a:r>
              <a:rPr sz="1600" dirty="0">
                <a:latin typeface="Arial MT"/>
                <a:cs typeface="Arial MT"/>
              </a:rPr>
              <a:t>useful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put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after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load,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inserts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no- </a:t>
            </a:r>
            <a:r>
              <a:rPr sz="1600" dirty="0">
                <a:latin typeface="Arial MT"/>
                <a:cs typeface="Arial MT"/>
              </a:rPr>
              <a:t>operation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(this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 </a:t>
            </a:r>
            <a:r>
              <a:rPr sz="1600" dirty="0">
                <a:latin typeface="Arial MT"/>
                <a:cs typeface="Arial MT"/>
              </a:rPr>
              <a:t>type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no </a:t>
            </a:r>
            <a:r>
              <a:rPr sz="1600" dirty="0">
                <a:latin typeface="Arial MT"/>
                <a:cs typeface="Arial MT"/>
              </a:rPr>
              <a:t>operation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outcome,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thus </a:t>
            </a:r>
            <a:r>
              <a:rPr sz="1600" dirty="0">
                <a:latin typeface="Arial MT"/>
                <a:cs typeface="Arial MT"/>
              </a:rPr>
              <a:t>wasting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clock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cycle).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This </a:t>
            </a:r>
            <a:r>
              <a:rPr sz="1600" dirty="0">
                <a:latin typeface="Arial MT"/>
                <a:cs typeface="Arial MT"/>
              </a:rPr>
              <a:t>concept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delaying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loaded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memory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referred 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delayed </a:t>
            </a:r>
            <a:r>
              <a:rPr sz="1600" b="1" spc="-10" dirty="0">
                <a:solidFill>
                  <a:srgbClr val="008011"/>
                </a:solidFill>
                <a:latin typeface="Arial"/>
                <a:cs typeface="Arial"/>
              </a:rPr>
              <a:t>load</a:t>
            </a:r>
            <a:r>
              <a:rPr sz="1600" i="1" spc="-1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2BFE8-BCFD-0C0F-6D3F-C59AFC3FABFF}"/>
              </a:ext>
            </a:extLst>
          </p:cNvPr>
          <p:cNvSpPr txBox="1"/>
          <p:nvPr/>
        </p:nvSpPr>
        <p:spPr>
          <a:xfrm>
            <a:off x="304800" y="407233"/>
            <a:ext cx="819340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80"/>
              </a:lnSpc>
              <a:spcBef>
                <a:spcPts val="105"/>
              </a:spcBef>
            </a:pPr>
            <a:r>
              <a:rPr lang="en-US" sz="1800" b="1" dirty="0">
                <a:solidFill>
                  <a:schemeClr val="tx1"/>
                </a:solidFill>
              </a:rPr>
              <a:t>BRANCH HAZARD ARE HANDLED THROUGH DELAYED</a:t>
            </a:r>
          </a:p>
          <a:p>
            <a:pPr marL="1905" algn="ctr">
              <a:lnSpc>
                <a:spcPts val="2280"/>
              </a:lnSpc>
            </a:pPr>
            <a:r>
              <a:rPr lang="en-US" sz="1800" b="1" dirty="0">
                <a:solidFill>
                  <a:schemeClr val="tx1"/>
                </a:solidFill>
              </a:rPr>
              <a:t>BRANCH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12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6045" y="244768"/>
            <a:ext cx="7543800" cy="6244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280"/>
              </a:lnSpc>
              <a:spcBef>
                <a:spcPts val="105"/>
              </a:spcBef>
            </a:pPr>
            <a:r>
              <a:rPr sz="2800" b="1" dirty="0">
                <a:solidFill>
                  <a:schemeClr val="tx1"/>
                </a:solidFill>
              </a:rPr>
              <a:t>BRANCH HAZARD ARE HANDLED THROUGH DELAYED</a:t>
            </a:r>
          </a:p>
          <a:p>
            <a:pPr marL="1905" algn="ctr">
              <a:lnSpc>
                <a:spcPts val="2280"/>
              </a:lnSpc>
            </a:pPr>
            <a:r>
              <a:rPr sz="2800" b="1" dirty="0">
                <a:solidFill>
                  <a:schemeClr val="tx1"/>
                </a:solidFill>
              </a:rPr>
              <a:t>BRANCH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98393" y="2247690"/>
          <a:ext cx="3427093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7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78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 marL="342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25" dirty="0">
                          <a:latin typeface="Arial"/>
                          <a:cs typeface="Arial"/>
                        </a:rPr>
                        <a:t>Clock</a:t>
                      </a:r>
                      <a:r>
                        <a:rPr sz="125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10" dirty="0">
                          <a:latin typeface="Arial"/>
                          <a:cs typeface="Arial"/>
                        </a:rPr>
                        <a:t>cycles: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1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4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5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6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7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8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9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1360"/>
                        </a:lnSpc>
                        <a:spcBef>
                          <a:spcPts val="300"/>
                        </a:spcBef>
                      </a:pPr>
                      <a:r>
                        <a:rPr sz="1250" b="1" spc="-25" dirty="0">
                          <a:latin typeface="Arial"/>
                          <a:cs typeface="Arial"/>
                        </a:rPr>
                        <a:t>10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342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20" dirty="0">
                          <a:latin typeface="Arial"/>
                          <a:cs typeface="Arial"/>
                        </a:rPr>
                        <a:t>Load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342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2.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10" dirty="0">
                          <a:latin typeface="Arial"/>
                          <a:cs typeface="Arial"/>
                        </a:rPr>
                        <a:t>Increment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69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25" dirty="0">
                          <a:latin typeface="Arial"/>
                          <a:cs typeface="Arial"/>
                        </a:rPr>
                        <a:t>Add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69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4.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10" dirty="0">
                          <a:latin typeface="Arial"/>
                          <a:cs typeface="Arial"/>
                        </a:rPr>
                        <a:t>Subtract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69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125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10" dirty="0">
                          <a:latin typeface="Arial"/>
                          <a:cs typeface="Arial"/>
                        </a:rPr>
                        <a:t>Branch</a:t>
                      </a:r>
                      <a:r>
                        <a:rPr sz="125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5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50" dirty="0">
                          <a:latin typeface="Arial"/>
                          <a:cs typeface="Arial"/>
                        </a:rPr>
                        <a:t>X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69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6.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25" dirty="0">
                          <a:latin typeface="Arial"/>
                          <a:cs typeface="Arial"/>
                        </a:rPr>
                        <a:t>NOP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69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7.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25" dirty="0">
                          <a:latin typeface="Arial"/>
                          <a:cs typeface="Arial"/>
                        </a:rPr>
                        <a:t>NOP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46990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8.</a:t>
                      </a:r>
                      <a:r>
                        <a:rPr sz="125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20" dirty="0">
                          <a:latin typeface="Arial"/>
                          <a:cs typeface="Arial"/>
                        </a:rPr>
                        <a:t>Instr.</a:t>
                      </a:r>
                      <a:r>
                        <a:rPr sz="125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5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50" dirty="0">
                          <a:latin typeface="Arial"/>
                          <a:cs typeface="Arial"/>
                        </a:rPr>
                        <a:t>X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460"/>
                        </a:lnSpc>
                        <a:spcBef>
                          <a:spcPts val="200"/>
                        </a:spcBef>
                      </a:pPr>
                      <a:r>
                        <a:rPr sz="1250" b="1" spc="-50" dirty="0">
                          <a:latin typeface="Arial"/>
                          <a:cs typeface="Arial"/>
                        </a:rPr>
                        <a:t>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3000" y="4835845"/>
          <a:ext cx="3382638" cy="1530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5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28575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85" dirty="0">
                          <a:latin typeface="Arial"/>
                          <a:cs typeface="Arial"/>
                        </a:rPr>
                        <a:t>Clock</a:t>
                      </a:r>
                      <a:r>
                        <a:rPr sz="12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70" dirty="0">
                          <a:latin typeface="Arial"/>
                          <a:cs typeface="Arial"/>
                        </a:rPr>
                        <a:t>cycles: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200" b="1" spc="45" dirty="0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43180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90" dirty="0">
                          <a:latin typeface="Arial"/>
                          <a:cs typeface="Arial"/>
                        </a:rPr>
                        <a:t>Load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7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60" dirty="0">
                          <a:latin typeface="Arial"/>
                          <a:cs typeface="Arial"/>
                        </a:rPr>
                        <a:t>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43180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2.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105" dirty="0">
                          <a:latin typeface="Arial"/>
                          <a:cs typeface="Arial"/>
                        </a:rPr>
                        <a:t>Increment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7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60" dirty="0">
                          <a:latin typeface="Arial"/>
                          <a:cs typeface="Arial"/>
                        </a:rPr>
                        <a:t>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43180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110" dirty="0">
                          <a:latin typeface="Arial"/>
                          <a:cs typeface="Arial"/>
                        </a:rPr>
                        <a:t>Branch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7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60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7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60" dirty="0">
                          <a:latin typeface="Arial"/>
                          <a:cs typeface="Arial"/>
                        </a:rPr>
                        <a:t>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43180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4.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75" dirty="0">
                          <a:latin typeface="Arial"/>
                          <a:cs typeface="Arial"/>
                        </a:rPr>
                        <a:t>Add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7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60" dirty="0">
                          <a:latin typeface="Arial"/>
                          <a:cs typeface="Arial"/>
                        </a:rPr>
                        <a:t>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43180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5.</a:t>
                      </a:r>
                      <a:r>
                        <a:rPr sz="1200" b="1" spc="85" dirty="0">
                          <a:latin typeface="Arial"/>
                          <a:cs typeface="Arial"/>
                        </a:rPr>
                        <a:t> Subtract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7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405"/>
                        </a:lnSpc>
                        <a:spcBef>
                          <a:spcPts val="220"/>
                        </a:spcBef>
                      </a:pPr>
                      <a:r>
                        <a:rPr sz="1200" b="1" spc="60" dirty="0">
                          <a:latin typeface="Arial"/>
                          <a:cs typeface="Arial"/>
                        </a:rPr>
                        <a:t>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43180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6.</a:t>
                      </a:r>
                      <a:r>
                        <a:rPr sz="12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Instr.</a:t>
                      </a:r>
                      <a:r>
                        <a:rPr sz="1200" b="1" spc="3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b="1" spc="3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60" dirty="0">
                          <a:latin typeface="Arial"/>
                          <a:cs typeface="Arial"/>
                        </a:rPr>
                        <a:t>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70" dirty="0"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405"/>
                        </a:lnSpc>
                        <a:spcBef>
                          <a:spcPts val="215"/>
                        </a:spcBef>
                      </a:pPr>
                      <a:r>
                        <a:rPr sz="1200" b="1" spc="60" dirty="0">
                          <a:latin typeface="Arial"/>
                          <a:cs typeface="Arial"/>
                        </a:rPr>
                        <a:t>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0466" y="910589"/>
            <a:ext cx="6533515" cy="80962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8435">
              <a:lnSpc>
                <a:spcPts val="2020"/>
              </a:lnSpc>
            </a:pP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analyzes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after</a:t>
            </a:r>
            <a:endParaRPr sz="1800" dirty="0">
              <a:latin typeface="Arial MT"/>
              <a:cs typeface="Arial MT"/>
            </a:endParaRPr>
          </a:p>
          <a:p>
            <a:pPr marL="178435">
              <a:lnSpc>
                <a:spcPts val="1945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rearranges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by</a:t>
            </a:r>
            <a:endParaRPr sz="1800" dirty="0">
              <a:latin typeface="Arial MT"/>
              <a:cs typeface="Arial MT"/>
            </a:endParaRPr>
          </a:p>
          <a:p>
            <a:pPr marL="178435">
              <a:lnSpc>
                <a:spcPts val="2055"/>
              </a:lnSpc>
            </a:pPr>
            <a:r>
              <a:rPr sz="1800" dirty="0">
                <a:latin typeface="Arial MT"/>
                <a:cs typeface="Arial MT"/>
              </a:rPr>
              <a:t>inserting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useful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(non-</a:t>
            </a:r>
            <a:r>
              <a:rPr sz="1800" dirty="0">
                <a:latin typeface="Arial MT"/>
                <a:cs typeface="Arial MT"/>
              </a:rPr>
              <a:t>conflicting)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delay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029" y="1864233"/>
            <a:ext cx="3173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no-</a:t>
            </a:r>
            <a:r>
              <a:rPr sz="1800" dirty="0">
                <a:latin typeface="Arial MT"/>
                <a:cs typeface="Arial MT"/>
              </a:rPr>
              <a:t>operation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950" y="4382211"/>
            <a:ext cx="87706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Rearranging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instructions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</a:t>
            </a:r>
            <a:r>
              <a:rPr sz="1800" spc="-5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pipeline</a:t>
            </a:r>
            <a:r>
              <a:rPr sz="1800" spc="-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instead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having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NOP</a:t>
            </a:r>
            <a:r>
              <a:rPr sz="18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instructions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or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stalls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0C59-239C-EF5A-EA8F-8ADC8AE2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clarity… NOP vs 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E632C-BBF3-4731-8F64-2412C3E7D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What is a NOP Instruction?</a:t>
            </a:r>
          </a:p>
          <a:p>
            <a:r>
              <a:rPr lang="en-US" dirty="0"/>
              <a:t>NOP = </a:t>
            </a:r>
            <a:r>
              <a:rPr lang="en-US" i="1" dirty="0"/>
              <a:t>No Operation</a:t>
            </a:r>
            <a:endParaRPr lang="en-US" dirty="0"/>
          </a:p>
          <a:p>
            <a:r>
              <a:rPr lang="en-US" dirty="0"/>
              <a:t>A real instruction that performs no work</a:t>
            </a:r>
          </a:p>
          <a:p>
            <a:r>
              <a:rPr lang="en-US" dirty="0"/>
              <a:t>Occupies the pipeline for one cycle</a:t>
            </a:r>
          </a:p>
          <a:p>
            <a:r>
              <a:rPr lang="en-US" dirty="0"/>
              <a:t>Used by compilers to create delays</a:t>
            </a:r>
          </a:p>
          <a:p>
            <a:r>
              <a:rPr lang="en-US" dirty="0"/>
              <a:t>Appears in machine code and assembly</a:t>
            </a:r>
          </a:p>
          <a:p>
            <a:r>
              <a:rPr lang="en-US" dirty="0"/>
              <a:t>Moves through all stages (IF → ID → EX → MEM → WB)</a:t>
            </a:r>
          </a:p>
          <a:p>
            <a:r>
              <a:rPr lang="en-US" b="1" dirty="0"/>
              <a:t>What is a Pipeline Stall?</a:t>
            </a:r>
          </a:p>
          <a:p>
            <a:r>
              <a:rPr lang="en-US" dirty="0"/>
              <a:t>A </a:t>
            </a:r>
            <a:r>
              <a:rPr lang="en-US" b="1" dirty="0"/>
              <a:t>stall</a:t>
            </a:r>
            <a:r>
              <a:rPr lang="en-US" dirty="0"/>
              <a:t> is when hardware </a:t>
            </a:r>
            <a:r>
              <a:rPr lang="en-US" b="1" dirty="0"/>
              <a:t>pauses</a:t>
            </a:r>
            <a:r>
              <a:rPr lang="en-US" dirty="0"/>
              <a:t> the pipeline</a:t>
            </a:r>
          </a:p>
          <a:p>
            <a:r>
              <a:rPr lang="en-US" dirty="0"/>
              <a:t>No new instruction enters the next stage</a:t>
            </a:r>
          </a:p>
          <a:p>
            <a:r>
              <a:rPr lang="en-US" dirty="0"/>
              <a:t>Hardware freezes PC &amp; IF/ID register</a:t>
            </a:r>
          </a:p>
          <a:p>
            <a:r>
              <a:rPr lang="en-US" dirty="0"/>
              <a:t>Injects a </a:t>
            </a:r>
            <a:r>
              <a:rPr lang="en-US" b="1" dirty="0"/>
              <a:t>bubble</a:t>
            </a:r>
            <a:r>
              <a:rPr lang="en-US" dirty="0"/>
              <a:t> (empty operation) into the pipeline</a:t>
            </a:r>
          </a:p>
          <a:p>
            <a:r>
              <a:rPr lang="en-US" dirty="0"/>
              <a:t>Bubble acts like NOP but is </a:t>
            </a:r>
            <a:r>
              <a:rPr lang="en-US" b="1" dirty="0"/>
              <a:t>NOT</a:t>
            </a:r>
            <a:r>
              <a:rPr lang="en-US" dirty="0"/>
              <a:t> a real instruction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405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2275">
              <a:lnSpc>
                <a:spcPct val="100000"/>
              </a:lnSpc>
              <a:spcBef>
                <a:spcPts val="100"/>
              </a:spcBef>
            </a:pPr>
            <a:r>
              <a:rPr dirty="0"/>
              <a:t>ADVANCED</a:t>
            </a:r>
            <a:r>
              <a:rPr spc="-120" dirty="0"/>
              <a:t> </a:t>
            </a:r>
            <a:r>
              <a:rPr spc="-25" dirty="0"/>
              <a:t>ILP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757298"/>
            <a:ext cx="7773034" cy="3462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Pipelining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exploits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potential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parallelism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among </a:t>
            </a:r>
            <a:r>
              <a:rPr sz="2400" dirty="0">
                <a:latin typeface="Arial MT"/>
                <a:cs typeface="Arial MT"/>
              </a:rPr>
              <a:t>instructions.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parallelism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instruction-level </a:t>
            </a:r>
            <a:r>
              <a:rPr sz="2400" b="1" dirty="0">
                <a:latin typeface="Arial"/>
                <a:cs typeface="Arial"/>
              </a:rPr>
              <a:t>parallelism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(ILP).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marR="38227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Advanced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potential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instruction-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parallelism:</a:t>
            </a:r>
            <a:endParaRPr sz="24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5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Advanced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ILP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achieved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Multiple</a:t>
            </a:r>
            <a:r>
              <a:rPr sz="20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Issue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695960" marR="339090" lvl="1" indent="-226695">
              <a:lnSpc>
                <a:spcPts val="2160"/>
              </a:lnSpc>
              <a:spcBef>
                <a:spcPts val="755"/>
              </a:spcBef>
              <a:buFont typeface="Arial MT"/>
              <a:buChar char="–"/>
              <a:tabLst>
                <a:tab pos="69786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Multiple</a:t>
            </a:r>
            <a:r>
              <a:rPr sz="20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Issue:</a:t>
            </a:r>
            <a:r>
              <a:rPr sz="20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whereby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	</a:t>
            </a:r>
            <a:r>
              <a:rPr sz="2000" dirty="0">
                <a:latin typeface="Arial MT"/>
                <a:cs typeface="Arial MT"/>
              </a:rPr>
              <a:t>launched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cycle.</a:t>
            </a:r>
            <a:endParaRPr sz="20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45"/>
              </a:spcBef>
              <a:buChar char="–"/>
              <a:tabLst>
                <a:tab pos="696595" algn="l"/>
              </a:tabLst>
            </a:pP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If</a:t>
            </a:r>
            <a:r>
              <a:rPr sz="2000" spc="-6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one</a:t>
            </a:r>
            <a:r>
              <a:rPr sz="2000" spc="-4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pipeline</a:t>
            </a:r>
            <a:r>
              <a:rPr sz="2000" spc="-2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is</a:t>
            </a:r>
            <a:r>
              <a:rPr sz="2000" spc="-3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good</a:t>
            </a:r>
            <a:r>
              <a:rPr sz="2000" spc="-4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then</a:t>
            </a:r>
            <a:r>
              <a:rPr sz="2000" spc="-5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two</a:t>
            </a:r>
            <a:r>
              <a:rPr sz="2000" spc="-2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pipelines</a:t>
            </a:r>
            <a:r>
              <a:rPr sz="2000" spc="-4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D3"/>
                </a:solidFill>
                <a:latin typeface="Arial MT"/>
                <a:cs typeface="Arial MT"/>
              </a:rPr>
              <a:t>are</a:t>
            </a:r>
            <a:r>
              <a:rPr sz="2000" spc="-5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D3"/>
                </a:solidFill>
                <a:latin typeface="Arial MT"/>
                <a:cs typeface="Arial MT"/>
              </a:rPr>
              <a:t>better.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16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MULTIPLE-</a:t>
            </a:r>
            <a:r>
              <a:rPr dirty="0"/>
              <a:t>ISSUE</a:t>
            </a:r>
            <a:r>
              <a:rPr spc="55" dirty="0"/>
              <a:t> </a:t>
            </a:r>
            <a:r>
              <a:rPr spc="-10" dirty="0"/>
              <a:t>PIPELINING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683" y="963167"/>
            <a:ext cx="7969650" cy="22133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2740" y="3085144"/>
            <a:ext cx="8478520" cy="309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51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Dual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five-</a:t>
            </a:r>
            <a:r>
              <a:rPr sz="1800" dirty="0">
                <a:latin typeface="Arial MT"/>
                <a:cs typeface="Arial MT"/>
              </a:rPr>
              <a:t>segment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unit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800" dirty="0">
              <a:latin typeface="Arial MT"/>
              <a:cs typeface="Arial MT"/>
            </a:endParaRPr>
          </a:p>
          <a:p>
            <a:pPr marL="299085" marR="292735" indent="-287020">
              <a:lnSpc>
                <a:spcPct val="9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fetch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fetches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 </a:t>
            </a:r>
            <a:r>
              <a:rPr sz="2400" dirty="0">
                <a:latin typeface="Arial MT"/>
                <a:cs typeface="Arial MT"/>
              </a:rPr>
              <a:t>together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complete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ALU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parallel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(dual</a:t>
            </a:r>
            <a:r>
              <a:rPr sz="2400" b="1" spc="-7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ILP)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marR="5080" indent="-287020">
              <a:lnSpc>
                <a:spcPct val="9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five-</a:t>
            </a:r>
            <a:r>
              <a:rPr sz="2400" dirty="0">
                <a:latin typeface="Arial MT"/>
                <a:cs typeface="Arial MT"/>
              </a:rPr>
              <a:t>segment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(2-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issue) </a:t>
            </a:r>
            <a:r>
              <a:rPr sz="2400" dirty="0">
                <a:latin typeface="Arial MT"/>
                <a:cs typeface="Arial MT"/>
              </a:rPr>
              <a:t>processor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given time.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PERFORM</a:t>
            </a:r>
            <a:r>
              <a:rPr spc="-30" dirty="0"/>
              <a:t> </a:t>
            </a:r>
            <a:r>
              <a:rPr dirty="0"/>
              <a:t>MULTIPLE</a:t>
            </a:r>
            <a:r>
              <a:rPr spc="-45" dirty="0"/>
              <a:t> </a:t>
            </a:r>
            <a:r>
              <a:rPr spc="-10" dirty="0"/>
              <a:t>ISSUE?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9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05460" y="1905000"/>
            <a:ext cx="8133080" cy="41725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marR="45720" indent="-287020">
              <a:lnSpc>
                <a:spcPct val="90100"/>
              </a:lnSpc>
              <a:spcBef>
                <a:spcPts val="38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Replicate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internal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components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(functional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units)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launch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every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cycle.</a:t>
            </a: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ts val="2735"/>
              </a:lnSpc>
              <a:spcBef>
                <a:spcPts val="271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Today’s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high-</a:t>
            </a:r>
            <a:r>
              <a:rPr sz="2400" dirty="0">
                <a:latin typeface="Arial MT"/>
                <a:cs typeface="Arial MT"/>
              </a:rPr>
              <a:t>end</a:t>
            </a:r>
            <a:r>
              <a:rPr sz="2400" spc="-10" dirty="0">
                <a:latin typeface="Arial MT"/>
                <a:cs typeface="Arial MT"/>
              </a:rPr>
              <a:t> microprocessors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attempt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issue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</a:t>
            </a:r>
            <a:endParaRPr sz="2400" dirty="0">
              <a:latin typeface="Arial MT"/>
              <a:cs typeface="Arial MT"/>
            </a:endParaRPr>
          </a:p>
          <a:p>
            <a:pPr marL="299085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six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cycle.</a:t>
            </a:r>
            <a:endParaRPr sz="2400" dirty="0">
              <a:latin typeface="Arial MT"/>
              <a:cs typeface="Arial MT"/>
            </a:endParaRPr>
          </a:p>
          <a:p>
            <a:pPr marL="695960" marR="5080" lvl="1" indent="-226695">
              <a:lnSpc>
                <a:spcPts val="2160"/>
              </a:lnSpc>
              <a:spcBef>
                <a:spcPts val="755"/>
              </a:spcBef>
              <a:buFont typeface="Arial MT"/>
              <a:buChar char="–"/>
              <a:tabLst>
                <a:tab pos="69786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metric</a:t>
            </a:r>
            <a:r>
              <a:rPr sz="20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has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flipped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from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CPI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to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IPC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(Instructions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per</a:t>
            </a:r>
            <a:r>
              <a:rPr sz="20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clock 	cycle)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Clr>
                <a:srgbClr val="008011"/>
              </a:buClr>
              <a:buFont typeface="Arial MT"/>
              <a:buChar char="–"/>
            </a:pPr>
            <a:endParaRPr sz="2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implement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Multiple</a:t>
            </a:r>
            <a:r>
              <a:rPr sz="2400" b="1" spc="-9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Issue</a:t>
            </a:r>
            <a:endParaRPr sz="2400" dirty="0">
              <a:latin typeface="Arial"/>
              <a:cs typeface="Arial"/>
            </a:endParaRPr>
          </a:p>
          <a:p>
            <a:pPr marL="696595" lvl="1" indent="-226695">
              <a:lnSpc>
                <a:spcPct val="100000"/>
              </a:lnSpc>
              <a:spcBef>
                <a:spcPts val="484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Static</a:t>
            </a:r>
            <a:endParaRPr sz="2000" dirty="0">
              <a:latin typeface="Arial"/>
              <a:cs typeface="Arial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Dynamic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3D0815-C992-CA1E-4A53-D565143D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7631"/>
            <a:ext cx="8356599" cy="440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2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356095-374A-F185-D4B8-9AFDBE9BA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81514" cy="486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9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885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10" dirty="0"/>
              <a:t> </a:t>
            </a:r>
            <a:r>
              <a:rPr dirty="0"/>
              <a:t>MULTIPLE</a:t>
            </a:r>
            <a:r>
              <a:rPr spc="-15" dirty="0"/>
              <a:t> </a:t>
            </a:r>
            <a:r>
              <a:rPr spc="-10" dirty="0"/>
              <a:t>ISSUE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2671394"/>
            <a:ext cx="8397240" cy="176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735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Issues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“Issue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Packet”,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together</a:t>
            </a:r>
            <a:endParaRPr sz="2400">
              <a:latin typeface="Arial MT"/>
              <a:cs typeface="Arial MT"/>
            </a:endParaRPr>
          </a:p>
          <a:p>
            <a:pPr marL="299085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2400">
              <a:latin typeface="Arial MT"/>
              <a:cs typeface="Arial MT"/>
            </a:endParaRPr>
          </a:p>
          <a:p>
            <a:pPr marL="299085" marR="6654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Compiler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decides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“Issue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packet”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resolves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most </a:t>
            </a:r>
            <a:r>
              <a:rPr sz="2400" spc="-10" dirty="0">
                <a:latin typeface="Arial MT"/>
                <a:cs typeface="Arial MT"/>
              </a:rPr>
              <a:t>hazards.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AAB06-D547-7878-DD92-6BAA60DA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833507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5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28600"/>
            <a:ext cx="7543800" cy="690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96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DYNAMIC</a:t>
            </a:r>
            <a:r>
              <a:rPr sz="4400" spc="-55" dirty="0"/>
              <a:t> </a:t>
            </a:r>
            <a:r>
              <a:rPr sz="4400" dirty="0"/>
              <a:t>MULTIPLE</a:t>
            </a:r>
            <a:r>
              <a:rPr sz="4400" spc="-75" dirty="0"/>
              <a:t> </a:t>
            </a:r>
            <a:r>
              <a:rPr sz="4400" spc="-10" dirty="0"/>
              <a:t>ISSUE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066800"/>
            <a:ext cx="7543800" cy="4022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17907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dirty="0"/>
              <a:t>Processor</a:t>
            </a:r>
            <a:r>
              <a:rPr spc="-80" dirty="0"/>
              <a:t> </a:t>
            </a:r>
            <a:r>
              <a:rPr dirty="0"/>
              <a:t>decides</a:t>
            </a:r>
            <a:r>
              <a:rPr spc="-60" dirty="0"/>
              <a:t> </a:t>
            </a:r>
            <a:r>
              <a:rPr dirty="0"/>
              <a:t>whether</a:t>
            </a:r>
            <a:r>
              <a:rPr spc="-70" dirty="0"/>
              <a:t> </a:t>
            </a:r>
            <a:r>
              <a:rPr dirty="0"/>
              <a:t>zero,</a:t>
            </a:r>
            <a:r>
              <a:rPr spc="-80" dirty="0"/>
              <a:t> </a:t>
            </a:r>
            <a:r>
              <a:rPr dirty="0"/>
              <a:t>one,</a:t>
            </a:r>
            <a:r>
              <a:rPr spc="-75" dirty="0"/>
              <a:t> </a:t>
            </a:r>
            <a:r>
              <a:rPr dirty="0"/>
              <a:t>or</a:t>
            </a:r>
            <a:r>
              <a:rPr spc="-80" dirty="0"/>
              <a:t> </a:t>
            </a:r>
            <a:r>
              <a:rPr dirty="0"/>
              <a:t>more</a:t>
            </a:r>
            <a:r>
              <a:rPr spc="-80" dirty="0"/>
              <a:t> </a:t>
            </a:r>
            <a:r>
              <a:rPr spc="-10" dirty="0"/>
              <a:t>instructions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be</a:t>
            </a:r>
            <a:r>
              <a:rPr spc="-60" dirty="0"/>
              <a:t> </a:t>
            </a:r>
            <a:r>
              <a:rPr dirty="0"/>
              <a:t>issued</a:t>
            </a:r>
            <a:r>
              <a:rPr spc="-3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given</a:t>
            </a:r>
            <a:r>
              <a:rPr spc="-40" dirty="0"/>
              <a:t> </a:t>
            </a:r>
            <a:r>
              <a:rPr dirty="0"/>
              <a:t>clock</a:t>
            </a:r>
            <a:r>
              <a:rPr spc="-45" dirty="0"/>
              <a:t> </a:t>
            </a:r>
            <a:r>
              <a:rPr spc="-10" dirty="0"/>
              <a:t>cycle.</a:t>
            </a:r>
          </a:p>
          <a:p>
            <a:pPr marL="299085" indent="-286385">
              <a:lnSpc>
                <a:spcPts val="2735"/>
              </a:lnSpc>
              <a:spcBef>
                <a:spcPts val="2680"/>
              </a:spcBef>
              <a:buChar char="•"/>
              <a:tabLst>
                <a:tab pos="299085" algn="l"/>
              </a:tabLst>
            </a:pPr>
            <a:r>
              <a:rPr dirty="0"/>
              <a:t>Dynamic</a:t>
            </a:r>
            <a:r>
              <a:rPr spc="-85" dirty="0"/>
              <a:t> </a:t>
            </a:r>
            <a:r>
              <a:rPr dirty="0"/>
              <a:t>multiple</a:t>
            </a:r>
            <a:r>
              <a:rPr spc="-70" dirty="0"/>
              <a:t> </a:t>
            </a:r>
            <a:r>
              <a:rPr dirty="0"/>
              <a:t>issue</a:t>
            </a:r>
            <a:r>
              <a:rPr spc="-90" dirty="0"/>
              <a:t> </a:t>
            </a:r>
            <a:r>
              <a:rPr dirty="0"/>
              <a:t>processors</a:t>
            </a:r>
            <a:r>
              <a:rPr spc="-85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dirty="0"/>
              <a:t>also</a:t>
            </a:r>
            <a:r>
              <a:rPr spc="-85" dirty="0"/>
              <a:t> </a:t>
            </a:r>
            <a:r>
              <a:rPr dirty="0"/>
              <a:t>known</a:t>
            </a:r>
            <a:r>
              <a:rPr spc="-70" dirty="0"/>
              <a:t> </a:t>
            </a:r>
            <a:r>
              <a:rPr spc="-25" dirty="0"/>
              <a:t>as</a:t>
            </a:r>
          </a:p>
          <a:p>
            <a:pPr marL="299085">
              <a:lnSpc>
                <a:spcPts val="2735"/>
              </a:lnSpc>
            </a:pPr>
            <a:r>
              <a:rPr b="1" spc="-10" dirty="0">
                <a:latin typeface="Arial"/>
                <a:cs typeface="Arial"/>
              </a:rPr>
              <a:t>superscalars.</a:t>
            </a:r>
          </a:p>
          <a:p>
            <a:pPr marL="697865" marR="59055" indent="-228600">
              <a:lnSpc>
                <a:spcPts val="2160"/>
              </a:lnSpc>
              <a:spcBef>
                <a:spcPts val="760"/>
              </a:spcBef>
            </a:pPr>
            <a:r>
              <a:rPr sz="2000" dirty="0"/>
              <a:t>–</a:t>
            </a:r>
            <a:r>
              <a:rPr sz="2000" spc="100" dirty="0"/>
              <a:t> </a:t>
            </a:r>
            <a:r>
              <a:rPr sz="2000" dirty="0"/>
              <a:t>Superscalars</a:t>
            </a:r>
            <a:r>
              <a:rPr sz="2000" spc="-60" dirty="0"/>
              <a:t> </a:t>
            </a:r>
            <a:r>
              <a:rPr sz="2000" dirty="0"/>
              <a:t>use</a:t>
            </a:r>
            <a:r>
              <a:rPr sz="2000" spc="-45" dirty="0"/>
              <a:t> </a:t>
            </a:r>
            <a:r>
              <a:rPr sz="2000" dirty="0"/>
              <a:t>dynamic</a:t>
            </a:r>
            <a:r>
              <a:rPr sz="2000" spc="-35" dirty="0"/>
              <a:t> </a:t>
            </a:r>
            <a:r>
              <a:rPr sz="2000" dirty="0"/>
              <a:t>pipelining</a:t>
            </a:r>
            <a:r>
              <a:rPr sz="2000" spc="-10" dirty="0"/>
              <a:t> </a:t>
            </a:r>
            <a:r>
              <a:rPr sz="2000" dirty="0"/>
              <a:t>that</a:t>
            </a:r>
            <a:r>
              <a:rPr sz="2000" spc="-40" dirty="0"/>
              <a:t> </a:t>
            </a:r>
            <a:r>
              <a:rPr sz="2000" dirty="0"/>
              <a:t>enables</a:t>
            </a:r>
            <a:r>
              <a:rPr sz="2000" spc="-4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processor</a:t>
            </a:r>
            <a:r>
              <a:rPr sz="2000" spc="-70" dirty="0"/>
              <a:t> </a:t>
            </a:r>
            <a:r>
              <a:rPr sz="2000" spc="-25" dirty="0"/>
              <a:t>to </a:t>
            </a:r>
            <a:r>
              <a:rPr sz="2000" dirty="0"/>
              <a:t>execute</a:t>
            </a:r>
            <a:r>
              <a:rPr sz="2000" spc="-50" dirty="0"/>
              <a:t> </a:t>
            </a:r>
            <a:r>
              <a:rPr sz="2000" dirty="0"/>
              <a:t>more</a:t>
            </a:r>
            <a:r>
              <a:rPr sz="2000" spc="-45" dirty="0"/>
              <a:t> </a:t>
            </a:r>
            <a:r>
              <a:rPr sz="2000" dirty="0"/>
              <a:t>than</a:t>
            </a:r>
            <a:r>
              <a:rPr sz="2000" spc="-40" dirty="0"/>
              <a:t> </a:t>
            </a:r>
            <a:r>
              <a:rPr sz="2000" dirty="0"/>
              <a:t>one</a:t>
            </a:r>
            <a:r>
              <a:rPr sz="2000" spc="-35" dirty="0"/>
              <a:t> </a:t>
            </a:r>
            <a:r>
              <a:rPr sz="2000" dirty="0"/>
              <a:t>instruction</a:t>
            </a:r>
            <a:r>
              <a:rPr sz="2000" spc="-65" dirty="0"/>
              <a:t> </a:t>
            </a:r>
            <a:r>
              <a:rPr sz="2000" dirty="0"/>
              <a:t>per</a:t>
            </a:r>
            <a:r>
              <a:rPr sz="2000" spc="-35" dirty="0"/>
              <a:t> </a:t>
            </a:r>
            <a:r>
              <a:rPr sz="2000" dirty="0"/>
              <a:t>clock</a:t>
            </a:r>
            <a:r>
              <a:rPr sz="2000" spc="-40" dirty="0"/>
              <a:t> </a:t>
            </a:r>
            <a:r>
              <a:rPr sz="2000" dirty="0"/>
              <a:t>cycle</a:t>
            </a:r>
            <a:r>
              <a:rPr sz="2000" spc="-35" dirty="0"/>
              <a:t> </a:t>
            </a:r>
            <a:r>
              <a:rPr sz="2000" dirty="0"/>
              <a:t>by</a:t>
            </a:r>
            <a:r>
              <a:rPr sz="2000" spc="-30" dirty="0"/>
              <a:t> </a:t>
            </a:r>
            <a:r>
              <a:rPr sz="2000" dirty="0"/>
              <a:t>selecting</a:t>
            </a:r>
            <a:r>
              <a:rPr sz="2000" spc="-55" dirty="0"/>
              <a:t> </a:t>
            </a:r>
            <a:r>
              <a:rPr sz="2000" spc="-20" dirty="0"/>
              <a:t>them </a:t>
            </a:r>
            <a:r>
              <a:rPr sz="2000" dirty="0"/>
              <a:t>during</a:t>
            </a:r>
            <a:r>
              <a:rPr sz="2000" spc="-60" dirty="0"/>
              <a:t> </a:t>
            </a:r>
            <a:r>
              <a:rPr sz="2000" spc="-10" dirty="0"/>
              <a:t>execution.</a:t>
            </a:r>
            <a:endParaRPr sz="2000" dirty="0"/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000" dirty="0"/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dirty="0"/>
              <a:t>Hazards</a:t>
            </a:r>
            <a:r>
              <a:rPr spc="-65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handled</a:t>
            </a:r>
            <a:r>
              <a:rPr spc="-45" dirty="0"/>
              <a:t> </a:t>
            </a:r>
            <a:r>
              <a:rPr dirty="0"/>
              <a:t>through</a:t>
            </a:r>
            <a:r>
              <a:rPr spc="-70" dirty="0"/>
              <a:t> </a:t>
            </a:r>
            <a:r>
              <a:rPr dirty="0"/>
              <a:t>complier</a:t>
            </a:r>
            <a:r>
              <a:rPr spc="-60" dirty="0"/>
              <a:t> </a:t>
            </a:r>
            <a:r>
              <a:rPr dirty="0"/>
              <a:t>as</a:t>
            </a:r>
            <a:r>
              <a:rPr spc="-70" dirty="0"/>
              <a:t> </a:t>
            </a:r>
            <a:r>
              <a:rPr dirty="0"/>
              <a:t>well</a:t>
            </a:r>
            <a:r>
              <a:rPr spc="-5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spc="-10" dirty="0"/>
              <a:t>hardware.</a:t>
            </a:r>
          </a:p>
          <a:p>
            <a:pPr>
              <a:lnSpc>
                <a:spcPct val="100000"/>
              </a:lnSpc>
              <a:spcBef>
                <a:spcPts val="235"/>
              </a:spcBef>
              <a:buFont typeface="Arial MT"/>
              <a:buChar char="•"/>
            </a:pPr>
            <a:endParaRPr spc="-10" dirty="0"/>
          </a:p>
          <a:p>
            <a:pPr marL="299085" marR="367030" indent="-287020">
              <a:lnSpc>
                <a:spcPct val="90000"/>
              </a:lnSpc>
              <a:spcBef>
                <a:spcPts val="5"/>
              </a:spcBef>
              <a:buChar char="•"/>
              <a:tabLst>
                <a:tab pos="299085" algn="l"/>
                <a:tab pos="3331210" algn="l"/>
              </a:tabLst>
            </a:pPr>
            <a:r>
              <a:rPr dirty="0"/>
              <a:t>Hardware</a:t>
            </a:r>
            <a:r>
              <a:rPr spc="-105" dirty="0"/>
              <a:t> </a:t>
            </a:r>
            <a:r>
              <a:rPr dirty="0"/>
              <a:t>support</a:t>
            </a:r>
            <a:r>
              <a:rPr spc="-110" dirty="0"/>
              <a:t> </a:t>
            </a:r>
            <a:r>
              <a:rPr spc="-25" dirty="0"/>
              <a:t>for</a:t>
            </a:r>
            <a:r>
              <a:rPr dirty="0"/>
              <a:t>	reordering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order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instruction </a:t>
            </a:r>
            <a:r>
              <a:rPr dirty="0"/>
              <a:t>execution</a:t>
            </a:r>
            <a:r>
              <a:rPr spc="-50" dirty="0"/>
              <a:t> </a:t>
            </a:r>
            <a:r>
              <a:rPr dirty="0"/>
              <a:t>so</a:t>
            </a:r>
            <a:r>
              <a:rPr spc="-60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avoid</a:t>
            </a:r>
            <a:r>
              <a:rPr spc="-55" dirty="0"/>
              <a:t> </a:t>
            </a:r>
            <a:r>
              <a:rPr dirty="0"/>
              <a:t>stalls</a:t>
            </a:r>
            <a:r>
              <a:rPr spc="-5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called</a:t>
            </a:r>
            <a:r>
              <a:rPr spc="-50" dirty="0"/>
              <a:t> </a:t>
            </a:r>
            <a:r>
              <a:rPr dirty="0"/>
              <a:t>“dynamic</a:t>
            </a:r>
            <a:r>
              <a:rPr spc="-60" dirty="0"/>
              <a:t> </a:t>
            </a:r>
            <a:r>
              <a:rPr spc="-10" dirty="0"/>
              <a:t>pipeline scheduling”.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80547-3438-5449-5A9C-B2680A804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70527"/>
            <a:ext cx="8178799" cy="43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23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111F8-7AA4-6C6F-2354-BDBB30823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4" y="762000"/>
            <a:ext cx="8630116" cy="457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02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37C68-0482-56E0-BC7B-9C1C7D9EB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878516"/>
            <a:ext cx="8178799" cy="45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23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FF18B7-7905-0680-E159-1AEDCAAC9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39857"/>
            <a:ext cx="8178799" cy="445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0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1B0F4-61D0-371E-FD01-DB783D90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29634"/>
            <a:ext cx="8178799" cy="44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4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18C50-3268-8BC4-3C03-448335BC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02" y="914400"/>
            <a:ext cx="8739796" cy="452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59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774B5-8150-86E2-90E2-CD5A686F7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951" b="-2"/>
          <a:stretch>
            <a:fillRect/>
          </a:stretch>
        </p:blipFill>
        <p:spPr>
          <a:xfrm>
            <a:off x="482600" y="643467"/>
            <a:ext cx="8178799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57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97178" y="265410"/>
            <a:ext cx="7543800" cy="736099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3253104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CPU</a:t>
            </a:r>
            <a:r>
              <a:rPr sz="4400" spc="-55" dirty="0"/>
              <a:t> </a:t>
            </a:r>
            <a:r>
              <a:rPr sz="4400" spc="-20" dirty="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143" y="952246"/>
            <a:ext cx="7567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Consider 64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 </a:t>
            </a:r>
            <a:r>
              <a:rPr sz="1800" spc="-20" dirty="0">
                <a:latin typeface="Arial MT"/>
                <a:cs typeface="Arial MT"/>
              </a:rPr>
              <a:t>time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37223" y="4043171"/>
            <a:ext cx="26034" cy="22860"/>
          </a:xfrm>
          <a:custGeom>
            <a:avLst/>
            <a:gdLst/>
            <a:ahLst/>
            <a:cxnLst/>
            <a:rect l="l" t="t" r="r" b="b"/>
            <a:pathLst>
              <a:path w="26035" h="22860">
                <a:moveTo>
                  <a:pt x="25908" y="0"/>
                </a:moveTo>
                <a:lnTo>
                  <a:pt x="0" y="0"/>
                </a:lnTo>
                <a:lnTo>
                  <a:pt x="0" y="22859"/>
                </a:lnTo>
                <a:lnTo>
                  <a:pt x="25908" y="22859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2943" y="3725036"/>
            <a:ext cx="8408035" cy="238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CPU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b="1" u="dash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</a:t>
            </a:r>
            <a:r>
              <a:rPr sz="2300" b="1" u="dash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00" b="1" u="dash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300" b="1" u="dash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00" b="1" u="dash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instructions</a:t>
            </a:r>
            <a:r>
              <a:rPr sz="2300" b="1" u="dash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00" u="dash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x</a:t>
            </a:r>
            <a:r>
              <a:rPr sz="2300" u="dash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300" b="1" u="dash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CPI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x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b="1" dirty="0">
                <a:latin typeface="Arial"/>
                <a:cs typeface="Arial"/>
              </a:rPr>
              <a:t>clock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cycle </a:t>
            </a:r>
            <a:r>
              <a:rPr sz="2300" b="1" spc="-20" dirty="0">
                <a:latin typeface="Arial"/>
                <a:cs typeface="Arial"/>
              </a:rPr>
              <a:t>time</a:t>
            </a:r>
            <a:endParaRPr sz="2300">
              <a:latin typeface="Arial"/>
              <a:cs typeface="Arial"/>
            </a:endParaRPr>
          </a:p>
          <a:p>
            <a:pPr marL="1597660">
              <a:lnSpc>
                <a:spcPct val="100000"/>
              </a:lnSpc>
              <a:spcBef>
                <a:spcPts val="2225"/>
              </a:spcBef>
            </a:pPr>
            <a:r>
              <a:rPr sz="1700" b="1" dirty="0">
                <a:latin typeface="Arial"/>
                <a:cs typeface="Arial"/>
              </a:rPr>
              <a:t>=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64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x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6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x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3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ns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700">
              <a:latin typeface="Arial"/>
              <a:cs typeface="Arial"/>
            </a:endParaRPr>
          </a:p>
          <a:p>
            <a:pPr marL="1629410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=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1152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ns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ts val="2625"/>
              </a:lnSpc>
              <a:buChar char="•"/>
              <a:tabLst>
                <a:tab pos="299085" algn="l"/>
              </a:tabLst>
            </a:pPr>
            <a:r>
              <a:rPr sz="2300" dirty="0">
                <a:latin typeface="Arial MT"/>
                <a:cs typeface="Arial MT"/>
              </a:rPr>
              <a:t>What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speedup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can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achieved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by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SISD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pipelined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processor</a:t>
            </a:r>
            <a:endParaRPr sz="2300">
              <a:latin typeface="Arial MT"/>
              <a:cs typeface="Arial MT"/>
            </a:endParaRPr>
          </a:p>
          <a:p>
            <a:pPr marL="299085">
              <a:lnSpc>
                <a:spcPts val="2625"/>
              </a:lnSpc>
            </a:pPr>
            <a:r>
              <a:rPr sz="2300" dirty="0">
                <a:latin typeface="Arial MT"/>
                <a:cs typeface="Arial MT"/>
              </a:rPr>
              <a:t>having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3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segments?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8388" y="1458404"/>
            <a:ext cx="8023225" cy="580390"/>
            <a:chOff x="818388" y="1458404"/>
            <a:chExt cx="8023225" cy="5803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8" y="1463027"/>
              <a:ext cx="617982" cy="5524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30274" y="1471421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908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5208" y="1466075"/>
              <a:ext cx="617982" cy="5524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52522" y="1492757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2027" y="1479791"/>
              <a:ext cx="619518" cy="55093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94582" y="1486661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908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2564" y="1482851"/>
              <a:ext cx="617982" cy="54482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16829" y="1500377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908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6335" y="1485887"/>
              <a:ext cx="618007" cy="5341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52794" y="1485137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908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6016" y="1481327"/>
              <a:ext cx="617981" cy="5509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91806" y="1491233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908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3504" y="1485887"/>
              <a:ext cx="618007" cy="55246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82904" y="2107184"/>
            <a:ext cx="935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1ABEA"/>
                </a:solidFill>
                <a:latin typeface="Arial MT"/>
                <a:cs typeface="Arial MT"/>
              </a:rPr>
              <a:t>T0:</a:t>
            </a:r>
            <a:r>
              <a:rPr sz="1200" spc="-80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Arial MT"/>
                <a:cs typeface="Arial MT"/>
              </a:rPr>
              <a:t>AR</a:t>
            </a:r>
            <a:r>
              <a:rPr sz="1200" spc="5" dirty="0">
                <a:solidFill>
                  <a:srgbClr val="01ABE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1ABEA"/>
                </a:solidFill>
                <a:latin typeface="Symbol"/>
                <a:cs typeface="Symbol"/>
              </a:rPr>
              <a:t></a:t>
            </a:r>
            <a:r>
              <a:rPr sz="1200" dirty="0">
                <a:solidFill>
                  <a:srgbClr val="01ABEA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1ABEA"/>
                </a:solidFill>
                <a:latin typeface="Arial MT"/>
                <a:cs typeface="Arial MT"/>
              </a:rPr>
              <a:t>PC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2792" y="2074926"/>
            <a:ext cx="1144270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69875" marR="5080" indent="-25781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T1: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IR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8011"/>
                </a:solidFill>
                <a:latin typeface="Arial MT"/>
                <a:cs typeface="Arial MT"/>
              </a:rPr>
              <a:t>M[AR], </a:t>
            </a:r>
            <a:r>
              <a:rPr sz="1200" dirty="0">
                <a:solidFill>
                  <a:srgbClr val="008011"/>
                </a:solidFill>
                <a:latin typeface="Arial MT"/>
                <a:cs typeface="Arial MT"/>
              </a:rPr>
              <a:t>PC</a:t>
            </a:r>
            <a:r>
              <a:rPr sz="12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08011"/>
                </a:solidFill>
                <a:latin typeface="Symbol"/>
                <a:cs typeface="Symbol"/>
              </a:rPr>
              <a:t></a:t>
            </a:r>
            <a:r>
              <a:rPr sz="1200" spc="3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08011"/>
                </a:solidFill>
                <a:latin typeface="Arial MT"/>
                <a:cs typeface="Arial MT"/>
              </a:rPr>
              <a:t>PC+1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25267" y="2066035"/>
            <a:ext cx="1228090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5"/>
              </a:lnSpc>
              <a:spcBef>
                <a:spcPts val="100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T2: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Decode</a:t>
            </a:r>
            <a:endParaRPr sz="1200">
              <a:latin typeface="Arial MT"/>
              <a:cs typeface="Arial MT"/>
            </a:endParaRPr>
          </a:p>
          <a:p>
            <a:pPr marL="269875">
              <a:lnSpc>
                <a:spcPts val="1385"/>
              </a:lnSpc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IR(12-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14),</a:t>
            </a:r>
            <a:endParaRPr sz="1200">
              <a:latin typeface="Arial MT"/>
              <a:cs typeface="Arial MT"/>
            </a:endParaRPr>
          </a:p>
          <a:p>
            <a:pPr marL="260985">
              <a:lnSpc>
                <a:spcPts val="1380"/>
              </a:lnSpc>
            </a:pP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AR</a:t>
            </a:r>
            <a:r>
              <a:rPr sz="1200" spc="-1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IR(0-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11),</a:t>
            </a:r>
            <a:endParaRPr sz="1200">
              <a:latin typeface="Arial MT"/>
              <a:cs typeface="Arial MT"/>
            </a:endParaRPr>
          </a:p>
          <a:p>
            <a:pPr marL="269875">
              <a:lnSpc>
                <a:spcPts val="141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I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Arial MT"/>
                <a:cs typeface="Arial MT"/>
              </a:rPr>
              <a:t>IR(15)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02277" y="2277617"/>
            <a:ext cx="771525" cy="7023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spc="-10" dirty="0">
                <a:solidFill>
                  <a:srgbClr val="0000D3"/>
                </a:solidFill>
                <a:latin typeface="Arial MT"/>
                <a:cs typeface="Arial MT"/>
              </a:rPr>
              <a:t>because direct addressing </a:t>
            </a:r>
            <a:r>
              <a:rPr sz="1200" dirty="0">
                <a:solidFill>
                  <a:srgbClr val="0000D3"/>
                </a:solidFill>
                <a:latin typeface="Arial MT"/>
                <a:cs typeface="Arial MT"/>
              </a:rPr>
              <a:t>is </a:t>
            </a:r>
            <a:r>
              <a:rPr sz="1200" spc="-20" dirty="0">
                <a:solidFill>
                  <a:srgbClr val="0000D3"/>
                </a:solidFill>
                <a:latin typeface="Arial MT"/>
                <a:cs typeface="Arial MT"/>
              </a:rPr>
              <a:t>used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9321" y="2123059"/>
            <a:ext cx="3731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09370" algn="l"/>
              </a:tabLst>
            </a:pP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T3:</a:t>
            </a:r>
            <a:r>
              <a:rPr sz="1800" spc="-22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no</a:t>
            </a:r>
            <a:r>
              <a:rPr sz="1800" spc="-37" baseline="4629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spc="-15" baseline="4629" dirty="0">
                <a:solidFill>
                  <a:srgbClr val="0000D3"/>
                </a:solidFill>
                <a:latin typeface="Arial MT"/>
                <a:cs typeface="Arial MT"/>
              </a:rPr>
              <a:t>operation</a:t>
            </a:r>
            <a:r>
              <a:rPr sz="1800" baseline="4629" dirty="0">
                <a:solidFill>
                  <a:srgbClr val="0000D3"/>
                </a:solidFill>
                <a:latin typeface="Arial MT"/>
                <a:cs typeface="Arial MT"/>
              </a:rPr>
              <a:t>	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T</a:t>
            </a:r>
            <a:r>
              <a:rPr sz="1200" baseline="-20833" dirty="0">
                <a:solidFill>
                  <a:srgbClr val="E6AE00"/>
                </a:solidFill>
                <a:latin typeface="Arial MT"/>
                <a:cs typeface="Arial MT"/>
              </a:rPr>
              <a:t>4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: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DR</a:t>
            </a:r>
            <a:r>
              <a:rPr sz="1200" spc="-15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E6AE00"/>
                </a:solidFill>
                <a:latin typeface="Symbol"/>
                <a:cs typeface="Symbol"/>
              </a:rPr>
              <a:t></a:t>
            </a:r>
            <a:r>
              <a:rPr sz="1200" spc="25" dirty="0">
                <a:solidFill>
                  <a:srgbClr val="E6AE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6AE00"/>
                </a:solidFill>
                <a:latin typeface="Arial MT"/>
                <a:cs typeface="Arial MT"/>
              </a:rPr>
              <a:t>M[AR]</a:t>
            </a:r>
            <a:r>
              <a:rPr sz="1200" spc="220" dirty="0">
                <a:solidFill>
                  <a:srgbClr val="E6AE00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T</a:t>
            </a:r>
            <a:r>
              <a:rPr sz="1200" baseline="-13888" dirty="0">
                <a:solidFill>
                  <a:srgbClr val="6F2F9F"/>
                </a:solidFill>
                <a:latin typeface="Arial MT"/>
                <a:cs typeface="Arial MT"/>
              </a:rPr>
              <a:t>5</a:t>
            </a:r>
            <a:r>
              <a:rPr sz="1800" baseline="4629" dirty="0">
                <a:solidFill>
                  <a:srgbClr val="6F2F9F"/>
                </a:solidFill>
                <a:latin typeface="Arial MT"/>
                <a:cs typeface="Arial MT"/>
              </a:rPr>
              <a:t>:AC</a:t>
            </a:r>
            <a:r>
              <a:rPr sz="1800" spc="-22" baseline="4629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baseline="4629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800" spc="-60" baseline="4629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solidFill>
                  <a:srgbClr val="6F2F9F"/>
                </a:solidFill>
                <a:latin typeface="Arial MT"/>
                <a:cs typeface="Arial MT"/>
              </a:rPr>
              <a:t>AC+DR,</a:t>
            </a:r>
            <a:endParaRPr sz="1800" baseline="4629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76033" y="2274823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 MT"/>
                <a:cs typeface="Arial MT"/>
              </a:rPr>
              <a:t>SC</a:t>
            </a:r>
            <a:r>
              <a:rPr sz="1200" spc="-1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6F2F9F"/>
                </a:solidFill>
                <a:latin typeface="Symbol"/>
                <a:cs typeface="Symbol"/>
              </a:rPr>
              <a:t></a:t>
            </a:r>
            <a:r>
              <a:rPr sz="1200" spc="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6F2F9F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11480" y="1441703"/>
            <a:ext cx="7515225" cy="596265"/>
            <a:chOff x="411480" y="1441703"/>
            <a:chExt cx="7515225" cy="596265"/>
          </a:xfrm>
        </p:grpSpPr>
        <p:sp>
          <p:nvSpPr>
            <p:cNvPr id="27" name="object 27"/>
            <p:cNvSpPr/>
            <p:nvPr/>
          </p:nvSpPr>
          <p:spPr>
            <a:xfrm>
              <a:off x="424434" y="1454657"/>
              <a:ext cx="381000" cy="558800"/>
            </a:xfrm>
            <a:custGeom>
              <a:avLst/>
              <a:gdLst/>
              <a:ahLst/>
              <a:cxnLst/>
              <a:rect l="l" t="t" r="r" b="b"/>
              <a:pathLst>
                <a:path w="381000" h="558800">
                  <a:moveTo>
                    <a:pt x="380492" y="24383"/>
                  </a:moveTo>
                  <a:lnTo>
                    <a:pt x="12192" y="24383"/>
                  </a:lnTo>
                </a:path>
                <a:path w="381000" h="558800">
                  <a:moveTo>
                    <a:pt x="12700" y="0"/>
                  </a:moveTo>
                  <a:lnTo>
                    <a:pt x="0" y="558800"/>
                  </a:lnTo>
                </a:path>
              </a:pathLst>
            </a:custGeom>
            <a:ln w="25908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30046" y="1995677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01AB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40102" y="2004821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5" h="4444">
                  <a:moveTo>
                    <a:pt x="605155" y="0"/>
                  </a:moveTo>
                  <a:lnTo>
                    <a:pt x="0" y="4444"/>
                  </a:lnTo>
                </a:path>
              </a:pathLst>
            </a:custGeom>
            <a:ln w="38100">
              <a:solidFill>
                <a:srgbClr val="0080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97402" y="2010917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5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45558" y="2013965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0000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73901" y="2001773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E6A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02246" y="2013965"/>
              <a:ext cx="605155" cy="4445"/>
            </a:xfrm>
            <a:custGeom>
              <a:avLst/>
              <a:gdLst/>
              <a:ahLst/>
              <a:cxnLst/>
              <a:rect l="l" t="t" r="r" b="b"/>
              <a:pathLst>
                <a:path w="605154" h="4444">
                  <a:moveTo>
                    <a:pt x="605154" y="0"/>
                  </a:moveTo>
                  <a:lnTo>
                    <a:pt x="0" y="4445"/>
                  </a:lnTo>
                </a:path>
              </a:pathLst>
            </a:custGeom>
            <a:ln w="381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19063"/>
            <a:ext cx="7543800" cy="735012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24085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FLYNN’S</a:t>
            </a:r>
            <a:r>
              <a:rPr sz="4400" spc="-60" dirty="0"/>
              <a:t> </a:t>
            </a:r>
            <a:r>
              <a:rPr sz="4400" spc="-10" dirty="0"/>
              <a:t>TAXONOMY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868572"/>
            <a:ext cx="8495665" cy="52482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99085" algn="l"/>
                <a:tab pos="469900" algn="l"/>
              </a:tabLst>
            </a:pPr>
            <a:r>
              <a:rPr sz="2400" b="1" dirty="0">
                <a:latin typeface="Arial"/>
                <a:cs typeface="Arial"/>
              </a:rPr>
              <a:t>Single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instruction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stream,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single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stream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(SISD)</a:t>
            </a:r>
            <a:endParaRPr sz="2400" dirty="0">
              <a:latin typeface="Arial"/>
              <a:cs typeface="Arial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Conventional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uniprocessor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execution</a:t>
            </a:r>
            <a:endParaRPr sz="2000" dirty="0">
              <a:latin typeface="Arial MT"/>
              <a:cs typeface="Arial MT"/>
            </a:endParaRPr>
          </a:p>
          <a:p>
            <a:pPr marL="695960" marR="1055370" lvl="1" indent="-226695">
              <a:lnSpc>
                <a:spcPts val="2160"/>
              </a:lnSpc>
              <a:spcBef>
                <a:spcPts val="75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Parallel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achieved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pipelining 	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(Instruction</a:t>
            </a:r>
            <a:r>
              <a:rPr sz="2000" b="1" spc="-6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level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parallelism)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Arial MT"/>
              <a:buChar char="–"/>
            </a:pPr>
            <a:endParaRPr sz="2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Single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instruction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stream,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multiple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streams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(SIMD)</a:t>
            </a:r>
            <a:endParaRPr sz="2400" dirty="0">
              <a:latin typeface="Arial"/>
              <a:cs typeface="Arial"/>
            </a:endParaRPr>
          </a:p>
          <a:p>
            <a:pPr marL="696595" lvl="1" indent="-226695">
              <a:lnSpc>
                <a:spcPct val="100000"/>
              </a:lnSpc>
              <a:spcBef>
                <a:spcPts val="484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level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Parallelism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(DLP)</a:t>
            </a:r>
            <a:endParaRPr sz="2000" dirty="0">
              <a:latin typeface="Arial"/>
              <a:cs typeface="Arial"/>
            </a:endParaRPr>
          </a:p>
          <a:p>
            <a:pPr marL="695960" marR="5080" lvl="1" indent="-226695">
              <a:lnSpc>
                <a:spcPts val="2160"/>
              </a:lnSpc>
              <a:spcBef>
                <a:spcPts val="750"/>
              </a:spcBef>
              <a:buFont typeface="Arial MT"/>
              <a:buChar char="–"/>
              <a:tabLst>
                <a:tab pos="697865" algn="l"/>
              </a:tabLst>
            </a:pP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Data-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level</a:t>
            </a:r>
            <a:r>
              <a:rPr sz="20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parallelism:</a:t>
            </a:r>
            <a:r>
              <a:rPr sz="20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Spreading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across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	</a:t>
            </a:r>
            <a:r>
              <a:rPr sz="2000" dirty="0">
                <a:latin typeface="Arial MT"/>
                <a:cs typeface="Arial MT"/>
              </a:rPr>
              <a:t>parallel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operations.</a:t>
            </a:r>
            <a:endParaRPr sz="2000" dirty="0">
              <a:latin typeface="Arial MT"/>
              <a:cs typeface="Arial MT"/>
            </a:endParaRPr>
          </a:p>
          <a:p>
            <a:pPr marL="697230" lvl="1" indent="-227329">
              <a:lnSpc>
                <a:spcPts val="2280"/>
              </a:lnSpc>
              <a:spcBef>
                <a:spcPts val="450"/>
              </a:spcBef>
              <a:buChar char="–"/>
              <a:tabLst>
                <a:tab pos="697230" algn="l"/>
              </a:tabLst>
            </a:pPr>
            <a:r>
              <a:rPr sz="2000" dirty="0">
                <a:latin typeface="Arial MT"/>
                <a:cs typeface="Arial MT"/>
              </a:rPr>
              <a:t>DLP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arises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</a:t>
            </a:r>
            <a:endParaRPr sz="2000" dirty="0">
              <a:latin typeface="Arial MT"/>
              <a:cs typeface="Arial MT"/>
            </a:endParaRPr>
          </a:p>
          <a:p>
            <a:pPr marL="6978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operated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simultaneously,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“loop”.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Multiple</a:t>
            </a:r>
            <a:r>
              <a:rPr sz="2400" spc="-7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instruction</a:t>
            </a:r>
            <a:r>
              <a:rPr sz="2400" spc="-8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streams,</a:t>
            </a:r>
            <a:r>
              <a:rPr sz="2400" spc="-10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single</a:t>
            </a:r>
            <a:r>
              <a:rPr sz="2400" spc="-5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data</a:t>
            </a:r>
            <a:r>
              <a:rPr sz="2400" spc="-9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stream</a:t>
            </a:r>
            <a:r>
              <a:rPr sz="2400" spc="-9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A6A6A6"/>
                </a:solidFill>
                <a:latin typeface="Arial MT"/>
                <a:cs typeface="Arial MT"/>
              </a:rPr>
              <a:t>(MISD)</a:t>
            </a: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2710"/>
              </a:spcBef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Multiple</a:t>
            </a:r>
            <a:r>
              <a:rPr sz="2400" spc="-7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instruction</a:t>
            </a:r>
            <a:r>
              <a:rPr sz="2400" spc="-9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streams,</a:t>
            </a:r>
            <a:r>
              <a:rPr sz="2400" spc="-114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multiple</a:t>
            </a:r>
            <a:r>
              <a:rPr sz="2400" spc="-7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data</a:t>
            </a:r>
            <a:r>
              <a:rPr sz="2400" spc="-9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6A6A6"/>
                </a:solidFill>
                <a:latin typeface="Arial MT"/>
                <a:cs typeface="Arial MT"/>
              </a:rPr>
              <a:t>streams</a:t>
            </a:r>
            <a:r>
              <a:rPr sz="2400" spc="-9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A6A6A6"/>
                </a:solidFill>
                <a:latin typeface="Arial MT"/>
                <a:cs typeface="Arial MT"/>
              </a:rPr>
              <a:t>(MIMD)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33375"/>
            <a:ext cx="7543800" cy="736600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235966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SIMD </a:t>
            </a:r>
            <a:r>
              <a:rPr sz="4400"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177054"/>
            <a:ext cx="8527415" cy="4587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SIMD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data.</a:t>
            </a:r>
            <a:endParaRPr sz="2400" dirty="0">
              <a:latin typeface="Arial MT"/>
              <a:cs typeface="Arial MT"/>
            </a:endParaRPr>
          </a:p>
          <a:p>
            <a:pPr marL="695960" marR="1058545" lvl="1" indent="-226695">
              <a:lnSpc>
                <a:spcPts val="2160"/>
              </a:lnSpc>
              <a:spcBef>
                <a:spcPts val="75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dealing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i="1" dirty="0">
                <a:solidFill>
                  <a:srgbClr val="008011"/>
                </a:solidFill>
                <a:latin typeface="Arial"/>
                <a:cs typeface="Arial"/>
              </a:rPr>
              <a:t>loops</a:t>
            </a:r>
            <a:r>
              <a:rPr sz="2000" b="1" i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identically 	</a:t>
            </a: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5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299085" marR="509905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architecture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replicated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units,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processing</a:t>
            </a:r>
            <a:r>
              <a:rPr sz="2400" b="1" spc="-8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elements</a:t>
            </a:r>
            <a:r>
              <a:rPr sz="2400" b="1" spc="-8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(PEs),</a:t>
            </a:r>
            <a:r>
              <a:rPr sz="2400" b="1" spc="-7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parallel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supervision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unit.</a:t>
            </a:r>
            <a:endParaRPr sz="2400" dirty="0">
              <a:latin typeface="Arial MT"/>
              <a:cs typeface="Arial MT"/>
            </a:endParaRPr>
          </a:p>
          <a:p>
            <a:pPr marL="696595" marR="5080" lvl="1" indent="-227329">
              <a:lnSpc>
                <a:spcPct val="90000"/>
              </a:lnSpc>
              <a:spcBef>
                <a:spcPts val="69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own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(hence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MD</a:t>
            </a:r>
            <a:r>
              <a:rPr sz="2000" b="1" spc="-2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MD</a:t>
            </a:r>
            <a:r>
              <a:rPr sz="2000" dirty="0">
                <a:latin typeface="Arial MT"/>
                <a:cs typeface="Arial MT"/>
              </a:rPr>
              <a:t>),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there 	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fetches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	</a:t>
            </a:r>
            <a:r>
              <a:rPr sz="2000" dirty="0">
                <a:latin typeface="Arial MT"/>
                <a:cs typeface="Arial MT"/>
              </a:rPr>
              <a:t>dispatches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instructions.</a:t>
            </a:r>
            <a:endParaRPr sz="20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211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streams.</a:t>
            </a:r>
            <a:endParaRPr sz="2400" dirty="0">
              <a:latin typeface="Arial MT"/>
              <a:cs typeface="Arial MT"/>
            </a:endParaRPr>
          </a:p>
          <a:p>
            <a:pPr marL="695960" marR="111125" lvl="1" indent="-226695">
              <a:lnSpc>
                <a:spcPts val="2160"/>
              </a:lnSpc>
              <a:spcBef>
                <a:spcPts val="76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PEs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receive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 	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items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03213"/>
            <a:ext cx="7543800" cy="736600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235966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SIMD </a:t>
            </a:r>
            <a:r>
              <a:rPr sz="4400"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228470"/>
            <a:ext cx="8366759" cy="46202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97865" marR="53975" indent="-22860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64 </a:t>
            </a:r>
            <a:r>
              <a:rPr sz="2000" dirty="0">
                <a:latin typeface="Arial MT"/>
                <a:cs typeface="Arial MT"/>
              </a:rPr>
              <a:t>numbers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64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streams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64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64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sums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within</a:t>
            </a:r>
            <a:r>
              <a:rPr sz="20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a single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clock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cycle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Arial MT"/>
              <a:cs typeface="Arial MT"/>
            </a:endParaRPr>
          </a:p>
          <a:p>
            <a:pPr marL="299085" marR="31115" indent="-287020">
              <a:lnSpc>
                <a:spcPts val="259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SIMD</a:t>
            </a:r>
            <a:r>
              <a:rPr sz="24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computers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data-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level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parallelism</a:t>
            </a:r>
            <a:r>
              <a:rPr sz="24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applying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items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parallel.</a:t>
            </a:r>
            <a:endParaRPr sz="2400" dirty="0">
              <a:latin typeface="Arial MT"/>
              <a:cs typeface="Arial MT"/>
            </a:endParaRPr>
          </a:p>
          <a:p>
            <a:pPr marL="297815" indent="-285115" algn="just">
              <a:lnSpc>
                <a:spcPct val="100000"/>
              </a:lnSpc>
              <a:spcBef>
                <a:spcPts val="267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Capable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executing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loop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clock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cycle.</a:t>
            </a:r>
            <a:endParaRPr sz="2400" dirty="0">
              <a:latin typeface="Arial"/>
              <a:cs typeface="Arial"/>
            </a:endParaRPr>
          </a:p>
          <a:p>
            <a:pPr marL="297815" indent="-285115" algn="just">
              <a:lnSpc>
                <a:spcPct val="100000"/>
              </a:lnSpc>
              <a:spcBef>
                <a:spcPts val="2715"/>
              </a:spcBef>
              <a:buChar char="•"/>
              <a:tabLst>
                <a:tab pos="297815" algn="l"/>
              </a:tabLst>
            </a:pP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computers</a:t>
            </a:r>
            <a:endParaRPr sz="2400" dirty="0">
              <a:latin typeface="Arial MT"/>
              <a:cs typeface="Arial MT"/>
            </a:endParaRPr>
          </a:p>
          <a:p>
            <a:pPr marL="696595" lvl="1" indent="-226695" algn="just">
              <a:lnSpc>
                <a:spcPct val="100000"/>
              </a:lnSpc>
              <a:spcBef>
                <a:spcPts val="484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Processors</a:t>
            </a:r>
            <a:endParaRPr sz="2000" dirty="0">
              <a:latin typeface="Arial MT"/>
              <a:cs typeface="Arial MT"/>
            </a:endParaRPr>
          </a:p>
          <a:p>
            <a:pPr marL="695960" marR="5080" lvl="1" indent="-226695" algn="just">
              <a:lnSpc>
                <a:spcPts val="2160"/>
              </a:lnSpc>
              <a:spcBef>
                <a:spcPts val="755"/>
              </a:spcBef>
              <a:buChar char="–"/>
              <a:tabLst>
                <a:tab pos="697865" algn="l"/>
              </a:tabLst>
            </a:pP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Vector</a:t>
            </a:r>
            <a:r>
              <a:rPr sz="2000" spc="-3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Processor:</a:t>
            </a:r>
            <a:r>
              <a:rPr sz="2000" spc="-4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Vector</a:t>
            </a:r>
            <a:r>
              <a:rPr sz="20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architectures</a:t>
            </a:r>
            <a:r>
              <a:rPr sz="2000" spc="-5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Graphic</a:t>
            </a:r>
            <a:r>
              <a:rPr sz="20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Processor</a:t>
            </a:r>
            <a:r>
              <a:rPr sz="2000" spc="-5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Arial MT"/>
                <a:cs typeface="Arial MT"/>
              </a:rPr>
              <a:t>Units 	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(GPUs)</a:t>
            </a:r>
            <a:r>
              <a:rPr sz="2000" spc="-6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exploit</a:t>
            </a:r>
            <a:r>
              <a:rPr sz="20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Arial MT"/>
                <a:cs typeface="Arial MT"/>
              </a:rPr>
              <a:t>data-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level</a:t>
            </a:r>
            <a:r>
              <a:rPr sz="2000" spc="-4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parallelism</a:t>
            </a:r>
            <a:r>
              <a:rPr sz="2000" spc="-4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by</a:t>
            </a:r>
            <a:r>
              <a:rPr sz="20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applying</a:t>
            </a:r>
            <a:r>
              <a:rPr sz="20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single</a:t>
            </a:r>
            <a:r>
              <a:rPr sz="2000" spc="-4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Arial MT"/>
                <a:cs typeface="Arial MT"/>
              </a:rPr>
              <a:t>instruction 	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to</a:t>
            </a:r>
            <a:r>
              <a:rPr sz="2000" spc="-4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collection</a:t>
            </a:r>
            <a:r>
              <a:rPr sz="2000" spc="-4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data</a:t>
            </a:r>
            <a:r>
              <a:rPr sz="2000" spc="-3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A6A6A6"/>
                </a:solidFill>
                <a:latin typeface="Arial MT"/>
                <a:cs typeface="Arial MT"/>
              </a:rPr>
              <a:t>parallel.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4C5A9E5-0F35-4AA6-AF26-B90A2D47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F06B4-018A-6580-9CD8-D1066499B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034844"/>
            <a:ext cx="3968749" cy="42674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EC2A8A-D622-D042-9C9C-C61593E62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49" y="1918423"/>
            <a:ext cx="3968750" cy="25003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9DB69D-7E48-4FDF-806E-F0B4BF00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9144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6BF69C-4724-4F8D-8EA6-1487E9C9C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80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99285">
              <a:lnSpc>
                <a:spcPct val="100000"/>
              </a:lnSpc>
              <a:spcBef>
                <a:spcPts val="100"/>
              </a:spcBef>
            </a:pPr>
            <a:r>
              <a:rPr dirty="0"/>
              <a:t>SIMD</a:t>
            </a:r>
            <a:r>
              <a:rPr spc="-55" dirty="0"/>
              <a:t> </a:t>
            </a:r>
            <a:r>
              <a:rPr dirty="0"/>
              <a:t>ARRAY</a:t>
            </a:r>
            <a:r>
              <a:rPr spc="-35" dirty="0"/>
              <a:t> </a:t>
            </a:r>
            <a:r>
              <a:rPr spc="-10" dirty="0"/>
              <a:t>PROCESSORS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27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32740" marR="40894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333375" algn="l"/>
              </a:tabLst>
            </a:pPr>
            <a:r>
              <a:rPr dirty="0"/>
              <a:t>Array</a:t>
            </a:r>
            <a:r>
              <a:rPr spc="-90" dirty="0"/>
              <a:t> </a:t>
            </a:r>
            <a:r>
              <a:rPr dirty="0"/>
              <a:t>processors</a:t>
            </a:r>
            <a:r>
              <a:rPr spc="-75" dirty="0"/>
              <a:t> </a:t>
            </a:r>
            <a:r>
              <a:rPr dirty="0"/>
              <a:t>perform</a:t>
            </a:r>
            <a:r>
              <a:rPr spc="-90" dirty="0"/>
              <a:t> </a:t>
            </a:r>
            <a:r>
              <a:rPr dirty="0"/>
              <a:t>computations</a:t>
            </a:r>
            <a:r>
              <a:rPr spc="-90" dirty="0"/>
              <a:t> </a:t>
            </a:r>
            <a:r>
              <a:rPr dirty="0"/>
              <a:t>on</a:t>
            </a:r>
            <a:r>
              <a:rPr spc="-85" dirty="0"/>
              <a:t> </a:t>
            </a:r>
            <a:r>
              <a:rPr dirty="0"/>
              <a:t>large</a:t>
            </a:r>
            <a:r>
              <a:rPr spc="-70" dirty="0"/>
              <a:t> </a:t>
            </a:r>
            <a:r>
              <a:rPr dirty="0"/>
              <a:t>arrays</a:t>
            </a:r>
            <a:r>
              <a:rPr spc="-95" dirty="0"/>
              <a:t> </a:t>
            </a:r>
            <a:r>
              <a:rPr spc="-25" dirty="0"/>
              <a:t>of </a:t>
            </a: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complex</a:t>
            </a:r>
            <a:r>
              <a:rPr spc="-55" dirty="0"/>
              <a:t> </a:t>
            </a:r>
            <a:r>
              <a:rPr dirty="0"/>
              <a:t>scientific</a:t>
            </a:r>
            <a:r>
              <a:rPr spc="-60" dirty="0"/>
              <a:t> </a:t>
            </a:r>
            <a:r>
              <a:rPr spc="-10" dirty="0"/>
              <a:t>applications</a:t>
            </a:r>
          </a:p>
          <a:p>
            <a:pPr marL="33655"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pc="-10" dirty="0"/>
          </a:p>
          <a:p>
            <a:pPr marL="332740" marR="5080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333375" algn="l"/>
              </a:tabLst>
            </a:pPr>
            <a:r>
              <a:rPr dirty="0"/>
              <a:t>SIMD</a:t>
            </a:r>
            <a:r>
              <a:rPr spc="-65" dirty="0"/>
              <a:t> </a:t>
            </a:r>
            <a:r>
              <a:rPr dirty="0"/>
              <a:t>array</a:t>
            </a:r>
            <a:r>
              <a:rPr spc="-60" dirty="0"/>
              <a:t> </a:t>
            </a:r>
            <a:r>
              <a:rPr dirty="0"/>
              <a:t>processor</a:t>
            </a:r>
            <a:r>
              <a:rPr spc="-5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computer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multiple</a:t>
            </a:r>
            <a:r>
              <a:rPr spc="-45" dirty="0"/>
              <a:t> </a:t>
            </a:r>
            <a:r>
              <a:rPr spc="-10" dirty="0"/>
              <a:t>processing </a:t>
            </a:r>
            <a:r>
              <a:rPr dirty="0"/>
              <a:t>elements</a:t>
            </a:r>
            <a:r>
              <a:rPr spc="-50" dirty="0"/>
              <a:t> </a:t>
            </a:r>
            <a:r>
              <a:rPr dirty="0"/>
              <a:t>(PEs)</a:t>
            </a:r>
            <a:r>
              <a:rPr spc="-60" dirty="0"/>
              <a:t> </a:t>
            </a:r>
            <a:r>
              <a:rPr dirty="0"/>
              <a:t>operating</a:t>
            </a:r>
            <a:r>
              <a:rPr spc="-50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parallel</a:t>
            </a:r>
            <a:r>
              <a:rPr spc="-20" dirty="0"/>
              <a:t> </a:t>
            </a:r>
            <a:r>
              <a:rPr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under</a:t>
            </a:r>
            <a:r>
              <a:rPr b="1" u="sng" spc="-6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a</a:t>
            </a:r>
            <a:r>
              <a:rPr b="1" u="sng" spc="-6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b="1" u="sng" spc="-1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common</a:t>
            </a:r>
            <a:r>
              <a:rPr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control</a:t>
            </a:r>
            <a:r>
              <a:rPr b="1" u="sng" spc="-5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b="1" u="sng" spc="-1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unit.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0"/>
              </a:spcBef>
            </a:pPr>
            <a:r>
              <a:rPr dirty="0"/>
              <a:t>SIMD</a:t>
            </a:r>
            <a:r>
              <a:rPr spc="-55" dirty="0"/>
              <a:t> </a:t>
            </a:r>
            <a:r>
              <a:rPr dirty="0"/>
              <a:t>ARRAY</a:t>
            </a:r>
            <a:r>
              <a:rPr spc="-30" dirty="0"/>
              <a:t> </a:t>
            </a:r>
            <a:r>
              <a:rPr dirty="0"/>
              <a:t>PROCESSOR</a:t>
            </a:r>
            <a:r>
              <a:rPr spc="-4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4959858"/>
            <a:ext cx="8330565" cy="14014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5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Contains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identical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(PEs)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360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includes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ALU,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M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360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PEs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Master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decodes 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395" y="912875"/>
            <a:ext cx="5818632" cy="3886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28</a:t>
            </a:fld>
            <a:endParaRPr spc="-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100"/>
              </a:spcBef>
            </a:pPr>
            <a:r>
              <a:rPr dirty="0"/>
              <a:t>SIMD</a:t>
            </a:r>
            <a:r>
              <a:rPr spc="-55" dirty="0"/>
              <a:t> </a:t>
            </a:r>
            <a:r>
              <a:rPr dirty="0"/>
              <a:t>ARRAY</a:t>
            </a:r>
            <a:r>
              <a:rPr spc="-30" dirty="0"/>
              <a:t> </a:t>
            </a:r>
            <a:r>
              <a:rPr dirty="0"/>
              <a:t>PROCESSOR</a:t>
            </a:r>
            <a:r>
              <a:rPr spc="-4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143" y="4704079"/>
            <a:ext cx="7960995" cy="144018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0665" marR="461645" indent="-228600">
              <a:lnSpc>
                <a:spcPts val="1939"/>
              </a:lnSpc>
              <a:spcBef>
                <a:spcPts val="345"/>
              </a:spcBef>
              <a:buChar char="–"/>
              <a:tabLst>
                <a:tab pos="240665" algn="l"/>
              </a:tabLst>
            </a:pPr>
            <a:r>
              <a:rPr sz="1800" spc="-10" dirty="0">
                <a:latin typeface="Arial MT"/>
                <a:cs typeface="Arial MT"/>
              </a:rPr>
              <a:t>Non-</a:t>
            </a:r>
            <a:r>
              <a:rPr sz="1800" dirty="0">
                <a:latin typeface="Arial MT"/>
                <a:cs typeface="Arial MT"/>
              </a:rPr>
              <a:t>array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master </a:t>
            </a:r>
            <a:r>
              <a:rPr sz="1800" spc="-25" dirty="0">
                <a:latin typeface="Arial MT"/>
                <a:cs typeface="Arial MT"/>
              </a:rPr>
              <a:t>CU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ts val="2050"/>
              </a:lnSpc>
              <a:spcBef>
                <a:spcPts val="360"/>
              </a:spcBef>
              <a:buChar char="–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involving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array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simultaneously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local</a:t>
            </a:r>
            <a:endParaRPr sz="1800">
              <a:latin typeface="Arial MT"/>
              <a:cs typeface="Arial MT"/>
            </a:endParaRPr>
          </a:p>
          <a:p>
            <a:pPr marL="240665">
              <a:lnSpc>
                <a:spcPts val="2050"/>
              </a:lnSpc>
            </a:pPr>
            <a:r>
              <a:rPr sz="1800" dirty="0">
                <a:latin typeface="Arial MT"/>
                <a:cs typeface="Arial MT"/>
              </a:rPr>
              <a:t>memories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populated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array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operands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390"/>
              </a:spcBef>
              <a:buChar char="–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operands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395" y="912875"/>
            <a:ext cx="5818632" cy="3886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8743" y="6112879"/>
            <a:ext cx="186880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10" dirty="0">
                <a:latin typeface="Arial MT"/>
                <a:cs typeface="Arial MT"/>
              </a:rPr>
              <a:t> cycle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29</a:t>
            </a:fld>
            <a:endParaRPr spc="-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665996-7165-386D-181F-88B717DE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39857"/>
            <a:ext cx="8178799" cy="445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36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C99C8-4E7F-0D75-1122-34647983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70527"/>
            <a:ext cx="8178799" cy="43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19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FED628-0D00-6FE4-AF3F-604D4B3C0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50081"/>
            <a:ext cx="8178799" cy="443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98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20D6C-3ACA-A1DC-214D-8CD9C0EC2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39857"/>
            <a:ext cx="8178799" cy="445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591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B3B018-0594-40F4-85CC-427B863BA142}"/>
</file>

<file path=customXml/itemProps2.xml><?xml version="1.0" encoding="utf-8"?>
<ds:datastoreItem xmlns:ds="http://schemas.openxmlformats.org/officeDocument/2006/customXml" ds:itemID="{9EE3532C-AAD5-4736-B1A1-9B4AD49ACCA7}"/>
</file>

<file path=customXml/itemProps3.xml><?xml version="1.0" encoding="utf-8"?>
<ds:datastoreItem xmlns:ds="http://schemas.openxmlformats.org/officeDocument/2006/customXml" ds:itemID="{67AED353-030B-4509-BB0F-8DE491301FA9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3206</TotalTime>
  <Words>1581</Words>
  <Application>Microsoft Office PowerPoint</Application>
  <PresentationFormat>On-screen Show (4:3)</PresentationFormat>
  <Paragraphs>265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 MT</vt:lpstr>
      <vt:lpstr>Arial</vt:lpstr>
      <vt:lpstr>Calibri</vt:lpstr>
      <vt:lpstr>Calibri Light</vt:lpstr>
      <vt:lpstr>Symbol</vt:lpstr>
      <vt:lpstr>Times New Roman</vt:lpstr>
      <vt:lpstr>Wingdings</vt:lpstr>
      <vt:lpstr>Retrospect</vt:lpstr>
      <vt:lpstr>CS361: Computer Architecture</vt:lpstr>
      <vt:lpstr>RISC PIPELINE</vt:lpstr>
      <vt:lpstr>DATA HAZARDS IN A RISC PIPELINE</vt:lpstr>
      <vt:lpstr>PowerPoint Presentation</vt:lpstr>
      <vt:lpstr>BRANCH HAZARD ARE HANDLED THROUGH DELAYED BRANCH</vt:lpstr>
      <vt:lpstr>A clarity… NOP vs Bubble</vt:lpstr>
      <vt:lpstr>ADVANCED ILP</vt:lpstr>
      <vt:lpstr>MULTIPLE-ISSUE PIPELINING</vt:lpstr>
      <vt:lpstr>HOW TO PERFORM MULTIPLE ISSUE?</vt:lpstr>
      <vt:lpstr>PowerPoint Presentation</vt:lpstr>
      <vt:lpstr>PowerPoint Presentation</vt:lpstr>
      <vt:lpstr>STATIC MULTIPLE ISSUE</vt:lpstr>
      <vt:lpstr>PowerPoint Presentation</vt:lpstr>
      <vt:lpstr>DYNAMIC MULTIPLE ISSUE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CPU TIME</vt:lpstr>
      <vt:lpstr>FLYNN’S TAXONOMY</vt:lpstr>
      <vt:lpstr>SIMD ARCHITECTURE</vt:lpstr>
      <vt:lpstr>SIMD ARCHITECTURE</vt:lpstr>
      <vt:lpstr>PowerPoint Presentation</vt:lpstr>
      <vt:lpstr>SIMD ARRAY PROCESSORS</vt:lpstr>
      <vt:lpstr>SIMD ARRAY PROCESSOR ORGANIZATION</vt:lpstr>
      <vt:lpstr>SIMD ARRAY PROCESSOR ORGANIZATION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 Lecturer FCSE</cp:lastModifiedBy>
  <cp:revision>28</cp:revision>
  <dcterms:created xsi:type="dcterms:W3CDTF">2025-11-19T13:07:00Z</dcterms:created>
  <dcterms:modified xsi:type="dcterms:W3CDTF">2025-12-03T13:03:24Z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2016</vt:lpwstr>
  </property>
  <property fmtid="{D5CDD505-2E9C-101B-9397-08002B2CF9AE}" pid="6" name="ContentTypeId">
    <vt:lpwstr>0x0101006E4823951FA9BF42B980A03718EB0B18</vt:lpwstr>
  </property>
</Properties>
</file>