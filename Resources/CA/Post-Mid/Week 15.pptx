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348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566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 </a:t>
            </a:r>
            <a:r>
              <a:rPr lang="en-US" spc="-10"/>
              <a:t>Computer</a:t>
            </a:r>
            <a:r>
              <a:rPr lang="en-US" spc="-65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3804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 </a:t>
            </a:r>
            <a:r>
              <a:rPr lang="en-US" spc="-10"/>
              <a:t>Computer</a:t>
            </a:r>
            <a:r>
              <a:rPr lang="en-US" spc="-65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3303091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 </a:t>
            </a:r>
            <a:r>
              <a:rPr lang="en-US" spc="-10"/>
              <a:t>Computer</a:t>
            </a:r>
            <a:r>
              <a:rPr lang="en-US" spc="-65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5114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 </a:t>
            </a:r>
            <a:r>
              <a:rPr lang="en-US" spc="-10"/>
              <a:t>Computer</a:t>
            </a:r>
            <a:r>
              <a:rPr lang="en-US" spc="-65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4080049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 </a:t>
            </a:r>
            <a:r>
              <a:rPr lang="en-US" spc="-10"/>
              <a:t>Computer</a:t>
            </a:r>
            <a:r>
              <a:rPr lang="en-US" spc="-65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3735003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 </a:t>
            </a:r>
            <a:r>
              <a:rPr lang="en-US" spc="-10"/>
              <a:t>Computer</a:t>
            </a:r>
            <a:r>
              <a:rPr lang="en-US" spc="-65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3573928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CS324 </a:t>
            </a:r>
            <a:r>
              <a:rPr lang="en-US" spc="-10"/>
              <a:t>Computer</a:t>
            </a:r>
            <a:r>
              <a:rPr lang="en-US" spc="-65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42092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CS324 </a:t>
            </a:r>
            <a:r>
              <a:rPr lang="en-US" spc="-10"/>
              <a:t>Computer</a:t>
            </a:r>
            <a:r>
              <a:rPr lang="en-US" spc="-65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2536380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 </a:t>
            </a:r>
            <a:r>
              <a:rPr lang="en-US" spc="-10"/>
              <a:t>Computer</a:t>
            </a:r>
            <a:r>
              <a:rPr lang="en-US" spc="-65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592669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 </a:t>
            </a:r>
            <a:r>
              <a:rPr lang="en-US" spc="-10"/>
              <a:t>Computer</a:t>
            </a:r>
            <a:r>
              <a:rPr lang="en-US" spc="-65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3494813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 </a:t>
            </a:r>
            <a:r>
              <a:rPr lang="en-US" spc="-10"/>
              <a:t>Computer</a:t>
            </a:r>
            <a:r>
              <a:rPr lang="en-US" spc="-65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3164808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CS324 </a:t>
            </a:r>
            <a:r>
              <a:rPr lang="en-US" spc="-10"/>
              <a:t>Computer</a:t>
            </a:r>
            <a:r>
              <a:rPr lang="en-US" spc="-65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8965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8326" y="5810192"/>
            <a:ext cx="6475095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685800">
              <a:lnSpc>
                <a:spcPts val="1163"/>
              </a:lnSpc>
              <a:tabLst>
                <a:tab pos="6400324" algn="l"/>
              </a:tabLst>
              <a:defRPr/>
            </a:pPr>
            <a:r>
              <a:rPr sz="1050" b="1" i="1" dirty="0">
                <a:solidFill>
                  <a:srgbClr val="000000"/>
                </a:solidFill>
                <a:latin typeface="Arial"/>
                <a:cs typeface="Arial"/>
              </a:rPr>
              <a:t>CS324 </a:t>
            </a:r>
            <a:r>
              <a:rPr sz="1050" b="1" i="1" spc="-8" dirty="0">
                <a:solidFill>
                  <a:srgbClr val="000000"/>
                </a:solidFill>
                <a:latin typeface="Arial"/>
                <a:cs typeface="Arial"/>
              </a:rPr>
              <a:t>Computer</a:t>
            </a:r>
            <a:r>
              <a:rPr sz="1050" b="1" i="1" spc="-49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050" b="1" i="1" spc="-8" dirty="0">
                <a:solidFill>
                  <a:srgbClr val="000000"/>
                </a:solidFill>
                <a:latin typeface="Arial"/>
                <a:cs typeface="Arial"/>
              </a:rPr>
              <a:t>Architecture</a:t>
            </a:r>
            <a:r>
              <a:rPr sz="1050" b="1" i="1" dirty="0">
                <a:solidFill>
                  <a:srgbClr val="000000"/>
                </a:solidFill>
                <a:latin typeface="Arial"/>
                <a:cs typeface="Arial"/>
              </a:rPr>
              <a:t>	</a:t>
            </a:r>
            <a:r>
              <a:rPr sz="1575" b="1" spc="-56" baseline="-5952" dirty="0">
                <a:solidFill>
                  <a:srgbClr val="000000"/>
                </a:solidFill>
                <a:latin typeface="Arial"/>
                <a:cs typeface="Arial"/>
              </a:rPr>
              <a:t>1</a:t>
            </a:r>
            <a:endParaRPr sz="1575" baseline="-5952">
              <a:solidFill>
                <a:srgbClr val="000000"/>
              </a:solidFill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09692" y="521922"/>
            <a:ext cx="6691313" cy="4727734"/>
            <a:chOff x="111125" y="234568"/>
            <a:chExt cx="8921750" cy="6303645"/>
          </a:xfrm>
        </p:grpSpPr>
        <p:sp>
          <p:nvSpPr>
            <p:cNvPr id="4" name="object 4"/>
            <p:cNvSpPr/>
            <p:nvPr/>
          </p:nvSpPr>
          <p:spPr>
            <a:xfrm>
              <a:off x="114300" y="733424"/>
              <a:ext cx="8912860" cy="57150"/>
            </a:xfrm>
            <a:custGeom>
              <a:avLst/>
              <a:gdLst/>
              <a:ahLst/>
              <a:cxnLst/>
              <a:rect l="l" t="t" r="r" b="b"/>
              <a:pathLst>
                <a:path w="8912860" h="57150">
                  <a:moveTo>
                    <a:pt x="8912352" y="22860"/>
                  </a:moveTo>
                  <a:lnTo>
                    <a:pt x="0" y="22860"/>
                  </a:lnTo>
                  <a:lnTo>
                    <a:pt x="0" y="57150"/>
                  </a:lnTo>
                  <a:lnTo>
                    <a:pt x="8912352" y="57150"/>
                  </a:lnTo>
                  <a:lnTo>
                    <a:pt x="8912352" y="22860"/>
                  </a:lnTo>
                  <a:close/>
                </a:path>
                <a:path w="8912860" h="57150">
                  <a:moveTo>
                    <a:pt x="8912352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8912352" y="11430"/>
                  </a:lnTo>
                  <a:lnTo>
                    <a:pt x="89123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685800">
                <a:defRPr/>
              </a:pPr>
              <a:endParaRPr sz="1350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14300" y="237743"/>
              <a:ext cx="8915400" cy="6297295"/>
            </a:xfrm>
            <a:custGeom>
              <a:avLst/>
              <a:gdLst/>
              <a:ahLst/>
              <a:cxnLst/>
              <a:rect l="l" t="t" r="r" b="b"/>
              <a:pathLst>
                <a:path w="8915400" h="6297295">
                  <a:moveTo>
                    <a:pt x="0" y="6297168"/>
                  </a:moveTo>
                  <a:lnTo>
                    <a:pt x="8915400" y="6297168"/>
                  </a:lnTo>
                  <a:lnTo>
                    <a:pt x="8915400" y="0"/>
                  </a:lnTo>
                  <a:lnTo>
                    <a:pt x="0" y="0"/>
                  </a:lnTo>
                  <a:lnTo>
                    <a:pt x="0" y="6297168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85800">
                <a:defRPr/>
              </a:pPr>
              <a:endParaRPr sz="1350">
                <a:solidFill>
                  <a:srgbClr val="000000"/>
                </a:solidFill>
                <a:latin typeface="Calibri" panose="020F0502020204030204"/>
              </a:endParaRPr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 idx="4294967295"/>
          </p:nvPr>
        </p:nvSpPr>
        <p:spPr>
          <a:xfrm>
            <a:off x="1371600" y="1605729"/>
            <a:ext cx="5010150" cy="425450"/>
          </a:xfrm>
          <a:prstGeom prst="rect">
            <a:avLst/>
          </a:prstGeom>
        </p:spPr>
        <p:txBody>
          <a:bodyPr vert="horz" wrap="square" lIns="0" tIns="9525" rIns="0" bIns="0" rtlCol="0" anchor="b">
            <a:spAutoFit/>
          </a:bodyPr>
          <a:lstStyle/>
          <a:p>
            <a:pPr marL="9525">
              <a:lnSpc>
                <a:spcPct val="100000"/>
              </a:lnSpc>
              <a:spcBef>
                <a:spcPts val="75"/>
              </a:spcBef>
            </a:pPr>
            <a:r>
              <a:rPr lang="en-US" sz="2700" b="1" dirty="0">
                <a:solidFill>
                  <a:schemeClr val="tx1"/>
                </a:solidFill>
              </a:rPr>
              <a:t>CS361</a:t>
            </a:r>
            <a:r>
              <a:rPr sz="2700" b="1" dirty="0">
                <a:solidFill>
                  <a:schemeClr val="tx1"/>
                </a:solidFill>
              </a:rPr>
              <a:t>:</a:t>
            </a:r>
            <a:r>
              <a:rPr sz="2700" b="1" spc="-30" dirty="0">
                <a:solidFill>
                  <a:schemeClr val="tx1"/>
                </a:solidFill>
              </a:rPr>
              <a:t> </a:t>
            </a:r>
            <a:r>
              <a:rPr sz="2700" b="1" dirty="0">
                <a:solidFill>
                  <a:schemeClr val="tx1"/>
                </a:solidFill>
              </a:rPr>
              <a:t>Computer</a:t>
            </a:r>
            <a:r>
              <a:rPr sz="2700" b="1" spc="-15" dirty="0">
                <a:solidFill>
                  <a:schemeClr val="tx1"/>
                </a:solidFill>
              </a:rPr>
              <a:t> </a:t>
            </a:r>
            <a:r>
              <a:rPr sz="2700" b="1" spc="-8" dirty="0">
                <a:solidFill>
                  <a:schemeClr val="tx1"/>
                </a:solidFill>
              </a:rPr>
              <a:t>Architecture</a:t>
            </a:r>
            <a:endParaRPr sz="2700" b="1" dirty="0">
              <a:solidFill>
                <a:schemeClr val="tx1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76148" y="5813299"/>
            <a:ext cx="6825139" cy="167164"/>
          </a:xfrm>
          <a:custGeom>
            <a:avLst/>
            <a:gdLst/>
            <a:ahLst/>
            <a:cxnLst/>
            <a:rect l="l" t="t" r="r" b="b"/>
            <a:pathLst>
              <a:path w="9100185" h="222884">
                <a:moveTo>
                  <a:pt x="9099804" y="0"/>
                </a:moveTo>
                <a:lnTo>
                  <a:pt x="0" y="0"/>
                </a:lnTo>
                <a:lnTo>
                  <a:pt x="0" y="222503"/>
                </a:lnTo>
                <a:lnTo>
                  <a:pt x="9099804" y="222503"/>
                </a:lnTo>
                <a:lnTo>
                  <a:pt x="90998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defTabSz="685800">
              <a:defRPr/>
            </a:pPr>
            <a:endParaRPr sz="1350">
              <a:solidFill>
                <a:srgbClr val="000000"/>
              </a:solidFill>
              <a:latin typeface="Calibri" panose="020F0502020204030204"/>
            </a:endParaRPr>
          </a:p>
        </p:txBody>
      </p:sp>
      <p:pic>
        <p:nvPicPr>
          <p:cNvPr id="10" name="Picture 9" descr="Page 98 – Ghulam Ishaq Khan Institute of Engineering ...">
            <a:extLst>
              <a:ext uri="{FF2B5EF4-FFF2-40B4-BE49-F238E27FC236}">
                <a16:creationId xmlns:a16="http://schemas.microsoft.com/office/drawing/2014/main" id="{B3A46A1E-4695-E2C0-8AAD-23FCC9750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644531"/>
            <a:ext cx="2057400" cy="2057400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ABB0E011-348D-471A-0422-C12E0008068A}"/>
              </a:ext>
            </a:extLst>
          </p:cNvPr>
          <p:cNvSpPr txBox="1"/>
          <p:nvPr/>
        </p:nvSpPr>
        <p:spPr>
          <a:xfrm>
            <a:off x="1144918" y="2460058"/>
            <a:ext cx="5788660" cy="1474120"/>
          </a:xfrm>
          <a:prstGeom prst="rect">
            <a:avLst/>
          </a:prstGeom>
        </p:spPr>
        <p:txBody>
          <a:bodyPr vert="horz" wrap="square" lIns="0" tIns="2178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14"/>
              </a:spcBef>
            </a:pPr>
            <a:r>
              <a:rPr lang="en-US" sz="2400" b="1" spc="-10" dirty="0">
                <a:latin typeface="Arial"/>
                <a:cs typeface="Arial"/>
              </a:rPr>
              <a:t>Data</a:t>
            </a:r>
            <a:r>
              <a:rPr sz="2400" b="1" spc="-10" dirty="0">
                <a:latin typeface="Arial"/>
                <a:cs typeface="Arial"/>
              </a:rPr>
              <a:t>-</a:t>
            </a:r>
            <a:r>
              <a:rPr sz="2400" b="1" dirty="0">
                <a:latin typeface="Arial"/>
                <a:cs typeface="Arial"/>
              </a:rPr>
              <a:t>level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Parallelism</a:t>
            </a:r>
            <a:r>
              <a:rPr lang="en-US" sz="2000" spc="-10" dirty="0">
                <a:latin typeface="Arial MT"/>
                <a:cs typeface="Arial MT"/>
              </a:rPr>
              <a:t>..</a:t>
            </a:r>
          </a:p>
          <a:p>
            <a:pPr marL="1169035" indent="-342900">
              <a:lnSpc>
                <a:spcPts val="2280"/>
              </a:lnSpc>
              <a:buClr>
                <a:srgbClr val="008011"/>
              </a:buClr>
              <a:buFont typeface="Arial" panose="020B0604020202020204" pitchFamily="34" charset="0"/>
              <a:buChar char="•"/>
              <a:tabLst>
                <a:tab pos="1173480" algn="l"/>
              </a:tabLst>
            </a:pPr>
            <a:r>
              <a:rPr lang="en-US" sz="2000" spc="-10" dirty="0">
                <a:latin typeface="Arial MT"/>
                <a:cs typeface="Arial MT"/>
              </a:rPr>
              <a:t>Floating-</a:t>
            </a:r>
            <a:r>
              <a:rPr lang="en-US" sz="2000" dirty="0">
                <a:latin typeface="Arial MT"/>
                <a:cs typeface="Arial MT"/>
              </a:rPr>
              <a:t>point</a:t>
            </a:r>
            <a:r>
              <a:rPr lang="en-US" sz="2000" spc="-130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Arithmetic</a:t>
            </a:r>
            <a:r>
              <a:rPr lang="en-US" sz="2000" spc="5" dirty="0">
                <a:latin typeface="Arial MT"/>
                <a:cs typeface="Arial MT"/>
              </a:rPr>
              <a:t> </a:t>
            </a:r>
            <a:r>
              <a:rPr lang="en-US" sz="2000" spc="-10" dirty="0">
                <a:latin typeface="Arial MT"/>
                <a:cs typeface="Arial MT"/>
              </a:rPr>
              <a:t>Pipelines</a:t>
            </a:r>
            <a:endParaRPr lang="en-US" sz="2000" dirty="0">
              <a:latin typeface="Arial MT"/>
              <a:cs typeface="Arial MT"/>
            </a:endParaRPr>
          </a:p>
          <a:p>
            <a:pPr marL="826135">
              <a:lnSpc>
                <a:spcPts val="2280"/>
              </a:lnSpc>
              <a:buClr>
                <a:srgbClr val="008011"/>
              </a:buClr>
              <a:tabLst>
                <a:tab pos="1173480" algn="l"/>
              </a:tabLst>
            </a:pPr>
            <a:endParaRPr lang="en-US" sz="2000" dirty="0">
              <a:latin typeface="Arial MT"/>
              <a:cs typeface="Arial MT"/>
            </a:endParaRPr>
          </a:p>
          <a:p>
            <a:pPr marL="826135">
              <a:lnSpc>
                <a:spcPts val="2280"/>
              </a:lnSpc>
              <a:buClr>
                <a:srgbClr val="008011"/>
              </a:buClr>
              <a:tabLst>
                <a:tab pos="1173480" algn="l"/>
              </a:tabLst>
            </a:pPr>
            <a:endParaRPr lang="en-US" sz="2000" spc="-1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398049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695148" y="280140"/>
            <a:ext cx="7543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/>
              <a:t>FLOATING-</a:t>
            </a:r>
            <a:r>
              <a:rPr sz="3200" dirty="0"/>
              <a:t>POINT</a:t>
            </a:r>
            <a:r>
              <a:rPr sz="3200" spc="-40" dirty="0"/>
              <a:t> </a:t>
            </a:r>
            <a:r>
              <a:rPr sz="3200" spc="-10" dirty="0"/>
              <a:t>REPRESENTATION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2943" y="869024"/>
            <a:ext cx="8396605" cy="245491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286385" marR="5080" indent="-286385" algn="r">
              <a:lnSpc>
                <a:spcPct val="100000"/>
              </a:lnSpc>
              <a:spcBef>
                <a:spcPts val="670"/>
              </a:spcBef>
              <a:buChar char="•"/>
              <a:tabLst>
                <a:tab pos="286385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floating-</a:t>
            </a:r>
            <a:r>
              <a:rPr sz="2400" dirty="0">
                <a:latin typeface="Arial MT"/>
                <a:cs typeface="Arial MT"/>
              </a:rPr>
              <a:t>point</a:t>
            </a:r>
            <a:r>
              <a:rPr sz="2400" spc="-10" dirty="0">
                <a:latin typeface="Arial MT"/>
                <a:cs typeface="Arial MT"/>
              </a:rPr>
              <a:t> representation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two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parts.</a:t>
            </a:r>
            <a:endParaRPr sz="2400">
              <a:latin typeface="Arial MT"/>
              <a:cs typeface="Arial MT"/>
            </a:endParaRPr>
          </a:p>
          <a:p>
            <a:pPr marL="227329" marR="59690" lvl="1" indent="-227329" algn="r">
              <a:lnSpc>
                <a:spcPts val="2280"/>
              </a:lnSpc>
              <a:spcBef>
                <a:spcPts val="484"/>
              </a:spcBef>
              <a:buChar char="–"/>
              <a:tabLst>
                <a:tab pos="227329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first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represents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 signed,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fixed-</a:t>
            </a:r>
            <a:r>
              <a:rPr sz="2000" dirty="0">
                <a:latin typeface="Arial MT"/>
                <a:cs typeface="Arial MT"/>
              </a:rPr>
              <a:t>point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number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(or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integer)</a:t>
            </a:r>
            <a:endParaRPr sz="2000">
              <a:latin typeface="Arial MT"/>
              <a:cs typeface="Arial MT"/>
            </a:endParaRPr>
          </a:p>
          <a:p>
            <a:pPr marL="697865">
              <a:lnSpc>
                <a:spcPts val="2280"/>
              </a:lnSpc>
            </a:pPr>
            <a:r>
              <a:rPr sz="2000" dirty="0">
                <a:latin typeface="Arial MT"/>
                <a:cs typeface="Arial MT"/>
              </a:rPr>
              <a:t>called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008011"/>
                </a:solidFill>
                <a:latin typeface="Arial"/>
                <a:cs typeface="Arial"/>
              </a:rPr>
              <a:t>mantissa</a:t>
            </a:r>
            <a:r>
              <a:rPr sz="2000" spc="-10" dirty="0">
                <a:latin typeface="Arial MT"/>
                <a:cs typeface="Arial MT"/>
              </a:rPr>
              <a:t>.</a:t>
            </a:r>
            <a:endParaRPr sz="2000">
              <a:latin typeface="Arial MT"/>
              <a:cs typeface="Arial MT"/>
            </a:endParaRPr>
          </a:p>
          <a:p>
            <a:pPr marL="695960" marR="314325" lvl="1" indent="-226695">
              <a:lnSpc>
                <a:spcPts val="2160"/>
              </a:lnSpc>
              <a:spcBef>
                <a:spcPts val="750"/>
              </a:spcBef>
              <a:buChar char="–"/>
              <a:tabLst>
                <a:tab pos="697865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second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designates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position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decimal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(or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binary) 	</a:t>
            </a:r>
            <a:r>
              <a:rPr sz="2000" dirty="0">
                <a:latin typeface="Arial MT"/>
                <a:cs typeface="Arial MT"/>
              </a:rPr>
              <a:t>point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called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008011"/>
                </a:solidFill>
                <a:latin typeface="Arial"/>
                <a:cs typeface="Arial"/>
              </a:rPr>
              <a:t>exponent</a:t>
            </a:r>
            <a:r>
              <a:rPr sz="2000" spc="-10" dirty="0">
                <a:latin typeface="Arial MT"/>
                <a:cs typeface="Arial MT"/>
              </a:rPr>
              <a:t>.</a:t>
            </a:r>
            <a:endParaRPr sz="20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380"/>
              </a:spcBef>
              <a:buFont typeface="Arial MT"/>
              <a:buChar char="–"/>
            </a:pPr>
            <a:endParaRPr sz="20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Example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floating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point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representation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decimal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numbers: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0143" y="4216146"/>
            <a:ext cx="7977505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40665" marR="5080" indent="-228600">
              <a:lnSpc>
                <a:spcPts val="1730"/>
              </a:lnSpc>
              <a:spcBef>
                <a:spcPts val="310"/>
              </a:spcBef>
            </a:pPr>
            <a:r>
              <a:rPr sz="1600" dirty="0">
                <a:latin typeface="Arial MT"/>
                <a:cs typeface="Arial MT"/>
              </a:rPr>
              <a:t>–</a:t>
            </a:r>
            <a:r>
              <a:rPr sz="1600" spc="409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value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exponent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indicates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that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actual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position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decimal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point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four </a:t>
            </a:r>
            <a:r>
              <a:rPr sz="1600" dirty="0">
                <a:latin typeface="Arial MT"/>
                <a:cs typeface="Arial MT"/>
              </a:rPr>
              <a:t>positions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right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indicated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decimal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point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b="1" dirty="0">
                <a:latin typeface="Arial"/>
                <a:cs typeface="Arial"/>
              </a:rPr>
              <a:t>fraction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(6132789)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0143" y="5780023"/>
            <a:ext cx="7977505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40665" marR="5080" indent="-228600">
              <a:lnSpc>
                <a:spcPts val="1730"/>
              </a:lnSpc>
              <a:spcBef>
                <a:spcPts val="310"/>
              </a:spcBef>
            </a:pPr>
            <a:r>
              <a:rPr sz="1600" dirty="0">
                <a:latin typeface="Arial MT"/>
                <a:cs typeface="Arial MT"/>
              </a:rPr>
              <a:t>–</a:t>
            </a:r>
            <a:r>
              <a:rPr sz="1600" spc="409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value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exponent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indicates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that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actual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position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decimal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point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four </a:t>
            </a:r>
            <a:r>
              <a:rPr sz="1600" dirty="0">
                <a:latin typeface="Arial MT"/>
                <a:cs typeface="Arial MT"/>
              </a:rPr>
              <a:t>positions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left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indicated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decimal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point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b="1" dirty="0">
                <a:latin typeface="Arial"/>
                <a:cs typeface="Arial"/>
              </a:rPr>
              <a:t>integer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(12345)</a:t>
            </a:r>
            <a:endParaRPr sz="16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977135" y="3491167"/>
          <a:ext cx="5222238" cy="626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6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2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3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3055">
                <a:tc rowSpan="2"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9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6132.789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0" dirty="0">
                          <a:latin typeface="Arial"/>
                          <a:cs typeface="Arial"/>
                        </a:rPr>
                        <a:t>=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52730" marB="0"/>
                </a:tc>
                <a:tc>
                  <a:txBody>
                    <a:bodyPr/>
                    <a:lstStyle/>
                    <a:p>
                      <a:pPr marR="18415" algn="ctr">
                        <a:lnSpc>
                          <a:spcPts val="1989"/>
                        </a:lnSpc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Mantissa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78790" algn="ctr">
                        <a:lnSpc>
                          <a:spcPts val="1989"/>
                        </a:lnSpc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Exponent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0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52730" marB="0"/>
                </a:tc>
                <a:tc>
                  <a:txBody>
                    <a:bodyPr/>
                    <a:lstStyle/>
                    <a:p>
                      <a:pPr marR="18415" algn="ctr">
                        <a:lnSpc>
                          <a:spcPts val="2080"/>
                        </a:lnSpc>
                        <a:spcBef>
                          <a:spcPts val="284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6132789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6194" marB="0"/>
                </a:tc>
                <a:tc>
                  <a:txBody>
                    <a:bodyPr/>
                    <a:lstStyle/>
                    <a:p>
                      <a:pPr marL="481965" algn="ctr">
                        <a:lnSpc>
                          <a:spcPts val="2080"/>
                        </a:lnSpc>
                        <a:spcBef>
                          <a:spcPts val="284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+4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6194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183510" y="5110036"/>
          <a:ext cx="5095874" cy="626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5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6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3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3055">
                <a:tc rowSpan="2"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9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1.2345</a:t>
                      </a:r>
                      <a:r>
                        <a:rPr sz="18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0" dirty="0">
                          <a:latin typeface="Arial"/>
                          <a:cs typeface="Arial"/>
                        </a:rPr>
                        <a:t>=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52730" marB="0"/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ts val="1989"/>
                        </a:lnSpc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Mantissa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78790" algn="ctr">
                        <a:lnSpc>
                          <a:spcPts val="1989"/>
                        </a:lnSpc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Exponent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0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52730" marB="0"/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ts val="2080"/>
                        </a:lnSpc>
                        <a:spcBef>
                          <a:spcPts val="284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12345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6194" marB="0"/>
                </a:tc>
                <a:tc>
                  <a:txBody>
                    <a:bodyPr/>
                    <a:lstStyle/>
                    <a:p>
                      <a:pPr marL="481965" algn="ctr">
                        <a:lnSpc>
                          <a:spcPts val="2080"/>
                        </a:lnSpc>
                        <a:spcBef>
                          <a:spcPts val="284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6194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343" y="265557"/>
            <a:ext cx="8245475" cy="5659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3225" algn="ct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FLOATING</a:t>
            </a:r>
            <a:r>
              <a:rPr sz="2400" b="1" spc="-3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POINT</a:t>
            </a:r>
            <a:r>
              <a:rPr sz="2400" b="1" spc="-2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8011"/>
                </a:solidFill>
                <a:latin typeface="Arial"/>
                <a:cs typeface="Arial"/>
              </a:rPr>
              <a:t>ADDITION</a:t>
            </a:r>
            <a:endParaRPr sz="2400">
              <a:latin typeface="Arial"/>
              <a:cs typeface="Arial"/>
            </a:endParaRPr>
          </a:p>
          <a:p>
            <a:pPr marL="400685" indent="-286385">
              <a:lnSpc>
                <a:spcPct val="100000"/>
              </a:lnSpc>
              <a:spcBef>
                <a:spcPts val="2440"/>
              </a:spcBef>
              <a:buFont typeface="Arial MT"/>
              <a:buChar char="•"/>
              <a:tabLst>
                <a:tab pos="400685" algn="l"/>
              </a:tabLst>
            </a:pPr>
            <a:r>
              <a:rPr sz="2400" b="1" dirty="0">
                <a:latin typeface="Arial"/>
                <a:cs typeface="Arial"/>
              </a:rPr>
              <a:t>How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to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add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the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following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two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numbers?</a:t>
            </a:r>
            <a:endParaRPr sz="2400">
              <a:latin typeface="Arial"/>
              <a:cs typeface="Arial"/>
            </a:endParaRPr>
          </a:p>
          <a:p>
            <a:pPr marL="122555" algn="ctr">
              <a:lnSpc>
                <a:spcPct val="100000"/>
              </a:lnSpc>
              <a:spcBef>
                <a:spcPts val="2715"/>
              </a:spcBef>
              <a:tabLst>
                <a:tab pos="3010535" algn="l"/>
              </a:tabLst>
            </a:pP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X</a:t>
            </a:r>
            <a:r>
              <a:rPr sz="2400" b="1" spc="-1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=</a:t>
            </a:r>
            <a:r>
              <a:rPr sz="2400" b="1" spc="-1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0.97</a:t>
            </a:r>
            <a:r>
              <a:rPr sz="2400" b="1" spc="-1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*</a:t>
            </a:r>
            <a:r>
              <a:rPr sz="2400" b="1" spc="-1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008011"/>
                </a:solidFill>
                <a:latin typeface="Arial"/>
                <a:cs typeface="Arial"/>
              </a:rPr>
              <a:t>10</a:t>
            </a:r>
            <a:r>
              <a:rPr sz="2400" b="1" spc="-37" baseline="24305" dirty="0">
                <a:solidFill>
                  <a:srgbClr val="008011"/>
                </a:solidFill>
                <a:latin typeface="Arial"/>
                <a:cs typeface="Arial"/>
              </a:rPr>
              <a:t>2</a:t>
            </a:r>
            <a:r>
              <a:rPr sz="2400" b="1" baseline="24305" dirty="0">
                <a:solidFill>
                  <a:srgbClr val="008011"/>
                </a:solidFill>
                <a:latin typeface="Arial"/>
                <a:cs typeface="Arial"/>
              </a:rPr>
              <a:t>	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Y</a:t>
            </a:r>
            <a:r>
              <a:rPr sz="2400" b="1" spc="-1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=</a:t>
            </a:r>
            <a:r>
              <a:rPr sz="2400" b="1" spc="-3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0.81</a:t>
            </a:r>
            <a:r>
              <a:rPr sz="2400" b="1" spc="-1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*</a:t>
            </a:r>
            <a:r>
              <a:rPr sz="2400" b="1" spc="-1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008011"/>
                </a:solidFill>
                <a:latin typeface="Arial"/>
                <a:cs typeface="Arial"/>
              </a:rPr>
              <a:t>10</a:t>
            </a:r>
            <a:r>
              <a:rPr sz="2400" b="1" spc="-37" baseline="24305" dirty="0">
                <a:solidFill>
                  <a:srgbClr val="008011"/>
                </a:solidFill>
                <a:latin typeface="Arial"/>
                <a:cs typeface="Arial"/>
              </a:rPr>
              <a:t>1</a:t>
            </a:r>
            <a:endParaRPr sz="2400" baseline="24305">
              <a:latin typeface="Arial"/>
              <a:cs typeface="Arial"/>
            </a:endParaRPr>
          </a:p>
          <a:p>
            <a:pPr marL="400685" indent="-286385">
              <a:lnSpc>
                <a:spcPct val="100000"/>
              </a:lnSpc>
              <a:spcBef>
                <a:spcPts val="2715"/>
              </a:spcBef>
              <a:buFont typeface="Arial MT"/>
              <a:buChar char="•"/>
              <a:tabLst>
                <a:tab pos="400685" algn="l"/>
              </a:tabLst>
            </a:pPr>
            <a:r>
              <a:rPr sz="2400" b="1" dirty="0">
                <a:latin typeface="Arial"/>
                <a:cs typeface="Arial"/>
              </a:rPr>
              <a:t>Answer: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Through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the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following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four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steps</a:t>
            </a:r>
            <a:endParaRPr sz="2400">
              <a:latin typeface="Arial"/>
              <a:cs typeface="Arial"/>
            </a:endParaRPr>
          </a:p>
          <a:p>
            <a:pPr marL="1376045" lvl="1" indent="-550545">
              <a:lnSpc>
                <a:spcPct val="100000"/>
              </a:lnSpc>
              <a:spcBef>
                <a:spcPts val="2715"/>
              </a:spcBef>
              <a:buAutoNum type="arabicPeriod"/>
              <a:tabLst>
                <a:tab pos="1376045" algn="l"/>
              </a:tabLst>
            </a:pP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Compare</a:t>
            </a:r>
            <a:r>
              <a:rPr sz="2400" spc="-7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the</a:t>
            </a:r>
            <a:r>
              <a:rPr sz="2400" spc="-9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8011"/>
                </a:solidFill>
                <a:latin typeface="Arial MT"/>
                <a:cs typeface="Arial MT"/>
              </a:rPr>
              <a:t>exponents</a:t>
            </a:r>
            <a:endParaRPr sz="2400">
              <a:latin typeface="Arial MT"/>
              <a:cs typeface="Arial MT"/>
            </a:endParaRPr>
          </a:p>
          <a:p>
            <a:pPr marL="1376045" lvl="1" indent="-550545">
              <a:lnSpc>
                <a:spcPct val="100000"/>
              </a:lnSpc>
              <a:spcBef>
                <a:spcPts val="2710"/>
              </a:spcBef>
              <a:buAutoNum type="arabicPeriod"/>
              <a:tabLst>
                <a:tab pos="1376045" algn="l"/>
              </a:tabLst>
            </a:pP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Align</a:t>
            </a:r>
            <a:r>
              <a:rPr sz="2400" spc="-4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the</a:t>
            </a:r>
            <a:r>
              <a:rPr sz="2400" spc="-7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mantissa/exponent</a:t>
            </a:r>
            <a:r>
              <a:rPr sz="2400" spc="-2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in</a:t>
            </a:r>
            <a:r>
              <a:rPr sz="2400" spc="-7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008011"/>
                </a:solidFill>
                <a:latin typeface="Arial MT"/>
                <a:cs typeface="Arial MT"/>
              </a:rPr>
              <a:t>Y</a:t>
            </a:r>
            <a:endParaRPr sz="2400">
              <a:latin typeface="Arial MT"/>
              <a:cs typeface="Arial MT"/>
            </a:endParaRPr>
          </a:p>
          <a:p>
            <a:pPr marL="1376045" lvl="1" indent="-550545">
              <a:lnSpc>
                <a:spcPct val="100000"/>
              </a:lnSpc>
              <a:spcBef>
                <a:spcPts val="2715"/>
              </a:spcBef>
              <a:buAutoNum type="arabicPeriod"/>
              <a:tabLst>
                <a:tab pos="1376045" algn="l"/>
              </a:tabLst>
            </a:pP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Add</a:t>
            </a:r>
            <a:r>
              <a:rPr sz="2400" spc="-3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or</a:t>
            </a:r>
            <a:r>
              <a:rPr sz="2400" spc="-2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subtract</a:t>
            </a:r>
            <a:r>
              <a:rPr sz="2400" spc="-4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the</a:t>
            </a:r>
            <a:r>
              <a:rPr sz="2400" spc="-3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8011"/>
                </a:solidFill>
                <a:latin typeface="Arial MT"/>
                <a:cs typeface="Arial MT"/>
              </a:rPr>
              <a:t>mantissas</a:t>
            </a:r>
            <a:endParaRPr sz="2400">
              <a:latin typeface="Arial MT"/>
              <a:cs typeface="Arial MT"/>
            </a:endParaRPr>
          </a:p>
          <a:p>
            <a:pPr marL="1376045" lvl="1" indent="-550545">
              <a:lnSpc>
                <a:spcPts val="2735"/>
              </a:lnSpc>
              <a:spcBef>
                <a:spcPts val="2710"/>
              </a:spcBef>
              <a:buAutoNum type="arabicPeriod"/>
              <a:tabLst>
                <a:tab pos="1376045" algn="l"/>
              </a:tabLst>
            </a:pP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Normalize</a:t>
            </a:r>
            <a:r>
              <a:rPr sz="2400" spc="-4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the</a:t>
            </a:r>
            <a:r>
              <a:rPr sz="2400" spc="-4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result</a:t>
            </a:r>
            <a:r>
              <a:rPr sz="2400" spc="-4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(so</a:t>
            </a:r>
            <a:r>
              <a:rPr sz="2400" spc="-4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that</a:t>
            </a:r>
            <a:r>
              <a:rPr sz="2400" spc="-6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it</a:t>
            </a:r>
            <a:r>
              <a:rPr sz="2400" spc="-4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has</a:t>
            </a:r>
            <a:r>
              <a:rPr sz="2400" spc="-4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a</a:t>
            </a:r>
            <a:r>
              <a:rPr sz="2400" spc="-6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fraction</a:t>
            </a:r>
            <a:r>
              <a:rPr sz="2400" spc="-4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with</a:t>
            </a:r>
            <a:r>
              <a:rPr sz="2400" spc="-4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008011"/>
                </a:solidFill>
                <a:latin typeface="Arial MT"/>
                <a:cs typeface="Arial MT"/>
              </a:rPr>
              <a:t>a</a:t>
            </a:r>
            <a:endParaRPr sz="2400">
              <a:latin typeface="Arial MT"/>
              <a:cs typeface="Arial MT"/>
            </a:endParaRPr>
          </a:p>
          <a:p>
            <a:pPr marL="1376045">
              <a:lnSpc>
                <a:spcPts val="2735"/>
              </a:lnSpc>
            </a:pP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nonzero</a:t>
            </a:r>
            <a:r>
              <a:rPr sz="2400" spc="-5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first</a:t>
            </a:r>
            <a:r>
              <a:rPr sz="2400" spc="-7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8011"/>
                </a:solidFill>
                <a:latin typeface="Arial MT"/>
                <a:cs typeface="Arial MT"/>
              </a:rPr>
              <a:t>digit)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66675"/>
            <a:ext cx="7543800" cy="628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4747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FLOATING</a:t>
            </a:r>
            <a:r>
              <a:rPr sz="4000" spc="-30" dirty="0"/>
              <a:t> </a:t>
            </a:r>
            <a:r>
              <a:rPr sz="4000" dirty="0"/>
              <a:t>POINT</a:t>
            </a:r>
            <a:r>
              <a:rPr sz="4000" spc="-25" dirty="0"/>
              <a:t> </a:t>
            </a:r>
            <a:r>
              <a:rPr sz="4000" spc="-10" dirty="0"/>
              <a:t>ADDITION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6400" y="725305"/>
            <a:ext cx="8331200" cy="5605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7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11785" algn="l"/>
              </a:tabLst>
            </a:pP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Step1:</a:t>
            </a:r>
            <a:r>
              <a:rPr sz="2400" b="1" spc="-3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Compare</a:t>
            </a:r>
            <a:r>
              <a:rPr sz="2400" b="1" spc="-3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the</a:t>
            </a:r>
            <a:r>
              <a:rPr sz="2400" b="1" spc="-4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8011"/>
                </a:solidFill>
                <a:latin typeface="Arial"/>
                <a:cs typeface="Arial"/>
              </a:rPr>
              <a:t>exponents</a:t>
            </a:r>
            <a:endParaRPr sz="2400" dirty="0">
              <a:latin typeface="Arial"/>
              <a:cs typeface="Arial"/>
            </a:endParaRPr>
          </a:p>
          <a:p>
            <a:pPr marL="2802255">
              <a:lnSpc>
                <a:spcPct val="100000"/>
              </a:lnSpc>
              <a:spcBef>
                <a:spcPts val="2715"/>
              </a:spcBef>
            </a:pP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2</a:t>
            </a:r>
            <a:r>
              <a:rPr sz="2400" b="1" spc="-1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&gt;</a:t>
            </a:r>
            <a:r>
              <a:rPr sz="2400" b="1" spc="-2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1,</a:t>
            </a:r>
            <a:r>
              <a:rPr sz="2400" b="1" spc="-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so</a:t>
            </a:r>
            <a:r>
              <a:rPr sz="2400" b="1" spc="-1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align</a:t>
            </a:r>
            <a:r>
              <a:rPr sz="2400" b="1" spc="-3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spc="-50" dirty="0">
                <a:solidFill>
                  <a:srgbClr val="008011"/>
                </a:solidFill>
                <a:latin typeface="Arial"/>
                <a:cs typeface="Arial"/>
              </a:rPr>
              <a:t>Y</a:t>
            </a:r>
            <a:endParaRPr sz="2400" dirty="0">
              <a:latin typeface="Arial"/>
              <a:cs typeface="Arial"/>
            </a:endParaRPr>
          </a:p>
          <a:p>
            <a:pPr marL="708660" marR="17780" lvl="1" indent="-226695">
              <a:lnSpc>
                <a:spcPts val="2160"/>
              </a:lnSpc>
              <a:spcBef>
                <a:spcPts val="755"/>
              </a:spcBef>
              <a:buChar char="–"/>
              <a:tabLst>
                <a:tab pos="710565" algn="l"/>
              </a:tabLst>
            </a:pPr>
            <a:r>
              <a:rPr sz="2000" dirty="0">
                <a:latin typeface="Arial MT"/>
                <a:cs typeface="Arial MT"/>
              </a:rPr>
              <a:t>In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first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stage,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compare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exponents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determine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 	</a:t>
            </a:r>
            <a:r>
              <a:rPr sz="2000" dirty="0">
                <a:latin typeface="Arial MT"/>
                <a:cs typeface="Arial MT"/>
              </a:rPr>
              <a:t>exponent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X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greater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exponent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5" dirty="0">
                <a:latin typeface="Arial MT"/>
                <a:cs typeface="Arial MT"/>
              </a:rPr>
              <a:t> Y.</a:t>
            </a:r>
            <a:endParaRPr sz="20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buFont typeface="Arial MT"/>
              <a:buChar char="–"/>
            </a:pPr>
            <a:endParaRPr sz="20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270"/>
              </a:spcBef>
              <a:buFont typeface="Arial MT"/>
              <a:buChar char="–"/>
            </a:pPr>
            <a:endParaRPr sz="2000" dirty="0">
              <a:latin typeface="Arial MT"/>
              <a:cs typeface="Arial MT"/>
            </a:endParaRPr>
          </a:p>
          <a:p>
            <a:pPr marL="311785" indent="-286385">
              <a:lnSpc>
                <a:spcPct val="100000"/>
              </a:lnSpc>
              <a:buFont typeface="Arial MT"/>
              <a:buChar char="•"/>
              <a:tabLst>
                <a:tab pos="311785" algn="l"/>
              </a:tabLst>
            </a:pP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Step</a:t>
            </a:r>
            <a:r>
              <a:rPr sz="2400" b="1" spc="-2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2:</a:t>
            </a:r>
            <a:r>
              <a:rPr sz="2400" b="1" spc="-1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Align</a:t>
            </a:r>
            <a:r>
              <a:rPr sz="2400" b="1" spc="-4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the</a:t>
            </a:r>
            <a:r>
              <a:rPr sz="2400" b="1" spc="-2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8011"/>
                </a:solidFill>
                <a:latin typeface="Arial"/>
                <a:cs typeface="Arial"/>
              </a:rPr>
              <a:t>mantissa/exponent</a:t>
            </a:r>
            <a:endParaRPr sz="2400" dirty="0">
              <a:latin typeface="Arial"/>
              <a:cs typeface="Arial"/>
            </a:endParaRPr>
          </a:p>
          <a:p>
            <a:pPr marL="2817495">
              <a:lnSpc>
                <a:spcPct val="100000"/>
              </a:lnSpc>
              <a:spcBef>
                <a:spcPts val="2715"/>
              </a:spcBef>
            </a:pP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Y</a:t>
            </a:r>
            <a:r>
              <a:rPr sz="2400" b="1" spc="-3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=</a:t>
            </a:r>
            <a:r>
              <a:rPr sz="2400" b="1" spc="-1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.081</a:t>
            </a:r>
            <a:r>
              <a:rPr sz="2400" b="1" spc="-3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*</a:t>
            </a:r>
            <a:r>
              <a:rPr sz="2400" b="1" spc="-1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008011"/>
                </a:solidFill>
                <a:latin typeface="Arial"/>
                <a:cs typeface="Arial"/>
              </a:rPr>
              <a:t>10</a:t>
            </a:r>
            <a:r>
              <a:rPr sz="2400" b="1" spc="-37" baseline="24305" dirty="0">
                <a:solidFill>
                  <a:srgbClr val="008011"/>
                </a:solidFill>
                <a:latin typeface="Arial"/>
                <a:cs typeface="Arial"/>
              </a:rPr>
              <a:t>2</a:t>
            </a:r>
            <a:endParaRPr sz="2400" baseline="24305" dirty="0">
              <a:latin typeface="Arial"/>
              <a:cs typeface="Arial"/>
            </a:endParaRPr>
          </a:p>
          <a:p>
            <a:pPr marL="336550" lvl="1" indent="-227329" algn="ctr">
              <a:lnSpc>
                <a:spcPts val="2280"/>
              </a:lnSpc>
              <a:spcBef>
                <a:spcPts val="1565"/>
              </a:spcBef>
              <a:buChar char="–"/>
              <a:tabLst>
                <a:tab pos="336550" algn="l"/>
              </a:tabLst>
            </a:pPr>
            <a:r>
              <a:rPr sz="2000" dirty="0">
                <a:latin typeface="Arial MT"/>
                <a:cs typeface="Arial MT"/>
              </a:rPr>
              <a:t>In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step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2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choose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exponent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2.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Next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align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</a:t>
            </a:r>
            <a:endParaRPr sz="2000" dirty="0">
              <a:latin typeface="Arial MT"/>
              <a:cs typeface="Arial MT"/>
            </a:endParaRPr>
          </a:p>
          <a:p>
            <a:pPr marL="127635" algn="ctr">
              <a:lnSpc>
                <a:spcPts val="2280"/>
              </a:lnSpc>
            </a:pPr>
            <a:r>
              <a:rPr sz="2000" dirty="0">
                <a:latin typeface="Arial MT"/>
                <a:cs typeface="Arial MT"/>
              </a:rPr>
              <a:t>mantissa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shifting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mantissa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position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right:</a:t>
            </a:r>
            <a:endParaRPr sz="2000" dirty="0">
              <a:latin typeface="Arial MT"/>
              <a:cs typeface="Arial MT"/>
            </a:endParaRPr>
          </a:p>
          <a:p>
            <a:pPr marL="462280" algn="ctr">
              <a:lnSpc>
                <a:spcPct val="100000"/>
              </a:lnSpc>
              <a:spcBef>
                <a:spcPts val="910"/>
              </a:spcBef>
            </a:pPr>
            <a:r>
              <a:rPr sz="2400" dirty="0">
                <a:latin typeface="Arial MT"/>
                <a:cs typeface="Arial MT"/>
              </a:rPr>
              <a:t>Y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.81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*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10</a:t>
            </a:r>
            <a:r>
              <a:rPr sz="2400" baseline="24305" dirty="0">
                <a:latin typeface="Arial MT"/>
                <a:cs typeface="Arial MT"/>
              </a:rPr>
              <a:t>1</a:t>
            </a:r>
            <a:r>
              <a:rPr sz="2400" spc="315" baseline="243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.081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*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10</a:t>
            </a:r>
            <a:r>
              <a:rPr sz="2400" spc="-30" baseline="24305" dirty="0">
                <a:latin typeface="Arial MT"/>
                <a:cs typeface="Arial MT"/>
              </a:rPr>
              <a:t>2</a:t>
            </a:r>
            <a:r>
              <a:rPr sz="2400" spc="-20" dirty="0">
                <a:latin typeface="Arial MT"/>
                <a:cs typeface="Arial MT"/>
              </a:rPr>
              <a:t>.</a:t>
            </a:r>
            <a:endParaRPr sz="2400" dirty="0">
              <a:latin typeface="Arial MT"/>
              <a:cs typeface="Arial MT"/>
            </a:endParaRPr>
          </a:p>
          <a:p>
            <a:pPr marL="709930" lvl="1" indent="-227329">
              <a:lnSpc>
                <a:spcPts val="2280"/>
              </a:lnSpc>
              <a:spcBef>
                <a:spcPts val="1565"/>
              </a:spcBef>
              <a:buChar char="–"/>
              <a:tabLst>
                <a:tab pos="709930" algn="l"/>
              </a:tabLst>
            </a:pPr>
            <a:r>
              <a:rPr sz="2000" dirty="0">
                <a:latin typeface="Arial MT"/>
                <a:cs typeface="Arial MT"/>
              </a:rPr>
              <a:t>Note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change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value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Y,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but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only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its</a:t>
            </a:r>
            <a:endParaRPr sz="2000" dirty="0">
              <a:latin typeface="Arial MT"/>
              <a:cs typeface="Arial MT"/>
            </a:endParaRPr>
          </a:p>
          <a:p>
            <a:pPr marL="710565">
              <a:lnSpc>
                <a:spcPts val="2280"/>
              </a:lnSpc>
            </a:pPr>
            <a:r>
              <a:rPr sz="2000" spc="-10" dirty="0">
                <a:latin typeface="Arial MT"/>
                <a:cs typeface="Arial MT"/>
              </a:rPr>
              <a:t>representation.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119063"/>
            <a:ext cx="7543800" cy="6905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4747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FLOATING</a:t>
            </a:r>
            <a:r>
              <a:rPr sz="4400" spc="-30" dirty="0"/>
              <a:t> </a:t>
            </a:r>
            <a:r>
              <a:rPr sz="4400" dirty="0"/>
              <a:t>POINT</a:t>
            </a:r>
            <a:r>
              <a:rPr sz="4400" spc="-25" dirty="0"/>
              <a:t> </a:t>
            </a:r>
            <a:r>
              <a:rPr sz="4400" spc="-10" dirty="0"/>
              <a:t>ADDITION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0243" y="941578"/>
            <a:ext cx="8370570" cy="52546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11785" marR="17780" indent="-287020">
              <a:lnSpc>
                <a:spcPts val="2590"/>
              </a:lnSpc>
              <a:spcBef>
                <a:spcPts val="425"/>
              </a:spcBef>
              <a:buChar char="•"/>
              <a:tabLst>
                <a:tab pos="311785" algn="l"/>
              </a:tabLst>
            </a:pPr>
            <a:r>
              <a:rPr sz="2400" dirty="0">
                <a:latin typeface="Arial MT"/>
                <a:cs typeface="Arial MT"/>
              </a:rPr>
              <a:t>Now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mantissas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aligned,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i.e.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both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have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same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exponent,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mantissas.</a:t>
            </a:r>
            <a:endParaRPr sz="2400">
              <a:latin typeface="Arial MT"/>
              <a:cs typeface="Arial MT"/>
            </a:endParaRPr>
          </a:p>
          <a:p>
            <a:pPr marL="286385" marR="4241800" indent="-286385" algn="r">
              <a:lnSpc>
                <a:spcPct val="100000"/>
              </a:lnSpc>
              <a:spcBef>
                <a:spcPts val="2680"/>
              </a:spcBef>
              <a:buFont typeface="Arial MT"/>
              <a:buChar char="•"/>
              <a:tabLst>
                <a:tab pos="286385" algn="l"/>
              </a:tabLst>
            </a:pP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Step</a:t>
            </a:r>
            <a:r>
              <a:rPr sz="2400" b="1" spc="-1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3:</a:t>
            </a:r>
            <a:r>
              <a:rPr sz="2400" b="1" spc="-1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Add</a:t>
            </a:r>
            <a:r>
              <a:rPr sz="2400" b="1" spc="-1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the</a:t>
            </a:r>
            <a:r>
              <a:rPr sz="2400" b="1" spc="-1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8011"/>
                </a:solidFill>
                <a:latin typeface="Arial"/>
                <a:cs typeface="Arial"/>
              </a:rPr>
              <a:t>mantissas</a:t>
            </a:r>
            <a:endParaRPr sz="2400">
              <a:latin typeface="Arial"/>
              <a:cs typeface="Arial"/>
            </a:endParaRPr>
          </a:p>
          <a:p>
            <a:pPr marR="4170045" algn="r">
              <a:lnSpc>
                <a:spcPct val="100000"/>
              </a:lnSpc>
              <a:spcBef>
                <a:spcPts val="2710"/>
              </a:spcBef>
            </a:pP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0.97 +</a:t>
            </a:r>
            <a:r>
              <a:rPr sz="2400" b="1" spc="-1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.081</a:t>
            </a:r>
            <a:r>
              <a:rPr sz="2400" b="1" spc="-1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= </a:t>
            </a:r>
            <a:r>
              <a:rPr sz="2400" b="1" spc="-10" dirty="0">
                <a:solidFill>
                  <a:srgbClr val="008011"/>
                </a:solidFill>
                <a:latin typeface="Arial"/>
                <a:cs typeface="Arial"/>
              </a:rPr>
              <a:t>1.051</a:t>
            </a:r>
            <a:endParaRPr sz="2400">
              <a:latin typeface="Arial"/>
              <a:cs typeface="Arial"/>
            </a:endParaRPr>
          </a:p>
          <a:p>
            <a:pPr marL="311785" indent="-286385">
              <a:lnSpc>
                <a:spcPct val="100000"/>
              </a:lnSpc>
              <a:spcBef>
                <a:spcPts val="2715"/>
              </a:spcBef>
              <a:buFont typeface="Arial MT"/>
              <a:buChar char="•"/>
              <a:tabLst>
                <a:tab pos="311785" algn="l"/>
              </a:tabLst>
            </a:pP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Step</a:t>
            </a:r>
            <a:r>
              <a:rPr sz="2400" b="1" spc="-2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4:</a:t>
            </a:r>
            <a:r>
              <a:rPr sz="2400" b="1" spc="-2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Normalize</a:t>
            </a:r>
            <a:r>
              <a:rPr sz="2400" b="1" spc="-3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the</a:t>
            </a:r>
            <a:r>
              <a:rPr sz="2400" b="1" spc="-2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8011"/>
                </a:solidFill>
                <a:latin typeface="Arial"/>
                <a:cs typeface="Arial"/>
              </a:rPr>
              <a:t>result</a:t>
            </a:r>
            <a:endParaRPr sz="2400">
              <a:latin typeface="Arial"/>
              <a:cs typeface="Arial"/>
            </a:endParaRPr>
          </a:p>
          <a:p>
            <a:pPr marL="1549400">
              <a:lnSpc>
                <a:spcPct val="100000"/>
              </a:lnSpc>
              <a:spcBef>
                <a:spcPts val="2715"/>
              </a:spcBef>
            </a:pP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X</a:t>
            </a:r>
            <a:r>
              <a:rPr sz="2400" b="1" spc="-2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+</a:t>
            </a:r>
            <a:r>
              <a:rPr sz="2400" b="1" spc="-3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Y</a:t>
            </a:r>
            <a:r>
              <a:rPr sz="2400" b="1" spc="-1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=</a:t>
            </a:r>
            <a:r>
              <a:rPr sz="2400" b="1" spc="-1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1</a:t>
            </a:r>
            <a:r>
              <a:rPr sz="2400" b="1" u="sng" dirty="0">
                <a:solidFill>
                  <a:srgbClr val="008011"/>
                </a:solidFill>
                <a:uFill>
                  <a:solidFill>
                    <a:srgbClr val="008011"/>
                  </a:solidFill>
                </a:uFill>
                <a:latin typeface="Arial"/>
                <a:cs typeface="Arial"/>
              </a:rPr>
              <a:t>.0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51</a:t>
            </a:r>
            <a:r>
              <a:rPr sz="2400" b="1" spc="-2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*</a:t>
            </a:r>
            <a:r>
              <a:rPr sz="2400" b="1" spc="-1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10</a:t>
            </a:r>
            <a:r>
              <a:rPr sz="2400" b="1" baseline="24305" dirty="0">
                <a:solidFill>
                  <a:srgbClr val="008011"/>
                </a:solidFill>
                <a:latin typeface="Arial"/>
                <a:cs typeface="Arial"/>
              </a:rPr>
              <a:t>2</a:t>
            </a:r>
            <a:r>
              <a:rPr sz="2400" b="1" spc="667" baseline="2430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=</a:t>
            </a:r>
            <a:r>
              <a:rPr sz="2400" b="1" spc="-2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.1051</a:t>
            </a:r>
            <a:r>
              <a:rPr sz="2400" b="1" spc="-3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*</a:t>
            </a:r>
            <a:r>
              <a:rPr sz="2400" b="1" spc="-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008011"/>
                </a:solidFill>
                <a:latin typeface="Arial"/>
                <a:cs typeface="Arial"/>
              </a:rPr>
              <a:t>10</a:t>
            </a:r>
            <a:r>
              <a:rPr sz="2400" b="1" spc="-37" baseline="24305" dirty="0">
                <a:solidFill>
                  <a:srgbClr val="008011"/>
                </a:solidFill>
                <a:latin typeface="Arial"/>
                <a:cs typeface="Arial"/>
              </a:rPr>
              <a:t>3</a:t>
            </a:r>
            <a:endParaRPr sz="2400" baseline="24305">
              <a:latin typeface="Arial"/>
              <a:cs typeface="Arial"/>
            </a:endParaRPr>
          </a:p>
          <a:p>
            <a:pPr marL="709295" lvl="1" indent="-226695">
              <a:lnSpc>
                <a:spcPct val="100000"/>
              </a:lnSpc>
              <a:spcBef>
                <a:spcPts val="1565"/>
              </a:spcBef>
              <a:buChar char="–"/>
              <a:tabLst>
                <a:tab pos="709295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result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addition,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1.051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*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10</a:t>
            </a:r>
            <a:r>
              <a:rPr sz="1950" baseline="25641" dirty="0">
                <a:latin typeface="Arial MT"/>
                <a:cs typeface="Arial MT"/>
              </a:rPr>
              <a:t>2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normal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form.</a:t>
            </a:r>
            <a:endParaRPr sz="2000">
              <a:latin typeface="Arial MT"/>
              <a:cs typeface="Arial MT"/>
            </a:endParaRPr>
          </a:p>
          <a:p>
            <a:pPr marL="709295" marR="80645" lvl="1" indent="-227329">
              <a:lnSpc>
                <a:spcPct val="90000"/>
              </a:lnSpc>
              <a:spcBef>
                <a:spcPts val="720"/>
              </a:spcBef>
              <a:buChar char="–"/>
              <a:tabLst>
                <a:tab pos="710565" algn="l"/>
                <a:tab pos="6659880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sum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adjusted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normalizing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result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so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that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it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has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spc="-50" dirty="0">
                <a:latin typeface="Arial"/>
                <a:cs typeface="Arial"/>
              </a:rPr>
              <a:t>a 	</a:t>
            </a:r>
            <a:r>
              <a:rPr sz="2000" b="1" dirty="0">
                <a:latin typeface="Arial"/>
                <a:cs typeface="Arial"/>
              </a:rPr>
              <a:t>fraction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with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nonzero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first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digit.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done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shifting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 	</a:t>
            </a:r>
            <a:r>
              <a:rPr sz="2000" dirty="0">
                <a:latin typeface="Arial MT"/>
                <a:cs typeface="Arial MT"/>
              </a:rPr>
              <a:t>mantissa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once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right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incrementing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exponent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one</a:t>
            </a:r>
            <a:r>
              <a:rPr sz="2000" spc="-25" dirty="0">
                <a:latin typeface="Arial MT"/>
                <a:cs typeface="Arial MT"/>
              </a:rPr>
              <a:t> to 	</a:t>
            </a:r>
            <a:r>
              <a:rPr sz="2000" dirty="0">
                <a:latin typeface="Arial MT"/>
                <a:cs typeface="Arial MT"/>
              </a:rPr>
              <a:t>obtain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normalized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sum.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converts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1.051</a:t>
            </a:r>
            <a:r>
              <a:rPr sz="1800" spc="-1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*</a:t>
            </a:r>
            <a:r>
              <a:rPr sz="1800" spc="-1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008011"/>
                </a:solidFill>
                <a:latin typeface="Arial MT"/>
                <a:cs typeface="Arial MT"/>
              </a:rPr>
              <a:t>10</a:t>
            </a:r>
            <a:r>
              <a:rPr sz="1800" spc="-37" baseline="25462" dirty="0">
                <a:solidFill>
                  <a:srgbClr val="008011"/>
                </a:solidFill>
                <a:latin typeface="Arial MT"/>
                <a:cs typeface="Arial MT"/>
              </a:rPr>
              <a:t>2</a:t>
            </a:r>
            <a:r>
              <a:rPr sz="1800" baseline="25462" dirty="0">
                <a:solidFill>
                  <a:srgbClr val="008011"/>
                </a:solidFill>
                <a:latin typeface="Arial MT"/>
                <a:cs typeface="Arial MT"/>
              </a:rPr>
              <a:t>	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.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1051</a:t>
            </a:r>
            <a:r>
              <a:rPr sz="1800" spc="-1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* </a:t>
            </a:r>
            <a:r>
              <a:rPr sz="1800" spc="-25" dirty="0">
                <a:solidFill>
                  <a:srgbClr val="008011"/>
                </a:solidFill>
                <a:latin typeface="Arial MT"/>
                <a:cs typeface="Arial MT"/>
              </a:rPr>
              <a:t>10</a:t>
            </a:r>
            <a:r>
              <a:rPr sz="1800" spc="-37" baseline="25462" dirty="0">
                <a:solidFill>
                  <a:srgbClr val="008011"/>
                </a:solidFill>
                <a:latin typeface="Arial MT"/>
                <a:cs typeface="Arial MT"/>
              </a:rPr>
              <a:t>3</a:t>
            </a:r>
            <a:endParaRPr sz="1800" baseline="25462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47470">
              <a:lnSpc>
                <a:spcPct val="100000"/>
              </a:lnSpc>
              <a:spcBef>
                <a:spcPts val="100"/>
              </a:spcBef>
            </a:pPr>
            <a:r>
              <a:rPr dirty="0"/>
              <a:t>FLOATING</a:t>
            </a:r>
            <a:r>
              <a:rPr spc="-30" dirty="0"/>
              <a:t> </a:t>
            </a:r>
            <a:r>
              <a:rPr dirty="0"/>
              <a:t>POINT</a:t>
            </a:r>
            <a:r>
              <a:rPr spc="-25" dirty="0"/>
              <a:t> </a:t>
            </a:r>
            <a:r>
              <a:rPr spc="-10" dirty="0"/>
              <a:t>ADDITION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332943" y="2362327"/>
            <a:ext cx="8477885" cy="279971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99085" marR="340995" indent="-287020">
              <a:lnSpc>
                <a:spcPts val="2590"/>
              </a:lnSpc>
              <a:spcBef>
                <a:spcPts val="425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floating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point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adder-</a:t>
            </a:r>
            <a:r>
              <a:rPr sz="2400" dirty="0">
                <a:latin typeface="Arial MT"/>
                <a:cs typeface="Arial MT"/>
              </a:rPr>
              <a:t>subtractor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circuit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follows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same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4 </a:t>
            </a:r>
            <a:r>
              <a:rPr sz="2400" dirty="0">
                <a:latin typeface="Arial MT"/>
                <a:cs typeface="Arial MT"/>
              </a:rPr>
              <a:t>steps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addition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subtration.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5"/>
              </a:spcBef>
              <a:buFont typeface="Arial MT"/>
              <a:buChar char="•"/>
            </a:pPr>
            <a:endParaRPr sz="2400" dirty="0">
              <a:latin typeface="Arial MT"/>
              <a:cs typeface="Arial MT"/>
            </a:endParaRPr>
          </a:p>
          <a:p>
            <a:pPr marL="299085" marR="145415" indent="-287020">
              <a:lnSpc>
                <a:spcPts val="2590"/>
              </a:lnSpc>
              <a:spcBef>
                <a:spcPts val="5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As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example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“pipelined”</a:t>
            </a:r>
            <a:r>
              <a:rPr sz="2400" b="1" spc="-7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arithmetic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unit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consider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floating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point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adder-</a:t>
            </a:r>
            <a:r>
              <a:rPr sz="2400" spc="-10" dirty="0">
                <a:latin typeface="Arial MT"/>
                <a:cs typeface="Arial MT"/>
              </a:rPr>
              <a:t>subtractor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5"/>
              </a:spcBef>
              <a:buFont typeface="Arial MT"/>
              <a:buChar char="•"/>
            </a:pPr>
            <a:endParaRPr sz="2400" dirty="0">
              <a:latin typeface="Arial MT"/>
              <a:cs typeface="Arial MT"/>
            </a:endParaRPr>
          </a:p>
          <a:p>
            <a:pPr marL="299085" marR="5080" indent="-287020">
              <a:lnSpc>
                <a:spcPts val="2590"/>
              </a:lnSpc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We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will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4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manual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steps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will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form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4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segments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pipeline.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object 9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166688"/>
            <a:ext cx="7543800" cy="5667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1945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FLOATING-</a:t>
            </a:r>
            <a:r>
              <a:rPr sz="3600" dirty="0"/>
              <a:t>POINT</a:t>
            </a:r>
            <a:r>
              <a:rPr sz="3600" spc="-40" dirty="0"/>
              <a:t> </a:t>
            </a:r>
            <a:r>
              <a:rPr sz="3600" dirty="0"/>
              <a:t>ARITHMETIC</a:t>
            </a:r>
            <a:r>
              <a:rPr sz="3600" spc="15" dirty="0"/>
              <a:t> </a:t>
            </a:r>
            <a:r>
              <a:rPr sz="3600" spc="-10" dirty="0"/>
              <a:t>PIPELINE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0751" y="2459862"/>
            <a:ext cx="28365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 MT"/>
                <a:cs typeface="Arial MT"/>
              </a:rPr>
              <a:t>Seg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1: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Compare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exponents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0751" y="3337381"/>
            <a:ext cx="33667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 MT"/>
                <a:cs typeface="Arial MT"/>
              </a:rPr>
              <a:t>Seg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2: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Choose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exp.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&amp;</a:t>
            </a:r>
            <a:r>
              <a:rPr sz="1600" spc="-10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Align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mantissa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0751" y="4434916"/>
            <a:ext cx="26149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 MT"/>
                <a:cs typeface="Arial MT"/>
              </a:rPr>
              <a:t>Seg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3:</a:t>
            </a:r>
            <a:r>
              <a:rPr sz="1600" spc="-8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Add/sub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mantissa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0751" y="5532831"/>
            <a:ext cx="24758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 MT"/>
                <a:cs typeface="Arial MT"/>
              </a:rPr>
              <a:t>Seg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4: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Normalize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result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8399" y="705893"/>
            <a:ext cx="3552190" cy="1080770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0"/>
              </a:spcBef>
            </a:pPr>
            <a:r>
              <a:rPr sz="2000" spc="-10" dirty="0">
                <a:latin typeface="Arial MT"/>
                <a:cs typeface="Arial MT"/>
              </a:rPr>
              <a:t>Floating-</a:t>
            </a:r>
            <a:r>
              <a:rPr sz="2000" dirty="0">
                <a:latin typeface="Arial MT"/>
                <a:cs typeface="Arial MT"/>
              </a:rPr>
              <a:t>point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adder-</a:t>
            </a:r>
            <a:r>
              <a:rPr sz="2000" spc="-10" dirty="0">
                <a:latin typeface="Arial MT"/>
                <a:cs typeface="Arial MT"/>
              </a:rPr>
              <a:t>subtractor</a:t>
            </a:r>
            <a:endParaRPr sz="2000" dirty="0">
              <a:latin typeface="Arial MT"/>
              <a:cs typeface="Arial MT"/>
            </a:endParaRPr>
          </a:p>
          <a:p>
            <a:pPr marL="606425" marR="1797685">
              <a:lnSpc>
                <a:spcPts val="1939"/>
              </a:lnSpc>
              <a:spcBef>
                <a:spcPts val="1100"/>
              </a:spcBef>
            </a:pPr>
            <a:r>
              <a:rPr sz="1800" dirty="0">
                <a:latin typeface="Arial MT"/>
                <a:cs typeface="Arial MT"/>
              </a:rPr>
              <a:t>X =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x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10</a:t>
            </a:r>
            <a:r>
              <a:rPr sz="1800" spc="-37" baseline="25462" dirty="0">
                <a:latin typeface="Arial MT"/>
                <a:cs typeface="Arial MT"/>
              </a:rPr>
              <a:t>a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 x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10</a:t>
            </a:r>
            <a:r>
              <a:rPr sz="1800" spc="-37" baseline="25462" dirty="0">
                <a:latin typeface="Arial MT"/>
                <a:cs typeface="Arial MT"/>
              </a:rPr>
              <a:t>b</a:t>
            </a:r>
            <a:endParaRPr sz="1800" baseline="25462" dirty="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883658" y="1523238"/>
            <a:ext cx="3872865" cy="4581525"/>
            <a:chOff x="4883658" y="1523238"/>
            <a:chExt cx="3872865" cy="458152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83658" y="5951982"/>
              <a:ext cx="1310639" cy="1524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31786" y="5951982"/>
              <a:ext cx="1324355" cy="1524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31786" y="4836414"/>
              <a:ext cx="1324355" cy="1524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31786" y="3711702"/>
              <a:ext cx="1324355" cy="1524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31786" y="1523238"/>
              <a:ext cx="1324355" cy="1524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83658" y="2763774"/>
              <a:ext cx="1310639" cy="15392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83658" y="1523238"/>
              <a:ext cx="1310639" cy="15240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4883658" y="1523238"/>
            <a:ext cx="1310640" cy="152400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sz="1100" spc="-50" dirty="0">
                <a:latin typeface="Arial MT"/>
                <a:cs typeface="Arial MT"/>
              </a:rPr>
              <a:t>R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83658" y="1991105"/>
            <a:ext cx="1317625" cy="492759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 marL="290830" marR="375285" indent="22860" algn="ctr">
              <a:lnSpc>
                <a:spcPts val="1150"/>
              </a:lnSpc>
              <a:spcBef>
                <a:spcPts val="380"/>
              </a:spcBef>
            </a:pPr>
            <a:r>
              <a:rPr sz="1100" spc="-10" dirty="0">
                <a:latin typeface="Arial MT"/>
                <a:cs typeface="Arial MT"/>
              </a:rPr>
              <a:t>Compare exponents</a:t>
            </a:r>
            <a:endParaRPr sz="1100">
              <a:latin typeface="Arial MT"/>
              <a:cs typeface="Arial MT"/>
            </a:endParaRPr>
          </a:p>
          <a:p>
            <a:pPr marR="139065" algn="ctr">
              <a:lnSpc>
                <a:spcPts val="1155"/>
              </a:lnSpc>
            </a:pPr>
            <a:r>
              <a:rPr sz="1100" dirty="0">
                <a:latin typeface="Arial MT"/>
                <a:cs typeface="Arial MT"/>
              </a:rPr>
              <a:t>by</a:t>
            </a:r>
            <a:r>
              <a:rPr sz="1100" spc="-10" dirty="0">
                <a:latin typeface="Arial MT"/>
                <a:cs typeface="Arial MT"/>
              </a:rPr>
              <a:t> subtraction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230367" y="1207261"/>
            <a:ext cx="623570" cy="769620"/>
            <a:chOff x="5230367" y="1207261"/>
            <a:chExt cx="623570" cy="769620"/>
          </a:xfrm>
        </p:grpSpPr>
        <p:sp>
          <p:nvSpPr>
            <p:cNvPr id="19" name="object 19"/>
            <p:cNvSpPr/>
            <p:nvPr/>
          </p:nvSpPr>
          <p:spPr>
            <a:xfrm>
              <a:off x="5503163" y="1877567"/>
              <a:ext cx="90170" cy="99060"/>
            </a:xfrm>
            <a:custGeom>
              <a:avLst/>
              <a:gdLst/>
              <a:ahLst/>
              <a:cxnLst/>
              <a:rect l="l" t="t" r="r" b="b"/>
              <a:pathLst>
                <a:path w="90170" h="99060">
                  <a:moveTo>
                    <a:pt x="45593" y="0"/>
                  </a:moveTo>
                  <a:lnTo>
                    <a:pt x="33897" y="543"/>
                  </a:lnTo>
                  <a:lnTo>
                    <a:pt x="22320" y="2158"/>
                  </a:lnTo>
                  <a:lnTo>
                    <a:pt x="10981" y="4822"/>
                  </a:lnTo>
                  <a:lnTo>
                    <a:pt x="0" y="8509"/>
                  </a:lnTo>
                  <a:lnTo>
                    <a:pt x="45593" y="99060"/>
                  </a:lnTo>
                  <a:lnTo>
                    <a:pt x="89915" y="8001"/>
                  </a:lnTo>
                  <a:lnTo>
                    <a:pt x="79240" y="4500"/>
                  </a:lnTo>
                  <a:lnTo>
                    <a:pt x="68230" y="2000"/>
                  </a:lnTo>
                  <a:lnTo>
                    <a:pt x="56983" y="500"/>
                  </a:lnTo>
                  <a:lnTo>
                    <a:pt x="455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552693" y="1690877"/>
              <a:ext cx="0" cy="207645"/>
            </a:xfrm>
            <a:custGeom>
              <a:avLst/>
              <a:gdLst/>
              <a:ahLst/>
              <a:cxnLst/>
              <a:rect l="l" t="t" r="r" b="b"/>
              <a:pathLst>
                <a:path h="207644">
                  <a:moveTo>
                    <a:pt x="0" y="0"/>
                  </a:moveTo>
                  <a:lnTo>
                    <a:pt x="0" y="207263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230367" y="1408175"/>
              <a:ext cx="90170" cy="99060"/>
            </a:xfrm>
            <a:custGeom>
              <a:avLst/>
              <a:gdLst/>
              <a:ahLst/>
              <a:cxnLst/>
              <a:rect l="l" t="t" r="r" b="b"/>
              <a:pathLst>
                <a:path w="90170" h="99059">
                  <a:moveTo>
                    <a:pt x="45593" y="0"/>
                  </a:moveTo>
                  <a:lnTo>
                    <a:pt x="33897" y="543"/>
                  </a:lnTo>
                  <a:lnTo>
                    <a:pt x="22320" y="2158"/>
                  </a:lnTo>
                  <a:lnTo>
                    <a:pt x="10981" y="4822"/>
                  </a:lnTo>
                  <a:lnTo>
                    <a:pt x="0" y="8509"/>
                  </a:lnTo>
                  <a:lnTo>
                    <a:pt x="45593" y="99060"/>
                  </a:lnTo>
                  <a:lnTo>
                    <a:pt x="89916" y="8000"/>
                  </a:lnTo>
                  <a:lnTo>
                    <a:pt x="79240" y="4500"/>
                  </a:lnTo>
                  <a:lnTo>
                    <a:pt x="68230" y="2000"/>
                  </a:lnTo>
                  <a:lnTo>
                    <a:pt x="56983" y="500"/>
                  </a:lnTo>
                  <a:lnTo>
                    <a:pt x="455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279897" y="1219961"/>
              <a:ext cx="0" cy="207645"/>
            </a:xfrm>
            <a:custGeom>
              <a:avLst/>
              <a:gdLst/>
              <a:ahLst/>
              <a:cxnLst/>
              <a:rect l="l" t="t" r="r" b="b"/>
              <a:pathLst>
                <a:path h="207644">
                  <a:moveTo>
                    <a:pt x="0" y="0"/>
                  </a:moveTo>
                  <a:lnTo>
                    <a:pt x="0" y="207263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63767" y="1408175"/>
              <a:ext cx="90170" cy="99060"/>
            </a:xfrm>
            <a:custGeom>
              <a:avLst/>
              <a:gdLst/>
              <a:ahLst/>
              <a:cxnLst/>
              <a:rect l="l" t="t" r="r" b="b"/>
              <a:pathLst>
                <a:path w="90170" h="99059">
                  <a:moveTo>
                    <a:pt x="45593" y="0"/>
                  </a:moveTo>
                  <a:lnTo>
                    <a:pt x="33897" y="543"/>
                  </a:lnTo>
                  <a:lnTo>
                    <a:pt x="22320" y="2158"/>
                  </a:lnTo>
                  <a:lnTo>
                    <a:pt x="10981" y="4822"/>
                  </a:lnTo>
                  <a:lnTo>
                    <a:pt x="0" y="8509"/>
                  </a:lnTo>
                  <a:lnTo>
                    <a:pt x="45593" y="99060"/>
                  </a:lnTo>
                  <a:lnTo>
                    <a:pt x="89916" y="8000"/>
                  </a:lnTo>
                  <a:lnTo>
                    <a:pt x="79240" y="4500"/>
                  </a:lnTo>
                  <a:lnTo>
                    <a:pt x="68230" y="2000"/>
                  </a:lnTo>
                  <a:lnTo>
                    <a:pt x="56983" y="500"/>
                  </a:lnTo>
                  <a:lnTo>
                    <a:pt x="455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813297" y="1219961"/>
              <a:ext cx="0" cy="207645"/>
            </a:xfrm>
            <a:custGeom>
              <a:avLst/>
              <a:gdLst/>
              <a:ahLst/>
              <a:cxnLst/>
              <a:rect l="l" t="t" r="r" b="b"/>
              <a:pathLst>
                <a:path h="207644">
                  <a:moveTo>
                    <a:pt x="0" y="0"/>
                  </a:moveTo>
                  <a:lnTo>
                    <a:pt x="0" y="207263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801614" y="1056894"/>
            <a:ext cx="10350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0" dirty="0">
                <a:latin typeface="Arial MT"/>
                <a:cs typeface="Arial MT"/>
              </a:rPr>
              <a:t>b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509259" y="2464561"/>
            <a:ext cx="88900" cy="300355"/>
            <a:chOff x="5509259" y="2464561"/>
            <a:chExt cx="88900" cy="300355"/>
          </a:xfrm>
        </p:grpSpPr>
        <p:sp>
          <p:nvSpPr>
            <p:cNvPr id="27" name="object 27"/>
            <p:cNvSpPr/>
            <p:nvPr/>
          </p:nvSpPr>
          <p:spPr>
            <a:xfrm>
              <a:off x="5509259" y="2666999"/>
              <a:ext cx="88900" cy="97790"/>
            </a:xfrm>
            <a:custGeom>
              <a:avLst/>
              <a:gdLst/>
              <a:ahLst/>
              <a:cxnLst/>
              <a:rect l="l" t="t" r="r" b="b"/>
              <a:pathLst>
                <a:path w="88900" h="97789">
                  <a:moveTo>
                    <a:pt x="44830" y="0"/>
                  </a:moveTo>
                  <a:lnTo>
                    <a:pt x="33325" y="541"/>
                  </a:lnTo>
                  <a:lnTo>
                    <a:pt x="21939" y="2143"/>
                  </a:lnTo>
                  <a:lnTo>
                    <a:pt x="10791" y="4768"/>
                  </a:lnTo>
                  <a:lnTo>
                    <a:pt x="0" y="8382"/>
                  </a:lnTo>
                  <a:lnTo>
                    <a:pt x="44830" y="97536"/>
                  </a:lnTo>
                  <a:lnTo>
                    <a:pt x="88391" y="7874"/>
                  </a:lnTo>
                  <a:lnTo>
                    <a:pt x="77906" y="4446"/>
                  </a:lnTo>
                  <a:lnTo>
                    <a:pt x="67087" y="1984"/>
                  </a:lnTo>
                  <a:lnTo>
                    <a:pt x="56030" y="498"/>
                  </a:lnTo>
                  <a:lnTo>
                    <a:pt x="448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548121" y="2477261"/>
              <a:ext cx="0" cy="205740"/>
            </a:xfrm>
            <a:custGeom>
              <a:avLst/>
              <a:gdLst/>
              <a:ahLst/>
              <a:cxnLst/>
              <a:rect l="l" t="t" r="r" b="b"/>
              <a:pathLst>
                <a:path h="205739">
                  <a:moveTo>
                    <a:pt x="0" y="0"/>
                  </a:moveTo>
                  <a:lnTo>
                    <a:pt x="0" y="205739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883658" y="2763773"/>
            <a:ext cx="1310640" cy="154305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3495" algn="ctr">
              <a:lnSpc>
                <a:spcPts val="1210"/>
              </a:lnSpc>
            </a:pPr>
            <a:r>
              <a:rPr sz="1100" spc="-50" dirty="0">
                <a:latin typeface="Arial MT"/>
                <a:cs typeface="Arial MT"/>
              </a:rPr>
              <a:t>R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896357" y="3225495"/>
            <a:ext cx="129349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Arial MT"/>
                <a:cs typeface="Arial MT"/>
              </a:rPr>
              <a:t>Choose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exponent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509259" y="2915666"/>
            <a:ext cx="88900" cy="313690"/>
            <a:chOff x="5509259" y="2915666"/>
            <a:chExt cx="88900" cy="313690"/>
          </a:xfrm>
        </p:grpSpPr>
        <p:sp>
          <p:nvSpPr>
            <p:cNvPr id="32" name="object 32"/>
            <p:cNvSpPr/>
            <p:nvPr/>
          </p:nvSpPr>
          <p:spPr>
            <a:xfrm>
              <a:off x="5509259" y="3130296"/>
              <a:ext cx="88900" cy="99060"/>
            </a:xfrm>
            <a:custGeom>
              <a:avLst/>
              <a:gdLst/>
              <a:ahLst/>
              <a:cxnLst/>
              <a:rect l="l" t="t" r="r" b="b"/>
              <a:pathLst>
                <a:path w="88900" h="99060">
                  <a:moveTo>
                    <a:pt x="44830" y="0"/>
                  </a:moveTo>
                  <a:lnTo>
                    <a:pt x="33325" y="543"/>
                  </a:lnTo>
                  <a:lnTo>
                    <a:pt x="21939" y="2159"/>
                  </a:lnTo>
                  <a:lnTo>
                    <a:pt x="10791" y="4822"/>
                  </a:lnTo>
                  <a:lnTo>
                    <a:pt x="0" y="8508"/>
                  </a:lnTo>
                  <a:lnTo>
                    <a:pt x="44830" y="99059"/>
                  </a:lnTo>
                  <a:lnTo>
                    <a:pt x="88391" y="8000"/>
                  </a:lnTo>
                  <a:lnTo>
                    <a:pt x="77906" y="4500"/>
                  </a:lnTo>
                  <a:lnTo>
                    <a:pt x="67087" y="2000"/>
                  </a:lnTo>
                  <a:lnTo>
                    <a:pt x="56030" y="500"/>
                  </a:lnTo>
                  <a:lnTo>
                    <a:pt x="448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552693" y="2928366"/>
              <a:ext cx="0" cy="205740"/>
            </a:xfrm>
            <a:custGeom>
              <a:avLst/>
              <a:gdLst/>
              <a:ahLst/>
              <a:cxnLst/>
              <a:rect l="l" t="t" r="r" b="b"/>
              <a:pathLst>
                <a:path h="205739">
                  <a:moveTo>
                    <a:pt x="0" y="0"/>
                  </a:moveTo>
                  <a:lnTo>
                    <a:pt x="0" y="205739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139690" y="869543"/>
            <a:ext cx="685165" cy="381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0645" marR="5080" indent="-68580">
              <a:lnSpc>
                <a:spcPct val="106100"/>
              </a:lnSpc>
              <a:spcBef>
                <a:spcPts val="95"/>
              </a:spcBef>
            </a:pPr>
            <a:r>
              <a:rPr sz="1100" spc="-10" dirty="0">
                <a:latin typeface="Arial MT"/>
                <a:cs typeface="Arial MT"/>
              </a:rPr>
              <a:t>Exponents </a:t>
            </a:r>
            <a:r>
              <a:rPr sz="1100" spc="-50" dirty="0">
                <a:latin typeface="Arial MT"/>
                <a:cs typeface="Arial MT"/>
              </a:rPr>
              <a:t>a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431785" y="1523238"/>
            <a:ext cx="1324610" cy="152400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sz="1100" spc="-50" dirty="0">
                <a:latin typeface="Arial MT"/>
                <a:cs typeface="Arial MT"/>
              </a:rPr>
              <a:t>R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7780019" y="1207261"/>
            <a:ext cx="634365" cy="2022475"/>
            <a:chOff x="7780019" y="1207261"/>
            <a:chExt cx="634365" cy="2022475"/>
          </a:xfrm>
        </p:grpSpPr>
        <p:pic>
          <p:nvPicPr>
            <p:cNvPr id="37" name="object 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55863" y="3130295"/>
              <a:ext cx="89915" cy="99059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8100821" y="1690877"/>
              <a:ext cx="0" cy="1443355"/>
            </a:xfrm>
            <a:custGeom>
              <a:avLst/>
              <a:gdLst/>
              <a:ahLst/>
              <a:cxnLst/>
              <a:rect l="l" t="t" r="r" b="b"/>
              <a:pathLst>
                <a:path h="1443355">
                  <a:moveTo>
                    <a:pt x="0" y="0"/>
                  </a:moveTo>
                  <a:lnTo>
                    <a:pt x="0" y="1443227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780019" y="1408175"/>
              <a:ext cx="90170" cy="99060"/>
            </a:xfrm>
            <a:custGeom>
              <a:avLst/>
              <a:gdLst/>
              <a:ahLst/>
              <a:cxnLst/>
              <a:rect l="l" t="t" r="r" b="b"/>
              <a:pathLst>
                <a:path w="90170" h="99059">
                  <a:moveTo>
                    <a:pt x="45593" y="0"/>
                  </a:moveTo>
                  <a:lnTo>
                    <a:pt x="33897" y="543"/>
                  </a:lnTo>
                  <a:lnTo>
                    <a:pt x="22320" y="2158"/>
                  </a:lnTo>
                  <a:lnTo>
                    <a:pt x="10981" y="4822"/>
                  </a:lnTo>
                  <a:lnTo>
                    <a:pt x="0" y="8509"/>
                  </a:lnTo>
                  <a:lnTo>
                    <a:pt x="45593" y="99060"/>
                  </a:lnTo>
                  <a:lnTo>
                    <a:pt x="89915" y="8000"/>
                  </a:lnTo>
                  <a:lnTo>
                    <a:pt x="79240" y="4500"/>
                  </a:lnTo>
                  <a:lnTo>
                    <a:pt x="68230" y="2000"/>
                  </a:lnTo>
                  <a:lnTo>
                    <a:pt x="56983" y="500"/>
                  </a:lnTo>
                  <a:lnTo>
                    <a:pt x="455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826501" y="1219961"/>
              <a:ext cx="0" cy="207645"/>
            </a:xfrm>
            <a:custGeom>
              <a:avLst/>
              <a:gdLst/>
              <a:ahLst/>
              <a:cxnLst/>
              <a:rect l="l" t="t" r="r" b="b"/>
              <a:pathLst>
                <a:path h="207644">
                  <a:moveTo>
                    <a:pt x="0" y="0"/>
                  </a:moveTo>
                  <a:lnTo>
                    <a:pt x="0" y="207263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325611" y="1408175"/>
              <a:ext cx="88900" cy="99060"/>
            </a:xfrm>
            <a:custGeom>
              <a:avLst/>
              <a:gdLst/>
              <a:ahLst/>
              <a:cxnLst/>
              <a:rect l="l" t="t" r="r" b="b"/>
              <a:pathLst>
                <a:path w="88900" h="99059">
                  <a:moveTo>
                    <a:pt x="44831" y="0"/>
                  </a:moveTo>
                  <a:lnTo>
                    <a:pt x="33325" y="543"/>
                  </a:lnTo>
                  <a:lnTo>
                    <a:pt x="21939" y="2158"/>
                  </a:lnTo>
                  <a:lnTo>
                    <a:pt x="10791" y="4822"/>
                  </a:lnTo>
                  <a:lnTo>
                    <a:pt x="0" y="8509"/>
                  </a:lnTo>
                  <a:lnTo>
                    <a:pt x="44831" y="99060"/>
                  </a:lnTo>
                  <a:lnTo>
                    <a:pt x="88392" y="8000"/>
                  </a:lnTo>
                  <a:lnTo>
                    <a:pt x="77906" y="4500"/>
                  </a:lnTo>
                  <a:lnTo>
                    <a:pt x="67087" y="2000"/>
                  </a:lnTo>
                  <a:lnTo>
                    <a:pt x="56030" y="500"/>
                  </a:lnTo>
                  <a:lnTo>
                    <a:pt x="448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373617" y="1219961"/>
              <a:ext cx="0" cy="207645"/>
            </a:xfrm>
            <a:custGeom>
              <a:avLst/>
              <a:gdLst/>
              <a:ahLst/>
              <a:cxnLst/>
              <a:rect l="l" t="t" r="r" b="b"/>
              <a:pathLst>
                <a:path h="207644">
                  <a:moveTo>
                    <a:pt x="0" y="0"/>
                  </a:moveTo>
                  <a:lnTo>
                    <a:pt x="0" y="207263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8342121" y="1064768"/>
            <a:ext cx="11938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0" dirty="0">
                <a:latin typeface="Arial MT"/>
                <a:cs typeface="Arial MT"/>
              </a:rPr>
              <a:t>B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431785" y="3233166"/>
            <a:ext cx="1329055" cy="181610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8905">
              <a:lnSpc>
                <a:spcPts val="1290"/>
              </a:lnSpc>
            </a:pPr>
            <a:r>
              <a:rPr sz="1100" dirty="0">
                <a:latin typeface="Arial MT"/>
                <a:cs typeface="Arial MT"/>
              </a:rPr>
              <a:t>Align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mantissa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698993" y="869543"/>
            <a:ext cx="653415" cy="381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3025" marR="5080" indent="-60960">
              <a:lnSpc>
                <a:spcPct val="106100"/>
              </a:lnSpc>
              <a:spcBef>
                <a:spcPts val="95"/>
              </a:spcBef>
            </a:pPr>
            <a:r>
              <a:rPr sz="1100" spc="-10" dirty="0">
                <a:latin typeface="Arial MT"/>
                <a:cs typeface="Arial MT"/>
              </a:rPr>
              <a:t>Mantissas </a:t>
            </a:r>
            <a:r>
              <a:rPr sz="1100" spc="-50" dirty="0">
                <a:latin typeface="Arial MT"/>
                <a:cs typeface="Arial MT"/>
              </a:rPr>
              <a:t>A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276594" y="2036140"/>
            <a:ext cx="66738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10" dirty="0">
                <a:latin typeface="Arial MT"/>
                <a:cs typeface="Arial MT"/>
              </a:rPr>
              <a:t>Difference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6196838" y="2208529"/>
            <a:ext cx="1949450" cy="1493520"/>
            <a:chOff x="6196838" y="2208529"/>
            <a:chExt cx="1949450" cy="1493520"/>
          </a:xfrm>
        </p:grpSpPr>
        <p:sp>
          <p:nvSpPr>
            <p:cNvPr id="48" name="object 48"/>
            <p:cNvSpPr/>
            <p:nvPr/>
          </p:nvSpPr>
          <p:spPr>
            <a:xfrm>
              <a:off x="6209538" y="2221229"/>
              <a:ext cx="878205" cy="1123315"/>
            </a:xfrm>
            <a:custGeom>
              <a:avLst/>
              <a:gdLst/>
              <a:ahLst/>
              <a:cxnLst/>
              <a:rect l="l" t="t" r="r" b="b"/>
              <a:pathLst>
                <a:path w="878204" h="1123314">
                  <a:moveTo>
                    <a:pt x="0" y="0"/>
                  </a:moveTo>
                  <a:lnTo>
                    <a:pt x="877696" y="0"/>
                  </a:lnTo>
                  <a:lnTo>
                    <a:pt x="877696" y="1123315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313676" y="3308603"/>
              <a:ext cx="111760" cy="76200"/>
            </a:xfrm>
            <a:custGeom>
              <a:avLst/>
              <a:gdLst/>
              <a:ahLst/>
              <a:cxnLst/>
              <a:rect l="l" t="t" r="r" b="b"/>
              <a:pathLst>
                <a:path w="111759" h="76200">
                  <a:moveTo>
                    <a:pt x="9525" y="0"/>
                  </a:moveTo>
                  <a:lnTo>
                    <a:pt x="5411" y="9320"/>
                  </a:lnTo>
                  <a:lnTo>
                    <a:pt x="2428" y="18938"/>
                  </a:lnTo>
                  <a:lnTo>
                    <a:pt x="613" y="28771"/>
                  </a:lnTo>
                  <a:lnTo>
                    <a:pt x="0" y="38735"/>
                  </a:lnTo>
                  <a:lnTo>
                    <a:pt x="569" y="48339"/>
                  </a:lnTo>
                  <a:lnTo>
                    <a:pt x="2270" y="57848"/>
                  </a:lnTo>
                  <a:lnTo>
                    <a:pt x="5089" y="67167"/>
                  </a:lnTo>
                  <a:lnTo>
                    <a:pt x="9017" y="76200"/>
                  </a:lnTo>
                  <a:lnTo>
                    <a:pt x="111251" y="3873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087362" y="3350513"/>
              <a:ext cx="234950" cy="0"/>
            </a:xfrm>
            <a:custGeom>
              <a:avLst/>
              <a:gdLst/>
              <a:ahLst/>
              <a:cxnLst/>
              <a:rect l="l" t="t" r="r" b="b"/>
              <a:pathLst>
                <a:path w="234950">
                  <a:moveTo>
                    <a:pt x="0" y="0"/>
                  </a:moveTo>
                  <a:lnTo>
                    <a:pt x="234696" y="0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8055864" y="3605783"/>
              <a:ext cx="90170" cy="96520"/>
            </a:xfrm>
            <a:custGeom>
              <a:avLst/>
              <a:gdLst/>
              <a:ahLst/>
              <a:cxnLst/>
              <a:rect l="l" t="t" r="r" b="b"/>
              <a:pathLst>
                <a:path w="90170" h="96520">
                  <a:moveTo>
                    <a:pt x="45592" y="0"/>
                  </a:moveTo>
                  <a:lnTo>
                    <a:pt x="33897" y="521"/>
                  </a:lnTo>
                  <a:lnTo>
                    <a:pt x="22320" y="2079"/>
                  </a:lnTo>
                  <a:lnTo>
                    <a:pt x="10981" y="4661"/>
                  </a:lnTo>
                  <a:lnTo>
                    <a:pt x="0" y="8254"/>
                  </a:lnTo>
                  <a:lnTo>
                    <a:pt x="45592" y="96011"/>
                  </a:lnTo>
                  <a:lnTo>
                    <a:pt x="89915" y="7746"/>
                  </a:lnTo>
                  <a:lnTo>
                    <a:pt x="79240" y="4393"/>
                  </a:lnTo>
                  <a:lnTo>
                    <a:pt x="68230" y="1968"/>
                  </a:lnTo>
                  <a:lnTo>
                    <a:pt x="56983" y="496"/>
                  </a:lnTo>
                  <a:lnTo>
                    <a:pt x="455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00822" y="3416045"/>
              <a:ext cx="0" cy="200025"/>
            </a:xfrm>
            <a:custGeom>
              <a:avLst/>
              <a:gdLst/>
              <a:ahLst/>
              <a:cxnLst/>
              <a:rect l="l" t="t" r="r" b="b"/>
              <a:pathLst>
                <a:path h="200025">
                  <a:moveTo>
                    <a:pt x="0" y="0"/>
                  </a:moveTo>
                  <a:lnTo>
                    <a:pt x="0" y="199643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7431785" y="3711702"/>
            <a:ext cx="1324610" cy="152400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sz="1100" spc="-50" dirty="0">
                <a:latin typeface="Arial MT"/>
                <a:cs typeface="Arial MT"/>
              </a:rPr>
              <a:t>R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8051292" y="3865117"/>
            <a:ext cx="90170" cy="298450"/>
            <a:chOff x="8051292" y="3865117"/>
            <a:chExt cx="90170" cy="298450"/>
          </a:xfrm>
        </p:grpSpPr>
        <p:sp>
          <p:nvSpPr>
            <p:cNvPr id="55" name="object 55"/>
            <p:cNvSpPr/>
            <p:nvPr/>
          </p:nvSpPr>
          <p:spPr>
            <a:xfrm>
              <a:off x="8051292" y="4064507"/>
              <a:ext cx="90170" cy="99060"/>
            </a:xfrm>
            <a:custGeom>
              <a:avLst/>
              <a:gdLst/>
              <a:ahLst/>
              <a:cxnLst/>
              <a:rect l="l" t="t" r="r" b="b"/>
              <a:pathLst>
                <a:path w="90170" h="99060">
                  <a:moveTo>
                    <a:pt x="45592" y="0"/>
                  </a:moveTo>
                  <a:lnTo>
                    <a:pt x="33897" y="543"/>
                  </a:lnTo>
                  <a:lnTo>
                    <a:pt x="22320" y="2159"/>
                  </a:lnTo>
                  <a:lnTo>
                    <a:pt x="10981" y="4822"/>
                  </a:lnTo>
                  <a:lnTo>
                    <a:pt x="0" y="8509"/>
                  </a:lnTo>
                  <a:lnTo>
                    <a:pt x="45592" y="99060"/>
                  </a:lnTo>
                  <a:lnTo>
                    <a:pt x="89915" y="8001"/>
                  </a:lnTo>
                  <a:lnTo>
                    <a:pt x="79240" y="4500"/>
                  </a:lnTo>
                  <a:lnTo>
                    <a:pt x="68230" y="2000"/>
                  </a:lnTo>
                  <a:lnTo>
                    <a:pt x="56983" y="500"/>
                  </a:lnTo>
                  <a:lnTo>
                    <a:pt x="455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8100822" y="3877817"/>
              <a:ext cx="0" cy="205740"/>
            </a:xfrm>
            <a:custGeom>
              <a:avLst/>
              <a:gdLst/>
              <a:ahLst/>
              <a:cxnLst/>
              <a:rect l="l" t="t" r="r" b="b"/>
              <a:pathLst>
                <a:path h="205739">
                  <a:moveTo>
                    <a:pt x="0" y="0"/>
                  </a:moveTo>
                  <a:lnTo>
                    <a:pt x="0" y="205739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7431785" y="4181094"/>
            <a:ext cx="1324610" cy="329565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R="42545" algn="ctr">
              <a:lnSpc>
                <a:spcPts val="1235"/>
              </a:lnSpc>
              <a:spcBef>
                <a:spcPts val="195"/>
              </a:spcBef>
            </a:pPr>
            <a:r>
              <a:rPr sz="1100" dirty="0">
                <a:latin typeface="Arial MT"/>
                <a:cs typeface="Arial MT"/>
              </a:rPr>
              <a:t>Add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subtract</a:t>
            </a:r>
            <a:endParaRPr sz="1100">
              <a:latin typeface="Arial MT"/>
              <a:cs typeface="Arial MT"/>
            </a:endParaRPr>
          </a:p>
          <a:p>
            <a:pPr marL="5715" algn="ctr">
              <a:lnSpc>
                <a:spcPts val="1160"/>
              </a:lnSpc>
            </a:pPr>
            <a:r>
              <a:rPr sz="1100" spc="-10" dirty="0">
                <a:latin typeface="Arial MT"/>
                <a:cs typeface="Arial MT"/>
              </a:rPr>
              <a:t>mantissas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8051292" y="4511294"/>
            <a:ext cx="90170" cy="311150"/>
            <a:chOff x="8051292" y="4511294"/>
            <a:chExt cx="90170" cy="311150"/>
          </a:xfrm>
        </p:grpSpPr>
        <p:sp>
          <p:nvSpPr>
            <p:cNvPr id="59" name="object 59"/>
            <p:cNvSpPr/>
            <p:nvPr/>
          </p:nvSpPr>
          <p:spPr>
            <a:xfrm>
              <a:off x="8051292" y="4722876"/>
              <a:ext cx="90170" cy="99060"/>
            </a:xfrm>
            <a:custGeom>
              <a:avLst/>
              <a:gdLst/>
              <a:ahLst/>
              <a:cxnLst/>
              <a:rect l="l" t="t" r="r" b="b"/>
              <a:pathLst>
                <a:path w="90170" h="99060">
                  <a:moveTo>
                    <a:pt x="45592" y="0"/>
                  </a:moveTo>
                  <a:lnTo>
                    <a:pt x="33897" y="543"/>
                  </a:lnTo>
                  <a:lnTo>
                    <a:pt x="22320" y="2159"/>
                  </a:lnTo>
                  <a:lnTo>
                    <a:pt x="10981" y="4822"/>
                  </a:lnTo>
                  <a:lnTo>
                    <a:pt x="0" y="8509"/>
                  </a:lnTo>
                  <a:lnTo>
                    <a:pt x="45592" y="99060"/>
                  </a:lnTo>
                  <a:lnTo>
                    <a:pt x="89915" y="8000"/>
                  </a:lnTo>
                  <a:lnTo>
                    <a:pt x="79240" y="4500"/>
                  </a:lnTo>
                  <a:lnTo>
                    <a:pt x="68230" y="2000"/>
                  </a:lnTo>
                  <a:lnTo>
                    <a:pt x="56983" y="500"/>
                  </a:lnTo>
                  <a:lnTo>
                    <a:pt x="455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8100822" y="4523994"/>
              <a:ext cx="0" cy="215265"/>
            </a:xfrm>
            <a:custGeom>
              <a:avLst/>
              <a:gdLst/>
              <a:ahLst/>
              <a:cxnLst/>
              <a:rect l="l" t="t" r="r" b="b"/>
              <a:pathLst>
                <a:path h="215264">
                  <a:moveTo>
                    <a:pt x="0" y="0"/>
                  </a:moveTo>
                  <a:lnTo>
                    <a:pt x="0" y="214883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7431785" y="4836414"/>
            <a:ext cx="1324610" cy="152400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sz="1100" spc="-50" dirty="0">
                <a:latin typeface="Arial MT"/>
                <a:cs typeface="Arial MT"/>
              </a:rPr>
              <a:t>R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8051292" y="4988305"/>
            <a:ext cx="90170" cy="301625"/>
            <a:chOff x="8051292" y="4988305"/>
            <a:chExt cx="90170" cy="301625"/>
          </a:xfrm>
        </p:grpSpPr>
        <p:sp>
          <p:nvSpPr>
            <p:cNvPr id="63" name="object 63"/>
            <p:cNvSpPr/>
            <p:nvPr/>
          </p:nvSpPr>
          <p:spPr>
            <a:xfrm>
              <a:off x="8051292" y="5190743"/>
              <a:ext cx="90170" cy="99060"/>
            </a:xfrm>
            <a:custGeom>
              <a:avLst/>
              <a:gdLst/>
              <a:ahLst/>
              <a:cxnLst/>
              <a:rect l="l" t="t" r="r" b="b"/>
              <a:pathLst>
                <a:path w="90170" h="99060">
                  <a:moveTo>
                    <a:pt x="45592" y="0"/>
                  </a:moveTo>
                  <a:lnTo>
                    <a:pt x="33897" y="543"/>
                  </a:lnTo>
                  <a:lnTo>
                    <a:pt x="22320" y="2158"/>
                  </a:lnTo>
                  <a:lnTo>
                    <a:pt x="10981" y="4822"/>
                  </a:lnTo>
                  <a:lnTo>
                    <a:pt x="0" y="8508"/>
                  </a:lnTo>
                  <a:lnTo>
                    <a:pt x="45592" y="99059"/>
                  </a:lnTo>
                  <a:lnTo>
                    <a:pt x="89915" y="8000"/>
                  </a:lnTo>
                  <a:lnTo>
                    <a:pt x="79240" y="4500"/>
                  </a:lnTo>
                  <a:lnTo>
                    <a:pt x="68230" y="2000"/>
                  </a:lnTo>
                  <a:lnTo>
                    <a:pt x="56983" y="500"/>
                  </a:lnTo>
                  <a:lnTo>
                    <a:pt x="455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8100822" y="5001005"/>
              <a:ext cx="0" cy="207645"/>
            </a:xfrm>
            <a:custGeom>
              <a:avLst/>
              <a:gdLst/>
              <a:ahLst/>
              <a:cxnLst/>
              <a:rect l="l" t="t" r="r" b="b"/>
              <a:pathLst>
                <a:path h="207645">
                  <a:moveTo>
                    <a:pt x="0" y="0"/>
                  </a:moveTo>
                  <a:lnTo>
                    <a:pt x="0" y="207264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7431785" y="5305805"/>
            <a:ext cx="1324610" cy="330835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514984" marR="339725" indent="-165735">
              <a:lnSpc>
                <a:spcPts val="1150"/>
              </a:lnSpc>
              <a:spcBef>
                <a:spcPts val="300"/>
              </a:spcBef>
            </a:pPr>
            <a:r>
              <a:rPr sz="1100" spc="-10" dirty="0">
                <a:latin typeface="Arial MT"/>
                <a:cs typeface="Arial MT"/>
              </a:rPr>
              <a:t>Normalize result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8051292" y="5636005"/>
            <a:ext cx="90170" cy="300355"/>
            <a:chOff x="8051292" y="5636005"/>
            <a:chExt cx="90170" cy="300355"/>
          </a:xfrm>
        </p:grpSpPr>
        <p:sp>
          <p:nvSpPr>
            <p:cNvPr id="67" name="object 67"/>
            <p:cNvSpPr/>
            <p:nvPr/>
          </p:nvSpPr>
          <p:spPr>
            <a:xfrm>
              <a:off x="8051292" y="5836919"/>
              <a:ext cx="90170" cy="99060"/>
            </a:xfrm>
            <a:custGeom>
              <a:avLst/>
              <a:gdLst/>
              <a:ahLst/>
              <a:cxnLst/>
              <a:rect l="l" t="t" r="r" b="b"/>
              <a:pathLst>
                <a:path w="90170" h="99060">
                  <a:moveTo>
                    <a:pt x="45592" y="0"/>
                  </a:moveTo>
                  <a:lnTo>
                    <a:pt x="33897" y="542"/>
                  </a:lnTo>
                  <a:lnTo>
                    <a:pt x="22320" y="2157"/>
                  </a:lnTo>
                  <a:lnTo>
                    <a:pt x="10981" y="4827"/>
                  </a:lnTo>
                  <a:lnTo>
                    <a:pt x="0" y="8534"/>
                  </a:lnTo>
                  <a:lnTo>
                    <a:pt x="45592" y="99059"/>
                  </a:lnTo>
                  <a:lnTo>
                    <a:pt x="89915" y="8000"/>
                  </a:lnTo>
                  <a:lnTo>
                    <a:pt x="79240" y="4521"/>
                  </a:lnTo>
                  <a:lnTo>
                    <a:pt x="68230" y="2019"/>
                  </a:lnTo>
                  <a:lnTo>
                    <a:pt x="56983" y="507"/>
                  </a:lnTo>
                  <a:lnTo>
                    <a:pt x="455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8100822" y="5648705"/>
              <a:ext cx="0" cy="207645"/>
            </a:xfrm>
            <a:custGeom>
              <a:avLst/>
              <a:gdLst/>
              <a:ahLst/>
              <a:cxnLst/>
              <a:rect l="l" t="t" r="r" b="b"/>
              <a:pathLst>
                <a:path h="207645">
                  <a:moveTo>
                    <a:pt x="0" y="0"/>
                  </a:moveTo>
                  <a:lnTo>
                    <a:pt x="0" y="207264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7431785" y="5951982"/>
            <a:ext cx="1324610" cy="152400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875" algn="ctr">
              <a:lnSpc>
                <a:spcPts val="1200"/>
              </a:lnSpc>
            </a:pPr>
            <a:r>
              <a:rPr sz="1100" spc="-50" dirty="0">
                <a:latin typeface="Arial MT"/>
                <a:cs typeface="Arial MT"/>
              </a:rPr>
              <a:t>R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8051292" y="6105397"/>
            <a:ext cx="90170" cy="307975"/>
            <a:chOff x="8051292" y="6105397"/>
            <a:chExt cx="90170" cy="307975"/>
          </a:xfrm>
        </p:grpSpPr>
        <p:sp>
          <p:nvSpPr>
            <p:cNvPr id="71" name="object 71"/>
            <p:cNvSpPr/>
            <p:nvPr/>
          </p:nvSpPr>
          <p:spPr>
            <a:xfrm>
              <a:off x="8051292" y="6315455"/>
              <a:ext cx="90170" cy="97790"/>
            </a:xfrm>
            <a:custGeom>
              <a:avLst/>
              <a:gdLst/>
              <a:ahLst/>
              <a:cxnLst/>
              <a:rect l="l" t="t" r="r" b="b"/>
              <a:pathLst>
                <a:path w="90170" h="97789">
                  <a:moveTo>
                    <a:pt x="45592" y="0"/>
                  </a:moveTo>
                  <a:lnTo>
                    <a:pt x="33897" y="533"/>
                  </a:lnTo>
                  <a:lnTo>
                    <a:pt x="22320" y="2122"/>
                  </a:lnTo>
                  <a:lnTo>
                    <a:pt x="10981" y="4752"/>
                  </a:lnTo>
                  <a:lnTo>
                    <a:pt x="0" y="8407"/>
                  </a:lnTo>
                  <a:lnTo>
                    <a:pt x="45592" y="97536"/>
                  </a:lnTo>
                  <a:lnTo>
                    <a:pt x="89915" y="7886"/>
                  </a:lnTo>
                  <a:lnTo>
                    <a:pt x="79240" y="4457"/>
                  </a:lnTo>
                  <a:lnTo>
                    <a:pt x="68230" y="1990"/>
                  </a:lnTo>
                  <a:lnTo>
                    <a:pt x="56983" y="500"/>
                  </a:lnTo>
                  <a:lnTo>
                    <a:pt x="455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8100822" y="6118097"/>
              <a:ext cx="0" cy="216535"/>
            </a:xfrm>
            <a:custGeom>
              <a:avLst/>
              <a:gdLst/>
              <a:ahLst/>
              <a:cxnLst/>
              <a:rect l="l" t="t" r="r" b="b"/>
              <a:pathLst>
                <a:path h="216535">
                  <a:moveTo>
                    <a:pt x="0" y="0"/>
                  </a:moveTo>
                  <a:lnTo>
                    <a:pt x="0" y="216407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4883658" y="5305805"/>
            <a:ext cx="1320165" cy="356870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48895" rIns="0" bIns="0" rtlCol="0">
            <a:spAutoFit/>
          </a:bodyPr>
          <a:lstStyle/>
          <a:p>
            <a:pPr marL="303530" marR="433705" indent="106045">
              <a:lnSpc>
                <a:spcPts val="1150"/>
              </a:lnSpc>
              <a:spcBef>
                <a:spcPts val="385"/>
              </a:spcBef>
            </a:pPr>
            <a:r>
              <a:rPr sz="1100" spc="-10" dirty="0">
                <a:latin typeface="Arial MT"/>
                <a:cs typeface="Arial MT"/>
              </a:rPr>
              <a:t>Adjust exponent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5509259" y="5643626"/>
            <a:ext cx="88900" cy="295910"/>
            <a:chOff x="5509259" y="5643626"/>
            <a:chExt cx="88900" cy="295910"/>
          </a:xfrm>
        </p:grpSpPr>
        <p:sp>
          <p:nvSpPr>
            <p:cNvPr id="75" name="object 75"/>
            <p:cNvSpPr/>
            <p:nvPr/>
          </p:nvSpPr>
          <p:spPr>
            <a:xfrm>
              <a:off x="5509259" y="5839968"/>
              <a:ext cx="88900" cy="99060"/>
            </a:xfrm>
            <a:custGeom>
              <a:avLst/>
              <a:gdLst/>
              <a:ahLst/>
              <a:cxnLst/>
              <a:rect l="l" t="t" r="r" b="b"/>
              <a:pathLst>
                <a:path w="88900" h="99060">
                  <a:moveTo>
                    <a:pt x="44830" y="0"/>
                  </a:moveTo>
                  <a:lnTo>
                    <a:pt x="33325" y="542"/>
                  </a:lnTo>
                  <a:lnTo>
                    <a:pt x="21939" y="2157"/>
                  </a:lnTo>
                  <a:lnTo>
                    <a:pt x="10791" y="4827"/>
                  </a:lnTo>
                  <a:lnTo>
                    <a:pt x="0" y="8534"/>
                  </a:lnTo>
                  <a:lnTo>
                    <a:pt x="44830" y="99059"/>
                  </a:lnTo>
                  <a:lnTo>
                    <a:pt x="88391" y="8000"/>
                  </a:lnTo>
                  <a:lnTo>
                    <a:pt x="77906" y="4521"/>
                  </a:lnTo>
                  <a:lnTo>
                    <a:pt x="67087" y="2019"/>
                  </a:lnTo>
                  <a:lnTo>
                    <a:pt x="56030" y="507"/>
                  </a:lnTo>
                  <a:lnTo>
                    <a:pt x="448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552693" y="5656326"/>
              <a:ext cx="0" cy="208915"/>
            </a:xfrm>
            <a:custGeom>
              <a:avLst/>
              <a:gdLst/>
              <a:ahLst/>
              <a:cxnLst/>
              <a:rect l="l" t="t" r="r" b="b"/>
              <a:pathLst>
                <a:path h="208914">
                  <a:moveTo>
                    <a:pt x="0" y="0"/>
                  </a:moveTo>
                  <a:lnTo>
                    <a:pt x="0" y="208787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4883658" y="5951982"/>
            <a:ext cx="1310640" cy="152400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795" algn="ctr">
              <a:lnSpc>
                <a:spcPts val="1200"/>
              </a:lnSpc>
            </a:pPr>
            <a:r>
              <a:rPr sz="1100" spc="-50" dirty="0">
                <a:latin typeface="Arial MT"/>
                <a:cs typeface="Arial MT"/>
              </a:rPr>
              <a:t>R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4870958" y="3220466"/>
            <a:ext cx="2553970" cy="3192780"/>
            <a:chOff x="4870958" y="3220466"/>
            <a:chExt cx="2553970" cy="3192780"/>
          </a:xfrm>
        </p:grpSpPr>
        <p:sp>
          <p:nvSpPr>
            <p:cNvPr id="79" name="object 79"/>
            <p:cNvSpPr/>
            <p:nvPr/>
          </p:nvSpPr>
          <p:spPr>
            <a:xfrm>
              <a:off x="5503163" y="6315455"/>
              <a:ext cx="90170" cy="97790"/>
            </a:xfrm>
            <a:custGeom>
              <a:avLst/>
              <a:gdLst/>
              <a:ahLst/>
              <a:cxnLst/>
              <a:rect l="l" t="t" r="r" b="b"/>
              <a:pathLst>
                <a:path w="90170" h="97789">
                  <a:moveTo>
                    <a:pt x="45593" y="0"/>
                  </a:moveTo>
                  <a:lnTo>
                    <a:pt x="33897" y="533"/>
                  </a:lnTo>
                  <a:lnTo>
                    <a:pt x="22320" y="2122"/>
                  </a:lnTo>
                  <a:lnTo>
                    <a:pt x="10981" y="4752"/>
                  </a:lnTo>
                  <a:lnTo>
                    <a:pt x="0" y="8407"/>
                  </a:lnTo>
                  <a:lnTo>
                    <a:pt x="45593" y="97536"/>
                  </a:lnTo>
                  <a:lnTo>
                    <a:pt x="89915" y="7886"/>
                  </a:lnTo>
                  <a:lnTo>
                    <a:pt x="79240" y="4457"/>
                  </a:lnTo>
                  <a:lnTo>
                    <a:pt x="68230" y="1990"/>
                  </a:lnTo>
                  <a:lnTo>
                    <a:pt x="56983" y="500"/>
                  </a:lnTo>
                  <a:lnTo>
                    <a:pt x="455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5552693" y="6118097"/>
              <a:ext cx="0" cy="216535"/>
            </a:xfrm>
            <a:custGeom>
              <a:avLst/>
              <a:gdLst/>
              <a:ahLst/>
              <a:cxnLst/>
              <a:rect l="l" t="t" r="r" b="b"/>
              <a:pathLst>
                <a:path h="216535">
                  <a:moveTo>
                    <a:pt x="0" y="0"/>
                  </a:moveTo>
                  <a:lnTo>
                    <a:pt x="0" y="216407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13347" y="5437632"/>
              <a:ext cx="112775" cy="82296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6299453" y="5476494"/>
              <a:ext cx="1114425" cy="0"/>
            </a:xfrm>
            <a:custGeom>
              <a:avLst/>
              <a:gdLst/>
              <a:ahLst/>
              <a:cxnLst/>
              <a:rect l="l" t="t" r="r" b="b"/>
              <a:pathLst>
                <a:path w="1114425">
                  <a:moveTo>
                    <a:pt x="1114044" y="0"/>
                  </a:moveTo>
                  <a:lnTo>
                    <a:pt x="0" y="0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4883657" y="3233165"/>
              <a:ext cx="1315720" cy="181610"/>
            </a:xfrm>
            <a:custGeom>
              <a:avLst/>
              <a:gdLst/>
              <a:ahLst/>
              <a:cxnLst/>
              <a:rect l="l" t="t" r="r" b="b"/>
              <a:pathLst>
                <a:path w="1315720" h="181610">
                  <a:moveTo>
                    <a:pt x="0" y="181355"/>
                  </a:moveTo>
                  <a:lnTo>
                    <a:pt x="1315212" y="181355"/>
                  </a:lnTo>
                  <a:lnTo>
                    <a:pt x="1315212" y="0"/>
                  </a:lnTo>
                  <a:lnTo>
                    <a:pt x="0" y="0"/>
                  </a:lnTo>
                  <a:lnTo>
                    <a:pt x="0" y="181355"/>
                  </a:lnTo>
                  <a:close/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6194297" y="3359657"/>
              <a:ext cx="848994" cy="1030605"/>
            </a:xfrm>
            <a:custGeom>
              <a:avLst/>
              <a:gdLst/>
              <a:ahLst/>
              <a:cxnLst/>
              <a:rect l="l" t="t" r="r" b="b"/>
              <a:pathLst>
                <a:path w="848995" h="1030604">
                  <a:moveTo>
                    <a:pt x="0" y="0"/>
                  </a:moveTo>
                  <a:lnTo>
                    <a:pt x="848741" y="0"/>
                  </a:lnTo>
                  <a:lnTo>
                    <a:pt x="848741" y="1030477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5" name="object 8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313675" y="4355591"/>
              <a:ext cx="111251" cy="76200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7043165" y="4383786"/>
              <a:ext cx="271780" cy="7620"/>
            </a:xfrm>
            <a:custGeom>
              <a:avLst/>
              <a:gdLst/>
              <a:ahLst/>
              <a:cxnLst/>
              <a:rect l="l" t="t" r="r" b="b"/>
              <a:pathLst>
                <a:path w="271779" h="7620">
                  <a:moveTo>
                    <a:pt x="0" y="0"/>
                  </a:moveTo>
                  <a:lnTo>
                    <a:pt x="271272" y="7619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87"/>
          <p:cNvSpPr txBox="1"/>
          <p:nvPr/>
        </p:nvSpPr>
        <p:spPr>
          <a:xfrm>
            <a:off x="3929888" y="2119122"/>
            <a:ext cx="73977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Arial MT"/>
                <a:cs typeface="Arial MT"/>
              </a:rPr>
              <a:t>Segment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1: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3929888" y="3244976"/>
            <a:ext cx="73977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Arial MT"/>
                <a:cs typeface="Arial MT"/>
              </a:rPr>
              <a:t>Segment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2: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3929888" y="4254753"/>
            <a:ext cx="73977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Arial MT"/>
                <a:cs typeface="Arial MT"/>
              </a:rPr>
              <a:t>Segment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3: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3929888" y="5371338"/>
            <a:ext cx="73977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Arial MT"/>
                <a:cs typeface="Arial MT"/>
              </a:rPr>
              <a:t>Segment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4: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object 9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225425"/>
            <a:ext cx="7543800" cy="5667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1945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FLOATING-</a:t>
            </a:r>
            <a:r>
              <a:rPr sz="3600" dirty="0"/>
              <a:t>POINT</a:t>
            </a:r>
            <a:r>
              <a:rPr sz="3600" spc="-40" dirty="0"/>
              <a:t> </a:t>
            </a:r>
            <a:r>
              <a:rPr sz="3600" dirty="0"/>
              <a:t>ARITHMETIC</a:t>
            </a:r>
            <a:r>
              <a:rPr sz="3600" spc="15" dirty="0"/>
              <a:t> </a:t>
            </a:r>
            <a:r>
              <a:rPr sz="3600" spc="-10" dirty="0"/>
              <a:t>PIPELINE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6062" y="2461005"/>
            <a:ext cx="3308985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640715" marR="5080" indent="-628650">
              <a:lnSpc>
                <a:spcPts val="1730"/>
              </a:lnSpc>
              <a:spcBef>
                <a:spcPts val="310"/>
              </a:spcBef>
            </a:pPr>
            <a:r>
              <a:rPr sz="1600" dirty="0">
                <a:latin typeface="Arial MT"/>
                <a:cs typeface="Arial MT"/>
              </a:rPr>
              <a:t>Seg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1: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two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exponents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are </a:t>
            </a:r>
            <a:r>
              <a:rPr sz="1600" dirty="0">
                <a:latin typeface="Arial MT"/>
                <a:cs typeface="Arial MT"/>
              </a:rPr>
              <a:t>subtracted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obtain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3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- 2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=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1.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6062" y="3119373"/>
            <a:ext cx="3030220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640715" marR="5080" indent="-628650">
              <a:lnSpc>
                <a:spcPts val="1730"/>
              </a:lnSpc>
              <a:spcBef>
                <a:spcPts val="310"/>
              </a:spcBef>
            </a:pPr>
            <a:r>
              <a:rPr sz="1600" dirty="0">
                <a:latin typeface="Arial MT"/>
                <a:cs typeface="Arial MT"/>
              </a:rPr>
              <a:t>Seg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2: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Shifts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mantissa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i="1" dirty="0">
                <a:latin typeface="Arial"/>
                <a:cs typeface="Arial"/>
              </a:rPr>
              <a:t>Y</a:t>
            </a:r>
            <a:r>
              <a:rPr sz="1600" i="1" spc="-45" dirty="0">
                <a:latin typeface="Arial"/>
                <a:cs typeface="Arial"/>
              </a:rPr>
              <a:t> </a:t>
            </a:r>
            <a:r>
              <a:rPr sz="1600" spc="-25" dirty="0">
                <a:latin typeface="Arial MT"/>
                <a:cs typeface="Arial MT"/>
              </a:rPr>
              <a:t>to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right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obtain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5807" y="3778122"/>
            <a:ext cx="17252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i="1" dirty="0">
                <a:latin typeface="Arial"/>
                <a:cs typeface="Arial"/>
              </a:rPr>
              <a:t>Y</a:t>
            </a:r>
            <a:r>
              <a:rPr sz="1600" i="1" spc="-45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=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0.08200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X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10</a:t>
            </a:r>
            <a:r>
              <a:rPr sz="1575" spc="-37" baseline="26455" dirty="0">
                <a:latin typeface="Arial MT"/>
                <a:cs typeface="Arial MT"/>
              </a:rPr>
              <a:t>3</a:t>
            </a:r>
            <a:endParaRPr sz="1575" baseline="26455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6062" y="4436490"/>
            <a:ext cx="28054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 MT"/>
                <a:cs typeface="Arial MT"/>
              </a:rPr>
              <a:t>Seg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3:</a:t>
            </a:r>
            <a:r>
              <a:rPr sz="1600" spc="-9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Adds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two </a:t>
            </a:r>
            <a:r>
              <a:rPr sz="1600" spc="-10" dirty="0">
                <a:latin typeface="Arial MT"/>
                <a:cs typeface="Arial MT"/>
              </a:rPr>
              <a:t>mantissas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8855" y="4875098"/>
            <a:ext cx="16065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 MT"/>
                <a:cs typeface="Arial MT"/>
              </a:rPr>
              <a:t>Z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=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1.0324 X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10</a:t>
            </a:r>
            <a:r>
              <a:rPr sz="1575" spc="-37" baseline="26455" dirty="0">
                <a:latin typeface="Arial MT"/>
                <a:cs typeface="Arial MT"/>
              </a:rPr>
              <a:t>3</a:t>
            </a:r>
            <a:endParaRPr sz="1575" baseline="26455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6062" y="5314569"/>
            <a:ext cx="2754630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640715" marR="5080" indent="-628650">
              <a:lnSpc>
                <a:spcPts val="1730"/>
              </a:lnSpc>
              <a:spcBef>
                <a:spcPts val="310"/>
              </a:spcBef>
            </a:pPr>
            <a:r>
              <a:rPr sz="1600" dirty="0">
                <a:latin typeface="Arial MT"/>
                <a:cs typeface="Arial MT"/>
              </a:rPr>
              <a:t>Seg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4: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sum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adjusted</a:t>
            </a:r>
            <a:r>
              <a:rPr sz="1600" spc="-25" dirty="0">
                <a:latin typeface="Arial MT"/>
                <a:cs typeface="Arial MT"/>
              </a:rPr>
              <a:t> by </a:t>
            </a:r>
            <a:r>
              <a:rPr sz="1600" dirty="0">
                <a:latin typeface="Arial MT"/>
                <a:cs typeface="Arial MT"/>
              </a:rPr>
              <a:t>normalizing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result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8855" y="5972657"/>
            <a:ext cx="17189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 MT"/>
                <a:cs typeface="Arial MT"/>
              </a:rPr>
              <a:t>Z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= 0.10324 X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10</a:t>
            </a:r>
            <a:r>
              <a:rPr sz="1575" spc="-37" baseline="26455" dirty="0">
                <a:latin typeface="Arial MT"/>
                <a:cs typeface="Arial MT"/>
              </a:rPr>
              <a:t>4</a:t>
            </a:r>
            <a:endParaRPr sz="1575" baseline="26455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8399" y="705893"/>
            <a:ext cx="3552190" cy="1080770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0"/>
              </a:spcBef>
            </a:pPr>
            <a:r>
              <a:rPr sz="2000" spc="-10" dirty="0">
                <a:latin typeface="Arial MT"/>
                <a:cs typeface="Arial MT"/>
              </a:rPr>
              <a:t>Floating-</a:t>
            </a:r>
            <a:r>
              <a:rPr sz="2000" dirty="0">
                <a:latin typeface="Arial MT"/>
                <a:cs typeface="Arial MT"/>
              </a:rPr>
              <a:t>point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adder-</a:t>
            </a:r>
            <a:r>
              <a:rPr sz="2000" spc="-10" dirty="0">
                <a:latin typeface="Arial MT"/>
                <a:cs typeface="Arial MT"/>
              </a:rPr>
              <a:t>subtractor</a:t>
            </a:r>
            <a:endParaRPr sz="2000">
              <a:latin typeface="Arial MT"/>
              <a:cs typeface="Arial MT"/>
            </a:endParaRPr>
          </a:p>
          <a:p>
            <a:pPr marL="606425">
              <a:lnSpc>
                <a:spcPts val="2050"/>
              </a:lnSpc>
              <a:spcBef>
                <a:spcPts val="855"/>
              </a:spcBef>
            </a:pPr>
            <a:r>
              <a:rPr sz="1800" dirty="0">
                <a:latin typeface="Arial MT"/>
                <a:cs typeface="Arial MT"/>
              </a:rPr>
              <a:t>X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0.9504 X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10</a:t>
            </a:r>
            <a:r>
              <a:rPr sz="1800" spc="-37" baseline="25462" dirty="0">
                <a:latin typeface="Arial MT"/>
                <a:cs typeface="Arial MT"/>
              </a:rPr>
              <a:t>3</a:t>
            </a:r>
            <a:endParaRPr sz="1800" baseline="25462">
              <a:latin typeface="Arial MT"/>
              <a:cs typeface="Arial MT"/>
            </a:endParaRPr>
          </a:p>
          <a:p>
            <a:pPr marL="606425">
              <a:lnSpc>
                <a:spcPts val="2050"/>
              </a:lnSpc>
            </a:pPr>
            <a:r>
              <a:rPr sz="1800" i="1" dirty="0">
                <a:latin typeface="Arial"/>
                <a:cs typeface="Arial"/>
              </a:rPr>
              <a:t>Y</a:t>
            </a:r>
            <a:r>
              <a:rPr sz="1800" i="1" spc="-4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0.8200 X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10</a:t>
            </a:r>
            <a:r>
              <a:rPr sz="1800" spc="-37" baseline="25462" dirty="0">
                <a:latin typeface="Arial MT"/>
                <a:cs typeface="Arial MT"/>
              </a:rPr>
              <a:t>2</a:t>
            </a:r>
            <a:endParaRPr sz="1800" baseline="25462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883658" y="1523238"/>
            <a:ext cx="3872865" cy="4581525"/>
            <a:chOff x="4883658" y="1523238"/>
            <a:chExt cx="3872865" cy="458152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83658" y="5951982"/>
              <a:ext cx="1310639" cy="1524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31786" y="5951982"/>
              <a:ext cx="1324355" cy="1524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31786" y="4836414"/>
              <a:ext cx="1324355" cy="1524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31786" y="3711702"/>
              <a:ext cx="1324355" cy="1524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31786" y="1523238"/>
              <a:ext cx="1324355" cy="1524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83658" y="2763774"/>
              <a:ext cx="1310639" cy="15392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83658" y="1523238"/>
              <a:ext cx="1310639" cy="15240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4883658" y="1523238"/>
            <a:ext cx="1310640" cy="152400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sz="1100" spc="-50" dirty="0">
                <a:latin typeface="Arial MT"/>
                <a:cs typeface="Arial MT"/>
              </a:rPr>
              <a:t>R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83658" y="1991105"/>
            <a:ext cx="1317625" cy="492759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 marL="290830" marR="375285" indent="22860" algn="ctr">
              <a:lnSpc>
                <a:spcPts val="1150"/>
              </a:lnSpc>
              <a:spcBef>
                <a:spcPts val="380"/>
              </a:spcBef>
            </a:pPr>
            <a:r>
              <a:rPr sz="1100" spc="-10" dirty="0">
                <a:latin typeface="Arial MT"/>
                <a:cs typeface="Arial MT"/>
              </a:rPr>
              <a:t>Compare exponents</a:t>
            </a:r>
            <a:endParaRPr sz="1100">
              <a:latin typeface="Arial MT"/>
              <a:cs typeface="Arial MT"/>
            </a:endParaRPr>
          </a:p>
          <a:p>
            <a:pPr marR="139065" algn="ctr">
              <a:lnSpc>
                <a:spcPts val="1155"/>
              </a:lnSpc>
            </a:pPr>
            <a:r>
              <a:rPr sz="1100" dirty="0">
                <a:latin typeface="Arial MT"/>
                <a:cs typeface="Arial MT"/>
              </a:rPr>
              <a:t>by</a:t>
            </a:r>
            <a:r>
              <a:rPr sz="1100" spc="-10" dirty="0">
                <a:latin typeface="Arial MT"/>
                <a:cs typeface="Arial MT"/>
              </a:rPr>
              <a:t> subtraction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230367" y="1207261"/>
            <a:ext cx="623570" cy="769620"/>
            <a:chOff x="5230367" y="1207261"/>
            <a:chExt cx="623570" cy="769620"/>
          </a:xfrm>
        </p:grpSpPr>
        <p:sp>
          <p:nvSpPr>
            <p:cNvPr id="22" name="object 22"/>
            <p:cNvSpPr/>
            <p:nvPr/>
          </p:nvSpPr>
          <p:spPr>
            <a:xfrm>
              <a:off x="5503163" y="1877567"/>
              <a:ext cx="90170" cy="99060"/>
            </a:xfrm>
            <a:custGeom>
              <a:avLst/>
              <a:gdLst/>
              <a:ahLst/>
              <a:cxnLst/>
              <a:rect l="l" t="t" r="r" b="b"/>
              <a:pathLst>
                <a:path w="90170" h="99060">
                  <a:moveTo>
                    <a:pt x="45593" y="0"/>
                  </a:moveTo>
                  <a:lnTo>
                    <a:pt x="33897" y="543"/>
                  </a:lnTo>
                  <a:lnTo>
                    <a:pt x="22320" y="2158"/>
                  </a:lnTo>
                  <a:lnTo>
                    <a:pt x="10981" y="4822"/>
                  </a:lnTo>
                  <a:lnTo>
                    <a:pt x="0" y="8509"/>
                  </a:lnTo>
                  <a:lnTo>
                    <a:pt x="45593" y="99060"/>
                  </a:lnTo>
                  <a:lnTo>
                    <a:pt x="89915" y="8001"/>
                  </a:lnTo>
                  <a:lnTo>
                    <a:pt x="79240" y="4500"/>
                  </a:lnTo>
                  <a:lnTo>
                    <a:pt x="68230" y="2000"/>
                  </a:lnTo>
                  <a:lnTo>
                    <a:pt x="56983" y="500"/>
                  </a:lnTo>
                  <a:lnTo>
                    <a:pt x="455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552693" y="1690877"/>
              <a:ext cx="0" cy="207645"/>
            </a:xfrm>
            <a:custGeom>
              <a:avLst/>
              <a:gdLst/>
              <a:ahLst/>
              <a:cxnLst/>
              <a:rect l="l" t="t" r="r" b="b"/>
              <a:pathLst>
                <a:path h="207644">
                  <a:moveTo>
                    <a:pt x="0" y="0"/>
                  </a:moveTo>
                  <a:lnTo>
                    <a:pt x="0" y="207263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230367" y="1408175"/>
              <a:ext cx="90170" cy="99060"/>
            </a:xfrm>
            <a:custGeom>
              <a:avLst/>
              <a:gdLst/>
              <a:ahLst/>
              <a:cxnLst/>
              <a:rect l="l" t="t" r="r" b="b"/>
              <a:pathLst>
                <a:path w="90170" h="99059">
                  <a:moveTo>
                    <a:pt x="45593" y="0"/>
                  </a:moveTo>
                  <a:lnTo>
                    <a:pt x="33897" y="543"/>
                  </a:lnTo>
                  <a:lnTo>
                    <a:pt x="22320" y="2158"/>
                  </a:lnTo>
                  <a:lnTo>
                    <a:pt x="10981" y="4822"/>
                  </a:lnTo>
                  <a:lnTo>
                    <a:pt x="0" y="8509"/>
                  </a:lnTo>
                  <a:lnTo>
                    <a:pt x="45593" y="99060"/>
                  </a:lnTo>
                  <a:lnTo>
                    <a:pt x="89916" y="8000"/>
                  </a:lnTo>
                  <a:lnTo>
                    <a:pt x="79240" y="4500"/>
                  </a:lnTo>
                  <a:lnTo>
                    <a:pt x="68230" y="2000"/>
                  </a:lnTo>
                  <a:lnTo>
                    <a:pt x="56983" y="500"/>
                  </a:lnTo>
                  <a:lnTo>
                    <a:pt x="455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279897" y="1219961"/>
              <a:ext cx="0" cy="207645"/>
            </a:xfrm>
            <a:custGeom>
              <a:avLst/>
              <a:gdLst/>
              <a:ahLst/>
              <a:cxnLst/>
              <a:rect l="l" t="t" r="r" b="b"/>
              <a:pathLst>
                <a:path h="207644">
                  <a:moveTo>
                    <a:pt x="0" y="0"/>
                  </a:moveTo>
                  <a:lnTo>
                    <a:pt x="0" y="207263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763767" y="1408175"/>
              <a:ext cx="90170" cy="99060"/>
            </a:xfrm>
            <a:custGeom>
              <a:avLst/>
              <a:gdLst/>
              <a:ahLst/>
              <a:cxnLst/>
              <a:rect l="l" t="t" r="r" b="b"/>
              <a:pathLst>
                <a:path w="90170" h="99059">
                  <a:moveTo>
                    <a:pt x="45593" y="0"/>
                  </a:moveTo>
                  <a:lnTo>
                    <a:pt x="33897" y="543"/>
                  </a:lnTo>
                  <a:lnTo>
                    <a:pt x="22320" y="2158"/>
                  </a:lnTo>
                  <a:lnTo>
                    <a:pt x="10981" y="4822"/>
                  </a:lnTo>
                  <a:lnTo>
                    <a:pt x="0" y="8509"/>
                  </a:lnTo>
                  <a:lnTo>
                    <a:pt x="45593" y="99060"/>
                  </a:lnTo>
                  <a:lnTo>
                    <a:pt x="89916" y="8000"/>
                  </a:lnTo>
                  <a:lnTo>
                    <a:pt x="79240" y="4500"/>
                  </a:lnTo>
                  <a:lnTo>
                    <a:pt x="68230" y="2000"/>
                  </a:lnTo>
                  <a:lnTo>
                    <a:pt x="56983" y="500"/>
                  </a:lnTo>
                  <a:lnTo>
                    <a:pt x="455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813297" y="1219961"/>
              <a:ext cx="0" cy="207645"/>
            </a:xfrm>
            <a:custGeom>
              <a:avLst/>
              <a:gdLst/>
              <a:ahLst/>
              <a:cxnLst/>
              <a:rect l="l" t="t" r="r" b="b"/>
              <a:pathLst>
                <a:path h="207644">
                  <a:moveTo>
                    <a:pt x="0" y="0"/>
                  </a:moveTo>
                  <a:lnTo>
                    <a:pt x="0" y="207263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801614" y="1056894"/>
            <a:ext cx="10350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0" dirty="0">
                <a:latin typeface="Arial MT"/>
                <a:cs typeface="Arial MT"/>
              </a:rPr>
              <a:t>b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509259" y="2464561"/>
            <a:ext cx="88900" cy="300355"/>
            <a:chOff x="5509259" y="2464561"/>
            <a:chExt cx="88900" cy="300355"/>
          </a:xfrm>
        </p:grpSpPr>
        <p:sp>
          <p:nvSpPr>
            <p:cNvPr id="30" name="object 30"/>
            <p:cNvSpPr/>
            <p:nvPr/>
          </p:nvSpPr>
          <p:spPr>
            <a:xfrm>
              <a:off x="5509259" y="2666999"/>
              <a:ext cx="88900" cy="97790"/>
            </a:xfrm>
            <a:custGeom>
              <a:avLst/>
              <a:gdLst/>
              <a:ahLst/>
              <a:cxnLst/>
              <a:rect l="l" t="t" r="r" b="b"/>
              <a:pathLst>
                <a:path w="88900" h="97789">
                  <a:moveTo>
                    <a:pt x="44830" y="0"/>
                  </a:moveTo>
                  <a:lnTo>
                    <a:pt x="33325" y="541"/>
                  </a:lnTo>
                  <a:lnTo>
                    <a:pt x="21939" y="2143"/>
                  </a:lnTo>
                  <a:lnTo>
                    <a:pt x="10791" y="4768"/>
                  </a:lnTo>
                  <a:lnTo>
                    <a:pt x="0" y="8382"/>
                  </a:lnTo>
                  <a:lnTo>
                    <a:pt x="44830" y="97536"/>
                  </a:lnTo>
                  <a:lnTo>
                    <a:pt x="88391" y="7874"/>
                  </a:lnTo>
                  <a:lnTo>
                    <a:pt x="77906" y="4446"/>
                  </a:lnTo>
                  <a:lnTo>
                    <a:pt x="67087" y="1984"/>
                  </a:lnTo>
                  <a:lnTo>
                    <a:pt x="56030" y="498"/>
                  </a:lnTo>
                  <a:lnTo>
                    <a:pt x="448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548121" y="2477261"/>
              <a:ext cx="0" cy="205740"/>
            </a:xfrm>
            <a:custGeom>
              <a:avLst/>
              <a:gdLst/>
              <a:ahLst/>
              <a:cxnLst/>
              <a:rect l="l" t="t" r="r" b="b"/>
              <a:pathLst>
                <a:path h="205739">
                  <a:moveTo>
                    <a:pt x="0" y="0"/>
                  </a:moveTo>
                  <a:lnTo>
                    <a:pt x="0" y="205739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883658" y="2763773"/>
            <a:ext cx="1310640" cy="154305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3495" algn="ctr">
              <a:lnSpc>
                <a:spcPts val="1210"/>
              </a:lnSpc>
            </a:pPr>
            <a:r>
              <a:rPr sz="1100" spc="-50" dirty="0">
                <a:latin typeface="Arial MT"/>
                <a:cs typeface="Arial MT"/>
              </a:rPr>
              <a:t>R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896357" y="3225495"/>
            <a:ext cx="129349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Arial MT"/>
                <a:cs typeface="Arial MT"/>
              </a:rPr>
              <a:t>Choose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exponent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5509259" y="2915666"/>
            <a:ext cx="88900" cy="313690"/>
            <a:chOff x="5509259" y="2915666"/>
            <a:chExt cx="88900" cy="313690"/>
          </a:xfrm>
        </p:grpSpPr>
        <p:sp>
          <p:nvSpPr>
            <p:cNvPr id="35" name="object 35"/>
            <p:cNvSpPr/>
            <p:nvPr/>
          </p:nvSpPr>
          <p:spPr>
            <a:xfrm>
              <a:off x="5509259" y="3130296"/>
              <a:ext cx="88900" cy="99060"/>
            </a:xfrm>
            <a:custGeom>
              <a:avLst/>
              <a:gdLst/>
              <a:ahLst/>
              <a:cxnLst/>
              <a:rect l="l" t="t" r="r" b="b"/>
              <a:pathLst>
                <a:path w="88900" h="99060">
                  <a:moveTo>
                    <a:pt x="44830" y="0"/>
                  </a:moveTo>
                  <a:lnTo>
                    <a:pt x="33325" y="543"/>
                  </a:lnTo>
                  <a:lnTo>
                    <a:pt x="21939" y="2159"/>
                  </a:lnTo>
                  <a:lnTo>
                    <a:pt x="10791" y="4822"/>
                  </a:lnTo>
                  <a:lnTo>
                    <a:pt x="0" y="8508"/>
                  </a:lnTo>
                  <a:lnTo>
                    <a:pt x="44830" y="99059"/>
                  </a:lnTo>
                  <a:lnTo>
                    <a:pt x="88391" y="8000"/>
                  </a:lnTo>
                  <a:lnTo>
                    <a:pt x="77906" y="4500"/>
                  </a:lnTo>
                  <a:lnTo>
                    <a:pt x="67087" y="2000"/>
                  </a:lnTo>
                  <a:lnTo>
                    <a:pt x="56030" y="500"/>
                  </a:lnTo>
                  <a:lnTo>
                    <a:pt x="448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552693" y="2928366"/>
              <a:ext cx="0" cy="205740"/>
            </a:xfrm>
            <a:custGeom>
              <a:avLst/>
              <a:gdLst/>
              <a:ahLst/>
              <a:cxnLst/>
              <a:rect l="l" t="t" r="r" b="b"/>
              <a:pathLst>
                <a:path h="205739">
                  <a:moveTo>
                    <a:pt x="0" y="0"/>
                  </a:moveTo>
                  <a:lnTo>
                    <a:pt x="0" y="205739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139690" y="869543"/>
            <a:ext cx="685165" cy="381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0645" marR="5080" indent="-68580">
              <a:lnSpc>
                <a:spcPct val="106100"/>
              </a:lnSpc>
              <a:spcBef>
                <a:spcPts val="95"/>
              </a:spcBef>
            </a:pPr>
            <a:r>
              <a:rPr sz="1100" spc="-10" dirty="0">
                <a:latin typeface="Arial MT"/>
                <a:cs typeface="Arial MT"/>
              </a:rPr>
              <a:t>Exponents </a:t>
            </a:r>
            <a:r>
              <a:rPr sz="1100" spc="-50" dirty="0">
                <a:latin typeface="Arial MT"/>
                <a:cs typeface="Arial MT"/>
              </a:rPr>
              <a:t>a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431785" y="1523238"/>
            <a:ext cx="1324610" cy="152400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sz="1100" spc="-50" dirty="0">
                <a:latin typeface="Arial MT"/>
                <a:cs typeface="Arial MT"/>
              </a:rPr>
              <a:t>R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7780019" y="1207261"/>
            <a:ext cx="634365" cy="2022475"/>
            <a:chOff x="7780019" y="1207261"/>
            <a:chExt cx="634365" cy="2022475"/>
          </a:xfrm>
        </p:grpSpPr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55863" y="3130295"/>
              <a:ext cx="89915" cy="99059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8100821" y="1690877"/>
              <a:ext cx="0" cy="1443355"/>
            </a:xfrm>
            <a:custGeom>
              <a:avLst/>
              <a:gdLst/>
              <a:ahLst/>
              <a:cxnLst/>
              <a:rect l="l" t="t" r="r" b="b"/>
              <a:pathLst>
                <a:path h="1443355">
                  <a:moveTo>
                    <a:pt x="0" y="0"/>
                  </a:moveTo>
                  <a:lnTo>
                    <a:pt x="0" y="1443227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780019" y="1408175"/>
              <a:ext cx="90170" cy="99060"/>
            </a:xfrm>
            <a:custGeom>
              <a:avLst/>
              <a:gdLst/>
              <a:ahLst/>
              <a:cxnLst/>
              <a:rect l="l" t="t" r="r" b="b"/>
              <a:pathLst>
                <a:path w="90170" h="99059">
                  <a:moveTo>
                    <a:pt x="45593" y="0"/>
                  </a:moveTo>
                  <a:lnTo>
                    <a:pt x="33897" y="543"/>
                  </a:lnTo>
                  <a:lnTo>
                    <a:pt x="22320" y="2158"/>
                  </a:lnTo>
                  <a:lnTo>
                    <a:pt x="10981" y="4822"/>
                  </a:lnTo>
                  <a:lnTo>
                    <a:pt x="0" y="8509"/>
                  </a:lnTo>
                  <a:lnTo>
                    <a:pt x="45593" y="99060"/>
                  </a:lnTo>
                  <a:lnTo>
                    <a:pt x="89915" y="8000"/>
                  </a:lnTo>
                  <a:lnTo>
                    <a:pt x="79240" y="4500"/>
                  </a:lnTo>
                  <a:lnTo>
                    <a:pt x="68230" y="2000"/>
                  </a:lnTo>
                  <a:lnTo>
                    <a:pt x="56983" y="500"/>
                  </a:lnTo>
                  <a:lnTo>
                    <a:pt x="455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826501" y="1219961"/>
              <a:ext cx="0" cy="207645"/>
            </a:xfrm>
            <a:custGeom>
              <a:avLst/>
              <a:gdLst/>
              <a:ahLst/>
              <a:cxnLst/>
              <a:rect l="l" t="t" r="r" b="b"/>
              <a:pathLst>
                <a:path h="207644">
                  <a:moveTo>
                    <a:pt x="0" y="0"/>
                  </a:moveTo>
                  <a:lnTo>
                    <a:pt x="0" y="207263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325611" y="1408175"/>
              <a:ext cx="88900" cy="99060"/>
            </a:xfrm>
            <a:custGeom>
              <a:avLst/>
              <a:gdLst/>
              <a:ahLst/>
              <a:cxnLst/>
              <a:rect l="l" t="t" r="r" b="b"/>
              <a:pathLst>
                <a:path w="88900" h="99059">
                  <a:moveTo>
                    <a:pt x="44831" y="0"/>
                  </a:moveTo>
                  <a:lnTo>
                    <a:pt x="33325" y="543"/>
                  </a:lnTo>
                  <a:lnTo>
                    <a:pt x="21939" y="2158"/>
                  </a:lnTo>
                  <a:lnTo>
                    <a:pt x="10791" y="4822"/>
                  </a:lnTo>
                  <a:lnTo>
                    <a:pt x="0" y="8509"/>
                  </a:lnTo>
                  <a:lnTo>
                    <a:pt x="44831" y="99060"/>
                  </a:lnTo>
                  <a:lnTo>
                    <a:pt x="88392" y="8000"/>
                  </a:lnTo>
                  <a:lnTo>
                    <a:pt x="77906" y="4500"/>
                  </a:lnTo>
                  <a:lnTo>
                    <a:pt x="67087" y="2000"/>
                  </a:lnTo>
                  <a:lnTo>
                    <a:pt x="56030" y="500"/>
                  </a:lnTo>
                  <a:lnTo>
                    <a:pt x="448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373617" y="1219961"/>
              <a:ext cx="0" cy="207645"/>
            </a:xfrm>
            <a:custGeom>
              <a:avLst/>
              <a:gdLst/>
              <a:ahLst/>
              <a:cxnLst/>
              <a:rect l="l" t="t" r="r" b="b"/>
              <a:pathLst>
                <a:path h="207644">
                  <a:moveTo>
                    <a:pt x="0" y="0"/>
                  </a:moveTo>
                  <a:lnTo>
                    <a:pt x="0" y="207263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8342121" y="1064768"/>
            <a:ext cx="11938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0" dirty="0">
                <a:latin typeface="Arial MT"/>
                <a:cs typeface="Arial MT"/>
              </a:rPr>
              <a:t>B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431785" y="3233166"/>
            <a:ext cx="1329055" cy="181610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8905">
              <a:lnSpc>
                <a:spcPts val="1290"/>
              </a:lnSpc>
            </a:pPr>
            <a:r>
              <a:rPr sz="1100" dirty="0">
                <a:latin typeface="Arial MT"/>
                <a:cs typeface="Arial MT"/>
              </a:rPr>
              <a:t>Align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mantissa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698993" y="869543"/>
            <a:ext cx="653415" cy="381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3025" marR="5080" indent="-60960">
              <a:lnSpc>
                <a:spcPct val="106100"/>
              </a:lnSpc>
              <a:spcBef>
                <a:spcPts val="95"/>
              </a:spcBef>
            </a:pPr>
            <a:r>
              <a:rPr sz="1100" spc="-10" dirty="0">
                <a:latin typeface="Arial MT"/>
                <a:cs typeface="Arial MT"/>
              </a:rPr>
              <a:t>Mantissas </a:t>
            </a:r>
            <a:r>
              <a:rPr sz="1100" spc="-50" dirty="0">
                <a:latin typeface="Arial MT"/>
                <a:cs typeface="Arial MT"/>
              </a:rPr>
              <a:t>A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276594" y="2036140"/>
            <a:ext cx="66738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10" dirty="0">
                <a:latin typeface="Arial MT"/>
                <a:cs typeface="Arial MT"/>
              </a:rPr>
              <a:t>Difference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6196838" y="2208529"/>
            <a:ext cx="1949450" cy="1493520"/>
            <a:chOff x="6196838" y="2208529"/>
            <a:chExt cx="1949450" cy="1493520"/>
          </a:xfrm>
        </p:grpSpPr>
        <p:sp>
          <p:nvSpPr>
            <p:cNvPr id="51" name="object 51"/>
            <p:cNvSpPr/>
            <p:nvPr/>
          </p:nvSpPr>
          <p:spPr>
            <a:xfrm>
              <a:off x="6209538" y="2221229"/>
              <a:ext cx="878205" cy="1123315"/>
            </a:xfrm>
            <a:custGeom>
              <a:avLst/>
              <a:gdLst/>
              <a:ahLst/>
              <a:cxnLst/>
              <a:rect l="l" t="t" r="r" b="b"/>
              <a:pathLst>
                <a:path w="878204" h="1123314">
                  <a:moveTo>
                    <a:pt x="0" y="0"/>
                  </a:moveTo>
                  <a:lnTo>
                    <a:pt x="877696" y="0"/>
                  </a:lnTo>
                  <a:lnTo>
                    <a:pt x="877696" y="1123315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313676" y="3308603"/>
              <a:ext cx="111760" cy="76200"/>
            </a:xfrm>
            <a:custGeom>
              <a:avLst/>
              <a:gdLst/>
              <a:ahLst/>
              <a:cxnLst/>
              <a:rect l="l" t="t" r="r" b="b"/>
              <a:pathLst>
                <a:path w="111759" h="76200">
                  <a:moveTo>
                    <a:pt x="9525" y="0"/>
                  </a:moveTo>
                  <a:lnTo>
                    <a:pt x="5411" y="9320"/>
                  </a:lnTo>
                  <a:lnTo>
                    <a:pt x="2428" y="18938"/>
                  </a:lnTo>
                  <a:lnTo>
                    <a:pt x="613" y="28771"/>
                  </a:lnTo>
                  <a:lnTo>
                    <a:pt x="0" y="38735"/>
                  </a:lnTo>
                  <a:lnTo>
                    <a:pt x="569" y="48339"/>
                  </a:lnTo>
                  <a:lnTo>
                    <a:pt x="2270" y="57848"/>
                  </a:lnTo>
                  <a:lnTo>
                    <a:pt x="5089" y="67167"/>
                  </a:lnTo>
                  <a:lnTo>
                    <a:pt x="9017" y="76200"/>
                  </a:lnTo>
                  <a:lnTo>
                    <a:pt x="111251" y="3873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087362" y="3350513"/>
              <a:ext cx="234950" cy="0"/>
            </a:xfrm>
            <a:custGeom>
              <a:avLst/>
              <a:gdLst/>
              <a:ahLst/>
              <a:cxnLst/>
              <a:rect l="l" t="t" r="r" b="b"/>
              <a:pathLst>
                <a:path w="234950">
                  <a:moveTo>
                    <a:pt x="0" y="0"/>
                  </a:moveTo>
                  <a:lnTo>
                    <a:pt x="234696" y="0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8055864" y="3605783"/>
              <a:ext cx="90170" cy="96520"/>
            </a:xfrm>
            <a:custGeom>
              <a:avLst/>
              <a:gdLst/>
              <a:ahLst/>
              <a:cxnLst/>
              <a:rect l="l" t="t" r="r" b="b"/>
              <a:pathLst>
                <a:path w="90170" h="96520">
                  <a:moveTo>
                    <a:pt x="45592" y="0"/>
                  </a:moveTo>
                  <a:lnTo>
                    <a:pt x="33897" y="521"/>
                  </a:lnTo>
                  <a:lnTo>
                    <a:pt x="22320" y="2079"/>
                  </a:lnTo>
                  <a:lnTo>
                    <a:pt x="10981" y="4661"/>
                  </a:lnTo>
                  <a:lnTo>
                    <a:pt x="0" y="8254"/>
                  </a:lnTo>
                  <a:lnTo>
                    <a:pt x="45592" y="96011"/>
                  </a:lnTo>
                  <a:lnTo>
                    <a:pt x="89915" y="7746"/>
                  </a:lnTo>
                  <a:lnTo>
                    <a:pt x="79240" y="4393"/>
                  </a:lnTo>
                  <a:lnTo>
                    <a:pt x="68230" y="1968"/>
                  </a:lnTo>
                  <a:lnTo>
                    <a:pt x="56983" y="496"/>
                  </a:lnTo>
                  <a:lnTo>
                    <a:pt x="455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8100822" y="3416045"/>
              <a:ext cx="0" cy="200025"/>
            </a:xfrm>
            <a:custGeom>
              <a:avLst/>
              <a:gdLst/>
              <a:ahLst/>
              <a:cxnLst/>
              <a:rect l="l" t="t" r="r" b="b"/>
              <a:pathLst>
                <a:path h="200025">
                  <a:moveTo>
                    <a:pt x="0" y="0"/>
                  </a:moveTo>
                  <a:lnTo>
                    <a:pt x="0" y="199643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7431785" y="3711702"/>
            <a:ext cx="1324610" cy="152400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sz="1100" spc="-50" dirty="0">
                <a:latin typeface="Arial MT"/>
                <a:cs typeface="Arial MT"/>
              </a:rPr>
              <a:t>R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8051292" y="3865117"/>
            <a:ext cx="90170" cy="298450"/>
            <a:chOff x="8051292" y="3865117"/>
            <a:chExt cx="90170" cy="298450"/>
          </a:xfrm>
        </p:grpSpPr>
        <p:sp>
          <p:nvSpPr>
            <p:cNvPr id="58" name="object 58"/>
            <p:cNvSpPr/>
            <p:nvPr/>
          </p:nvSpPr>
          <p:spPr>
            <a:xfrm>
              <a:off x="8051292" y="4064507"/>
              <a:ext cx="90170" cy="99060"/>
            </a:xfrm>
            <a:custGeom>
              <a:avLst/>
              <a:gdLst/>
              <a:ahLst/>
              <a:cxnLst/>
              <a:rect l="l" t="t" r="r" b="b"/>
              <a:pathLst>
                <a:path w="90170" h="99060">
                  <a:moveTo>
                    <a:pt x="45592" y="0"/>
                  </a:moveTo>
                  <a:lnTo>
                    <a:pt x="33897" y="543"/>
                  </a:lnTo>
                  <a:lnTo>
                    <a:pt x="22320" y="2159"/>
                  </a:lnTo>
                  <a:lnTo>
                    <a:pt x="10981" y="4822"/>
                  </a:lnTo>
                  <a:lnTo>
                    <a:pt x="0" y="8509"/>
                  </a:lnTo>
                  <a:lnTo>
                    <a:pt x="45592" y="99060"/>
                  </a:lnTo>
                  <a:lnTo>
                    <a:pt x="89915" y="8001"/>
                  </a:lnTo>
                  <a:lnTo>
                    <a:pt x="79240" y="4500"/>
                  </a:lnTo>
                  <a:lnTo>
                    <a:pt x="68230" y="2000"/>
                  </a:lnTo>
                  <a:lnTo>
                    <a:pt x="56983" y="500"/>
                  </a:lnTo>
                  <a:lnTo>
                    <a:pt x="455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100822" y="3877817"/>
              <a:ext cx="0" cy="205740"/>
            </a:xfrm>
            <a:custGeom>
              <a:avLst/>
              <a:gdLst/>
              <a:ahLst/>
              <a:cxnLst/>
              <a:rect l="l" t="t" r="r" b="b"/>
              <a:pathLst>
                <a:path h="205739">
                  <a:moveTo>
                    <a:pt x="0" y="0"/>
                  </a:moveTo>
                  <a:lnTo>
                    <a:pt x="0" y="205739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7431785" y="4181094"/>
            <a:ext cx="1324610" cy="329565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R="42545" algn="ctr">
              <a:lnSpc>
                <a:spcPts val="1235"/>
              </a:lnSpc>
              <a:spcBef>
                <a:spcPts val="195"/>
              </a:spcBef>
            </a:pPr>
            <a:r>
              <a:rPr sz="1100" dirty="0">
                <a:latin typeface="Arial MT"/>
                <a:cs typeface="Arial MT"/>
              </a:rPr>
              <a:t>Add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subtract</a:t>
            </a:r>
            <a:endParaRPr sz="1100">
              <a:latin typeface="Arial MT"/>
              <a:cs typeface="Arial MT"/>
            </a:endParaRPr>
          </a:p>
          <a:p>
            <a:pPr marL="5715" algn="ctr">
              <a:lnSpc>
                <a:spcPts val="1160"/>
              </a:lnSpc>
            </a:pPr>
            <a:r>
              <a:rPr sz="1100" spc="-10" dirty="0">
                <a:latin typeface="Arial MT"/>
                <a:cs typeface="Arial MT"/>
              </a:rPr>
              <a:t>mantissas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8051292" y="4511294"/>
            <a:ext cx="90170" cy="311150"/>
            <a:chOff x="8051292" y="4511294"/>
            <a:chExt cx="90170" cy="311150"/>
          </a:xfrm>
        </p:grpSpPr>
        <p:sp>
          <p:nvSpPr>
            <p:cNvPr id="62" name="object 62"/>
            <p:cNvSpPr/>
            <p:nvPr/>
          </p:nvSpPr>
          <p:spPr>
            <a:xfrm>
              <a:off x="8051292" y="4722876"/>
              <a:ext cx="90170" cy="99060"/>
            </a:xfrm>
            <a:custGeom>
              <a:avLst/>
              <a:gdLst/>
              <a:ahLst/>
              <a:cxnLst/>
              <a:rect l="l" t="t" r="r" b="b"/>
              <a:pathLst>
                <a:path w="90170" h="99060">
                  <a:moveTo>
                    <a:pt x="45592" y="0"/>
                  </a:moveTo>
                  <a:lnTo>
                    <a:pt x="33897" y="543"/>
                  </a:lnTo>
                  <a:lnTo>
                    <a:pt x="22320" y="2159"/>
                  </a:lnTo>
                  <a:lnTo>
                    <a:pt x="10981" y="4822"/>
                  </a:lnTo>
                  <a:lnTo>
                    <a:pt x="0" y="8509"/>
                  </a:lnTo>
                  <a:lnTo>
                    <a:pt x="45592" y="99060"/>
                  </a:lnTo>
                  <a:lnTo>
                    <a:pt x="89915" y="8000"/>
                  </a:lnTo>
                  <a:lnTo>
                    <a:pt x="79240" y="4500"/>
                  </a:lnTo>
                  <a:lnTo>
                    <a:pt x="68230" y="2000"/>
                  </a:lnTo>
                  <a:lnTo>
                    <a:pt x="56983" y="500"/>
                  </a:lnTo>
                  <a:lnTo>
                    <a:pt x="455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8100822" y="4523994"/>
              <a:ext cx="0" cy="215265"/>
            </a:xfrm>
            <a:custGeom>
              <a:avLst/>
              <a:gdLst/>
              <a:ahLst/>
              <a:cxnLst/>
              <a:rect l="l" t="t" r="r" b="b"/>
              <a:pathLst>
                <a:path h="215264">
                  <a:moveTo>
                    <a:pt x="0" y="0"/>
                  </a:moveTo>
                  <a:lnTo>
                    <a:pt x="0" y="214883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7431785" y="4836414"/>
            <a:ext cx="1324610" cy="152400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sz="1100" spc="-50" dirty="0">
                <a:latin typeface="Arial MT"/>
                <a:cs typeface="Arial MT"/>
              </a:rPr>
              <a:t>R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8051292" y="4988305"/>
            <a:ext cx="90170" cy="301625"/>
            <a:chOff x="8051292" y="4988305"/>
            <a:chExt cx="90170" cy="301625"/>
          </a:xfrm>
        </p:grpSpPr>
        <p:sp>
          <p:nvSpPr>
            <p:cNvPr id="66" name="object 66"/>
            <p:cNvSpPr/>
            <p:nvPr/>
          </p:nvSpPr>
          <p:spPr>
            <a:xfrm>
              <a:off x="8051292" y="5190743"/>
              <a:ext cx="90170" cy="99060"/>
            </a:xfrm>
            <a:custGeom>
              <a:avLst/>
              <a:gdLst/>
              <a:ahLst/>
              <a:cxnLst/>
              <a:rect l="l" t="t" r="r" b="b"/>
              <a:pathLst>
                <a:path w="90170" h="99060">
                  <a:moveTo>
                    <a:pt x="45592" y="0"/>
                  </a:moveTo>
                  <a:lnTo>
                    <a:pt x="33897" y="543"/>
                  </a:lnTo>
                  <a:lnTo>
                    <a:pt x="22320" y="2158"/>
                  </a:lnTo>
                  <a:lnTo>
                    <a:pt x="10981" y="4822"/>
                  </a:lnTo>
                  <a:lnTo>
                    <a:pt x="0" y="8508"/>
                  </a:lnTo>
                  <a:lnTo>
                    <a:pt x="45592" y="99059"/>
                  </a:lnTo>
                  <a:lnTo>
                    <a:pt x="89915" y="8000"/>
                  </a:lnTo>
                  <a:lnTo>
                    <a:pt x="79240" y="4500"/>
                  </a:lnTo>
                  <a:lnTo>
                    <a:pt x="68230" y="2000"/>
                  </a:lnTo>
                  <a:lnTo>
                    <a:pt x="56983" y="500"/>
                  </a:lnTo>
                  <a:lnTo>
                    <a:pt x="455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8100822" y="5001005"/>
              <a:ext cx="0" cy="207645"/>
            </a:xfrm>
            <a:custGeom>
              <a:avLst/>
              <a:gdLst/>
              <a:ahLst/>
              <a:cxnLst/>
              <a:rect l="l" t="t" r="r" b="b"/>
              <a:pathLst>
                <a:path h="207645">
                  <a:moveTo>
                    <a:pt x="0" y="0"/>
                  </a:moveTo>
                  <a:lnTo>
                    <a:pt x="0" y="207264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7431785" y="5305805"/>
            <a:ext cx="1324610" cy="330835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514984" marR="339725" indent="-165735">
              <a:lnSpc>
                <a:spcPts val="1150"/>
              </a:lnSpc>
              <a:spcBef>
                <a:spcPts val="300"/>
              </a:spcBef>
            </a:pPr>
            <a:r>
              <a:rPr sz="1100" spc="-10" dirty="0">
                <a:latin typeface="Arial MT"/>
                <a:cs typeface="Arial MT"/>
              </a:rPr>
              <a:t>Normalize result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8051292" y="5636005"/>
            <a:ext cx="90170" cy="300355"/>
            <a:chOff x="8051292" y="5636005"/>
            <a:chExt cx="90170" cy="300355"/>
          </a:xfrm>
        </p:grpSpPr>
        <p:sp>
          <p:nvSpPr>
            <p:cNvPr id="70" name="object 70"/>
            <p:cNvSpPr/>
            <p:nvPr/>
          </p:nvSpPr>
          <p:spPr>
            <a:xfrm>
              <a:off x="8051292" y="5836919"/>
              <a:ext cx="90170" cy="99060"/>
            </a:xfrm>
            <a:custGeom>
              <a:avLst/>
              <a:gdLst/>
              <a:ahLst/>
              <a:cxnLst/>
              <a:rect l="l" t="t" r="r" b="b"/>
              <a:pathLst>
                <a:path w="90170" h="99060">
                  <a:moveTo>
                    <a:pt x="45592" y="0"/>
                  </a:moveTo>
                  <a:lnTo>
                    <a:pt x="33897" y="542"/>
                  </a:lnTo>
                  <a:lnTo>
                    <a:pt x="22320" y="2157"/>
                  </a:lnTo>
                  <a:lnTo>
                    <a:pt x="10981" y="4827"/>
                  </a:lnTo>
                  <a:lnTo>
                    <a:pt x="0" y="8534"/>
                  </a:lnTo>
                  <a:lnTo>
                    <a:pt x="45592" y="99059"/>
                  </a:lnTo>
                  <a:lnTo>
                    <a:pt x="89915" y="8000"/>
                  </a:lnTo>
                  <a:lnTo>
                    <a:pt x="79240" y="4521"/>
                  </a:lnTo>
                  <a:lnTo>
                    <a:pt x="68230" y="2019"/>
                  </a:lnTo>
                  <a:lnTo>
                    <a:pt x="56983" y="507"/>
                  </a:lnTo>
                  <a:lnTo>
                    <a:pt x="455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8100822" y="5648705"/>
              <a:ext cx="0" cy="207645"/>
            </a:xfrm>
            <a:custGeom>
              <a:avLst/>
              <a:gdLst/>
              <a:ahLst/>
              <a:cxnLst/>
              <a:rect l="l" t="t" r="r" b="b"/>
              <a:pathLst>
                <a:path h="207645">
                  <a:moveTo>
                    <a:pt x="0" y="0"/>
                  </a:moveTo>
                  <a:lnTo>
                    <a:pt x="0" y="207264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7431785" y="5951982"/>
            <a:ext cx="1324610" cy="152400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875" algn="ctr">
              <a:lnSpc>
                <a:spcPts val="1200"/>
              </a:lnSpc>
            </a:pPr>
            <a:r>
              <a:rPr sz="1100" spc="-50" dirty="0">
                <a:latin typeface="Arial MT"/>
                <a:cs typeface="Arial MT"/>
              </a:rPr>
              <a:t>R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8051292" y="6105397"/>
            <a:ext cx="90170" cy="307975"/>
            <a:chOff x="8051292" y="6105397"/>
            <a:chExt cx="90170" cy="307975"/>
          </a:xfrm>
        </p:grpSpPr>
        <p:sp>
          <p:nvSpPr>
            <p:cNvPr id="74" name="object 74"/>
            <p:cNvSpPr/>
            <p:nvPr/>
          </p:nvSpPr>
          <p:spPr>
            <a:xfrm>
              <a:off x="8051292" y="6315455"/>
              <a:ext cx="90170" cy="97790"/>
            </a:xfrm>
            <a:custGeom>
              <a:avLst/>
              <a:gdLst/>
              <a:ahLst/>
              <a:cxnLst/>
              <a:rect l="l" t="t" r="r" b="b"/>
              <a:pathLst>
                <a:path w="90170" h="97789">
                  <a:moveTo>
                    <a:pt x="45592" y="0"/>
                  </a:moveTo>
                  <a:lnTo>
                    <a:pt x="33897" y="533"/>
                  </a:lnTo>
                  <a:lnTo>
                    <a:pt x="22320" y="2122"/>
                  </a:lnTo>
                  <a:lnTo>
                    <a:pt x="10981" y="4752"/>
                  </a:lnTo>
                  <a:lnTo>
                    <a:pt x="0" y="8407"/>
                  </a:lnTo>
                  <a:lnTo>
                    <a:pt x="45592" y="97536"/>
                  </a:lnTo>
                  <a:lnTo>
                    <a:pt x="89915" y="7886"/>
                  </a:lnTo>
                  <a:lnTo>
                    <a:pt x="79240" y="4457"/>
                  </a:lnTo>
                  <a:lnTo>
                    <a:pt x="68230" y="1990"/>
                  </a:lnTo>
                  <a:lnTo>
                    <a:pt x="56983" y="500"/>
                  </a:lnTo>
                  <a:lnTo>
                    <a:pt x="455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8100822" y="6118097"/>
              <a:ext cx="0" cy="216535"/>
            </a:xfrm>
            <a:custGeom>
              <a:avLst/>
              <a:gdLst/>
              <a:ahLst/>
              <a:cxnLst/>
              <a:rect l="l" t="t" r="r" b="b"/>
              <a:pathLst>
                <a:path h="216535">
                  <a:moveTo>
                    <a:pt x="0" y="0"/>
                  </a:moveTo>
                  <a:lnTo>
                    <a:pt x="0" y="216407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883658" y="5305805"/>
            <a:ext cx="1320165" cy="356870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48895" rIns="0" bIns="0" rtlCol="0">
            <a:spAutoFit/>
          </a:bodyPr>
          <a:lstStyle/>
          <a:p>
            <a:pPr marL="303530" marR="433705" indent="106045">
              <a:lnSpc>
                <a:spcPts val="1150"/>
              </a:lnSpc>
              <a:spcBef>
                <a:spcPts val="385"/>
              </a:spcBef>
            </a:pPr>
            <a:r>
              <a:rPr sz="1100" spc="-10" dirty="0">
                <a:latin typeface="Arial MT"/>
                <a:cs typeface="Arial MT"/>
              </a:rPr>
              <a:t>Adjust exponent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5509259" y="5643626"/>
            <a:ext cx="88900" cy="295910"/>
            <a:chOff x="5509259" y="5643626"/>
            <a:chExt cx="88900" cy="295910"/>
          </a:xfrm>
        </p:grpSpPr>
        <p:sp>
          <p:nvSpPr>
            <p:cNvPr id="78" name="object 78"/>
            <p:cNvSpPr/>
            <p:nvPr/>
          </p:nvSpPr>
          <p:spPr>
            <a:xfrm>
              <a:off x="5509259" y="5839968"/>
              <a:ext cx="88900" cy="99060"/>
            </a:xfrm>
            <a:custGeom>
              <a:avLst/>
              <a:gdLst/>
              <a:ahLst/>
              <a:cxnLst/>
              <a:rect l="l" t="t" r="r" b="b"/>
              <a:pathLst>
                <a:path w="88900" h="99060">
                  <a:moveTo>
                    <a:pt x="44830" y="0"/>
                  </a:moveTo>
                  <a:lnTo>
                    <a:pt x="33325" y="542"/>
                  </a:lnTo>
                  <a:lnTo>
                    <a:pt x="21939" y="2157"/>
                  </a:lnTo>
                  <a:lnTo>
                    <a:pt x="10791" y="4827"/>
                  </a:lnTo>
                  <a:lnTo>
                    <a:pt x="0" y="8534"/>
                  </a:lnTo>
                  <a:lnTo>
                    <a:pt x="44830" y="99059"/>
                  </a:lnTo>
                  <a:lnTo>
                    <a:pt x="88391" y="8000"/>
                  </a:lnTo>
                  <a:lnTo>
                    <a:pt x="77906" y="4521"/>
                  </a:lnTo>
                  <a:lnTo>
                    <a:pt x="67087" y="2019"/>
                  </a:lnTo>
                  <a:lnTo>
                    <a:pt x="56030" y="507"/>
                  </a:lnTo>
                  <a:lnTo>
                    <a:pt x="448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552693" y="5656326"/>
              <a:ext cx="0" cy="208915"/>
            </a:xfrm>
            <a:custGeom>
              <a:avLst/>
              <a:gdLst/>
              <a:ahLst/>
              <a:cxnLst/>
              <a:rect l="l" t="t" r="r" b="b"/>
              <a:pathLst>
                <a:path h="208914">
                  <a:moveTo>
                    <a:pt x="0" y="0"/>
                  </a:moveTo>
                  <a:lnTo>
                    <a:pt x="0" y="208787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4883658" y="5951982"/>
            <a:ext cx="1310640" cy="152400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795" algn="ctr">
              <a:lnSpc>
                <a:spcPts val="1200"/>
              </a:lnSpc>
            </a:pPr>
            <a:r>
              <a:rPr sz="1100" spc="-50" dirty="0">
                <a:latin typeface="Arial MT"/>
                <a:cs typeface="Arial MT"/>
              </a:rPr>
              <a:t>R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4870958" y="3220466"/>
            <a:ext cx="2553970" cy="3192780"/>
            <a:chOff x="4870958" y="3220466"/>
            <a:chExt cx="2553970" cy="3192780"/>
          </a:xfrm>
        </p:grpSpPr>
        <p:sp>
          <p:nvSpPr>
            <p:cNvPr id="82" name="object 82"/>
            <p:cNvSpPr/>
            <p:nvPr/>
          </p:nvSpPr>
          <p:spPr>
            <a:xfrm>
              <a:off x="5503163" y="6315455"/>
              <a:ext cx="90170" cy="97790"/>
            </a:xfrm>
            <a:custGeom>
              <a:avLst/>
              <a:gdLst/>
              <a:ahLst/>
              <a:cxnLst/>
              <a:rect l="l" t="t" r="r" b="b"/>
              <a:pathLst>
                <a:path w="90170" h="97789">
                  <a:moveTo>
                    <a:pt x="45593" y="0"/>
                  </a:moveTo>
                  <a:lnTo>
                    <a:pt x="33897" y="533"/>
                  </a:lnTo>
                  <a:lnTo>
                    <a:pt x="22320" y="2122"/>
                  </a:lnTo>
                  <a:lnTo>
                    <a:pt x="10981" y="4752"/>
                  </a:lnTo>
                  <a:lnTo>
                    <a:pt x="0" y="8407"/>
                  </a:lnTo>
                  <a:lnTo>
                    <a:pt x="45593" y="97536"/>
                  </a:lnTo>
                  <a:lnTo>
                    <a:pt x="89915" y="7886"/>
                  </a:lnTo>
                  <a:lnTo>
                    <a:pt x="79240" y="4457"/>
                  </a:lnTo>
                  <a:lnTo>
                    <a:pt x="68230" y="1990"/>
                  </a:lnTo>
                  <a:lnTo>
                    <a:pt x="56983" y="500"/>
                  </a:lnTo>
                  <a:lnTo>
                    <a:pt x="455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5552693" y="6118097"/>
              <a:ext cx="0" cy="216535"/>
            </a:xfrm>
            <a:custGeom>
              <a:avLst/>
              <a:gdLst/>
              <a:ahLst/>
              <a:cxnLst/>
              <a:rect l="l" t="t" r="r" b="b"/>
              <a:pathLst>
                <a:path h="216535">
                  <a:moveTo>
                    <a:pt x="0" y="0"/>
                  </a:moveTo>
                  <a:lnTo>
                    <a:pt x="0" y="216407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4" name="object 8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13347" y="5437632"/>
              <a:ext cx="112775" cy="82296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6299453" y="5476494"/>
              <a:ext cx="1114425" cy="0"/>
            </a:xfrm>
            <a:custGeom>
              <a:avLst/>
              <a:gdLst/>
              <a:ahLst/>
              <a:cxnLst/>
              <a:rect l="l" t="t" r="r" b="b"/>
              <a:pathLst>
                <a:path w="1114425">
                  <a:moveTo>
                    <a:pt x="1114044" y="0"/>
                  </a:moveTo>
                  <a:lnTo>
                    <a:pt x="0" y="0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4883657" y="3233165"/>
              <a:ext cx="1315720" cy="181610"/>
            </a:xfrm>
            <a:custGeom>
              <a:avLst/>
              <a:gdLst/>
              <a:ahLst/>
              <a:cxnLst/>
              <a:rect l="l" t="t" r="r" b="b"/>
              <a:pathLst>
                <a:path w="1315720" h="181610">
                  <a:moveTo>
                    <a:pt x="0" y="181355"/>
                  </a:moveTo>
                  <a:lnTo>
                    <a:pt x="1315212" y="181355"/>
                  </a:lnTo>
                  <a:lnTo>
                    <a:pt x="1315212" y="0"/>
                  </a:lnTo>
                  <a:lnTo>
                    <a:pt x="0" y="0"/>
                  </a:lnTo>
                  <a:lnTo>
                    <a:pt x="0" y="181355"/>
                  </a:lnTo>
                  <a:close/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6194297" y="3359657"/>
              <a:ext cx="848994" cy="1030605"/>
            </a:xfrm>
            <a:custGeom>
              <a:avLst/>
              <a:gdLst/>
              <a:ahLst/>
              <a:cxnLst/>
              <a:rect l="l" t="t" r="r" b="b"/>
              <a:pathLst>
                <a:path w="848995" h="1030604">
                  <a:moveTo>
                    <a:pt x="0" y="0"/>
                  </a:moveTo>
                  <a:lnTo>
                    <a:pt x="848741" y="0"/>
                  </a:lnTo>
                  <a:lnTo>
                    <a:pt x="848741" y="1030477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8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313675" y="4355591"/>
              <a:ext cx="111251" cy="76200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7043165" y="4383786"/>
              <a:ext cx="271780" cy="7620"/>
            </a:xfrm>
            <a:custGeom>
              <a:avLst/>
              <a:gdLst/>
              <a:ahLst/>
              <a:cxnLst/>
              <a:rect l="l" t="t" r="r" b="b"/>
              <a:pathLst>
                <a:path w="271779" h="7620">
                  <a:moveTo>
                    <a:pt x="0" y="0"/>
                  </a:moveTo>
                  <a:lnTo>
                    <a:pt x="271272" y="7619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3929888" y="2119122"/>
            <a:ext cx="73977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Arial MT"/>
                <a:cs typeface="Arial MT"/>
              </a:rPr>
              <a:t>Segment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1: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3929888" y="3244976"/>
            <a:ext cx="73977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Arial MT"/>
                <a:cs typeface="Arial MT"/>
              </a:rPr>
              <a:t>Segment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2: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3929888" y="4254753"/>
            <a:ext cx="73977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Arial MT"/>
                <a:cs typeface="Arial MT"/>
              </a:rPr>
              <a:t>Segment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3: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3929888" y="5371338"/>
            <a:ext cx="73977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Arial MT"/>
                <a:cs typeface="Arial MT"/>
              </a:rPr>
              <a:t>Segment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4: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4823951FA9BF42B980A03718EB0B18" ma:contentTypeVersion="3" ma:contentTypeDescription="Create a new document." ma:contentTypeScope="" ma:versionID="25a50b09105562264fb4b1a4f834e0bb">
  <xsd:schema xmlns:xsd="http://www.w3.org/2001/XMLSchema" xmlns:xs="http://www.w3.org/2001/XMLSchema" xmlns:p="http://schemas.microsoft.com/office/2006/metadata/properties" xmlns:ns2="6bf15077-4e46-4e3a-99a0-3fd5e4d406d3" targetNamespace="http://schemas.microsoft.com/office/2006/metadata/properties" ma:root="true" ma:fieldsID="ff57562ea5f29b8a889136f2d3c08a42" ns2:_="">
    <xsd:import namespace="6bf15077-4e46-4e3a-99a0-3fd5e4d406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15077-4e46-4e3a-99a0-3fd5e4d406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D18CD3B-2EFE-461D-97F0-A5FF733906EF}"/>
</file>

<file path=customXml/itemProps2.xml><?xml version="1.0" encoding="utf-8"?>
<ds:datastoreItem xmlns:ds="http://schemas.openxmlformats.org/officeDocument/2006/customXml" ds:itemID="{4F025AB9-BC8A-492C-8C55-0C210C806B41}"/>
</file>

<file path=customXml/itemProps3.xml><?xml version="1.0" encoding="utf-8"?>
<ds:datastoreItem xmlns:ds="http://schemas.openxmlformats.org/officeDocument/2006/customXml" ds:itemID="{118EAD10-0879-4E4F-94C0-2320CA244B73}"/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</TotalTime>
  <Words>721</Words>
  <Application>Microsoft Office PowerPoint</Application>
  <PresentationFormat>On-screen Show (4:3)</PresentationFormat>
  <Paragraphs>132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 MT</vt:lpstr>
      <vt:lpstr>Arial</vt:lpstr>
      <vt:lpstr>Calibri</vt:lpstr>
      <vt:lpstr>Calibri Light</vt:lpstr>
      <vt:lpstr>Retrospect</vt:lpstr>
      <vt:lpstr>CS361: Computer Architecture</vt:lpstr>
      <vt:lpstr>FLOATING-POINT REPRESENTATION</vt:lpstr>
      <vt:lpstr>PowerPoint Presentation</vt:lpstr>
      <vt:lpstr>FLOATING POINT ADDITION</vt:lpstr>
      <vt:lpstr>FLOATING POINT ADDITION</vt:lpstr>
      <vt:lpstr>FLOATING POINT ADDITION</vt:lpstr>
      <vt:lpstr>FLOATING-POINT ARITHMETIC PIPELINE</vt:lpstr>
      <vt:lpstr>FLOATING-POINT ARITHMETIC PIPELINE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 LOGIC  CIRCUITS</dc:title>
  <dc:creator>Archilab</dc:creator>
  <cp:lastModifiedBy>waheed ahmad</cp:lastModifiedBy>
  <cp:revision>3</cp:revision>
  <dcterms:created xsi:type="dcterms:W3CDTF">2025-12-17T18:28:13Z</dcterms:created>
  <dcterms:modified xsi:type="dcterms:W3CDTF">2025-12-17T18:32:45Z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2022-10-28T00:00:00Z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2025-12-17T00:00:00Z</vt:filetime>
  </property>
  <property fmtid="{D5CDD505-2E9C-101B-9397-08002B2CF9AE}" pid="5" name="Producer">
    <vt:lpwstr>Microsoft® PowerPoint® for Microsoft 365</vt:lpwstr>
  </property>
  <property fmtid="{D5CDD505-2E9C-101B-9397-08002B2CF9AE}" pid="6" name="ContentTypeId">
    <vt:lpwstr>0x0101006E4823951FA9BF42B980A03718EB0B18</vt:lpwstr>
  </property>
</Properties>
</file>