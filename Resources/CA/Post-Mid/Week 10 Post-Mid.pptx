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media/image3.jpg" ContentType="image/jpg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27"/>
  </p:notesMasterIdLst>
  <p:sldIdLst>
    <p:sldId id="34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1" r:id="rId16"/>
    <p:sldId id="28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4660"/>
  </p:normalViewPr>
  <p:slideViewPr>
    <p:cSldViewPr>
      <p:cViewPr varScale="1">
        <p:scale>
          <a:sx n="64" d="100"/>
          <a:sy n="64" d="100"/>
        </p:scale>
        <p:origin x="1560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026DC-97E5-41E5-973C-3E168708BC3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9545F-0089-48C0-94F3-BF58A3ABB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21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9545F-0089-48C0-94F3-BF58A3ABB1C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908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23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248222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304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573946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402938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957891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707494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394020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390142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841528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854074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80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CS324 </a:t>
            </a:r>
            <a:r>
              <a:rPr spc="-10" dirty="0"/>
              <a:t>Computer</a:t>
            </a:r>
            <a:r>
              <a:rPr spc="-6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374106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627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Car%20Pipeline.mp4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8326" y="5810192"/>
            <a:ext cx="6475095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685800">
              <a:lnSpc>
                <a:spcPts val="1163"/>
              </a:lnSpc>
              <a:tabLst>
                <a:tab pos="6400324" algn="l"/>
              </a:tabLst>
              <a:defRPr/>
            </a:pPr>
            <a:r>
              <a:rPr sz="1050" b="1" i="1" dirty="0">
                <a:solidFill>
                  <a:srgbClr val="000000"/>
                </a:solidFill>
                <a:latin typeface="Arial"/>
                <a:cs typeface="Arial"/>
              </a:rPr>
              <a:t>CS324 </a:t>
            </a:r>
            <a:r>
              <a:rPr sz="1050" b="1" i="1" spc="-8" dirty="0">
                <a:solidFill>
                  <a:srgbClr val="000000"/>
                </a:solidFill>
                <a:latin typeface="Arial"/>
                <a:cs typeface="Arial"/>
              </a:rPr>
              <a:t>Computer</a:t>
            </a:r>
            <a:r>
              <a:rPr sz="1050" b="1" i="1" spc="-4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050" b="1" i="1" spc="-8" dirty="0">
                <a:solidFill>
                  <a:srgbClr val="000000"/>
                </a:solidFill>
                <a:latin typeface="Arial"/>
                <a:cs typeface="Arial"/>
              </a:rPr>
              <a:t>Architecture</a:t>
            </a:r>
            <a:r>
              <a:rPr sz="1050" b="1" i="1" dirty="0">
                <a:solidFill>
                  <a:srgbClr val="000000"/>
                </a:solidFill>
                <a:latin typeface="Arial"/>
                <a:cs typeface="Arial"/>
              </a:rPr>
              <a:t>	</a:t>
            </a:r>
            <a:r>
              <a:rPr sz="1575" b="1" spc="-56" baseline="-5952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sz="1575" baseline="-5952">
              <a:solidFill>
                <a:srgbClr val="000000"/>
              </a:solidFill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26344" y="1033177"/>
            <a:ext cx="6691313" cy="4727734"/>
            <a:chOff x="111125" y="234568"/>
            <a:chExt cx="8921750" cy="6303645"/>
          </a:xfrm>
        </p:grpSpPr>
        <p:sp>
          <p:nvSpPr>
            <p:cNvPr id="4" name="object 4"/>
            <p:cNvSpPr/>
            <p:nvPr/>
          </p:nvSpPr>
          <p:spPr>
            <a:xfrm>
              <a:off x="114300" y="733424"/>
              <a:ext cx="8912860" cy="57150"/>
            </a:xfrm>
            <a:custGeom>
              <a:avLst/>
              <a:gdLst/>
              <a:ahLst/>
              <a:cxnLst/>
              <a:rect l="l" t="t" r="r" b="b"/>
              <a:pathLst>
                <a:path w="8912860" h="57150">
                  <a:moveTo>
                    <a:pt x="8912352" y="22860"/>
                  </a:moveTo>
                  <a:lnTo>
                    <a:pt x="0" y="22860"/>
                  </a:lnTo>
                  <a:lnTo>
                    <a:pt x="0" y="57150"/>
                  </a:lnTo>
                  <a:lnTo>
                    <a:pt x="8912352" y="57150"/>
                  </a:lnTo>
                  <a:lnTo>
                    <a:pt x="8912352" y="22860"/>
                  </a:lnTo>
                  <a:close/>
                </a:path>
                <a:path w="8912860" h="57150">
                  <a:moveTo>
                    <a:pt x="8912352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8912352" y="11430"/>
                  </a:lnTo>
                  <a:lnTo>
                    <a:pt x="89123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14300" y="237743"/>
              <a:ext cx="8915400" cy="6297295"/>
            </a:xfrm>
            <a:custGeom>
              <a:avLst/>
              <a:gdLst/>
              <a:ahLst/>
              <a:cxnLst/>
              <a:rect l="l" t="t" r="r" b="b"/>
              <a:pathLst>
                <a:path w="8915400" h="6297295">
                  <a:moveTo>
                    <a:pt x="0" y="6297168"/>
                  </a:moveTo>
                  <a:lnTo>
                    <a:pt x="8915400" y="6297168"/>
                  </a:lnTo>
                  <a:lnTo>
                    <a:pt x="8915400" y="0"/>
                  </a:lnTo>
                  <a:lnTo>
                    <a:pt x="0" y="0"/>
                  </a:lnTo>
                  <a:lnTo>
                    <a:pt x="0" y="629716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18801" y="2460673"/>
            <a:ext cx="5010150" cy="425116"/>
          </a:xfrm>
          <a:prstGeom prst="rect">
            <a:avLst/>
          </a:prstGeom>
        </p:spPr>
        <p:txBody>
          <a:bodyPr vert="horz" wrap="square" lIns="0" tIns="9525" rIns="0" bIns="0" rtlCol="0" anchor="b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lang="en-US" sz="2700" dirty="0"/>
              <a:t>CS361</a:t>
            </a:r>
            <a:r>
              <a:rPr sz="2700" dirty="0"/>
              <a:t>:</a:t>
            </a:r>
            <a:r>
              <a:rPr sz="2700" spc="-30" dirty="0"/>
              <a:t> </a:t>
            </a:r>
            <a:r>
              <a:rPr sz="2700" dirty="0"/>
              <a:t>Computer</a:t>
            </a:r>
            <a:r>
              <a:rPr sz="2700" spc="-15" dirty="0"/>
              <a:t> </a:t>
            </a:r>
            <a:r>
              <a:rPr sz="2700" spc="-8" dirty="0"/>
              <a:t>Architecture</a:t>
            </a:r>
            <a:endParaRPr sz="2700" dirty="0"/>
          </a:p>
        </p:txBody>
      </p:sp>
      <p:sp>
        <p:nvSpPr>
          <p:cNvPr id="7" name="object 7"/>
          <p:cNvSpPr txBox="1"/>
          <p:nvPr/>
        </p:nvSpPr>
        <p:spPr>
          <a:xfrm>
            <a:off x="1233619" y="2890528"/>
            <a:ext cx="5978843" cy="1665841"/>
          </a:xfrm>
          <a:prstGeom prst="rect">
            <a:avLst/>
          </a:prstGeom>
        </p:spPr>
        <p:txBody>
          <a:bodyPr vert="horz" wrap="square" lIns="0" tIns="8001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lang="en-US" b="1" dirty="0">
                <a:solidFill>
                  <a:srgbClr val="000000"/>
                </a:solidFill>
                <a:latin typeface="Arial"/>
                <a:cs typeface="Arial"/>
              </a:rPr>
              <a:t>Week 10</a:t>
            </a:r>
            <a:r>
              <a:rPr lang="en-US" b="1" dirty="0">
                <a:latin typeface="Arial"/>
                <a:cs typeface="Arial"/>
              </a:rPr>
              <a:t>:</a:t>
            </a:r>
            <a:r>
              <a:rPr lang="en-US" b="1" spc="-15" dirty="0">
                <a:latin typeface="Arial"/>
                <a:cs typeface="Arial"/>
              </a:rPr>
              <a:t> </a:t>
            </a:r>
            <a:r>
              <a:rPr lang="en-US" b="1" spc="-10" dirty="0">
                <a:latin typeface="Arial"/>
                <a:cs typeface="Arial"/>
              </a:rPr>
              <a:t>Instruction-</a:t>
            </a:r>
            <a:r>
              <a:rPr lang="en-US" b="1" dirty="0">
                <a:latin typeface="Arial"/>
                <a:cs typeface="Arial"/>
              </a:rPr>
              <a:t>level</a:t>
            </a:r>
            <a:r>
              <a:rPr lang="en-US" b="1" spc="-45" dirty="0">
                <a:latin typeface="Arial"/>
                <a:cs typeface="Arial"/>
              </a:rPr>
              <a:t> </a:t>
            </a:r>
            <a:r>
              <a:rPr lang="en-US" b="1" spc="-10" dirty="0">
                <a:latin typeface="Arial"/>
                <a:cs typeface="Arial"/>
              </a:rPr>
              <a:t>Parallelism</a:t>
            </a:r>
            <a:endParaRPr lang="en-US" dirty="0">
              <a:latin typeface="Arial"/>
              <a:cs typeface="Arial"/>
            </a:endParaRPr>
          </a:p>
          <a:p>
            <a:pPr marL="2179796" defTabSz="685800">
              <a:lnSpc>
                <a:spcPts val="1710"/>
              </a:lnSpc>
              <a:tabLst>
                <a:tab pos="2441734" algn="l"/>
              </a:tabLst>
              <a:defRPr/>
            </a:pPr>
            <a:r>
              <a:rPr lang="en-US" sz="1500" b="1" spc="-8" dirty="0">
                <a:solidFill>
                  <a:srgbClr val="000000"/>
                </a:solidFill>
                <a:latin typeface="Arial MT"/>
                <a:cs typeface="Arial MT"/>
              </a:rPr>
              <a:t>Clock</a:t>
            </a:r>
          </a:p>
          <a:p>
            <a:pPr marL="2179796" defTabSz="685800">
              <a:lnSpc>
                <a:spcPts val="1710"/>
              </a:lnSpc>
              <a:tabLst>
                <a:tab pos="2441734" algn="l"/>
              </a:tabLst>
              <a:defRPr/>
            </a:pPr>
            <a:r>
              <a:rPr lang="en-US" sz="1500" b="1" spc="-8" dirty="0" err="1">
                <a:solidFill>
                  <a:srgbClr val="000000"/>
                </a:solidFill>
                <a:latin typeface="Arial MT"/>
                <a:cs typeface="Arial MT"/>
              </a:rPr>
              <a:t>Cpu</a:t>
            </a:r>
            <a:r>
              <a:rPr lang="en-US" sz="1500" b="1" spc="-8" dirty="0">
                <a:solidFill>
                  <a:srgbClr val="000000"/>
                </a:solidFill>
                <a:latin typeface="Arial MT"/>
                <a:cs typeface="Arial MT"/>
              </a:rPr>
              <a:t> time equation</a:t>
            </a:r>
          </a:p>
          <a:p>
            <a:pPr marL="2179796" defTabSz="685800">
              <a:lnSpc>
                <a:spcPts val="1710"/>
              </a:lnSpc>
              <a:tabLst>
                <a:tab pos="2441734" algn="l"/>
              </a:tabLst>
              <a:defRPr/>
            </a:pPr>
            <a:r>
              <a:rPr lang="en-US" sz="1500" b="1" spc="-8" dirty="0" err="1">
                <a:solidFill>
                  <a:srgbClr val="000000"/>
                </a:solidFill>
                <a:latin typeface="Arial MT"/>
                <a:cs typeface="Arial MT"/>
              </a:rPr>
              <a:t>Instrcutor:Waheed</a:t>
            </a:r>
            <a:r>
              <a:rPr lang="en-US" sz="1500" b="1" spc="-8" dirty="0">
                <a:solidFill>
                  <a:srgbClr val="000000"/>
                </a:solidFill>
                <a:latin typeface="Arial MT"/>
                <a:cs typeface="Arial MT"/>
              </a:rPr>
              <a:t> Ahmad</a:t>
            </a:r>
            <a:endParaRPr lang="en-US" sz="1500" spc="-8" dirty="0">
              <a:solidFill>
                <a:srgbClr val="000000"/>
              </a:solidFill>
              <a:latin typeface="Arial MT"/>
              <a:cs typeface="Arial MT"/>
            </a:endParaRPr>
          </a:p>
          <a:p>
            <a:pPr marL="2441734" indent="-261938" defTabSz="685800">
              <a:lnSpc>
                <a:spcPts val="1710"/>
              </a:lnSpc>
              <a:buClr>
                <a:srgbClr val="008011"/>
              </a:buClr>
              <a:buFont typeface="Wingdings"/>
              <a:buChar char="q"/>
              <a:tabLst>
                <a:tab pos="2441734" algn="l"/>
              </a:tabLst>
              <a:defRPr/>
            </a:pPr>
            <a:endParaRPr lang="en-US" sz="1500" spc="-8" dirty="0">
              <a:solidFill>
                <a:srgbClr val="000000"/>
              </a:solidFill>
              <a:latin typeface="Arial MT"/>
              <a:cs typeface="Arial MT"/>
            </a:endParaRPr>
          </a:p>
          <a:p>
            <a:pPr marL="2441734" indent="-261938" defTabSz="685800">
              <a:lnSpc>
                <a:spcPts val="1710"/>
              </a:lnSpc>
              <a:buClr>
                <a:srgbClr val="008011"/>
              </a:buClr>
              <a:buFont typeface="Wingdings"/>
              <a:buChar char="q"/>
              <a:tabLst>
                <a:tab pos="2441734" algn="l"/>
              </a:tabLst>
              <a:defRPr/>
            </a:pPr>
            <a:endParaRPr lang="en-US" sz="1500" spc="-8" dirty="0">
              <a:solidFill>
                <a:srgbClr val="000000"/>
              </a:solidFill>
              <a:latin typeface="Arial MT"/>
              <a:cs typeface="Arial MT"/>
            </a:endParaRPr>
          </a:p>
          <a:p>
            <a:pPr marL="2179796" defTabSz="685800">
              <a:lnSpc>
                <a:spcPts val="1710"/>
              </a:lnSpc>
              <a:buClr>
                <a:srgbClr val="008011"/>
              </a:buClr>
              <a:tabLst>
                <a:tab pos="2441734" algn="l"/>
              </a:tabLst>
              <a:defRPr/>
            </a:pPr>
            <a:endParaRPr lang="en-US" sz="1500" spc="-8" dirty="0">
              <a:solidFill>
                <a:srgbClr val="000000"/>
              </a:solidFill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76148" y="5813299"/>
            <a:ext cx="6825139" cy="167164"/>
          </a:xfrm>
          <a:custGeom>
            <a:avLst/>
            <a:gdLst/>
            <a:ahLst/>
            <a:cxnLst/>
            <a:rect l="l" t="t" r="r" b="b"/>
            <a:pathLst>
              <a:path w="9100185" h="222884">
                <a:moveTo>
                  <a:pt x="9099804" y="0"/>
                </a:moveTo>
                <a:lnTo>
                  <a:pt x="0" y="0"/>
                </a:lnTo>
                <a:lnTo>
                  <a:pt x="0" y="222503"/>
                </a:lnTo>
                <a:lnTo>
                  <a:pt x="9099804" y="222503"/>
                </a:lnTo>
                <a:lnTo>
                  <a:pt x="90998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685800">
              <a:defRPr/>
            </a:pPr>
            <a:endParaRPr sz="1350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" name="Picture 9" descr="Page 98 – Ghulam Ishaq Khan Institute of Engineering ...">
            <a:extLst>
              <a:ext uri="{FF2B5EF4-FFF2-40B4-BE49-F238E27FC236}">
                <a16:creationId xmlns:a16="http://schemas.microsoft.com/office/drawing/2014/main" id="{B3A46A1E-4695-E2C0-8AAD-23FCC9750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526" y="2455473"/>
            <a:ext cx="2057400" cy="2057400"/>
          </a:xfrm>
          <a:prstGeom prst="rect">
            <a:avLst/>
          </a:prstGeom>
        </p:spPr>
      </p:pic>
      <p:sp>
        <p:nvSpPr>
          <p:cNvPr id="12" name="object 8">
            <a:extLst>
              <a:ext uri="{FF2B5EF4-FFF2-40B4-BE49-F238E27FC236}">
                <a16:creationId xmlns:a16="http://schemas.microsoft.com/office/drawing/2014/main" id="{2CA26FE6-119C-09A6-E567-51C170EE6D23}"/>
              </a:ext>
            </a:extLst>
          </p:cNvPr>
          <p:cNvSpPr txBox="1"/>
          <p:nvPr/>
        </p:nvSpPr>
        <p:spPr>
          <a:xfrm>
            <a:off x="387010" y="5964080"/>
            <a:ext cx="735139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8011"/>
                </a:solidFill>
                <a:latin typeface="Arial"/>
                <a:cs typeface="Arial"/>
              </a:rPr>
              <a:t>Reading</a:t>
            </a:r>
            <a:r>
              <a:rPr sz="14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8011"/>
                </a:solidFill>
                <a:latin typeface="Arial"/>
                <a:cs typeface="Arial"/>
              </a:rPr>
              <a:t>Section</a:t>
            </a:r>
            <a:r>
              <a:rPr sz="1400" b="1" dirty="0">
                <a:latin typeface="Arial"/>
                <a:cs typeface="Arial"/>
              </a:rPr>
              <a:t>: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 MT"/>
                <a:cs typeface="Arial MT"/>
              </a:rPr>
              <a:t>Computer</a:t>
            </a:r>
            <a:r>
              <a:rPr sz="1400" spc="-9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Architecture:</a:t>
            </a:r>
            <a:r>
              <a:rPr sz="1400" spc="-1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Quantitative</a:t>
            </a:r>
            <a:r>
              <a:rPr sz="1400" spc="-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Approach,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Sixth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Edition,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Section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1.9</a:t>
            </a:r>
            <a:endParaRPr sz="1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39804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0750" y="376285"/>
            <a:ext cx="754380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RECAP</a:t>
            </a:r>
            <a:r>
              <a:rPr sz="4000" spc="-25" dirty="0"/>
              <a:t> </a:t>
            </a:r>
            <a:r>
              <a:rPr sz="4000" dirty="0"/>
              <a:t>OF</a:t>
            </a:r>
            <a:r>
              <a:rPr sz="4000" spc="-40" dirty="0"/>
              <a:t> </a:t>
            </a:r>
            <a:r>
              <a:rPr sz="4000" dirty="0"/>
              <a:t>IMPORTANT</a:t>
            </a:r>
            <a:r>
              <a:rPr sz="4000" spc="-50" dirty="0"/>
              <a:t> </a:t>
            </a:r>
            <a:r>
              <a:rPr sz="4000" dirty="0"/>
              <a:t>TERMS</a:t>
            </a:r>
            <a:r>
              <a:rPr sz="4000" spc="-30" dirty="0"/>
              <a:t> </a:t>
            </a:r>
            <a:r>
              <a:rPr sz="4000" dirty="0"/>
              <a:t>&amp;</a:t>
            </a:r>
            <a:r>
              <a:rPr sz="4000" spc="-40" dirty="0"/>
              <a:t> </a:t>
            </a:r>
            <a:r>
              <a:rPr sz="4000" spc="-10" dirty="0"/>
              <a:t>CONCEPTS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1813907"/>
            <a:ext cx="8409940" cy="299529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577850" indent="-287020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Clock:</a:t>
            </a:r>
            <a:r>
              <a:rPr sz="2400" b="1" spc="-6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digital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circuit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design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clock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means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signal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 </a:t>
            </a:r>
            <a:r>
              <a:rPr sz="2400" dirty="0">
                <a:latin typeface="Arial MT"/>
                <a:cs typeface="Arial MT"/>
              </a:rPr>
              <a:t>oscillates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regular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fashion.</a:t>
            </a:r>
            <a:endParaRPr sz="2400" dirty="0">
              <a:latin typeface="Arial MT"/>
              <a:cs typeface="Arial MT"/>
            </a:endParaRPr>
          </a:p>
          <a:p>
            <a:pPr marL="696595" lvl="1" indent="-226695">
              <a:lnSpc>
                <a:spcPct val="100000"/>
              </a:lnSpc>
              <a:spcBef>
                <a:spcPts val="450"/>
              </a:spcBef>
              <a:buChar char="–"/>
              <a:tabLst>
                <a:tab pos="696595" algn="l"/>
              </a:tabLst>
            </a:pP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computers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constructed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clock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running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constant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rate.</a:t>
            </a:r>
            <a:endParaRPr sz="2000" dirty="0">
              <a:latin typeface="Arial MT"/>
              <a:cs typeface="Arial MT"/>
            </a:endParaRPr>
          </a:p>
          <a:p>
            <a:pPr marL="695960" marR="737235" lvl="1" indent="-226695">
              <a:lnSpc>
                <a:spcPts val="2160"/>
              </a:lnSpc>
              <a:spcBef>
                <a:spcPts val="755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Ticks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clock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synchronizing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events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keep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other. 	</a:t>
            </a:r>
            <a:r>
              <a:rPr sz="2000" dirty="0">
                <a:latin typeface="Arial MT"/>
                <a:cs typeface="Arial MT"/>
              </a:rPr>
              <a:t>components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step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other.</a:t>
            </a:r>
            <a:endParaRPr sz="2000" dirty="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2075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Positive</a:t>
            </a:r>
            <a:r>
              <a:rPr sz="2400" b="1" spc="-4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clock</a:t>
            </a:r>
            <a:r>
              <a:rPr sz="2400" b="1" spc="-4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edges:</a:t>
            </a:r>
            <a:r>
              <a:rPr sz="24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Transitions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clock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1</a:t>
            </a:r>
            <a:endParaRPr sz="2400" dirty="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2115"/>
              </a:spcBef>
              <a:buFont typeface="Arial MT"/>
              <a:buChar char="•"/>
              <a:tabLst>
                <a:tab pos="299085" algn="l"/>
                <a:tab pos="3669029" algn="l"/>
              </a:tabLst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Negative</a:t>
            </a:r>
            <a:r>
              <a:rPr sz="2400" b="1" spc="-7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clock</a:t>
            </a:r>
            <a:r>
              <a:rPr sz="2400" b="1" spc="-9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edges: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	</a:t>
            </a:r>
            <a:r>
              <a:rPr sz="2400" dirty="0">
                <a:latin typeface="Arial MT"/>
                <a:cs typeface="Arial MT"/>
              </a:rPr>
              <a:t>Transitions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0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1127" y="4890547"/>
            <a:ext cx="3457955" cy="17343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86940" y="5457983"/>
            <a:ext cx="2475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Positive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edge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Triggering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1393" y="342703"/>
            <a:ext cx="754380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02505" algn="l"/>
              </a:tabLst>
            </a:pPr>
            <a:r>
              <a:rPr sz="4000" dirty="0"/>
              <a:t>RECAP</a:t>
            </a:r>
            <a:r>
              <a:rPr sz="4000" spc="-25" dirty="0"/>
              <a:t> </a:t>
            </a:r>
            <a:r>
              <a:rPr sz="4000" dirty="0"/>
              <a:t>OF</a:t>
            </a:r>
            <a:r>
              <a:rPr sz="4000" spc="-45" dirty="0"/>
              <a:t> </a:t>
            </a:r>
            <a:r>
              <a:rPr sz="4000" dirty="0"/>
              <a:t>IMPORTANT</a:t>
            </a:r>
            <a:r>
              <a:rPr sz="4000" spc="-55" dirty="0"/>
              <a:t> </a:t>
            </a:r>
            <a:r>
              <a:rPr sz="4000" spc="-10" dirty="0"/>
              <a:t>TERMS</a:t>
            </a:r>
            <a:r>
              <a:rPr sz="4000" dirty="0"/>
              <a:t>	&amp;</a:t>
            </a:r>
            <a:r>
              <a:rPr sz="4000" spc="-35" dirty="0"/>
              <a:t> </a:t>
            </a:r>
            <a:r>
              <a:rPr sz="4000" spc="-10" dirty="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0243" y="1794967"/>
            <a:ext cx="8191500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ts val="251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2200" b="1" dirty="0">
                <a:solidFill>
                  <a:srgbClr val="008011"/>
                </a:solidFill>
                <a:latin typeface="Arial"/>
                <a:cs typeface="Arial"/>
              </a:rPr>
              <a:t>Clock</a:t>
            </a:r>
            <a:r>
              <a:rPr sz="2200" b="1" spc="-5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8011"/>
                </a:solidFill>
                <a:latin typeface="Arial"/>
                <a:cs typeface="Arial"/>
              </a:rPr>
              <a:t>Pulse:</a:t>
            </a:r>
            <a:r>
              <a:rPr sz="2200" b="1" spc="-5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region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between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positive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negative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clock</a:t>
            </a:r>
            <a:endParaRPr sz="2200" dirty="0">
              <a:latin typeface="Arial MT"/>
              <a:cs typeface="Arial MT"/>
            </a:endParaRPr>
          </a:p>
          <a:p>
            <a:pPr marL="299085">
              <a:lnSpc>
                <a:spcPts val="2510"/>
              </a:lnSpc>
            </a:pPr>
            <a:r>
              <a:rPr sz="2200" spc="-20" dirty="0">
                <a:latin typeface="Arial MT"/>
                <a:cs typeface="Arial MT"/>
              </a:rPr>
              <a:t>edge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0243" y="2658111"/>
            <a:ext cx="8166100" cy="1167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ts val="251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2200" b="1" dirty="0">
                <a:solidFill>
                  <a:srgbClr val="008011"/>
                </a:solidFill>
                <a:latin typeface="Arial"/>
                <a:cs typeface="Arial"/>
              </a:rPr>
              <a:t>Microoperation:</a:t>
            </a:r>
            <a:r>
              <a:rPr sz="22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An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elementary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operation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performed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one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or</a:t>
            </a:r>
            <a:endParaRPr sz="2200" dirty="0">
              <a:latin typeface="Arial MT"/>
              <a:cs typeface="Arial MT"/>
            </a:endParaRPr>
          </a:p>
          <a:p>
            <a:pPr marL="299085">
              <a:lnSpc>
                <a:spcPts val="2510"/>
              </a:lnSpc>
            </a:pPr>
            <a:r>
              <a:rPr sz="2200" dirty="0">
                <a:latin typeface="Arial MT"/>
                <a:cs typeface="Arial MT"/>
              </a:rPr>
              <a:t>more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registers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b="1" u="sng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during</a:t>
            </a:r>
            <a:r>
              <a:rPr sz="2200" b="1" u="sng" spc="-30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a</a:t>
            </a:r>
            <a:r>
              <a:rPr sz="2200" b="1" u="sng" spc="-65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single</a:t>
            </a:r>
            <a:r>
              <a:rPr sz="2200" b="1" u="sng" spc="-50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clock</a:t>
            </a:r>
            <a:r>
              <a:rPr sz="2200" b="1" u="sng" spc="-45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spc="-10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pulse</a:t>
            </a:r>
            <a:endParaRPr sz="2200" dirty="0">
              <a:latin typeface="Arial"/>
              <a:cs typeface="Arial"/>
            </a:endParaRPr>
          </a:p>
          <a:p>
            <a:pPr marL="2667635">
              <a:lnSpc>
                <a:spcPct val="100000"/>
              </a:lnSpc>
              <a:spcBef>
                <a:spcPts val="1570"/>
              </a:spcBef>
              <a:tabLst>
                <a:tab pos="3229610" algn="l"/>
              </a:tabLst>
            </a:pPr>
            <a:r>
              <a:rPr sz="2000" spc="-20" dirty="0">
                <a:latin typeface="Arial MT"/>
                <a:cs typeface="Arial MT"/>
              </a:rPr>
              <a:t>e.g.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R2</a:t>
            </a:r>
            <a:r>
              <a:rPr sz="20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8011"/>
                </a:solidFill>
                <a:latin typeface="Symbol"/>
                <a:cs typeface="Symbol"/>
              </a:rPr>
              <a:t></a:t>
            </a:r>
            <a:r>
              <a:rPr sz="2000" spc="15" dirty="0">
                <a:solidFill>
                  <a:srgbClr val="008011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8011"/>
                </a:solidFill>
                <a:latin typeface="Arial"/>
                <a:cs typeface="Arial"/>
              </a:rPr>
              <a:t>R1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943" y="4990033"/>
            <a:ext cx="67424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</a:tabLst>
            </a:pPr>
            <a:r>
              <a:rPr sz="2200" dirty="0">
                <a:latin typeface="Arial MT"/>
                <a:cs typeface="Arial MT"/>
              </a:rPr>
              <a:t>Clock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pulse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synchronize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microoperations.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30800" y="3879291"/>
            <a:ext cx="407034" cy="374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70"/>
              </a:lnSpc>
              <a:spcBef>
                <a:spcPts val="100"/>
              </a:spcBef>
            </a:pPr>
            <a:r>
              <a:rPr sz="1200" spc="-10" dirty="0">
                <a:solidFill>
                  <a:srgbClr val="008011"/>
                </a:solidFill>
                <a:latin typeface="Arial MT"/>
                <a:cs typeface="Arial MT"/>
              </a:rPr>
              <a:t>Clock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ts val="1370"/>
              </a:lnSpc>
            </a:pPr>
            <a:r>
              <a:rPr sz="1200" spc="-10" dirty="0">
                <a:solidFill>
                  <a:srgbClr val="008011"/>
                </a:solidFill>
                <a:latin typeface="Arial MT"/>
                <a:cs typeface="Arial MT"/>
              </a:rPr>
              <a:t>pulse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64229" y="3876294"/>
            <a:ext cx="1339850" cy="18161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134620" algn="ctr">
              <a:lnSpc>
                <a:spcPts val="1430"/>
              </a:lnSpc>
            </a:pPr>
            <a:r>
              <a:rPr sz="1400" spc="-25" dirty="0">
                <a:latin typeface="Arial MT"/>
                <a:cs typeface="Arial MT"/>
              </a:rPr>
              <a:t>R2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76421" y="4330446"/>
            <a:ext cx="1339850" cy="1905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123825" algn="ctr">
              <a:lnSpc>
                <a:spcPts val="1500"/>
              </a:lnSpc>
            </a:pPr>
            <a:r>
              <a:rPr sz="1400" spc="-25" dirty="0">
                <a:latin typeface="Arial MT"/>
                <a:cs typeface="Arial MT"/>
              </a:rPr>
              <a:t>R1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86403" y="4051553"/>
            <a:ext cx="76200" cy="274955"/>
          </a:xfrm>
          <a:custGeom>
            <a:avLst/>
            <a:gdLst/>
            <a:ahLst/>
            <a:cxnLst/>
            <a:rect l="l" t="t" r="r" b="b"/>
            <a:pathLst>
              <a:path w="76200" h="274954">
                <a:moveTo>
                  <a:pt x="50869" y="76114"/>
                </a:moveTo>
                <a:lnTo>
                  <a:pt x="25468" y="76284"/>
                </a:lnTo>
                <a:lnTo>
                  <a:pt x="26541" y="274193"/>
                </a:lnTo>
                <a:lnTo>
                  <a:pt x="26543" y="274447"/>
                </a:lnTo>
                <a:lnTo>
                  <a:pt x="51943" y="274193"/>
                </a:lnTo>
                <a:lnTo>
                  <a:pt x="50870" y="76454"/>
                </a:lnTo>
                <a:lnTo>
                  <a:pt x="50869" y="76114"/>
                </a:lnTo>
                <a:close/>
              </a:path>
              <a:path w="76200" h="274954">
                <a:moveTo>
                  <a:pt x="37719" y="0"/>
                </a:moveTo>
                <a:lnTo>
                  <a:pt x="250" y="75946"/>
                </a:lnTo>
                <a:lnTo>
                  <a:pt x="167" y="76114"/>
                </a:lnTo>
                <a:lnTo>
                  <a:pt x="83" y="76284"/>
                </a:lnTo>
                <a:lnTo>
                  <a:pt x="0" y="76454"/>
                </a:lnTo>
                <a:lnTo>
                  <a:pt x="25468" y="76284"/>
                </a:lnTo>
                <a:lnTo>
                  <a:pt x="25400" y="63627"/>
                </a:lnTo>
                <a:lnTo>
                  <a:pt x="50800" y="63373"/>
                </a:lnTo>
                <a:lnTo>
                  <a:pt x="69829" y="63373"/>
                </a:lnTo>
                <a:lnTo>
                  <a:pt x="37719" y="0"/>
                </a:lnTo>
                <a:close/>
              </a:path>
              <a:path w="76200" h="274954">
                <a:moveTo>
                  <a:pt x="50800" y="63373"/>
                </a:moveTo>
                <a:lnTo>
                  <a:pt x="25400" y="63627"/>
                </a:lnTo>
                <a:lnTo>
                  <a:pt x="25468" y="76284"/>
                </a:lnTo>
                <a:lnTo>
                  <a:pt x="50869" y="76114"/>
                </a:lnTo>
                <a:lnTo>
                  <a:pt x="50800" y="63373"/>
                </a:lnTo>
                <a:close/>
              </a:path>
              <a:path w="76200" h="274954">
                <a:moveTo>
                  <a:pt x="69829" y="63373"/>
                </a:moveTo>
                <a:lnTo>
                  <a:pt x="50800" y="63373"/>
                </a:lnTo>
                <a:lnTo>
                  <a:pt x="50869" y="76114"/>
                </a:lnTo>
                <a:lnTo>
                  <a:pt x="76200" y="75946"/>
                </a:lnTo>
                <a:lnTo>
                  <a:pt x="69829" y="63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22546" y="4119498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 MT"/>
                <a:cs typeface="Arial MT"/>
              </a:rPr>
              <a:t>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918458" y="3900170"/>
            <a:ext cx="1087120" cy="588645"/>
            <a:chOff x="3918458" y="3900170"/>
            <a:chExt cx="1087120" cy="588645"/>
          </a:xfrm>
        </p:grpSpPr>
        <p:sp>
          <p:nvSpPr>
            <p:cNvPr id="12" name="object 12"/>
            <p:cNvSpPr/>
            <p:nvPr/>
          </p:nvSpPr>
          <p:spPr>
            <a:xfrm>
              <a:off x="4604766" y="3912870"/>
              <a:ext cx="100330" cy="108585"/>
            </a:xfrm>
            <a:custGeom>
              <a:avLst/>
              <a:gdLst/>
              <a:ahLst/>
              <a:cxnLst/>
              <a:rect l="l" t="t" r="r" b="b"/>
              <a:pathLst>
                <a:path w="100329" h="108585">
                  <a:moveTo>
                    <a:pt x="100330" y="0"/>
                  </a:moveTo>
                  <a:lnTo>
                    <a:pt x="0" y="63372"/>
                  </a:lnTo>
                  <a:lnTo>
                    <a:pt x="100330" y="10858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09922" y="3944874"/>
              <a:ext cx="295910" cy="76200"/>
            </a:xfrm>
            <a:custGeom>
              <a:avLst/>
              <a:gdLst/>
              <a:ahLst/>
              <a:cxnLst/>
              <a:rect l="l" t="t" r="r" b="b"/>
              <a:pathLst>
                <a:path w="29591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50800"/>
                  </a:lnTo>
                  <a:lnTo>
                    <a:pt x="63500" y="50800"/>
                  </a:lnTo>
                  <a:lnTo>
                    <a:pt x="63500" y="25400"/>
                  </a:lnTo>
                  <a:lnTo>
                    <a:pt x="76200" y="25400"/>
                  </a:lnTo>
                  <a:lnTo>
                    <a:pt x="76200" y="0"/>
                  </a:lnTo>
                  <a:close/>
                </a:path>
                <a:path w="295910" h="76200">
                  <a:moveTo>
                    <a:pt x="76200" y="25400"/>
                  </a:moveTo>
                  <a:lnTo>
                    <a:pt x="63500" y="25400"/>
                  </a:lnTo>
                  <a:lnTo>
                    <a:pt x="635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295910" h="76200">
                  <a:moveTo>
                    <a:pt x="295655" y="25400"/>
                  </a:moveTo>
                  <a:lnTo>
                    <a:pt x="76200" y="25400"/>
                  </a:lnTo>
                  <a:lnTo>
                    <a:pt x="76200" y="50800"/>
                  </a:lnTo>
                  <a:lnTo>
                    <a:pt x="295655" y="50800"/>
                  </a:lnTo>
                  <a:lnTo>
                    <a:pt x="295655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10862" y="4367022"/>
              <a:ext cx="100330" cy="108585"/>
            </a:xfrm>
            <a:custGeom>
              <a:avLst/>
              <a:gdLst/>
              <a:ahLst/>
              <a:cxnLst/>
              <a:rect l="l" t="t" r="r" b="b"/>
              <a:pathLst>
                <a:path w="100329" h="108585">
                  <a:moveTo>
                    <a:pt x="100329" y="0"/>
                  </a:moveTo>
                  <a:lnTo>
                    <a:pt x="0" y="63372"/>
                  </a:lnTo>
                  <a:lnTo>
                    <a:pt x="100329" y="108584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04994" y="3963162"/>
              <a:ext cx="1905" cy="460375"/>
            </a:xfrm>
            <a:custGeom>
              <a:avLst/>
              <a:gdLst/>
              <a:ahLst/>
              <a:cxnLst/>
              <a:rect l="l" t="t" r="r" b="b"/>
              <a:pathLst>
                <a:path w="1904" h="460375">
                  <a:moveTo>
                    <a:pt x="1523" y="0"/>
                  </a:moveTo>
                  <a:lnTo>
                    <a:pt x="0" y="460248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4494" y="4385310"/>
              <a:ext cx="190500" cy="762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45050" y="3924554"/>
              <a:ext cx="113791" cy="11379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931158" y="4150614"/>
              <a:ext cx="203200" cy="88900"/>
            </a:xfrm>
            <a:custGeom>
              <a:avLst/>
              <a:gdLst/>
              <a:ahLst/>
              <a:cxnLst/>
              <a:rect l="l" t="t" r="r" b="b"/>
              <a:pathLst>
                <a:path w="203200" h="88900">
                  <a:moveTo>
                    <a:pt x="202691" y="0"/>
                  </a:moveTo>
                  <a:lnTo>
                    <a:pt x="0" y="88392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2593" y="330940"/>
            <a:ext cx="75438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02505" algn="l"/>
              </a:tabLst>
            </a:pPr>
            <a:r>
              <a:rPr sz="3600" dirty="0"/>
              <a:t>RECAP</a:t>
            </a:r>
            <a:r>
              <a:rPr sz="3600" spc="-25" dirty="0"/>
              <a:t> </a:t>
            </a:r>
            <a:r>
              <a:rPr sz="3600" dirty="0"/>
              <a:t>OF</a:t>
            </a:r>
            <a:r>
              <a:rPr sz="3600" spc="-45" dirty="0"/>
              <a:t> </a:t>
            </a:r>
            <a:r>
              <a:rPr sz="3600" dirty="0"/>
              <a:t>IMPORTANT</a:t>
            </a:r>
            <a:r>
              <a:rPr sz="3600" spc="-55" dirty="0"/>
              <a:t> </a:t>
            </a:r>
            <a:r>
              <a:rPr sz="3600" spc="-10" dirty="0"/>
              <a:t>TERMS</a:t>
            </a:r>
            <a:br>
              <a:rPr lang="en-US" sz="3600" spc="-10" dirty="0"/>
            </a:br>
            <a:r>
              <a:rPr sz="3600" dirty="0"/>
              <a:t>&amp;</a:t>
            </a:r>
            <a:r>
              <a:rPr sz="3600" spc="-10" dirty="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7946" y="1874251"/>
            <a:ext cx="8253095" cy="1029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ts val="251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2200" b="1" dirty="0">
                <a:solidFill>
                  <a:srgbClr val="008011"/>
                </a:solidFill>
                <a:latin typeface="Arial"/>
                <a:cs typeface="Arial"/>
              </a:rPr>
              <a:t>Clock</a:t>
            </a:r>
            <a:r>
              <a:rPr sz="2200" b="1" spc="-6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8011"/>
                </a:solidFill>
                <a:latin typeface="Arial"/>
                <a:cs typeface="Arial"/>
              </a:rPr>
              <a:t>cycle:</a:t>
            </a:r>
            <a:r>
              <a:rPr sz="22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time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interval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between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positive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negative</a:t>
            </a:r>
            <a:endParaRPr sz="2200" dirty="0">
              <a:latin typeface="Arial MT"/>
              <a:cs typeface="Arial MT"/>
            </a:endParaRPr>
          </a:p>
          <a:p>
            <a:pPr marL="299085">
              <a:lnSpc>
                <a:spcPts val="2510"/>
              </a:lnSpc>
            </a:pPr>
            <a:r>
              <a:rPr sz="2200" dirty="0">
                <a:latin typeface="Arial MT"/>
                <a:cs typeface="Arial MT"/>
              </a:rPr>
              <a:t>edge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next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positive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negative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edge,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respectively.</a:t>
            </a:r>
            <a:endParaRPr sz="22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490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amount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between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two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pulses.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2943" y="5463032"/>
            <a:ext cx="805434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5080" indent="-287020">
              <a:lnSpc>
                <a:spcPts val="2590"/>
              </a:lnSpc>
              <a:spcBef>
                <a:spcPts val="42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Clock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cycles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also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known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clock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periods,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ticks,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clock </a:t>
            </a:r>
            <a:r>
              <a:rPr sz="2400" dirty="0">
                <a:latin typeface="Arial MT"/>
                <a:cs typeface="Arial MT"/>
              </a:rPr>
              <a:t>ticks,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10" dirty="0">
                <a:latin typeface="Arial MT"/>
                <a:cs typeface="Arial MT"/>
              </a:rPr>
              <a:t> cycles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3023739"/>
            <a:ext cx="3846576" cy="20193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4000" y="3804237"/>
            <a:ext cx="1955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Features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clock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165" y="304800"/>
            <a:ext cx="8789670" cy="5637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6045" algn="ctr">
              <a:lnSpc>
                <a:spcPct val="100000"/>
              </a:lnSpc>
              <a:spcBef>
                <a:spcPts val="100"/>
              </a:spcBef>
              <a:tabLst>
                <a:tab pos="3129915" algn="l"/>
              </a:tabLst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IMPORTANT</a:t>
            </a:r>
            <a:r>
              <a:rPr sz="2400" b="1" spc="-5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TERMS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	&amp;</a:t>
            </a:r>
            <a:r>
              <a:rPr sz="24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CONCEPTS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24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600" b="1" dirty="0">
                <a:latin typeface="Arial"/>
                <a:cs typeface="Arial"/>
              </a:rPr>
              <a:t>Clock</a:t>
            </a:r>
            <a:r>
              <a:rPr sz="2600" b="1" spc="-50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cycle</a:t>
            </a:r>
            <a:r>
              <a:rPr sz="2600" b="1" spc="-10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is</a:t>
            </a:r>
            <a:r>
              <a:rPr sz="2600" b="1" spc="-30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referred</a:t>
            </a:r>
            <a:r>
              <a:rPr sz="2600" b="1" spc="-2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to</a:t>
            </a:r>
            <a:r>
              <a:rPr sz="2600" b="1" spc="-30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in</a:t>
            </a:r>
            <a:r>
              <a:rPr sz="2600" b="1" spc="-3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2</a:t>
            </a:r>
            <a:r>
              <a:rPr sz="2600" b="1" spc="-30" dirty="0">
                <a:latin typeface="Arial"/>
                <a:cs typeface="Arial"/>
              </a:rPr>
              <a:t> </a:t>
            </a:r>
            <a:r>
              <a:rPr sz="2600" b="1" spc="-20" dirty="0">
                <a:latin typeface="Arial"/>
                <a:cs typeface="Arial"/>
              </a:rPr>
              <a:t>ways</a:t>
            </a:r>
            <a:endParaRPr sz="2600" dirty="0">
              <a:latin typeface="Arial"/>
              <a:cs typeface="Arial"/>
            </a:endParaRPr>
          </a:p>
          <a:p>
            <a:pPr marL="697230" lvl="1" indent="-227329">
              <a:lnSpc>
                <a:spcPct val="100000"/>
              </a:lnSpc>
              <a:spcBef>
                <a:spcPts val="320"/>
              </a:spcBef>
              <a:buChar char="–"/>
              <a:tabLst>
                <a:tab pos="697230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terms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time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duration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e.g.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(called</a:t>
            </a:r>
            <a:r>
              <a:rPr sz="2400" spc="-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 MT"/>
                <a:cs typeface="Arial MT"/>
              </a:rPr>
              <a:t>clock</a:t>
            </a:r>
            <a:r>
              <a:rPr sz="2400" u="sng" spc="-2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 MT"/>
                <a:cs typeface="Arial MT"/>
              </a:rPr>
              <a:t>cycle</a:t>
            </a:r>
            <a:r>
              <a:rPr sz="2400" u="sng" spc="-3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 MT"/>
                <a:cs typeface="Arial MT"/>
              </a:rPr>
              <a:t>time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697230" lvl="1" indent="-227329">
              <a:lnSpc>
                <a:spcPct val="100000"/>
              </a:lnSpc>
              <a:spcBef>
                <a:spcPts val="915"/>
              </a:spcBef>
              <a:buChar char="–"/>
              <a:tabLst>
                <a:tab pos="697230" algn="l"/>
                <a:tab pos="5403850" algn="l"/>
              </a:tabLst>
            </a:pPr>
            <a:r>
              <a:rPr sz="2400" dirty="0">
                <a:latin typeface="Arial MT"/>
                <a:cs typeface="Arial MT"/>
              </a:rPr>
              <a:t>or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terms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rate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e.g.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Hz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solidFill>
                  <a:srgbClr val="6F2F9F"/>
                </a:solidFill>
                <a:latin typeface="Arial MT"/>
                <a:cs typeface="Arial MT"/>
              </a:rPr>
              <a:t>(called</a:t>
            </a:r>
            <a:r>
              <a:rPr sz="2400" spc="-65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2400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Arial MT"/>
                <a:cs typeface="Arial MT"/>
              </a:rPr>
              <a:t>clock</a:t>
            </a:r>
            <a:r>
              <a:rPr sz="2400" u="sng" spc="-70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spc="-10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Arial MT"/>
                <a:cs typeface="Arial MT"/>
              </a:rPr>
              <a:t>rate</a:t>
            </a:r>
            <a:r>
              <a:rPr sz="2400" spc="-10" dirty="0">
                <a:solidFill>
                  <a:srgbClr val="6F2F9F"/>
                </a:solidFill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00" dirty="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»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clock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cycles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occur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second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clock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rate</a:t>
            </a:r>
            <a:endParaRPr sz="2000" dirty="0">
              <a:latin typeface="Arial MT"/>
              <a:cs typeface="Arial MT"/>
            </a:endParaRPr>
          </a:p>
          <a:p>
            <a:pPr marL="115506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clock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frequency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01ABEA"/>
                </a:solidFill>
                <a:latin typeface="Arial"/>
                <a:cs typeface="Arial"/>
              </a:rPr>
              <a:t>(one</a:t>
            </a:r>
            <a:r>
              <a:rPr sz="2000" b="1" spc="-30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1ABEA"/>
                </a:solidFill>
                <a:latin typeface="Arial"/>
                <a:cs typeface="Arial"/>
              </a:rPr>
              <a:t>cycle</a:t>
            </a:r>
            <a:r>
              <a:rPr sz="2000" b="1" spc="-10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1ABEA"/>
                </a:solidFill>
                <a:latin typeface="Arial"/>
                <a:cs typeface="Arial"/>
              </a:rPr>
              <a:t>per</a:t>
            </a:r>
            <a:r>
              <a:rPr sz="2000" b="1" spc="-15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1ABEA"/>
                </a:solidFill>
                <a:latin typeface="Arial"/>
                <a:cs typeface="Arial"/>
              </a:rPr>
              <a:t>second</a:t>
            </a:r>
            <a:r>
              <a:rPr sz="2000" b="1" spc="-35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1ABEA"/>
                </a:solidFill>
                <a:latin typeface="Arial"/>
                <a:cs typeface="Arial"/>
              </a:rPr>
              <a:t>=</a:t>
            </a:r>
            <a:r>
              <a:rPr sz="2000" b="1" spc="-40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1ABEA"/>
                </a:solidFill>
                <a:latin typeface="Arial"/>
                <a:cs typeface="Arial"/>
              </a:rPr>
              <a:t>1</a:t>
            </a:r>
            <a:r>
              <a:rPr sz="2000" b="1" spc="-15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1ABEA"/>
                </a:solidFill>
                <a:latin typeface="Arial"/>
                <a:cs typeface="Arial"/>
              </a:rPr>
              <a:t>Hz)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»</a:t>
            </a:r>
            <a:r>
              <a:rPr sz="2000" spc="11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1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Hz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=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cycle/second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or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1ABEA"/>
                </a:solidFill>
                <a:latin typeface="Arial"/>
                <a:cs typeface="Arial"/>
              </a:rPr>
              <a:t>(1</a:t>
            </a:r>
            <a:r>
              <a:rPr sz="2000" b="1" spc="-25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1ABEA"/>
                </a:solidFill>
                <a:latin typeface="Arial"/>
                <a:cs typeface="Arial"/>
              </a:rPr>
              <a:t>Hz</a:t>
            </a:r>
            <a:r>
              <a:rPr sz="2000" b="1" spc="-20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1ABEA"/>
                </a:solidFill>
                <a:latin typeface="Arial"/>
                <a:cs typeface="Arial"/>
              </a:rPr>
              <a:t>=</a:t>
            </a:r>
            <a:r>
              <a:rPr sz="2000" b="1" spc="-35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1ABEA"/>
                </a:solidFill>
                <a:latin typeface="Arial"/>
                <a:cs typeface="Arial"/>
              </a:rPr>
              <a:t>1/second)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2000" dirty="0">
              <a:latin typeface="Arial"/>
              <a:cs typeface="Arial"/>
            </a:endParaRPr>
          </a:p>
          <a:p>
            <a:pPr marL="1155065" marR="248285" indent="-2286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»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clock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rate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measured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millions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cycles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second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(MHz)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billions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cycles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second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(GHz)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2000" dirty="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2400" spc="-20" dirty="0">
                <a:solidFill>
                  <a:srgbClr val="C00000"/>
                </a:solidFill>
                <a:latin typeface="Arial MT"/>
                <a:cs typeface="Arial MT"/>
              </a:rPr>
              <a:t>»</a:t>
            </a:r>
            <a:r>
              <a:rPr sz="2400" spc="-204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Clock</a:t>
            </a:r>
            <a:r>
              <a:rPr sz="2400" b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cycle</a:t>
            </a:r>
            <a:r>
              <a:rPr sz="24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time</a:t>
            </a:r>
            <a:r>
              <a:rPr sz="24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/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clock</a:t>
            </a:r>
            <a:r>
              <a:rPr sz="2400" b="1" spc="-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Arial"/>
                <a:cs typeface="Arial"/>
              </a:rPr>
              <a:t>rate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2959" y="949390"/>
            <a:ext cx="740664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42615" algn="l"/>
              </a:tabLst>
            </a:pPr>
            <a:r>
              <a:rPr sz="4000" dirty="0"/>
              <a:t>IMPORTANT</a:t>
            </a:r>
            <a:r>
              <a:rPr sz="4000" spc="-55" dirty="0"/>
              <a:t> </a:t>
            </a:r>
            <a:r>
              <a:rPr sz="4000" spc="-10" dirty="0"/>
              <a:t>TERMS</a:t>
            </a:r>
            <a:r>
              <a:rPr lang="en-US" sz="4000" spc="-10" dirty="0"/>
              <a:t> </a:t>
            </a:r>
            <a:r>
              <a:rPr sz="4000" dirty="0"/>
              <a:t>&amp;</a:t>
            </a:r>
            <a:r>
              <a:rPr sz="4000" spc="-20" dirty="0"/>
              <a:t> </a:t>
            </a:r>
            <a:r>
              <a:rPr sz="4000" spc="-10" dirty="0"/>
              <a:t>CONCEPTS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C9C5D19-0BBD-837F-E714-D8A262507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747" y="1905000"/>
            <a:ext cx="6897063" cy="43249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-388367" y="119421"/>
            <a:ext cx="75438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0125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FF0000"/>
                </a:solidFill>
              </a:rPr>
              <a:t>CPU</a:t>
            </a:r>
            <a:r>
              <a:rPr sz="4000" b="1" spc="-105" dirty="0">
                <a:solidFill>
                  <a:srgbClr val="FF0000"/>
                </a:solidFill>
              </a:rPr>
              <a:t> </a:t>
            </a:r>
            <a:r>
              <a:rPr sz="4000" b="1" dirty="0">
                <a:solidFill>
                  <a:srgbClr val="FF0000"/>
                </a:solidFill>
              </a:rPr>
              <a:t>PERFORMANCE</a:t>
            </a:r>
            <a:r>
              <a:rPr sz="4000" b="1" spc="-90" dirty="0">
                <a:solidFill>
                  <a:srgbClr val="FF0000"/>
                </a:solidFill>
              </a:rPr>
              <a:t> </a:t>
            </a:r>
            <a:r>
              <a:rPr sz="4000" b="1" spc="-10" dirty="0">
                <a:solidFill>
                  <a:srgbClr val="FF0000"/>
                </a:solidFill>
              </a:rPr>
              <a:t>EQUATION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943" y="868718"/>
            <a:ext cx="8396605" cy="10287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75"/>
              </a:spcBef>
              <a:buChar char="•"/>
              <a:tabLst>
                <a:tab pos="299085" algn="l"/>
              </a:tabLst>
            </a:pPr>
            <a:r>
              <a:rPr sz="2300" dirty="0">
                <a:latin typeface="Arial MT"/>
                <a:cs typeface="Arial MT"/>
              </a:rPr>
              <a:t>CPU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time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=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u="dash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CPU</a:t>
            </a:r>
            <a:r>
              <a:rPr sz="2300" u="dash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300" u="dash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clock</a:t>
            </a:r>
            <a:r>
              <a:rPr sz="2300" u="dash" spc="-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300" u="dash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cycles</a:t>
            </a:r>
            <a:r>
              <a:rPr sz="2300" u="dash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300" u="dash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for</a:t>
            </a:r>
            <a:r>
              <a:rPr sz="2300" u="dash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300" u="dash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</a:t>
            </a:r>
            <a:r>
              <a:rPr sz="2300" u="dash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300" u="dash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program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x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Clock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cycle</a:t>
            </a:r>
            <a:r>
              <a:rPr sz="2300" spc="-20" dirty="0">
                <a:latin typeface="Arial MT"/>
                <a:cs typeface="Arial MT"/>
              </a:rPr>
              <a:t> time</a:t>
            </a:r>
            <a:endParaRPr sz="2300" dirty="0">
              <a:latin typeface="Arial MT"/>
              <a:cs typeface="Arial MT"/>
            </a:endParaRPr>
          </a:p>
          <a:p>
            <a:pPr marL="469900">
              <a:lnSpc>
                <a:spcPts val="2055"/>
              </a:lnSpc>
              <a:spcBef>
                <a:spcPts val="455"/>
              </a:spcBef>
            </a:pPr>
            <a:r>
              <a:rPr sz="1800" dirty="0">
                <a:latin typeface="Arial MT"/>
                <a:cs typeface="Arial MT"/>
              </a:rPr>
              <a:t>–</a:t>
            </a:r>
            <a:r>
              <a:rPr sz="1800" spc="2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would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Basic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having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a</a:t>
            </a:r>
            <a:endParaRPr sz="1800" dirty="0">
              <a:latin typeface="Arial MT"/>
              <a:cs typeface="Arial MT"/>
            </a:endParaRPr>
          </a:p>
          <a:p>
            <a:pPr marL="697865">
              <a:lnSpc>
                <a:spcPts val="2055"/>
              </a:lnSpc>
            </a:pPr>
            <a:r>
              <a:rPr sz="1800" dirty="0">
                <a:latin typeface="Arial MT"/>
                <a:cs typeface="Arial MT"/>
              </a:rPr>
              <a:t>single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clock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3ns?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16783" y="6283452"/>
            <a:ext cx="2978150" cy="22860"/>
            <a:chOff x="2716783" y="6283452"/>
            <a:chExt cx="2978150" cy="22860"/>
          </a:xfrm>
        </p:grpSpPr>
        <p:sp>
          <p:nvSpPr>
            <p:cNvPr id="5" name="object 5"/>
            <p:cNvSpPr/>
            <p:nvPr/>
          </p:nvSpPr>
          <p:spPr>
            <a:xfrm>
              <a:off x="2716784" y="6283452"/>
              <a:ext cx="2750820" cy="22860"/>
            </a:xfrm>
            <a:custGeom>
              <a:avLst/>
              <a:gdLst/>
              <a:ahLst/>
              <a:cxnLst/>
              <a:rect l="l" t="t" r="r" b="b"/>
              <a:pathLst>
                <a:path w="2750820" h="22860">
                  <a:moveTo>
                    <a:pt x="10668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106680" y="22860"/>
                  </a:lnTo>
                  <a:lnTo>
                    <a:pt x="106680" y="0"/>
                  </a:lnTo>
                  <a:close/>
                </a:path>
                <a:path w="2750820" h="22860">
                  <a:moveTo>
                    <a:pt x="2750820" y="0"/>
                  </a:moveTo>
                  <a:lnTo>
                    <a:pt x="2682240" y="0"/>
                  </a:lnTo>
                  <a:lnTo>
                    <a:pt x="2682240" y="22860"/>
                  </a:lnTo>
                  <a:lnTo>
                    <a:pt x="2750820" y="22860"/>
                  </a:lnTo>
                  <a:lnTo>
                    <a:pt x="2750820" y="0"/>
                  </a:lnTo>
                  <a:close/>
                </a:path>
              </a:pathLst>
            </a:custGeom>
            <a:solidFill>
              <a:srgbClr val="FF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35244" y="6283452"/>
              <a:ext cx="59690" cy="22860"/>
            </a:xfrm>
            <a:custGeom>
              <a:avLst/>
              <a:gdLst/>
              <a:ahLst/>
              <a:cxnLst/>
              <a:rect l="l" t="t" r="r" b="b"/>
              <a:pathLst>
                <a:path w="59689" h="22860">
                  <a:moveTo>
                    <a:pt x="59435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59435" y="22860"/>
                  </a:lnTo>
                  <a:lnTo>
                    <a:pt x="594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2943" y="3802101"/>
            <a:ext cx="8407400" cy="2540635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697865" indent="-227965">
              <a:lnSpc>
                <a:spcPct val="100000"/>
              </a:lnSpc>
              <a:spcBef>
                <a:spcPts val="309"/>
              </a:spcBef>
              <a:buChar char="–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Assuming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clock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3ns,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is:</a:t>
            </a:r>
            <a:endParaRPr sz="1800" dirty="0">
              <a:latin typeface="Arial MT"/>
              <a:cs typeface="Arial MT"/>
            </a:endParaRPr>
          </a:p>
          <a:p>
            <a:pPr marL="697865">
              <a:lnSpc>
                <a:spcPct val="100000"/>
              </a:lnSpc>
              <a:spcBef>
                <a:spcPts val="204"/>
              </a:spcBef>
              <a:tabLst>
                <a:tab pos="4653280" algn="l"/>
              </a:tabLst>
            </a:pP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0CC00"/>
                </a:solidFill>
                <a:latin typeface="Arial"/>
                <a:cs typeface="Arial"/>
              </a:rPr>
              <a:t>CPI</a:t>
            </a:r>
            <a:r>
              <a:rPr sz="1800" b="1" spc="130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9900"/>
                </a:solidFill>
                <a:latin typeface="Arial"/>
                <a:cs typeface="Arial"/>
              </a:rPr>
              <a:t>clock</a:t>
            </a:r>
            <a:r>
              <a:rPr sz="1800" b="1" spc="-20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9900"/>
                </a:solidFill>
                <a:latin typeface="Arial"/>
                <a:cs typeface="Arial"/>
              </a:rPr>
              <a:t>cycle time</a:t>
            </a:r>
            <a:r>
              <a:rPr sz="1800" b="1" spc="-10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=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dirty="0">
                <a:solidFill>
                  <a:srgbClr val="00CC00"/>
                </a:solidFill>
                <a:latin typeface="Arial"/>
                <a:cs typeface="Arial"/>
              </a:rPr>
              <a:t>6</a:t>
            </a:r>
            <a:r>
              <a:rPr sz="1800" b="1" spc="-20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9900"/>
                </a:solidFill>
                <a:latin typeface="Arial"/>
                <a:cs typeface="Arial"/>
              </a:rPr>
              <a:t>3ns</a:t>
            </a:r>
            <a:r>
              <a:rPr sz="1800" b="1" spc="-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18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ns</a:t>
            </a:r>
            <a:endParaRPr sz="1800" dirty="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509"/>
              </a:spcBef>
            </a:pPr>
            <a:r>
              <a:rPr sz="1600" dirty="0">
                <a:solidFill>
                  <a:srgbClr val="00CC00"/>
                </a:solidFill>
                <a:latin typeface="Arial MT"/>
                <a:cs typeface="Arial MT"/>
              </a:rPr>
              <a:t>»</a:t>
            </a:r>
            <a:r>
              <a:rPr sz="1600" spc="425" dirty="0">
                <a:solidFill>
                  <a:srgbClr val="00CC00"/>
                </a:solidFill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00CC00"/>
                </a:solidFill>
                <a:latin typeface="Arial"/>
                <a:cs typeface="Arial"/>
              </a:rPr>
              <a:t>CPI</a:t>
            </a:r>
            <a:r>
              <a:rPr sz="1600" b="1" spc="-25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=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Clock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cycles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per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instruction</a:t>
            </a:r>
            <a:endParaRPr sz="1600" dirty="0">
              <a:latin typeface="Arial MT"/>
              <a:cs typeface="Arial MT"/>
            </a:endParaRPr>
          </a:p>
          <a:p>
            <a:pPr marL="697865" indent="-227965">
              <a:lnSpc>
                <a:spcPct val="100000"/>
              </a:lnSpc>
              <a:spcBef>
                <a:spcPts val="425"/>
              </a:spcBef>
              <a:buChar char="–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having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instructions,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be:</a:t>
            </a:r>
            <a:endParaRPr sz="1800" dirty="0">
              <a:latin typeface="Arial MT"/>
              <a:cs typeface="Arial MT"/>
            </a:endParaRPr>
          </a:p>
          <a:p>
            <a:pPr marL="659765">
              <a:lnSpc>
                <a:spcPct val="100000"/>
              </a:lnSpc>
              <a:spcBef>
                <a:spcPts val="434"/>
              </a:spcBef>
              <a:tabLst>
                <a:tab pos="1961514" algn="l"/>
              </a:tabLst>
            </a:pP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=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b="1" dirty="0">
                <a:solidFill>
                  <a:srgbClr val="FF0066"/>
                </a:solidFill>
                <a:latin typeface="Arial"/>
                <a:cs typeface="Arial"/>
              </a:rPr>
              <a:t>2</a:t>
            </a:r>
            <a:r>
              <a:rPr sz="1800" b="1" spc="-20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0CC00"/>
                </a:solidFill>
                <a:latin typeface="Arial"/>
                <a:cs typeface="Arial"/>
              </a:rPr>
              <a:t>6</a:t>
            </a:r>
            <a:r>
              <a:rPr sz="1800" b="1" spc="-10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x </a:t>
            </a:r>
            <a:r>
              <a:rPr sz="1800" b="1" dirty="0">
                <a:solidFill>
                  <a:srgbClr val="FF9900"/>
                </a:solidFill>
                <a:latin typeface="Arial"/>
                <a:cs typeface="Arial"/>
              </a:rPr>
              <a:t>3ns</a:t>
            </a:r>
            <a:r>
              <a:rPr sz="1800" b="1" spc="-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36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ns</a:t>
            </a:r>
            <a:endParaRPr sz="1800" dirty="0">
              <a:latin typeface="Arial MT"/>
              <a:cs typeface="Arial MT"/>
            </a:endParaRPr>
          </a:p>
          <a:p>
            <a:pPr marL="697865" indent="-227965">
              <a:lnSpc>
                <a:spcPct val="100000"/>
              </a:lnSpc>
              <a:spcBef>
                <a:spcPts val="430"/>
              </a:spcBef>
              <a:buChar char="–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So,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have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following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generic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formula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program: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00" dirty="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2300" dirty="0">
                <a:latin typeface="Arial MT"/>
                <a:cs typeface="Arial MT"/>
              </a:rPr>
              <a:t>CPU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time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=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b="1" u="sng" spc="-90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nu</a:t>
            </a:r>
            <a:r>
              <a:rPr sz="2300" b="1" u="sng" spc="-470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 </a:t>
            </a:r>
            <a:r>
              <a:rPr sz="2300" b="1" u="sng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mber</a:t>
            </a:r>
            <a:r>
              <a:rPr sz="2300" b="1" spc="-35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2300" b="1" u="sng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of</a:t>
            </a:r>
            <a:r>
              <a:rPr sz="2300" b="1" spc="-30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2300" b="1" u="sng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i</a:t>
            </a:r>
            <a:r>
              <a:rPr sz="2300" b="1" spc="-710" dirty="0">
                <a:solidFill>
                  <a:srgbClr val="FF0066"/>
                </a:solidFill>
                <a:latin typeface="Arial"/>
                <a:cs typeface="Arial"/>
              </a:rPr>
              <a:t>n</a:t>
            </a:r>
            <a:r>
              <a:rPr sz="2300" b="1" u="sng" spc="60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 </a:t>
            </a:r>
            <a:r>
              <a:rPr sz="2300" b="1" u="sng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s</a:t>
            </a:r>
            <a:r>
              <a:rPr sz="2300" b="1" dirty="0">
                <a:solidFill>
                  <a:srgbClr val="FF0066"/>
                </a:solidFill>
                <a:latin typeface="Arial"/>
                <a:cs typeface="Arial"/>
              </a:rPr>
              <a:t>t</a:t>
            </a:r>
            <a:r>
              <a:rPr sz="2300" b="1" u="sng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ruct</a:t>
            </a:r>
            <a:r>
              <a:rPr sz="2300" b="1" dirty="0">
                <a:solidFill>
                  <a:srgbClr val="FF0066"/>
                </a:solidFill>
                <a:latin typeface="Arial"/>
                <a:cs typeface="Arial"/>
              </a:rPr>
              <a:t>i</a:t>
            </a:r>
            <a:r>
              <a:rPr sz="2300" b="1" u="sng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ons</a:t>
            </a:r>
            <a:r>
              <a:rPr sz="2300" b="1" spc="-60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23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x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b="1" u="sng" spc="-5" dirty="0">
                <a:solidFill>
                  <a:srgbClr val="00CC00"/>
                </a:solidFill>
                <a:uFill>
                  <a:solidFill>
                    <a:srgbClr val="00CC00"/>
                  </a:solidFill>
                </a:uFill>
                <a:latin typeface="Arial"/>
                <a:cs typeface="Arial"/>
              </a:rPr>
              <a:t>C</a:t>
            </a:r>
            <a:r>
              <a:rPr sz="2300" b="1" u="sng" spc="-585" dirty="0">
                <a:solidFill>
                  <a:srgbClr val="00CC00"/>
                </a:solidFill>
                <a:uFill>
                  <a:solidFill>
                    <a:srgbClr val="00CC00"/>
                  </a:solidFill>
                </a:uFill>
                <a:latin typeface="Arial"/>
                <a:cs typeface="Arial"/>
              </a:rPr>
              <a:t>P</a:t>
            </a:r>
            <a:r>
              <a:rPr sz="2300" u="sng" spc="-75" dirty="0">
                <a:uFill>
                  <a:solidFill>
                    <a:srgbClr val="00CC00"/>
                  </a:solidFill>
                </a:uFill>
                <a:latin typeface="Arial MT"/>
                <a:cs typeface="Arial MT"/>
              </a:rPr>
              <a:t> </a:t>
            </a:r>
            <a:r>
              <a:rPr sz="2300" b="1" dirty="0">
                <a:solidFill>
                  <a:srgbClr val="00CC00"/>
                </a:solidFill>
                <a:latin typeface="Arial"/>
                <a:cs typeface="Arial"/>
              </a:rPr>
              <a:t>I</a:t>
            </a:r>
            <a:r>
              <a:rPr sz="23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x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b="1" dirty="0">
                <a:solidFill>
                  <a:srgbClr val="FF9900"/>
                </a:solidFill>
                <a:latin typeface="Arial"/>
                <a:cs typeface="Arial"/>
              </a:rPr>
              <a:t>clock</a:t>
            </a:r>
            <a:r>
              <a:rPr sz="2300" b="1" spc="-50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FF9900"/>
                </a:solidFill>
                <a:latin typeface="Arial"/>
                <a:cs typeface="Arial"/>
              </a:rPr>
              <a:t>cycle</a:t>
            </a:r>
            <a:r>
              <a:rPr sz="2300" b="1" spc="-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2300" b="1" spc="-20" dirty="0">
                <a:solidFill>
                  <a:srgbClr val="FF9900"/>
                </a:solidFill>
                <a:latin typeface="Arial"/>
                <a:cs typeface="Arial"/>
              </a:rPr>
              <a:t>time</a:t>
            </a:r>
            <a:endParaRPr sz="23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18388" y="2019554"/>
            <a:ext cx="8023225" cy="579755"/>
            <a:chOff x="818388" y="2019554"/>
            <a:chExt cx="8023225" cy="57975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388" y="2025396"/>
              <a:ext cx="617982" cy="55092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30274" y="2032254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400">
              <a:solidFill>
                <a:srgbClr val="0080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45208" y="2028431"/>
              <a:ext cx="617982" cy="55093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652522" y="2055114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72027" y="2040623"/>
              <a:ext cx="619518" cy="55246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894582" y="2049018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400">
              <a:solidFill>
                <a:srgbClr val="0000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2564" y="2043684"/>
              <a:ext cx="617982" cy="54635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116829" y="2061210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400">
              <a:solidFill>
                <a:srgbClr val="E6A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36335" y="2046706"/>
              <a:ext cx="618007" cy="53571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352794" y="2047494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4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86016" y="2042147"/>
              <a:ext cx="617981" cy="55246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591806" y="2052066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400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23504" y="2048256"/>
              <a:ext cx="618007" cy="550926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82904" y="2668600"/>
            <a:ext cx="9359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1ABEA"/>
                </a:solidFill>
                <a:latin typeface="Arial MT"/>
                <a:cs typeface="Arial MT"/>
              </a:rPr>
              <a:t>T0:</a:t>
            </a:r>
            <a:r>
              <a:rPr sz="1200" spc="-85" dirty="0">
                <a:solidFill>
                  <a:srgbClr val="01ABE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01ABEA"/>
                </a:solidFill>
                <a:latin typeface="Arial MT"/>
                <a:cs typeface="Arial MT"/>
              </a:rPr>
              <a:t>AR</a:t>
            </a:r>
            <a:r>
              <a:rPr sz="1200" spc="-5" dirty="0">
                <a:solidFill>
                  <a:srgbClr val="01ABE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01ABEA"/>
                </a:solidFill>
                <a:latin typeface="Symbol"/>
                <a:cs typeface="Symbol"/>
              </a:rPr>
              <a:t></a:t>
            </a:r>
            <a:r>
              <a:rPr sz="1200" spc="-5" dirty="0">
                <a:solidFill>
                  <a:srgbClr val="01ABEA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01ABEA"/>
                </a:solidFill>
                <a:latin typeface="Arial MT"/>
                <a:cs typeface="Arial MT"/>
              </a:rPr>
              <a:t>PC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72792" y="2636646"/>
            <a:ext cx="114427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410"/>
              </a:lnSpc>
              <a:spcBef>
                <a:spcPts val="100"/>
              </a:spcBef>
            </a:pPr>
            <a:r>
              <a:rPr sz="1200" dirty="0">
                <a:solidFill>
                  <a:srgbClr val="008011"/>
                </a:solidFill>
                <a:latin typeface="Arial MT"/>
                <a:cs typeface="Arial MT"/>
              </a:rPr>
              <a:t>T1:</a:t>
            </a:r>
            <a:r>
              <a:rPr sz="1200" spc="-2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008011"/>
                </a:solidFill>
                <a:latin typeface="Arial MT"/>
                <a:cs typeface="Arial MT"/>
              </a:rPr>
              <a:t>IR </a:t>
            </a:r>
            <a:r>
              <a:rPr sz="1200" dirty="0">
                <a:solidFill>
                  <a:srgbClr val="008011"/>
                </a:solidFill>
                <a:latin typeface="Symbol"/>
                <a:cs typeface="Symbol"/>
              </a:rPr>
              <a:t></a:t>
            </a:r>
            <a:r>
              <a:rPr sz="1200" spc="30" dirty="0">
                <a:solidFill>
                  <a:srgbClr val="008011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08011"/>
                </a:solidFill>
                <a:latin typeface="Arial MT"/>
                <a:cs typeface="Arial MT"/>
              </a:rPr>
              <a:t>M[AR],</a:t>
            </a:r>
            <a:endParaRPr sz="1200">
              <a:latin typeface="Arial MT"/>
              <a:cs typeface="Arial MT"/>
            </a:endParaRPr>
          </a:p>
          <a:p>
            <a:pPr marR="33655" algn="r">
              <a:lnSpc>
                <a:spcPts val="1410"/>
              </a:lnSpc>
            </a:pPr>
            <a:r>
              <a:rPr sz="1200" dirty="0">
                <a:solidFill>
                  <a:srgbClr val="008011"/>
                </a:solidFill>
                <a:latin typeface="Arial MT"/>
                <a:cs typeface="Arial MT"/>
              </a:rPr>
              <a:t>PC</a:t>
            </a:r>
            <a:r>
              <a:rPr sz="12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008011"/>
                </a:solidFill>
                <a:latin typeface="Symbol"/>
                <a:cs typeface="Symbol"/>
              </a:rPr>
              <a:t></a:t>
            </a:r>
            <a:r>
              <a:rPr sz="1200" spc="35" dirty="0">
                <a:solidFill>
                  <a:srgbClr val="008011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008011"/>
                </a:solidFill>
                <a:latin typeface="Arial MT"/>
                <a:cs typeface="Arial MT"/>
              </a:rPr>
              <a:t>PC+1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25267" y="2627452"/>
            <a:ext cx="1228090" cy="73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15"/>
              </a:lnSpc>
              <a:spcBef>
                <a:spcPts val="100"/>
              </a:spcBef>
            </a:pP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T2:</a:t>
            </a:r>
            <a:r>
              <a:rPr sz="1200" spc="-1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Arial MT"/>
                <a:cs typeface="Arial MT"/>
              </a:rPr>
              <a:t>Decode</a:t>
            </a:r>
            <a:endParaRPr sz="1200">
              <a:latin typeface="Arial MT"/>
              <a:cs typeface="Arial MT"/>
            </a:endParaRPr>
          </a:p>
          <a:p>
            <a:pPr marL="269875">
              <a:lnSpc>
                <a:spcPts val="1390"/>
              </a:lnSpc>
            </a:pPr>
            <a:r>
              <a:rPr sz="1200" spc="-10" dirty="0">
                <a:solidFill>
                  <a:srgbClr val="C00000"/>
                </a:solidFill>
                <a:latin typeface="Arial MT"/>
                <a:cs typeface="Arial MT"/>
              </a:rPr>
              <a:t>IR(12-</a:t>
            </a:r>
            <a:r>
              <a:rPr sz="1200" spc="-20" dirty="0">
                <a:solidFill>
                  <a:srgbClr val="C00000"/>
                </a:solidFill>
                <a:latin typeface="Arial MT"/>
                <a:cs typeface="Arial MT"/>
              </a:rPr>
              <a:t>14),</a:t>
            </a:r>
            <a:endParaRPr sz="1200">
              <a:latin typeface="Arial MT"/>
              <a:cs typeface="Arial MT"/>
            </a:endParaRPr>
          </a:p>
          <a:p>
            <a:pPr marL="269875" marR="5080" indent="-9525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solidFill>
                  <a:srgbClr val="C00000"/>
                </a:solidFill>
                <a:latin typeface="Arial MT"/>
                <a:cs typeface="Arial MT"/>
              </a:rPr>
              <a:t>AR</a:t>
            </a:r>
            <a:r>
              <a:rPr sz="1200" spc="-10" dirty="0">
                <a:solidFill>
                  <a:srgbClr val="C00000"/>
                </a:solidFill>
                <a:latin typeface="Symbol"/>
                <a:cs typeface="Symbol"/>
              </a:rPr>
              <a:t></a:t>
            </a:r>
            <a:r>
              <a:rPr sz="1200" spc="-10" dirty="0">
                <a:solidFill>
                  <a:srgbClr val="C00000"/>
                </a:solidFill>
                <a:latin typeface="Arial MT"/>
                <a:cs typeface="Arial MT"/>
              </a:rPr>
              <a:t>IR(0-</a:t>
            </a:r>
            <a:r>
              <a:rPr sz="1200" spc="-25" dirty="0">
                <a:solidFill>
                  <a:srgbClr val="C00000"/>
                </a:solidFill>
                <a:latin typeface="Arial MT"/>
                <a:cs typeface="Arial MT"/>
              </a:rPr>
              <a:t>11), </a:t>
            </a: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I</a:t>
            </a:r>
            <a:r>
              <a:rPr sz="1200" spc="-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00000"/>
                </a:solidFill>
                <a:latin typeface="Symbol"/>
                <a:cs typeface="Symbol"/>
              </a:rPr>
              <a:t></a:t>
            </a:r>
            <a:r>
              <a:rPr sz="1200" spc="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Arial MT"/>
                <a:cs typeface="Arial MT"/>
              </a:rPr>
              <a:t>IR(15)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02277" y="2839339"/>
            <a:ext cx="771525" cy="70231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260"/>
              </a:spcBef>
            </a:pPr>
            <a:r>
              <a:rPr sz="1200" spc="-10" dirty="0">
                <a:solidFill>
                  <a:srgbClr val="0000D3"/>
                </a:solidFill>
                <a:latin typeface="Arial MT"/>
                <a:cs typeface="Arial MT"/>
              </a:rPr>
              <a:t>because direct addressing </a:t>
            </a:r>
            <a:r>
              <a:rPr sz="1200" dirty="0">
                <a:solidFill>
                  <a:srgbClr val="0000D3"/>
                </a:solidFill>
                <a:latin typeface="Arial MT"/>
                <a:cs typeface="Arial MT"/>
              </a:rPr>
              <a:t>is</a:t>
            </a:r>
            <a:r>
              <a:rPr sz="1200" spc="-5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0000D3"/>
                </a:solidFill>
                <a:latin typeface="Arial MT"/>
                <a:cs typeface="Arial MT"/>
              </a:rPr>
              <a:t>used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19321" y="2684779"/>
            <a:ext cx="3731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309370" algn="l"/>
              </a:tabLst>
            </a:pPr>
            <a:r>
              <a:rPr sz="1800" baseline="4629" dirty="0">
                <a:solidFill>
                  <a:srgbClr val="0000D3"/>
                </a:solidFill>
                <a:latin typeface="Arial MT"/>
                <a:cs typeface="Arial MT"/>
              </a:rPr>
              <a:t>T3:</a:t>
            </a:r>
            <a:r>
              <a:rPr sz="1800" spc="-22" baseline="4629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1800" baseline="4629" dirty="0">
                <a:solidFill>
                  <a:srgbClr val="0000D3"/>
                </a:solidFill>
                <a:latin typeface="Arial MT"/>
                <a:cs typeface="Arial MT"/>
              </a:rPr>
              <a:t>no</a:t>
            </a:r>
            <a:r>
              <a:rPr sz="1800" spc="-37" baseline="4629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1800" spc="-15" baseline="4629" dirty="0">
                <a:solidFill>
                  <a:srgbClr val="0000D3"/>
                </a:solidFill>
                <a:latin typeface="Arial MT"/>
                <a:cs typeface="Arial MT"/>
              </a:rPr>
              <a:t>operation</a:t>
            </a:r>
            <a:r>
              <a:rPr sz="1800" baseline="4629" dirty="0">
                <a:solidFill>
                  <a:srgbClr val="0000D3"/>
                </a:solidFill>
                <a:latin typeface="Arial MT"/>
                <a:cs typeface="Arial MT"/>
              </a:rPr>
              <a:t>	</a:t>
            </a:r>
            <a:r>
              <a:rPr sz="1200" dirty="0">
                <a:solidFill>
                  <a:srgbClr val="E6AE00"/>
                </a:solidFill>
                <a:latin typeface="Arial MT"/>
                <a:cs typeface="Arial MT"/>
              </a:rPr>
              <a:t>T</a:t>
            </a:r>
            <a:r>
              <a:rPr sz="1200" baseline="-20833" dirty="0">
                <a:solidFill>
                  <a:srgbClr val="E6AE00"/>
                </a:solidFill>
                <a:latin typeface="Arial MT"/>
                <a:cs typeface="Arial MT"/>
              </a:rPr>
              <a:t>4</a:t>
            </a:r>
            <a:r>
              <a:rPr sz="1200" dirty="0">
                <a:solidFill>
                  <a:srgbClr val="E6AE00"/>
                </a:solidFill>
                <a:latin typeface="Arial MT"/>
                <a:cs typeface="Arial MT"/>
              </a:rPr>
              <a:t>:</a:t>
            </a:r>
            <a:r>
              <a:rPr sz="1200" spc="-15" dirty="0">
                <a:solidFill>
                  <a:srgbClr val="E6AE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E6AE00"/>
                </a:solidFill>
                <a:latin typeface="Arial MT"/>
                <a:cs typeface="Arial MT"/>
              </a:rPr>
              <a:t>DR</a:t>
            </a:r>
            <a:r>
              <a:rPr sz="1200" spc="-15" dirty="0">
                <a:solidFill>
                  <a:srgbClr val="E6AE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E6AE00"/>
                </a:solidFill>
                <a:latin typeface="Symbol"/>
                <a:cs typeface="Symbol"/>
              </a:rPr>
              <a:t></a:t>
            </a:r>
            <a:r>
              <a:rPr sz="1200" spc="25" dirty="0">
                <a:solidFill>
                  <a:srgbClr val="E6AE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E6AE00"/>
                </a:solidFill>
                <a:latin typeface="Arial MT"/>
                <a:cs typeface="Arial MT"/>
              </a:rPr>
              <a:t>M[AR]</a:t>
            </a:r>
            <a:r>
              <a:rPr sz="1200" spc="220" dirty="0">
                <a:solidFill>
                  <a:srgbClr val="E6AE00"/>
                </a:solidFill>
                <a:latin typeface="Arial MT"/>
                <a:cs typeface="Arial MT"/>
              </a:rPr>
              <a:t> </a:t>
            </a:r>
            <a:r>
              <a:rPr sz="1800" baseline="4629" dirty="0">
                <a:solidFill>
                  <a:srgbClr val="6F2F9F"/>
                </a:solidFill>
                <a:latin typeface="Arial MT"/>
                <a:cs typeface="Arial MT"/>
              </a:rPr>
              <a:t>T</a:t>
            </a:r>
            <a:r>
              <a:rPr sz="1200" baseline="-13888" dirty="0">
                <a:solidFill>
                  <a:srgbClr val="6F2F9F"/>
                </a:solidFill>
                <a:latin typeface="Arial MT"/>
                <a:cs typeface="Arial MT"/>
              </a:rPr>
              <a:t>5</a:t>
            </a:r>
            <a:r>
              <a:rPr sz="1800" baseline="4629" dirty="0">
                <a:solidFill>
                  <a:srgbClr val="6F2F9F"/>
                </a:solidFill>
                <a:latin typeface="Arial MT"/>
                <a:cs typeface="Arial MT"/>
              </a:rPr>
              <a:t>:AC</a:t>
            </a:r>
            <a:r>
              <a:rPr sz="1800" spc="-22" baseline="4629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800" baseline="4629" dirty="0">
                <a:solidFill>
                  <a:srgbClr val="6F2F9F"/>
                </a:solidFill>
                <a:latin typeface="Symbol"/>
                <a:cs typeface="Symbol"/>
              </a:rPr>
              <a:t></a:t>
            </a:r>
            <a:r>
              <a:rPr sz="1800" spc="-67" baseline="4629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spc="-15" baseline="4629" dirty="0">
                <a:solidFill>
                  <a:srgbClr val="6F2F9F"/>
                </a:solidFill>
                <a:latin typeface="Arial MT"/>
                <a:cs typeface="Arial MT"/>
              </a:rPr>
              <a:t>AC+DR,</a:t>
            </a:r>
            <a:endParaRPr sz="1800" baseline="4629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76033" y="2836926"/>
            <a:ext cx="558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F2F9F"/>
                </a:solidFill>
                <a:latin typeface="Arial MT"/>
                <a:cs typeface="Arial MT"/>
              </a:rPr>
              <a:t>SC</a:t>
            </a:r>
            <a:r>
              <a:rPr sz="1200" spc="-10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6F2F9F"/>
                </a:solidFill>
                <a:latin typeface="Symbol"/>
                <a:cs typeface="Symbol"/>
              </a:rPr>
              <a:t></a:t>
            </a:r>
            <a:r>
              <a:rPr sz="1200" spc="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200" spc="-50" dirty="0">
                <a:solidFill>
                  <a:srgbClr val="6F2F9F"/>
                </a:solidFill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11733" y="2004314"/>
            <a:ext cx="7515225" cy="595630"/>
            <a:chOff x="411733" y="2004314"/>
            <a:chExt cx="7515225" cy="595630"/>
          </a:xfrm>
        </p:grpSpPr>
        <p:sp>
          <p:nvSpPr>
            <p:cNvPr id="29" name="object 29"/>
            <p:cNvSpPr/>
            <p:nvPr/>
          </p:nvSpPr>
          <p:spPr>
            <a:xfrm>
              <a:off x="424433" y="2017014"/>
              <a:ext cx="381000" cy="558800"/>
            </a:xfrm>
            <a:custGeom>
              <a:avLst/>
              <a:gdLst/>
              <a:ahLst/>
              <a:cxnLst/>
              <a:rect l="l" t="t" r="r" b="b"/>
              <a:pathLst>
                <a:path w="381000" h="558800">
                  <a:moveTo>
                    <a:pt x="380492" y="24384"/>
                  </a:moveTo>
                  <a:lnTo>
                    <a:pt x="12192" y="24384"/>
                  </a:lnTo>
                </a:path>
                <a:path w="381000" h="558800">
                  <a:moveTo>
                    <a:pt x="12700" y="0"/>
                  </a:moveTo>
                  <a:lnTo>
                    <a:pt x="0" y="558800"/>
                  </a:lnTo>
                </a:path>
              </a:pathLst>
            </a:custGeom>
            <a:ln w="25400">
              <a:solidFill>
                <a:srgbClr val="01AB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30045" y="2556510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5" h="4444">
                  <a:moveTo>
                    <a:pt x="605154" y="0"/>
                  </a:moveTo>
                  <a:lnTo>
                    <a:pt x="0" y="4444"/>
                  </a:lnTo>
                </a:path>
              </a:pathLst>
            </a:custGeom>
            <a:ln w="38100">
              <a:solidFill>
                <a:srgbClr val="01AB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340101" y="2565654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5" h="4444">
                  <a:moveTo>
                    <a:pt x="605155" y="0"/>
                  </a:moveTo>
                  <a:lnTo>
                    <a:pt x="0" y="4445"/>
                  </a:lnTo>
                </a:path>
              </a:pathLst>
            </a:custGeom>
            <a:ln w="38100">
              <a:solidFill>
                <a:srgbClr val="0080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97401" y="2573274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4" h="4444">
                  <a:moveTo>
                    <a:pt x="605155" y="0"/>
                  </a:moveTo>
                  <a:lnTo>
                    <a:pt x="0" y="4445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845557" y="2576322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4" h="4444">
                  <a:moveTo>
                    <a:pt x="605154" y="0"/>
                  </a:moveTo>
                  <a:lnTo>
                    <a:pt x="0" y="4444"/>
                  </a:lnTo>
                </a:path>
              </a:pathLst>
            </a:custGeom>
            <a:ln w="38100">
              <a:solidFill>
                <a:srgbClr val="0000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73901" y="2562606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4" h="4444">
                  <a:moveTo>
                    <a:pt x="605154" y="0"/>
                  </a:moveTo>
                  <a:lnTo>
                    <a:pt x="0" y="4445"/>
                  </a:lnTo>
                </a:path>
              </a:pathLst>
            </a:custGeom>
            <a:ln w="38100">
              <a:solidFill>
                <a:srgbClr val="E6A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302245" y="2576322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4" h="4444">
                  <a:moveTo>
                    <a:pt x="605154" y="0"/>
                  </a:moveTo>
                  <a:lnTo>
                    <a:pt x="0" y="4444"/>
                  </a:lnTo>
                </a:path>
              </a:pathLst>
            </a:custGeom>
            <a:ln w="381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2943" y="265557"/>
            <a:ext cx="8115934" cy="2487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607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RULES</a:t>
            </a:r>
            <a:r>
              <a:rPr sz="24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OF</a:t>
            </a:r>
            <a:r>
              <a:rPr sz="24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THUMB</a:t>
            </a:r>
            <a:r>
              <a:rPr sz="24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FOR</a:t>
            </a:r>
            <a:r>
              <a:rPr sz="2400" b="1" spc="-4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IMPROVING</a:t>
            </a:r>
            <a:r>
              <a:rPr sz="2400" b="1" spc="-5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PERFORMANCE</a:t>
            </a:r>
            <a:endParaRPr sz="24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2440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Arial MT"/>
                <a:cs typeface="Arial MT"/>
              </a:rPr>
              <a:t>Exploiting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Parallelism</a:t>
            </a:r>
            <a:endParaRPr sz="24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715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Arial MT"/>
                <a:cs typeface="Arial MT"/>
              </a:rPr>
              <a:t>Principle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Locality</a:t>
            </a:r>
            <a:endParaRPr sz="24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715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Arial MT"/>
                <a:cs typeface="Arial MT"/>
              </a:rPr>
              <a:t>Focusing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Common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Case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2943" y="265557"/>
            <a:ext cx="8115934" cy="2487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607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RULES</a:t>
            </a:r>
            <a:r>
              <a:rPr sz="24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OF</a:t>
            </a:r>
            <a:r>
              <a:rPr sz="24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THUMB</a:t>
            </a:r>
            <a:r>
              <a:rPr sz="24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FOR</a:t>
            </a:r>
            <a:r>
              <a:rPr sz="2400" b="1" spc="-4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IMPROVING</a:t>
            </a:r>
            <a:r>
              <a:rPr sz="2400" b="1" spc="-5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PERFORMANCE</a:t>
            </a:r>
            <a:endParaRPr sz="24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2440"/>
              </a:spcBef>
              <a:buAutoNum type="arabicPeriod"/>
              <a:tabLst>
                <a:tab pos="469265" algn="l"/>
              </a:tabLst>
            </a:pPr>
            <a:r>
              <a:rPr sz="2400" b="1" dirty="0">
                <a:latin typeface="Arial"/>
                <a:cs typeface="Arial"/>
              </a:rPr>
              <a:t>Exploiting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Parallelism</a:t>
            </a:r>
            <a:endParaRPr sz="24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2715"/>
              </a:spcBef>
              <a:buAutoNum type="arabicPeriod"/>
              <a:tabLst>
                <a:tab pos="469265" algn="l"/>
              </a:tabLst>
            </a:pPr>
            <a:r>
              <a:rPr sz="2400" dirty="0">
                <a:solidFill>
                  <a:srgbClr val="BEBEBE"/>
                </a:solidFill>
                <a:latin typeface="Arial MT"/>
                <a:cs typeface="Arial MT"/>
              </a:rPr>
              <a:t>Principle</a:t>
            </a:r>
            <a:r>
              <a:rPr sz="2400" spc="-4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EBEBE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BEBEBE"/>
                </a:solidFill>
                <a:latin typeface="Arial MT"/>
                <a:cs typeface="Arial MT"/>
              </a:rPr>
              <a:t>Locality</a:t>
            </a:r>
            <a:endParaRPr sz="24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715"/>
              </a:spcBef>
              <a:buAutoNum type="arabicPeriod"/>
              <a:tabLst>
                <a:tab pos="469265" algn="l"/>
              </a:tabLst>
            </a:pPr>
            <a:r>
              <a:rPr sz="2400" dirty="0">
                <a:solidFill>
                  <a:srgbClr val="BEBEBE"/>
                </a:solidFill>
                <a:latin typeface="Arial MT"/>
                <a:cs typeface="Arial MT"/>
              </a:rPr>
              <a:t>Focusing</a:t>
            </a:r>
            <a:r>
              <a:rPr sz="2400" spc="-6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EBEBE"/>
                </a:solidFill>
                <a:latin typeface="Arial MT"/>
                <a:cs typeface="Arial MT"/>
              </a:rPr>
              <a:t>on</a:t>
            </a:r>
            <a:r>
              <a:rPr sz="2400" spc="-8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EBEBE"/>
                </a:solidFill>
                <a:latin typeface="Arial MT"/>
                <a:cs typeface="Arial MT"/>
              </a:rPr>
              <a:t>the</a:t>
            </a:r>
            <a:r>
              <a:rPr sz="2400" spc="-90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EBEBE"/>
                </a:solidFill>
                <a:latin typeface="Arial MT"/>
                <a:cs typeface="Arial MT"/>
              </a:rPr>
              <a:t>Common</a:t>
            </a:r>
            <a:r>
              <a:rPr sz="2400" spc="-80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BEBEBE"/>
                </a:solidFill>
                <a:latin typeface="Arial MT"/>
                <a:cs typeface="Arial MT"/>
              </a:rPr>
              <a:t>Case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2960" y="447264"/>
            <a:ext cx="7543800" cy="1290097"/>
          </a:xfrm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RULES</a:t>
            </a:r>
            <a:r>
              <a:rPr sz="4000" spc="-30" dirty="0"/>
              <a:t> </a:t>
            </a:r>
            <a:r>
              <a:rPr sz="4000" dirty="0"/>
              <a:t>OF</a:t>
            </a:r>
            <a:r>
              <a:rPr sz="4000" spc="-30" dirty="0"/>
              <a:t> </a:t>
            </a:r>
            <a:r>
              <a:rPr sz="4000" dirty="0"/>
              <a:t>THUMB</a:t>
            </a:r>
            <a:r>
              <a:rPr sz="4000" spc="-25" dirty="0"/>
              <a:t> </a:t>
            </a:r>
            <a:r>
              <a:rPr sz="4000" dirty="0"/>
              <a:t>FOR</a:t>
            </a:r>
            <a:r>
              <a:rPr sz="4000" spc="-45" dirty="0"/>
              <a:t> </a:t>
            </a:r>
            <a:r>
              <a:rPr sz="4000" dirty="0"/>
              <a:t>IMPROVING</a:t>
            </a:r>
            <a:r>
              <a:rPr sz="4000" spc="-50" dirty="0"/>
              <a:t> </a:t>
            </a:r>
            <a:r>
              <a:rPr sz="4000" spc="-10" dirty="0"/>
              <a:t>PERFORMANCE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19200" y="1991677"/>
            <a:ext cx="4768850" cy="287464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685"/>
              </a:spcBef>
              <a:buAutoNum type="arabicPeriod"/>
              <a:tabLst>
                <a:tab pos="469265" algn="l"/>
              </a:tabLst>
            </a:pPr>
            <a:r>
              <a:rPr sz="2400" b="1" dirty="0">
                <a:latin typeface="Arial"/>
                <a:cs typeface="Arial"/>
              </a:rPr>
              <a:t>Exploiting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Parallelism</a:t>
            </a:r>
            <a:endParaRPr sz="24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45"/>
              </a:spcBef>
            </a:pPr>
            <a:r>
              <a:rPr sz="1800" dirty="0">
                <a:latin typeface="Arial MT"/>
                <a:cs typeface="Arial MT"/>
              </a:rPr>
              <a:t>»</a:t>
            </a:r>
            <a:r>
              <a:rPr sz="1800" spc="3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Instruction-</a:t>
            </a:r>
            <a:r>
              <a:rPr sz="1800" dirty="0">
                <a:latin typeface="Arial MT"/>
                <a:cs typeface="Arial MT"/>
              </a:rPr>
              <a:t>level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parallelism</a:t>
            </a:r>
            <a:endParaRPr sz="1800" dirty="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Arial MT"/>
                <a:cs typeface="Arial MT"/>
              </a:rPr>
              <a:t>»</a:t>
            </a:r>
            <a:r>
              <a:rPr sz="1800" spc="2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Data-</a:t>
            </a:r>
            <a:r>
              <a:rPr sz="1800" dirty="0">
                <a:latin typeface="Arial MT"/>
                <a:cs typeface="Arial MT"/>
              </a:rPr>
              <a:t>level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parallelism</a:t>
            </a:r>
            <a:endParaRPr sz="1800" dirty="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Arial MT"/>
                <a:cs typeface="Arial MT"/>
              </a:rPr>
              <a:t>»</a:t>
            </a:r>
            <a:r>
              <a:rPr sz="1800" spc="29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Thread-</a:t>
            </a:r>
            <a:r>
              <a:rPr sz="1800" dirty="0">
                <a:latin typeface="Arial MT"/>
                <a:cs typeface="Arial MT"/>
              </a:rPr>
              <a:t>level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parallelism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800" dirty="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469265" algn="l"/>
              </a:tabLst>
            </a:pPr>
            <a:r>
              <a:rPr sz="2400" dirty="0">
                <a:solidFill>
                  <a:srgbClr val="BEBEBE"/>
                </a:solidFill>
                <a:latin typeface="Arial MT"/>
                <a:cs typeface="Arial MT"/>
              </a:rPr>
              <a:t>Principle</a:t>
            </a:r>
            <a:r>
              <a:rPr sz="2400" spc="-50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EBEBE"/>
                </a:solidFill>
                <a:latin typeface="Arial MT"/>
                <a:cs typeface="Arial MT"/>
              </a:rPr>
              <a:t>of</a:t>
            </a:r>
            <a:r>
              <a:rPr sz="2400" spc="-80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BEBEBE"/>
                </a:solidFill>
                <a:latin typeface="Arial MT"/>
                <a:cs typeface="Arial MT"/>
              </a:rPr>
              <a:t>Locality</a:t>
            </a:r>
            <a:endParaRPr sz="2400" dirty="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710"/>
              </a:spcBef>
              <a:buAutoNum type="arabicPeriod" startAt="2"/>
              <a:tabLst>
                <a:tab pos="469265" algn="l"/>
              </a:tabLst>
            </a:pPr>
            <a:r>
              <a:rPr sz="2400" dirty="0">
                <a:solidFill>
                  <a:srgbClr val="BEBEBE"/>
                </a:solidFill>
                <a:latin typeface="Arial MT"/>
                <a:cs typeface="Arial MT"/>
              </a:rPr>
              <a:t>Focusing</a:t>
            </a:r>
            <a:r>
              <a:rPr sz="2400" spc="-6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EBEBE"/>
                </a:solidFill>
                <a:latin typeface="Arial MT"/>
                <a:cs typeface="Arial MT"/>
              </a:rPr>
              <a:t>on</a:t>
            </a:r>
            <a:r>
              <a:rPr sz="2400" spc="-8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EBEBE"/>
                </a:solidFill>
                <a:latin typeface="Arial MT"/>
                <a:cs typeface="Arial MT"/>
              </a:rPr>
              <a:t>the</a:t>
            </a:r>
            <a:r>
              <a:rPr sz="2400" spc="-90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EBEBE"/>
                </a:solidFill>
                <a:latin typeface="Arial MT"/>
                <a:cs typeface="Arial MT"/>
              </a:rPr>
              <a:t>Common</a:t>
            </a:r>
            <a:r>
              <a:rPr sz="2400" spc="-80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BEBEBE"/>
                </a:solidFill>
                <a:latin typeface="Arial MT"/>
                <a:cs typeface="Arial MT"/>
              </a:rPr>
              <a:t>Case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2960" y="447264"/>
            <a:ext cx="7543800" cy="1290097"/>
          </a:xfrm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RULES</a:t>
            </a:r>
            <a:r>
              <a:rPr sz="4000" spc="-30" dirty="0"/>
              <a:t> </a:t>
            </a:r>
            <a:r>
              <a:rPr sz="4000" dirty="0"/>
              <a:t>OF</a:t>
            </a:r>
            <a:r>
              <a:rPr sz="4000" spc="-30" dirty="0"/>
              <a:t> </a:t>
            </a:r>
            <a:r>
              <a:rPr sz="4000" dirty="0"/>
              <a:t>THUMB</a:t>
            </a:r>
            <a:r>
              <a:rPr sz="4000" spc="-25" dirty="0"/>
              <a:t> </a:t>
            </a:r>
            <a:r>
              <a:rPr sz="4000" dirty="0"/>
              <a:t>FOR</a:t>
            </a:r>
            <a:r>
              <a:rPr sz="4000" spc="-45" dirty="0"/>
              <a:t> </a:t>
            </a:r>
            <a:r>
              <a:rPr sz="4000" dirty="0"/>
              <a:t>IMPROVING</a:t>
            </a:r>
            <a:r>
              <a:rPr sz="4000" spc="-50" dirty="0"/>
              <a:t> </a:t>
            </a:r>
            <a:r>
              <a:rPr sz="4000" spc="-10" dirty="0"/>
              <a:t>PERFORMANCE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0600" y="1905000"/>
            <a:ext cx="5931535" cy="389699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685"/>
              </a:spcBef>
              <a:buAutoNum type="arabicPeriod"/>
              <a:tabLst>
                <a:tab pos="469265" algn="l"/>
              </a:tabLst>
            </a:pPr>
            <a:r>
              <a:rPr sz="2400" b="1" dirty="0">
                <a:latin typeface="Arial"/>
                <a:cs typeface="Arial"/>
              </a:rPr>
              <a:t>Exploiting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Parallelism</a:t>
            </a:r>
            <a:endParaRPr sz="24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45"/>
              </a:spcBef>
            </a:pP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»</a:t>
            </a:r>
            <a:r>
              <a:rPr sz="1800" spc="30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008011"/>
                </a:solidFill>
                <a:latin typeface="Arial"/>
                <a:cs typeface="Arial"/>
              </a:rPr>
              <a:t>Instruction-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level</a:t>
            </a:r>
            <a:r>
              <a:rPr sz="1800" b="1" spc="4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8011"/>
                </a:solidFill>
                <a:latin typeface="Arial"/>
                <a:cs typeface="Arial"/>
              </a:rPr>
              <a:t>parallelism</a:t>
            </a:r>
            <a:endParaRPr sz="18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solidFill>
                  <a:srgbClr val="BEBEBE"/>
                </a:solidFill>
                <a:latin typeface="Arial MT"/>
                <a:cs typeface="Arial MT"/>
              </a:rPr>
              <a:t>»</a:t>
            </a:r>
            <a:r>
              <a:rPr sz="1800" spc="290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BEBEBE"/>
                </a:solidFill>
                <a:latin typeface="Arial MT"/>
                <a:cs typeface="Arial MT"/>
              </a:rPr>
              <a:t>Data-</a:t>
            </a:r>
            <a:r>
              <a:rPr sz="1800" dirty="0">
                <a:solidFill>
                  <a:srgbClr val="BEBEBE"/>
                </a:solidFill>
                <a:latin typeface="Arial MT"/>
                <a:cs typeface="Arial MT"/>
              </a:rPr>
              <a:t>level</a:t>
            </a:r>
            <a:r>
              <a:rPr sz="1800" spc="2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BEBEBE"/>
                </a:solidFill>
                <a:latin typeface="Arial MT"/>
                <a:cs typeface="Arial MT"/>
              </a:rPr>
              <a:t>parallelism</a:t>
            </a:r>
            <a:endParaRPr sz="1800" dirty="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solidFill>
                  <a:srgbClr val="BEBEBE"/>
                </a:solidFill>
                <a:latin typeface="Arial MT"/>
                <a:cs typeface="Arial MT"/>
              </a:rPr>
              <a:t>»</a:t>
            </a:r>
            <a:r>
              <a:rPr sz="1800" spc="29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BEBEBE"/>
                </a:solidFill>
                <a:latin typeface="Arial MT"/>
                <a:cs typeface="Arial MT"/>
              </a:rPr>
              <a:t>Thread-</a:t>
            </a:r>
            <a:r>
              <a:rPr sz="1800" dirty="0">
                <a:solidFill>
                  <a:srgbClr val="BEBEBE"/>
                </a:solidFill>
                <a:latin typeface="Arial MT"/>
                <a:cs typeface="Arial MT"/>
              </a:rPr>
              <a:t>level</a:t>
            </a:r>
            <a:r>
              <a:rPr sz="1800" spc="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BEBEBE"/>
                </a:solidFill>
                <a:latin typeface="Arial MT"/>
                <a:cs typeface="Arial MT"/>
              </a:rPr>
              <a:t>parallelism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800" dirty="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469265" algn="l"/>
              </a:tabLst>
            </a:pPr>
            <a:r>
              <a:rPr sz="2400" dirty="0">
                <a:solidFill>
                  <a:srgbClr val="BEBEBE"/>
                </a:solidFill>
                <a:latin typeface="Arial MT"/>
                <a:cs typeface="Arial MT"/>
              </a:rPr>
              <a:t>Principle</a:t>
            </a:r>
            <a:r>
              <a:rPr sz="2400" spc="-50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EBEBE"/>
                </a:solidFill>
                <a:latin typeface="Arial MT"/>
                <a:cs typeface="Arial MT"/>
              </a:rPr>
              <a:t>of</a:t>
            </a:r>
            <a:r>
              <a:rPr sz="2400" spc="-80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BEBEBE"/>
                </a:solidFill>
                <a:latin typeface="Arial MT"/>
                <a:cs typeface="Arial MT"/>
              </a:rPr>
              <a:t>Locality</a:t>
            </a:r>
            <a:endParaRPr sz="2400" dirty="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710"/>
              </a:spcBef>
              <a:buAutoNum type="arabicPeriod" startAt="2"/>
              <a:tabLst>
                <a:tab pos="469265" algn="l"/>
              </a:tabLst>
            </a:pPr>
            <a:r>
              <a:rPr sz="2400" dirty="0">
                <a:solidFill>
                  <a:srgbClr val="BEBEBE"/>
                </a:solidFill>
                <a:latin typeface="Arial MT"/>
                <a:cs typeface="Arial MT"/>
              </a:rPr>
              <a:t>Focusing</a:t>
            </a:r>
            <a:r>
              <a:rPr sz="2400" spc="-6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EBEBE"/>
                </a:solidFill>
                <a:latin typeface="Arial MT"/>
                <a:cs typeface="Arial MT"/>
              </a:rPr>
              <a:t>on</a:t>
            </a:r>
            <a:r>
              <a:rPr sz="2400" spc="-8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EBEBE"/>
                </a:solidFill>
                <a:latin typeface="Arial MT"/>
                <a:cs typeface="Arial MT"/>
              </a:rPr>
              <a:t>the</a:t>
            </a:r>
            <a:r>
              <a:rPr sz="2400" spc="-90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EBEBE"/>
                </a:solidFill>
                <a:latin typeface="Arial MT"/>
                <a:cs typeface="Arial MT"/>
              </a:rPr>
              <a:t>Common</a:t>
            </a:r>
            <a:r>
              <a:rPr sz="2400" spc="-80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BEBEBE"/>
                </a:solidFill>
                <a:latin typeface="Arial MT"/>
                <a:cs typeface="Arial MT"/>
              </a:rPr>
              <a:t>Case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4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We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begin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Instruction-level</a:t>
            </a:r>
            <a:r>
              <a:rPr sz="2000" b="1" spc="-6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parallelism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961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THE</a:t>
            </a:r>
            <a:r>
              <a:rPr sz="2800" spc="-100" dirty="0"/>
              <a:t> </a:t>
            </a:r>
            <a:r>
              <a:rPr sz="2800" dirty="0"/>
              <a:t>VON</a:t>
            </a:r>
            <a:r>
              <a:rPr sz="2800" spc="-95" dirty="0"/>
              <a:t> </a:t>
            </a:r>
            <a:r>
              <a:rPr sz="2800" dirty="0"/>
              <a:t>NEUMANN</a:t>
            </a:r>
            <a:r>
              <a:rPr sz="2800" spc="-55" dirty="0"/>
              <a:t> </a:t>
            </a:r>
            <a:r>
              <a:rPr sz="2800" spc="-10" dirty="0"/>
              <a:t>ARCHITECTURE</a:t>
            </a:r>
            <a:endParaRPr sz="28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905000"/>
            <a:ext cx="5407352" cy="41096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-257175"/>
            <a:ext cx="7543800" cy="1450975"/>
          </a:xfrm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2016760">
              <a:lnSpc>
                <a:spcPct val="100000"/>
              </a:lnSpc>
              <a:spcBef>
                <a:spcPts val="100"/>
              </a:spcBef>
            </a:pPr>
            <a:r>
              <a:rPr dirty="0"/>
              <a:t>PARALLEL</a:t>
            </a:r>
            <a:r>
              <a:rPr spc="-4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3425" y="1178206"/>
            <a:ext cx="8514080" cy="51758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5080" indent="-287020">
              <a:lnSpc>
                <a:spcPts val="2590"/>
              </a:lnSpc>
              <a:spcBef>
                <a:spcPts val="42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Execution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concurrent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events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(processing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tasks)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order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achieve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performance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gain</a:t>
            </a:r>
            <a:endParaRPr sz="2400" dirty="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500"/>
              </a:spcBef>
              <a:buChar char="•"/>
              <a:tabLst>
                <a:tab pos="299085" algn="l"/>
              </a:tabLst>
            </a:pPr>
            <a:r>
              <a:rPr sz="2200" dirty="0">
                <a:latin typeface="Arial MT"/>
                <a:cs typeface="Arial MT"/>
              </a:rPr>
              <a:t>Classes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(also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called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levels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techniques)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parallel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Processing</a:t>
            </a:r>
            <a:endParaRPr sz="2200" dirty="0">
              <a:latin typeface="Arial MT"/>
              <a:cs typeface="Arial MT"/>
            </a:endParaRPr>
          </a:p>
          <a:p>
            <a:pPr marL="696595" lvl="1" indent="-226695">
              <a:lnSpc>
                <a:spcPct val="100000"/>
              </a:lnSpc>
              <a:spcBef>
                <a:spcPts val="370"/>
              </a:spcBef>
              <a:buChar char="–"/>
              <a:tabLst>
                <a:tab pos="696595" algn="l"/>
              </a:tabLst>
            </a:pP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level</a:t>
            </a:r>
            <a:endParaRPr sz="2000" dirty="0">
              <a:latin typeface="Arial MT"/>
              <a:cs typeface="Arial MT"/>
            </a:endParaRPr>
          </a:p>
          <a:p>
            <a:pPr marL="697230" lvl="1" indent="-227329">
              <a:lnSpc>
                <a:spcPct val="100000"/>
              </a:lnSpc>
              <a:spcBef>
                <a:spcPts val="360"/>
              </a:spcBef>
              <a:buChar char="–"/>
              <a:tabLst>
                <a:tab pos="697230" algn="l"/>
              </a:tabLst>
            </a:pP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level</a:t>
            </a:r>
            <a:endParaRPr sz="2000" dirty="0">
              <a:latin typeface="Arial MT"/>
              <a:cs typeface="Arial MT"/>
            </a:endParaRPr>
          </a:p>
          <a:p>
            <a:pPr marL="696595" lvl="1" indent="-226695">
              <a:lnSpc>
                <a:spcPct val="100000"/>
              </a:lnSpc>
              <a:spcBef>
                <a:spcPts val="360"/>
              </a:spcBef>
              <a:buChar char="–"/>
              <a:tabLst>
                <a:tab pos="696595" algn="l"/>
              </a:tabLst>
            </a:pPr>
            <a:r>
              <a:rPr sz="2000" dirty="0">
                <a:latin typeface="Arial MT"/>
                <a:cs typeface="Arial MT"/>
              </a:rPr>
              <a:t>Thread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level</a:t>
            </a:r>
            <a:endParaRPr sz="20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5"/>
              </a:spcBef>
              <a:buFont typeface="Arial MT"/>
              <a:buChar char="–"/>
            </a:pPr>
            <a:endParaRPr sz="2000" dirty="0">
              <a:latin typeface="Arial MT"/>
              <a:cs typeface="Arial MT"/>
            </a:endParaRPr>
          </a:p>
          <a:p>
            <a:pPr marL="299085" marR="69215" indent="-287020">
              <a:lnSpc>
                <a:spcPct val="9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Instruction</a:t>
            </a:r>
            <a:r>
              <a:rPr sz="2400" b="1" spc="-6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Level</a:t>
            </a:r>
            <a:r>
              <a:rPr sz="24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Parallelism</a:t>
            </a:r>
            <a:r>
              <a:rPr sz="2400" b="1" spc="-4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(ILP)</a:t>
            </a:r>
            <a:r>
              <a:rPr sz="2400" b="1" dirty="0">
                <a:latin typeface="Arial"/>
                <a:cs typeface="Arial"/>
              </a:rPr>
              <a:t>: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Instead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processing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sequentially,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conventional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computer, </a:t>
            </a:r>
            <a:r>
              <a:rPr sz="2400" dirty="0">
                <a:latin typeface="Arial MT"/>
                <a:cs typeface="Arial MT"/>
              </a:rPr>
              <a:t>concurrent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performed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increase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instruction throughput.</a:t>
            </a:r>
            <a:endParaRPr sz="2400" dirty="0">
              <a:latin typeface="Arial MT"/>
              <a:cs typeface="Arial MT"/>
            </a:endParaRPr>
          </a:p>
          <a:p>
            <a:pPr marL="696595" lvl="1" indent="-226695">
              <a:lnSpc>
                <a:spcPts val="2280"/>
              </a:lnSpc>
              <a:spcBef>
                <a:spcPts val="365"/>
              </a:spcBef>
              <a:buChar char="–"/>
              <a:tabLst>
                <a:tab pos="696595" algn="l"/>
              </a:tabLst>
            </a:pPr>
            <a:r>
              <a:rPr sz="2000" dirty="0">
                <a:latin typeface="Arial MT"/>
                <a:cs typeface="Arial MT"/>
              </a:rPr>
              <a:t>Overlapping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execution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multiple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order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improve</a:t>
            </a:r>
            <a:endParaRPr sz="2000" dirty="0">
              <a:latin typeface="Arial MT"/>
              <a:cs typeface="Arial MT"/>
            </a:endParaRPr>
          </a:p>
          <a:p>
            <a:pPr marL="697865">
              <a:lnSpc>
                <a:spcPts val="2280"/>
              </a:lnSpc>
            </a:pPr>
            <a:r>
              <a:rPr sz="2000" spc="-10" dirty="0">
                <a:latin typeface="Arial MT"/>
                <a:cs typeface="Arial MT"/>
              </a:rPr>
              <a:t>performance.</a:t>
            </a:r>
            <a:endParaRPr sz="2000" dirty="0">
              <a:latin typeface="Arial MT"/>
              <a:cs typeface="Arial MT"/>
            </a:endParaRPr>
          </a:p>
          <a:p>
            <a:pPr marL="695960" marR="67945" lvl="1" indent="-226695">
              <a:lnSpc>
                <a:spcPts val="2160"/>
              </a:lnSpc>
              <a:spcBef>
                <a:spcPts val="635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Throughput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means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total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amount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completed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in 	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time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189355">
              <a:lnSpc>
                <a:spcPct val="100000"/>
              </a:lnSpc>
              <a:spcBef>
                <a:spcPts val="100"/>
              </a:spcBef>
            </a:pPr>
            <a:r>
              <a:rPr dirty="0"/>
              <a:t>INSTRUCTION</a:t>
            </a:r>
            <a:r>
              <a:rPr spc="-55" dirty="0"/>
              <a:t> </a:t>
            </a:r>
            <a:r>
              <a:rPr dirty="0"/>
              <a:t>LEVEL</a:t>
            </a:r>
            <a:r>
              <a:rPr spc="-60" dirty="0"/>
              <a:t> </a:t>
            </a:r>
            <a:r>
              <a:rPr spc="-10" dirty="0"/>
              <a:t>PARALLELISM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943" y="2019572"/>
            <a:ext cx="8307705" cy="14712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ILP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is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implemented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through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Pipelining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 marL="695960" marR="5080" lvl="1" indent="-226695">
              <a:lnSpc>
                <a:spcPts val="2160"/>
              </a:lnSpc>
              <a:spcBef>
                <a:spcPts val="755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Pipelining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exploits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parallelism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exists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among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actions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needed 	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execute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instruction.</a:t>
            </a:r>
            <a:endParaRPr sz="2000" dirty="0">
              <a:latin typeface="Arial MT"/>
              <a:cs typeface="Arial MT"/>
            </a:endParaRPr>
          </a:p>
          <a:p>
            <a:pPr marL="696595" lvl="1" indent="-226695">
              <a:lnSpc>
                <a:spcPct val="100000"/>
              </a:lnSpc>
              <a:spcBef>
                <a:spcPts val="450"/>
              </a:spcBef>
              <a:buChar char="–"/>
              <a:tabLst>
                <a:tab pos="696595" algn="l"/>
              </a:tabLst>
            </a:pPr>
            <a:r>
              <a:rPr sz="2000" dirty="0">
                <a:latin typeface="Arial MT"/>
                <a:cs typeface="Arial MT"/>
              </a:rPr>
              <a:t>It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widely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technique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enhance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production.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ar assembly&#10;&#10;AI-generated content may be incorrect.">
            <a:extLst>
              <a:ext uri="{FF2B5EF4-FFF2-40B4-BE49-F238E27FC236}">
                <a16:creationId xmlns:a16="http://schemas.microsoft.com/office/drawing/2014/main" id="{81F3CB6A-E000-DCCE-6B85-85D817D44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99" y="643467"/>
            <a:ext cx="7014201" cy="505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94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steps with yellow squares&#10;&#10;AI-generated content may be incorrect.">
            <a:extLst>
              <a:ext uri="{FF2B5EF4-FFF2-40B4-BE49-F238E27FC236}">
                <a16:creationId xmlns:a16="http://schemas.microsoft.com/office/drawing/2014/main" id="{18174AF2-45D2-BC1E-8C06-C1B3A7E83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82" y="643467"/>
            <a:ext cx="7088035" cy="505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513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91947" y="54412"/>
            <a:ext cx="8017764" cy="797654"/>
          </a:xfrm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22472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</a:rPr>
              <a:t>PIPELINING</a:t>
            </a:r>
            <a:r>
              <a:rPr spc="-10" dirty="0">
                <a:solidFill>
                  <a:srgbClr val="00B050"/>
                </a:solidFill>
              </a:rPr>
              <a:t> 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86433" y="1808797"/>
            <a:ext cx="4419600" cy="4025265"/>
            <a:chOff x="1186433" y="1808797"/>
            <a:chExt cx="4419600" cy="4025265"/>
          </a:xfrm>
        </p:grpSpPr>
        <p:sp>
          <p:nvSpPr>
            <p:cNvPr id="4" name="object 4"/>
            <p:cNvSpPr/>
            <p:nvPr/>
          </p:nvSpPr>
          <p:spPr>
            <a:xfrm>
              <a:off x="1399031" y="1813560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685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685800" y="914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99031" y="1813560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0" y="914400"/>
                  </a:moveTo>
                  <a:lnTo>
                    <a:pt x="685800" y="9144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6433" y="5719572"/>
              <a:ext cx="4419600" cy="114300"/>
            </a:xfrm>
            <a:custGeom>
              <a:avLst/>
              <a:gdLst/>
              <a:ahLst/>
              <a:cxnLst/>
              <a:rect l="l" t="t" r="r" b="b"/>
              <a:pathLst>
                <a:path w="4419600" h="114300">
                  <a:moveTo>
                    <a:pt x="4305300" y="0"/>
                  </a:moveTo>
                  <a:lnTo>
                    <a:pt x="4305300" y="114299"/>
                  </a:lnTo>
                  <a:lnTo>
                    <a:pt x="4381500" y="76199"/>
                  </a:lnTo>
                  <a:lnTo>
                    <a:pt x="4324350" y="76199"/>
                  </a:lnTo>
                  <a:lnTo>
                    <a:pt x="4324350" y="38099"/>
                  </a:lnTo>
                  <a:lnTo>
                    <a:pt x="4381500" y="38099"/>
                  </a:lnTo>
                  <a:lnTo>
                    <a:pt x="4305300" y="0"/>
                  </a:lnTo>
                  <a:close/>
                </a:path>
                <a:path w="4419600" h="114300">
                  <a:moveTo>
                    <a:pt x="4305300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4305300" y="76199"/>
                  </a:lnTo>
                  <a:lnTo>
                    <a:pt x="4305300" y="38099"/>
                  </a:lnTo>
                  <a:close/>
                </a:path>
                <a:path w="4419600" h="114300">
                  <a:moveTo>
                    <a:pt x="4381500" y="38099"/>
                  </a:moveTo>
                  <a:lnTo>
                    <a:pt x="4324350" y="38099"/>
                  </a:lnTo>
                  <a:lnTo>
                    <a:pt x="4324350" y="76199"/>
                  </a:lnTo>
                  <a:lnTo>
                    <a:pt x="4381500" y="76199"/>
                  </a:lnTo>
                  <a:lnTo>
                    <a:pt x="4419600" y="57149"/>
                  </a:lnTo>
                  <a:lnTo>
                    <a:pt x="4381500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84831" y="1813560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685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685800" y="914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84831" y="1813560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0" y="914400"/>
                  </a:moveTo>
                  <a:lnTo>
                    <a:pt x="685800" y="9144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70631" y="1813560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685799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685799" y="914400"/>
                  </a:lnTo>
                  <a:lnTo>
                    <a:pt x="68579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70631" y="1813560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0" y="914400"/>
                  </a:moveTo>
                  <a:lnTo>
                    <a:pt x="685799" y="914400"/>
                  </a:lnTo>
                  <a:lnTo>
                    <a:pt x="685799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89331" y="3548252"/>
            <a:ext cx="563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latin typeface="Arial MT"/>
                <a:cs typeface="Arial MT"/>
              </a:rPr>
              <a:t>Jobs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28013" y="2050237"/>
            <a:ext cx="16014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6285" algn="l"/>
                <a:tab pos="1384300" algn="l"/>
              </a:tabLst>
            </a:pPr>
            <a:r>
              <a:rPr sz="2400" spc="-50" dirty="0">
                <a:latin typeface="Arial MT"/>
                <a:cs typeface="Arial MT"/>
              </a:rPr>
              <a:t>P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I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E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80069" y="2723197"/>
            <a:ext cx="2066925" cy="923925"/>
            <a:chOff x="2080069" y="2723197"/>
            <a:chExt cx="2066925" cy="923925"/>
          </a:xfrm>
        </p:grpSpPr>
        <p:sp>
          <p:nvSpPr>
            <p:cNvPr id="14" name="object 14"/>
            <p:cNvSpPr/>
            <p:nvPr/>
          </p:nvSpPr>
          <p:spPr>
            <a:xfrm>
              <a:off x="2084832" y="2727960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685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685800" y="914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84832" y="2727960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0" y="914400"/>
                  </a:moveTo>
                  <a:lnTo>
                    <a:pt x="685800" y="9144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70632" y="2727960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685799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685799" y="914400"/>
                  </a:lnTo>
                  <a:lnTo>
                    <a:pt x="68579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70632" y="2727960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0" y="914400"/>
                  </a:moveTo>
                  <a:lnTo>
                    <a:pt x="685799" y="914400"/>
                  </a:lnTo>
                  <a:lnTo>
                    <a:pt x="685799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56432" y="2727960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685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685800" y="914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56432" y="2727960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0" y="914400"/>
                  </a:moveTo>
                  <a:lnTo>
                    <a:pt x="685800" y="9144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314194" y="2965196"/>
            <a:ext cx="1600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6285" algn="l"/>
                <a:tab pos="1384300" algn="l"/>
              </a:tabLst>
            </a:pPr>
            <a:r>
              <a:rPr sz="2400" spc="-50" dirty="0">
                <a:latin typeface="Arial MT"/>
                <a:cs typeface="Arial MT"/>
              </a:rPr>
              <a:t>P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I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E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765869" y="3637597"/>
            <a:ext cx="2066925" cy="923925"/>
            <a:chOff x="2765869" y="3637597"/>
            <a:chExt cx="2066925" cy="923925"/>
          </a:xfrm>
        </p:grpSpPr>
        <p:sp>
          <p:nvSpPr>
            <p:cNvPr id="22" name="object 22"/>
            <p:cNvSpPr/>
            <p:nvPr/>
          </p:nvSpPr>
          <p:spPr>
            <a:xfrm>
              <a:off x="2770632" y="3642359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685799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685799" y="914400"/>
                  </a:lnTo>
                  <a:lnTo>
                    <a:pt x="68579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70632" y="3642359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0" y="914400"/>
                  </a:moveTo>
                  <a:lnTo>
                    <a:pt x="685799" y="914400"/>
                  </a:lnTo>
                  <a:lnTo>
                    <a:pt x="685799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56432" y="3642359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685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685800" y="914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456432" y="3642359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0" y="914400"/>
                  </a:moveTo>
                  <a:lnTo>
                    <a:pt x="685800" y="9144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142232" y="3642359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685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685800" y="914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142232" y="3642359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0" y="914400"/>
                  </a:moveTo>
                  <a:lnTo>
                    <a:pt x="685800" y="9144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999994" y="3879850"/>
            <a:ext cx="1600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6285" algn="l"/>
                <a:tab pos="1384300" algn="l"/>
              </a:tabLst>
            </a:pPr>
            <a:r>
              <a:rPr sz="2400" spc="-50" dirty="0">
                <a:latin typeface="Arial MT"/>
                <a:cs typeface="Arial MT"/>
              </a:rPr>
              <a:t>P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I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E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451669" y="4551997"/>
            <a:ext cx="2066925" cy="923925"/>
            <a:chOff x="3451669" y="4551997"/>
            <a:chExt cx="2066925" cy="923925"/>
          </a:xfrm>
        </p:grpSpPr>
        <p:sp>
          <p:nvSpPr>
            <p:cNvPr id="30" name="object 30"/>
            <p:cNvSpPr/>
            <p:nvPr/>
          </p:nvSpPr>
          <p:spPr>
            <a:xfrm>
              <a:off x="3456432" y="4556759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685800" y="0"/>
                  </a:moveTo>
                  <a:lnTo>
                    <a:pt x="0" y="0"/>
                  </a:lnTo>
                  <a:lnTo>
                    <a:pt x="0" y="914399"/>
                  </a:lnTo>
                  <a:lnTo>
                    <a:pt x="685800" y="914399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56432" y="4556759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0" y="914399"/>
                  </a:moveTo>
                  <a:lnTo>
                    <a:pt x="685800" y="914399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142232" y="4556759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685800" y="0"/>
                  </a:moveTo>
                  <a:lnTo>
                    <a:pt x="0" y="0"/>
                  </a:lnTo>
                  <a:lnTo>
                    <a:pt x="0" y="914399"/>
                  </a:lnTo>
                  <a:lnTo>
                    <a:pt x="685800" y="914399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142232" y="4556759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0" y="914399"/>
                  </a:moveTo>
                  <a:lnTo>
                    <a:pt x="685800" y="914399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28032" y="4556759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685800" y="0"/>
                  </a:moveTo>
                  <a:lnTo>
                    <a:pt x="0" y="0"/>
                  </a:lnTo>
                  <a:lnTo>
                    <a:pt x="0" y="914399"/>
                  </a:lnTo>
                  <a:lnTo>
                    <a:pt x="685800" y="914399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828032" y="4556759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0" y="914399"/>
                  </a:moveTo>
                  <a:lnTo>
                    <a:pt x="685800" y="914399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929253" y="1806955"/>
            <a:ext cx="2876550" cy="575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5"/>
              </a:lnSpc>
              <a:spcBef>
                <a:spcPts val="95"/>
              </a:spcBef>
              <a:tabLst>
                <a:tab pos="212090" algn="l"/>
                <a:tab pos="485775" algn="l"/>
              </a:tabLst>
            </a:pPr>
            <a:r>
              <a:rPr sz="1900" b="1" spc="-50" dirty="0">
                <a:latin typeface="Arial"/>
                <a:cs typeface="Arial"/>
              </a:rPr>
              <a:t>I</a:t>
            </a:r>
            <a:r>
              <a:rPr sz="1900" b="1" dirty="0">
                <a:latin typeface="Arial"/>
                <a:cs typeface="Arial"/>
              </a:rPr>
              <a:t>	</a:t>
            </a:r>
            <a:r>
              <a:rPr sz="1900" spc="-50" dirty="0">
                <a:latin typeface="Arial MT"/>
                <a:cs typeface="Arial MT"/>
              </a:rPr>
              <a:t>=</a:t>
            </a:r>
            <a:r>
              <a:rPr sz="1900" dirty="0">
                <a:latin typeface="Arial MT"/>
                <a:cs typeface="Arial MT"/>
              </a:rPr>
              <a:t>	Interior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fitting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(1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hour),</a:t>
            </a:r>
            <a:endParaRPr sz="1900">
              <a:latin typeface="Arial MT"/>
              <a:cs typeface="Arial MT"/>
            </a:endParaRPr>
          </a:p>
          <a:p>
            <a:pPr marL="12700">
              <a:lnSpc>
                <a:spcPts val="2165"/>
              </a:lnSpc>
            </a:pPr>
            <a:r>
              <a:rPr sz="1900" b="1" dirty="0">
                <a:latin typeface="Arial"/>
                <a:cs typeface="Arial"/>
              </a:rPr>
              <a:t>E</a:t>
            </a:r>
            <a:r>
              <a:rPr sz="1900" b="1" spc="-50" dirty="0">
                <a:latin typeface="Arial"/>
                <a:cs typeface="Arial"/>
              </a:rPr>
              <a:t> </a:t>
            </a:r>
            <a:r>
              <a:rPr sz="1900" dirty="0">
                <a:latin typeface="Arial MT"/>
                <a:cs typeface="Arial MT"/>
              </a:rPr>
              <a:t>=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Engine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fitting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(1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hour).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9877" y="856777"/>
            <a:ext cx="8564245" cy="956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Pipelined</a:t>
            </a:r>
            <a:r>
              <a:rPr sz="2400" b="1" spc="-5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Car</a:t>
            </a:r>
            <a:r>
              <a:rPr sz="2400" b="1" spc="-10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Assembly</a:t>
            </a:r>
            <a:endParaRPr sz="2400" dirty="0">
              <a:latin typeface="Arial"/>
              <a:cs typeface="Arial"/>
            </a:endParaRPr>
          </a:p>
          <a:p>
            <a:pPr marL="3652520">
              <a:lnSpc>
                <a:spcPts val="2285"/>
              </a:lnSpc>
            </a:pPr>
            <a:r>
              <a:rPr sz="2000" dirty="0">
                <a:latin typeface="Arial MT"/>
                <a:cs typeface="Arial MT"/>
              </a:rPr>
              <a:t>Break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job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smaller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equal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size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stages</a:t>
            </a:r>
            <a:endParaRPr sz="2000" dirty="0">
              <a:latin typeface="Arial MT"/>
              <a:cs typeface="Arial MT"/>
            </a:endParaRPr>
          </a:p>
          <a:p>
            <a:pPr marL="3652520">
              <a:lnSpc>
                <a:spcPts val="2170"/>
              </a:lnSpc>
            </a:pPr>
            <a:r>
              <a:rPr sz="1900" b="1" dirty="0">
                <a:latin typeface="Arial"/>
                <a:cs typeface="Arial"/>
              </a:rPr>
              <a:t>P</a:t>
            </a:r>
            <a:r>
              <a:rPr sz="1900" b="1" spc="-40" dirty="0">
                <a:latin typeface="Arial"/>
                <a:cs typeface="Arial"/>
              </a:rPr>
              <a:t> </a:t>
            </a:r>
            <a:r>
              <a:rPr sz="1900" dirty="0">
                <a:latin typeface="Arial MT"/>
                <a:cs typeface="Arial MT"/>
              </a:rPr>
              <a:t>=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Painting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(1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hour),</a:t>
            </a:r>
            <a:endParaRPr sz="1900" dirty="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250560" y="3146551"/>
            <a:ext cx="34328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Throughput</a:t>
            </a:r>
            <a:r>
              <a:rPr sz="20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=</a:t>
            </a:r>
            <a:r>
              <a:rPr sz="20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1</a:t>
            </a: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car</a:t>
            </a:r>
            <a:r>
              <a:rPr sz="2000" b="1" spc="-4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per</a:t>
            </a: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8011"/>
                </a:solidFill>
                <a:latin typeface="Arial"/>
                <a:cs typeface="Arial"/>
              </a:rPr>
              <a:t>hour</a:t>
            </a:r>
            <a:endParaRPr sz="2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250560" y="3695191"/>
            <a:ext cx="3470275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indent="6985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Arial MT"/>
                <a:cs typeface="Arial MT"/>
              </a:rPr>
              <a:t>i.e.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Three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fold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improvement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in </a:t>
            </a:r>
            <a:r>
              <a:rPr sz="2000" dirty="0">
                <a:latin typeface="Arial MT"/>
                <a:cs typeface="Arial MT"/>
              </a:rPr>
              <a:t>throughput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pipelining.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26236" y="1792985"/>
            <a:ext cx="114300" cy="4005579"/>
          </a:xfrm>
          <a:custGeom>
            <a:avLst/>
            <a:gdLst/>
            <a:ahLst/>
            <a:cxnLst/>
            <a:rect l="l" t="t" r="r" b="b"/>
            <a:pathLst>
              <a:path w="114300" h="4005579">
                <a:moveTo>
                  <a:pt x="76200" y="95250"/>
                </a:moveTo>
                <a:lnTo>
                  <a:pt x="38100" y="95250"/>
                </a:lnTo>
                <a:lnTo>
                  <a:pt x="38100" y="4005072"/>
                </a:lnTo>
                <a:lnTo>
                  <a:pt x="76200" y="4005072"/>
                </a:lnTo>
                <a:lnTo>
                  <a:pt x="76200" y="95250"/>
                </a:lnTo>
                <a:close/>
              </a:path>
              <a:path w="114300" h="4005579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4005579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604264" y="4709483"/>
            <a:ext cx="6413500" cy="1694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87325" algn="ctr">
              <a:lnSpc>
                <a:spcPct val="100000"/>
              </a:lnSpc>
              <a:spcBef>
                <a:spcPts val="100"/>
              </a:spcBef>
              <a:tabLst>
                <a:tab pos="743585" algn="l"/>
                <a:tab pos="1370965" algn="l"/>
              </a:tabLst>
            </a:pPr>
            <a:r>
              <a:rPr sz="2400" spc="-50" dirty="0">
                <a:latin typeface="Arial MT"/>
                <a:cs typeface="Arial MT"/>
              </a:rPr>
              <a:t>P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I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E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95"/>
              </a:spcBef>
            </a:pPr>
            <a:endParaRPr sz="2400">
              <a:latin typeface="Arial MT"/>
              <a:cs typeface="Arial MT"/>
            </a:endParaRPr>
          </a:p>
          <a:p>
            <a:pPr marL="1957070">
              <a:lnSpc>
                <a:spcPct val="100000"/>
              </a:lnSpc>
            </a:pPr>
            <a:r>
              <a:rPr sz="2000" spc="-20" dirty="0">
                <a:latin typeface="Arial MT"/>
                <a:cs typeface="Arial MT"/>
              </a:rPr>
              <a:t>Time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800" dirty="0">
                <a:latin typeface="Arial MT"/>
                <a:cs typeface="Arial MT"/>
              </a:rPr>
              <a:t>Lets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look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a</a:t>
            </a:r>
            <a:r>
              <a:rPr sz="18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car</a:t>
            </a:r>
            <a:r>
              <a:rPr sz="18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assembly</a:t>
            </a:r>
            <a:r>
              <a:rPr sz="18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pipeline</a:t>
            </a:r>
            <a:r>
              <a:rPr sz="18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Mercedes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Bremen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Plant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3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18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33338"/>
            <a:ext cx="7543800" cy="1450975"/>
          </a:xfrm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797560">
              <a:lnSpc>
                <a:spcPct val="100000"/>
              </a:lnSpc>
              <a:spcBef>
                <a:spcPts val="100"/>
              </a:spcBef>
            </a:pPr>
            <a:r>
              <a:rPr sz="4400" spc="-25" dirty="0">
                <a:solidFill>
                  <a:srgbClr val="00B050"/>
                </a:solidFill>
              </a:rPr>
              <a:t>UN-</a:t>
            </a:r>
            <a:r>
              <a:rPr sz="4400" dirty="0">
                <a:solidFill>
                  <a:srgbClr val="00B050"/>
                </a:solidFill>
              </a:rPr>
              <a:t>PIPELINED</a:t>
            </a:r>
            <a:r>
              <a:rPr sz="4400" spc="-45" dirty="0">
                <a:solidFill>
                  <a:srgbClr val="00B050"/>
                </a:solidFill>
              </a:rPr>
              <a:t> </a:t>
            </a:r>
            <a:r>
              <a:rPr sz="4400" dirty="0">
                <a:solidFill>
                  <a:srgbClr val="00B050"/>
                </a:solidFill>
              </a:rPr>
              <a:t>INSTRUCTION</a:t>
            </a:r>
            <a:r>
              <a:rPr sz="4400" spc="-50" dirty="0">
                <a:solidFill>
                  <a:srgbClr val="00B050"/>
                </a:solidFill>
              </a:rPr>
              <a:t> </a:t>
            </a:r>
            <a:r>
              <a:rPr sz="4400" spc="-10" dirty="0">
                <a:solidFill>
                  <a:srgbClr val="00B050"/>
                </a:solidFill>
              </a:rPr>
              <a:t>EXECUTION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738" y="1212353"/>
            <a:ext cx="8396605" cy="7816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75"/>
              </a:spcBef>
              <a:buChar char="•"/>
              <a:tabLst>
                <a:tab pos="299085" algn="l"/>
              </a:tabLst>
            </a:pPr>
            <a:r>
              <a:rPr sz="2300" dirty="0">
                <a:latin typeface="Arial MT"/>
                <a:cs typeface="Arial MT"/>
              </a:rPr>
              <a:t>CPU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time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=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u="dash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CPU</a:t>
            </a:r>
            <a:r>
              <a:rPr sz="2300" u="dash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300" u="dash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clock</a:t>
            </a:r>
            <a:r>
              <a:rPr sz="2300" u="dash" spc="-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300" u="dash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cycles</a:t>
            </a:r>
            <a:r>
              <a:rPr sz="2300" u="dash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300" u="dash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for</a:t>
            </a:r>
            <a:r>
              <a:rPr sz="2300" u="dash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300" u="dash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</a:t>
            </a:r>
            <a:r>
              <a:rPr sz="2300" u="dash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300" u="dash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program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x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Clock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cycle</a:t>
            </a:r>
            <a:r>
              <a:rPr sz="2300" spc="-20" dirty="0">
                <a:latin typeface="Arial MT"/>
                <a:cs typeface="Arial MT"/>
              </a:rPr>
              <a:t> time</a:t>
            </a:r>
            <a:endParaRPr sz="23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455"/>
              </a:spcBef>
            </a:pPr>
            <a:r>
              <a:rPr sz="1800" dirty="0">
                <a:latin typeface="Arial MT"/>
                <a:cs typeface="Arial MT"/>
              </a:rPr>
              <a:t>–</a:t>
            </a:r>
            <a:r>
              <a:rPr sz="1800" spc="2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Example: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Basic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having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single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instruction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16783" y="6365747"/>
            <a:ext cx="2978150" cy="22860"/>
            <a:chOff x="2716783" y="6365747"/>
            <a:chExt cx="2978150" cy="22860"/>
          </a:xfrm>
        </p:grpSpPr>
        <p:sp>
          <p:nvSpPr>
            <p:cNvPr id="5" name="object 5"/>
            <p:cNvSpPr/>
            <p:nvPr/>
          </p:nvSpPr>
          <p:spPr>
            <a:xfrm>
              <a:off x="2716784" y="6365747"/>
              <a:ext cx="2750820" cy="22860"/>
            </a:xfrm>
            <a:custGeom>
              <a:avLst/>
              <a:gdLst/>
              <a:ahLst/>
              <a:cxnLst/>
              <a:rect l="l" t="t" r="r" b="b"/>
              <a:pathLst>
                <a:path w="2750820" h="22860">
                  <a:moveTo>
                    <a:pt x="10668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106680" y="22860"/>
                  </a:lnTo>
                  <a:lnTo>
                    <a:pt x="106680" y="0"/>
                  </a:lnTo>
                  <a:close/>
                </a:path>
                <a:path w="2750820" h="22860">
                  <a:moveTo>
                    <a:pt x="2750820" y="0"/>
                  </a:moveTo>
                  <a:lnTo>
                    <a:pt x="2682240" y="0"/>
                  </a:lnTo>
                  <a:lnTo>
                    <a:pt x="2682240" y="22860"/>
                  </a:lnTo>
                  <a:lnTo>
                    <a:pt x="2750820" y="22860"/>
                  </a:lnTo>
                  <a:lnTo>
                    <a:pt x="2750820" y="0"/>
                  </a:lnTo>
                  <a:close/>
                </a:path>
              </a:pathLst>
            </a:custGeom>
            <a:solidFill>
              <a:srgbClr val="FF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35244" y="6365747"/>
              <a:ext cx="59690" cy="22860"/>
            </a:xfrm>
            <a:custGeom>
              <a:avLst/>
              <a:gdLst/>
              <a:ahLst/>
              <a:cxnLst/>
              <a:rect l="l" t="t" r="r" b="b"/>
              <a:pathLst>
                <a:path w="59689" h="22860">
                  <a:moveTo>
                    <a:pt x="59435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59435" y="22859"/>
                  </a:lnTo>
                  <a:lnTo>
                    <a:pt x="594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2943" y="3884397"/>
            <a:ext cx="8407400" cy="2540635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697865" indent="-227965">
              <a:lnSpc>
                <a:spcPct val="100000"/>
              </a:lnSpc>
              <a:spcBef>
                <a:spcPts val="309"/>
              </a:spcBef>
              <a:buChar char="–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Assuming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clock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3ns,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is:</a:t>
            </a:r>
            <a:endParaRPr sz="1800">
              <a:latin typeface="Arial MT"/>
              <a:cs typeface="Arial MT"/>
            </a:endParaRPr>
          </a:p>
          <a:p>
            <a:pPr marL="697865">
              <a:lnSpc>
                <a:spcPct val="100000"/>
              </a:lnSpc>
              <a:spcBef>
                <a:spcPts val="204"/>
              </a:spcBef>
              <a:tabLst>
                <a:tab pos="4653280" algn="l"/>
              </a:tabLst>
            </a:pP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0CC00"/>
                </a:solidFill>
                <a:latin typeface="Arial"/>
                <a:cs typeface="Arial"/>
              </a:rPr>
              <a:t>CPI</a:t>
            </a:r>
            <a:r>
              <a:rPr sz="1800" b="1" spc="130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9900"/>
                </a:solidFill>
                <a:latin typeface="Arial"/>
                <a:cs typeface="Arial"/>
              </a:rPr>
              <a:t>clock</a:t>
            </a:r>
            <a:r>
              <a:rPr sz="1800" b="1" spc="-20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9900"/>
                </a:solidFill>
                <a:latin typeface="Arial"/>
                <a:cs typeface="Arial"/>
              </a:rPr>
              <a:t>cycle time</a:t>
            </a:r>
            <a:r>
              <a:rPr sz="1800" b="1" spc="-10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=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dirty="0">
                <a:solidFill>
                  <a:srgbClr val="00CC00"/>
                </a:solidFill>
                <a:latin typeface="Arial"/>
                <a:cs typeface="Arial"/>
              </a:rPr>
              <a:t>6</a:t>
            </a:r>
            <a:r>
              <a:rPr sz="1800" b="1" spc="-20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9900"/>
                </a:solidFill>
                <a:latin typeface="Arial"/>
                <a:cs typeface="Arial"/>
              </a:rPr>
              <a:t>3ns</a:t>
            </a:r>
            <a:r>
              <a:rPr sz="1800" b="1" spc="-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18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ns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509"/>
              </a:spcBef>
            </a:pPr>
            <a:r>
              <a:rPr sz="1600" dirty="0">
                <a:solidFill>
                  <a:srgbClr val="00CC00"/>
                </a:solidFill>
                <a:latin typeface="Arial MT"/>
                <a:cs typeface="Arial MT"/>
              </a:rPr>
              <a:t>»</a:t>
            </a:r>
            <a:r>
              <a:rPr sz="1600" spc="425" dirty="0">
                <a:solidFill>
                  <a:srgbClr val="00CC00"/>
                </a:solidFill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00CC00"/>
                </a:solidFill>
                <a:latin typeface="Arial"/>
                <a:cs typeface="Arial"/>
              </a:rPr>
              <a:t>CPI</a:t>
            </a:r>
            <a:r>
              <a:rPr sz="1600" b="1" spc="-25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=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Clock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cycles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per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instruction</a:t>
            </a:r>
            <a:endParaRPr sz="1600">
              <a:latin typeface="Arial MT"/>
              <a:cs typeface="Arial MT"/>
            </a:endParaRPr>
          </a:p>
          <a:p>
            <a:pPr marL="697865" indent="-227965">
              <a:lnSpc>
                <a:spcPct val="100000"/>
              </a:lnSpc>
              <a:spcBef>
                <a:spcPts val="425"/>
              </a:spcBef>
              <a:buChar char="–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having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instructions,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be:</a:t>
            </a:r>
            <a:endParaRPr sz="1800">
              <a:latin typeface="Arial MT"/>
              <a:cs typeface="Arial MT"/>
            </a:endParaRPr>
          </a:p>
          <a:p>
            <a:pPr marL="659765">
              <a:lnSpc>
                <a:spcPct val="100000"/>
              </a:lnSpc>
              <a:spcBef>
                <a:spcPts val="434"/>
              </a:spcBef>
              <a:tabLst>
                <a:tab pos="1961514" algn="l"/>
              </a:tabLst>
            </a:pP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=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b="1" dirty="0">
                <a:solidFill>
                  <a:srgbClr val="FF0066"/>
                </a:solidFill>
                <a:latin typeface="Arial"/>
                <a:cs typeface="Arial"/>
              </a:rPr>
              <a:t>2</a:t>
            </a:r>
            <a:r>
              <a:rPr sz="1800" b="1" spc="-20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0CC00"/>
                </a:solidFill>
                <a:latin typeface="Arial"/>
                <a:cs typeface="Arial"/>
              </a:rPr>
              <a:t>6</a:t>
            </a:r>
            <a:r>
              <a:rPr sz="1800" b="1" spc="-10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x </a:t>
            </a:r>
            <a:r>
              <a:rPr sz="1800" b="1" dirty="0">
                <a:solidFill>
                  <a:srgbClr val="FF9900"/>
                </a:solidFill>
                <a:latin typeface="Arial"/>
                <a:cs typeface="Arial"/>
              </a:rPr>
              <a:t>3ns</a:t>
            </a:r>
            <a:r>
              <a:rPr sz="1800" b="1" spc="-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36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ns</a:t>
            </a:r>
            <a:endParaRPr sz="1800">
              <a:latin typeface="Arial MT"/>
              <a:cs typeface="Arial MT"/>
            </a:endParaRPr>
          </a:p>
          <a:p>
            <a:pPr marL="697865" indent="-227965">
              <a:lnSpc>
                <a:spcPct val="100000"/>
              </a:lnSpc>
              <a:spcBef>
                <a:spcPts val="430"/>
              </a:spcBef>
              <a:buChar char="–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So,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have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following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formula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program: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2300" dirty="0">
                <a:latin typeface="Arial MT"/>
                <a:cs typeface="Arial MT"/>
              </a:rPr>
              <a:t>CPU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time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=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b="1" u="sng" spc="-90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nu</a:t>
            </a:r>
            <a:r>
              <a:rPr sz="2300" b="1" u="sng" spc="-470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 </a:t>
            </a:r>
            <a:r>
              <a:rPr sz="2300" b="1" u="sng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mber</a:t>
            </a:r>
            <a:r>
              <a:rPr sz="2300" b="1" spc="-35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2300" b="1" u="sng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of</a:t>
            </a:r>
            <a:r>
              <a:rPr sz="2300" b="1" spc="-30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2300" b="1" u="sng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i</a:t>
            </a:r>
            <a:r>
              <a:rPr sz="2300" b="1" spc="-710" dirty="0">
                <a:solidFill>
                  <a:srgbClr val="FF0066"/>
                </a:solidFill>
                <a:latin typeface="Arial"/>
                <a:cs typeface="Arial"/>
              </a:rPr>
              <a:t>n</a:t>
            </a:r>
            <a:r>
              <a:rPr sz="2300" b="1" u="sng" spc="60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 </a:t>
            </a:r>
            <a:r>
              <a:rPr sz="2300" b="1" u="sng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s</a:t>
            </a:r>
            <a:r>
              <a:rPr sz="2300" b="1" dirty="0">
                <a:solidFill>
                  <a:srgbClr val="FF0066"/>
                </a:solidFill>
                <a:latin typeface="Arial"/>
                <a:cs typeface="Arial"/>
              </a:rPr>
              <a:t>t</a:t>
            </a:r>
            <a:r>
              <a:rPr sz="2300" b="1" u="sng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ruct</a:t>
            </a:r>
            <a:r>
              <a:rPr sz="2300" b="1" dirty="0">
                <a:solidFill>
                  <a:srgbClr val="FF0066"/>
                </a:solidFill>
                <a:latin typeface="Arial"/>
                <a:cs typeface="Arial"/>
              </a:rPr>
              <a:t>i</a:t>
            </a:r>
            <a:r>
              <a:rPr sz="2300" b="1" u="sng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ons</a:t>
            </a:r>
            <a:r>
              <a:rPr sz="2300" b="1" spc="-60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23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x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b="1" u="sng" spc="-5" dirty="0">
                <a:solidFill>
                  <a:srgbClr val="00CC00"/>
                </a:solidFill>
                <a:uFill>
                  <a:solidFill>
                    <a:srgbClr val="00CC00"/>
                  </a:solidFill>
                </a:uFill>
                <a:latin typeface="Arial"/>
                <a:cs typeface="Arial"/>
              </a:rPr>
              <a:t>C</a:t>
            </a:r>
            <a:r>
              <a:rPr sz="2300" b="1" u="sng" spc="-585" dirty="0">
                <a:solidFill>
                  <a:srgbClr val="00CC00"/>
                </a:solidFill>
                <a:uFill>
                  <a:solidFill>
                    <a:srgbClr val="00CC00"/>
                  </a:solidFill>
                </a:uFill>
                <a:latin typeface="Arial"/>
                <a:cs typeface="Arial"/>
              </a:rPr>
              <a:t>P</a:t>
            </a:r>
            <a:r>
              <a:rPr sz="2300" u="sng" spc="-75" dirty="0">
                <a:uFill>
                  <a:solidFill>
                    <a:srgbClr val="00CC00"/>
                  </a:solidFill>
                </a:uFill>
                <a:latin typeface="Arial MT"/>
                <a:cs typeface="Arial MT"/>
              </a:rPr>
              <a:t> </a:t>
            </a:r>
            <a:r>
              <a:rPr sz="2300" b="1" dirty="0">
                <a:solidFill>
                  <a:srgbClr val="00CC00"/>
                </a:solidFill>
                <a:latin typeface="Arial"/>
                <a:cs typeface="Arial"/>
              </a:rPr>
              <a:t>I</a:t>
            </a:r>
            <a:r>
              <a:rPr sz="23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x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b="1" dirty="0">
                <a:solidFill>
                  <a:srgbClr val="FF9900"/>
                </a:solidFill>
                <a:latin typeface="Arial"/>
                <a:cs typeface="Arial"/>
              </a:rPr>
              <a:t>clock</a:t>
            </a:r>
            <a:r>
              <a:rPr sz="2300" b="1" spc="-50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FF9900"/>
                </a:solidFill>
                <a:latin typeface="Arial"/>
                <a:cs typeface="Arial"/>
              </a:rPr>
              <a:t>cycle</a:t>
            </a:r>
            <a:r>
              <a:rPr sz="2300" b="1" spc="-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2300" b="1" spc="-20" dirty="0">
                <a:solidFill>
                  <a:srgbClr val="FF9900"/>
                </a:solidFill>
                <a:latin typeface="Arial"/>
                <a:cs typeface="Arial"/>
              </a:rPr>
              <a:t>time</a:t>
            </a:r>
            <a:endParaRPr sz="2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18388" y="2019554"/>
            <a:ext cx="8023225" cy="579755"/>
            <a:chOff x="818388" y="2019554"/>
            <a:chExt cx="8023225" cy="57975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388" y="2025396"/>
              <a:ext cx="617982" cy="55092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30274" y="2032254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400">
              <a:solidFill>
                <a:srgbClr val="0080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45208" y="2028431"/>
              <a:ext cx="617982" cy="55093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652522" y="2055114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72027" y="2040623"/>
              <a:ext cx="619518" cy="55246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894582" y="2049018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400">
              <a:solidFill>
                <a:srgbClr val="0000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2564" y="2043684"/>
              <a:ext cx="617982" cy="54635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116829" y="2061210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400">
              <a:solidFill>
                <a:srgbClr val="E6A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36335" y="2046706"/>
              <a:ext cx="618007" cy="53571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352794" y="2047494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4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86016" y="2042147"/>
              <a:ext cx="617981" cy="55246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591806" y="2052066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400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23504" y="2048256"/>
              <a:ext cx="618007" cy="550926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82904" y="2668600"/>
            <a:ext cx="9359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1ABEA"/>
                </a:solidFill>
                <a:latin typeface="Arial MT"/>
                <a:cs typeface="Arial MT"/>
              </a:rPr>
              <a:t>T0:</a:t>
            </a:r>
            <a:r>
              <a:rPr sz="1200" spc="-85" dirty="0">
                <a:solidFill>
                  <a:srgbClr val="01ABE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01ABEA"/>
                </a:solidFill>
                <a:latin typeface="Arial MT"/>
                <a:cs typeface="Arial MT"/>
              </a:rPr>
              <a:t>AR</a:t>
            </a:r>
            <a:r>
              <a:rPr sz="1200" spc="-5" dirty="0">
                <a:solidFill>
                  <a:srgbClr val="01ABE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01ABEA"/>
                </a:solidFill>
                <a:latin typeface="Symbol"/>
                <a:cs typeface="Symbol"/>
              </a:rPr>
              <a:t></a:t>
            </a:r>
            <a:r>
              <a:rPr sz="1200" spc="-5" dirty="0">
                <a:solidFill>
                  <a:srgbClr val="01ABEA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01ABEA"/>
                </a:solidFill>
                <a:latin typeface="Arial MT"/>
                <a:cs typeface="Arial MT"/>
              </a:rPr>
              <a:t>PC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72792" y="2636646"/>
            <a:ext cx="114427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410"/>
              </a:lnSpc>
              <a:spcBef>
                <a:spcPts val="100"/>
              </a:spcBef>
            </a:pPr>
            <a:r>
              <a:rPr sz="1200" dirty="0">
                <a:solidFill>
                  <a:srgbClr val="008011"/>
                </a:solidFill>
                <a:latin typeface="Arial MT"/>
                <a:cs typeface="Arial MT"/>
              </a:rPr>
              <a:t>T1:</a:t>
            </a:r>
            <a:r>
              <a:rPr sz="1200" spc="-2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008011"/>
                </a:solidFill>
                <a:latin typeface="Arial MT"/>
                <a:cs typeface="Arial MT"/>
              </a:rPr>
              <a:t>IR </a:t>
            </a:r>
            <a:r>
              <a:rPr sz="1200" dirty="0">
                <a:solidFill>
                  <a:srgbClr val="008011"/>
                </a:solidFill>
                <a:latin typeface="Symbol"/>
                <a:cs typeface="Symbol"/>
              </a:rPr>
              <a:t></a:t>
            </a:r>
            <a:r>
              <a:rPr sz="1200" spc="30" dirty="0">
                <a:solidFill>
                  <a:srgbClr val="008011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08011"/>
                </a:solidFill>
                <a:latin typeface="Arial MT"/>
                <a:cs typeface="Arial MT"/>
              </a:rPr>
              <a:t>M[AR],</a:t>
            </a:r>
            <a:endParaRPr sz="1200">
              <a:latin typeface="Arial MT"/>
              <a:cs typeface="Arial MT"/>
            </a:endParaRPr>
          </a:p>
          <a:p>
            <a:pPr marR="33655" algn="r">
              <a:lnSpc>
                <a:spcPts val="1410"/>
              </a:lnSpc>
            </a:pPr>
            <a:r>
              <a:rPr sz="1200" dirty="0">
                <a:solidFill>
                  <a:srgbClr val="008011"/>
                </a:solidFill>
                <a:latin typeface="Arial MT"/>
                <a:cs typeface="Arial MT"/>
              </a:rPr>
              <a:t>PC</a:t>
            </a:r>
            <a:r>
              <a:rPr sz="12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008011"/>
                </a:solidFill>
                <a:latin typeface="Symbol"/>
                <a:cs typeface="Symbol"/>
              </a:rPr>
              <a:t></a:t>
            </a:r>
            <a:r>
              <a:rPr sz="1200" spc="35" dirty="0">
                <a:solidFill>
                  <a:srgbClr val="008011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008011"/>
                </a:solidFill>
                <a:latin typeface="Arial MT"/>
                <a:cs typeface="Arial MT"/>
              </a:rPr>
              <a:t>PC+1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25267" y="2627452"/>
            <a:ext cx="1228090" cy="73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15"/>
              </a:lnSpc>
              <a:spcBef>
                <a:spcPts val="100"/>
              </a:spcBef>
            </a:pP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T2:</a:t>
            </a:r>
            <a:r>
              <a:rPr sz="1200" spc="-1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Arial MT"/>
                <a:cs typeface="Arial MT"/>
              </a:rPr>
              <a:t>Decode</a:t>
            </a:r>
            <a:endParaRPr sz="1200">
              <a:latin typeface="Arial MT"/>
              <a:cs typeface="Arial MT"/>
            </a:endParaRPr>
          </a:p>
          <a:p>
            <a:pPr marL="269875">
              <a:lnSpc>
                <a:spcPts val="1390"/>
              </a:lnSpc>
            </a:pPr>
            <a:r>
              <a:rPr sz="1200" spc="-10" dirty="0">
                <a:solidFill>
                  <a:srgbClr val="C00000"/>
                </a:solidFill>
                <a:latin typeface="Arial MT"/>
                <a:cs typeface="Arial MT"/>
              </a:rPr>
              <a:t>IR(12-</a:t>
            </a:r>
            <a:r>
              <a:rPr sz="1200" spc="-20" dirty="0">
                <a:solidFill>
                  <a:srgbClr val="C00000"/>
                </a:solidFill>
                <a:latin typeface="Arial MT"/>
                <a:cs typeface="Arial MT"/>
              </a:rPr>
              <a:t>14),</a:t>
            </a:r>
            <a:endParaRPr sz="1200">
              <a:latin typeface="Arial MT"/>
              <a:cs typeface="Arial MT"/>
            </a:endParaRPr>
          </a:p>
          <a:p>
            <a:pPr marL="269875" marR="5080" indent="-9525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solidFill>
                  <a:srgbClr val="C00000"/>
                </a:solidFill>
                <a:latin typeface="Arial MT"/>
                <a:cs typeface="Arial MT"/>
              </a:rPr>
              <a:t>AR</a:t>
            </a:r>
            <a:r>
              <a:rPr sz="1200" spc="-10" dirty="0">
                <a:solidFill>
                  <a:srgbClr val="C00000"/>
                </a:solidFill>
                <a:latin typeface="Symbol"/>
                <a:cs typeface="Symbol"/>
              </a:rPr>
              <a:t></a:t>
            </a:r>
            <a:r>
              <a:rPr sz="1200" spc="-10" dirty="0">
                <a:solidFill>
                  <a:srgbClr val="C00000"/>
                </a:solidFill>
                <a:latin typeface="Arial MT"/>
                <a:cs typeface="Arial MT"/>
              </a:rPr>
              <a:t>IR(0-</a:t>
            </a:r>
            <a:r>
              <a:rPr sz="1200" spc="-25" dirty="0">
                <a:solidFill>
                  <a:srgbClr val="C00000"/>
                </a:solidFill>
                <a:latin typeface="Arial MT"/>
                <a:cs typeface="Arial MT"/>
              </a:rPr>
              <a:t>11), </a:t>
            </a: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I</a:t>
            </a:r>
            <a:r>
              <a:rPr sz="1200" spc="-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00000"/>
                </a:solidFill>
                <a:latin typeface="Symbol"/>
                <a:cs typeface="Symbol"/>
              </a:rPr>
              <a:t></a:t>
            </a:r>
            <a:r>
              <a:rPr sz="1200" spc="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Arial MT"/>
                <a:cs typeface="Arial MT"/>
              </a:rPr>
              <a:t>IR(15)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02277" y="2839339"/>
            <a:ext cx="771525" cy="70231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260"/>
              </a:spcBef>
            </a:pPr>
            <a:r>
              <a:rPr sz="1200" spc="-10" dirty="0">
                <a:solidFill>
                  <a:srgbClr val="0000D3"/>
                </a:solidFill>
                <a:latin typeface="Arial MT"/>
                <a:cs typeface="Arial MT"/>
              </a:rPr>
              <a:t>because direct addressing </a:t>
            </a:r>
            <a:r>
              <a:rPr sz="1200" dirty="0">
                <a:solidFill>
                  <a:srgbClr val="0000D3"/>
                </a:solidFill>
                <a:latin typeface="Arial MT"/>
                <a:cs typeface="Arial MT"/>
              </a:rPr>
              <a:t>is</a:t>
            </a:r>
            <a:r>
              <a:rPr sz="1200" spc="-5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0000D3"/>
                </a:solidFill>
                <a:latin typeface="Arial MT"/>
                <a:cs typeface="Arial MT"/>
              </a:rPr>
              <a:t>used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19321" y="2684779"/>
            <a:ext cx="3731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309370" algn="l"/>
              </a:tabLst>
            </a:pPr>
            <a:r>
              <a:rPr sz="1800" baseline="4629" dirty="0">
                <a:solidFill>
                  <a:srgbClr val="0000D3"/>
                </a:solidFill>
                <a:latin typeface="Arial MT"/>
                <a:cs typeface="Arial MT"/>
              </a:rPr>
              <a:t>T3:</a:t>
            </a:r>
            <a:r>
              <a:rPr sz="1800" spc="-22" baseline="4629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1800" baseline="4629" dirty="0">
                <a:solidFill>
                  <a:srgbClr val="0000D3"/>
                </a:solidFill>
                <a:latin typeface="Arial MT"/>
                <a:cs typeface="Arial MT"/>
              </a:rPr>
              <a:t>no</a:t>
            </a:r>
            <a:r>
              <a:rPr sz="1800" spc="-37" baseline="4629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1800" spc="-15" baseline="4629" dirty="0">
                <a:solidFill>
                  <a:srgbClr val="0000D3"/>
                </a:solidFill>
                <a:latin typeface="Arial MT"/>
                <a:cs typeface="Arial MT"/>
              </a:rPr>
              <a:t>operation</a:t>
            </a:r>
            <a:r>
              <a:rPr sz="1800" baseline="4629" dirty="0">
                <a:solidFill>
                  <a:srgbClr val="0000D3"/>
                </a:solidFill>
                <a:latin typeface="Arial MT"/>
                <a:cs typeface="Arial MT"/>
              </a:rPr>
              <a:t>	</a:t>
            </a:r>
            <a:r>
              <a:rPr sz="1200" dirty="0">
                <a:solidFill>
                  <a:srgbClr val="E6AE00"/>
                </a:solidFill>
                <a:latin typeface="Arial MT"/>
                <a:cs typeface="Arial MT"/>
              </a:rPr>
              <a:t>T</a:t>
            </a:r>
            <a:r>
              <a:rPr sz="1200" baseline="-20833" dirty="0">
                <a:solidFill>
                  <a:srgbClr val="E6AE00"/>
                </a:solidFill>
                <a:latin typeface="Arial MT"/>
                <a:cs typeface="Arial MT"/>
              </a:rPr>
              <a:t>4</a:t>
            </a:r>
            <a:r>
              <a:rPr sz="1200" dirty="0">
                <a:solidFill>
                  <a:srgbClr val="E6AE00"/>
                </a:solidFill>
                <a:latin typeface="Arial MT"/>
                <a:cs typeface="Arial MT"/>
              </a:rPr>
              <a:t>:</a:t>
            </a:r>
            <a:r>
              <a:rPr sz="1200" spc="-15" dirty="0">
                <a:solidFill>
                  <a:srgbClr val="E6AE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E6AE00"/>
                </a:solidFill>
                <a:latin typeface="Arial MT"/>
                <a:cs typeface="Arial MT"/>
              </a:rPr>
              <a:t>DR</a:t>
            </a:r>
            <a:r>
              <a:rPr sz="1200" spc="-15" dirty="0">
                <a:solidFill>
                  <a:srgbClr val="E6AE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E6AE00"/>
                </a:solidFill>
                <a:latin typeface="Symbol"/>
                <a:cs typeface="Symbol"/>
              </a:rPr>
              <a:t></a:t>
            </a:r>
            <a:r>
              <a:rPr sz="1200" spc="25" dirty="0">
                <a:solidFill>
                  <a:srgbClr val="E6AE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E6AE00"/>
                </a:solidFill>
                <a:latin typeface="Arial MT"/>
                <a:cs typeface="Arial MT"/>
              </a:rPr>
              <a:t>M[AR]</a:t>
            </a:r>
            <a:r>
              <a:rPr sz="1200" spc="220" dirty="0">
                <a:solidFill>
                  <a:srgbClr val="E6AE00"/>
                </a:solidFill>
                <a:latin typeface="Arial MT"/>
                <a:cs typeface="Arial MT"/>
              </a:rPr>
              <a:t> </a:t>
            </a:r>
            <a:r>
              <a:rPr sz="1800" baseline="4629" dirty="0">
                <a:solidFill>
                  <a:srgbClr val="6F2F9F"/>
                </a:solidFill>
                <a:latin typeface="Arial MT"/>
                <a:cs typeface="Arial MT"/>
              </a:rPr>
              <a:t>T</a:t>
            </a:r>
            <a:r>
              <a:rPr sz="1200" baseline="-13888" dirty="0">
                <a:solidFill>
                  <a:srgbClr val="6F2F9F"/>
                </a:solidFill>
                <a:latin typeface="Arial MT"/>
                <a:cs typeface="Arial MT"/>
              </a:rPr>
              <a:t>5</a:t>
            </a:r>
            <a:r>
              <a:rPr sz="1800" baseline="4629" dirty="0">
                <a:solidFill>
                  <a:srgbClr val="6F2F9F"/>
                </a:solidFill>
                <a:latin typeface="Arial MT"/>
                <a:cs typeface="Arial MT"/>
              </a:rPr>
              <a:t>:AC</a:t>
            </a:r>
            <a:r>
              <a:rPr sz="1800" spc="-22" baseline="4629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800" baseline="4629" dirty="0">
                <a:solidFill>
                  <a:srgbClr val="6F2F9F"/>
                </a:solidFill>
                <a:latin typeface="Symbol"/>
                <a:cs typeface="Symbol"/>
              </a:rPr>
              <a:t></a:t>
            </a:r>
            <a:r>
              <a:rPr sz="1800" spc="-67" baseline="4629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spc="-15" baseline="4629" dirty="0">
                <a:solidFill>
                  <a:srgbClr val="6F2F9F"/>
                </a:solidFill>
                <a:latin typeface="Arial MT"/>
                <a:cs typeface="Arial MT"/>
              </a:rPr>
              <a:t>AC+DR,</a:t>
            </a:r>
            <a:endParaRPr sz="1800" baseline="4629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76033" y="2836926"/>
            <a:ext cx="558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F2F9F"/>
                </a:solidFill>
                <a:latin typeface="Arial MT"/>
                <a:cs typeface="Arial MT"/>
              </a:rPr>
              <a:t>SC</a:t>
            </a:r>
            <a:r>
              <a:rPr sz="1200" spc="-10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6F2F9F"/>
                </a:solidFill>
                <a:latin typeface="Symbol"/>
                <a:cs typeface="Symbol"/>
              </a:rPr>
              <a:t></a:t>
            </a:r>
            <a:r>
              <a:rPr sz="1200" spc="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200" spc="-50" dirty="0">
                <a:solidFill>
                  <a:srgbClr val="6F2F9F"/>
                </a:solidFill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11733" y="2004314"/>
            <a:ext cx="7515225" cy="595630"/>
            <a:chOff x="411733" y="2004314"/>
            <a:chExt cx="7515225" cy="595630"/>
          </a:xfrm>
        </p:grpSpPr>
        <p:sp>
          <p:nvSpPr>
            <p:cNvPr id="29" name="object 29"/>
            <p:cNvSpPr/>
            <p:nvPr/>
          </p:nvSpPr>
          <p:spPr>
            <a:xfrm>
              <a:off x="424433" y="2017014"/>
              <a:ext cx="381000" cy="558800"/>
            </a:xfrm>
            <a:custGeom>
              <a:avLst/>
              <a:gdLst/>
              <a:ahLst/>
              <a:cxnLst/>
              <a:rect l="l" t="t" r="r" b="b"/>
              <a:pathLst>
                <a:path w="381000" h="558800">
                  <a:moveTo>
                    <a:pt x="380492" y="24384"/>
                  </a:moveTo>
                  <a:lnTo>
                    <a:pt x="12192" y="24384"/>
                  </a:lnTo>
                </a:path>
                <a:path w="381000" h="558800">
                  <a:moveTo>
                    <a:pt x="12700" y="0"/>
                  </a:moveTo>
                  <a:lnTo>
                    <a:pt x="0" y="558800"/>
                  </a:lnTo>
                </a:path>
              </a:pathLst>
            </a:custGeom>
            <a:ln w="25400">
              <a:solidFill>
                <a:srgbClr val="01AB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30045" y="2556510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5" h="4444">
                  <a:moveTo>
                    <a:pt x="605154" y="0"/>
                  </a:moveTo>
                  <a:lnTo>
                    <a:pt x="0" y="4444"/>
                  </a:lnTo>
                </a:path>
              </a:pathLst>
            </a:custGeom>
            <a:ln w="38100">
              <a:solidFill>
                <a:srgbClr val="01AB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340101" y="2565654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5" h="4444">
                  <a:moveTo>
                    <a:pt x="605155" y="0"/>
                  </a:moveTo>
                  <a:lnTo>
                    <a:pt x="0" y="4445"/>
                  </a:lnTo>
                </a:path>
              </a:pathLst>
            </a:custGeom>
            <a:ln w="38100">
              <a:solidFill>
                <a:srgbClr val="0080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97401" y="2573274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4" h="4444">
                  <a:moveTo>
                    <a:pt x="605155" y="0"/>
                  </a:moveTo>
                  <a:lnTo>
                    <a:pt x="0" y="4445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845557" y="2576322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4" h="4444">
                  <a:moveTo>
                    <a:pt x="605154" y="0"/>
                  </a:moveTo>
                  <a:lnTo>
                    <a:pt x="0" y="4444"/>
                  </a:lnTo>
                </a:path>
              </a:pathLst>
            </a:custGeom>
            <a:ln w="38100">
              <a:solidFill>
                <a:srgbClr val="0000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73901" y="2562606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4" h="4444">
                  <a:moveTo>
                    <a:pt x="605154" y="0"/>
                  </a:moveTo>
                  <a:lnTo>
                    <a:pt x="0" y="4445"/>
                  </a:lnTo>
                </a:path>
              </a:pathLst>
            </a:custGeom>
            <a:ln w="38100">
              <a:solidFill>
                <a:srgbClr val="E6A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302245" y="2576322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4" h="4444">
                  <a:moveTo>
                    <a:pt x="605154" y="0"/>
                  </a:moveTo>
                  <a:lnTo>
                    <a:pt x="0" y="4444"/>
                  </a:lnTo>
                </a:path>
              </a:pathLst>
            </a:custGeom>
            <a:ln w="381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160878"/>
            <a:ext cx="7543800" cy="1290097"/>
          </a:xfrm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797560">
              <a:lnSpc>
                <a:spcPct val="100000"/>
              </a:lnSpc>
              <a:spcBef>
                <a:spcPts val="100"/>
              </a:spcBef>
            </a:pPr>
            <a:r>
              <a:rPr sz="4000" spc="-25" dirty="0"/>
              <a:t>UN-</a:t>
            </a:r>
            <a:r>
              <a:rPr sz="4000" dirty="0"/>
              <a:t>PIPELINED</a:t>
            </a:r>
            <a:r>
              <a:rPr sz="4000" spc="-45" dirty="0"/>
              <a:t> </a:t>
            </a:r>
            <a:r>
              <a:rPr sz="4000" dirty="0"/>
              <a:t>INSTRUCTION</a:t>
            </a:r>
            <a:r>
              <a:rPr sz="4000" spc="-50" dirty="0"/>
              <a:t> </a:t>
            </a:r>
            <a:r>
              <a:rPr sz="4000" spc="-10" dirty="0"/>
              <a:t>EXECUTION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50953" y="2619358"/>
            <a:ext cx="5724525" cy="2752725"/>
            <a:chOff x="1363789" y="2159317"/>
            <a:chExt cx="5724525" cy="2752725"/>
          </a:xfrm>
        </p:grpSpPr>
        <p:sp>
          <p:nvSpPr>
            <p:cNvPr id="4" name="object 4"/>
            <p:cNvSpPr/>
            <p:nvPr/>
          </p:nvSpPr>
          <p:spPr>
            <a:xfrm>
              <a:off x="1368552" y="2164079"/>
              <a:ext cx="1905000" cy="914400"/>
            </a:xfrm>
            <a:custGeom>
              <a:avLst/>
              <a:gdLst/>
              <a:ahLst/>
              <a:cxnLst/>
              <a:rect l="l" t="t" r="r" b="b"/>
              <a:pathLst>
                <a:path w="1905000" h="914400">
                  <a:moveTo>
                    <a:pt x="1905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905000" y="914400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68552" y="2164079"/>
              <a:ext cx="1905000" cy="914400"/>
            </a:xfrm>
            <a:custGeom>
              <a:avLst/>
              <a:gdLst/>
              <a:ahLst/>
              <a:cxnLst/>
              <a:rect l="l" t="t" r="r" b="b"/>
              <a:pathLst>
                <a:path w="1905000" h="914400">
                  <a:moveTo>
                    <a:pt x="0" y="914400"/>
                  </a:moveTo>
                  <a:lnTo>
                    <a:pt x="1905000" y="914400"/>
                  </a:lnTo>
                  <a:lnTo>
                    <a:pt x="1905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73552" y="3078479"/>
              <a:ext cx="1905000" cy="914400"/>
            </a:xfrm>
            <a:custGeom>
              <a:avLst/>
              <a:gdLst/>
              <a:ahLst/>
              <a:cxnLst/>
              <a:rect l="l" t="t" r="r" b="b"/>
              <a:pathLst>
                <a:path w="1905000" h="914400">
                  <a:moveTo>
                    <a:pt x="1905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905000" y="914400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73552" y="3078479"/>
              <a:ext cx="1905000" cy="914400"/>
            </a:xfrm>
            <a:custGeom>
              <a:avLst/>
              <a:gdLst/>
              <a:ahLst/>
              <a:cxnLst/>
              <a:rect l="l" t="t" r="r" b="b"/>
              <a:pathLst>
                <a:path w="1905000" h="914400">
                  <a:moveTo>
                    <a:pt x="0" y="914400"/>
                  </a:moveTo>
                  <a:lnTo>
                    <a:pt x="1905000" y="914400"/>
                  </a:lnTo>
                  <a:lnTo>
                    <a:pt x="1905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78552" y="3992879"/>
              <a:ext cx="1905000" cy="914400"/>
            </a:xfrm>
            <a:custGeom>
              <a:avLst/>
              <a:gdLst/>
              <a:ahLst/>
              <a:cxnLst/>
              <a:rect l="l" t="t" r="r" b="b"/>
              <a:pathLst>
                <a:path w="1905000" h="914400">
                  <a:moveTo>
                    <a:pt x="1905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905000" y="914400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78552" y="3992879"/>
              <a:ext cx="1905000" cy="914400"/>
            </a:xfrm>
            <a:custGeom>
              <a:avLst/>
              <a:gdLst/>
              <a:ahLst/>
              <a:cxnLst/>
              <a:rect l="l" t="t" r="r" b="b"/>
              <a:pathLst>
                <a:path w="1905000" h="914400">
                  <a:moveTo>
                    <a:pt x="0" y="914400"/>
                  </a:moveTo>
                  <a:lnTo>
                    <a:pt x="1905000" y="914400"/>
                  </a:lnTo>
                  <a:lnTo>
                    <a:pt x="19050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276091" y="6137554"/>
            <a:ext cx="5822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Time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4584" y="3883533"/>
            <a:ext cx="5638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Jobs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3080" y="1311956"/>
            <a:ext cx="8630920" cy="202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Un-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pipelined</a:t>
            </a:r>
            <a:r>
              <a:rPr sz="2400" b="1" spc="-4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execution</a:t>
            </a:r>
            <a:endParaRPr sz="2400" dirty="0">
              <a:latin typeface="Arial"/>
              <a:cs typeface="Arial"/>
            </a:endParaRPr>
          </a:p>
          <a:p>
            <a:pPr marL="734060">
              <a:lnSpc>
                <a:spcPct val="100000"/>
              </a:lnSpc>
              <a:spcBef>
                <a:spcPts val="2355"/>
              </a:spcBef>
            </a:pPr>
            <a:r>
              <a:rPr sz="2000" dirty="0">
                <a:latin typeface="Arial MT"/>
                <a:cs typeface="Arial MT"/>
              </a:rPr>
              <a:t>Start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finish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before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moving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next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instruction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64"/>
              </a:spcBef>
            </a:pPr>
            <a:endParaRPr sz="2000" dirty="0">
              <a:latin typeface="Arial MT"/>
              <a:cs typeface="Arial MT"/>
            </a:endParaRPr>
          </a:p>
          <a:p>
            <a:pPr marL="3582035">
              <a:lnSpc>
                <a:spcPts val="2050"/>
              </a:lnSpc>
            </a:pPr>
            <a:r>
              <a:rPr sz="1800" dirty="0">
                <a:latin typeface="Arial MT"/>
                <a:cs typeface="Arial MT"/>
              </a:rPr>
              <a:t>Assuming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takes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18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ns</a:t>
            </a:r>
            <a:r>
              <a:rPr sz="1800" spc="-25" dirty="0">
                <a:latin typeface="Arial MT"/>
                <a:cs typeface="Arial MT"/>
              </a:rPr>
              <a:t> to</a:t>
            </a:r>
            <a:endParaRPr sz="1800" dirty="0">
              <a:latin typeface="Arial MT"/>
              <a:cs typeface="Arial MT"/>
            </a:endParaRPr>
          </a:p>
          <a:p>
            <a:pPr marL="3582035">
              <a:lnSpc>
                <a:spcPts val="2050"/>
              </a:lnSpc>
            </a:pPr>
            <a:r>
              <a:rPr sz="1800" dirty="0">
                <a:latin typeface="Arial MT"/>
                <a:cs typeface="Arial MT"/>
              </a:rPr>
              <a:t>complete,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Throughput</a:t>
            </a:r>
            <a:r>
              <a:rPr sz="1800" b="1" spc="-5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=</a:t>
            </a:r>
            <a:r>
              <a:rPr sz="18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1</a:t>
            </a:r>
            <a:r>
              <a:rPr sz="18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instruction</a:t>
            </a:r>
            <a:r>
              <a:rPr sz="18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per</a:t>
            </a:r>
            <a:r>
              <a:rPr sz="18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18</a:t>
            </a:r>
            <a:r>
              <a:rPr sz="18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08011"/>
                </a:solidFill>
                <a:latin typeface="Arial"/>
                <a:cs typeface="Arial"/>
              </a:rPr>
              <a:t>ns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43940" y="2140457"/>
            <a:ext cx="5939790" cy="3882390"/>
          </a:xfrm>
          <a:custGeom>
            <a:avLst/>
            <a:gdLst/>
            <a:ahLst/>
            <a:cxnLst/>
            <a:rect l="l" t="t" r="r" b="b"/>
            <a:pathLst>
              <a:path w="5939790" h="3882390">
                <a:moveTo>
                  <a:pt x="5939790" y="3825240"/>
                </a:moveTo>
                <a:lnTo>
                  <a:pt x="5901690" y="3806190"/>
                </a:lnTo>
                <a:lnTo>
                  <a:pt x="5825490" y="3768090"/>
                </a:lnTo>
                <a:lnTo>
                  <a:pt x="5825490" y="3806190"/>
                </a:lnTo>
                <a:lnTo>
                  <a:pt x="76200" y="380619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lnTo>
                  <a:pt x="57150" y="0"/>
                </a:lnTo>
                <a:lnTo>
                  <a:pt x="0" y="114300"/>
                </a:lnTo>
                <a:lnTo>
                  <a:pt x="38100" y="114300"/>
                </a:lnTo>
                <a:lnTo>
                  <a:pt x="38100" y="3840480"/>
                </a:lnTo>
                <a:lnTo>
                  <a:pt x="60198" y="3840480"/>
                </a:lnTo>
                <a:lnTo>
                  <a:pt x="60198" y="3844290"/>
                </a:lnTo>
                <a:lnTo>
                  <a:pt x="5825490" y="3844290"/>
                </a:lnTo>
                <a:lnTo>
                  <a:pt x="5825490" y="3882390"/>
                </a:lnTo>
                <a:lnTo>
                  <a:pt x="5901690" y="3844290"/>
                </a:lnTo>
                <a:lnTo>
                  <a:pt x="5939790" y="3825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381000" y="344480"/>
            <a:ext cx="75438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023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PIPELINING</a:t>
            </a:r>
            <a:r>
              <a:rPr sz="4000" spc="-20" dirty="0"/>
              <a:t> </a:t>
            </a:r>
            <a:r>
              <a:rPr sz="4000" spc="-10" dirty="0"/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573220"/>
            <a:ext cx="7677784" cy="49403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69900" marR="198120" indent="-457834">
              <a:lnSpc>
                <a:spcPts val="2590"/>
              </a:lnSpc>
              <a:spcBef>
                <a:spcPts val="425"/>
              </a:spcBef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Just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assembled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three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parallel </a:t>
            </a:r>
            <a:r>
              <a:rPr sz="2400" dirty="0">
                <a:latin typeface="Arial MT"/>
                <a:cs typeface="Arial MT"/>
              </a:rPr>
              <a:t>stages,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cycle </a:t>
            </a:r>
            <a:r>
              <a:rPr sz="2400" dirty="0">
                <a:latin typeface="Arial MT"/>
                <a:cs typeface="Arial MT"/>
              </a:rPr>
              <a:t>may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increase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throughput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computer.</a:t>
            </a:r>
            <a:endParaRPr sz="2400" dirty="0">
              <a:latin typeface="Arial MT"/>
              <a:cs typeface="Arial MT"/>
            </a:endParaRPr>
          </a:p>
          <a:p>
            <a:pPr marL="870585" marR="453390" indent="-457200">
              <a:lnSpc>
                <a:spcPts val="2160"/>
              </a:lnSpc>
              <a:spcBef>
                <a:spcPts val="725"/>
              </a:spcBef>
              <a:tabLst>
                <a:tab pos="8705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But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first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breakdown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execution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into </a:t>
            </a:r>
            <a:r>
              <a:rPr sz="2000" dirty="0">
                <a:latin typeface="Arial MT"/>
                <a:cs typeface="Arial MT"/>
              </a:rPr>
              <a:t>almost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equal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segments/stages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2000" dirty="0">
              <a:latin typeface="Arial MT"/>
              <a:cs typeface="Arial MT"/>
            </a:endParaRPr>
          </a:p>
          <a:p>
            <a:pPr marL="469900" marR="561340" indent="-457834">
              <a:lnSpc>
                <a:spcPts val="2590"/>
              </a:lnSpc>
              <a:spcBef>
                <a:spcPts val="5"/>
              </a:spcBef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machine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following cycle:</a:t>
            </a:r>
            <a:endParaRPr sz="2400" dirty="0">
              <a:latin typeface="Arial MT"/>
              <a:cs typeface="Arial MT"/>
            </a:endParaRPr>
          </a:p>
          <a:p>
            <a:pPr marL="1270000" lvl="1" indent="-342900">
              <a:lnSpc>
                <a:spcPct val="100000"/>
              </a:lnSpc>
              <a:spcBef>
                <a:spcPts val="1845"/>
              </a:spcBef>
              <a:buAutoNum type="arabicPeriod"/>
              <a:tabLst>
                <a:tab pos="1270000" algn="l"/>
              </a:tabLst>
            </a:pPr>
            <a:r>
              <a:rPr sz="1800" dirty="0">
                <a:latin typeface="Arial MT"/>
                <a:cs typeface="Arial MT"/>
              </a:rPr>
              <a:t>Fetch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memory</a:t>
            </a:r>
            <a:endParaRPr sz="1800" dirty="0">
              <a:latin typeface="Arial MT"/>
              <a:cs typeface="Arial MT"/>
            </a:endParaRPr>
          </a:p>
          <a:p>
            <a:pPr marL="1270000" lvl="1" indent="-342900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1270000" algn="l"/>
              </a:tabLst>
            </a:pPr>
            <a:r>
              <a:rPr sz="1800" dirty="0">
                <a:latin typeface="Arial MT"/>
                <a:cs typeface="Arial MT"/>
              </a:rPr>
              <a:t>Decode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instruction</a:t>
            </a:r>
            <a:endParaRPr sz="1800" dirty="0">
              <a:latin typeface="Arial MT"/>
              <a:cs typeface="Arial MT"/>
            </a:endParaRPr>
          </a:p>
          <a:p>
            <a:pPr marL="1270000" lvl="1" indent="-342900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1270000" algn="l"/>
              </a:tabLst>
            </a:pPr>
            <a:r>
              <a:rPr sz="1800" dirty="0">
                <a:latin typeface="Arial MT"/>
                <a:cs typeface="Arial MT"/>
              </a:rPr>
              <a:t>Execute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instruction</a:t>
            </a:r>
            <a:endParaRPr sz="18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630"/>
              </a:spcBef>
              <a:buFont typeface="Arial MT"/>
              <a:buAutoNum type="arabicPeriod"/>
            </a:pPr>
            <a:endParaRPr sz="1800" dirty="0">
              <a:latin typeface="Arial MT"/>
              <a:cs typeface="Arial MT"/>
            </a:endParaRPr>
          </a:p>
          <a:p>
            <a:pPr marL="469900" indent="-457200">
              <a:lnSpc>
                <a:spcPts val="2735"/>
              </a:lnSpc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After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executed,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cycle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starts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again</a:t>
            </a:r>
            <a:endParaRPr sz="2400" dirty="0">
              <a:latin typeface="Arial MT"/>
              <a:cs typeface="Arial MT"/>
            </a:endParaRPr>
          </a:p>
          <a:p>
            <a:pPr marL="469900">
              <a:lnSpc>
                <a:spcPts val="2735"/>
              </a:lnSpc>
            </a:pPr>
            <a:r>
              <a:rPr sz="2400" dirty="0">
                <a:latin typeface="Arial MT"/>
                <a:cs typeface="Arial MT"/>
              </a:rPr>
              <a:t>at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step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next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instruction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104775"/>
            <a:ext cx="7543800" cy="673100"/>
          </a:xfrm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84023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0B050"/>
                </a:solidFill>
              </a:rPr>
              <a:t>PIPELINING</a:t>
            </a:r>
            <a:r>
              <a:rPr sz="4000" spc="-20" dirty="0">
                <a:solidFill>
                  <a:srgbClr val="00B050"/>
                </a:solidFill>
              </a:rPr>
              <a:t> </a:t>
            </a:r>
            <a:r>
              <a:rPr sz="4000" spc="-10" dirty="0">
                <a:solidFill>
                  <a:srgbClr val="00B050"/>
                </a:solidFill>
              </a:rPr>
              <a:t>INSTRUCTIONS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4081" y="4720378"/>
          <a:ext cx="8472168" cy="1813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0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1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0250">
                <a:tc>
                  <a:txBody>
                    <a:bodyPr/>
                    <a:lstStyle/>
                    <a:p>
                      <a:pPr marL="85280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1800" spc="-37" baseline="-20833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: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8528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1800" spc="-37" baseline="-208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: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DR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M[AR]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8542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AC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AC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</a:t>
                      </a:r>
                      <a:r>
                        <a:rPr sz="18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DR, SC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55575" marR="1651000">
                        <a:lnSpc>
                          <a:spcPts val="2210"/>
                        </a:lnSpc>
                        <a:spcBef>
                          <a:spcPts val="4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Read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operand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800" spc="-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AC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08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ADD</a:t>
                      </a:r>
                      <a:r>
                        <a:rPr sz="1800" b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800" b="1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AC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8528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1800" spc="-37" baseline="-20833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: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098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1854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DR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M[AR]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127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555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Read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operand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276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 marL="852805">
                        <a:lnSpc>
                          <a:spcPts val="2014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1800" spc="-37" baseline="-208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: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2014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AC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AC +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DR,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8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sz="1800" baseline="-20833" dirty="0">
                          <a:latin typeface="Arial MT"/>
                          <a:cs typeface="Arial MT"/>
                        </a:rPr>
                        <a:t>out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,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SC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18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ts val="2014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Add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8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AC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store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carry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E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188711" y="1160780"/>
            <a:ext cx="52768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8140" algn="l"/>
              </a:tabLst>
            </a:pPr>
            <a:r>
              <a:rPr sz="1100" spc="-25" dirty="0">
                <a:latin typeface="Arial MT"/>
                <a:cs typeface="Arial MT"/>
              </a:rPr>
              <a:t>15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100" spc="-25" dirty="0">
                <a:latin typeface="Arial MT"/>
                <a:cs typeface="Arial MT"/>
              </a:rPr>
              <a:t>14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06414" y="1160780"/>
            <a:ext cx="37528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 MT"/>
                <a:cs typeface="Arial MT"/>
              </a:rPr>
              <a:t>12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11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08872" y="1160780"/>
            <a:ext cx="10350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0" dirty="0">
                <a:latin typeface="Arial MT"/>
                <a:cs typeface="Arial MT"/>
              </a:rPr>
              <a:t>0</a:t>
            </a:r>
            <a:endParaRPr sz="1100">
              <a:latin typeface="Arial MT"/>
              <a:cs typeface="Arial M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134609" y="1364233"/>
          <a:ext cx="3586478" cy="205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3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104"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I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Opcode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024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37210" y="733311"/>
            <a:ext cx="4540885" cy="89344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69545" indent="-156845">
              <a:lnSpc>
                <a:spcPct val="100000"/>
              </a:lnSpc>
              <a:spcBef>
                <a:spcPts val="1300"/>
              </a:spcBef>
              <a:buChar char="•"/>
              <a:tabLst>
                <a:tab pos="169545" algn="l"/>
              </a:tabLst>
            </a:pPr>
            <a:r>
              <a:rPr sz="2000" dirty="0">
                <a:latin typeface="Arial MT"/>
                <a:cs typeface="Arial MT"/>
              </a:rPr>
              <a:t>Recall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Basic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Computer</a:t>
            </a:r>
            <a:endParaRPr sz="2000" dirty="0">
              <a:latin typeface="Arial"/>
              <a:cs typeface="Arial"/>
            </a:endParaRPr>
          </a:p>
          <a:p>
            <a:pPr marL="744220">
              <a:lnSpc>
                <a:spcPct val="100000"/>
              </a:lnSpc>
              <a:spcBef>
                <a:spcPts val="1070"/>
              </a:spcBef>
            </a:pPr>
            <a:r>
              <a:rPr sz="1800" spc="-20" dirty="0">
                <a:latin typeface="Arial MT"/>
                <a:cs typeface="Arial MT"/>
              </a:rPr>
              <a:t>Memory-</a:t>
            </a:r>
            <a:r>
              <a:rPr sz="1800" dirty="0">
                <a:latin typeface="Arial MT"/>
                <a:cs typeface="Arial MT"/>
              </a:rPr>
              <a:t>Reference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format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0634" y="1920367"/>
            <a:ext cx="7907655" cy="280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5975" marR="5080" indent="-803910">
              <a:lnSpc>
                <a:spcPct val="129800"/>
              </a:lnSpc>
              <a:spcBef>
                <a:spcPts val="100"/>
              </a:spcBef>
            </a:pP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Fetch</a:t>
            </a:r>
            <a:r>
              <a:rPr sz="1800" b="1" spc="-4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and</a:t>
            </a:r>
            <a:r>
              <a:rPr sz="18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Decode</a:t>
            </a:r>
            <a:r>
              <a:rPr sz="18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(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applies</a:t>
            </a:r>
            <a:r>
              <a:rPr sz="1800" spc="-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to</a:t>
            </a:r>
            <a:r>
              <a:rPr sz="1800" spc="-3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all</a:t>
            </a:r>
            <a:r>
              <a:rPr sz="1800" spc="-3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8011"/>
                </a:solidFill>
                <a:latin typeface="Arial MT"/>
                <a:cs typeface="Arial MT"/>
              </a:rPr>
              <a:t>memory, register,</a:t>
            </a:r>
            <a:r>
              <a:rPr sz="18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I/O</a:t>
            </a:r>
            <a:r>
              <a:rPr sz="1800" spc="-3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reference</a:t>
            </a:r>
            <a:r>
              <a:rPr sz="18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8011"/>
                </a:solidFill>
                <a:latin typeface="Arial MT"/>
                <a:cs typeface="Arial MT"/>
              </a:rPr>
              <a:t>instructions</a:t>
            </a:r>
            <a:r>
              <a:rPr sz="1800" b="1" spc="-10" dirty="0">
                <a:solidFill>
                  <a:srgbClr val="008011"/>
                </a:solidFill>
                <a:latin typeface="Arial"/>
                <a:cs typeface="Arial"/>
              </a:rPr>
              <a:t>) </a:t>
            </a:r>
            <a:r>
              <a:rPr sz="1800" dirty="0">
                <a:latin typeface="Arial MT"/>
                <a:cs typeface="Arial MT"/>
              </a:rPr>
              <a:t>T0: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 MT"/>
                <a:cs typeface="Arial MT"/>
              </a:rPr>
              <a:t>PC</a:t>
            </a:r>
            <a:endParaRPr sz="1800">
              <a:latin typeface="Arial MT"/>
              <a:cs typeface="Arial MT"/>
            </a:endParaRPr>
          </a:p>
          <a:p>
            <a:pPr marL="815975">
              <a:lnSpc>
                <a:spcPts val="2035"/>
              </a:lnSpc>
            </a:pPr>
            <a:r>
              <a:rPr sz="1800" dirty="0">
                <a:latin typeface="Arial MT"/>
                <a:cs typeface="Arial MT"/>
              </a:rPr>
              <a:t>T1: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IR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M[AR],</a:t>
            </a:r>
            <a:r>
              <a:rPr sz="1800" spc="4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PC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 </a:t>
            </a:r>
            <a:r>
              <a:rPr sz="1800" spc="-50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  <a:p>
            <a:pPr marL="815975">
              <a:lnSpc>
                <a:spcPts val="2120"/>
              </a:lnSpc>
            </a:pPr>
            <a:r>
              <a:rPr sz="1800" dirty="0">
                <a:latin typeface="Arial MT"/>
                <a:cs typeface="Arial MT"/>
              </a:rPr>
              <a:t>T2: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D0, . .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, D7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Decode </a:t>
            </a:r>
            <a:r>
              <a:rPr sz="1800" spc="-10" dirty="0">
                <a:latin typeface="Arial MT"/>
                <a:cs typeface="Arial MT"/>
              </a:rPr>
              <a:t>IR(12-</a:t>
            </a:r>
            <a:r>
              <a:rPr sz="1800" dirty="0">
                <a:latin typeface="Arial MT"/>
                <a:cs typeface="Arial MT"/>
              </a:rPr>
              <a:t>14),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rial MT"/>
                <a:cs typeface="Arial MT"/>
              </a:rPr>
              <a:t>IR(0-11),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rial MT"/>
                <a:cs typeface="Arial MT"/>
              </a:rPr>
              <a:t>IR(15)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800">
              <a:latin typeface="Arial MT"/>
              <a:cs typeface="Arial MT"/>
            </a:endParaRPr>
          </a:p>
          <a:p>
            <a:pPr marL="814069">
              <a:lnSpc>
                <a:spcPts val="2050"/>
              </a:lnSpc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T3:</a:t>
            </a:r>
            <a:r>
              <a:rPr sz="18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If</a:t>
            </a:r>
            <a:r>
              <a:rPr sz="18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instruction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has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an</a:t>
            </a:r>
            <a:r>
              <a:rPr sz="18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indirect address, i.e.</a:t>
            </a:r>
            <a:r>
              <a:rPr sz="18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IR(15)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7E7E7E"/>
                </a:solidFill>
                <a:latin typeface="Arial MT"/>
                <a:cs typeface="Arial MT"/>
              </a:rPr>
              <a:t>1,</a:t>
            </a:r>
            <a:endParaRPr sz="1800">
              <a:latin typeface="Arial MT"/>
              <a:cs typeface="Arial MT"/>
            </a:endParaRPr>
          </a:p>
          <a:p>
            <a:pPr marL="1195070">
              <a:lnSpc>
                <a:spcPts val="2050"/>
              </a:lnSpc>
            </a:pPr>
            <a:r>
              <a:rPr sz="1800" b="1" dirty="0">
                <a:solidFill>
                  <a:srgbClr val="7E7E7E"/>
                </a:solidFill>
                <a:latin typeface="Arial"/>
                <a:cs typeface="Arial"/>
              </a:rPr>
              <a:t>Read</a:t>
            </a:r>
            <a:r>
              <a:rPr sz="1800" b="1" spc="-4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7E7E7E"/>
                </a:solidFill>
                <a:latin typeface="Arial"/>
                <a:cs typeface="Arial"/>
              </a:rPr>
              <a:t>the</a:t>
            </a:r>
            <a:r>
              <a:rPr sz="1800" b="1" spc="-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7E7E7E"/>
                </a:solidFill>
                <a:latin typeface="Arial"/>
                <a:cs typeface="Arial"/>
              </a:rPr>
              <a:t>effective</a:t>
            </a:r>
            <a:r>
              <a:rPr sz="1800" b="1" spc="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7E7E7E"/>
                </a:solidFill>
                <a:latin typeface="Arial"/>
                <a:cs typeface="Arial"/>
              </a:rPr>
              <a:t>address</a:t>
            </a:r>
            <a:r>
              <a:rPr sz="1800" b="1" spc="4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7E7E7E"/>
                </a:solidFill>
                <a:latin typeface="Arial"/>
                <a:cs typeface="Arial"/>
              </a:rPr>
              <a:t>from</a:t>
            </a:r>
            <a:r>
              <a:rPr sz="1800" b="1" spc="-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7E7E7E"/>
                </a:solidFill>
                <a:latin typeface="Arial"/>
                <a:cs typeface="Arial"/>
              </a:rPr>
              <a:t>memory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:</a:t>
            </a:r>
            <a:r>
              <a:rPr sz="1800" spc="-9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AR</a:t>
            </a:r>
            <a:r>
              <a:rPr sz="18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Symbol"/>
                <a:cs typeface="Symbol"/>
              </a:rPr>
              <a:t></a:t>
            </a:r>
            <a:r>
              <a:rPr sz="1800" spc="-2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M[AR]</a:t>
            </a:r>
            <a:endParaRPr sz="1800">
              <a:latin typeface="Arial MT"/>
              <a:cs typeface="Arial MT"/>
            </a:endParaRPr>
          </a:p>
          <a:p>
            <a:pPr marL="46355">
              <a:lnSpc>
                <a:spcPct val="100000"/>
              </a:lnSpc>
              <a:spcBef>
                <a:spcPts val="120"/>
              </a:spcBef>
            </a:pPr>
            <a:r>
              <a:rPr sz="1800" b="1" spc="-10" dirty="0">
                <a:solidFill>
                  <a:srgbClr val="008011"/>
                </a:solidFill>
                <a:latin typeface="Arial"/>
                <a:cs typeface="Arial"/>
              </a:rPr>
              <a:t>Execute</a:t>
            </a:r>
            <a:endParaRPr sz="18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490"/>
              </a:spcBef>
            </a:pP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AC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220663"/>
            <a:ext cx="7543800" cy="674687"/>
          </a:xfrm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84023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0B050"/>
                </a:solidFill>
              </a:rPr>
              <a:t>PIPELINING</a:t>
            </a:r>
            <a:r>
              <a:rPr sz="4000" spc="5" dirty="0">
                <a:solidFill>
                  <a:srgbClr val="00B050"/>
                </a:solidFill>
              </a:rPr>
              <a:t> </a:t>
            </a:r>
            <a:r>
              <a:rPr sz="4000" spc="-10" dirty="0">
                <a:solidFill>
                  <a:srgbClr val="00B050"/>
                </a:solidFill>
              </a:rPr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943" y="868718"/>
            <a:ext cx="8396605" cy="7816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75"/>
              </a:spcBef>
              <a:buChar char="•"/>
              <a:tabLst>
                <a:tab pos="299085" algn="l"/>
              </a:tabLst>
            </a:pPr>
            <a:r>
              <a:rPr sz="2300" dirty="0">
                <a:latin typeface="Arial MT"/>
                <a:cs typeface="Arial MT"/>
              </a:rPr>
              <a:t>CPU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time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=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u="dash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CPU</a:t>
            </a:r>
            <a:r>
              <a:rPr sz="2300" u="dash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300" u="dash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clock</a:t>
            </a:r>
            <a:r>
              <a:rPr sz="2300" u="dash" spc="-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300" u="dash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cycles</a:t>
            </a:r>
            <a:r>
              <a:rPr sz="2300" u="dash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300" u="dash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for</a:t>
            </a:r>
            <a:r>
              <a:rPr sz="2300" u="dash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300" u="dash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</a:t>
            </a:r>
            <a:r>
              <a:rPr sz="2300" u="dash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300" u="dash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program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x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Clock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cycle</a:t>
            </a:r>
            <a:r>
              <a:rPr sz="2300" spc="-20" dirty="0">
                <a:latin typeface="Arial MT"/>
                <a:cs typeface="Arial MT"/>
              </a:rPr>
              <a:t> time</a:t>
            </a:r>
            <a:endParaRPr sz="23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455"/>
              </a:spcBef>
            </a:pPr>
            <a:r>
              <a:rPr sz="1800" dirty="0">
                <a:latin typeface="Arial MT"/>
                <a:cs typeface="Arial MT"/>
              </a:rPr>
              <a:t>–</a:t>
            </a:r>
            <a:r>
              <a:rPr sz="1800" spc="2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Example: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Basic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having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single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instruction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0143" y="3884397"/>
            <a:ext cx="7746365" cy="62738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800" dirty="0">
                <a:latin typeface="Arial MT"/>
                <a:cs typeface="Arial MT"/>
              </a:rPr>
              <a:t>–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Assuming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clock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3ns,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is:</a:t>
            </a:r>
            <a:endParaRPr sz="1800">
              <a:latin typeface="Arial MT"/>
              <a:cs typeface="Arial MT"/>
            </a:endParaRPr>
          </a:p>
          <a:p>
            <a:pPr marL="240665">
              <a:lnSpc>
                <a:spcPct val="100000"/>
              </a:lnSpc>
              <a:spcBef>
                <a:spcPts val="204"/>
              </a:spcBef>
              <a:tabLst>
                <a:tab pos="4196080" algn="l"/>
              </a:tabLst>
            </a:pP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0CC00"/>
                </a:solidFill>
                <a:latin typeface="Arial"/>
                <a:cs typeface="Arial"/>
              </a:rPr>
              <a:t>CPI</a:t>
            </a:r>
            <a:r>
              <a:rPr sz="1800" b="1" spc="130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9900"/>
                </a:solidFill>
                <a:latin typeface="Arial"/>
                <a:cs typeface="Arial"/>
              </a:rPr>
              <a:t>clock</a:t>
            </a:r>
            <a:r>
              <a:rPr sz="1800" b="1" spc="-20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9900"/>
                </a:solidFill>
                <a:latin typeface="Arial"/>
                <a:cs typeface="Arial"/>
              </a:rPr>
              <a:t>cycle time</a:t>
            </a:r>
            <a:r>
              <a:rPr sz="1800" b="1" spc="-10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=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dirty="0">
                <a:solidFill>
                  <a:srgbClr val="00CC00"/>
                </a:solidFill>
                <a:latin typeface="Arial"/>
                <a:cs typeface="Arial"/>
              </a:rPr>
              <a:t>6</a:t>
            </a:r>
            <a:r>
              <a:rPr sz="1800" b="1" spc="-20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9900"/>
                </a:solidFill>
                <a:latin typeface="Arial"/>
                <a:cs typeface="Arial"/>
              </a:rPr>
              <a:t>3ns</a:t>
            </a:r>
            <a:r>
              <a:rPr sz="1800" b="1" spc="-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18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ns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18388" y="2019554"/>
            <a:ext cx="8023225" cy="579755"/>
            <a:chOff x="818388" y="2019554"/>
            <a:chExt cx="8023225" cy="5797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388" y="2025396"/>
              <a:ext cx="617982" cy="55092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30274" y="2032254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400">
              <a:solidFill>
                <a:srgbClr val="0080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45208" y="2028431"/>
              <a:ext cx="617982" cy="55093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652522" y="2055114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72027" y="2040623"/>
              <a:ext cx="619518" cy="55246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894582" y="2049018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400">
              <a:solidFill>
                <a:srgbClr val="0000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2564" y="2043684"/>
              <a:ext cx="617982" cy="54635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116829" y="2061210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400">
              <a:solidFill>
                <a:srgbClr val="E6A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36335" y="2046706"/>
              <a:ext cx="618007" cy="53571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352794" y="2047494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4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86016" y="2042147"/>
              <a:ext cx="617981" cy="55246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591806" y="2052066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400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23504" y="2048256"/>
              <a:ext cx="618007" cy="55092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82904" y="2668600"/>
            <a:ext cx="9359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1ABEA"/>
                </a:solidFill>
                <a:latin typeface="Arial MT"/>
                <a:cs typeface="Arial MT"/>
              </a:rPr>
              <a:t>T0:</a:t>
            </a:r>
            <a:r>
              <a:rPr sz="1200" spc="-85" dirty="0">
                <a:solidFill>
                  <a:srgbClr val="01ABE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01ABEA"/>
                </a:solidFill>
                <a:latin typeface="Arial MT"/>
                <a:cs typeface="Arial MT"/>
              </a:rPr>
              <a:t>AR</a:t>
            </a:r>
            <a:r>
              <a:rPr sz="1200" spc="-5" dirty="0">
                <a:solidFill>
                  <a:srgbClr val="01ABE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01ABEA"/>
                </a:solidFill>
                <a:latin typeface="Symbol"/>
                <a:cs typeface="Symbol"/>
              </a:rPr>
              <a:t></a:t>
            </a:r>
            <a:r>
              <a:rPr sz="1200" spc="-5" dirty="0">
                <a:solidFill>
                  <a:srgbClr val="01ABEA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01ABEA"/>
                </a:solidFill>
                <a:latin typeface="Arial MT"/>
                <a:cs typeface="Arial MT"/>
              </a:rPr>
              <a:t>PC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72792" y="2636646"/>
            <a:ext cx="114427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410"/>
              </a:lnSpc>
              <a:spcBef>
                <a:spcPts val="100"/>
              </a:spcBef>
            </a:pPr>
            <a:r>
              <a:rPr sz="1200" dirty="0">
                <a:solidFill>
                  <a:srgbClr val="008011"/>
                </a:solidFill>
                <a:latin typeface="Arial MT"/>
                <a:cs typeface="Arial MT"/>
              </a:rPr>
              <a:t>T1:</a:t>
            </a:r>
            <a:r>
              <a:rPr sz="1200" spc="-2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008011"/>
                </a:solidFill>
                <a:latin typeface="Arial MT"/>
                <a:cs typeface="Arial MT"/>
              </a:rPr>
              <a:t>IR </a:t>
            </a:r>
            <a:r>
              <a:rPr sz="1200" dirty="0">
                <a:solidFill>
                  <a:srgbClr val="008011"/>
                </a:solidFill>
                <a:latin typeface="Symbol"/>
                <a:cs typeface="Symbol"/>
              </a:rPr>
              <a:t></a:t>
            </a:r>
            <a:r>
              <a:rPr sz="1200" spc="30" dirty="0">
                <a:solidFill>
                  <a:srgbClr val="008011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08011"/>
                </a:solidFill>
                <a:latin typeface="Arial MT"/>
                <a:cs typeface="Arial MT"/>
              </a:rPr>
              <a:t>M[AR],</a:t>
            </a:r>
            <a:endParaRPr sz="1200">
              <a:latin typeface="Arial MT"/>
              <a:cs typeface="Arial MT"/>
            </a:endParaRPr>
          </a:p>
          <a:p>
            <a:pPr marR="33655" algn="r">
              <a:lnSpc>
                <a:spcPts val="1410"/>
              </a:lnSpc>
            </a:pPr>
            <a:r>
              <a:rPr sz="1200" dirty="0">
                <a:solidFill>
                  <a:srgbClr val="008011"/>
                </a:solidFill>
                <a:latin typeface="Arial MT"/>
                <a:cs typeface="Arial MT"/>
              </a:rPr>
              <a:t>PC</a:t>
            </a:r>
            <a:r>
              <a:rPr sz="12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008011"/>
                </a:solidFill>
                <a:latin typeface="Symbol"/>
                <a:cs typeface="Symbol"/>
              </a:rPr>
              <a:t></a:t>
            </a:r>
            <a:r>
              <a:rPr sz="1200" spc="35" dirty="0">
                <a:solidFill>
                  <a:srgbClr val="008011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008011"/>
                </a:solidFill>
                <a:latin typeface="Arial MT"/>
                <a:cs typeface="Arial MT"/>
              </a:rPr>
              <a:t>PC+1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25267" y="2627452"/>
            <a:ext cx="1228090" cy="73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15"/>
              </a:lnSpc>
              <a:spcBef>
                <a:spcPts val="100"/>
              </a:spcBef>
            </a:pP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T2:</a:t>
            </a:r>
            <a:r>
              <a:rPr sz="1200" spc="-1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Arial MT"/>
                <a:cs typeface="Arial MT"/>
              </a:rPr>
              <a:t>Decode</a:t>
            </a:r>
            <a:endParaRPr sz="1200">
              <a:latin typeface="Arial MT"/>
              <a:cs typeface="Arial MT"/>
            </a:endParaRPr>
          </a:p>
          <a:p>
            <a:pPr marL="269875">
              <a:lnSpc>
                <a:spcPts val="1390"/>
              </a:lnSpc>
            </a:pPr>
            <a:r>
              <a:rPr sz="1200" spc="-10" dirty="0">
                <a:solidFill>
                  <a:srgbClr val="C00000"/>
                </a:solidFill>
                <a:latin typeface="Arial MT"/>
                <a:cs typeface="Arial MT"/>
              </a:rPr>
              <a:t>IR(12-</a:t>
            </a:r>
            <a:r>
              <a:rPr sz="1200" spc="-20" dirty="0">
                <a:solidFill>
                  <a:srgbClr val="C00000"/>
                </a:solidFill>
                <a:latin typeface="Arial MT"/>
                <a:cs typeface="Arial MT"/>
              </a:rPr>
              <a:t>14),</a:t>
            </a:r>
            <a:endParaRPr sz="1200">
              <a:latin typeface="Arial MT"/>
              <a:cs typeface="Arial MT"/>
            </a:endParaRPr>
          </a:p>
          <a:p>
            <a:pPr marL="269875" marR="5080" indent="-9525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solidFill>
                  <a:srgbClr val="C00000"/>
                </a:solidFill>
                <a:latin typeface="Arial MT"/>
                <a:cs typeface="Arial MT"/>
              </a:rPr>
              <a:t>AR</a:t>
            </a:r>
            <a:r>
              <a:rPr sz="1200" spc="-10" dirty="0">
                <a:solidFill>
                  <a:srgbClr val="C00000"/>
                </a:solidFill>
                <a:latin typeface="Symbol"/>
                <a:cs typeface="Symbol"/>
              </a:rPr>
              <a:t></a:t>
            </a:r>
            <a:r>
              <a:rPr sz="1200" spc="-10" dirty="0">
                <a:solidFill>
                  <a:srgbClr val="C00000"/>
                </a:solidFill>
                <a:latin typeface="Arial MT"/>
                <a:cs typeface="Arial MT"/>
              </a:rPr>
              <a:t>IR(0-</a:t>
            </a:r>
            <a:r>
              <a:rPr sz="1200" spc="-25" dirty="0">
                <a:solidFill>
                  <a:srgbClr val="C00000"/>
                </a:solidFill>
                <a:latin typeface="Arial MT"/>
                <a:cs typeface="Arial MT"/>
              </a:rPr>
              <a:t>11), </a:t>
            </a: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I</a:t>
            </a:r>
            <a:r>
              <a:rPr sz="1200" spc="-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00000"/>
                </a:solidFill>
                <a:latin typeface="Symbol"/>
                <a:cs typeface="Symbol"/>
              </a:rPr>
              <a:t></a:t>
            </a:r>
            <a:r>
              <a:rPr sz="1200" spc="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Arial MT"/>
                <a:cs typeface="Arial MT"/>
              </a:rPr>
              <a:t>IR(15)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02277" y="2839339"/>
            <a:ext cx="771525" cy="70231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260"/>
              </a:spcBef>
            </a:pPr>
            <a:r>
              <a:rPr sz="1200" spc="-10" dirty="0">
                <a:solidFill>
                  <a:srgbClr val="0000D3"/>
                </a:solidFill>
                <a:latin typeface="Arial MT"/>
                <a:cs typeface="Arial MT"/>
              </a:rPr>
              <a:t>because direct addressing </a:t>
            </a:r>
            <a:r>
              <a:rPr sz="1200" dirty="0">
                <a:solidFill>
                  <a:srgbClr val="0000D3"/>
                </a:solidFill>
                <a:latin typeface="Arial MT"/>
                <a:cs typeface="Arial MT"/>
              </a:rPr>
              <a:t>is</a:t>
            </a:r>
            <a:r>
              <a:rPr sz="1200" spc="-5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0000D3"/>
                </a:solidFill>
                <a:latin typeface="Arial MT"/>
                <a:cs typeface="Arial MT"/>
              </a:rPr>
              <a:t>used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19321" y="2684779"/>
            <a:ext cx="3731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309370" algn="l"/>
              </a:tabLst>
            </a:pPr>
            <a:r>
              <a:rPr sz="1800" baseline="4629" dirty="0">
                <a:solidFill>
                  <a:srgbClr val="0000D3"/>
                </a:solidFill>
                <a:latin typeface="Arial MT"/>
                <a:cs typeface="Arial MT"/>
              </a:rPr>
              <a:t>T3:</a:t>
            </a:r>
            <a:r>
              <a:rPr sz="1800" spc="-22" baseline="4629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1800" baseline="4629" dirty="0">
                <a:solidFill>
                  <a:srgbClr val="0000D3"/>
                </a:solidFill>
                <a:latin typeface="Arial MT"/>
                <a:cs typeface="Arial MT"/>
              </a:rPr>
              <a:t>no</a:t>
            </a:r>
            <a:r>
              <a:rPr sz="1800" spc="-37" baseline="4629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1800" spc="-15" baseline="4629" dirty="0">
                <a:solidFill>
                  <a:srgbClr val="0000D3"/>
                </a:solidFill>
                <a:latin typeface="Arial MT"/>
                <a:cs typeface="Arial MT"/>
              </a:rPr>
              <a:t>operation</a:t>
            </a:r>
            <a:r>
              <a:rPr sz="1800" baseline="4629" dirty="0">
                <a:solidFill>
                  <a:srgbClr val="0000D3"/>
                </a:solidFill>
                <a:latin typeface="Arial MT"/>
                <a:cs typeface="Arial MT"/>
              </a:rPr>
              <a:t>	</a:t>
            </a:r>
            <a:r>
              <a:rPr sz="1200" dirty="0">
                <a:solidFill>
                  <a:srgbClr val="E6AE00"/>
                </a:solidFill>
                <a:latin typeface="Arial MT"/>
                <a:cs typeface="Arial MT"/>
              </a:rPr>
              <a:t>T</a:t>
            </a:r>
            <a:r>
              <a:rPr sz="1200" baseline="-20833" dirty="0">
                <a:solidFill>
                  <a:srgbClr val="E6AE00"/>
                </a:solidFill>
                <a:latin typeface="Arial MT"/>
                <a:cs typeface="Arial MT"/>
              </a:rPr>
              <a:t>4</a:t>
            </a:r>
            <a:r>
              <a:rPr sz="1200" dirty="0">
                <a:solidFill>
                  <a:srgbClr val="E6AE00"/>
                </a:solidFill>
                <a:latin typeface="Arial MT"/>
                <a:cs typeface="Arial MT"/>
              </a:rPr>
              <a:t>:</a:t>
            </a:r>
            <a:r>
              <a:rPr sz="1200" spc="-15" dirty="0">
                <a:solidFill>
                  <a:srgbClr val="E6AE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E6AE00"/>
                </a:solidFill>
                <a:latin typeface="Arial MT"/>
                <a:cs typeface="Arial MT"/>
              </a:rPr>
              <a:t>DR</a:t>
            </a:r>
            <a:r>
              <a:rPr sz="1200" spc="-15" dirty="0">
                <a:solidFill>
                  <a:srgbClr val="E6AE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E6AE00"/>
                </a:solidFill>
                <a:latin typeface="Symbol"/>
                <a:cs typeface="Symbol"/>
              </a:rPr>
              <a:t></a:t>
            </a:r>
            <a:r>
              <a:rPr sz="1200" spc="25" dirty="0">
                <a:solidFill>
                  <a:srgbClr val="E6AE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E6AE00"/>
                </a:solidFill>
                <a:latin typeface="Arial MT"/>
                <a:cs typeface="Arial MT"/>
              </a:rPr>
              <a:t>M[AR]</a:t>
            </a:r>
            <a:r>
              <a:rPr sz="1200" spc="220" dirty="0">
                <a:solidFill>
                  <a:srgbClr val="E6AE00"/>
                </a:solidFill>
                <a:latin typeface="Arial MT"/>
                <a:cs typeface="Arial MT"/>
              </a:rPr>
              <a:t> </a:t>
            </a:r>
            <a:r>
              <a:rPr sz="1800" baseline="4629" dirty="0">
                <a:solidFill>
                  <a:srgbClr val="6F2F9F"/>
                </a:solidFill>
                <a:latin typeface="Arial MT"/>
                <a:cs typeface="Arial MT"/>
              </a:rPr>
              <a:t>T</a:t>
            </a:r>
            <a:r>
              <a:rPr sz="1200" baseline="-13888" dirty="0">
                <a:solidFill>
                  <a:srgbClr val="6F2F9F"/>
                </a:solidFill>
                <a:latin typeface="Arial MT"/>
                <a:cs typeface="Arial MT"/>
              </a:rPr>
              <a:t>5</a:t>
            </a:r>
            <a:r>
              <a:rPr sz="1800" baseline="4629" dirty="0">
                <a:solidFill>
                  <a:srgbClr val="6F2F9F"/>
                </a:solidFill>
                <a:latin typeface="Arial MT"/>
                <a:cs typeface="Arial MT"/>
              </a:rPr>
              <a:t>:AC</a:t>
            </a:r>
            <a:r>
              <a:rPr sz="1800" spc="-22" baseline="4629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800" baseline="4629" dirty="0">
                <a:solidFill>
                  <a:srgbClr val="6F2F9F"/>
                </a:solidFill>
                <a:latin typeface="Symbol"/>
                <a:cs typeface="Symbol"/>
              </a:rPr>
              <a:t></a:t>
            </a:r>
            <a:r>
              <a:rPr sz="1800" spc="-67" baseline="4629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spc="-15" baseline="4629" dirty="0">
                <a:solidFill>
                  <a:srgbClr val="6F2F9F"/>
                </a:solidFill>
                <a:latin typeface="Arial MT"/>
                <a:cs typeface="Arial MT"/>
              </a:rPr>
              <a:t>AC+DR,</a:t>
            </a:r>
            <a:endParaRPr sz="1800" baseline="4629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76033" y="2836926"/>
            <a:ext cx="558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F2F9F"/>
                </a:solidFill>
                <a:latin typeface="Arial MT"/>
                <a:cs typeface="Arial MT"/>
              </a:rPr>
              <a:t>SC</a:t>
            </a:r>
            <a:r>
              <a:rPr sz="1200" spc="-10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6F2F9F"/>
                </a:solidFill>
                <a:latin typeface="Symbol"/>
                <a:cs typeface="Symbol"/>
              </a:rPr>
              <a:t></a:t>
            </a:r>
            <a:r>
              <a:rPr sz="1200" spc="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200" spc="-50" dirty="0">
                <a:solidFill>
                  <a:srgbClr val="6F2F9F"/>
                </a:solidFill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11733" y="2004314"/>
            <a:ext cx="7515225" cy="595630"/>
            <a:chOff x="411733" y="2004314"/>
            <a:chExt cx="7515225" cy="595630"/>
          </a:xfrm>
        </p:grpSpPr>
        <p:sp>
          <p:nvSpPr>
            <p:cNvPr id="26" name="object 26"/>
            <p:cNvSpPr/>
            <p:nvPr/>
          </p:nvSpPr>
          <p:spPr>
            <a:xfrm>
              <a:off x="424433" y="2017014"/>
              <a:ext cx="381000" cy="558800"/>
            </a:xfrm>
            <a:custGeom>
              <a:avLst/>
              <a:gdLst/>
              <a:ahLst/>
              <a:cxnLst/>
              <a:rect l="l" t="t" r="r" b="b"/>
              <a:pathLst>
                <a:path w="381000" h="558800">
                  <a:moveTo>
                    <a:pt x="380492" y="24384"/>
                  </a:moveTo>
                  <a:lnTo>
                    <a:pt x="12192" y="24384"/>
                  </a:lnTo>
                </a:path>
                <a:path w="381000" h="558800">
                  <a:moveTo>
                    <a:pt x="12700" y="0"/>
                  </a:moveTo>
                  <a:lnTo>
                    <a:pt x="0" y="558800"/>
                  </a:lnTo>
                </a:path>
              </a:pathLst>
            </a:custGeom>
            <a:ln w="25400">
              <a:solidFill>
                <a:srgbClr val="01AB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30045" y="2556510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5" h="4444">
                  <a:moveTo>
                    <a:pt x="605154" y="0"/>
                  </a:moveTo>
                  <a:lnTo>
                    <a:pt x="0" y="4444"/>
                  </a:lnTo>
                </a:path>
              </a:pathLst>
            </a:custGeom>
            <a:ln w="38100">
              <a:solidFill>
                <a:srgbClr val="01AB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40101" y="2565654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5" h="4444">
                  <a:moveTo>
                    <a:pt x="605155" y="0"/>
                  </a:moveTo>
                  <a:lnTo>
                    <a:pt x="0" y="4445"/>
                  </a:lnTo>
                </a:path>
              </a:pathLst>
            </a:custGeom>
            <a:ln w="38100">
              <a:solidFill>
                <a:srgbClr val="0080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597401" y="2573274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4" h="4444">
                  <a:moveTo>
                    <a:pt x="605155" y="0"/>
                  </a:moveTo>
                  <a:lnTo>
                    <a:pt x="0" y="4445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845557" y="2576322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4" h="4444">
                  <a:moveTo>
                    <a:pt x="605154" y="0"/>
                  </a:moveTo>
                  <a:lnTo>
                    <a:pt x="0" y="4444"/>
                  </a:lnTo>
                </a:path>
              </a:pathLst>
            </a:custGeom>
            <a:ln w="38100">
              <a:solidFill>
                <a:srgbClr val="0000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73901" y="2562606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4" h="4444">
                  <a:moveTo>
                    <a:pt x="605154" y="0"/>
                  </a:moveTo>
                  <a:lnTo>
                    <a:pt x="0" y="4445"/>
                  </a:lnTo>
                </a:path>
              </a:pathLst>
            </a:custGeom>
            <a:ln w="38100">
              <a:solidFill>
                <a:srgbClr val="E6A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02245" y="2576322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4" h="4444">
                  <a:moveTo>
                    <a:pt x="605154" y="0"/>
                  </a:moveTo>
                  <a:lnTo>
                    <a:pt x="0" y="4444"/>
                  </a:lnTo>
                </a:path>
              </a:pathLst>
            </a:custGeom>
            <a:ln w="381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112500"/>
            <a:ext cx="6719888" cy="612988"/>
          </a:xfrm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84023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B050"/>
                </a:solidFill>
              </a:rPr>
              <a:t>PIPELINING</a:t>
            </a:r>
            <a:r>
              <a:rPr sz="3600" spc="-20" dirty="0">
                <a:solidFill>
                  <a:srgbClr val="00B050"/>
                </a:solidFill>
              </a:rPr>
              <a:t> </a:t>
            </a:r>
            <a:r>
              <a:rPr sz="3600" spc="-10" dirty="0">
                <a:solidFill>
                  <a:srgbClr val="00B050"/>
                </a:solidFill>
              </a:rPr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76091" y="6030874"/>
            <a:ext cx="5822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Time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611" y="3776852"/>
            <a:ext cx="5638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Jobs</a:t>
            </a:r>
            <a:endParaRPr sz="20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48549" y="2037397"/>
          <a:ext cx="4114800" cy="3656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64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F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495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64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D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495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64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495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64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F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495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64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D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495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964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4955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F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501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D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501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501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376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F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501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D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501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501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1068324" y="2082545"/>
            <a:ext cx="4491990" cy="3980179"/>
          </a:xfrm>
          <a:custGeom>
            <a:avLst/>
            <a:gdLst/>
            <a:ahLst/>
            <a:cxnLst/>
            <a:rect l="l" t="t" r="r" b="b"/>
            <a:pathLst>
              <a:path w="4491990" h="3980179">
                <a:moveTo>
                  <a:pt x="4491990" y="3922776"/>
                </a:moveTo>
                <a:lnTo>
                  <a:pt x="4453890" y="3903726"/>
                </a:lnTo>
                <a:lnTo>
                  <a:pt x="4377690" y="3865626"/>
                </a:lnTo>
                <a:lnTo>
                  <a:pt x="4377690" y="3903726"/>
                </a:lnTo>
                <a:lnTo>
                  <a:pt x="76200" y="3903726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lnTo>
                  <a:pt x="57150" y="0"/>
                </a:lnTo>
                <a:lnTo>
                  <a:pt x="0" y="114300"/>
                </a:lnTo>
                <a:lnTo>
                  <a:pt x="38100" y="114300"/>
                </a:lnTo>
                <a:lnTo>
                  <a:pt x="38100" y="3931920"/>
                </a:lnTo>
                <a:lnTo>
                  <a:pt x="72390" y="3931920"/>
                </a:lnTo>
                <a:lnTo>
                  <a:pt x="72390" y="3941826"/>
                </a:lnTo>
                <a:lnTo>
                  <a:pt x="4377690" y="3941826"/>
                </a:lnTo>
                <a:lnTo>
                  <a:pt x="4377690" y="3979926"/>
                </a:lnTo>
                <a:lnTo>
                  <a:pt x="4453890" y="3941826"/>
                </a:lnTo>
                <a:lnTo>
                  <a:pt x="4491990" y="3922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86453" y="1497583"/>
            <a:ext cx="3879215" cy="185229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173355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Arial MT"/>
                <a:cs typeface="Arial MT"/>
              </a:rPr>
              <a:t>Break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job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smaller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stages </a:t>
            </a:r>
            <a:r>
              <a:rPr sz="2000" dirty="0">
                <a:latin typeface="Arial MT"/>
                <a:cs typeface="Arial MT"/>
              </a:rPr>
              <a:t>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fetch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(~6ns)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010"/>
              </a:lnSpc>
            </a:pPr>
            <a:r>
              <a:rPr sz="2000" dirty="0">
                <a:latin typeface="Arial MT"/>
                <a:cs typeface="Arial MT"/>
              </a:rPr>
              <a:t>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decode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(~6ns)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latin typeface="Arial MT"/>
                <a:cs typeface="Arial MT"/>
              </a:rPr>
              <a:t>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execute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(~6ns)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Throughput</a:t>
            </a:r>
            <a:r>
              <a:rPr sz="1800" b="1" spc="-6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=</a:t>
            </a:r>
            <a:r>
              <a:rPr sz="18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1</a:t>
            </a:r>
            <a:r>
              <a:rPr sz="18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instruction</a:t>
            </a:r>
            <a:r>
              <a:rPr sz="1800" b="1" spc="-5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per</a:t>
            </a:r>
            <a:r>
              <a:rPr sz="18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6</a:t>
            </a:r>
            <a:r>
              <a:rPr sz="1800" b="1" spc="-4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08011"/>
                </a:solidFill>
                <a:latin typeface="Arial"/>
                <a:cs typeface="Arial"/>
              </a:rPr>
              <a:t>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0375" y="879475"/>
            <a:ext cx="327723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Executing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instructions</a:t>
            </a:r>
            <a:endParaRPr sz="2400" dirty="0">
              <a:latin typeface="Arial MT"/>
              <a:cs typeface="Arial MT"/>
            </a:endParaRPr>
          </a:p>
          <a:p>
            <a:pPr marL="661670" algn="ctr">
              <a:lnSpc>
                <a:spcPct val="100000"/>
              </a:lnSpc>
              <a:spcBef>
                <a:spcPts val="1795"/>
              </a:spcBef>
            </a:pP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Pipelined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228600"/>
            <a:ext cx="7543800" cy="674688"/>
          </a:xfrm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84023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0B050"/>
                </a:solidFill>
              </a:rPr>
              <a:t>PIPELINING</a:t>
            </a:r>
            <a:r>
              <a:rPr sz="4000" spc="-20" dirty="0">
                <a:solidFill>
                  <a:srgbClr val="00B050"/>
                </a:solidFill>
              </a:rPr>
              <a:t> </a:t>
            </a:r>
            <a:r>
              <a:rPr sz="4000" spc="-10" dirty="0">
                <a:solidFill>
                  <a:srgbClr val="00B050"/>
                </a:solidFill>
              </a:rPr>
              <a:t>INSTRUCTIONS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990600" y="934518"/>
            <a:ext cx="7543800" cy="50789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835" indent="-286385">
              <a:lnSpc>
                <a:spcPts val="2740"/>
              </a:lnSpc>
              <a:spcBef>
                <a:spcPts val="100"/>
              </a:spcBef>
              <a:buChar char="•"/>
              <a:tabLst>
                <a:tab pos="331470" algn="l"/>
              </a:tabLst>
            </a:pPr>
            <a:r>
              <a:rPr sz="2400" dirty="0"/>
              <a:t>Pipelining</a:t>
            </a:r>
            <a:r>
              <a:rPr sz="2400" spc="-60" dirty="0"/>
              <a:t> </a:t>
            </a:r>
            <a:r>
              <a:rPr sz="2400" dirty="0"/>
              <a:t>is</a:t>
            </a:r>
            <a:r>
              <a:rPr sz="2400" spc="-100" dirty="0"/>
              <a:t> </a:t>
            </a:r>
            <a:r>
              <a:rPr sz="2400" dirty="0"/>
              <a:t>an</a:t>
            </a:r>
            <a:r>
              <a:rPr sz="2400" spc="-105" dirty="0"/>
              <a:t> </a:t>
            </a:r>
            <a:r>
              <a:rPr sz="2400" dirty="0"/>
              <a:t>implementation</a:t>
            </a:r>
            <a:r>
              <a:rPr sz="2400" spc="-75" dirty="0"/>
              <a:t> </a:t>
            </a:r>
            <a:r>
              <a:rPr sz="2400" dirty="0"/>
              <a:t>technique</a:t>
            </a:r>
            <a:r>
              <a:rPr sz="2400" spc="-85" dirty="0"/>
              <a:t> </a:t>
            </a:r>
            <a:r>
              <a:rPr sz="2400" dirty="0"/>
              <a:t>whereby</a:t>
            </a:r>
            <a:r>
              <a:rPr sz="2400" spc="-90" dirty="0"/>
              <a:t> </a:t>
            </a:r>
            <a:r>
              <a:rPr sz="2400" spc="-10" dirty="0"/>
              <a:t>multiple</a:t>
            </a:r>
            <a:r>
              <a:rPr lang="en-US" sz="2400" spc="-10" dirty="0"/>
              <a:t> </a:t>
            </a:r>
            <a:r>
              <a:rPr dirty="0"/>
              <a:t>instructions are overlapped in their execution</a:t>
            </a:r>
          </a:p>
          <a:p>
            <a:pPr marL="727710" marR="237490" lvl="1" indent="-226695">
              <a:lnSpc>
                <a:spcPts val="2160"/>
              </a:lnSpc>
              <a:spcBef>
                <a:spcPts val="755"/>
              </a:spcBef>
              <a:buChar char="–"/>
              <a:tabLst>
                <a:tab pos="730250" algn="l"/>
              </a:tabLst>
            </a:pPr>
            <a:r>
              <a:rPr dirty="0"/>
              <a:t>Instructions are decomposed into several pipe segments (steps or 	stage)</a:t>
            </a:r>
          </a:p>
          <a:p>
            <a:pPr marL="31750" lvl="1">
              <a:lnSpc>
                <a:spcPct val="100000"/>
              </a:lnSpc>
              <a:spcBef>
                <a:spcPts val="1305"/>
              </a:spcBef>
              <a:buFont typeface="Arial MT"/>
              <a:buChar char="–"/>
            </a:pPr>
            <a:endParaRPr dirty="0"/>
          </a:p>
          <a:p>
            <a:pPr marL="727710" marR="44450" lvl="1" indent="-226695">
              <a:lnSpc>
                <a:spcPts val="2160"/>
              </a:lnSpc>
              <a:buChar char="–"/>
              <a:tabLst>
                <a:tab pos="730250" algn="l"/>
              </a:tabLst>
            </a:pPr>
            <a:r>
              <a:rPr dirty="0"/>
              <a:t>Different segments process different parts of different instructions in 	parallel (i.e. several processings may be in progress in distinct 	segments simultaneously)</a:t>
            </a:r>
          </a:p>
          <a:p>
            <a:pPr marL="31750" lvl="1">
              <a:lnSpc>
                <a:spcPct val="100000"/>
              </a:lnSpc>
              <a:spcBef>
                <a:spcPts val="1300"/>
              </a:spcBef>
              <a:buFont typeface="Arial MT"/>
              <a:buChar char="–"/>
            </a:pPr>
            <a:endParaRPr dirty="0"/>
          </a:p>
          <a:p>
            <a:pPr marL="727710" marR="225425" lvl="1" indent="-226695">
              <a:lnSpc>
                <a:spcPts val="2160"/>
              </a:lnSpc>
              <a:buChar char="–"/>
              <a:tabLst>
                <a:tab pos="730250" algn="l"/>
              </a:tabLst>
            </a:pPr>
            <a:r>
              <a:rPr dirty="0"/>
              <a:t>Instructions enter at one end of the pipe, progress through various 	stages and exit at the other end</a:t>
            </a:r>
          </a:p>
          <a:p>
            <a:pPr marL="31750" lvl="1">
              <a:lnSpc>
                <a:spcPct val="100000"/>
              </a:lnSpc>
              <a:spcBef>
                <a:spcPts val="1305"/>
              </a:spcBef>
              <a:buFont typeface="Arial MT"/>
              <a:buChar char="–"/>
            </a:pPr>
            <a:endParaRPr dirty="0"/>
          </a:p>
          <a:p>
            <a:pPr marL="727710" marR="5080" lvl="1" indent="-226695">
              <a:lnSpc>
                <a:spcPts val="2160"/>
              </a:lnSpc>
              <a:buChar char="–"/>
              <a:tabLst>
                <a:tab pos="730250" algn="l"/>
              </a:tabLst>
            </a:pPr>
            <a:r>
              <a:rPr dirty="0"/>
              <a:t>Throughput of the pipeline is determined by how often an instruction 	exits the pipeline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bject 4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25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382588"/>
            <a:ext cx="7543800" cy="674687"/>
          </a:xfrm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84023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0B050"/>
                </a:solidFill>
              </a:rPr>
              <a:t>PIPELINING</a:t>
            </a:r>
            <a:r>
              <a:rPr sz="4000" spc="-20" dirty="0">
                <a:solidFill>
                  <a:srgbClr val="00B050"/>
                </a:solidFill>
              </a:rPr>
              <a:t> </a:t>
            </a:r>
            <a:r>
              <a:rPr sz="4000" spc="-10" dirty="0">
                <a:solidFill>
                  <a:srgbClr val="00B050"/>
                </a:solidFill>
              </a:rPr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0143" y="4533138"/>
            <a:ext cx="7887970" cy="18859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38760" marR="5080" indent="-226695">
              <a:lnSpc>
                <a:spcPts val="2160"/>
              </a:lnSpc>
              <a:spcBef>
                <a:spcPts val="375"/>
              </a:spcBef>
              <a:buChar char="–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registers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provide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isolation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between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so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that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each 	</a:t>
            </a:r>
            <a:r>
              <a:rPr sz="2000" b="1" dirty="0">
                <a:latin typeface="Arial"/>
                <a:cs typeface="Arial"/>
              </a:rPr>
              <a:t>can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operate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on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distinct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data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simultaneously</a:t>
            </a:r>
            <a:endParaRPr sz="2000" dirty="0">
              <a:latin typeface="Arial"/>
              <a:cs typeface="Arial"/>
            </a:endParaRPr>
          </a:p>
          <a:p>
            <a:pPr marL="240029" indent="-227329">
              <a:lnSpc>
                <a:spcPts val="2280"/>
              </a:lnSpc>
              <a:spcBef>
                <a:spcPts val="450"/>
              </a:spcBef>
              <a:buChar char="–"/>
              <a:tabLst>
                <a:tab pos="240029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(intermediate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result)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applied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</a:t>
            </a:r>
            <a:endParaRPr sz="2000" dirty="0">
              <a:latin typeface="Arial MT"/>
              <a:cs typeface="Arial MT"/>
            </a:endParaRPr>
          </a:p>
          <a:p>
            <a:pPr marL="240665">
              <a:lnSpc>
                <a:spcPts val="2280"/>
              </a:lnSpc>
            </a:pPr>
            <a:r>
              <a:rPr sz="2000" dirty="0">
                <a:latin typeface="Arial MT"/>
                <a:cs typeface="Arial MT"/>
              </a:rPr>
              <a:t>input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register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next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segment</a:t>
            </a:r>
            <a:endParaRPr sz="2000" dirty="0">
              <a:latin typeface="Arial MT"/>
              <a:cs typeface="Arial MT"/>
            </a:endParaRPr>
          </a:p>
          <a:p>
            <a:pPr marL="238760" marR="118110" indent="-226695">
              <a:lnSpc>
                <a:spcPts val="2160"/>
              </a:lnSpc>
              <a:spcBef>
                <a:spcPts val="750"/>
              </a:spcBef>
              <a:buChar char="–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clock</a:t>
            </a:r>
            <a:r>
              <a:rPr sz="2000" spc="-4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applied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registers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ensure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information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flow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through 	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pipeline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step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time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2943" y="941578"/>
            <a:ext cx="8396605" cy="19685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107314" indent="-287020">
              <a:lnSpc>
                <a:spcPts val="2590"/>
              </a:lnSpc>
              <a:spcBef>
                <a:spcPts val="42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Overlapping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made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possible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associating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register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segment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pipeline</a:t>
            </a:r>
            <a:endParaRPr sz="2400">
              <a:latin typeface="Arial MT"/>
              <a:cs typeface="Arial MT"/>
            </a:endParaRPr>
          </a:p>
          <a:p>
            <a:pPr marL="697865" marR="5080" indent="-228600">
              <a:lnSpc>
                <a:spcPts val="2160"/>
              </a:lnSpc>
              <a:spcBef>
                <a:spcPts val="725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consists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input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register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hold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data)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followed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by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combinatorial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circuit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(that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performs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required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sub-</a:t>
            </a:r>
            <a:r>
              <a:rPr sz="2000" spc="-10" dirty="0">
                <a:latin typeface="Arial MT"/>
                <a:cs typeface="Arial MT"/>
              </a:rPr>
              <a:t>operation)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00">
              <a:latin typeface="Arial MT"/>
              <a:cs typeface="Arial MT"/>
            </a:endParaRPr>
          </a:p>
          <a:p>
            <a:pPr marL="548005" algn="ctr">
              <a:lnSpc>
                <a:spcPct val="100000"/>
              </a:lnSpc>
            </a:pP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Example</a:t>
            </a:r>
            <a:r>
              <a:rPr sz="2000" spc="-1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Structure</a:t>
            </a:r>
            <a:r>
              <a:rPr sz="2000" spc="-4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of</a:t>
            </a:r>
            <a:r>
              <a:rPr sz="2000" spc="-3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a</a:t>
            </a:r>
            <a:r>
              <a:rPr sz="2000" spc="-10" dirty="0">
                <a:solidFill>
                  <a:srgbClr val="008011"/>
                </a:solidFill>
                <a:latin typeface="Arial MT"/>
                <a:cs typeface="Arial MT"/>
              </a:rPr>
              <a:t> 4-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Segment</a:t>
            </a:r>
            <a:r>
              <a:rPr sz="2000" spc="-5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8011"/>
                </a:solidFill>
                <a:latin typeface="Arial MT"/>
                <a:cs typeface="Arial MT"/>
              </a:rPr>
              <a:t>Pipeline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31644" y="3328670"/>
            <a:ext cx="5248910" cy="796290"/>
            <a:chOff x="2231644" y="3328670"/>
            <a:chExt cx="5248910" cy="7962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2997" y="3352038"/>
              <a:ext cx="257555" cy="77266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6261" y="3352038"/>
              <a:ext cx="257556" cy="77266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88001" y="3352038"/>
              <a:ext cx="256032" cy="77266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83458" y="3352038"/>
              <a:ext cx="242315" cy="7726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989199" y="3716274"/>
              <a:ext cx="288290" cy="50800"/>
            </a:xfrm>
            <a:custGeom>
              <a:avLst/>
              <a:gdLst/>
              <a:ahLst/>
              <a:cxnLst/>
              <a:rect l="l" t="t" r="r" b="b"/>
              <a:pathLst>
                <a:path w="288289" h="50800">
                  <a:moveTo>
                    <a:pt x="237617" y="0"/>
                  </a:moveTo>
                  <a:lnTo>
                    <a:pt x="237490" y="12691"/>
                  </a:lnTo>
                  <a:lnTo>
                    <a:pt x="250189" y="12826"/>
                  </a:lnTo>
                  <a:lnTo>
                    <a:pt x="250059" y="25907"/>
                  </a:lnTo>
                  <a:lnTo>
                    <a:pt x="249936" y="38226"/>
                  </a:lnTo>
                  <a:lnTo>
                    <a:pt x="237234" y="38226"/>
                  </a:lnTo>
                  <a:lnTo>
                    <a:pt x="237108" y="50800"/>
                  </a:lnTo>
                  <a:lnTo>
                    <a:pt x="262896" y="38226"/>
                  </a:lnTo>
                  <a:lnTo>
                    <a:pt x="249936" y="38226"/>
                  </a:lnTo>
                  <a:lnTo>
                    <a:pt x="237236" y="38091"/>
                  </a:lnTo>
                  <a:lnTo>
                    <a:pt x="263174" y="38091"/>
                  </a:lnTo>
                  <a:lnTo>
                    <a:pt x="288163" y="25907"/>
                  </a:lnTo>
                  <a:lnTo>
                    <a:pt x="237617" y="0"/>
                  </a:lnTo>
                  <a:close/>
                </a:path>
                <a:path w="288289" h="50800">
                  <a:moveTo>
                    <a:pt x="237490" y="12691"/>
                  </a:moveTo>
                  <a:lnTo>
                    <a:pt x="237357" y="25907"/>
                  </a:lnTo>
                  <a:lnTo>
                    <a:pt x="237236" y="38091"/>
                  </a:lnTo>
                  <a:lnTo>
                    <a:pt x="249936" y="38226"/>
                  </a:lnTo>
                  <a:lnTo>
                    <a:pt x="250189" y="12826"/>
                  </a:lnTo>
                  <a:lnTo>
                    <a:pt x="237490" y="12691"/>
                  </a:lnTo>
                  <a:close/>
                </a:path>
                <a:path w="288289" h="50800">
                  <a:moveTo>
                    <a:pt x="253" y="10159"/>
                  </a:moveTo>
                  <a:lnTo>
                    <a:pt x="96" y="25907"/>
                  </a:lnTo>
                  <a:lnTo>
                    <a:pt x="0" y="35559"/>
                  </a:lnTo>
                  <a:lnTo>
                    <a:pt x="237236" y="38091"/>
                  </a:lnTo>
                  <a:lnTo>
                    <a:pt x="237488" y="12826"/>
                  </a:lnTo>
                  <a:lnTo>
                    <a:pt x="237490" y="12691"/>
                  </a:lnTo>
                  <a:lnTo>
                    <a:pt x="253" y="10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30702" y="3341370"/>
              <a:ext cx="158750" cy="59690"/>
            </a:xfrm>
            <a:custGeom>
              <a:avLst/>
              <a:gdLst/>
              <a:ahLst/>
              <a:cxnLst/>
              <a:rect l="l" t="t" r="r" b="b"/>
              <a:pathLst>
                <a:path w="158750" h="59689">
                  <a:moveTo>
                    <a:pt x="0" y="0"/>
                  </a:moveTo>
                  <a:lnTo>
                    <a:pt x="86868" y="59435"/>
                  </a:lnTo>
                </a:path>
                <a:path w="158750" h="59689">
                  <a:moveTo>
                    <a:pt x="158496" y="0"/>
                  </a:moveTo>
                  <a:lnTo>
                    <a:pt x="73151" y="59435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31644" y="3710051"/>
              <a:ext cx="264160" cy="50800"/>
            </a:xfrm>
            <a:custGeom>
              <a:avLst/>
              <a:gdLst/>
              <a:ahLst/>
              <a:cxnLst/>
              <a:rect l="l" t="t" r="r" b="b"/>
              <a:pathLst>
                <a:path w="264160" h="50800">
                  <a:moveTo>
                    <a:pt x="238713" y="12446"/>
                  </a:moveTo>
                  <a:lnTo>
                    <a:pt x="225551" y="12446"/>
                  </a:lnTo>
                  <a:lnTo>
                    <a:pt x="226060" y="37846"/>
                  </a:lnTo>
                  <a:lnTo>
                    <a:pt x="213391" y="38067"/>
                  </a:lnTo>
                  <a:lnTo>
                    <a:pt x="213613" y="50800"/>
                  </a:lnTo>
                  <a:lnTo>
                    <a:pt x="263906" y="24511"/>
                  </a:lnTo>
                  <a:lnTo>
                    <a:pt x="238713" y="12446"/>
                  </a:lnTo>
                  <a:close/>
                </a:path>
                <a:path w="264160" h="50800">
                  <a:moveTo>
                    <a:pt x="212946" y="12666"/>
                  </a:moveTo>
                  <a:lnTo>
                    <a:pt x="0" y="16382"/>
                  </a:lnTo>
                  <a:lnTo>
                    <a:pt x="429" y="37846"/>
                  </a:lnTo>
                  <a:lnTo>
                    <a:pt x="507" y="41782"/>
                  </a:lnTo>
                  <a:lnTo>
                    <a:pt x="213391" y="38067"/>
                  </a:lnTo>
                  <a:lnTo>
                    <a:pt x="213011" y="16382"/>
                  </a:lnTo>
                  <a:lnTo>
                    <a:pt x="212946" y="12666"/>
                  </a:lnTo>
                  <a:close/>
                </a:path>
                <a:path w="264160" h="50800">
                  <a:moveTo>
                    <a:pt x="225551" y="12446"/>
                  </a:moveTo>
                  <a:lnTo>
                    <a:pt x="212946" y="12666"/>
                  </a:lnTo>
                  <a:lnTo>
                    <a:pt x="213387" y="37846"/>
                  </a:lnTo>
                  <a:lnTo>
                    <a:pt x="213391" y="38067"/>
                  </a:lnTo>
                  <a:lnTo>
                    <a:pt x="226060" y="37846"/>
                  </a:lnTo>
                  <a:lnTo>
                    <a:pt x="225630" y="16382"/>
                  </a:lnTo>
                  <a:lnTo>
                    <a:pt x="225551" y="12446"/>
                  </a:lnTo>
                  <a:close/>
                </a:path>
                <a:path w="264160" h="50800">
                  <a:moveTo>
                    <a:pt x="212725" y="0"/>
                  </a:moveTo>
                  <a:lnTo>
                    <a:pt x="212942" y="12446"/>
                  </a:lnTo>
                  <a:lnTo>
                    <a:pt x="212946" y="12666"/>
                  </a:lnTo>
                  <a:lnTo>
                    <a:pt x="225551" y="12446"/>
                  </a:lnTo>
                  <a:lnTo>
                    <a:pt x="238713" y="12446"/>
                  </a:lnTo>
                  <a:lnTo>
                    <a:pt x="212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513838" y="3352038"/>
            <a:ext cx="464820" cy="77279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5"/>
              </a:spcBef>
            </a:pPr>
            <a:endParaRPr sz="1200">
              <a:latin typeface="Times New Roman"/>
              <a:cs typeface="Times New Roman"/>
            </a:endParaRPr>
          </a:p>
          <a:p>
            <a:pPr marL="147955">
              <a:lnSpc>
                <a:spcPct val="100000"/>
              </a:lnSpc>
            </a:pPr>
            <a:r>
              <a:rPr sz="1200" spc="-25" dirty="0">
                <a:latin typeface="Arial MT"/>
                <a:cs typeface="Arial MT"/>
              </a:rPr>
              <a:t>S</a:t>
            </a:r>
            <a:r>
              <a:rPr sz="1800" spc="-37" baseline="-13888" dirty="0">
                <a:latin typeface="Arial MT"/>
                <a:cs typeface="Arial MT"/>
              </a:rPr>
              <a:t>1</a:t>
            </a:r>
            <a:endParaRPr sz="1800" baseline="-13888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83458" y="3352038"/>
            <a:ext cx="242570" cy="77279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5"/>
              </a:spcBef>
            </a:pPr>
            <a:endParaRPr sz="1200">
              <a:latin typeface="Times New Roman"/>
              <a:cs typeface="Times New Roman"/>
            </a:endParaRPr>
          </a:p>
          <a:p>
            <a:pPr marL="39370">
              <a:lnSpc>
                <a:spcPct val="100000"/>
              </a:lnSpc>
            </a:pPr>
            <a:r>
              <a:rPr sz="1200" spc="-25" dirty="0">
                <a:latin typeface="Arial MT"/>
                <a:cs typeface="Arial MT"/>
              </a:rPr>
              <a:t>R</a:t>
            </a:r>
            <a:r>
              <a:rPr sz="1800" spc="-37" baseline="-13888" dirty="0">
                <a:latin typeface="Arial MT"/>
                <a:cs typeface="Arial MT"/>
              </a:rPr>
              <a:t>1</a:t>
            </a:r>
            <a:endParaRPr sz="1800" baseline="-13888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539235" y="3328670"/>
            <a:ext cx="1270635" cy="441325"/>
            <a:chOff x="3539235" y="3328670"/>
            <a:chExt cx="1270635" cy="441325"/>
          </a:xfrm>
        </p:grpSpPr>
        <p:sp>
          <p:nvSpPr>
            <p:cNvPr id="16" name="object 16"/>
            <p:cNvSpPr/>
            <p:nvPr/>
          </p:nvSpPr>
          <p:spPr>
            <a:xfrm>
              <a:off x="4307331" y="3718687"/>
              <a:ext cx="276225" cy="50800"/>
            </a:xfrm>
            <a:custGeom>
              <a:avLst/>
              <a:gdLst/>
              <a:ahLst/>
              <a:cxnLst/>
              <a:rect l="l" t="t" r="r" b="b"/>
              <a:pathLst>
                <a:path w="276225" h="50800">
                  <a:moveTo>
                    <a:pt x="225932" y="0"/>
                  </a:moveTo>
                  <a:lnTo>
                    <a:pt x="225758" y="7746"/>
                  </a:lnTo>
                  <a:lnTo>
                    <a:pt x="225647" y="12677"/>
                  </a:lnTo>
                  <a:lnTo>
                    <a:pt x="238251" y="12954"/>
                  </a:lnTo>
                  <a:lnTo>
                    <a:pt x="237848" y="33146"/>
                  </a:lnTo>
                  <a:lnTo>
                    <a:pt x="237743" y="38354"/>
                  </a:lnTo>
                  <a:lnTo>
                    <a:pt x="225070" y="38354"/>
                  </a:lnTo>
                  <a:lnTo>
                    <a:pt x="224789" y="50800"/>
                  </a:lnTo>
                  <a:lnTo>
                    <a:pt x="251115" y="38354"/>
                  </a:lnTo>
                  <a:lnTo>
                    <a:pt x="237743" y="38354"/>
                  </a:lnTo>
                  <a:lnTo>
                    <a:pt x="225076" y="38076"/>
                  </a:lnTo>
                  <a:lnTo>
                    <a:pt x="251702" y="38076"/>
                  </a:lnTo>
                  <a:lnTo>
                    <a:pt x="276097" y="26543"/>
                  </a:lnTo>
                  <a:lnTo>
                    <a:pt x="225932" y="0"/>
                  </a:lnTo>
                  <a:close/>
                </a:path>
                <a:path w="276225" h="50800">
                  <a:moveTo>
                    <a:pt x="225647" y="12677"/>
                  </a:moveTo>
                  <a:lnTo>
                    <a:pt x="225187" y="33146"/>
                  </a:lnTo>
                  <a:lnTo>
                    <a:pt x="225076" y="38076"/>
                  </a:lnTo>
                  <a:lnTo>
                    <a:pt x="237743" y="38354"/>
                  </a:lnTo>
                  <a:lnTo>
                    <a:pt x="238251" y="12954"/>
                  </a:lnTo>
                  <a:lnTo>
                    <a:pt x="225647" y="12677"/>
                  </a:lnTo>
                  <a:close/>
                </a:path>
                <a:path w="276225" h="50800">
                  <a:moveTo>
                    <a:pt x="507" y="7746"/>
                  </a:moveTo>
                  <a:lnTo>
                    <a:pt x="0" y="33146"/>
                  </a:lnTo>
                  <a:lnTo>
                    <a:pt x="225076" y="38076"/>
                  </a:lnTo>
                  <a:lnTo>
                    <a:pt x="225641" y="12954"/>
                  </a:lnTo>
                  <a:lnTo>
                    <a:pt x="225647" y="12677"/>
                  </a:lnTo>
                  <a:lnTo>
                    <a:pt x="507" y="77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48961" y="3341370"/>
              <a:ext cx="147955" cy="59690"/>
            </a:xfrm>
            <a:custGeom>
              <a:avLst/>
              <a:gdLst/>
              <a:ahLst/>
              <a:cxnLst/>
              <a:rect l="l" t="t" r="r" b="b"/>
              <a:pathLst>
                <a:path w="147954" h="59689">
                  <a:moveTo>
                    <a:pt x="0" y="0"/>
                  </a:moveTo>
                  <a:lnTo>
                    <a:pt x="86867" y="59435"/>
                  </a:lnTo>
                </a:path>
                <a:path w="147954" h="59689">
                  <a:moveTo>
                    <a:pt x="147827" y="0"/>
                  </a:moveTo>
                  <a:lnTo>
                    <a:pt x="74675" y="59435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39235" y="3709924"/>
              <a:ext cx="297815" cy="50800"/>
            </a:xfrm>
            <a:custGeom>
              <a:avLst/>
              <a:gdLst/>
              <a:ahLst/>
              <a:cxnLst/>
              <a:rect l="l" t="t" r="r" b="b"/>
              <a:pathLst>
                <a:path w="297814" h="50800">
                  <a:moveTo>
                    <a:pt x="272371" y="12573"/>
                  </a:moveTo>
                  <a:lnTo>
                    <a:pt x="259079" y="12573"/>
                  </a:lnTo>
                  <a:lnTo>
                    <a:pt x="259587" y="37973"/>
                  </a:lnTo>
                  <a:lnTo>
                    <a:pt x="246825" y="38166"/>
                  </a:lnTo>
                  <a:lnTo>
                    <a:pt x="247014" y="50800"/>
                  </a:lnTo>
                  <a:lnTo>
                    <a:pt x="297434" y="24637"/>
                  </a:lnTo>
                  <a:lnTo>
                    <a:pt x="272371" y="12573"/>
                  </a:lnTo>
                  <a:close/>
                </a:path>
                <a:path w="297814" h="50800">
                  <a:moveTo>
                    <a:pt x="246444" y="12765"/>
                  </a:moveTo>
                  <a:lnTo>
                    <a:pt x="0" y="16509"/>
                  </a:lnTo>
                  <a:lnTo>
                    <a:pt x="429" y="37973"/>
                  </a:lnTo>
                  <a:lnTo>
                    <a:pt x="508" y="41909"/>
                  </a:lnTo>
                  <a:lnTo>
                    <a:pt x="246825" y="38166"/>
                  </a:lnTo>
                  <a:lnTo>
                    <a:pt x="246622" y="24637"/>
                  </a:lnTo>
                  <a:lnTo>
                    <a:pt x="246500" y="16509"/>
                  </a:lnTo>
                  <a:lnTo>
                    <a:pt x="246444" y="12765"/>
                  </a:lnTo>
                  <a:close/>
                </a:path>
                <a:path w="297814" h="50800">
                  <a:moveTo>
                    <a:pt x="259079" y="12573"/>
                  </a:moveTo>
                  <a:lnTo>
                    <a:pt x="246444" y="12765"/>
                  </a:lnTo>
                  <a:lnTo>
                    <a:pt x="246822" y="37973"/>
                  </a:lnTo>
                  <a:lnTo>
                    <a:pt x="246825" y="38166"/>
                  </a:lnTo>
                  <a:lnTo>
                    <a:pt x="259587" y="37973"/>
                  </a:lnTo>
                  <a:lnTo>
                    <a:pt x="259158" y="16509"/>
                  </a:lnTo>
                  <a:lnTo>
                    <a:pt x="259079" y="12573"/>
                  </a:lnTo>
                  <a:close/>
                </a:path>
                <a:path w="297814" h="50800">
                  <a:moveTo>
                    <a:pt x="246252" y="0"/>
                  </a:moveTo>
                  <a:lnTo>
                    <a:pt x="246441" y="12573"/>
                  </a:lnTo>
                  <a:lnTo>
                    <a:pt x="246444" y="12765"/>
                  </a:lnTo>
                  <a:lnTo>
                    <a:pt x="259079" y="12573"/>
                  </a:lnTo>
                  <a:lnTo>
                    <a:pt x="272371" y="12573"/>
                  </a:lnTo>
                  <a:lnTo>
                    <a:pt x="2462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830573" y="3352038"/>
            <a:ext cx="466725" cy="77279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5"/>
              </a:spcBef>
            </a:pPr>
            <a:endParaRPr sz="1200">
              <a:latin typeface="Times New Roman"/>
              <a:cs typeface="Times New Roman"/>
            </a:endParaRPr>
          </a:p>
          <a:p>
            <a:pPr marL="151130">
              <a:lnSpc>
                <a:spcPct val="100000"/>
              </a:lnSpc>
            </a:pPr>
            <a:r>
              <a:rPr sz="1200" spc="-25" dirty="0">
                <a:latin typeface="Arial MT"/>
                <a:cs typeface="Arial MT"/>
              </a:rPr>
              <a:t>S</a:t>
            </a:r>
            <a:r>
              <a:rPr sz="1800" spc="-37" baseline="-13888" dirty="0">
                <a:latin typeface="Arial MT"/>
                <a:cs typeface="Arial MT"/>
              </a:rPr>
              <a:t>2</a:t>
            </a:r>
            <a:endParaRPr sz="1800" baseline="-13888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88002" y="3352038"/>
            <a:ext cx="256540" cy="77279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5"/>
              </a:spcBef>
            </a:pPr>
            <a:endParaRPr sz="1200">
              <a:latin typeface="Times New Roman"/>
              <a:cs typeface="Times New Roman"/>
            </a:endParaRPr>
          </a:p>
          <a:p>
            <a:pPr marL="53975">
              <a:lnSpc>
                <a:spcPct val="100000"/>
              </a:lnSpc>
            </a:pPr>
            <a:r>
              <a:rPr sz="1200" spc="-25" dirty="0">
                <a:latin typeface="Arial MT"/>
                <a:cs typeface="Arial MT"/>
              </a:rPr>
              <a:t>R</a:t>
            </a:r>
            <a:r>
              <a:rPr sz="1800" spc="-37" baseline="-13888" dirty="0">
                <a:latin typeface="Arial MT"/>
                <a:cs typeface="Arial MT"/>
              </a:rPr>
              <a:t>2</a:t>
            </a:r>
            <a:endParaRPr sz="1800" baseline="-13888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857750" y="3328670"/>
            <a:ext cx="1268730" cy="436245"/>
            <a:chOff x="4857750" y="3328670"/>
            <a:chExt cx="1268730" cy="436245"/>
          </a:xfrm>
        </p:grpSpPr>
        <p:sp>
          <p:nvSpPr>
            <p:cNvPr id="22" name="object 22"/>
            <p:cNvSpPr/>
            <p:nvPr/>
          </p:nvSpPr>
          <p:spPr>
            <a:xfrm>
              <a:off x="5613654" y="3713734"/>
              <a:ext cx="285115" cy="50800"/>
            </a:xfrm>
            <a:custGeom>
              <a:avLst/>
              <a:gdLst/>
              <a:ahLst/>
              <a:cxnLst/>
              <a:rect l="l" t="t" r="r" b="b"/>
              <a:pathLst>
                <a:path w="285114" h="50800">
                  <a:moveTo>
                    <a:pt x="234187" y="0"/>
                  </a:moveTo>
                  <a:lnTo>
                    <a:pt x="234187" y="50800"/>
                  </a:lnTo>
                  <a:lnTo>
                    <a:pt x="259587" y="38100"/>
                  </a:lnTo>
                  <a:lnTo>
                    <a:pt x="246887" y="38100"/>
                  </a:lnTo>
                  <a:lnTo>
                    <a:pt x="246887" y="12700"/>
                  </a:lnTo>
                  <a:lnTo>
                    <a:pt x="259587" y="12700"/>
                  </a:lnTo>
                  <a:lnTo>
                    <a:pt x="234187" y="0"/>
                  </a:lnTo>
                  <a:close/>
                </a:path>
                <a:path w="285114" h="50800">
                  <a:moveTo>
                    <a:pt x="234187" y="12700"/>
                  </a:moveTo>
                  <a:lnTo>
                    <a:pt x="0" y="12700"/>
                  </a:lnTo>
                  <a:lnTo>
                    <a:pt x="0" y="38100"/>
                  </a:lnTo>
                  <a:lnTo>
                    <a:pt x="234187" y="38100"/>
                  </a:lnTo>
                  <a:lnTo>
                    <a:pt x="234187" y="12700"/>
                  </a:lnTo>
                  <a:close/>
                </a:path>
                <a:path w="285114" h="50800">
                  <a:moveTo>
                    <a:pt x="259587" y="12700"/>
                  </a:moveTo>
                  <a:lnTo>
                    <a:pt x="246887" y="12700"/>
                  </a:lnTo>
                  <a:lnTo>
                    <a:pt x="246887" y="38100"/>
                  </a:lnTo>
                  <a:lnTo>
                    <a:pt x="259587" y="38100"/>
                  </a:lnTo>
                  <a:lnTo>
                    <a:pt x="284988" y="25400"/>
                  </a:lnTo>
                  <a:lnTo>
                    <a:pt x="259587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67222" y="3341370"/>
              <a:ext cx="146685" cy="59690"/>
            </a:xfrm>
            <a:custGeom>
              <a:avLst/>
              <a:gdLst/>
              <a:ahLst/>
              <a:cxnLst/>
              <a:rect l="l" t="t" r="r" b="b"/>
              <a:pathLst>
                <a:path w="146685" h="59689">
                  <a:moveTo>
                    <a:pt x="0" y="0"/>
                  </a:moveTo>
                  <a:lnTo>
                    <a:pt x="73151" y="59435"/>
                  </a:lnTo>
                </a:path>
                <a:path w="146685" h="59689">
                  <a:moveTo>
                    <a:pt x="146303" y="0"/>
                  </a:moveTo>
                  <a:lnTo>
                    <a:pt x="60960" y="59435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57750" y="3713734"/>
              <a:ext cx="283845" cy="50800"/>
            </a:xfrm>
            <a:custGeom>
              <a:avLst/>
              <a:gdLst/>
              <a:ahLst/>
              <a:cxnLst/>
              <a:rect l="l" t="t" r="r" b="b"/>
              <a:pathLst>
                <a:path w="283845" h="50800">
                  <a:moveTo>
                    <a:pt x="232663" y="0"/>
                  </a:moveTo>
                  <a:lnTo>
                    <a:pt x="232663" y="50800"/>
                  </a:lnTo>
                  <a:lnTo>
                    <a:pt x="258063" y="38100"/>
                  </a:lnTo>
                  <a:lnTo>
                    <a:pt x="245363" y="38100"/>
                  </a:lnTo>
                  <a:lnTo>
                    <a:pt x="245363" y="12700"/>
                  </a:lnTo>
                  <a:lnTo>
                    <a:pt x="258063" y="12700"/>
                  </a:lnTo>
                  <a:lnTo>
                    <a:pt x="232663" y="0"/>
                  </a:lnTo>
                  <a:close/>
                </a:path>
                <a:path w="283845" h="50800">
                  <a:moveTo>
                    <a:pt x="232663" y="12700"/>
                  </a:moveTo>
                  <a:lnTo>
                    <a:pt x="0" y="12700"/>
                  </a:lnTo>
                  <a:lnTo>
                    <a:pt x="0" y="38100"/>
                  </a:lnTo>
                  <a:lnTo>
                    <a:pt x="232663" y="38100"/>
                  </a:lnTo>
                  <a:lnTo>
                    <a:pt x="232663" y="12700"/>
                  </a:lnTo>
                  <a:close/>
                </a:path>
                <a:path w="283845" h="50800">
                  <a:moveTo>
                    <a:pt x="258063" y="12700"/>
                  </a:moveTo>
                  <a:lnTo>
                    <a:pt x="245363" y="12700"/>
                  </a:lnTo>
                  <a:lnTo>
                    <a:pt x="245363" y="38100"/>
                  </a:lnTo>
                  <a:lnTo>
                    <a:pt x="258063" y="38100"/>
                  </a:lnTo>
                  <a:lnTo>
                    <a:pt x="283463" y="25400"/>
                  </a:lnTo>
                  <a:lnTo>
                    <a:pt x="258063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148834" y="3352038"/>
            <a:ext cx="452755" cy="77279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5"/>
              </a:spcBef>
            </a:pPr>
            <a:endParaRPr sz="120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</a:pPr>
            <a:r>
              <a:rPr sz="1200" spc="-25" dirty="0">
                <a:latin typeface="Arial MT"/>
                <a:cs typeface="Arial MT"/>
              </a:rPr>
              <a:t>S</a:t>
            </a:r>
            <a:r>
              <a:rPr sz="1800" spc="-37" baseline="-13888" dirty="0">
                <a:latin typeface="Arial MT"/>
                <a:cs typeface="Arial MT"/>
              </a:rPr>
              <a:t>3</a:t>
            </a:r>
            <a:endParaRPr sz="1800" baseline="-13888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06261" y="3352038"/>
            <a:ext cx="257810" cy="77279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5"/>
              </a:spcBef>
            </a:pPr>
            <a:endParaRPr sz="12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</a:pPr>
            <a:r>
              <a:rPr sz="1200" spc="-25" dirty="0">
                <a:latin typeface="Arial MT"/>
                <a:cs typeface="Arial MT"/>
              </a:rPr>
              <a:t>R</a:t>
            </a:r>
            <a:r>
              <a:rPr sz="1800" spc="-37" baseline="-13888" dirty="0">
                <a:latin typeface="Arial MT"/>
                <a:cs typeface="Arial MT"/>
              </a:rPr>
              <a:t>3</a:t>
            </a:r>
            <a:endParaRPr sz="1800" baseline="-13888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175883" y="3328670"/>
            <a:ext cx="1270635" cy="438784"/>
            <a:chOff x="6175883" y="3328670"/>
            <a:chExt cx="1270635" cy="438784"/>
          </a:xfrm>
        </p:grpSpPr>
        <p:sp>
          <p:nvSpPr>
            <p:cNvPr id="28" name="object 28"/>
            <p:cNvSpPr/>
            <p:nvPr/>
          </p:nvSpPr>
          <p:spPr>
            <a:xfrm>
              <a:off x="6931914" y="3713734"/>
              <a:ext cx="291465" cy="50800"/>
            </a:xfrm>
            <a:custGeom>
              <a:avLst/>
              <a:gdLst/>
              <a:ahLst/>
              <a:cxnLst/>
              <a:rect l="l" t="t" r="r" b="b"/>
              <a:pathLst>
                <a:path w="291465" h="50800">
                  <a:moveTo>
                    <a:pt x="240283" y="0"/>
                  </a:moveTo>
                  <a:lnTo>
                    <a:pt x="240283" y="50800"/>
                  </a:lnTo>
                  <a:lnTo>
                    <a:pt x="265683" y="38100"/>
                  </a:lnTo>
                  <a:lnTo>
                    <a:pt x="252983" y="38100"/>
                  </a:lnTo>
                  <a:lnTo>
                    <a:pt x="252983" y="12700"/>
                  </a:lnTo>
                  <a:lnTo>
                    <a:pt x="265683" y="12700"/>
                  </a:lnTo>
                  <a:lnTo>
                    <a:pt x="240283" y="0"/>
                  </a:lnTo>
                  <a:close/>
                </a:path>
                <a:path w="291465" h="50800">
                  <a:moveTo>
                    <a:pt x="240283" y="12700"/>
                  </a:moveTo>
                  <a:lnTo>
                    <a:pt x="0" y="12700"/>
                  </a:lnTo>
                  <a:lnTo>
                    <a:pt x="0" y="38100"/>
                  </a:lnTo>
                  <a:lnTo>
                    <a:pt x="240283" y="38100"/>
                  </a:lnTo>
                  <a:lnTo>
                    <a:pt x="240283" y="12700"/>
                  </a:lnTo>
                  <a:close/>
                </a:path>
                <a:path w="291465" h="50800">
                  <a:moveTo>
                    <a:pt x="265683" y="12700"/>
                  </a:moveTo>
                  <a:lnTo>
                    <a:pt x="252983" y="12700"/>
                  </a:lnTo>
                  <a:lnTo>
                    <a:pt x="252983" y="38100"/>
                  </a:lnTo>
                  <a:lnTo>
                    <a:pt x="265683" y="38100"/>
                  </a:lnTo>
                  <a:lnTo>
                    <a:pt x="291083" y="25400"/>
                  </a:lnTo>
                  <a:lnTo>
                    <a:pt x="265683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285482" y="3341370"/>
              <a:ext cx="147955" cy="59690"/>
            </a:xfrm>
            <a:custGeom>
              <a:avLst/>
              <a:gdLst/>
              <a:ahLst/>
              <a:cxnLst/>
              <a:rect l="l" t="t" r="r" b="b"/>
              <a:pathLst>
                <a:path w="147954" h="59689">
                  <a:moveTo>
                    <a:pt x="0" y="0"/>
                  </a:moveTo>
                  <a:lnTo>
                    <a:pt x="73151" y="59435"/>
                  </a:lnTo>
                </a:path>
                <a:path w="147954" h="59689">
                  <a:moveTo>
                    <a:pt x="147827" y="0"/>
                  </a:moveTo>
                  <a:lnTo>
                    <a:pt x="60960" y="59435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75883" y="3716274"/>
              <a:ext cx="273050" cy="50800"/>
            </a:xfrm>
            <a:custGeom>
              <a:avLst/>
              <a:gdLst/>
              <a:ahLst/>
              <a:cxnLst/>
              <a:rect l="l" t="t" r="r" b="b"/>
              <a:pathLst>
                <a:path w="273050" h="50800">
                  <a:moveTo>
                    <a:pt x="222376" y="0"/>
                  </a:moveTo>
                  <a:lnTo>
                    <a:pt x="222250" y="12682"/>
                  </a:lnTo>
                  <a:lnTo>
                    <a:pt x="234950" y="12826"/>
                  </a:lnTo>
                  <a:lnTo>
                    <a:pt x="234819" y="25907"/>
                  </a:lnTo>
                  <a:lnTo>
                    <a:pt x="234695" y="38226"/>
                  </a:lnTo>
                  <a:lnTo>
                    <a:pt x="221994" y="38226"/>
                  </a:lnTo>
                  <a:lnTo>
                    <a:pt x="221868" y="50800"/>
                  </a:lnTo>
                  <a:lnTo>
                    <a:pt x="247656" y="38226"/>
                  </a:lnTo>
                  <a:lnTo>
                    <a:pt x="234695" y="38226"/>
                  </a:lnTo>
                  <a:lnTo>
                    <a:pt x="221996" y="38082"/>
                  </a:lnTo>
                  <a:lnTo>
                    <a:pt x="247952" y="38082"/>
                  </a:lnTo>
                  <a:lnTo>
                    <a:pt x="272922" y="25907"/>
                  </a:lnTo>
                  <a:lnTo>
                    <a:pt x="222376" y="0"/>
                  </a:lnTo>
                  <a:close/>
                </a:path>
                <a:path w="273050" h="50800">
                  <a:moveTo>
                    <a:pt x="222250" y="12682"/>
                  </a:moveTo>
                  <a:lnTo>
                    <a:pt x="222117" y="25907"/>
                  </a:lnTo>
                  <a:lnTo>
                    <a:pt x="221996" y="38082"/>
                  </a:lnTo>
                  <a:lnTo>
                    <a:pt x="234695" y="38226"/>
                  </a:lnTo>
                  <a:lnTo>
                    <a:pt x="234950" y="12826"/>
                  </a:lnTo>
                  <a:lnTo>
                    <a:pt x="222250" y="12682"/>
                  </a:lnTo>
                  <a:close/>
                </a:path>
                <a:path w="273050" h="50800">
                  <a:moveTo>
                    <a:pt x="253" y="10159"/>
                  </a:moveTo>
                  <a:lnTo>
                    <a:pt x="96" y="25907"/>
                  </a:lnTo>
                  <a:lnTo>
                    <a:pt x="0" y="35559"/>
                  </a:lnTo>
                  <a:lnTo>
                    <a:pt x="221996" y="38082"/>
                  </a:lnTo>
                  <a:lnTo>
                    <a:pt x="222248" y="12826"/>
                  </a:lnTo>
                  <a:lnTo>
                    <a:pt x="222250" y="12682"/>
                  </a:lnTo>
                  <a:lnTo>
                    <a:pt x="253" y="10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468617" y="3352038"/>
            <a:ext cx="451484" cy="77279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5"/>
              </a:spcBef>
            </a:pPr>
            <a:endParaRPr sz="1200">
              <a:latin typeface="Times New Roman"/>
              <a:cs typeface="Times New Roman"/>
            </a:endParaRPr>
          </a:p>
          <a:p>
            <a:pPr marL="137795">
              <a:lnSpc>
                <a:spcPct val="100000"/>
              </a:lnSpc>
            </a:pPr>
            <a:r>
              <a:rPr sz="1200" spc="-25" dirty="0">
                <a:latin typeface="Arial MT"/>
                <a:cs typeface="Arial MT"/>
              </a:rPr>
              <a:t>S</a:t>
            </a:r>
            <a:r>
              <a:rPr sz="1800" spc="-37" baseline="-13888" dirty="0">
                <a:latin typeface="Arial MT"/>
                <a:cs typeface="Arial MT"/>
              </a:rPr>
              <a:t>4</a:t>
            </a:r>
            <a:endParaRPr sz="1800" baseline="-13888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22997" y="3352038"/>
            <a:ext cx="257810" cy="77279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5"/>
              </a:spcBef>
            </a:pPr>
            <a:endParaRPr sz="1200">
              <a:latin typeface="Times New Roman"/>
              <a:cs typeface="Times New Roman"/>
            </a:endParaRPr>
          </a:p>
          <a:p>
            <a:pPr marL="42545">
              <a:lnSpc>
                <a:spcPct val="100000"/>
              </a:lnSpc>
            </a:pPr>
            <a:r>
              <a:rPr sz="1200" spc="-25" dirty="0">
                <a:latin typeface="Arial MT"/>
                <a:cs typeface="Arial MT"/>
              </a:rPr>
              <a:t>R</a:t>
            </a:r>
            <a:r>
              <a:rPr sz="1800" spc="-37" baseline="-13888" dirty="0">
                <a:latin typeface="Arial MT"/>
                <a:cs typeface="Arial MT"/>
              </a:rPr>
              <a:t>4</a:t>
            </a:r>
            <a:endParaRPr sz="1800" baseline="-13888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231898" y="3016250"/>
            <a:ext cx="5501640" cy="748665"/>
            <a:chOff x="2231898" y="3016250"/>
            <a:chExt cx="5501640" cy="748665"/>
          </a:xfrm>
        </p:grpSpPr>
        <p:sp>
          <p:nvSpPr>
            <p:cNvPr id="34" name="object 34"/>
            <p:cNvSpPr/>
            <p:nvPr/>
          </p:nvSpPr>
          <p:spPr>
            <a:xfrm>
              <a:off x="7494269" y="3713733"/>
              <a:ext cx="239395" cy="50800"/>
            </a:xfrm>
            <a:custGeom>
              <a:avLst/>
              <a:gdLst/>
              <a:ahLst/>
              <a:cxnLst/>
              <a:rect l="l" t="t" r="r" b="b"/>
              <a:pathLst>
                <a:path w="239395" h="50800">
                  <a:moveTo>
                    <a:pt x="188468" y="0"/>
                  </a:moveTo>
                  <a:lnTo>
                    <a:pt x="188468" y="50800"/>
                  </a:lnTo>
                  <a:lnTo>
                    <a:pt x="213868" y="38100"/>
                  </a:lnTo>
                  <a:lnTo>
                    <a:pt x="201168" y="38100"/>
                  </a:lnTo>
                  <a:lnTo>
                    <a:pt x="201168" y="12700"/>
                  </a:lnTo>
                  <a:lnTo>
                    <a:pt x="213868" y="12700"/>
                  </a:lnTo>
                  <a:lnTo>
                    <a:pt x="188468" y="0"/>
                  </a:lnTo>
                  <a:close/>
                </a:path>
                <a:path w="239395" h="50800">
                  <a:moveTo>
                    <a:pt x="188468" y="12700"/>
                  </a:moveTo>
                  <a:lnTo>
                    <a:pt x="0" y="12700"/>
                  </a:lnTo>
                  <a:lnTo>
                    <a:pt x="0" y="38100"/>
                  </a:lnTo>
                  <a:lnTo>
                    <a:pt x="188468" y="38100"/>
                  </a:lnTo>
                  <a:lnTo>
                    <a:pt x="188468" y="12700"/>
                  </a:lnTo>
                  <a:close/>
                </a:path>
                <a:path w="239395" h="50800">
                  <a:moveTo>
                    <a:pt x="213868" y="12700"/>
                  </a:moveTo>
                  <a:lnTo>
                    <a:pt x="201168" y="12700"/>
                  </a:lnTo>
                  <a:lnTo>
                    <a:pt x="201168" y="38100"/>
                  </a:lnTo>
                  <a:lnTo>
                    <a:pt x="213868" y="38100"/>
                  </a:lnTo>
                  <a:lnTo>
                    <a:pt x="239268" y="25400"/>
                  </a:lnTo>
                  <a:lnTo>
                    <a:pt x="213868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31898" y="3051809"/>
              <a:ext cx="5133340" cy="289560"/>
            </a:xfrm>
            <a:custGeom>
              <a:avLst/>
              <a:gdLst/>
              <a:ahLst/>
              <a:cxnLst/>
              <a:rect l="l" t="t" r="r" b="b"/>
              <a:pathLst>
                <a:path w="5133340" h="289560">
                  <a:moveTo>
                    <a:pt x="0" y="3048"/>
                  </a:moveTo>
                  <a:lnTo>
                    <a:pt x="5132832" y="3048"/>
                  </a:lnTo>
                </a:path>
                <a:path w="5133340" h="289560">
                  <a:moveTo>
                    <a:pt x="1178052" y="289560"/>
                  </a:moveTo>
                  <a:lnTo>
                    <a:pt x="1178052" y="0"/>
                  </a:lnTo>
                </a:path>
                <a:path w="5133340" h="289560">
                  <a:moveTo>
                    <a:pt x="3802379" y="289560"/>
                  </a:moveTo>
                  <a:lnTo>
                    <a:pt x="3802379" y="0"/>
                  </a:lnTo>
                </a:path>
                <a:path w="5133340" h="289560">
                  <a:moveTo>
                    <a:pt x="5122163" y="289560"/>
                  </a:moveTo>
                  <a:lnTo>
                    <a:pt x="5122163" y="0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68294" y="3016250"/>
              <a:ext cx="74166" cy="6654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68266" y="3016250"/>
              <a:ext cx="72642" cy="6654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91098" y="3016250"/>
              <a:ext cx="75690" cy="6654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709922" y="3051809"/>
              <a:ext cx="0" cy="289560"/>
            </a:xfrm>
            <a:custGeom>
              <a:avLst/>
              <a:gdLst/>
              <a:ahLst/>
              <a:cxnLst/>
              <a:rect l="l" t="t" r="r" b="b"/>
              <a:pathLst>
                <a:path h="289560">
                  <a:moveTo>
                    <a:pt x="0" y="289560"/>
                  </a:moveTo>
                  <a:lnTo>
                    <a:pt x="0" y="0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805177" y="3605021"/>
            <a:ext cx="3663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Input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680210" y="2959353"/>
            <a:ext cx="406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 MT"/>
                <a:cs typeface="Arial MT"/>
              </a:rPr>
              <a:t>Clock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6018a36336ec2545d8a20b8f21599b3e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804fb6951aaa5647413d25b83522f856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4E4791C-7AD3-4F5A-B34E-4B06EEF6A7F1}"/>
</file>

<file path=customXml/itemProps2.xml><?xml version="1.0" encoding="utf-8"?>
<ds:datastoreItem xmlns:ds="http://schemas.openxmlformats.org/officeDocument/2006/customXml" ds:itemID="{076EDF98-30C4-48F8-9B32-9404C0290F6D}"/>
</file>

<file path=customXml/itemProps3.xml><?xml version="1.0" encoding="utf-8"?>
<ds:datastoreItem xmlns:ds="http://schemas.openxmlformats.org/officeDocument/2006/customXml" ds:itemID="{5C33A7A5-36A6-4A22-8B4D-74FB73D8CB61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847</TotalTime>
  <Words>1748</Words>
  <Application>Microsoft Office PowerPoint</Application>
  <PresentationFormat>On-screen Show (4:3)</PresentationFormat>
  <Paragraphs>279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 MT</vt:lpstr>
      <vt:lpstr>Aptos</vt:lpstr>
      <vt:lpstr>Arial</vt:lpstr>
      <vt:lpstr>Calibri</vt:lpstr>
      <vt:lpstr>Calibri Light</vt:lpstr>
      <vt:lpstr>Symbol</vt:lpstr>
      <vt:lpstr>Times New Roman</vt:lpstr>
      <vt:lpstr>Wingdings</vt:lpstr>
      <vt:lpstr>Retrospect</vt:lpstr>
      <vt:lpstr>CS361: Computer Architecture</vt:lpstr>
      <vt:lpstr>RECAP OF IMPORTANT TERMS &amp; CONCEPTS</vt:lpstr>
      <vt:lpstr>RECAP OF IMPORTANT TERMS &amp; CONCEPTS</vt:lpstr>
      <vt:lpstr>RECAP OF IMPORTANT TERMS &amp;CONCEPTS</vt:lpstr>
      <vt:lpstr>PowerPoint Presentation</vt:lpstr>
      <vt:lpstr>IMPORTANT TERMS &amp; CONCEPTS</vt:lpstr>
      <vt:lpstr>CPU PERFORMANCE EQUATION</vt:lpstr>
      <vt:lpstr>PowerPoint Presentation</vt:lpstr>
      <vt:lpstr>PowerPoint Presentation</vt:lpstr>
      <vt:lpstr>RULES OF THUMB FOR IMPROVING PERFORMANCE</vt:lpstr>
      <vt:lpstr>RULES OF THUMB FOR IMPROVING PERFORMANCE</vt:lpstr>
      <vt:lpstr>THE VON NEUMANN ARCHITECTURE</vt:lpstr>
      <vt:lpstr>PARALLEL PROCESSING</vt:lpstr>
      <vt:lpstr>INSTRUCTION LEVEL PARALLELISM</vt:lpstr>
      <vt:lpstr>PowerPoint Presentation</vt:lpstr>
      <vt:lpstr>PowerPoint Presentation</vt:lpstr>
      <vt:lpstr>PIPELINING EXAMPLE</vt:lpstr>
      <vt:lpstr>UN-PIPELINED INSTRUCTION EXECUTION</vt:lpstr>
      <vt:lpstr>UN-PIPELINED INSTRUCTION EXECUTION</vt:lpstr>
      <vt:lpstr>PIPELINING INSTRUCTIONS</vt:lpstr>
      <vt:lpstr>PIPELINING INSTRUCTIONS</vt:lpstr>
      <vt:lpstr>PIPELINING INSTRUCTIONS</vt:lpstr>
      <vt:lpstr>PIPELINING INSTRUCTIONS</vt:lpstr>
      <vt:lpstr>PIPELINING INSTRUCTIONS</vt:lpstr>
      <vt:lpstr>PIPELINING INSTRUCTIONS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 LOGIC  CIRCUITS</dc:title>
  <dc:creator>Archilab</dc:creator>
  <cp:lastModifiedBy>waheed ahmad</cp:lastModifiedBy>
  <cp:revision>4</cp:revision>
  <dcterms:created xsi:type="dcterms:W3CDTF">2025-11-12T16:38:17Z</dcterms:created>
  <dcterms:modified xsi:type="dcterms:W3CDTF">2025-11-13T06:46:40Z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2025-11-12T00:00:00Z</vt:filetime>
  </property>
  <property fmtid="{D5CDD505-2E9C-101B-9397-08002B2CF9AE}" pid="5" name="Producer">
    <vt:lpwstr>Microsoft® PowerPoint® for Microsoft 365</vt:lpwstr>
  </property>
  <property fmtid="{D5CDD505-2E9C-101B-9397-08002B2CF9AE}" pid="6" name="ContentTypeId">
    <vt:lpwstr>0x0101006E4823951FA9BF42B980A03718EB0B18</vt:lpwstr>
  </property>
</Properties>
</file>