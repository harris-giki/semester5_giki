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48" r:id="rId2"/>
    <p:sldId id="279" r:id="rId3"/>
    <p:sldId id="257" r:id="rId4"/>
    <p:sldId id="258" r:id="rId5"/>
    <p:sldId id="259" r:id="rId6"/>
    <p:sldId id="260" r:id="rId7"/>
    <p:sldId id="349" r:id="rId8"/>
    <p:sldId id="281" r:id="rId9"/>
    <p:sldId id="282" r:id="rId10"/>
    <p:sldId id="283" r:id="rId11"/>
    <p:sldId id="284" r:id="rId12"/>
    <p:sldId id="261" r:id="rId13"/>
    <p:sldId id="262" r:id="rId14"/>
    <p:sldId id="285" r:id="rId15"/>
    <p:sldId id="264" r:id="rId16"/>
    <p:sldId id="265" r:id="rId17"/>
    <p:sldId id="266" r:id="rId18"/>
    <p:sldId id="351" r:id="rId19"/>
    <p:sldId id="350" r:id="rId20"/>
    <p:sldId id="267" r:id="rId2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61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05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25500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51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62007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24058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74526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25032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52632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551937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919937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963270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1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26344" y="1033177"/>
            <a:ext cx="6691313" cy="4727734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18801" y="2460673"/>
            <a:ext cx="5010150" cy="425116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dirty="0"/>
              <a:t>CS361</a:t>
            </a:r>
            <a:r>
              <a:rPr sz="2700" dirty="0"/>
              <a:t>:</a:t>
            </a:r>
            <a:r>
              <a:rPr sz="2700" spc="-30" dirty="0"/>
              <a:t> </a:t>
            </a:r>
            <a:r>
              <a:rPr sz="2700" dirty="0"/>
              <a:t>Computer</a:t>
            </a:r>
            <a:r>
              <a:rPr sz="2700" spc="-15" dirty="0"/>
              <a:t> </a:t>
            </a:r>
            <a:r>
              <a:rPr sz="2700" spc="-8" dirty="0"/>
              <a:t>Architecture</a:t>
            </a:r>
            <a:endParaRPr sz="2700" dirty="0"/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526" y="2455473"/>
            <a:ext cx="2057400" cy="2057400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952B8B7A-E1B8-1263-6DFF-B627CE74AFB4}"/>
              </a:ext>
            </a:extLst>
          </p:cNvPr>
          <p:cNvSpPr txBox="1"/>
          <p:nvPr/>
        </p:nvSpPr>
        <p:spPr>
          <a:xfrm>
            <a:off x="1367810" y="3160454"/>
            <a:ext cx="578612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Instruction-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endParaRPr sz="2400" dirty="0">
              <a:latin typeface="Arial"/>
              <a:cs typeface="Arial"/>
            </a:endParaRPr>
          </a:p>
          <a:p>
            <a:pPr marL="1887855" indent="-292100">
              <a:lnSpc>
                <a:spcPts val="2280"/>
              </a:lnSpc>
              <a:spcBef>
                <a:spcPts val="120"/>
              </a:spcBef>
              <a:buClr>
                <a:srgbClr val="008011"/>
              </a:buClr>
              <a:buFont typeface="Wingdings"/>
              <a:buChar char=""/>
              <a:tabLst>
                <a:tab pos="1887855" algn="l"/>
              </a:tabLst>
            </a:pP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Task</a:t>
            </a:r>
            <a:endParaRPr sz="2000" dirty="0">
              <a:latin typeface="Arial MT"/>
              <a:cs typeface="Arial MT"/>
            </a:endParaRPr>
          </a:p>
          <a:p>
            <a:pPr marL="1887855" indent="-292100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887855" algn="l"/>
              </a:tabLst>
            </a:pPr>
            <a:r>
              <a:rPr sz="2000" spc="-10" dirty="0">
                <a:latin typeface="Arial MT"/>
                <a:cs typeface="Arial MT"/>
              </a:rPr>
              <a:t>Space-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Diagram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650"/>
                </a:lnSpc>
              </a:pPr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82588"/>
            <a:ext cx="7543800" cy="674687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84023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B050"/>
                </a:solidFill>
              </a:rPr>
              <a:t>PIPELINING</a:t>
            </a:r>
            <a:r>
              <a:rPr sz="4000" spc="-20" dirty="0">
                <a:solidFill>
                  <a:srgbClr val="00B050"/>
                </a:solidFill>
              </a:rPr>
              <a:t> </a:t>
            </a:r>
            <a:r>
              <a:rPr sz="4000" spc="-10" dirty="0">
                <a:solidFill>
                  <a:srgbClr val="00B050"/>
                </a:solidFill>
              </a:rPr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0143" y="4533138"/>
            <a:ext cx="7887970" cy="18859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8760" marR="5080" indent="-226695">
              <a:lnSpc>
                <a:spcPts val="2160"/>
              </a:lnSpc>
              <a:spcBef>
                <a:spcPts val="375"/>
              </a:spcBef>
              <a:buChar char="–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provide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isolation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so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that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each 	</a:t>
            </a:r>
            <a:r>
              <a:rPr sz="2000" b="1" dirty="0">
                <a:latin typeface="Arial"/>
                <a:cs typeface="Arial"/>
              </a:rPr>
              <a:t>can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operate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on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distinct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data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simultaneously</a:t>
            </a:r>
            <a:endParaRPr sz="2000" dirty="0">
              <a:latin typeface="Arial"/>
              <a:cs typeface="Arial"/>
            </a:endParaRPr>
          </a:p>
          <a:p>
            <a:pPr marL="240029" indent="-227329">
              <a:lnSpc>
                <a:spcPts val="2280"/>
              </a:lnSpc>
              <a:spcBef>
                <a:spcPts val="450"/>
              </a:spcBef>
              <a:buChar char="–"/>
              <a:tabLst>
                <a:tab pos="240029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(intermediate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 dirty="0">
              <a:latin typeface="Arial MT"/>
              <a:cs typeface="Arial MT"/>
            </a:endParaRPr>
          </a:p>
          <a:p>
            <a:pPr marL="24066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next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segment</a:t>
            </a:r>
            <a:endParaRPr sz="2000" dirty="0">
              <a:latin typeface="Arial MT"/>
              <a:cs typeface="Arial MT"/>
            </a:endParaRPr>
          </a:p>
          <a:p>
            <a:pPr marL="238760" marR="118110" indent="-226695">
              <a:lnSpc>
                <a:spcPts val="2160"/>
              </a:lnSpc>
              <a:spcBef>
                <a:spcPts val="750"/>
              </a:spcBef>
              <a:buChar char="–"/>
              <a:tabLst>
                <a:tab pos="2406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clock</a:t>
            </a:r>
            <a:r>
              <a:rPr sz="20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ensure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information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flow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through 	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time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943" y="941578"/>
            <a:ext cx="8396605" cy="19685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107314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Overlapping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associating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segment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pipeline</a:t>
            </a:r>
            <a:endParaRPr sz="2400" dirty="0">
              <a:latin typeface="Arial MT"/>
              <a:cs typeface="Arial MT"/>
            </a:endParaRPr>
          </a:p>
          <a:p>
            <a:pPr marL="697865" marR="5080" indent="-228600">
              <a:lnSpc>
                <a:spcPts val="2160"/>
              </a:lnSpc>
              <a:spcBef>
                <a:spcPts val="72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consists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hold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by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combinatorial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circuit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</a:t>
            </a:r>
            <a:r>
              <a:rPr sz="2000" spc="-10" dirty="0">
                <a:latin typeface="Arial MT"/>
                <a:cs typeface="Arial MT"/>
              </a:rPr>
              <a:t>operation)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 dirty="0">
              <a:latin typeface="Arial MT"/>
              <a:cs typeface="Arial MT"/>
            </a:endParaRPr>
          </a:p>
          <a:p>
            <a:pPr marL="548005" algn="ctr">
              <a:lnSpc>
                <a:spcPct val="100000"/>
              </a:lnSpc>
            </a:pP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Example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Structure</a:t>
            </a:r>
            <a:r>
              <a:rPr sz="20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 4-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Segment</a:t>
            </a:r>
            <a:r>
              <a:rPr sz="20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Pipeline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31644" y="3328670"/>
            <a:ext cx="5248910" cy="796290"/>
            <a:chOff x="2231644" y="3328670"/>
            <a:chExt cx="5248910" cy="796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2997" y="3352038"/>
              <a:ext cx="257555" cy="7726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6261" y="3352038"/>
              <a:ext cx="257556" cy="7726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8001" y="3352038"/>
              <a:ext cx="256032" cy="7726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3458" y="3352038"/>
              <a:ext cx="242315" cy="7726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89199" y="3716274"/>
              <a:ext cx="288290" cy="50800"/>
            </a:xfrm>
            <a:custGeom>
              <a:avLst/>
              <a:gdLst/>
              <a:ahLst/>
              <a:cxnLst/>
              <a:rect l="l" t="t" r="r" b="b"/>
              <a:pathLst>
                <a:path w="288289" h="50800">
                  <a:moveTo>
                    <a:pt x="237617" y="0"/>
                  </a:moveTo>
                  <a:lnTo>
                    <a:pt x="237490" y="12691"/>
                  </a:lnTo>
                  <a:lnTo>
                    <a:pt x="250189" y="12826"/>
                  </a:lnTo>
                  <a:lnTo>
                    <a:pt x="250059" y="25907"/>
                  </a:lnTo>
                  <a:lnTo>
                    <a:pt x="249936" y="38226"/>
                  </a:lnTo>
                  <a:lnTo>
                    <a:pt x="237234" y="38226"/>
                  </a:lnTo>
                  <a:lnTo>
                    <a:pt x="237108" y="50800"/>
                  </a:lnTo>
                  <a:lnTo>
                    <a:pt x="262896" y="38226"/>
                  </a:lnTo>
                  <a:lnTo>
                    <a:pt x="249936" y="38226"/>
                  </a:lnTo>
                  <a:lnTo>
                    <a:pt x="237236" y="38091"/>
                  </a:lnTo>
                  <a:lnTo>
                    <a:pt x="263174" y="38091"/>
                  </a:lnTo>
                  <a:lnTo>
                    <a:pt x="288163" y="25907"/>
                  </a:lnTo>
                  <a:lnTo>
                    <a:pt x="237617" y="0"/>
                  </a:lnTo>
                  <a:close/>
                </a:path>
                <a:path w="288289" h="50800">
                  <a:moveTo>
                    <a:pt x="237490" y="12691"/>
                  </a:moveTo>
                  <a:lnTo>
                    <a:pt x="237357" y="25907"/>
                  </a:lnTo>
                  <a:lnTo>
                    <a:pt x="237236" y="38091"/>
                  </a:lnTo>
                  <a:lnTo>
                    <a:pt x="249936" y="38226"/>
                  </a:lnTo>
                  <a:lnTo>
                    <a:pt x="250189" y="12826"/>
                  </a:lnTo>
                  <a:lnTo>
                    <a:pt x="237490" y="12691"/>
                  </a:lnTo>
                  <a:close/>
                </a:path>
                <a:path w="288289" h="50800">
                  <a:moveTo>
                    <a:pt x="253" y="10159"/>
                  </a:moveTo>
                  <a:lnTo>
                    <a:pt x="96" y="25907"/>
                  </a:lnTo>
                  <a:lnTo>
                    <a:pt x="0" y="35559"/>
                  </a:lnTo>
                  <a:lnTo>
                    <a:pt x="237236" y="38091"/>
                  </a:lnTo>
                  <a:lnTo>
                    <a:pt x="237488" y="12826"/>
                  </a:lnTo>
                  <a:lnTo>
                    <a:pt x="237490" y="12691"/>
                  </a:lnTo>
                  <a:lnTo>
                    <a:pt x="253" y="10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30702" y="3341370"/>
              <a:ext cx="158750" cy="59690"/>
            </a:xfrm>
            <a:custGeom>
              <a:avLst/>
              <a:gdLst/>
              <a:ahLst/>
              <a:cxnLst/>
              <a:rect l="l" t="t" r="r" b="b"/>
              <a:pathLst>
                <a:path w="158750" h="59689">
                  <a:moveTo>
                    <a:pt x="0" y="0"/>
                  </a:moveTo>
                  <a:lnTo>
                    <a:pt x="86868" y="59435"/>
                  </a:lnTo>
                </a:path>
                <a:path w="158750" h="59689">
                  <a:moveTo>
                    <a:pt x="158496" y="0"/>
                  </a:moveTo>
                  <a:lnTo>
                    <a:pt x="73151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31644" y="3710051"/>
              <a:ext cx="264160" cy="50800"/>
            </a:xfrm>
            <a:custGeom>
              <a:avLst/>
              <a:gdLst/>
              <a:ahLst/>
              <a:cxnLst/>
              <a:rect l="l" t="t" r="r" b="b"/>
              <a:pathLst>
                <a:path w="264160" h="50800">
                  <a:moveTo>
                    <a:pt x="238713" y="12446"/>
                  </a:moveTo>
                  <a:lnTo>
                    <a:pt x="225551" y="12446"/>
                  </a:lnTo>
                  <a:lnTo>
                    <a:pt x="226060" y="37846"/>
                  </a:lnTo>
                  <a:lnTo>
                    <a:pt x="213391" y="38067"/>
                  </a:lnTo>
                  <a:lnTo>
                    <a:pt x="213613" y="50800"/>
                  </a:lnTo>
                  <a:lnTo>
                    <a:pt x="263906" y="24511"/>
                  </a:lnTo>
                  <a:lnTo>
                    <a:pt x="238713" y="12446"/>
                  </a:lnTo>
                  <a:close/>
                </a:path>
                <a:path w="264160" h="50800">
                  <a:moveTo>
                    <a:pt x="212946" y="12666"/>
                  </a:moveTo>
                  <a:lnTo>
                    <a:pt x="0" y="16382"/>
                  </a:lnTo>
                  <a:lnTo>
                    <a:pt x="429" y="37846"/>
                  </a:lnTo>
                  <a:lnTo>
                    <a:pt x="507" y="41782"/>
                  </a:lnTo>
                  <a:lnTo>
                    <a:pt x="213391" y="38067"/>
                  </a:lnTo>
                  <a:lnTo>
                    <a:pt x="213011" y="16382"/>
                  </a:lnTo>
                  <a:lnTo>
                    <a:pt x="212946" y="12666"/>
                  </a:lnTo>
                  <a:close/>
                </a:path>
                <a:path w="264160" h="50800">
                  <a:moveTo>
                    <a:pt x="225551" y="12446"/>
                  </a:moveTo>
                  <a:lnTo>
                    <a:pt x="212946" y="12666"/>
                  </a:lnTo>
                  <a:lnTo>
                    <a:pt x="213387" y="37846"/>
                  </a:lnTo>
                  <a:lnTo>
                    <a:pt x="213391" y="38067"/>
                  </a:lnTo>
                  <a:lnTo>
                    <a:pt x="226060" y="37846"/>
                  </a:lnTo>
                  <a:lnTo>
                    <a:pt x="225630" y="16382"/>
                  </a:lnTo>
                  <a:lnTo>
                    <a:pt x="225551" y="12446"/>
                  </a:lnTo>
                  <a:close/>
                </a:path>
                <a:path w="264160" h="50800">
                  <a:moveTo>
                    <a:pt x="212725" y="0"/>
                  </a:moveTo>
                  <a:lnTo>
                    <a:pt x="212942" y="12446"/>
                  </a:lnTo>
                  <a:lnTo>
                    <a:pt x="212946" y="12666"/>
                  </a:lnTo>
                  <a:lnTo>
                    <a:pt x="225551" y="12446"/>
                  </a:lnTo>
                  <a:lnTo>
                    <a:pt x="238713" y="12446"/>
                  </a:lnTo>
                  <a:lnTo>
                    <a:pt x="212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13838" y="3352038"/>
            <a:ext cx="46482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4795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1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3458" y="3352038"/>
            <a:ext cx="24257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39370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1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539235" y="3328670"/>
            <a:ext cx="1270635" cy="441325"/>
            <a:chOff x="3539235" y="3328670"/>
            <a:chExt cx="1270635" cy="441325"/>
          </a:xfrm>
        </p:grpSpPr>
        <p:sp>
          <p:nvSpPr>
            <p:cNvPr id="16" name="object 16"/>
            <p:cNvSpPr/>
            <p:nvPr/>
          </p:nvSpPr>
          <p:spPr>
            <a:xfrm>
              <a:off x="4307331" y="3718687"/>
              <a:ext cx="276225" cy="50800"/>
            </a:xfrm>
            <a:custGeom>
              <a:avLst/>
              <a:gdLst/>
              <a:ahLst/>
              <a:cxnLst/>
              <a:rect l="l" t="t" r="r" b="b"/>
              <a:pathLst>
                <a:path w="276225" h="50800">
                  <a:moveTo>
                    <a:pt x="225932" y="0"/>
                  </a:moveTo>
                  <a:lnTo>
                    <a:pt x="225758" y="7746"/>
                  </a:lnTo>
                  <a:lnTo>
                    <a:pt x="225647" y="12677"/>
                  </a:lnTo>
                  <a:lnTo>
                    <a:pt x="238251" y="12954"/>
                  </a:lnTo>
                  <a:lnTo>
                    <a:pt x="237848" y="33146"/>
                  </a:lnTo>
                  <a:lnTo>
                    <a:pt x="237743" y="38354"/>
                  </a:lnTo>
                  <a:lnTo>
                    <a:pt x="225070" y="38354"/>
                  </a:lnTo>
                  <a:lnTo>
                    <a:pt x="224789" y="50800"/>
                  </a:lnTo>
                  <a:lnTo>
                    <a:pt x="251115" y="38354"/>
                  </a:lnTo>
                  <a:lnTo>
                    <a:pt x="237743" y="38354"/>
                  </a:lnTo>
                  <a:lnTo>
                    <a:pt x="225076" y="38076"/>
                  </a:lnTo>
                  <a:lnTo>
                    <a:pt x="251702" y="38076"/>
                  </a:lnTo>
                  <a:lnTo>
                    <a:pt x="276097" y="26543"/>
                  </a:lnTo>
                  <a:lnTo>
                    <a:pt x="225932" y="0"/>
                  </a:lnTo>
                  <a:close/>
                </a:path>
                <a:path w="276225" h="50800">
                  <a:moveTo>
                    <a:pt x="225647" y="12677"/>
                  </a:moveTo>
                  <a:lnTo>
                    <a:pt x="225187" y="33146"/>
                  </a:lnTo>
                  <a:lnTo>
                    <a:pt x="225076" y="38076"/>
                  </a:lnTo>
                  <a:lnTo>
                    <a:pt x="237743" y="38354"/>
                  </a:lnTo>
                  <a:lnTo>
                    <a:pt x="238251" y="12954"/>
                  </a:lnTo>
                  <a:lnTo>
                    <a:pt x="225647" y="12677"/>
                  </a:lnTo>
                  <a:close/>
                </a:path>
                <a:path w="276225" h="50800">
                  <a:moveTo>
                    <a:pt x="507" y="7746"/>
                  </a:moveTo>
                  <a:lnTo>
                    <a:pt x="0" y="33146"/>
                  </a:lnTo>
                  <a:lnTo>
                    <a:pt x="225076" y="38076"/>
                  </a:lnTo>
                  <a:lnTo>
                    <a:pt x="225641" y="12954"/>
                  </a:lnTo>
                  <a:lnTo>
                    <a:pt x="225647" y="12677"/>
                  </a:lnTo>
                  <a:lnTo>
                    <a:pt x="507" y="77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48961" y="3341370"/>
              <a:ext cx="147955" cy="59690"/>
            </a:xfrm>
            <a:custGeom>
              <a:avLst/>
              <a:gdLst/>
              <a:ahLst/>
              <a:cxnLst/>
              <a:rect l="l" t="t" r="r" b="b"/>
              <a:pathLst>
                <a:path w="147954" h="59689">
                  <a:moveTo>
                    <a:pt x="0" y="0"/>
                  </a:moveTo>
                  <a:lnTo>
                    <a:pt x="86867" y="59435"/>
                  </a:lnTo>
                </a:path>
                <a:path w="147954" h="59689">
                  <a:moveTo>
                    <a:pt x="147827" y="0"/>
                  </a:moveTo>
                  <a:lnTo>
                    <a:pt x="74675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39235" y="3709924"/>
              <a:ext cx="297815" cy="50800"/>
            </a:xfrm>
            <a:custGeom>
              <a:avLst/>
              <a:gdLst/>
              <a:ahLst/>
              <a:cxnLst/>
              <a:rect l="l" t="t" r="r" b="b"/>
              <a:pathLst>
                <a:path w="297814" h="50800">
                  <a:moveTo>
                    <a:pt x="272371" y="12573"/>
                  </a:moveTo>
                  <a:lnTo>
                    <a:pt x="259079" y="12573"/>
                  </a:lnTo>
                  <a:lnTo>
                    <a:pt x="259587" y="37973"/>
                  </a:lnTo>
                  <a:lnTo>
                    <a:pt x="246825" y="38166"/>
                  </a:lnTo>
                  <a:lnTo>
                    <a:pt x="247014" y="50800"/>
                  </a:lnTo>
                  <a:lnTo>
                    <a:pt x="297434" y="24637"/>
                  </a:lnTo>
                  <a:lnTo>
                    <a:pt x="272371" y="12573"/>
                  </a:lnTo>
                  <a:close/>
                </a:path>
                <a:path w="297814" h="50800">
                  <a:moveTo>
                    <a:pt x="246444" y="12765"/>
                  </a:moveTo>
                  <a:lnTo>
                    <a:pt x="0" y="16509"/>
                  </a:lnTo>
                  <a:lnTo>
                    <a:pt x="429" y="37973"/>
                  </a:lnTo>
                  <a:lnTo>
                    <a:pt x="508" y="41909"/>
                  </a:lnTo>
                  <a:lnTo>
                    <a:pt x="246825" y="38166"/>
                  </a:lnTo>
                  <a:lnTo>
                    <a:pt x="246622" y="24637"/>
                  </a:lnTo>
                  <a:lnTo>
                    <a:pt x="246500" y="16509"/>
                  </a:lnTo>
                  <a:lnTo>
                    <a:pt x="246444" y="12765"/>
                  </a:lnTo>
                  <a:close/>
                </a:path>
                <a:path w="297814" h="50800">
                  <a:moveTo>
                    <a:pt x="259079" y="12573"/>
                  </a:moveTo>
                  <a:lnTo>
                    <a:pt x="246444" y="12765"/>
                  </a:lnTo>
                  <a:lnTo>
                    <a:pt x="246822" y="37973"/>
                  </a:lnTo>
                  <a:lnTo>
                    <a:pt x="246825" y="38166"/>
                  </a:lnTo>
                  <a:lnTo>
                    <a:pt x="259587" y="37973"/>
                  </a:lnTo>
                  <a:lnTo>
                    <a:pt x="259158" y="16509"/>
                  </a:lnTo>
                  <a:lnTo>
                    <a:pt x="259079" y="12573"/>
                  </a:lnTo>
                  <a:close/>
                </a:path>
                <a:path w="297814" h="50800">
                  <a:moveTo>
                    <a:pt x="246252" y="0"/>
                  </a:moveTo>
                  <a:lnTo>
                    <a:pt x="246441" y="12573"/>
                  </a:lnTo>
                  <a:lnTo>
                    <a:pt x="246444" y="12765"/>
                  </a:lnTo>
                  <a:lnTo>
                    <a:pt x="259079" y="12573"/>
                  </a:lnTo>
                  <a:lnTo>
                    <a:pt x="272371" y="12573"/>
                  </a:lnTo>
                  <a:lnTo>
                    <a:pt x="2462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830573" y="3352038"/>
            <a:ext cx="466725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51130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2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88002" y="3352038"/>
            <a:ext cx="25654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5397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2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57750" y="3328670"/>
            <a:ext cx="1268730" cy="436245"/>
            <a:chOff x="4857750" y="3328670"/>
            <a:chExt cx="1268730" cy="436245"/>
          </a:xfrm>
        </p:grpSpPr>
        <p:sp>
          <p:nvSpPr>
            <p:cNvPr id="22" name="object 22"/>
            <p:cNvSpPr/>
            <p:nvPr/>
          </p:nvSpPr>
          <p:spPr>
            <a:xfrm>
              <a:off x="5613654" y="3713734"/>
              <a:ext cx="285115" cy="50800"/>
            </a:xfrm>
            <a:custGeom>
              <a:avLst/>
              <a:gdLst/>
              <a:ahLst/>
              <a:cxnLst/>
              <a:rect l="l" t="t" r="r" b="b"/>
              <a:pathLst>
                <a:path w="285114" h="50800">
                  <a:moveTo>
                    <a:pt x="234187" y="0"/>
                  </a:moveTo>
                  <a:lnTo>
                    <a:pt x="234187" y="50800"/>
                  </a:lnTo>
                  <a:lnTo>
                    <a:pt x="259587" y="38100"/>
                  </a:lnTo>
                  <a:lnTo>
                    <a:pt x="246887" y="38100"/>
                  </a:lnTo>
                  <a:lnTo>
                    <a:pt x="246887" y="12700"/>
                  </a:lnTo>
                  <a:lnTo>
                    <a:pt x="259587" y="12700"/>
                  </a:lnTo>
                  <a:lnTo>
                    <a:pt x="234187" y="0"/>
                  </a:lnTo>
                  <a:close/>
                </a:path>
                <a:path w="285114" h="50800">
                  <a:moveTo>
                    <a:pt x="234187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234187" y="38100"/>
                  </a:lnTo>
                  <a:lnTo>
                    <a:pt x="234187" y="12700"/>
                  </a:lnTo>
                  <a:close/>
                </a:path>
                <a:path w="285114" h="50800">
                  <a:moveTo>
                    <a:pt x="259587" y="12700"/>
                  </a:moveTo>
                  <a:lnTo>
                    <a:pt x="246887" y="12700"/>
                  </a:lnTo>
                  <a:lnTo>
                    <a:pt x="246887" y="38100"/>
                  </a:lnTo>
                  <a:lnTo>
                    <a:pt x="259587" y="38100"/>
                  </a:lnTo>
                  <a:lnTo>
                    <a:pt x="284988" y="25400"/>
                  </a:lnTo>
                  <a:lnTo>
                    <a:pt x="259587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67222" y="3341370"/>
              <a:ext cx="146685" cy="59690"/>
            </a:xfrm>
            <a:custGeom>
              <a:avLst/>
              <a:gdLst/>
              <a:ahLst/>
              <a:cxnLst/>
              <a:rect l="l" t="t" r="r" b="b"/>
              <a:pathLst>
                <a:path w="146685" h="59689">
                  <a:moveTo>
                    <a:pt x="0" y="0"/>
                  </a:moveTo>
                  <a:lnTo>
                    <a:pt x="73151" y="59435"/>
                  </a:lnTo>
                </a:path>
                <a:path w="146685" h="59689">
                  <a:moveTo>
                    <a:pt x="146303" y="0"/>
                  </a:moveTo>
                  <a:lnTo>
                    <a:pt x="60960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7750" y="3713734"/>
              <a:ext cx="283845" cy="50800"/>
            </a:xfrm>
            <a:custGeom>
              <a:avLst/>
              <a:gdLst/>
              <a:ahLst/>
              <a:cxnLst/>
              <a:rect l="l" t="t" r="r" b="b"/>
              <a:pathLst>
                <a:path w="283845" h="50800">
                  <a:moveTo>
                    <a:pt x="232663" y="0"/>
                  </a:moveTo>
                  <a:lnTo>
                    <a:pt x="232663" y="50800"/>
                  </a:lnTo>
                  <a:lnTo>
                    <a:pt x="258063" y="38100"/>
                  </a:lnTo>
                  <a:lnTo>
                    <a:pt x="245363" y="38100"/>
                  </a:lnTo>
                  <a:lnTo>
                    <a:pt x="245363" y="12700"/>
                  </a:lnTo>
                  <a:lnTo>
                    <a:pt x="258063" y="12700"/>
                  </a:lnTo>
                  <a:lnTo>
                    <a:pt x="232663" y="0"/>
                  </a:lnTo>
                  <a:close/>
                </a:path>
                <a:path w="283845" h="50800">
                  <a:moveTo>
                    <a:pt x="232663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232663" y="38100"/>
                  </a:lnTo>
                  <a:lnTo>
                    <a:pt x="232663" y="12700"/>
                  </a:lnTo>
                  <a:close/>
                </a:path>
                <a:path w="283845" h="50800">
                  <a:moveTo>
                    <a:pt x="258063" y="12700"/>
                  </a:moveTo>
                  <a:lnTo>
                    <a:pt x="245363" y="12700"/>
                  </a:lnTo>
                  <a:lnTo>
                    <a:pt x="245363" y="38100"/>
                  </a:lnTo>
                  <a:lnTo>
                    <a:pt x="258063" y="38100"/>
                  </a:lnTo>
                  <a:lnTo>
                    <a:pt x="283463" y="25400"/>
                  </a:lnTo>
                  <a:lnTo>
                    <a:pt x="258063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148834" y="3352038"/>
            <a:ext cx="452755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3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06261" y="3352038"/>
            <a:ext cx="25781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3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175883" y="3328670"/>
            <a:ext cx="1270635" cy="438784"/>
            <a:chOff x="6175883" y="3328670"/>
            <a:chExt cx="1270635" cy="438784"/>
          </a:xfrm>
        </p:grpSpPr>
        <p:sp>
          <p:nvSpPr>
            <p:cNvPr id="28" name="object 28"/>
            <p:cNvSpPr/>
            <p:nvPr/>
          </p:nvSpPr>
          <p:spPr>
            <a:xfrm>
              <a:off x="6931914" y="3713734"/>
              <a:ext cx="291465" cy="50800"/>
            </a:xfrm>
            <a:custGeom>
              <a:avLst/>
              <a:gdLst/>
              <a:ahLst/>
              <a:cxnLst/>
              <a:rect l="l" t="t" r="r" b="b"/>
              <a:pathLst>
                <a:path w="291465" h="50800">
                  <a:moveTo>
                    <a:pt x="240283" y="0"/>
                  </a:moveTo>
                  <a:lnTo>
                    <a:pt x="240283" y="50800"/>
                  </a:lnTo>
                  <a:lnTo>
                    <a:pt x="265683" y="38100"/>
                  </a:lnTo>
                  <a:lnTo>
                    <a:pt x="252983" y="38100"/>
                  </a:lnTo>
                  <a:lnTo>
                    <a:pt x="252983" y="12700"/>
                  </a:lnTo>
                  <a:lnTo>
                    <a:pt x="265683" y="12700"/>
                  </a:lnTo>
                  <a:lnTo>
                    <a:pt x="240283" y="0"/>
                  </a:lnTo>
                  <a:close/>
                </a:path>
                <a:path w="291465" h="50800">
                  <a:moveTo>
                    <a:pt x="240283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240283" y="38100"/>
                  </a:lnTo>
                  <a:lnTo>
                    <a:pt x="240283" y="12700"/>
                  </a:lnTo>
                  <a:close/>
                </a:path>
                <a:path w="291465" h="50800">
                  <a:moveTo>
                    <a:pt x="265683" y="12700"/>
                  </a:moveTo>
                  <a:lnTo>
                    <a:pt x="252983" y="12700"/>
                  </a:lnTo>
                  <a:lnTo>
                    <a:pt x="252983" y="38100"/>
                  </a:lnTo>
                  <a:lnTo>
                    <a:pt x="265683" y="38100"/>
                  </a:lnTo>
                  <a:lnTo>
                    <a:pt x="291083" y="25400"/>
                  </a:lnTo>
                  <a:lnTo>
                    <a:pt x="265683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85482" y="3341370"/>
              <a:ext cx="147955" cy="59690"/>
            </a:xfrm>
            <a:custGeom>
              <a:avLst/>
              <a:gdLst/>
              <a:ahLst/>
              <a:cxnLst/>
              <a:rect l="l" t="t" r="r" b="b"/>
              <a:pathLst>
                <a:path w="147954" h="59689">
                  <a:moveTo>
                    <a:pt x="0" y="0"/>
                  </a:moveTo>
                  <a:lnTo>
                    <a:pt x="73151" y="59435"/>
                  </a:lnTo>
                </a:path>
                <a:path w="147954" h="59689">
                  <a:moveTo>
                    <a:pt x="147827" y="0"/>
                  </a:moveTo>
                  <a:lnTo>
                    <a:pt x="60960" y="59435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75883" y="3716274"/>
              <a:ext cx="273050" cy="50800"/>
            </a:xfrm>
            <a:custGeom>
              <a:avLst/>
              <a:gdLst/>
              <a:ahLst/>
              <a:cxnLst/>
              <a:rect l="l" t="t" r="r" b="b"/>
              <a:pathLst>
                <a:path w="273050" h="50800">
                  <a:moveTo>
                    <a:pt x="222376" y="0"/>
                  </a:moveTo>
                  <a:lnTo>
                    <a:pt x="222250" y="12682"/>
                  </a:lnTo>
                  <a:lnTo>
                    <a:pt x="234950" y="12826"/>
                  </a:lnTo>
                  <a:lnTo>
                    <a:pt x="234819" y="25907"/>
                  </a:lnTo>
                  <a:lnTo>
                    <a:pt x="234695" y="38226"/>
                  </a:lnTo>
                  <a:lnTo>
                    <a:pt x="221994" y="38226"/>
                  </a:lnTo>
                  <a:lnTo>
                    <a:pt x="221868" y="50800"/>
                  </a:lnTo>
                  <a:lnTo>
                    <a:pt x="247656" y="38226"/>
                  </a:lnTo>
                  <a:lnTo>
                    <a:pt x="234695" y="38226"/>
                  </a:lnTo>
                  <a:lnTo>
                    <a:pt x="221996" y="38082"/>
                  </a:lnTo>
                  <a:lnTo>
                    <a:pt x="247952" y="38082"/>
                  </a:lnTo>
                  <a:lnTo>
                    <a:pt x="272922" y="25907"/>
                  </a:lnTo>
                  <a:lnTo>
                    <a:pt x="222376" y="0"/>
                  </a:lnTo>
                  <a:close/>
                </a:path>
                <a:path w="273050" h="50800">
                  <a:moveTo>
                    <a:pt x="222250" y="12682"/>
                  </a:moveTo>
                  <a:lnTo>
                    <a:pt x="222117" y="25907"/>
                  </a:lnTo>
                  <a:lnTo>
                    <a:pt x="221996" y="38082"/>
                  </a:lnTo>
                  <a:lnTo>
                    <a:pt x="234695" y="38226"/>
                  </a:lnTo>
                  <a:lnTo>
                    <a:pt x="234950" y="12826"/>
                  </a:lnTo>
                  <a:lnTo>
                    <a:pt x="222250" y="12682"/>
                  </a:lnTo>
                  <a:close/>
                </a:path>
                <a:path w="273050" h="50800">
                  <a:moveTo>
                    <a:pt x="253" y="10159"/>
                  </a:moveTo>
                  <a:lnTo>
                    <a:pt x="96" y="25907"/>
                  </a:lnTo>
                  <a:lnTo>
                    <a:pt x="0" y="35559"/>
                  </a:lnTo>
                  <a:lnTo>
                    <a:pt x="221996" y="38082"/>
                  </a:lnTo>
                  <a:lnTo>
                    <a:pt x="222248" y="12826"/>
                  </a:lnTo>
                  <a:lnTo>
                    <a:pt x="222250" y="12682"/>
                  </a:lnTo>
                  <a:lnTo>
                    <a:pt x="253" y="10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468617" y="3352038"/>
            <a:ext cx="451484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13779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S</a:t>
            </a:r>
            <a:r>
              <a:rPr sz="1800" spc="-37" baseline="-13888" dirty="0">
                <a:latin typeface="Arial MT"/>
                <a:cs typeface="Arial MT"/>
              </a:rPr>
              <a:t>4</a:t>
            </a:r>
            <a:endParaRPr sz="1800" baseline="-13888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22997" y="3352038"/>
            <a:ext cx="257810" cy="77279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Times New Roman"/>
              <a:cs typeface="Times New Roman"/>
            </a:endParaRPr>
          </a:p>
          <a:p>
            <a:pPr marL="42545">
              <a:lnSpc>
                <a:spcPct val="100000"/>
              </a:lnSpc>
            </a:pPr>
            <a:r>
              <a:rPr sz="1200" spc="-25" dirty="0">
                <a:latin typeface="Arial MT"/>
                <a:cs typeface="Arial MT"/>
              </a:rPr>
              <a:t>R</a:t>
            </a:r>
            <a:r>
              <a:rPr sz="1800" spc="-37" baseline="-13888" dirty="0">
                <a:latin typeface="Arial MT"/>
                <a:cs typeface="Arial MT"/>
              </a:rPr>
              <a:t>4</a:t>
            </a:r>
            <a:endParaRPr sz="1800" baseline="-13888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231898" y="3016250"/>
            <a:ext cx="5501640" cy="748665"/>
            <a:chOff x="2231898" y="3016250"/>
            <a:chExt cx="5501640" cy="748665"/>
          </a:xfrm>
        </p:grpSpPr>
        <p:sp>
          <p:nvSpPr>
            <p:cNvPr id="34" name="object 34"/>
            <p:cNvSpPr/>
            <p:nvPr/>
          </p:nvSpPr>
          <p:spPr>
            <a:xfrm>
              <a:off x="7494269" y="3713733"/>
              <a:ext cx="239395" cy="50800"/>
            </a:xfrm>
            <a:custGeom>
              <a:avLst/>
              <a:gdLst/>
              <a:ahLst/>
              <a:cxnLst/>
              <a:rect l="l" t="t" r="r" b="b"/>
              <a:pathLst>
                <a:path w="239395" h="50800">
                  <a:moveTo>
                    <a:pt x="188468" y="0"/>
                  </a:moveTo>
                  <a:lnTo>
                    <a:pt x="188468" y="50800"/>
                  </a:lnTo>
                  <a:lnTo>
                    <a:pt x="213868" y="38100"/>
                  </a:lnTo>
                  <a:lnTo>
                    <a:pt x="201168" y="38100"/>
                  </a:lnTo>
                  <a:lnTo>
                    <a:pt x="201168" y="12700"/>
                  </a:lnTo>
                  <a:lnTo>
                    <a:pt x="213868" y="12700"/>
                  </a:lnTo>
                  <a:lnTo>
                    <a:pt x="188468" y="0"/>
                  </a:lnTo>
                  <a:close/>
                </a:path>
                <a:path w="239395" h="50800">
                  <a:moveTo>
                    <a:pt x="188468" y="12700"/>
                  </a:moveTo>
                  <a:lnTo>
                    <a:pt x="0" y="12700"/>
                  </a:lnTo>
                  <a:lnTo>
                    <a:pt x="0" y="38100"/>
                  </a:lnTo>
                  <a:lnTo>
                    <a:pt x="188468" y="38100"/>
                  </a:lnTo>
                  <a:lnTo>
                    <a:pt x="188468" y="12700"/>
                  </a:lnTo>
                  <a:close/>
                </a:path>
                <a:path w="239395" h="50800">
                  <a:moveTo>
                    <a:pt x="213868" y="12700"/>
                  </a:moveTo>
                  <a:lnTo>
                    <a:pt x="201168" y="12700"/>
                  </a:lnTo>
                  <a:lnTo>
                    <a:pt x="201168" y="38100"/>
                  </a:lnTo>
                  <a:lnTo>
                    <a:pt x="213868" y="38100"/>
                  </a:lnTo>
                  <a:lnTo>
                    <a:pt x="239268" y="25400"/>
                  </a:lnTo>
                  <a:lnTo>
                    <a:pt x="213868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31898" y="3051809"/>
              <a:ext cx="5133340" cy="289560"/>
            </a:xfrm>
            <a:custGeom>
              <a:avLst/>
              <a:gdLst/>
              <a:ahLst/>
              <a:cxnLst/>
              <a:rect l="l" t="t" r="r" b="b"/>
              <a:pathLst>
                <a:path w="5133340" h="289560">
                  <a:moveTo>
                    <a:pt x="0" y="3048"/>
                  </a:moveTo>
                  <a:lnTo>
                    <a:pt x="5132832" y="3048"/>
                  </a:lnTo>
                </a:path>
                <a:path w="5133340" h="289560">
                  <a:moveTo>
                    <a:pt x="1178052" y="289560"/>
                  </a:moveTo>
                  <a:lnTo>
                    <a:pt x="1178052" y="0"/>
                  </a:lnTo>
                </a:path>
                <a:path w="5133340" h="289560">
                  <a:moveTo>
                    <a:pt x="3802379" y="289560"/>
                  </a:moveTo>
                  <a:lnTo>
                    <a:pt x="3802379" y="0"/>
                  </a:lnTo>
                </a:path>
                <a:path w="5133340" h="289560">
                  <a:moveTo>
                    <a:pt x="5122163" y="289560"/>
                  </a:moveTo>
                  <a:lnTo>
                    <a:pt x="5122163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8294" y="3016250"/>
              <a:ext cx="74166" cy="6654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68266" y="3016250"/>
              <a:ext cx="72642" cy="6654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1098" y="3016250"/>
              <a:ext cx="75690" cy="6654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709922" y="3051809"/>
              <a:ext cx="0" cy="289560"/>
            </a:xfrm>
            <a:custGeom>
              <a:avLst/>
              <a:gdLst/>
              <a:ahLst/>
              <a:cxnLst/>
              <a:rect l="l" t="t" r="r" b="b"/>
              <a:pathLst>
                <a:path h="289560">
                  <a:moveTo>
                    <a:pt x="0" y="289560"/>
                  </a:moveTo>
                  <a:lnTo>
                    <a:pt x="0" y="0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805177" y="3605021"/>
            <a:ext cx="3663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 MT"/>
                <a:cs typeface="Arial MT"/>
              </a:rPr>
              <a:t>Input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80210" y="2959353"/>
            <a:ext cx="406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Clock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50" dirty="0"/>
              <a:t> </a:t>
            </a:r>
            <a:r>
              <a:rPr dirty="0"/>
              <a:t>TASKS</a:t>
            </a:r>
            <a:r>
              <a:rPr spc="-25" dirty="0"/>
              <a:t> </a:t>
            </a:r>
            <a:r>
              <a:rPr dirty="0"/>
              <a:t>CAN</a:t>
            </a:r>
            <a:r>
              <a:rPr spc="-45" dirty="0"/>
              <a:t> </a:t>
            </a:r>
            <a:r>
              <a:rPr dirty="0"/>
              <a:t>BENEFIT</a:t>
            </a:r>
            <a:r>
              <a:rPr spc="-30" dirty="0"/>
              <a:t> </a:t>
            </a:r>
            <a:r>
              <a:rPr dirty="0"/>
              <a:t>FROM</a:t>
            </a:r>
            <a:r>
              <a:rPr spc="-65" dirty="0"/>
              <a:t> </a:t>
            </a:r>
            <a:r>
              <a:rPr spc="-10" dirty="0"/>
              <a:t>PIPELINING?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900" marR="5080" indent="-457200">
              <a:lnSpc>
                <a:spcPts val="2590"/>
              </a:lnSpc>
              <a:spcBef>
                <a:spcPts val="425"/>
              </a:spcBef>
              <a:tabLst>
                <a:tab pos="469265" algn="l"/>
              </a:tabLst>
            </a:pPr>
            <a:r>
              <a:rPr spc="-25" dirty="0"/>
              <a:t>1.</a:t>
            </a:r>
            <a:r>
              <a:rPr dirty="0"/>
              <a:t>	Any</a:t>
            </a:r>
            <a:r>
              <a:rPr spc="-45" dirty="0"/>
              <a:t> </a:t>
            </a:r>
            <a:r>
              <a:rPr dirty="0"/>
              <a:t>task</a:t>
            </a:r>
            <a:r>
              <a:rPr spc="-55" dirty="0"/>
              <a:t> </a:t>
            </a:r>
            <a:r>
              <a:rPr dirty="0"/>
              <a:t>that</a:t>
            </a:r>
            <a:r>
              <a:rPr spc="-60" dirty="0"/>
              <a:t> </a:t>
            </a:r>
            <a:r>
              <a:rPr dirty="0"/>
              <a:t>can</a:t>
            </a:r>
            <a:r>
              <a:rPr spc="-40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spc="-10" dirty="0"/>
              <a:t>decomposed</a:t>
            </a:r>
            <a:r>
              <a:rPr spc="-25" dirty="0"/>
              <a:t> </a:t>
            </a:r>
            <a:r>
              <a:rPr dirty="0"/>
              <a:t>into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sequence</a:t>
            </a:r>
            <a:r>
              <a:rPr spc="-2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20" dirty="0"/>
              <a:t>sub- </a:t>
            </a:r>
            <a:r>
              <a:rPr dirty="0"/>
              <a:t>operations</a:t>
            </a:r>
            <a:r>
              <a:rPr spc="-5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about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same</a:t>
            </a:r>
            <a:r>
              <a:rPr spc="-70" dirty="0"/>
              <a:t> </a:t>
            </a:r>
            <a:r>
              <a:rPr dirty="0"/>
              <a:t>complexity</a:t>
            </a:r>
            <a:r>
              <a:rPr spc="-45" dirty="0"/>
              <a:t> </a:t>
            </a:r>
            <a:r>
              <a:rPr dirty="0"/>
              <a:t>can</a:t>
            </a:r>
            <a:r>
              <a:rPr spc="-70" dirty="0"/>
              <a:t> </a:t>
            </a:r>
            <a:r>
              <a:rPr spc="-25" dirty="0"/>
              <a:t>be </a:t>
            </a:r>
            <a:r>
              <a:rPr spc="-10" dirty="0"/>
              <a:t>implemented</a:t>
            </a:r>
            <a:r>
              <a:rPr spc="-45" dirty="0"/>
              <a:t> </a:t>
            </a:r>
            <a:r>
              <a:rPr dirty="0"/>
              <a:t>by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pipelined</a:t>
            </a:r>
            <a:r>
              <a:rPr spc="-25" dirty="0"/>
              <a:t> </a:t>
            </a:r>
            <a:r>
              <a:rPr spc="-10" dirty="0"/>
              <a:t>processor</a:t>
            </a:r>
          </a:p>
          <a:p>
            <a:pPr marL="469900">
              <a:lnSpc>
                <a:spcPts val="2280"/>
              </a:lnSpc>
              <a:spcBef>
                <a:spcPts val="450"/>
              </a:spcBef>
            </a:pPr>
            <a:r>
              <a:rPr sz="2000" dirty="0"/>
              <a:t>–</a:t>
            </a:r>
            <a:r>
              <a:rPr sz="2000" spc="110" dirty="0"/>
              <a:t> </a:t>
            </a:r>
            <a:r>
              <a:rPr sz="2000" dirty="0"/>
              <a:t>Task</a:t>
            </a:r>
            <a:r>
              <a:rPr sz="2000" spc="-35" dirty="0"/>
              <a:t> </a:t>
            </a:r>
            <a:r>
              <a:rPr sz="2000" dirty="0"/>
              <a:t>in</a:t>
            </a:r>
            <a:r>
              <a:rPr sz="2000" spc="-15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dirty="0"/>
              <a:t>context</a:t>
            </a:r>
            <a:r>
              <a:rPr sz="2000" spc="-35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dirty="0"/>
              <a:t>pipelining</a:t>
            </a:r>
            <a:r>
              <a:rPr sz="2000" spc="-20" dirty="0"/>
              <a:t> </a:t>
            </a:r>
            <a:r>
              <a:rPr sz="2000" dirty="0"/>
              <a:t>can</a:t>
            </a:r>
            <a:r>
              <a:rPr sz="2000" spc="-25" dirty="0"/>
              <a:t> </a:t>
            </a:r>
            <a:r>
              <a:rPr sz="2000" dirty="0"/>
              <a:t>thus</a:t>
            </a:r>
            <a:r>
              <a:rPr sz="2000" spc="-40" dirty="0"/>
              <a:t> </a:t>
            </a:r>
            <a:r>
              <a:rPr sz="2000" dirty="0"/>
              <a:t>be</a:t>
            </a:r>
            <a:r>
              <a:rPr sz="2000" spc="-25" dirty="0"/>
              <a:t> </a:t>
            </a:r>
            <a:r>
              <a:rPr sz="2000" dirty="0"/>
              <a:t>defined</a:t>
            </a:r>
            <a:r>
              <a:rPr sz="2000" spc="-25" dirty="0"/>
              <a:t> </a:t>
            </a:r>
            <a:r>
              <a:rPr sz="2000" dirty="0"/>
              <a:t>as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spc="-10" dirty="0"/>
              <a:t>total</a:t>
            </a:r>
            <a:endParaRPr sz="2000"/>
          </a:p>
          <a:p>
            <a:pPr marL="697865">
              <a:lnSpc>
                <a:spcPts val="2280"/>
              </a:lnSpc>
            </a:pPr>
            <a:r>
              <a:rPr sz="2000" dirty="0"/>
              <a:t>operation</a:t>
            </a:r>
            <a:r>
              <a:rPr sz="2000" spc="-50" dirty="0"/>
              <a:t> </a:t>
            </a:r>
            <a:r>
              <a:rPr sz="2000" dirty="0"/>
              <a:t>performed</a:t>
            </a:r>
            <a:r>
              <a:rPr sz="2000" spc="-55" dirty="0"/>
              <a:t> </a:t>
            </a:r>
            <a:r>
              <a:rPr sz="2000" dirty="0"/>
              <a:t>going</a:t>
            </a:r>
            <a:r>
              <a:rPr sz="2000" spc="-30" dirty="0"/>
              <a:t> </a:t>
            </a:r>
            <a:r>
              <a:rPr sz="2000" dirty="0"/>
              <a:t>through</a:t>
            </a:r>
            <a:r>
              <a:rPr sz="2000" spc="-55" dirty="0"/>
              <a:t> </a:t>
            </a:r>
            <a:r>
              <a:rPr sz="2000" dirty="0"/>
              <a:t>all</a:t>
            </a:r>
            <a:r>
              <a:rPr sz="2000" spc="-10" dirty="0"/>
              <a:t> </a:t>
            </a:r>
            <a:r>
              <a:rPr sz="2000" dirty="0"/>
              <a:t>the</a:t>
            </a:r>
            <a:r>
              <a:rPr sz="2000" spc="-35" dirty="0"/>
              <a:t> </a:t>
            </a:r>
            <a:r>
              <a:rPr sz="2000" dirty="0"/>
              <a:t>segments</a:t>
            </a:r>
            <a:r>
              <a:rPr sz="2000" spc="-50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spc="-10" dirty="0"/>
              <a:t>pipeline</a:t>
            </a:r>
            <a:endParaRPr sz="20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332943" y="4385309"/>
            <a:ext cx="827659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900" marR="5080" indent="-457200">
              <a:lnSpc>
                <a:spcPts val="2590"/>
              </a:lnSpc>
              <a:spcBef>
                <a:spcPts val="425"/>
              </a:spcBef>
              <a:tabLst>
                <a:tab pos="469265" algn="l"/>
              </a:tabLst>
            </a:pPr>
            <a:r>
              <a:rPr sz="2400" spc="-25" dirty="0">
                <a:latin typeface="Arial MT"/>
                <a:cs typeface="Arial MT"/>
              </a:rPr>
              <a:t>2.</a:t>
            </a:r>
            <a:r>
              <a:rPr sz="2400" dirty="0">
                <a:latin typeface="Arial MT"/>
                <a:cs typeface="Arial MT"/>
              </a:rPr>
              <a:t>	Tasks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repeat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times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benefit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pipelining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85725"/>
            <a:ext cx="754380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397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EXAMPLE:</a:t>
            </a:r>
            <a:r>
              <a:rPr sz="4000" spc="-30" dirty="0"/>
              <a:t> </a:t>
            </a:r>
            <a:r>
              <a:rPr sz="4000" dirty="0"/>
              <a:t>A</a:t>
            </a:r>
            <a:r>
              <a:rPr sz="4000" spc="-40" dirty="0"/>
              <a:t> </a:t>
            </a:r>
            <a:r>
              <a:rPr sz="4000" dirty="0"/>
              <a:t>PIPELINING</a:t>
            </a:r>
            <a:r>
              <a:rPr sz="4000" spc="-60" dirty="0"/>
              <a:t> </a:t>
            </a:r>
            <a:r>
              <a:rPr sz="4000" spc="-20" dirty="0"/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4747" y="1900006"/>
            <a:ext cx="6196965" cy="117538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6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One</a:t>
            </a:r>
            <a:r>
              <a:rPr sz="18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stage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of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task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listed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in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form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of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Microoperations</a:t>
            </a:r>
            <a:endParaRPr sz="1800" dirty="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10"/>
              </a:spcBef>
              <a:tabLst>
                <a:tab pos="1125855" algn="l"/>
                <a:tab pos="2886710" algn="l"/>
              </a:tabLst>
            </a:pPr>
            <a:r>
              <a:rPr sz="1800" b="1" dirty="0">
                <a:latin typeface="Arial"/>
                <a:cs typeface="Arial"/>
              </a:rPr>
              <a:t>R1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A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spc="-25" dirty="0">
                <a:latin typeface="Arial"/>
                <a:cs typeface="Arial"/>
              </a:rPr>
              <a:t>,</a:t>
            </a:r>
            <a:r>
              <a:rPr sz="1800" b="1" dirty="0">
                <a:latin typeface="Arial"/>
                <a:cs typeface="Arial"/>
              </a:rPr>
              <a:t>	R2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B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baseline="-20833" dirty="0"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01ABEA"/>
                </a:solidFill>
                <a:latin typeface="Arial"/>
                <a:cs typeface="Arial"/>
              </a:rPr>
              <a:t>Load</a:t>
            </a:r>
            <a:r>
              <a:rPr sz="1800" b="1" spc="-11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ABEA"/>
                </a:solidFill>
                <a:latin typeface="Arial"/>
                <a:cs typeface="Arial"/>
              </a:rPr>
              <a:t>A</a:t>
            </a:r>
            <a:r>
              <a:rPr sz="1800" b="1" baseline="-20833" dirty="0">
                <a:solidFill>
                  <a:srgbClr val="01ABEA"/>
                </a:solidFill>
                <a:latin typeface="Arial"/>
                <a:cs typeface="Arial"/>
              </a:rPr>
              <a:t>i</a:t>
            </a:r>
            <a:r>
              <a:rPr sz="1800" b="1" spc="277" baseline="-20833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ABEA"/>
                </a:solidFill>
                <a:latin typeface="Arial"/>
                <a:cs typeface="Arial"/>
              </a:rPr>
              <a:t>and</a:t>
            </a:r>
            <a:r>
              <a:rPr sz="1800" b="1" spc="-25" dirty="0">
                <a:solidFill>
                  <a:srgbClr val="01ABEA"/>
                </a:solidFill>
                <a:latin typeface="Arial"/>
                <a:cs typeface="Arial"/>
              </a:rPr>
              <a:t> B</a:t>
            </a:r>
            <a:r>
              <a:rPr sz="1800" b="1" spc="-37" baseline="-20833" dirty="0">
                <a:solidFill>
                  <a:srgbClr val="01ABEA"/>
                </a:solidFill>
                <a:latin typeface="Arial"/>
                <a:cs typeface="Arial"/>
              </a:rPr>
              <a:t>i</a:t>
            </a:r>
            <a:endParaRPr sz="1800" baseline="-20833" dirty="0">
              <a:latin typeface="Arial"/>
              <a:cs typeface="Arial"/>
            </a:endParaRPr>
          </a:p>
          <a:p>
            <a:pPr marL="91440" marR="1177290">
              <a:lnSpc>
                <a:spcPct val="105000"/>
              </a:lnSpc>
              <a:tabLst>
                <a:tab pos="1725930" algn="l"/>
                <a:tab pos="2873375" algn="l"/>
              </a:tabLst>
            </a:pPr>
            <a:r>
              <a:rPr sz="1800" b="1" dirty="0">
                <a:latin typeface="Arial"/>
                <a:cs typeface="Arial"/>
              </a:rPr>
              <a:t>R3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R1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* </a:t>
            </a:r>
            <a:r>
              <a:rPr sz="1800" b="1" spc="-25" dirty="0">
                <a:latin typeface="Arial"/>
                <a:cs typeface="Arial"/>
              </a:rPr>
              <a:t>R2,</a:t>
            </a:r>
            <a:r>
              <a:rPr sz="1800" b="1" dirty="0">
                <a:latin typeface="Arial"/>
                <a:cs typeface="Arial"/>
              </a:rPr>
              <a:t>	R4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C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baseline="-20833" dirty="0"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01ABEA"/>
                </a:solidFill>
                <a:latin typeface="Arial"/>
                <a:cs typeface="Arial"/>
              </a:rPr>
              <a:t>Multiply</a:t>
            </a:r>
            <a:r>
              <a:rPr sz="1800" b="1" spc="-4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ABEA"/>
                </a:solidFill>
                <a:latin typeface="Arial"/>
                <a:cs typeface="Arial"/>
              </a:rPr>
              <a:t>and</a:t>
            </a:r>
            <a:r>
              <a:rPr sz="1800" b="1" spc="-1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ABEA"/>
                </a:solidFill>
                <a:latin typeface="Arial"/>
                <a:cs typeface="Arial"/>
              </a:rPr>
              <a:t>load</a:t>
            </a:r>
            <a:r>
              <a:rPr sz="1800" b="1" spc="-25" dirty="0">
                <a:solidFill>
                  <a:srgbClr val="01ABEA"/>
                </a:solidFill>
                <a:latin typeface="Arial"/>
                <a:cs typeface="Arial"/>
              </a:rPr>
              <a:t> C</a:t>
            </a:r>
            <a:r>
              <a:rPr sz="1800" b="1" spc="-37" baseline="-20833" dirty="0">
                <a:solidFill>
                  <a:srgbClr val="01ABEA"/>
                </a:solidFill>
                <a:latin typeface="Arial"/>
                <a:cs typeface="Arial"/>
              </a:rPr>
              <a:t>i </a:t>
            </a:r>
            <a:r>
              <a:rPr sz="1800" b="1" dirty="0">
                <a:latin typeface="Arial"/>
                <a:cs typeface="Arial"/>
              </a:rPr>
              <a:t>R5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R3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R4</a:t>
            </a:r>
            <a:r>
              <a:rPr sz="1800" b="1" dirty="0">
                <a:latin typeface="Arial"/>
                <a:cs typeface="Arial"/>
              </a:rPr>
              <a:t>		</a:t>
            </a:r>
            <a:r>
              <a:rPr sz="1800" b="1" spc="-470" dirty="0"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1ABEA"/>
                </a:solidFill>
                <a:latin typeface="Arial"/>
                <a:cs typeface="Arial"/>
              </a:rPr>
              <a:t>Add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1055" y="962914"/>
            <a:ext cx="412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132965" algn="l"/>
              </a:tabLst>
            </a:pPr>
            <a:r>
              <a:rPr sz="1800" b="1" dirty="0">
                <a:latin typeface="Arial"/>
                <a:cs typeface="Arial"/>
              </a:rPr>
              <a:t>Loop:</a:t>
            </a:r>
            <a:r>
              <a:rPr sz="1800" b="1" spc="3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baseline="-20833" dirty="0">
                <a:latin typeface="Arial"/>
                <a:cs typeface="Arial"/>
              </a:rPr>
              <a:t>i</a:t>
            </a:r>
            <a:r>
              <a:rPr sz="1800" b="1" spc="307" baseline="-2083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*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</a:t>
            </a:r>
            <a:r>
              <a:rPr sz="1800" b="1" baseline="-20833" dirty="0">
                <a:latin typeface="Arial"/>
                <a:cs typeface="Arial"/>
              </a:rPr>
              <a:t>i</a:t>
            </a:r>
            <a:r>
              <a:rPr sz="1800" b="1" spc="217" baseline="-2083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25" dirty="0">
                <a:latin typeface="Arial"/>
                <a:cs typeface="Arial"/>
              </a:rPr>
              <a:t> C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baseline="-20833" dirty="0">
                <a:latin typeface="Arial"/>
                <a:cs typeface="Arial"/>
              </a:rPr>
              <a:t>	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1, 2,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3,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...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,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1263" y="3429761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1305" y="3669029"/>
            <a:ext cx="0" cy="242570"/>
          </a:xfrm>
          <a:custGeom>
            <a:avLst/>
            <a:gdLst/>
            <a:ahLst/>
            <a:cxnLst/>
            <a:rect l="l" t="t" r="r" b="b"/>
            <a:pathLst>
              <a:path h="242570">
                <a:moveTo>
                  <a:pt x="0" y="0"/>
                </a:moveTo>
                <a:lnTo>
                  <a:pt x="0" y="242316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69157" y="3917441"/>
            <a:ext cx="844550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64135" algn="ctr">
              <a:lnSpc>
                <a:spcPct val="100000"/>
              </a:lnSpc>
              <a:spcBef>
                <a:spcPts val="70"/>
              </a:spcBef>
            </a:pPr>
            <a:r>
              <a:rPr sz="1200" b="1" spc="-25" dirty="0">
                <a:latin typeface="Arial"/>
                <a:cs typeface="Arial"/>
              </a:rPr>
              <a:t>R1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87061" y="3669029"/>
            <a:ext cx="0" cy="245745"/>
          </a:xfrm>
          <a:custGeom>
            <a:avLst/>
            <a:gdLst/>
            <a:ahLst/>
            <a:cxnLst/>
            <a:rect l="l" t="t" r="r" b="b"/>
            <a:pathLst>
              <a:path h="245745">
                <a:moveTo>
                  <a:pt x="0" y="0"/>
                </a:moveTo>
                <a:lnTo>
                  <a:pt x="0" y="245364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72534" y="3917441"/>
            <a:ext cx="826135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70"/>
              </a:spcBef>
            </a:pPr>
            <a:r>
              <a:rPr sz="1200" b="1" spc="-25" dirty="0">
                <a:latin typeface="Arial"/>
                <a:cs typeface="Arial"/>
              </a:rPr>
              <a:t>R2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88914" y="3669029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83102" y="4438650"/>
            <a:ext cx="1348740" cy="33845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545"/>
              </a:spcBef>
            </a:pPr>
            <a:r>
              <a:rPr sz="1200" b="1" dirty="0">
                <a:latin typeface="Arial"/>
                <a:cs typeface="Arial"/>
              </a:rPr>
              <a:t>Multiplier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unit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17214" y="4115561"/>
            <a:ext cx="1041400" cy="917575"/>
          </a:xfrm>
          <a:custGeom>
            <a:avLst/>
            <a:gdLst/>
            <a:ahLst/>
            <a:cxnLst/>
            <a:rect l="l" t="t" r="r" b="b"/>
            <a:pathLst>
              <a:path w="1041400" h="917575">
                <a:moveTo>
                  <a:pt x="0" y="10668"/>
                </a:moveTo>
                <a:lnTo>
                  <a:pt x="0" y="321563"/>
                </a:lnTo>
              </a:path>
              <a:path w="1041400" h="917575">
                <a:moveTo>
                  <a:pt x="1040891" y="0"/>
                </a:moveTo>
                <a:lnTo>
                  <a:pt x="1040891" y="321563"/>
                </a:lnTo>
              </a:path>
              <a:path w="1041400" h="917575">
                <a:moveTo>
                  <a:pt x="493775" y="672083"/>
                </a:moveTo>
                <a:lnTo>
                  <a:pt x="493775" y="917448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96461" y="5036058"/>
            <a:ext cx="826769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4130" algn="ctr">
              <a:lnSpc>
                <a:spcPts val="1430"/>
              </a:lnSpc>
              <a:spcBef>
                <a:spcPts val="125"/>
              </a:spcBef>
            </a:pPr>
            <a:r>
              <a:rPr sz="1200" b="1" spc="-25" dirty="0">
                <a:latin typeface="Arial"/>
                <a:cs typeface="Arial"/>
              </a:rPr>
              <a:t>R3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8290" y="5036058"/>
            <a:ext cx="835660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41910" algn="ctr">
              <a:lnSpc>
                <a:spcPct val="100000"/>
              </a:lnSpc>
              <a:spcBef>
                <a:spcPts val="80"/>
              </a:spcBef>
            </a:pPr>
            <a:r>
              <a:rPr sz="1200" b="1" spc="-25" dirty="0">
                <a:latin typeface="Arial"/>
                <a:cs typeface="Arial"/>
              </a:rPr>
              <a:t>R4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10990" y="5241797"/>
            <a:ext cx="1678305" cy="307975"/>
          </a:xfrm>
          <a:custGeom>
            <a:avLst/>
            <a:gdLst/>
            <a:ahLst/>
            <a:cxnLst/>
            <a:rect l="l" t="t" r="r" b="b"/>
            <a:pathLst>
              <a:path w="1678304" h="307975">
                <a:moveTo>
                  <a:pt x="0" y="0"/>
                </a:moveTo>
                <a:lnTo>
                  <a:pt x="0" y="307847"/>
                </a:lnTo>
              </a:path>
              <a:path w="1678304" h="307975">
                <a:moveTo>
                  <a:pt x="1677924" y="0"/>
                </a:moveTo>
                <a:lnTo>
                  <a:pt x="1677924" y="304799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57065" y="5554217"/>
            <a:ext cx="1976755" cy="33083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52704" rIns="0" bIns="0" rtlCol="0">
            <a:spAutoFit/>
          </a:bodyPr>
          <a:lstStyle/>
          <a:p>
            <a:pPr marL="619125">
              <a:lnSpc>
                <a:spcPct val="100000"/>
              </a:lnSpc>
              <a:spcBef>
                <a:spcPts val="414"/>
              </a:spcBef>
            </a:pPr>
            <a:r>
              <a:rPr sz="1200" b="1" dirty="0">
                <a:latin typeface="Arial"/>
                <a:cs typeface="Arial"/>
              </a:rPr>
              <a:t>Adder</a:t>
            </a:r>
            <a:r>
              <a:rPr sz="1200" b="1" spc="-20" dirty="0">
                <a:latin typeface="Arial"/>
                <a:cs typeface="Arial"/>
              </a:rPr>
              <a:t> unit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53761" y="5895594"/>
            <a:ext cx="0" cy="253365"/>
          </a:xfrm>
          <a:custGeom>
            <a:avLst/>
            <a:gdLst/>
            <a:ahLst/>
            <a:cxnLst/>
            <a:rect l="l" t="t" r="r" b="b"/>
            <a:pathLst>
              <a:path h="253364">
                <a:moveTo>
                  <a:pt x="0" y="0"/>
                </a:moveTo>
                <a:lnTo>
                  <a:pt x="0" y="252983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23232" y="6145529"/>
            <a:ext cx="845185" cy="19685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034" algn="ctr">
              <a:lnSpc>
                <a:spcPts val="1435"/>
              </a:lnSpc>
            </a:pPr>
            <a:r>
              <a:rPr sz="1200" b="1" spc="-25" dirty="0">
                <a:latin typeface="Arial"/>
                <a:cs typeface="Arial"/>
              </a:rPr>
              <a:t>R5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70810" y="3151886"/>
            <a:ext cx="3721100" cy="3222625"/>
            <a:chOff x="2670810" y="3151886"/>
            <a:chExt cx="3721100" cy="3222625"/>
          </a:xfrm>
        </p:grpSpPr>
        <p:sp>
          <p:nvSpPr>
            <p:cNvPr id="20" name="object 20"/>
            <p:cNvSpPr/>
            <p:nvPr/>
          </p:nvSpPr>
          <p:spPr>
            <a:xfrm>
              <a:off x="2670810" y="3522726"/>
              <a:ext cx="433070" cy="2814955"/>
            </a:xfrm>
            <a:custGeom>
              <a:avLst/>
              <a:gdLst/>
              <a:ahLst/>
              <a:cxnLst/>
              <a:rect l="l" t="t" r="r" b="b"/>
              <a:pathLst>
                <a:path w="433069" h="2814954">
                  <a:moveTo>
                    <a:pt x="426719" y="0"/>
                  </a:moveTo>
                  <a:lnTo>
                    <a:pt x="15239" y="0"/>
                  </a:lnTo>
                </a:path>
                <a:path w="433069" h="2814954">
                  <a:moveTo>
                    <a:pt x="399288" y="827532"/>
                  </a:moveTo>
                  <a:lnTo>
                    <a:pt x="24383" y="827532"/>
                  </a:lnTo>
                </a:path>
                <a:path w="433069" h="2814954">
                  <a:moveTo>
                    <a:pt x="388619" y="1866900"/>
                  </a:moveTo>
                  <a:lnTo>
                    <a:pt x="15239" y="1866900"/>
                  </a:lnTo>
                </a:path>
                <a:path w="433069" h="2814954">
                  <a:moveTo>
                    <a:pt x="432815" y="2814828"/>
                  </a:moveTo>
                  <a:lnTo>
                    <a:pt x="0" y="2814828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24734" y="3522725"/>
              <a:ext cx="86995" cy="2851785"/>
            </a:xfrm>
            <a:custGeom>
              <a:avLst/>
              <a:gdLst/>
              <a:ahLst/>
              <a:cxnLst/>
              <a:rect l="l" t="t" r="r" b="b"/>
              <a:pathLst>
                <a:path w="86994" h="2851785">
                  <a:moveTo>
                    <a:pt x="76200" y="2003044"/>
                  </a:moveTo>
                  <a:lnTo>
                    <a:pt x="60960" y="1952244"/>
                  </a:lnTo>
                  <a:lnTo>
                    <a:pt x="38100" y="1876044"/>
                  </a:lnTo>
                  <a:lnTo>
                    <a:pt x="0" y="2003044"/>
                  </a:lnTo>
                  <a:lnTo>
                    <a:pt x="25400" y="1969185"/>
                  </a:lnTo>
                  <a:lnTo>
                    <a:pt x="25400" y="2758275"/>
                  </a:lnTo>
                  <a:lnTo>
                    <a:pt x="0" y="2724404"/>
                  </a:lnTo>
                  <a:lnTo>
                    <a:pt x="38100" y="2851404"/>
                  </a:lnTo>
                  <a:lnTo>
                    <a:pt x="60960" y="2775204"/>
                  </a:lnTo>
                  <a:lnTo>
                    <a:pt x="76200" y="2724404"/>
                  </a:lnTo>
                  <a:lnTo>
                    <a:pt x="50800" y="2758275"/>
                  </a:lnTo>
                  <a:lnTo>
                    <a:pt x="50800" y="1969185"/>
                  </a:lnTo>
                  <a:lnTo>
                    <a:pt x="76200" y="2003044"/>
                  </a:lnTo>
                  <a:close/>
                </a:path>
                <a:path w="86994" h="2851785">
                  <a:moveTo>
                    <a:pt x="86868" y="966724"/>
                  </a:moveTo>
                  <a:lnTo>
                    <a:pt x="71628" y="915924"/>
                  </a:lnTo>
                  <a:lnTo>
                    <a:pt x="48768" y="839724"/>
                  </a:lnTo>
                  <a:lnTo>
                    <a:pt x="10668" y="966724"/>
                  </a:lnTo>
                  <a:lnTo>
                    <a:pt x="36068" y="932865"/>
                  </a:lnTo>
                  <a:lnTo>
                    <a:pt x="36068" y="1773770"/>
                  </a:lnTo>
                  <a:lnTo>
                    <a:pt x="10668" y="1739900"/>
                  </a:lnTo>
                  <a:lnTo>
                    <a:pt x="48768" y="1866900"/>
                  </a:lnTo>
                  <a:lnTo>
                    <a:pt x="71628" y="1790700"/>
                  </a:lnTo>
                  <a:lnTo>
                    <a:pt x="86868" y="1739900"/>
                  </a:lnTo>
                  <a:lnTo>
                    <a:pt x="61468" y="1773770"/>
                  </a:lnTo>
                  <a:lnTo>
                    <a:pt x="61468" y="932865"/>
                  </a:lnTo>
                  <a:lnTo>
                    <a:pt x="86868" y="966724"/>
                  </a:lnTo>
                  <a:close/>
                </a:path>
                <a:path w="86994" h="2851785">
                  <a:moveTo>
                    <a:pt x="86868" y="127000"/>
                  </a:moveTo>
                  <a:lnTo>
                    <a:pt x="71628" y="76200"/>
                  </a:lnTo>
                  <a:lnTo>
                    <a:pt x="48768" y="0"/>
                  </a:lnTo>
                  <a:lnTo>
                    <a:pt x="10668" y="127000"/>
                  </a:lnTo>
                  <a:lnTo>
                    <a:pt x="36068" y="93141"/>
                  </a:lnTo>
                  <a:lnTo>
                    <a:pt x="36068" y="726782"/>
                  </a:lnTo>
                  <a:lnTo>
                    <a:pt x="10668" y="692912"/>
                  </a:lnTo>
                  <a:lnTo>
                    <a:pt x="48768" y="819912"/>
                  </a:lnTo>
                  <a:lnTo>
                    <a:pt x="71628" y="743712"/>
                  </a:lnTo>
                  <a:lnTo>
                    <a:pt x="86868" y="692912"/>
                  </a:lnTo>
                  <a:lnTo>
                    <a:pt x="61468" y="726782"/>
                  </a:lnTo>
                  <a:lnTo>
                    <a:pt x="61468" y="93141"/>
                  </a:lnTo>
                  <a:lnTo>
                    <a:pt x="86868" y="12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3938" y="3164586"/>
              <a:ext cx="3065145" cy="628015"/>
            </a:xfrm>
            <a:custGeom>
              <a:avLst/>
              <a:gdLst/>
              <a:ahLst/>
              <a:cxnLst/>
              <a:rect l="l" t="t" r="r" b="b"/>
              <a:pathLst>
                <a:path w="3065145" h="628014">
                  <a:moveTo>
                    <a:pt x="0" y="627888"/>
                  </a:moveTo>
                  <a:lnTo>
                    <a:pt x="3064764" y="627888"/>
                  </a:lnTo>
                  <a:lnTo>
                    <a:pt x="3064764" y="0"/>
                  </a:lnTo>
                  <a:lnTo>
                    <a:pt x="0" y="0"/>
                  </a:lnTo>
                  <a:lnTo>
                    <a:pt x="0" y="627888"/>
                  </a:lnTo>
                  <a:close/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296409" y="3177285"/>
            <a:ext cx="951865" cy="470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1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R="166370" algn="ctr">
              <a:lnSpc>
                <a:spcPts val="1390"/>
              </a:lnSpc>
            </a:pPr>
            <a:r>
              <a:rPr sz="1200" b="1" spc="-25" dirty="0">
                <a:latin typeface="Arial"/>
                <a:cs typeface="Arial"/>
              </a:rPr>
              <a:t>B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92394" y="3448253"/>
            <a:ext cx="21462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C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10282" y="3753739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1ABEA"/>
                </a:solidFill>
                <a:latin typeface="Arial"/>
                <a:cs typeface="Arial"/>
              </a:rPr>
              <a:t>Segment</a:t>
            </a:r>
            <a:r>
              <a:rPr sz="12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ABEA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10282" y="4734814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1ABEA"/>
                </a:solidFill>
                <a:latin typeface="Arial"/>
                <a:cs typeface="Arial"/>
              </a:rPr>
              <a:t>Segment</a:t>
            </a:r>
            <a:r>
              <a:rPr sz="12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ABEA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10282" y="5716320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1ABEA"/>
                </a:solidFill>
                <a:latin typeface="Arial"/>
                <a:cs typeface="Arial"/>
              </a:rPr>
              <a:t>Segment</a:t>
            </a:r>
            <a:r>
              <a:rPr sz="12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ABEA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22238"/>
            <a:ext cx="754380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508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EXAMPLE:</a:t>
            </a:r>
            <a:r>
              <a:rPr sz="4000" spc="-20" dirty="0"/>
              <a:t> </a:t>
            </a:r>
            <a:r>
              <a:rPr sz="4000" dirty="0"/>
              <a:t>A</a:t>
            </a:r>
            <a:r>
              <a:rPr sz="4000" spc="-30" dirty="0"/>
              <a:t> </a:t>
            </a:r>
            <a:r>
              <a:rPr sz="4000" dirty="0"/>
              <a:t>PIPELINING</a:t>
            </a:r>
            <a:r>
              <a:rPr sz="4000" spc="-40" dirty="0"/>
              <a:t> </a:t>
            </a:r>
            <a:r>
              <a:rPr sz="4000" spc="-20" dirty="0"/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279" y="3909186"/>
            <a:ext cx="510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Clock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279" y="4101210"/>
            <a:ext cx="5010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Pulse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9229" y="3910838"/>
            <a:ext cx="5153660" cy="2535555"/>
            <a:chOff x="189229" y="3910838"/>
            <a:chExt cx="5153660" cy="2535555"/>
          </a:xfrm>
        </p:grpSpPr>
        <p:sp>
          <p:nvSpPr>
            <p:cNvPr id="6" name="object 6"/>
            <p:cNvSpPr/>
            <p:nvPr/>
          </p:nvSpPr>
          <p:spPr>
            <a:xfrm>
              <a:off x="215645" y="3929634"/>
              <a:ext cx="5102860" cy="2504440"/>
            </a:xfrm>
            <a:custGeom>
              <a:avLst/>
              <a:gdLst/>
              <a:ahLst/>
              <a:cxnLst/>
              <a:rect l="l" t="t" r="r" b="b"/>
              <a:pathLst>
                <a:path w="5102860" h="2504440">
                  <a:moveTo>
                    <a:pt x="0" y="2503931"/>
                  </a:moveTo>
                  <a:lnTo>
                    <a:pt x="5102352" y="2503931"/>
                  </a:lnTo>
                  <a:lnTo>
                    <a:pt x="5102352" y="0"/>
                  </a:lnTo>
                  <a:lnTo>
                    <a:pt x="0" y="0"/>
                  </a:lnTo>
                  <a:lnTo>
                    <a:pt x="0" y="2503931"/>
                  </a:lnTo>
                  <a:close/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929" y="3923538"/>
              <a:ext cx="5128260" cy="2510155"/>
            </a:xfrm>
            <a:custGeom>
              <a:avLst/>
              <a:gdLst/>
              <a:ahLst/>
              <a:cxnLst/>
              <a:rect l="l" t="t" r="r" b="b"/>
              <a:pathLst>
                <a:path w="5128260" h="2510154">
                  <a:moveTo>
                    <a:pt x="0" y="591312"/>
                  </a:moveTo>
                  <a:lnTo>
                    <a:pt x="5128260" y="591312"/>
                  </a:lnTo>
                </a:path>
                <a:path w="5128260" h="2510154">
                  <a:moveTo>
                    <a:pt x="784860" y="0"/>
                  </a:moveTo>
                  <a:lnTo>
                    <a:pt x="784860" y="2510028"/>
                  </a:lnTo>
                </a:path>
                <a:path w="5128260" h="2510154">
                  <a:moveTo>
                    <a:pt x="1937003" y="0"/>
                  </a:moveTo>
                  <a:lnTo>
                    <a:pt x="1937003" y="2510028"/>
                  </a:lnTo>
                </a:path>
                <a:path w="5128260" h="2510154">
                  <a:moveTo>
                    <a:pt x="3546348" y="0"/>
                  </a:moveTo>
                  <a:lnTo>
                    <a:pt x="3546348" y="2510028"/>
                  </a:lnTo>
                </a:path>
                <a:path w="5128260" h="2510154">
                  <a:moveTo>
                    <a:pt x="784860" y="353568"/>
                  </a:moveTo>
                  <a:lnTo>
                    <a:pt x="5128260" y="353568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8787" y="4277105"/>
          <a:ext cx="4887592" cy="21539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8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L="68580">
                        <a:lnSpc>
                          <a:spcPts val="1600"/>
                        </a:lnSpc>
                        <a:spcBef>
                          <a:spcPts val="17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68910" algn="r">
                        <a:lnSpc>
                          <a:spcPts val="160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60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0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ts val="160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L="727075">
                        <a:lnSpc>
                          <a:spcPts val="160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39370" algn="ctr">
                        <a:lnSpc>
                          <a:spcPts val="1630"/>
                        </a:lnSpc>
                        <a:spcBef>
                          <a:spcPts val="17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60655" algn="r">
                        <a:lnSpc>
                          <a:spcPts val="163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63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1435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1435" algn="ctr">
                        <a:lnSpc>
                          <a:spcPts val="153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7640" algn="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B1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R="51435" algn="ctr">
                        <a:lnSpc>
                          <a:spcPts val="152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B2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R="51435" algn="ctr">
                        <a:lnSpc>
                          <a:spcPts val="152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B3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1435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B4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1435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8275" algn="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B5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1435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747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730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B6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329">
                <a:tc>
                  <a:txBody>
                    <a:bodyPr/>
                    <a:lstStyle/>
                    <a:p>
                      <a:pPr marR="51435" algn="ctr">
                        <a:lnSpc>
                          <a:spcPts val="158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158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B7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35" dirty="0">
                          <a:latin typeface="Arial"/>
                          <a:cs typeface="Arial"/>
                        </a:rPr>
                        <a:t>C7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1093114" y="3525773"/>
            <a:ext cx="3841115" cy="705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Operations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stage</a:t>
            </a:r>
            <a:endParaRPr sz="1800">
              <a:latin typeface="Arial MT"/>
              <a:cs typeface="Arial MT"/>
            </a:endParaRPr>
          </a:p>
          <a:p>
            <a:pPr marL="21590">
              <a:lnSpc>
                <a:spcPct val="100000"/>
              </a:lnSpc>
              <a:spcBef>
                <a:spcPts val="1510"/>
              </a:spcBef>
              <a:tabLst>
                <a:tab pos="1451610" algn="l"/>
                <a:tab pos="2929890" algn="l"/>
              </a:tabLst>
            </a:pPr>
            <a:r>
              <a:rPr sz="1400" b="1" dirty="0">
                <a:solidFill>
                  <a:srgbClr val="01ABEA"/>
                </a:solidFill>
                <a:latin typeface="Arial"/>
                <a:cs typeface="Arial"/>
              </a:rPr>
              <a:t>Segment</a:t>
            </a:r>
            <a:r>
              <a:rPr sz="14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01ABEA"/>
                </a:solidFill>
                <a:latin typeface="Arial"/>
                <a:cs typeface="Arial"/>
              </a:rPr>
              <a:t>1</a:t>
            </a:r>
            <a:r>
              <a:rPr sz="1400" b="1" dirty="0">
                <a:solidFill>
                  <a:srgbClr val="01ABEA"/>
                </a:solidFill>
                <a:latin typeface="Arial"/>
                <a:cs typeface="Arial"/>
              </a:rPr>
              <a:t>	Segment</a:t>
            </a:r>
            <a:r>
              <a:rPr sz="14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01ABEA"/>
                </a:solidFill>
                <a:latin typeface="Arial"/>
                <a:cs typeface="Arial"/>
              </a:rPr>
              <a:t>2</a:t>
            </a:r>
            <a:r>
              <a:rPr sz="1400" b="1" dirty="0">
                <a:solidFill>
                  <a:srgbClr val="01ABEA"/>
                </a:solidFill>
                <a:latin typeface="Arial"/>
                <a:cs typeface="Arial"/>
              </a:rPr>
              <a:t>	Segment</a:t>
            </a:r>
            <a:r>
              <a:rPr sz="14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400" b="1" spc="-50" dirty="0">
                <a:solidFill>
                  <a:srgbClr val="01ABEA"/>
                </a:solidFill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72378" y="1639061"/>
            <a:ext cx="2927985" cy="2423160"/>
          </a:xfrm>
          <a:custGeom>
            <a:avLst/>
            <a:gdLst/>
            <a:ahLst/>
            <a:cxnLst/>
            <a:rect l="l" t="t" r="r" b="b"/>
            <a:pathLst>
              <a:path w="2927984" h="2423160">
                <a:moveTo>
                  <a:pt x="1362455" y="2423160"/>
                </a:moveTo>
                <a:lnTo>
                  <a:pt x="2188463" y="2423160"/>
                </a:lnTo>
                <a:lnTo>
                  <a:pt x="2188463" y="2226564"/>
                </a:lnTo>
                <a:lnTo>
                  <a:pt x="1362455" y="2226564"/>
                </a:lnTo>
                <a:lnTo>
                  <a:pt x="1362455" y="2423160"/>
                </a:lnTo>
                <a:close/>
              </a:path>
              <a:path w="2927984" h="2423160">
                <a:moveTo>
                  <a:pt x="787907" y="1965960"/>
                </a:moveTo>
                <a:lnTo>
                  <a:pt x="2764535" y="1965960"/>
                </a:lnTo>
                <a:lnTo>
                  <a:pt x="2764535" y="1636776"/>
                </a:lnTo>
                <a:lnTo>
                  <a:pt x="787907" y="1636776"/>
                </a:lnTo>
                <a:lnTo>
                  <a:pt x="787907" y="1965960"/>
                </a:lnTo>
                <a:close/>
              </a:path>
              <a:path w="2927984" h="2423160">
                <a:moveTo>
                  <a:pt x="2208276" y="1307591"/>
                </a:moveTo>
                <a:lnTo>
                  <a:pt x="2927604" y="1307591"/>
                </a:lnTo>
                <a:lnTo>
                  <a:pt x="2927604" y="1118615"/>
                </a:lnTo>
                <a:lnTo>
                  <a:pt x="2208276" y="1118615"/>
                </a:lnTo>
                <a:lnTo>
                  <a:pt x="2208276" y="1307591"/>
                </a:lnTo>
                <a:close/>
              </a:path>
              <a:path w="2927984" h="2423160">
                <a:moveTo>
                  <a:pt x="527303" y="1315212"/>
                </a:moveTo>
                <a:lnTo>
                  <a:pt x="1344168" y="1315212"/>
                </a:lnTo>
                <a:lnTo>
                  <a:pt x="1344168" y="1118615"/>
                </a:lnTo>
                <a:lnTo>
                  <a:pt x="527303" y="1118615"/>
                </a:lnTo>
                <a:lnTo>
                  <a:pt x="527303" y="1315212"/>
                </a:lnTo>
                <a:close/>
              </a:path>
              <a:path w="2927984" h="2423160">
                <a:moveTo>
                  <a:pt x="312420" y="858012"/>
                </a:moveTo>
                <a:lnTo>
                  <a:pt x="1662683" y="858012"/>
                </a:lnTo>
                <a:lnTo>
                  <a:pt x="1662683" y="521208"/>
                </a:lnTo>
                <a:lnTo>
                  <a:pt x="312420" y="521208"/>
                </a:lnTo>
                <a:lnTo>
                  <a:pt x="312420" y="858012"/>
                </a:lnTo>
                <a:close/>
              </a:path>
              <a:path w="2927984" h="2423160">
                <a:moveTo>
                  <a:pt x="1103376" y="198120"/>
                </a:moveTo>
                <a:lnTo>
                  <a:pt x="1929383" y="198120"/>
                </a:lnTo>
                <a:lnTo>
                  <a:pt x="1929383" y="0"/>
                </a:lnTo>
                <a:lnTo>
                  <a:pt x="1103376" y="0"/>
                </a:lnTo>
                <a:lnTo>
                  <a:pt x="1103376" y="198120"/>
                </a:lnTo>
                <a:close/>
              </a:path>
              <a:path w="2927984" h="2423160">
                <a:moveTo>
                  <a:pt x="0" y="198120"/>
                </a:moveTo>
                <a:lnTo>
                  <a:pt x="844296" y="198120"/>
                </a:lnTo>
                <a:lnTo>
                  <a:pt x="844296" y="0"/>
                </a:lnTo>
                <a:lnTo>
                  <a:pt x="0" y="0"/>
                </a:lnTo>
                <a:lnTo>
                  <a:pt x="0" y="198120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04483" y="1150365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94526" y="1389125"/>
            <a:ext cx="0" cy="243840"/>
          </a:xfrm>
          <a:custGeom>
            <a:avLst/>
            <a:gdLst/>
            <a:ahLst/>
            <a:cxnLst/>
            <a:rect l="l" t="t" r="r" b="b"/>
            <a:pathLst>
              <a:path h="243839">
                <a:moveTo>
                  <a:pt x="0" y="0"/>
                </a:moveTo>
                <a:lnTo>
                  <a:pt x="0" y="243839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17309" y="1634744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R1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90281" y="1389125"/>
            <a:ext cx="0" cy="247015"/>
          </a:xfrm>
          <a:custGeom>
            <a:avLst/>
            <a:gdLst/>
            <a:ahLst/>
            <a:cxnLst/>
            <a:rect l="l" t="t" r="r" b="b"/>
            <a:pathLst>
              <a:path h="247014">
                <a:moveTo>
                  <a:pt x="0" y="0"/>
                </a:moveTo>
                <a:lnTo>
                  <a:pt x="0" y="246887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503414" y="1634744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R2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20433" y="1389125"/>
            <a:ext cx="2171700" cy="1371600"/>
          </a:xfrm>
          <a:custGeom>
            <a:avLst/>
            <a:gdLst/>
            <a:ahLst/>
            <a:cxnLst/>
            <a:rect l="l" t="t" r="r" b="b"/>
            <a:pathLst>
              <a:path w="2171700" h="1371600">
                <a:moveTo>
                  <a:pt x="2171700" y="0"/>
                </a:moveTo>
                <a:lnTo>
                  <a:pt x="2171700" y="1371600"/>
                </a:lnTo>
              </a:path>
              <a:path w="2171700" h="1371600">
                <a:moveTo>
                  <a:pt x="0" y="457200"/>
                </a:moveTo>
                <a:lnTo>
                  <a:pt x="0" y="768096"/>
                </a:lnTo>
              </a:path>
              <a:path w="2171700" h="1371600">
                <a:moveTo>
                  <a:pt x="1040892" y="448056"/>
                </a:moveTo>
                <a:lnTo>
                  <a:pt x="1040892" y="768096"/>
                </a:lnTo>
              </a:path>
              <a:path w="2171700" h="1371600">
                <a:moveTo>
                  <a:pt x="493775" y="1120139"/>
                </a:moveTo>
                <a:lnTo>
                  <a:pt x="493775" y="1365503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12179" y="2216022"/>
            <a:ext cx="10267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Multiplier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unit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15657" y="2760726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R3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00313" y="2754248"/>
            <a:ext cx="2197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R4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14209" y="2963417"/>
            <a:ext cx="1678305" cy="905510"/>
          </a:xfrm>
          <a:custGeom>
            <a:avLst/>
            <a:gdLst/>
            <a:ahLst/>
            <a:cxnLst/>
            <a:rect l="l" t="t" r="r" b="b"/>
            <a:pathLst>
              <a:path w="1678304" h="905510">
                <a:moveTo>
                  <a:pt x="0" y="0"/>
                </a:moveTo>
                <a:lnTo>
                  <a:pt x="0" y="307848"/>
                </a:lnTo>
              </a:path>
              <a:path w="1678304" h="905510">
                <a:moveTo>
                  <a:pt x="1677924" y="0"/>
                </a:moveTo>
                <a:lnTo>
                  <a:pt x="1677924" y="304800"/>
                </a:lnTo>
              </a:path>
              <a:path w="1678304" h="905510">
                <a:moveTo>
                  <a:pt x="842772" y="653796"/>
                </a:moveTo>
                <a:lnTo>
                  <a:pt x="842772" y="905256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67092" y="3314827"/>
            <a:ext cx="787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Adder</a:t>
            </a:r>
            <a:r>
              <a:rPr sz="1200" b="1" spc="-20" dirty="0">
                <a:latin typeface="Arial"/>
                <a:cs typeface="Arial"/>
              </a:rPr>
              <a:t> unit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52333" y="3853053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R5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21350" y="873505"/>
            <a:ext cx="3218180" cy="3235960"/>
            <a:chOff x="5721350" y="873505"/>
            <a:chExt cx="3218180" cy="3235960"/>
          </a:xfrm>
        </p:grpSpPr>
        <p:sp>
          <p:nvSpPr>
            <p:cNvPr id="24" name="object 24"/>
            <p:cNvSpPr/>
            <p:nvPr/>
          </p:nvSpPr>
          <p:spPr>
            <a:xfrm>
              <a:off x="5734050" y="1258061"/>
              <a:ext cx="431800" cy="2816860"/>
            </a:xfrm>
            <a:custGeom>
              <a:avLst/>
              <a:gdLst/>
              <a:ahLst/>
              <a:cxnLst/>
              <a:rect l="l" t="t" r="r" b="b"/>
              <a:pathLst>
                <a:path w="431800" h="2816860">
                  <a:moveTo>
                    <a:pt x="426720" y="0"/>
                  </a:moveTo>
                  <a:lnTo>
                    <a:pt x="13715" y="0"/>
                  </a:lnTo>
                </a:path>
                <a:path w="431800" h="2816860">
                  <a:moveTo>
                    <a:pt x="397763" y="829055"/>
                  </a:moveTo>
                  <a:lnTo>
                    <a:pt x="22860" y="829055"/>
                  </a:lnTo>
                </a:path>
                <a:path w="431800" h="2816860">
                  <a:moveTo>
                    <a:pt x="388620" y="1866900"/>
                  </a:moveTo>
                  <a:lnTo>
                    <a:pt x="13715" y="1866900"/>
                  </a:lnTo>
                </a:path>
                <a:path w="431800" h="2816860">
                  <a:moveTo>
                    <a:pt x="431291" y="2816352"/>
                  </a:moveTo>
                  <a:lnTo>
                    <a:pt x="0" y="2816352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87974" y="1258061"/>
              <a:ext cx="85725" cy="2851785"/>
            </a:xfrm>
            <a:custGeom>
              <a:avLst/>
              <a:gdLst/>
              <a:ahLst/>
              <a:cxnLst/>
              <a:rect l="l" t="t" r="r" b="b"/>
              <a:pathLst>
                <a:path w="85725" h="2851785">
                  <a:moveTo>
                    <a:pt x="76200" y="2003044"/>
                  </a:moveTo>
                  <a:lnTo>
                    <a:pt x="60960" y="1952244"/>
                  </a:lnTo>
                  <a:lnTo>
                    <a:pt x="38100" y="1876044"/>
                  </a:lnTo>
                  <a:lnTo>
                    <a:pt x="0" y="2003044"/>
                  </a:lnTo>
                  <a:lnTo>
                    <a:pt x="25400" y="1969185"/>
                  </a:lnTo>
                  <a:lnTo>
                    <a:pt x="25400" y="2758275"/>
                  </a:lnTo>
                  <a:lnTo>
                    <a:pt x="0" y="2724404"/>
                  </a:lnTo>
                  <a:lnTo>
                    <a:pt x="38100" y="2851404"/>
                  </a:lnTo>
                  <a:lnTo>
                    <a:pt x="60960" y="2775204"/>
                  </a:lnTo>
                  <a:lnTo>
                    <a:pt x="76200" y="2724404"/>
                  </a:lnTo>
                  <a:lnTo>
                    <a:pt x="50800" y="2758275"/>
                  </a:lnTo>
                  <a:lnTo>
                    <a:pt x="50800" y="1969185"/>
                  </a:lnTo>
                  <a:lnTo>
                    <a:pt x="76200" y="2003044"/>
                  </a:lnTo>
                  <a:close/>
                </a:path>
                <a:path w="85725" h="2851785">
                  <a:moveTo>
                    <a:pt x="85344" y="966724"/>
                  </a:moveTo>
                  <a:lnTo>
                    <a:pt x="70104" y="915924"/>
                  </a:lnTo>
                  <a:lnTo>
                    <a:pt x="47244" y="839724"/>
                  </a:lnTo>
                  <a:lnTo>
                    <a:pt x="9144" y="966724"/>
                  </a:lnTo>
                  <a:lnTo>
                    <a:pt x="34544" y="932865"/>
                  </a:lnTo>
                  <a:lnTo>
                    <a:pt x="34544" y="1773770"/>
                  </a:lnTo>
                  <a:lnTo>
                    <a:pt x="9144" y="1739900"/>
                  </a:lnTo>
                  <a:lnTo>
                    <a:pt x="47244" y="1866900"/>
                  </a:lnTo>
                  <a:lnTo>
                    <a:pt x="70104" y="1790700"/>
                  </a:lnTo>
                  <a:lnTo>
                    <a:pt x="85344" y="1739900"/>
                  </a:lnTo>
                  <a:lnTo>
                    <a:pt x="59944" y="1773770"/>
                  </a:lnTo>
                  <a:lnTo>
                    <a:pt x="59944" y="932865"/>
                  </a:lnTo>
                  <a:lnTo>
                    <a:pt x="85344" y="966724"/>
                  </a:lnTo>
                  <a:close/>
                </a:path>
                <a:path w="85725" h="2851785">
                  <a:moveTo>
                    <a:pt x="85344" y="127000"/>
                  </a:moveTo>
                  <a:lnTo>
                    <a:pt x="70104" y="76200"/>
                  </a:lnTo>
                  <a:lnTo>
                    <a:pt x="47244" y="0"/>
                  </a:lnTo>
                  <a:lnTo>
                    <a:pt x="9144" y="127000"/>
                  </a:lnTo>
                  <a:lnTo>
                    <a:pt x="34544" y="93141"/>
                  </a:lnTo>
                  <a:lnTo>
                    <a:pt x="34544" y="728306"/>
                  </a:lnTo>
                  <a:lnTo>
                    <a:pt x="9144" y="694436"/>
                  </a:lnTo>
                  <a:lnTo>
                    <a:pt x="47244" y="821436"/>
                  </a:lnTo>
                  <a:lnTo>
                    <a:pt x="70104" y="745236"/>
                  </a:lnTo>
                  <a:lnTo>
                    <a:pt x="85344" y="694436"/>
                  </a:lnTo>
                  <a:lnTo>
                    <a:pt x="59944" y="728306"/>
                  </a:lnTo>
                  <a:lnTo>
                    <a:pt x="59944" y="93141"/>
                  </a:lnTo>
                  <a:lnTo>
                    <a:pt x="85344" y="12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99454" y="886205"/>
              <a:ext cx="2627630" cy="628015"/>
            </a:xfrm>
            <a:custGeom>
              <a:avLst/>
              <a:gdLst/>
              <a:ahLst/>
              <a:cxnLst/>
              <a:rect l="l" t="t" r="r" b="b"/>
              <a:pathLst>
                <a:path w="2627629" h="628015">
                  <a:moveTo>
                    <a:pt x="0" y="627888"/>
                  </a:moveTo>
                  <a:lnTo>
                    <a:pt x="2627376" y="627888"/>
                  </a:lnTo>
                  <a:lnTo>
                    <a:pt x="2627376" y="0"/>
                  </a:lnTo>
                  <a:lnTo>
                    <a:pt x="0" y="0"/>
                  </a:lnTo>
                  <a:lnTo>
                    <a:pt x="0" y="627888"/>
                  </a:lnTo>
                  <a:close/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199630" y="898016"/>
            <a:ext cx="951865" cy="470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1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R="166370" algn="ctr">
              <a:lnSpc>
                <a:spcPts val="1390"/>
              </a:lnSpc>
            </a:pPr>
            <a:r>
              <a:rPr sz="1200" b="1" spc="-25" dirty="0">
                <a:latin typeface="Arial"/>
                <a:cs typeface="Arial"/>
              </a:rPr>
              <a:t>B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95614" y="1169670"/>
            <a:ext cx="214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C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73141" y="1488389"/>
            <a:ext cx="796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1ABEA"/>
                </a:solidFill>
                <a:latin typeface="Arial"/>
                <a:cs typeface="Arial"/>
              </a:rPr>
              <a:t>Segment</a:t>
            </a:r>
            <a:r>
              <a:rPr sz="1200" b="1" spc="-25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ABEA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73141" y="2470150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1ABEA"/>
                </a:solidFill>
                <a:latin typeface="Arial"/>
                <a:cs typeface="Arial"/>
              </a:rPr>
              <a:t>Segment</a:t>
            </a:r>
            <a:r>
              <a:rPr sz="12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ABEA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73141" y="3451605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1ABEA"/>
                </a:solidFill>
                <a:latin typeface="Arial"/>
                <a:cs typeface="Arial"/>
              </a:rPr>
              <a:t>Segment</a:t>
            </a:r>
            <a:r>
              <a:rPr sz="1200" b="1" spc="-40" dirty="0">
                <a:solidFill>
                  <a:srgbClr val="01ABEA"/>
                </a:solidFill>
                <a:latin typeface="Arial"/>
                <a:cs typeface="Arial"/>
              </a:rPr>
              <a:t> </a:t>
            </a:r>
            <a:r>
              <a:rPr sz="1200" b="1" spc="-50" dirty="0">
                <a:solidFill>
                  <a:srgbClr val="01ABEA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65250" y="1507058"/>
            <a:ext cx="19634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72515" algn="l"/>
              </a:tabLst>
            </a:pPr>
            <a:r>
              <a:rPr sz="1800" b="1" dirty="0">
                <a:latin typeface="Arial"/>
                <a:cs typeface="Arial"/>
              </a:rPr>
              <a:t>R1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A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spc="-25" dirty="0">
                <a:latin typeface="Arial"/>
                <a:cs typeface="Arial"/>
              </a:rPr>
              <a:t>,</a:t>
            </a:r>
            <a:r>
              <a:rPr sz="1800" b="1" dirty="0">
                <a:latin typeface="Arial"/>
                <a:cs typeface="Arial"/>
              </a:rPr>
              <a:t>	R2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B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endParaRPr sz="1800" baseline="-20833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65250" y="1795653"/>
            <a:ext cx="2564130" cy="5880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>
              <a:lnSpc>
                <a:spcPts val="2270"/>
              </a:lnSpc>
              <a:spcBef>
                <a:spcPts val="80"/>
              </a:spcBef>
              <a:tabLst>
                <a:tab pos="1672589" algn="l"/>
              </a:tabLst>
            </a:pPr>
            <a:r>
              <a:rPr sz="1800" b="1" dirty="0">
                <a:latin typeface="Arial"/>
                <a:cs typeface="Arial"/>
              </a:rPr>
              <a:t>R3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R1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* </a:t>
            </a:r>
            <a:r>
              <a:rPr sz="1800" b="1" spc="-25" dirty="0">
                <a:latin typeface="Arial"/>
                <a:cs typeface="Arial"/>
              </a:rPr>
              <a:t>R2,</a:t>
            </a:r>
            <a:r>
              <a:rPr sz="1800" b="1" dirty="0">
                <a:latin typeface="Arial"/>
                <a:cs typeface="Arial"/>
              </a:rPr>
              <a:t>	R4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C</a:t>
            </a:r>
            <a:r>
              <a:rPr sz="1800" b="1" spc="-37" baseline="-20833" dirty="0">
                <a:latin typeface="Arial"/>
                <a:cs typeface="Arial"/>
              </a:rPr>
              <a:t>i </a:t>
            </a:r>
            <a:r>
              <a:rPr sz="1800" b="1" dirty="0">
                <a:latin typeface="Arial"/>
                <a:cs typeface="Arial"/>
              </a:rPr>
              <a:t>R5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R3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R4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53846" y="1357122"/>
            <a:ext cx="2828925" cy="1176655"/>
          </a:xfrm>
          <a:custGeom>
            <a:avLst/>
            <a:gdLst/>
            <a:ahLst/>
            <a:cxnLst/>
            <a:rect l="l" t="t" r="r" b="b"/>
            <a:pathLst>
              <a:path w="2828925" h="1176655">
                <a:moveTo>
                  <a:pt x="0" y="1176527"/>
                </a:moveTo>
                <a:lnTo>
                  <a:pt x="2828543" y="1176527"/>
                </a:lnTo>
                <a:lnTo>
                  <a:pt x="2828543" y="0"/>
                </a:lnTo>
                <a:lnTo>
                  <a:pt x="0" y="0"/>
                </a:lnTo>
                <a:lnTo>
                  <a:pt x="0" y="1176527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65113"/>
            <a:ext cx="754380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885">
              <a:lnSpc>
                <a:spcPct val="100000"/>
              </a:lnSpc>
              <a:spcBef>
                <a:spcPts val="100"/>
              </a:spcBef>
            </a:pPr>
            <a:r>
              <a:rPr sz="4000" spc="-25" dirty="0"/>
              <a:t>SPACE-</a:t>
            </a:r>
            <a:r>
              <a:rPr sz="4000" dirty="0"/>
              <a:t>TIME</a:t>
            </a:r>
            <a:r>
              <a:rPr sz="4000" spc="40" dirty="0"/>
              <a:t> </a:t>
            </a:r>
            <a:r>
              <a:rPr sz="4000"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742" y="3974590"/>
            <a:ext cx="7747634" cy="232219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530"/>
              </a:spcBef>
              <a:buChar char="–"/>
              <a:tabLst>
                <a:tab pos="266065" algn="l"/>
              </a:tabLst>
            </a:pP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 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horizontal </a:t>
            </a:r>
            <a:r>
              <a:rPr sz="1800" spc="-20" dirty="0">
                <a:latin typeface="Arial MT"/>
                <a:cs typeface="Arial MT"/>
              </a:rPr>
              <a:t>axis</a:t>
            </a:r>
            <a:endParaRPr sz="1800" dirty="0">
              <a:latin typeface="Arial MT"/>
              <a:cs typeface="Arial MT"/>
            </a:endParaRPr>
          </a:p>
          <a:p>
            <a:pPr marL="266065" indent="-227965">
              <a:lnSpc>
                <a:spcPct val="100000"/>
              </a:lnSpc>
              <a:spcBef>
                <a:spcPts val="430"/>
              </a:spcBef>
              <a:buChar char="–"/>
              <a:tabLst>
                <a:tab pos="266065" algn="l"/>
              </a:tabLst>
            </a:pPr>
            <a:r>
              <a:rPr sz="1800" dirty="0">
                <a:latin typeface="Arial MT"/>
                <a:cs typeface="Arial MT"/>
              </a:rPr>
              <a:t>Segment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vertical</a:t>
            </a:r>
            <a:r>
              <a:rPr sz="1800" spc="-20" dirty="0">
                <a:latin typeface="Arial MT"/>
                <a:cs typeface="Arial MT"/>
              </a:rPr>
              <a:t> axis</a:t>
            </a:r>
            <a:endParaRPr sz="1800" dirty="0">
              <a:latin typeface="Arial MT"/>
              <a:cs typeface="Arial MT"/>
            </a:endParaRPr>
          </a:p>
          <a:p>
            <a:pPr marL="266065" indent="-227965">
              <a:lnSpc>
                <a:spcPct val="100000"/>
              </a:lnSpc>
              <a:spcBef>
                <a:spcPts val="434"/>
              </a:spcBef>
              <a:buChar char="–"/>
              <a:tabLst>
                <a:tab pos="266065" algn="l"/>
              </a:tabLst>
            </a:pPr>
            <a:r>
              <a:rPr sz="1800" dirty="0">
                <a:latin typeface="Arial MT"/>
                <a:cs typeface="Arial MT"/>
              </a:rPr>
              <a:t>Six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I1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I6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segments</a:t>
            </a:r>
            <a:endParaRPr sz="1800" dirty="0">
              <a:latin typeface="Arial MT"/>
              <a:cs typeface="Arial MT"/>
            </a:endParaRPr>
          </a:p>
          <a:p>
            <a:pPr marL="266065" indent="-227965">
              <a:lnSpc>
                <a:spcPts val="2055"/>
              </a:lnSpc>
              <a:spcBef>
                <a:spcPts val="430"/>
              </a:spcBef>
              <a:buFont typeface="Arial MT"/>
              <a:buChar char="–"/>
              <a:tabLst>
                <a:tab pos="266065" algn="l"/>
              </a:tabLst>
            </a:pPr>
            <a:r>
              <a:rPr sz="1800" b="1" dirty="0">
                <a:latin typeface="Arial"/>
                <a:cs typeface="Arial"/>
              </a:rPr>
              <a:t>I1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completes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4</a:t>
            </a:r>
            <a:r>
              <a:rPr sz="1800" baseline="25462" dirty="0">
                <a:latin typeface="Arial MT"/>
                <a:cs typeface="Arial MT"/>
              </a:rPr>
              <a:t>th</a:t>
            </a:r>
            <a:r>
              <a:rPr sz="1800" spc="225" baseline="25462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cycle.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pipe</a:t>
            </a:r>
            <a:endParaRPr sz="1800" dirty="0">
              <a:latin typeface="Arial MT"/>
              <a:cs typeface="Arial MT"/>
            </a:endParaRPr>
          </a:p>
          <a:p>
            <a:pPr marL="266065">
              <a:lnSpc>
                <a:spcPts val="2055"/>
              </a:lnSpc>
            </a:pPr>
            <a:r>
              <a:rPr sz="1800" dirty="0">
                <a:latin typeface="Arial MT"/>
                <a:cs typeface="Arial MT"/>
              </a:rPr>
              <a:t>completes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task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every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cycle</a:t>
            </a:r>
            <a:endParaRPr sz="1800" dirty="0">
              <a:latin typeface="Arial MT"/>
              <a:cs typeface="Arial MT"/>
            </a:endParaRPr>
          </a:p>
          <a:p>
            <a:pPr marL="723900" marR="30480" indent="-229235">
              <a:lnSpc>
                <a:spcPts val="1730"/>
              </a:lnSpc>
              <a:spcBef>
                <a:spcPts val="610"/>
              </a:spcBef>
            </a:pPr>
            <a:r>
              <a:rPr sz="1600" dirty="0">
                <a:latin typeface="Arial MT"/>
                <a:cs typeface="Arial MT"/>
              </a:rPr>
              <a:t>»</a:t>
            </a:r>
            <a:r>
              <a:rPr sz="1600" spc="38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Pipelining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“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rule</a:t>
            </a:r>
            <a:r>
              <a:rPr sz="16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of</a:t>
            </a:r>
            <a:r>
              <a:rPr sz="16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thumb</a:t>
            </a:r>
            <a:r>
              <a:rPr sz="1600" b="1" dirty="0">
                <a:latin typeface="Arial"/>
                <a:cs typeface="Arial"/>
              </a:rPr>
              <a:t>”: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No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matter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how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many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segments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there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are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a </a:t>
            </a:r>
            <a:r>
              <a:rPr sz="1600" b="1" dirty="0">
                <a:latin typeface="Arial"/>
                <a:cs typeface="Arial"/>
              </a:rPr>
              <a:t>pipe,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once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38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pipeline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is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full,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it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takes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only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one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clock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cycle to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obtain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an </a:t>
            </a:r>
            <a:r>
              <a:rPr sz="1600" b="1" spc="-10" dirty="0">
                <a:latin typeface="Arial"/>
                <a:cs typeface="Arial"/>
              </a:rPr>
              <a:t>output.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29077" y="2505201"/>
            <a:ext cx="3884929" cy="50800"/>
          </a:xfrm>
          <a:custGeom>
            <a:avLst/>
            <a:gdLst/>
            <a:ahLst/>
            <a:cxnLst/>
            <a:rect l="l" t="t" r="r" b="b"/>
            <a:pathLst>
              <a:path w="3884929" h="50800">
                <a:moveTo>
                  <a:pt x="3859276" y="25400"/>
                </a:moveTo>
                <a:lnTo>
                  <a:pt x="3833876" y="50800"/>
                </a:lnTo>
                <a:lnTo>
                  <a:pt x="3859245" y="38115"/>
                </a:lnTo>
                <a:lnTo>
                  <a:pt x="3859276" y="25400"/>
                </a:lnTo>
                <a:close/>
              </a:path>
              <a:path w="3884929" h="50800">
                <a:moveTo>
                  <a:pt x="3846591" y="12715"/>
                </a:moveTo>
                <a:lnTo>
                  <a:pt x="0" y="17272"/>
                </a:lnTo>
                <a:lnTo>
                  <a:pt x="0" y="42672"/>
                </a:lnTo>
                <a:lnTo>
                  <a:pt x="3846560" y="38115"/>
                </a:lnTo>
                <a:lnTo>
                  <a:pt x="3859276" y="25400"/>
                </a:lnTo>
                <a:lnTo>
                  <a:pt x="3846591" y="12715"/>
                </a:lnTo>
                <a:close/>
              </a:path>
              <a:path w="3884929" h="50800">
                <a:moveTo>
                  <a:pt x="3859306" y="12715"/>
                </a:moveTo>
                <a:lnTo>
                  <a:pt x="3859276" y="38115"/>
                </a:lnTo>
                <a:lnTo>
                  <a:pt x="3884676" y="25400"/>
                </a:lnTo>
                <a:lnTo>
                  <a:pt x="3859306" y="12715"/>
                </a:lnTo>
                <a:close/>
              </a:path>
              <a:path w="3884929" h="50800">
                <a:moveTo>
                  <a:pt x="3833876" y="0"/>
                </a:moveTo>
                <a:lnTo>
                  <a:pt x="3859276" y="25400"/>
                </a:lnTo>
                <a:lnTo>
                  <a:pt x="3859276" y="12715"/>
                </a:lnTo>
                <a:lnTo>
                  <a:pt x="38338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522474" y="2324354"/>
          <a:ext cx="3577587" cy="1469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9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2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94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11809">
                <a:tc>
                  <a:txBody>
                    <a:bodyPr/>
                    <a:lstStyle/>
                    <a:p>
                      <a:pPr marR="5715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R="279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795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R="2349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R="2349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R="203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R="2476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R="2349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60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225"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I6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425066" y="3032251"/>
            <a:ext cx="7772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Arial"/>
                <a:cs typeface="Arial"/>
              </a:rPr>
              <a:t>Segment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442" y="919644"/>
            <a:ext cx="8484235" cy="18992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spc="-25" dirty="0">
                <a:latin typeface="Arial MT"/>
                <a:cs typeface="Arial MT"/>
              </a:rPr>
              <a:t>Space-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diagram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illustrates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behaviour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 </a:t>
            </a:r>
            <a:r>
              <a:rPr sz="2400" dirty="0">
                <a:latin typeface="Arial MT"/>
                <a:cs typeface="Arial MT"/>
              </a:rPr>
              <a:t>showing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segment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utilization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time</a:t>
            </a:r>
            <a:endParaRPr sz="2400" dirty="0">
              <a:latin typeface="Arial MT"/>
              <a:cs typeface="Arial MT"/>
            </a:endParaRPr>
          </a:p>
          <a:p>
            <a:pPr marR="275590" algn="ctr">
              <a:lnSpc>
                <a:spcPct val="100000"/>
              </a:lnSpc>
              <a:spcBef>
                <a:spcPts val="1805"/>
              </a:spcBef>
            </a:pPr>
            <a:r>
              <a:rPr sz="1400" b="1" spc="-10" dirty="0">
                <a:solidFill>
                  <a:srgbClr val="008011"/>
                </a:solidFill>
                <a:latin typeface="Arial"/>
                <a:cs typeface="Arial"/>
              </a:rPr>
              <a:t>Space-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Time</a:t>
            </a:r>
            <a:r>
              <a:rPr sz="1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Diagram</a:t>
            </a:r>
            <a:r>
              <a:rPr sz="1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of</a:t>
            </a:r>
            <a:r>
              <a:rPr sz="14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a</a:t>
            </a:r>
            <a:r>
              <a:rPr sz="1400" b="1" spc="-10" dirty="0">
                <a:solidFill>
                  <a:srgbClr val="008011"/>
                </a:solidFill>
                <a:latin typeface="Arial"/>
                <a:cs typeface="Arial"/>
              </a:rPr>
              <a:t> 4-</a:t>
            </a:r>
            <a:r>
              <a:rPr sz="1400" b="1" dirty="0">
                <a:solidFill>
                  <a:srgbClr val="008011"/>
                </a:solidFill>
                <a:latin typeface="Arial"/>
                <a:cs typeface="Arial"/>
              </a:rPr>
              <a:t>segment</a:t>
            </a:r>
            <a:r>
              <a:rPr sz="1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8011"/>
                </a:solidFill>
                <a:latin typeface="Arial"/>
                <a:cs typeface="Arial"/>
              </a:rPr>
              <a:t>pipeline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400" dirty="0">
              <a:latin typeface="Arial"/>
              <a:cs typeface="Arial"/>
            </a:endParaRPr>
          </a:p>
          <a:p>
            <a:pPr marL="616204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Clock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cycles</a:t>
            </a:r>
            <a:endParaRPr sz="1400" dirty="0">
              <a:latin typeface="Arial"/>
              <a:cs typeface="Arial"/>
            </a:endParaRPr>
          </a:p>
          <a:p>
            <a:pPr marL="2018030">
              <a:lnSpc>
                <a:spcPct val="100000"/>
              </a:lnSpc>
              <a:spcBef>
                <a:spcPts val="55"/>
              </a:spcBef>
            </a:pPr>
            <a:r>
              <a:rPr sz="1400" b="1" spc="-50" dirty="0">
                <a:latin typeface="Arial"/>
                <a:cs typeface="Arial"/>
              </a:rPr>
              <a:t>1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38577" y="2807309"/>
            <a:ext cx="125095" cy="1005205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spc="-5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400" b="1" spc="-50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400" b="1" spc="-50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3C6B7-A18E-5CF6-F45C-7D6CDE879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5945B-F5F0-A51D-F088-997C1701F865}"/>
              </a:ext>
            </a:extLst>
          </p:cNvPr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50F30A7-3430-5332-CA46-DF5EB84A41C1}"/>
              </a:ext>
            </a:extLst>
          </p:cNvPr>
          <p:cNvGrpSpPr/>
          <p:nvPr/>
        </p:nvGrpSpPr>
        <p:grpSpPr>
          <a:xfrm>
            <a:off x="1226344" y="1033177"/>
            <a:ext cx="6691313" cy="4727734"/>
            <a:chOff x="111125" y="234568"/>
            <a:chExt cx="8921750" cy="63036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DB5A9B8-52AC-CA07-7EEF-A253EB5CAE58}"/>
                </a:ext>
              </a:extLst>
            </p:cNvPr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0AB1E5-7196-F2B0-338A-F1031DFD4A6E}"/>
                </a:ext>
              </a:extLst>
            </p:cNvPr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86E912B-068C-AD12-6D50-DBF9A0CF7F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8801" y="2460673"/>
            <a:ext cx="5010150" cy="425116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dirty="0"/>
              <a:t>CS361</a:t>
            </a:r>
            <a:r>
              <a:rPr sz="2700" dirty="0"/>
              <a:t>:</a:t>
            </a:r>
            <a:r>
              <a:rPr sz="2700" spc="-30" dirty="0"/>
              <a:t> </a:t>
            </a:r>
            <a:r>
              <a:rPr sz="2700" dirty="0"/>
              <a:t>Computer</a:t>
            </a:r>
            <a:r>
              <a:rPr sz="2700" spc="-15" dirty="0"/>
              <a:t> </a:t>
            </a:r>
            <a:r>
              <a:rPr sz="2700" spc="-8" dirty="0"/>
              <a:t>Architecture</a:t>
            </a:r>
            <a:endParaRPr sz="2700"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5065DF4-10A1-BAF0-7325-3E87D99C9C99}"/>
              </a:ext>
            </a:extLst>
          </p:cNvPr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8F246A66-AF4E-8027-4415-8E2AA251D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526" y="2455473"/>
            <a:ext cx="2057400" cy="2057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82813" y="3670872"/>
            <a:ext cx="5786120" cy="123761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400" b="1" spc="-10" dirty="0">
                <a:latin typeface="Arial"/>
                <a:cs typeface="Arial"/>
              </a:rPr>
              <a:t>Instruction-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endParaRPr sz="2400" dirty="0">
              <a:latin typeface="Arial"/>
              <a:cs typeface="Arial"/>
            </a:endParaRPr>
          </a:p>
          <a:p>
            <a:pPr marL="1543050" indent="-361315">
              <a:lnSpc>
                <a:spcPts val="2280"/>
              </a:lnSpc>
              <a:spcBef>
                <a:spcPts val="955"/>
              </a:spcBef>
              <a:buClr>
                <a:srgbClr val="008011"/>
              </a:buClr>
              <a:buFont typeface="Wingdings"/>
              <a:buChar char=""/>
              <a:tabLst>
                <a:tab pos="1543050" algn="l"/>
              </a:tabLst>
            </a:pPr>
            <a:r>
              <a:rPr sz="2000" dirty="0">
                <a:latin typeface="Arial MT"/>
                <a:cs typeface="Arial MT"/>
              </a:rPr>
              <a:t>Pipeline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Speedup</a:t>
            </a:r>
            <a:endParaRPr sz="2000" dirty="0">
              <a:latin typeface="Arial MT"/>
              <a:cs typeface="Arial MT"/>
            </a:endParaRPr>
          </a:p>
          <a:p>
            <a:pPr marL="1529080" indent="-347345">
              <a:lnSpc>
                <a:spcPts val="2280"/>
              </a:lnSpc>
              <a:buClr>
                <a:srgbClr val="008011"/>
              </a:buClr>
              <a:buFont typeface="Wingdings"/>
              <a:buChar char=""/>
              <a:tabLst>
                <a:tab pos="1529080" algn="l"/>
              </a:tabLst>
            </a:pPr>
            <a:r>
              <a:rPr sz="2000" dirty="0">
                <a:latin typeface="Arial MT"/>
                <a:cs typeface="Arial MT"/>
              </a:rPr>
              <a:t>Pipelining: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Theoretical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Speedup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835542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8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58763"/>
            <a:ext cx="7543800" cy="627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701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EXAMPLE:</a:t>
            </a:r>
            <a:r>
              <a:rPr sz="4000" spc="-30" dirty="0"/>
              <a:t> </a:t>
            </a:r>
            <a:r>
              <a:rPr sz="4000" dirty="0"/>
              <a:t>A</a:t>
            </a:r>
            <a:r>
              <a:rPr sz="4000" spc="-40" dirty="0"/>
              <a:t> </a:t>
            </a:r>
            <a:r>
              <a:rPr sz="4000" dirty="0"/>
              <a:t>PIPELINING</a:t>
            </a:r>
            <a:r>
              <a:rPr sz="4000" spc="-60" dirty="0"/>
              <a:t> </a:t>
            </a:r>
            <a:r>
              <a:rPr sz="4000" spc="-20" dirty="0"/>
              <a:t>TASK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6870" y="1495805"/>
            <a:ext cx="6196965" cy="117538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65"/>
              </a:spcBef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Microoperations</a:t>
            </a:r>
            <a:r>
              <a:rPr sz="18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required</a:t>
            </a:r>
            <a:r>
              <a:rPr sz="18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to</a:t>
            </a:r>
            <a:r>
              <a:rPr sz="18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complete</a:t>
            </a:r>
            <a:r>
              <a:rPr sz="18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one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instruction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110"/>
              </a:spcBef>
              <a:tabLst>
                <a:tab pos="1125855" algn="l"/>
                <a:tab pos="2886710" algn="l"/>
              </a:tabLst>
            </a:pPr>
            <a:r>
              <a:rPr sz="1800" b="1" dirty="0">
                <a:latin typeface="Arial"/>
                <a:cs typeface="Arial"/>
              </a:rPr>
              <a:t>R1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A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spc="-25" dirty="0">
                <a:latin typeface="Arial"/>
                <a:cs typeface="Arial"/>
              </a:rPr>
              <a:t>,</a:t>
            </a:r>
            <a:r>
              <a:rPr sz="1800" b="1" dirty="0">
                <a:latin typeface="Arial"/>
                <a:cs typeface="Arial"/>
              </a:rPr>
              <a:t>	R2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B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baseline="-20833" dirty="0">
                <a:latin typeface="Arial"/>
                <a:cs typeface="Arial"/>
              </a:rPr>
              <a:t>	</a:t>
            </a:r>
            <a:r>
              <a:rPr sz="1800" b="1" dirty="0">
                <a:latin typeface="Arial"/>
                <a:cs typeface="Arial"/>
              </a:rPr>
              <a:t>Load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baseline="-20833" dirty="0">
                <a:latin typeface="Arial"/>
                <a:cs typeface="Arial"/>
              </a:rPr>
              <a:t>i</a:t>
            </a:r>
            <a:r>
              <a:rPr sz="1800" b="1" spc="277" baseline="-2083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B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endParaRPr sz="1800" baseline="-20833">
              <a:latin typeface="Arial"/>
              <a:cs typeface="Arial"/>
            </a:endParaRPr>
          </a:p>
          <a:p>
            <a:pPr marL="91440" marR="1177290">
              <a:lnSpc>
                <a:spcPct val="105000"/>
              </a:lnSpc>
              <a:tabLst>
                <a:tab pos="1725930" algn="l"/>
                <a:tab pos="2873375" algn="l"/>
              </a:tabLst>
            </a:pPr>
            <a:r>
              <a:rPr sz="1800" b="1" dirty="0">
                <a:latin typeface="Arial"/>
                <a:cs typeface="Arial"/>
              </a:rPr>
              <a:t>R3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R1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* </a:t>
            </a:r>
            <a:r>
              <a:rPr sz="1800" b="1" spc="-25" dirty="0">
                <a:latin typeface="Arial"/>
                <a:cs typeface="Arial"/>
              </a:rPr>
              <a:t>R2,</a:t>
            </a:r>
            <a:r>
              <a:rPr sz="1800" b="1" dirty="0">
                <a:latin typeface="Arial"/>
                <a:cs typeface="Arial"/>
              </a:rPr>
              <a:t>	R4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Arial"/>
                <a:cs typeface="Arial"/>
              </a:rPr>
              <a:t>C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baseline="-20833" dirty="0">
                <a:latin typeface="Arial"/>
                <a:cs typeface="Arial"/>
              </a:rPr>
              <a:t>	</a:t>
            </a:r>
            <a:r>
              <a:rPr sz="1800" b="1" dirty="0">
                <a:latin typeface="Arial"/>
                <a:cs typeface="Arial"/>
              </a:rPr>
              <a:t>Multiply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load</a:t>
            </a:r>
            <a:r>
              <a:rPr sz="1800" b="1" spc="-25" dirty="0">
                <a:latin typeface="Arial"/>
                <a:cs typeface="Arial"/>
              </a:rPr>
              <a:t> C</a:t>
            </a:r>
            <a:r>
              <a:rPr sz="1800" b="1" spc="-37" baseline="-20833" dirty="0">
                <a:latin typeface="Arial"/>
                <a:cs typeface="Arial"/>
              </a:rPr>
              <a:t>i </a:t>
            </a:r>
            <a:r>
              <a:rPr sz="1800" b="1" dirty="0">
                <a:latin typeface="Arial"/>
                <a:cs typeface="Arial"/>
              </a:rPr>
              <a:t>R5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R3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R4</a:t>
            </a:r>
            <a:r>
              <a:rPr sz="1800" b="1" dirty="0">
                <a:latin typeface="Arial"/>
                <a:cs typeface="Arial"/>
              </a:rPr>
              <a:t>		</a:t>
            </a:r>
            <a:r>
              <a:rPr sz="1800" b="1" spc="-47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Add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1055" y="962914"/>
            <a:ext cx="412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  <a:tabLst>
                <a:tab pos="2132965" algn="l"/>
              </a:tabLst>
            </a:pPr>
            <a:r>
              <a:rPr sz="1800" b="1" dirty="0">
                <a:latin typeface="Arial"/>
                <a:cs typeface="Arial"/>
              </a:rPr>
              <a:t>Loop:</a:t>
            </a:r>
            <a:r>
              <a:rPr sz="1800" b="1" spc="3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</a:t>
            </a:r>
            <a:r>
              <a:rPr sz="1800" b="1" baseline="-20833" dirty="0">
                <a:latin typeface="Arial"/>
                <a:cs typeface="Arial"/>
              </a:rPr>
              <a:t>i</a:t>
            </a:r>
            <a:r>
              <a:rPr sz="1800" b="1" spc="307" baseline="-2083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*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</a:t>
            </a:r>
            <a:r>
              <a:rPr sz="1800" b="1" baseline="-20833" dirty="0">
                <a:latin typeface="Arial"/>
                <a:cs typeface="Arial"/>
              </a:rPr>
              <a:t>i</a:t>
            </a:r>
            <a:r>
              <a:rPr sz="1800" b="1" spc="217" baseline="-20833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25" dirty="0">
                <a:latin typeface="Arial"/>
                <a:cs typeface="Arial"/>
              </a:rPr>
              <a:t> C</a:t>
            </a:r>
            <a:r>
              <a:rPr sz="1800" b="1" spc="-37" baseline="-20833" dirty="0">
                <a:latin typeface="Arial"/>
                <a:cs typeface="Arial"/>
              </a:rPr>
              <a:t>i</a:t>
            </a:r>
            <a:r>
              <a:rPr sz="1800" b="1" baseline="-20833" dirty="0">
                <a:latin typeface="Arial"/>
                <a:cs typeface="Arial"/>
              </a:rPr>
              <a:t>	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1, 2,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3,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...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,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1263" y="3429761"/>
            <a:ext cx="2101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A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91305" y="3669029"/>
            <a:ext cx="0" cy="242570"/>
          </a:xfrm>
          <a:custGeom>
            <a:avLst/>
            <a:gdLst/>
            <a:ahLst/>
            <a:cxnLst/>
            <a:rect l="l" t="t" r="r" b="b"/>
            <a:pathLst>
              <a:path h="242570">
                <a:moveTo>
                  <a:pt x="0" y="0"/>
                </a:moveTo>
                <a:lnTo>
                  <a:pt x="0" y="242316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69157" y="3917441"/>
            <a:ext cx="844550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64135" algn="ctr">
              <a:lnSpc>
                <a:spcPct val="100000"/>
              </a:lnSpc>
              <a:spcBef>
                <a:spcPts val="70"/>
              </a:spcBef>
            </a:pPr>
            <a:r>
              <a:rPr sz="1200" b="1" spc="-25" dirty="0">
                <a:latin typeface="Arial"/>
                <a:cs typeface="Arial"/>
              </a:rPr>
              <a:t>R1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87061" y="3669029"/>
            <a:ext cx="0" cy="245745"/>
          </a:xfrm>
          <a:custGeom>
            <a:avLst/>
            <a:gdLst/>
            <a:ahLst/>
            <a:cxnLst/>
            <a:rect l="l" t="t" r="r" b="b"/>
            <a:pathLst>
              <a:path h="245745">
                <a:moveTo>
                  <a:pt x="0" y="0"/>
                </a:moveTo>
                <a:lnTo>
                  <a:pt x="0" y="245364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72534" y="3917441"/>
            <a:ext cx="826135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8890" rIns="0" bIns="0" rtlCol="0">
            <a:spAutoFit/>
          </a:bodyPr>
          <a:lstStyle/>
          <a:p>
            <a:pPr marL="47625" algn="ctr">
              <a:lnSpc>
                <a:spcPct val="100000"/>
              </a:lnSpc>
              <a:spcBef>
                <a:spcPts val="70"/>
              </a:spcBef>
            </a:pPr>
            <a:r>
              <a:rPr sz="1200" b="1" spc="-25" dirty="0">
                <a:latin typeface="Arial"/>
                <a:cs typeface="Arial"/>
              </a:rPr>
              <a:t>R2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88914" y="3669029"/>
            <a:ext cx="0" cy="1371600"/>
          </a:xfrm>
          <a:custGeom>
            <a:avLst/>
            <a:gdLst/>
            <a:ahLst/>
            <a:cxnLst/>
            <a:rect l="l" t="t" r="r" b="b"/>
            <a:pathLst>
              <a:path h="1371600">
                <a:moveTo>
                  <a:pt x="0" y="0"/>
                </a:moveTo>
                <a:lnTo>
                  <a:pt x="0" y="1371600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83102" y="4438650"/>
            <a:ext cx="1348740" cy="33845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545"/>
              </a:spcBef>
            </a:pPr>
            <a:r>
              <a:rPr sz="1200" b="1" dirty="0">
                <a:latin typeface="Arial"/>
                <a:cs typeface="Arial"/>
              </a:rPr>
              <a:t>Multiplier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unit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17214" y="4115561"/>
            <a:ext cx="1041400" cy="917575"/>
          </a:xfrm>
          <a:custGeom>
            <a:avLst/>
            <a:gdLst/>
            <a:ahLst/>
            <a:cxnLst/>
            <a:rect l="l" t="t" r="r" b="b"/>
            <a:pathLst>
              <a:path w="1041400" h="917575">
                <a:moveTo>
                  <a:pt x="0" y="10668"/>
                </a:moveTo>
                <a:lnTo>
                  <a:pt x="0" y="321563"/>
                </a:lnTo>
              </a:path>
              <a:path w="1041400" h="917575">
                <a:moveTo>
                  <a:pt x="1040891" y="0"/>
                </a:moveTo>
                <a:lnTo>
                  <a:pt x="1040891" y="321563"/>
                </a:lnTo>
              </a:path>
              <a:path w="1041400" h="917575">
                <a:moveTo>
                  <a:pt x="493775" y="672083"/>
                </a:moveTo>
                <a:lnTo>
                  <a:pt x="493775" y="917448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96461" y="5036058"/>
            <a:ext cx="826769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4130" algn="ctr">
              <a:lnSpc>
                <a:spcPts val="1430"/>
              </a:lnSpc>
              <a:spcBef>
                <a:spcPts val="125"/>
              </a:spcBef>
            </a:pPr>
            <a:r>
              <a:rPr sz="1200" b="1" spc="-25" dirty="0">
                <a:latin typeface="Arial"/>
                <a:cs typeface="Arial"/>
              </a:rPr>
              <a:t>R3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68290" y="5036058"/>
            <a:ext cx="835660" cy="19812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41910" algn="ctr">
              <a:lnSpc>
                <a:spcPct val="100000"/>
              </a:lnSpc>
              <a:spcBef>
                <a:spcPts val="80"/>
              </a:spcBef>
            </a:pPr>
            <a:r>
              <a:rPr sz="1200" b="1" spc="-25" dirty="0">
                <a:latin typeface="Arial"/>
                <a:cs typeface="Arial"/>
              </a:rPr>
              <a:t>R4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110990" y="5241797"/>
            <a:ext cx="1678305" cy="307975"/>
          </a:xfrm>
          <a:custGeom>
            <a:avLst/>
            <a:gdLst/>
            <a:ahLst/>
            <a:cxnLst/>
            <a:rect l="l" t="t" r="r" b="b"/>
            <a:pathLst>
              <a:path w="1678304" h="307975">
                <a:moveTo>
                  <a:pt x="0" y="0"/>
                </a:moveTo>
                <a:lnTo>
                  <a:pt x="0" y="307847"/>
                </a:lnTo>
              </a:path>
              <a:path w="1678304" h="307975">
                <a:moveTo>
                  <a:pt x="1677924" y="0"/>
                </a:moveTo>
                <a:lnTo>
                  <a:pt x="1677924" y="304799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57065" y="5554217"/>
            <a:ext cx="1976755" cy="330835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52704" rIns="0" bIns="0" rtlCol="0">
            <a:spAutoFit/>
          </a:bodyPr>
          <a:lstStyle/>
          <a:p>
            <a:pPr marL="619125">
              <a:lnSpc>
                <a:spcPct val="100000"/>
              </a:lnSpc>
              <a:spcBef>
                <a:spcPts val="414"/>
              </a:spcBef>
            </a:pPr>
            <a:r>
              <a:rPr sz="1200" b="1" dirty="0">
                <a:latin typeface="Arial"/>
                <a:cs typeface="Arial"/>
              </a:rPr>
              <a:t>Adder</a:t>
            </a:r>
            <a:r>
              <a:rPr sz="1200" b="1" spc="-20" dirty="0">
                <a:latin typeface="Arial"/>
                <a:cs typeface="Arial"/>
              </a:rPr>
              <a:t> unit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953761" y="5895594"/>
            <a:ext cx="0" cy="253365"/>
          </a:xfrm>
          <a:custGeom>
            <a:avLst/>
            <a:gdLst/>
            <a:ahLst/>
            <a:cxnLst/>
            <a:rect l="l" t="t" r="r" b="b"/>
            <a:pathLst>
              <a:path h="253364">
                <a:moveTo>
                  <a:pt x="0" y="0"/>
                </a:moveTo>
                <a:lnTo>
                  <a:pt x="0" y="252983"/>
                </a:lnTo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523232" y="6145529"/>
            <a:ext cx="845185" cy="196850"/>
          </a:xfrm>
          <a:prstGeom prst="rect">
            <a:avLst/>
          </a:prstGeom>
          <a:ln w="253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6034" algn="ctr">
              <a:lnSpc>
                <a:spcPts val="1435"/>
              </a:lnSpc>
            </a:pPr>
            <a:r>
              <a:rPr sz="1200" b="1" spc="-25" dirty="0">
                <a:latin typeface="Arial"/>
                <a:cs typeface="Arial"/>
              </a:rPr>
              <a:t>R5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670810" y="3151886"/>
            <a:ext cx="3721100" cy="3222625"/>
            <a:chOff x="2670810" y="3151886"/>
            <a:chExt cx="3721100" cy="3222625"/>
          </a:xfrm>
        </p:grpSpPr>
        <p:sp>
          <p:nvSpPr>
            <p:cNvPr id="20" name="object 20"/>
            <p:cNvSpPr/>
            <p:nvPr/>
          </p:nvSpPr>
          <p:spPr>
            <a:xfrm>
              <a:off x="2670810" y="3522726"/>
              <a:ext cx="433070" cy="2814955"/>
            </a:xfrm>
            <a:custGeom>
              <a:avLst/>
              <a:gdLst/>
              <a:ahLst/>
              <a:cxnLst/>
              <a:rect l="l" t="t" r="r" b="b"/>
              <a:pathLst>
                <a:path w="433069" h="2814954">
                  <a:moveTo>
                    <a:pt x="426719" y="0"/>
                  </a:moveTo>
                  <a:lnTo>
                    <a:pt x="15239" y="0"/>
                  </a:lnTo>
                </a:path>
                <a:path w="433069" h="2814954">
                  <a:moveTo>
                    <a:pt x="399288" y="827532"/>
                  </a:moveTo>
                  <a:lnTo>
                    <a:pt x="24383" y="827532"/>
                  </a:lnTo>
                </a:path>
                <a:path w="433069" h="2814954">
                  <a:moveTo>
                    <a:pt x="388619" y="1866900"/>
                  </a:moveTo>
                  <a:lnTo>
                    <a:pt x="15239" y="1866900"/>
                  </a:lnTo>
                </a:path>
                <a:path w="433069" h="2814954">
                  <a:moveTo>
                    <a:pt x="432815" y="2814828"/>
                  </a:moveTo>
                  <a:lnTo>
                    <a:pt x="0" y="2814828"/>
                  </a:lnTo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24734" y="3522725"/>
              <a:ext cx="86995" cy="2851785"/>
            </a:xfrm>
            <a:custGeom>
              <a:avLst/>
              <a:gdLst/>
              <a:ahLst/>
              <a:cxnLst/>
              <a:rect l="l" t="t" r="r" b="b"/>
              <a:pathLst>
                <a:path w="86994" h="2851785">
                  <a:moveTo>
                    <a:pt x="76200" y="2003044"/>
                  </a:moveTo>
                  <a:lnTo>
                    <a:pt x="60960" y="1952244"/>
                  </a:lnTo>
                  <a:lnTo>
                    <a:pt x="38100" y="1876044"/>
                  </a:lnTo>
                  <a:lnTo>
                    <a:pt x="0" y="2003044"/>
                  </a:lnTo>
                  <a:lnTo>
                    <a:pt x="25400" y="1969185"/>
                  </a:lnTo>
                  <a:lnTo>
                    <a:pt x="25400" y="2758275"/>
                  </a:lnTo>
                  <a:lnTo>
                    <a:pt x="0" y="2724404"/>
                  </a:lnTo>
                  <a:lnTo>
                    <a:pt x="38100" y="2851404"/>
                  </a:lnTo>
                  <a:lnTo>
                    <a:pt x="60960" y="2775204"/>
                  </a:lnTo>
                  <a:lnTo>
                    <a:pt x="76200" y="2724404"/>
                  </a:lnTo>
                  <a:lnTo>
                    <a:pt x="50800" y="2758275"/>
                  </a:lnTo>
                  <a:lnTo>
                    <a:pt x="50800" y="1969185"/>
                  </a:lnTo>
                  <a:lnTo>
                    <a:pt x="76200" y="2003044"/>
                  </a:lnTo>
                  <a:close/>
                </a:path>
                <a:path w="86994" h="2851785">
                  <a:moveTo>
                    <a:pt x="86868" y="966724"/>
                  </a:moveTo>
                  <a:lnTo>
                    <a:pt x="71628" y="915924"/>
                  </a:lnTo>
                  <a:lnTo>
                    <a:pt x="48768" y="839724"/>
                  </a:lnTo>
                  <a:lnTo>
                    <a:pt x="10668" y="966724"/>
                  </a:lnTo>
                  <a:lnTo>
                    <a:pt x="36068" y="932865"/>
                  </a:lnTo>
                  <a:lnTo>
                    <a:pt x="36068" y="1773770"/>
                  </a:lnTo>
                  <a:lnTo>
                    <a:pt x="10668" y="1739900"/>
                  </a:lnTo>
                  <a:lnTo>
                    <a:pt x="48768" y="1866900"/>
                  </a:lnTo>
                  <a:lnTo>
                    <a:pt x="71628" y="1790700"/>
                  </a:lnTo>
                  <a:lnTo>
                    <a:pt x="86868" y="1739900"/>
                  </a:lnTo>
                  <a:lnTo>
                    <a:pt x="61468" y="1773770"/>
                  </a:lnTo>
                  <a:lnTo>
                    <a:pt x="61468" y="932865"/>
                  </a:lnTo>
                  <a:lnTo>
                    <a:pt x="86868" y="966724"/>
                  </a:lnTo>
                  <a:close/>
                </a:path>
                <a:path w="86994" h="2851785">
                  <a:moveTo>
                    <a:pt x="86868" y="127000"/>
                  </a:moveTo>
                  <a:lnTo>
                    <a:pt x="71628" y="76200"/>
                  </a:lnTo>
                  <a:lnTo>
                    <a:pt x="48768" y="0"/>
                  </a:lnTo>
                  <a:lnTo>
                    <a:pt x="10668" y="127000"/>
                  </a:lnTo>
                  <a:lnTo>
                    <a:pt x="36068" y="93141"/>
                  </a:lnTo>
                  <a:lnTo>
                    <a:pt x="36068" y="726782"/>
                  </a:lnTo>
                  <a:lnTo>
                    <a:pt x="10668" y="692912"/>
                  </a:lnTo>
                  <a:lnTo>
                    <a:pt x="48768" y="819912"/>
                  </a:lnTo>
                  <a:lnTo>
                    <a:pt x="71628" y="743712"/>
                  </a:lnTo>
                  <a:lnTo>
                    <a:pt x="86868" y="692912"/>
                  </a:lnTo>
                  <a:lnTo>
                    <a:pt x="61468" y="726782"/>
                  </a:lnTo>
                  <a:lnTo>
                    <a:pt x="61468" y="93141"/>
                  </a:lnTo>
                  <a:lnTo>
                    <a:pt x="86868" y="12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13938" y="3164586"/>
              <a:ext cx="3065145" cy="628015"/>
            </a:xfrm>
            <a:custGeom>
              <a:avLst/>
              <a:gdLst/>
              <a:ahLst/>
              <a:cxnLst/>
              <a:rect l="l" t="t" r="r" b="b"/>
              <a:pathLst>
                <a:path w="3065145" h="628014">
                  <a:moveTo>
                    <a:pt x="0" y="627888"/>
                  </a:moveTo>
                  <a:lnTo>
                    <a:pt x="3064764" y="627888"/>
                  </a:lnTo>
                  <a:lnTo>
                    <a:pt x="3064764" y="0"/>
                  </a:lnTo>
                  <a:lnTo>
                    <a:pt x="0" y="0"/>
                  </a:lnTo>
                  <a:lnTo>
                    <a:pt x="0" y="627888"/>
                  </a:lnTo>
                  <a:close/>
                </a:path>
              </a:pathLst>
            </a:custGeom>
            <a:ln w="253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296409" y="3177285"/>
            <a:ext cx="951865" cy="470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1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Memory</a:t>
            </a:r>
            <a:endParaRPr sz="1800">
              <a:latin typeface="Arial"/>
              <a:cs typeface="Arial"/>
            </a:endParaRPr>
          </a:p>
          <a:p>
            <a:pPr marR="166370" algn="ctr">
              <a:lnSpc>
                <a:spcPts val="1390"/>
              </a:lnSpc>
            </a:pPr>
            <a:r>
              <a:rPr sz="1200" b="1" spc="-25" dirty="0">
                <a:latin typeface="Arial"/>
                <a:cs typeface="Arial"/>
              </a:rPr>
              <a:t>B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92394" y="3448253"/>
            <a:ext cx="214629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Arial"/>
                <a:cs typeface="Arial"/>
              </a:rPr>
              <a:t>C</a:t>
            </a:r>
            <a:r>
              <a:rPr sz="1200" b="1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10282" y="3753739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Segment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10282" y="4734814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Segment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10282" y="5716320"/>
            <a:ext cx="7956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Segment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9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87325"/>
            <a:ext cx="7543800" cy="750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185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SPEEDUP</a:t>
            </a:r>
            <a:r>
              <a:rPr spc="-40" dirty="0"/>
              <a:t> </a:t>
            </a:r>
            <a:r>
              <a:rPr spc="-25" dirty="0"/>
              <a:t>SCENARIO-</a:t>
            </a:r>
            <a:r>
              <a:rPr spc="-50"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79232" y="5226177"/>
            <a:ext cx="805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050" algn="l"/>
              </a:tabLst>
            </a:pP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0" dirty="0">
                <a:latin typeface="Arial"/>
                <a:cs typeface="Arial"/>
              </a:rPr>
              <a:t>21ns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0143" y="4842128"/>
            <a:ext cx="6602730" cy="13430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30"/>
              </a:spcBef>
              <a:buChar char="–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number</a:t>
            </a:r>
            <a:r>
              <a:rPr sz="1800" b="1" spc="-2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of</a:t>
            </a:r>
            <a:r>
              <a:rPr sz="1800" b="1" spc="-1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instructions</a:t>
            </a:r>
            <a:r>
              <a:rPr sz="1800" b="1" spc="-2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800" b="1" spc="-1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1800" b="1" spc="-1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cycle </a:t>
            </a:r>
            <a:r>
              <a:rPr sz="1800" b="1" spc="-20" dirty="0">
                <a:solidFill>
                  <a:srgbClr val="FF9900"/>
                </a:solidFill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1282065">
              <a:lnSpc>
                <a:spcPct val="100000"/>
              </a:lnSpc>
              <a:spcBef>
                <a:spcPts val="434"/>
              </a:spcBef>
              <a:tabLst>
                <a:tab pos="2304415" algn="l"/>
                <a:tab pos="4019550" algn="l"/>
                <a:tab pos="4324350" algn="l"/>
                <a:tab pos="4642485" algn="l"/>
                <a:tab pos="5264785" algn="l"/>
              </a:tabLst>
            </a:pP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50" dirty="0">
                <a:solidFill>
                  <a:srgbClr val="FF0066"/>
                </a:solidFill>
                <a:latin typeface="Arial"/>
                <a:cs typeface="Arial"/>
              </a:rPr>
              <a:t>7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x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50" dirty="0">
                <a:solidFill>
                  <a:srgbClr val="00CC00"/>
                </a:solidFill>
                <a:latin typeface="Arial"/>
                <a:cs typeface="Arial"/>
              </a:rPr>
              <a:t>3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x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5" dirty="0">
                <a:solidFill>
                  <a:srgbClr val="FF9900"/>
                </a:solidFill>
                <a:latin typeface="Arial"/>
                <a:cs typeface="Arial"/>
              </a:rPr>
              <a:t>1ns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buChar char="–"/>
              <a:tabLst>
                <a:tab pos="240665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 x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33472" y="1876031"/>
            <a:ext cx="4338320" cy="577215"/>
            <a:chOff x="2633472" y="1876031"/>
            <a:chExt cx="4338320" cy="5772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3472" y="1876031"/>
              <a:ext cx="617981" cy="55093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46881" y="1892045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1816" y="1879091"/>
              <a:ext cx="618007" cy="5509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469129" y="1908809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00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8636" y="1900415"/>
              <a:ext cx="617982" cy="5524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21857" y="1917953"/>
              <a:ext cx="622300" cy="520700"/>
            </a:xfrm>
            <a:custGeom>
              <a:avLst/>
              <a:gdLst/>
              <a:ahLst/>
              <a:cxnLst/>
              <a:rect l="l" t="t" r="r" b="b"/>
              <a:pathLst>
                <a:path w="622300" h="520700">
                  <a:moveTo>
                    <a:pt x="0" y="520700"/>
                  </a:moveTo>
                  <a:lnTo>
                    <a:pt x="311150" y="520700"/>
                  </a:lnTo>
                  <a:lnTo>
                    <a:pt x="311150" y="0"/>
                  </a:lnTo>
                  <a:lnTo>
                    <a:pt x="622300" y="0"/>
                  </a:lnTo>
                </a:path>
              </a:pathLst>
            </a:custGeom>
            <a:ln w="25400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3556" y="1898891"/>
              <a:ext cx="618007" cy="55093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432685" y="2512516"/>
            <a:ext cx="640715" cy="384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R1</a:t>
            </a:r>
            <a:r>
              <a:rPr sz="1200" b="1" spc="-2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CC00"/>
                </a:solidFill>
                <a:latin typeface="Symbol"/>
                <a:cs typeface="Symbol"/>
              </a:rPr>
              <a:t></a:t>
            </a:r>
            <a:r>
              <a:rPr sz="1200" spc="-10" dirty="0">
                <a:solidFill>
                  <a:srgbClr val="00CC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00CC00"/>
                </a:solidFill>
                <a:latin typeface="Arial"/>
                <a:cs typeface="Arial"/>
              </a:rPr>
              <a:t>Ai,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R2</a:t>
            </a:r>
            <a:r>
              <a:rPr sz="1200" b="1" spc="-2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CC00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00CC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00CC00"/>
                </a:solidFill>
                <a:latin typeface="Arial"/>
                <a:cs typeface="Arial"/>
              </a:rPr>
              <a:t>Bi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89401" y="2486914"/>
            <a:ext cx="103124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100"/>
              </a:spcBef>
            </a:pP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R3</a:t>
            </a:r>
            <a:r>
              <a:rPr sz="1200" b="1" spc="-1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CC00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00CC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R1</a:t>
            </a:r>
            <a:r>
              <a:rPr sz="1200" b="1" spc="-1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*</a:t>
            </a:r>
            <a:r>
              <a:rPr sz="1200" b="1" spc="-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00CC00"/>
                </a:solidFill>
                <a:latin typeface="Arial"/>
                <a:cs typeface="Arial"/>
              </a:rPr>
              <a:t>R2,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R4</a:t>
            </a:r>
            <a:r>
              <a:rPr sz="1200" b="1" spc="-2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CC00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00CC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00CC00"/>
                </a:solidFill>
                <a:latin typeface="Arial"/>
                <a:cs typeface="Arial"/>
              </a:rPr>
              <a:t>Ci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1875" y="2479675"/>
            <a:ext cx="1019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R5</a:t>
            </a:r>
            <a:r>
              <a:rPr sz="1200" b="1" spc="-1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CC00"/>
                </a:solidFill>
                <a:latin typeface="Symbol"/>
                <a:cs typeface="Symbol"/>
              </a:rPr>
              <a:t></a:t>
            </a:r>
            <a:r>
              <a:rPr sz="1200" spc="30" dirty="0">
                <a:solidFill>
                  <a:srgbClr val="00CC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R3</a:t>
            </a:r>
            <a:r>
              <a:rPr sz="1200" b="1" spc="-10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CC00"/>
                </a:solidFill>
                <a:latin typeface="Arial"/>
                <a:cs typeface="Arial"/>
              </a:rPr>
              <a:t>+ </a:t>
            </a:r>
            <a:r>
              <a:rPr sz="1200" b="1" spc="-25" dirty="0">
                <a:solidFill>
                  <a:srgbClr val="00CC00"/>
                </a:solidFill>
                <a:latin typeface="Arial"/>
                <a:cs typeface="Arial"/>
              </a:rPr>
              <a:t>R4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26817" y="1864105"/>
            <a:ext cx="3810000" cy="601980"/>
            <a:chOff x="2226817" y="1864105"/>
            <a:chExt cx="3810000" cy="601980"/>
          </a:xfrm>
        </p:grpSpPr>
        <p:sp>
          <p:nvSpPr>
            <p:cNvPr id="17" name="object 17"/>
            <p:cNvSpPr/>
            <p:nvPr/>
          </p:nvSpPr>
          <p:spPr>
            <a:xfrm>
              <a:off x="2239517" y="1876805"/>
              <a:ext cx="397510" cy="558800"/>
            </a:xfrm>
            <a:custGeom>
              <a:avLst/>
              <a:gdLst/>
              <a:ahLst/>
              <a:cxnLst/>
              <a:rect l="l" t="t" r="r" b="b"/>
              <a:pathLst>
                <a:path w="397510" h="558800">
                  <a:moveTo>
                    <a:pt x="397256" y="15240"/>
                  </a:moveTo>
                  <a:lnTo>
                    <a:pt x="28956" y="15240"/>
                  </a:lnTo>
                </a:path>
                <a:path w="397510" h="558800">
                  <a:moveTo>
                    <a:pt x="12700" y="0"/>
                  </a:moveTo>
                  <a:lnTo>
                    <a:pt x="0" y="558800"/>
                  </a:lnTo>
                </a:path>
              </a:pathLst>
            </a:custGeom>
            <a:ln w="25400">
              <a:solidFill>
                <a:srgbClr val="00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46653" y="2407157"/>
              <a:ext cx="3071495" cy="40005"/>
            </a:xfrm>
            <a:custGeom>
              <a:avLst/>
              <a:gdLst/>
              <a:ahLst/>
              <a:cxnLst/>
              <a:rect l="l" t="t" r="r" b="b"/>
              <a:pathLst>
                <a:path w="3071495" h="40005">
                  <a:moveTo>
                    <a:pt x="605155" y="0"/>
                  </a:moveTo>
                  <a:lnTo>
                    <a:pt x="0" y="4444"/>
                  </a:lnTo>
                </a:path>
                <a:path w="3071495" h="40005">
                  <a:moveTo>
                    <a:pt x="1813686" y="18287"/>
                  </a:moveTo>
                  <a:lnTo>
                    <a:pt x="1208532" y="22732"/>
                  </a:lnTo>
                </a:path>
                <a:path w="3071495" h="40005">
                  <a:moveTo>
                    <a:pt x="3070986" y="35051"/>
                  </a:moveTo>
                  <a:lnTo>
                    <a:pt x="2465832" y="39496"/>
                  </a:lnTo>
                </a:path>
              </a:pathLst>
            </a:custGeom>
            <a:ln w="38100">
              <a:solidFill>
                <a:srgbClr val="00C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32943" y="3128009"/>
            <a:ext cx="8323580" cy="1520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48994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CPI =</a:t>
            </a:r>
            <a:r>
              <a:rPr sz="1800" b="1" spc="-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0CC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latin typeface="Arial MT"/>
                <a:cs typeface="Arial MT"/>
              </a:rPr>
              <a:t>Un-</a:t>
            </a:r>
            <a:r>
              <a:rPr sz="1800" dirty="0">
                <a:latin typeface="Arial MT"/>
                <a:cs typeface="Arial MT"/>
              </a:rPr>
              <a:t>pipelined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loop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complete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–</a:t>
            </a:r>
            <a:r>
              <a:rPr sz="1700" spc="3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Assuming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clock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cycle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time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of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1ns,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then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according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CPU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time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equation: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7431" y="1132078"/>
            <a:ext cx="2539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Un-</a:t>
            </a:r>
            <a:r>
              <a:rPr sz="1800" b="1" dirty="0">
                <a:latin typeface="Arial"/>
                <a:cs typeface="Arial"/>
              </a:rPr>
              <a:t>pipelined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execution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7543800" cy="690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185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SPEEDUP</a:t>
            </a:r>
            <a:r>
              <a:rPr sz="4400" spc="-40" dirty="0"/>
              <a:t> </a:t>
            </a:r>
            <a:r>
              <a:rPr sz="4400" spc="-25" dirty="0"/>
              <a:t>SCENARIO-</a:t>
            </a:r>
            <a:r>
              <a:rPr sz="4400" spc="-50"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143" y="4407534"/>
            <a:ext cx="8386445" cy="1805939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49885" marR="30480" indent="-287020">
              <a:lnSpc>
                <a:spcPts val="1939"/>
              </a:lnSpc>
              <a:spcBef>
                <a:spcPts val="345"/>
              </a:spcBef>
              <a:buChar char="•"/>
              <a:tabLst>
                <a:tab pos="349885" algn="l"/>
              </a:tabLst>
            </a:pPr>
            <a:r>
              <a:rPr sz="1800" dirty="0">
                <a:latin typeface="Arial MT"/>
                <a:cs typeface="Arial MT"/>
              </a:rPr>
              <a:t>Pipelined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9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table </a:t>
            </a:r>
            <a:r>
              <a:rPr sz="1800" dirty="0">
                <a:latin typeface="Arial MT"/>
                <a:cs typeface="Arial MT"/>
              </a:rPr>
              <a:t>above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9ns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assuming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25" dirty="0">
                <a:latin typeface="Arial MT"/>
                <a:cs typeface="Arial MT"/>
              </a:rPr>
              <a:t> ns)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349885" indent="-286385">
              <a:lnSpc>
                <a:spcPct val="100000"/>
              </a:lnSpc>
              <a:buFont typeface="Arial MT"/>
              <a:buChar char="•"/>
              <a:tabLst>
                <a:tab pos="349885" algn="l"/>
                <a:tab pos="5546725" algn="l"/>
              </a:tabLst>
            </a:pPr>
            <a:r>
              <a:rPr sz="1800" b="1" dirty="0">
                <a:latin typeface="Arial"/>
                <a:cs typeface="Arial"/>
              </a:rPr>
              <a:t>Speedup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Time</a:t>
            </a:r>
            <a:r>
              <a:rPr sz="1800" spc="-15" baseline="-20833" dirty="0">
                <a:latin typeface="Arial MT"/>
                <a:cs typeface="Arial MT"/>
              </a:rPr>
              <a:t>un-</a:t>
            </a:r>
            <a:r>
              <a:rPr sz="1800" baseline="-20833" dirty="0">
                <a:latin typeface="Arial MT"/>
                <a:cs typeface="Arial MT"/>
              </a:rPr>
              <a:t>pipelined</a:t>
            </a:r>
            <a:r>
              <a:rPr sz="1800" dirty="0">
                <a:latin typeface="Arial MT"/>
                <a:cs typeface="Arial MT"/>
              </a:rPr>
              <a:t>/Time</a:t>
            </a:r>
            <a:r>
              <a:rPr sz="1800" baseline="-20833" dirty="0">
                <a:latin typeface="Arial MT"/>
                <a:cs typeface="Arial MT"/>
              </a:rPr>
              <a:t>pipelined</a:t>
            </a:r>
            <a:r>
              <a:rPr sz="1800" spc="390" baseline="-20833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21ns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/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9ns</a:t>
            </a:r>
            <a:r>
              <a:rPr sz="1800" dirty="0">
                <a:latin typeface="Arial MT"/>
                <a:cs typeface="Arial MT"/>
              </a:rPr>
              <a:t>	=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20" dirty="0">
                <a:latin typeface="Arial"/>
                <a:cs typeface="Arial"/>
              </a:rPr>
              <a:t>2.33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Font typeface="Arial MT"/>
              <a:buChar char="•"/>
            </a:pPr>
            <a:endParaRPr sz="1800">
              <a:latin typeface="Arial"/>
              <a:cs typeface="Arial"/>
            </a:endParaRPr>
          </a:p>
          <a:p>
            <a:pPr marL="349885" indent="-286385">
              <a:lnSpc>
                <a:spcPct val="100000"/>
              </a:lnSpc>
              <a:buChar char="•"/>
              <a:tabLst>
                <a:tab pos="349885" algn="l"/>
              </a:tabLst>
            </a:pPr>
            <a:r>
              <a:rPr sz="1800" dirty="0">
                <a:solidFill>
                  <a:srgbClr val="0000D3"/>
                </a:solidFill>
                <a:latin typeface="Arial MT"/>
                <a:cs typeface="Arial MT"/>
              </a:rPr>
              <a:t>Let's</a:t>
            </a:r>
            <a:r>
              <a:rPr sz="1800" spc="-4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D3"/>
                </a:solidFill>
                <a:latin typeface="Arial MT"/>
                <a:cs typeface="Arial MT"/>
              </a:rPr>
              <a:t>now</a:t>
            </a:r>
            <a:r>
              <a:rPr sz="1800" spc="-2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D3"/>
                </a:solidFill>
                <a:latin typeface="Arial MT"/>
                <a:cs typeface="Arial MT"/>
              </a:rPr>
              <a:t>generalize</a:t>
            </a:r>
            <a:r>
              <a:rPr sz="1800" spc="-1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D3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D3"/>
                </a:solidFill>
                <a:latin typeface="Arial MT"/>
                <a:cs typeface="Arial MT"/>
              </a:rPr>
              <a:t>Speedup</a:t>
            </a:r>
            <a:r>
              <a:rPr sz="1800" spc="-15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D3"/>
                </a:solidFill>
                <a:latin typeface="Arial MT"/>
                <a:cs typeface="Arial MT"/>
              </a:rPr>
              <a:t>equation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00682" y="1653794"/>
          <a:ext cx="5100953" cy="2499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9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345">
                <a:tc rowSpan="2">
                  <a:txBody>
                    <a:bodyPr/>
                    <a:lstStyle/>
                    <a:p>
                      <a:pPr marL="62230" marR="29209" indent="88900" algn="just">
                        <a:lnSpc>
                          <a:spcPct val="88300"/>
                        </a:lnSpc>
                        <a:spcBef>
                          <a:spcPts val="45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Clock Pulse 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513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23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0020" algn="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 algn="ctr">
                        <a:lnSpc>
                          <a:spcPts val="1600"/>
                        </a:lnSpc>
                        <a:spcBef>
                          <a:spcPts val="16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03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R="45085" algn="ctr">
                        <a:lnSpc>
                          <a:spcPts val="1630"/>
                        </a:lnSpc>
                        <a:spcBef>
                          <a:spcPts val="17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63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180" algn="ctr">
                        <a:lnSpc>
                          <a:spcPts val="1630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B1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B2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B3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B4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11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B5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R="57150" algn="ctr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6839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 * B6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7329">
                <a:tc>
                  <a:txBody>
                    <a:bodyPr/>
                    <a:lstStyle/>
                    <a:p>
                      <a:pPr marR="57150" algn="ctr">
                        <a:lnSpc>
                          <a:spcPts val="158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5435">
                        <a:lnSpc>
                          <a:spcPts val="158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B7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C7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18312" y="1101344"/>
            <a:ext cx="2170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Pipelined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execution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06388"/>
            <a:ext cx="7543800" cy="381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1830">
              <a:lnSpc>
                <a:spcPct val="100000"/>
              </a:lnSpc>
              <a:spcBef>
                <a:spcPts val="95"/>
              </a:spcBef>
            </a:pPr>
            <a:r>
              <a:rPr sz="2400" spc="-10" dirty="0"/>
              <a:t>GENERALIZED</a:t>
            </a:r>
            <a:r>
              <a:rPr sz="2400" spc="-75" dirty="0"/>
              <a:t> </a:t>
            </a:r>
            <a:r>
              <a:rPr sz="2400" dirty="0"/>
              <a:t>SPEEDUP</a:t>
            </a:r>
            <a:r>
              <a:rPr sz="2400" spc="-90" dirty="0"/>
              <a:t> </a:t>
            </a:r>
            <a:r>
              <a:rPr sz="2400" spc="-10" dirty="0"/>
              <a:t>EQUATION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349910" y="884300"/>
            <a:ext cx="6287135" cy="1951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03580">
              <a:lnSpc>
                <a:spcPct val="100000"/>
              </a:lnSpc>
              <a:spcBef>
                <a:spcPts val="95"/>
              </a:spcBef>
              <a:tabLst>
                <a:tab pos="1067435" algn="l"/>
              </a:tabLst>
            </a:pP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5" dirty="0">
                <a:latin typeface="Arial"/>
                <a:cs typeface="Arial"/>
              </a:rPr>
              <a:t>:</a:t>
            </a:r>
            <a:r>
              <a:rPr sz="1600" b="1" dirty="0">
                <a:latin typeface="Arial"/>
                <a:cs typeface="Arial"/>
              </a:rPr>
              <a:t>	Number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of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instructions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executed</a:t>
            </a:r>
            <a:endParaRPr sz="1600" dirty="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(n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7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the previous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slide</a:t>
            </a:r>
            <a:r>
              <a:rPr sz="1600" spc="-4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 marL="703580" marR="1893570" indent="-628015">
              <a:lnSpc>
                <a:spcPct val="100000"/>
              </a:lnSpc>
              <a:spcBef>
                <a:spcPts val="1730"/>
              </a:spcBef>
              <a:tabLst>
                <a:tab pos="1095375" algn="l"/>
              </a:tabLst>
            </a:pPr>
            <a:r>
              <a:rPr sz="1600" b="1" dirty="0">
                <a:latin typeface="Arial"/>
                <a:cs typeface="Arial"/>
              </a:rPr>
              <a:t>Conventional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Machine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(un-</a:t>
            </a:r>
            <a:r>
              <a:rPr sz="1600" b="1" dirty="0">
                <a:latin typeface="Arial"/>
                <a:cs typeface="Arial"/>
              </a:rPr>
              <a:t>pipelined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case)</a:t>
            </a:r>
            <a:r>
              <a:rPr sz="1600" b="1" spc="500" dirty="0"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5" dirty="0">
                <a:latin typeface="Arial"/>
                <a:cs typeface="Arial"/>
              </a:rPr>
              <a:t>:</a:t>
            </a:r>
            <a:r>
              <a:rPr sz="1600" b="1" dirty="0">
                <a:latin typeface="Arial"/>
                <a:cs typeface="Arial"/>
              </a:rPr>
              <a:t>	Time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complete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each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instruction</a:t>
            </a:r>
            <a:endParaRPr sz="1600" dirty="0">
              <a:latin typeface="Arial"/>
              <a:cs typeface="Arial"/>
            </a:endParaRPr>
          </a:p>
          <a:p>
            <a:pPr marL="647700">
              <a:lnSpc>
                <a:spcPct val="100000"/>
              </a:lnSpc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A6A6A6"/>
                </a:solidFill>
                <a:latin typeface="Arial"/>
                <a:cs typeface="Arial"/>
              </a:rPr>
              <a:t>t</a:t>
            </a:r>
            <a:r>
              <a:rPr sz="1575" b="1" baseline="-21164" dirty="0">
                <a:solidFill>
                  <a:srgbClr val="A6A6A6"/>
                </a:solidFill>
                <a:latin typeface="Arial"/>
                <a:cs typeface="Arial"/>
              </a:rPr>
              <a:t>n</a:t>
            </a:r>
            <a:r>
              <a:rPr sz="1575" b="1" spc="217" baseline="-21164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CPI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x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clock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cycle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time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 3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x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1ns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3ns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 dirty="0">
              <a:latin typeface="Arial MT"/>
              <a:cs typeface="Arial MT"/>
            </a:endParaRPr>
          </a:p>
          <a:p>
            <a:pPr marL="647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Arial"/>
                <a:cs typeface="Arial"/>
              </a:rPr>
              <a:t>Then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instructions</a:t>
            </a:r>
            <a:r>
              <a:rPr sz="1600" b="1" spc="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will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completed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Time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unpipe</a:t>
            </a:r>
            <a:r>
              <a:rPr sz="1575" b="1" spc="630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16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endParaRPr sz="1575" baseline="-21164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0985" y="2873755"/>
            <a:ext cx="1056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00" spc="-15" baseline="13888" dirty="0">
                <a:solidFill>
                  <a:srgbClr val="A6A6A6"/>
                </a:solidFill>
                <a:latin typeface="Arial MT"/>
                <a:cs typeface="Arial MT"/>
              </a:rPr>
              <a:t>(</a:t>
            </a:r>
            <a:r>
              <a:rPr sz="2400" b="1" spc="-15" baseline="13888" dirty="0">
                <a:solidFill>
                  <a:srgbClr val="A6A6A6"/>
                </a:solidFill>
                <a:latin typeface="Arial"/>
                <a:cs typeface="Arial"/>
              </a:rPr>
              <a:t>Time</a:t>
            </a:r>
            <a:r>
              <a:rPr sz="1050" b="1" spc="-10" dirty="0">
                <a:solidFill>
                  <a:srgbClr val="A6A6A6"/>
                </a:solidFill>
                <a:latin typeface="Arial"/>
                <a:cs typeface="Arial"/>
              </a:rPr>
              <a:t>unpipe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2522" y="2824987"/>
            <a:ext cx="2762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 7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x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3ns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=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21ns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310" y="3263900"/>
            <a:ext cx="8355965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Pipelined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Machine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(with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k</a:t>
            </a:r>
            <a:r>
              <a:rPr sz="16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segments)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(k=3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4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 marL="622300">
              <a:lnSpc>
                <a:spcPct val="100000"/>
              </a:lnSpc>
              <a:tabLst>
                <a:tab pos="1011555" algn="l"/>
              </a:tabLst>
            </a:pP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r>
              <a:rPr sz="1600" b="1" spc="-25" dirty="0">
                <a:latin typeface="Arial"/>
                <a:cs typeface="Arial"/>
              </a:rPr>
              <a:t>:</a:t>
            </a:r>
            <a:r>
              <a:rPr sz="1600" b="1" dirty="0">
                <a:latin typeface="Arial"/>
                <a:cs typeface="Arial"/>
              </a:rPr>
              <a:t>	Time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complete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each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segment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(1ns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1730"/>
              </a:spcBef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first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requires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equal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k.t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r>
              <a:rPr sz="1575" b="1" spc="209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execution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(3ns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 marL="50800" marR="341630">
              <a:lnSpc>
                <a:spcPts val="1730"/>
              </a:lnSpc>
              <a:spcBef>
                <a:spcPts val="1225"/>
              </a:spcBef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remaining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emerge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rate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per </a:t>
            </a:r>
            <a:r>
              <a:rPr sz="1600" dirty="0">
                <a:latin typeface="Arial MT"/>
                <a:cs typeface="Arial MT"/>
              </a:rPr>
              <a:t>clock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cycle,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remaining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instructions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time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1)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r>
              <a:rPr sz="1575" b="1" spc="7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(6ns</a:t>
            </a:r>
            <a:r>
              <a:rPr sz="1600" spc="-1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  <a:p>
            <a:pPr marL="50800">
              <a:lnSpc>
                <a:spcPts val="1825"/>
              </a:lnSpc>
              <a:spcBef>
                <a:spcPts val="980"/>
              </a:spcBef>
            </a:pPr>
            <a:r>
              <a:rPr sz="1600" dirty="0">
                <a:latin typeface="Arial MT"/>
                <a:cs typeface="Arial MT"/>
              </a:rPr>
              <a:t>Therefore,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tasks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008011"/>
                </a:solidFill>
                <a:latin typeface="Arial"/>
                <a:cs typeface="Arial"/>
              </a:rPr>
              <a:t>k</a:t>
            </a:r>
            <a:r>
              <a:rPr sz="1600" spc="-10" dirty="0">
                <a:latin typeface="Arial MT"/>
                <a:cs typeface="Arial MT"/>
              </a:rPr>
              <a:t>-</a:t>
            </a:r>
            <a:r>
              <a:rPr sz="1600" dirty="0">
                <a:latin typeface="Arial MT"/>
                <a:cs typeface="Arial MT"/>
              </a:rPr>
              <a:t>segment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pipeline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complete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in: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Time</a:t>
            </a:r>
            <a:r>
              <a:rPr sz="1575" b="1" baseline="-21164" dirty="0">
                <a:solidFill>
                  <a:srgbClr val="008011"/>
                </a:solidFill>
                <a:latin typeface="Arial"/>
                <a:cs typeface="Arial"/>
              </a:rPr>
              <a:t>pipe</a:t>
            </a:r>
            <a:r>
              <a:rPr sz="1575" b="1" spc="-7" baseline="-21164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1600" b="1" spc="-13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k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+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6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1)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575" b="1" spc="-37" baseline="-21164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endParaRPr sz="1575" baseline="-21164" dirty="0">
              <a:latin typeface="Arial"/>
              <a:cs typeface="Arial"/>
            </a:endParaRPr>
          </a:p>
          <a:p>
            <a:pPr marL="50800">
              <a:lnSpc>
                <a:spcPts val="1825"/>
              </a:lnSpc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(3+6=</a:t>
            </a:r>
            <a:r>
              <a:rPr sz="1600" spc="20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9ns</a:t>
            </a:r>
            <a:r>
              <a:rPr sz="1600" spc="2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4327" y="5963832"/>
            <a:ext cx="2710815" cy="0"/>
          </a:xfrm>
          <a:custGeom>
            <a:avLst/>
            <a:gdLst/>
            <a:ahLst/>
            <a:cxnLst/>
            <a:rect l="l" t="t" r="r" b="b"/>
            <a:pathLst>
              <a:path w="2710815">
                <a:moveTo>
                  <a:pt x="0" y="0"/>
                </a:moveTo>
                <a:lnTo>
                  <a:pt x="1079102" y="0"/>
                </a:lnTo>
              </a:path>
              <a:path w="2710815">
                <a:moveTo>
                  <a:pt x="1679308" y="0"/>
                </a:moveTo>
                <a:lnTo>
                  <a:pt x="2710622" y="0"/>
                </a:lnTo>
              </a:path>
            </a:pathLst>
          </a:custGeom>
          <a:ln w="42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97072" y="6134858"/>
            <a:ext cx="3460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0" dirty="0">
                <a:latin typeface="Calibri"/>
                <a:cs typeface="Calibri"/>
              </a:rPr>
              <a:t>pipe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5988" y="5647494"/>
            <a:ext cx="111696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150" spc="-15" baseline="14550" dirty="0">
                <a:latin typeface="Calibri"/>
                <a:cs typeface="Calibri"/>
              </a:rPr>
              <a:t>Time</a:t>
            </a:r>
            <a:r>
              <a:rPr sz="1400" spc="-10" dirty="0">
                <a:latin typeface="Calibri"/>
                <a:cs typeface="Calibri"/>
              </a:rPr>
              <a:t>unpipe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65824" y="5976523"/>
            <a:ext cx="56324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00" spc="-20" dirty="0">
                <a:latin typeface="Calibri"/>
                <a:cs typeface="Calibri"/>
              </a:rPr>
              <a:t>Time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33194" y="5655392"/>
            <a:ext cx="4495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spc="-20" dirty="0">
                <a:latin typeface="Calibri"/>
                <a:cs typeface="Calibri"/>
              </a:rPr>
              <a:t>n</a:t>
            </a:r>
            <a:r>
              <a:rPr sz="2000" spc="-20" dirty="0">
                <a:latin typeface="Symbol"/>
                <a:cs typeface="Symbol"/>
              </a:rPr>
              <a:t>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1800" spc="-30" baseline="-16203" dirty="0">
                <a:latin typeface="Calibri"/>
                <a:cs typeface="Calibri"/>
              </a:rPr>
              <a:t>n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21113" y="5854409"/>
            <a:ext cx="1080770" cy="42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900" spc="-15" baseline="-6410" dirty="0">
                <a:latin typeface="Symbol"/>
                <a:cs typeface="Symbol"/>
              </a:rPr>
              <a:t></a:t>
            </a:r>
            <a:r>
              <a:rPr sz="2000" spc="-10" dirty="0">
                <a:latin typeface="Calibri"/>
                <a:cs typeface="Calibri"/>
              </a:rPr>
              <a:t>k</a:t>
            </a:r>
            <a:r>
              <a:rPr sz="2000" spc="-10" dirty="0">
                <a:latin typeface="Symbol"/>
                <a:cs typeface="Symbol"/>
              </a:rPr>
              <a:t></a:t>
            </a:r>
            <a:r>
              <a:rPr sz="2000" spc="-10" dirty="0">
                <a:latin typeface="Calibri"/>
                <a:cs typeface="Calibri"/>
              </a:rPr>
              <a:t>n</a:t>
            </a:r>
            <a:r>
              <a:rPr sz="2000" spc="-1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3900" spc="-15" baseline="-6410" dirty="0">
                <a:latin typeface="Symbol"/>
                <a:cs typeface="Symbol"/>
              </a:rPr>
              <a:t></a:t>
            </a:r>
            <a:r>
              <a:rPr sz="2000" spc="-10" dirty="0">
                <a:latin typeface="Calibri"/>
                <a:cs typeface="Calibri"/>
              </a:rPr>
              <a:t>t</a:t>
            </a:r>
            <a:r>
              <a:rPr sz="1800" spc="-15" baseline="-16203" dirty="0">
                <a:latin typeface="Calibri"/>
                <a:cs typeface="Calibri"/>
              </a:rPr>
              <a:t>p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27526" y="5751486"/>
            <a:ext cx="2915285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54630" algn="l"/>
              </a:tabLst>
            </a:pPr>
            <a:r>
              <a:rPr sz="2100" b="1" dirty="0">
                <a:latin typeface="Calibri"/>
                <a:cs typeface="Calibri"/>
              </a:rPr>
              <a:t>Speedup</a:t>
            </a:r>
            <a:r>
              <a:rPr sz="2100" b="1" spc="215" dirty="0">
                <a:latin typeface="Calibri"/>
                <a:cs typeface="Calibri"/>
              </a:rPr>
              <a:t> </a:t>
            </a:r>
            <a:r>
              <a:rPr sz="2100" spc="-50" dirty="0">
                <a:latin typeface="Symbol"/>
                <a:cs typeface="Symbol"/>
              </a:rPr>
              <a:t>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54446" y="5832754"/>
            <a:ext cx="2891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(21/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9=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2.33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times</a:t>
            </a:r>
            <a:r>
              <a:rPr sz="1600" spc="-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A6A6A6"/>
                </a:solidFill>
                <a:latin typeface="Arial MT"/>
                <a:cs typeface="Arial MT"/>
              </a:rPr>
              <a:t>in</a:t>
            </a:r>
            <a:r>
              <a:rPr sz="1600" spc="5" dirty="0">
                <a:solidFill>
                  <a:srgbClr val="A6A6A6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A6A6A6"/>
                </a:solidFill>
                <a:latin typeface="Arial MT"/>
                <a:cs typeface="Arial MT"/>
              </a:rPr>
              <a:t>scenario-</a:t>
            </a:r>
            <a:r>
              <a:rPr sz="1600" spc="-25" dirty="0">
                <a:solidFill>
                  <a:srgbClr val="A6A6A6"/>
                </a:solidFill>
                <a:latin typeface="Arial MT"/>
                <a:cs typeface="Arial MT"/>
              </a:rPr>
              <a:t>I)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1211052"/>
            <a:ext cx="30353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8450" algn="l"/>
              </a:tabLst>
            </a:pPr>
            <a:r>
              <a:rPr sz="2800" spc="-10" dirty="0"/>
              <a:t>PIPELINE</a:t>
            </a:r>
            <a:r>
              <a:rPr sz="2800" dirty="0"/>
              <a:t>	</a:t>
            </a:r>
            <a:r>
              <a:rPr sz="2800" spc="-10" dirty="0"/>
              <a:t>SPEEDUP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87223" y="2266314"/>
            <a:ext cx="834135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Now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second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scenario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735" y="2540635"/>
            <a:ext cx="20421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task: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011" y="3196208"/>
            <a:ext cx="737171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90170" marR="5080" indent="-7810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MT"/>
                <a:cs typeface="Arial MT"/>
              </a:rPr>
              <a:t>(That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3ns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cycle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compare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task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machine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unpipelined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pipelined)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19577" y="2574416"/>
            <a:ext cx="4158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158365" algn="l"/>
              </a:tabLst>
            </a:pP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Loop:</a:t>
            </a:r>
            <a:r>
              <a:rPr sz="1800" b="1" spc="36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A</a:t>
            </a:r>
            <a:r>
              <a:rPr sz="1800" b="1" baseline="-20833" dirty="0">
                <a:solidFill>
                  <a:srgbClr val="008011"/>
                </a:solidFill>
                <a:latin typeface="Arial"/>
                <a:cs typeface="Arial"/>
              </a:rPr>
              <a:t>i</a:t>
            </a:r>
            <a:r>
              <a:rPr sz="1800" b="1" spc="307" baseline="-20833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*</a:t>
            </a:r>
            <a:r>
              <a:rPr sz="18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B</a:t>
            </a:r>
            <a:r>
              <a:rPr sz="1800" b="1" baseline="-20833" dirty="0">
                <a:solidFill>
                  <a:srgbClr val="008011"/>
                </a:solidFill>
                <a:latin typeface="Arial"/>
                <a:cs typeface="Arial"/>
              </a:rPr>
              <a:t>i</a:t>
            </a:r>
            <a:r>
              <a:rPr sz="1800" b="1" spc="217" baseline="-20833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+</a:t>
            </a:r>
            <a:r>
              <a:rPr sz="1800" b="1" spc="-25" dirty="0">
                <a:solidFill>
                  <a:srgbClr val="008011"/>
                </a:solidFill>
                <a:latin typeface="Arial"/>
                <a:cs typeface="Arial"/>
              </a:rPr>
              <a:t> C</a:t>
            </a:r>
            <a:r>
              <a:rPr sz="1800" b="1" spc="-37" baseline="-20833" dirty="0">
                <a:solidFill>
                  <a:srgbClr val="008011"/>
                </a:solidFill>
                <a:latin typeface="Arial"/>
                <a:cs typeface="Arial"/>
              </a:rPr>
              <a:t>i</a:t>
            </a:r>
            <a:r>
              <a:rPr sz="1800" b="1" baseline="-20833" dirty="0">
                <a:solidFill>
                  <a:srgbClr val="008011"/>
                </a:solidFill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for</a:t>
            </a:r>
            <a:r>
              <a:rPr sz="18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i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18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1, 2,</a:t>
            </a:r>
            <a:r>
              <a:rPr sz="18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3,</a:t>
            </a:r>
            <a:r>
              <a:rPr sz="18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...</a:t>
            </a:r>
            <a:r>
              <a:rPr sz="1800" b="1" spc="-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8011"/>
                </a:solidFill>
                <a:latin typeface="Arial"/>
                <a:cs typeface="Arial"/>
              </a:rPr>
              <a:t>,</a:t>
            </a:r>
            <a:r>
              <a:rPr sz="1800" b="1" spc="-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008011"/>
                </a:solidFill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73025"/>
            <a:ext cx="7543800" cy="690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931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SPEEDUP</a:t>
            </a:r>
            <a:r>
              <a:rPr sz="4400" spc="-80" dirty="0"/>
              <a:t> </a:t>
            </a:r>
            <a:r>
              <a:rPr sz="4400" spc="-20" dirty="0"/>
              <a:t>SCENARIO-</a:t>
            </a:r>
            <a:r>
              <a:rPr sz="4400" spc="-25" dirty="0"/>
              <a:t>II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86966" y="1160018"/>
          <a:ext cx="5099049" cy="2500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0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8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9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680">
                <a:tc rowSpan="2">
                  <a:txBody>
                    <a:bodyPr/>
                    <a:lstStyle/>
                    <a:p>
                      <a:pPr marL="61594" marR="29845" indent="88900" algn="just">
                        <a:lnSpc>
                          <a:spcPct val="84900"/>
                        </a:lnSpc>
                        <a:spcBef>
                          <a:spcPts val="300"/>
                        </a:spcBef>
                      </a:pPr>
                      <a:r>
                        <a:rPr sz="1400" b="1" spc="-10" dirty="0">
                          <a:latin typeface="Arial"/>
                          <a:cs typeface="Arial"/>
                        </a:rPr>
                        <a:t>Clock Pulse 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82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Segment</a:t>
                      </a:r>
                      <a:r>
                        <a:rPr sz="14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4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938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R5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060">
                <a:tc>
                  <a:txBody>
                    <a:bodyPr/>
                    <a:lstStyle/>
                    <a:p>
                      <a:pPr marL="308610">
                        <a:lnSpc>
                          <a:spcPts val="1630"/>
                        </a:lnSpc>
                        <a:spcBef>
                          <a:spcPts val="5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340" algn="ctr">
                        <a:lnSpc>
                          <a:spcPts val="1630"/>
                        </a:lnSpc>
                        <a:spcBef>
                          <a:spcPts val="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1630"/>
                        </a:lnSpc>
                        <a:spcBef>
                          <a:spcPts val="50"/>
                        </a:spcBef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302260">
                        <a:lnSpc>
                          <a:spcPts val="153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302260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A1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B1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302260">
                        <a:lnSpc>
                          <a:spcPts val="152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A2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B2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302260">
                        <a:lnSpc>
                          <a:spcPts val="152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ts val="152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152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A3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B3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302260">
                        <a:lnSpc>
                          <a:spcPts val="1530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1750" algn="ct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1454" algn="r">
                        <a:lnSpc>
                          <a:spcPts val="1530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ts val="1530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A4</a:t>
                      </a:r>
                      <a:r>
                        <a:rPr sz="1400" b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B4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302260">
                        <a:lnSpc>
                          <a:spcPts val="153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A7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10185" algn="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A5</a:t>
                      </a:r>
                      <a:r>
                        <a:rPr sz="14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B5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302260">
                        <a:lnSpc>
                          <a:spcPts val="153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118745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B7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65100" algn="r">
                        <a:lnSpc>
                          <a:spcPts val="1535"/>
                        </a:lnSpc>
                      </a:pPr>
                      <a:r>
                        <a:rPr sz="1400" b="1" spc="-25" dirty="0">
                          <a:latin typeface="Arial"/>
                          <a:cs typeface="Arial"/>
                        </a:rPr>
                        <a:t>C7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200025" algn="r">
                        <a:lnSpc>
                          <a:spcPts val="153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A6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B6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02260">
                        <a:lnSpc>
                          <a:spcPts val="1585"/>
                        </a:lnSpc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740" algn="r">
                        <a:lnSpc>
                          <a:spcPts val="1585"/>
                        </a:lnSpc>
                      </a:pPr>
                      <a:r>
                        <a:rPr sz="1400" b="1" dirty="0">
                          <a:latin typeface="Arial"/>
                          <a:cs typeface="Arial"/>
                        </a:rPr>
                        <a:t>A7</a:t>
                      </a:r>
                      <a:r>
                        <a:rPr sz="14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*</a:t>
                      </a:r>
                      <a:r>
                        <a:rPr sz="14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B7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400" b="1" spc="-25" dirty="0">
                          <a:latin typeface="Arial"/>
                          <a:cs typeface="Arial"/>
                        </a:rPr>
                        <a:t> C7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777108" y="825500"/>
            <a:ext cx="34150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Operations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pipeline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stage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943" y="3763410"/>
            <a:ext cx="8310245" cy="23698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25"/>
              </a:spcBef>
              <a:buChar char="•"/>
              <a:tabLst>
                <a:tab pos="299085" algn="l"/>
              </a:tabLst>
            </a:pPr>
            <a:r>
              <a:rPr sz="1800" spc="-10" dirty="0">
                <a:latin typeface="Arial MT"/>
                <a:cs typeface="Arial MT"/>
              </a:rPr>
              <a:t>Un-</a:t>
            </a:r>
            <a:r>
              <a:rPr sz="1800" dirty="0">
                <a:latin typeface="Arial MT"/>
                <a:cs typeface="Arial MT"/>
              </a:rPr>
              <a:t>pipelined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task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 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complete</a:t>
            </a:r>
            <a:endParaRPr sz="18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414"/>
              </a:spcBef>
              <a:buChar char="–"/>
              <a:tabLst>
                <a:tab pos="698500" algn="l"/>
              </a:tabLst>
            </a:pPr>
            <a:r>
              <a:rPr sz="1700" dirty="0">
                <a:latin typeface="Arial MT"/>
                <a:cs typeface="Arial MT"/>
              </a:rPr>
              <a:t>Assuming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clock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cycle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time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3ns,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then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according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CPU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time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formula</a:t>
            </a:r>
            <a:endParaRPr sz="1700">
              <a:latin typeface="Arial MT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430"/>
              </a:spcBef>
              <a:buChar char="–"/>
              <a:tabLst>
                <a:tab pos="697865" algn="l"/>
              </a:tabLst>
            </a:pPr>
            <a:r>
              <a:rPr sz="1800" dirty="0">
                <a:latin typeface="Arial MT"/>
                <a:cs typeface="Arial MT"/>
              </a:rPr>
              <a:t>CPU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number</a:t>
            </a:r>
            <a:r>
              <a:rPr sz="1800" b="1" spc="-2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of</a:t>
            </a:r>
            <a:r>
              <a:rPr sz="1800" b="1" spc="-15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instructions</a:t>
            </a:r>
            <a:r>
              <a:rPr sz="1800" b="1" spc="-20" dirty="0">
                <a:solidFill>
                  <a:srgbClr val="FF0066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CPI</a:t>
            </a:r>
            <a:r>
              <a:rPr sz="1800" b="1" spc="-15" dirty="0">
                <a:solidFill>
                  <a:srgbClr val="00CC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x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clock</a:t>
            </a:r>
            <a:r>
              <a:rPr sz="1800" b="1" spc="-1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cycle </a:t>
            </a:r>
            <a:r>
              <a:rPr sz="1800" b="1" spc="-20" dirty="0">
                <a:solidFill>
                  <a:srgbClr val="FF9900"/>
                </a:solidFill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1739264">
              <a:lnSpc>
                <a:spcPct val="100000"/>
              </a:lnSpc>
              <a:spcBef>
                <a:spcPts val="430"/>
              </a:spcBef>
              <a:tabLst>
                <a:tab pos="2761615" algn="l"/>
                <a:tab pos="4476750" algn="l"/>
                <a:tab pos="4781550" algn="l"/>
                <a:tab pos="5099685" algn="l"/>
                <a:tab pos="5721985" algn="l"/>
                <a:tab pos="7258684" algn="l"/>
                <a:tab pos="7519034" algn="l"/>
              </a:tabLst>
            </a:pP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50" dirty="0">
                <a:solidFill>
                  <a:srgbClr val="FF0066"/>
                </a:solidFill>
                <a:latin typeface="Arial"/>
                <a:cs typeface="Arial"/>
              </a:rPr>
              <a:t>7</a:t>
            </a:r>
            <a:r>
              <a:rPr sz="1800" b="1" dirty="0">
                <a:solidFill>
                  <a:srgbClr val="FF0066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x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50" dirty="0">
                <a:solidFill>
                  <a:srgbClr val="00CC00"/>
                </a:solidFill>
                <a:latin typeface="Arial"/>
                <a:cs typeface="Arial"/>
              </a:rPr>
              <a:t>3</a:t>
            </a:r>
            <a:r>
              <a:rPr sz="1800" b="1" dirty="0">
                <a:solidFill>
                  <a:srgbClr val="00CC00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x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5" dirty="0">
                <a:solidFill>
                  <a:srgbClr val="FF9900"/>
                </a:solidFill>
                <a:latin typeface="Arial"/>
                <a:cs typeface="Arial"/>
              </a:rPr>
              <a:t>3ns</a:t>
            </a:r>
            <a:r>
              <a:rPr sz="1800" b="1" dirty="0">
                <a:solidFill>
                  <a:srgbClr val="FF9900"/>
                </a:solidFill>
                <a:latin typeface="Arial"/>
                <a:cs typeface="Arial"/>
              </a:rPr>
              <a:t>	</a:t>
            </a:r>
            <a:r>
              <a:rPr sz="1800" spc="-50" dirty="0">
                <a:latin typeface="Arial MT"/>
                <a:cs typeface="Arial MT"/>
              </a:rPr>
              <a:t>=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spc="-20" dirty="0">
                <a:latin typeface="Arial"/>
                <a:cs typeface="Arial"/>
              </a:rPr>
              <a:t>63ns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ts val="2050"/>
              </a:lnSpc>
              <a:spcBef>
                <a:spcPts val="98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Pipelined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execution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takes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only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9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complete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shown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table</a:t>
            </a:r>
            <a:endParaRPr sz="1800">
              <a:latin typeface="Arial MT"/>
              <a:cs typeface="Arial MT"/>
            </a:endParaRPr>
          </a:p>
          <a:p>
            <a:pPr marL="299085">
              <a:lnSpc>
                <a:spcPts val="2050"/>
              </a:lnSpc>
            </a:pPr>
            <a:r>
              <a:rPr sz="1800" dirty="0">
                <a:latin typeface="Arial MT"/>
                <a:cs typeface="Arial MT"/>
              </a:rPr>
              <a:t>above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27ns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assuming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clock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cycle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ns)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985"/>
              </a:spcBef>
              <a:buChar char="•"/>
              <a:tabLst>
                <a:tab pos="299085" algn="l"/>
                <a:tab pos="2781300" algn="l"/>
              </a:tabLst>
            </a:pPr>
            <a:r>
              <a:rPr sz="1800" dirty="0">
                <a:latin typeface="Arial MT"/>
                <a:cs typeface="Arial MT"/>
              </a:rPr>
              <a:t>Speedup 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63ns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/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27ns</a:t>
            </a:r>
            <a:r>
              <a:rPr sz="1800" dirty="0">
                <a:latin typeface="Arial MT"/>
                <a:cs typeface="Arial MT"/>
              </a:rPr>
              <a:t>	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2.33 </a:t>
            </a:r>
            <a:r>
              <a:rPr sz="1800" spc="-10" dirty="0">
                <a:latin typeface="Arial MT"/>
                <a:cs typeface="Arial MT"/>
              </a:rPr>
              <a:t>times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514833-B210-11A2-212A-730142614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90" y="1328444"/>
            <a:ext cx="6411220" cy="420111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4932F40-398C-31CC-7412-68B260B8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-304800"/>
            <a:ext cx="7543800" cy="1450757"/>
          </a:xfrm>
        </p:spPr>
        <p:txBody>
          <a:bodyPr>
            <a:normAutofit/>
          </a:bodyPr>
          <a:lstStyle/>
          <a:p>
            <a:r>
              <a:rPr lang="en-US" sz="4400" dirty="0"/>
              <a:t>Speedup Scenario II</a:t>
            </a:r>
          </a:p>
        </p:txBody>
      </p:sp>
    </p:spTree>
    <p:extLst>
      <p:ext uri="{BB962C8B-B14F-4D97-AF65-F5344CB8AC3E}">
        <p14:creationId xmlns:p14="http://schemas.microsoft.com/office/powerpoint/2010/main" val="3265853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463" y="89700"/>
            <a:ext cx="5769610" cy="1062990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marL="2747010">
              <a:lnSpc>
                <a:spcPct val="100000"/>
              </a:lnSpc>
              <a:spcBef>
                <a:spcPts val="1485"/>
              </a:spcBef>
              <a:tabLst>
                <a:tab pos="4302760" algn="l"/>
              </a:tabLst>
            </a:pP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PIPELINE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SPEEDUP</a:t>
            </a: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260"/>
              </a:spcBef>
              <a:buChar char="•"/>
              <a:tabLst>
                <a:tab pos="29908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generalized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Speedup</a:t>
            </a:r>
            <a:r>
              <a:rPr sz="2200" b="1" spc="-7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8011"/>
                </a:solidFill>
                <a:latin typeface="Arial"/>
                <a:cs typeface="Arial"/>
              </a:rPr>
              <a:t>equation: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463" y="2237358"/>
            <a:ext cx="8501380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215">
              <a:lnSpc>
                <a:spcPts val="251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determine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speedup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task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which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be</a:t>
            </a:r>
            <a:endParaRPr sz="2200">
              <a:latin typeface="Arial MT"/>
              <a:cs typeface="Arial MT"/>
            </a:endParaRPr>
          </a:p>
          <a:p>
            <a:pPr marL="299085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implemented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through</a:t>
            </a:r>
            <a:r>
              <a:rPr sz="2200" spc="-1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pipelining.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2200">
              <a:latin typeface="Arial MT"/>
              <a:cs typeface="Arial MT"/>
            </a:endParaRPr>
          </a:p>
          <a:p>
            <a:pPr marL="299085" marR="5080" indent="-287020">
              <a:lnSpc>
                <a:spcPts val="2380"/>
              </a:lnSpc>
              <a:buChar char="•"/>
              <a:tabLst>
                <a:tab pos="299085" algn="l"/>
              </a:tabLst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both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scenarios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&amp;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II,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un-</a:t>
            </a:r>
            <a:r>
              <a:rPr sz="2200" dirty="0">
                <a:latin typeface="Arial MT"/>
                <a:cs typeface="Arial MT"/>
              </a:rPr>
              <a:t>pipelined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execution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task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requires </a:t>
            </a:r>
            <a:r>
              <a:rPr sz="2200" dirty="0">
                <a:latin typeface="Arial MT"/>
                <a:cs typeface="Arial MT"/>
              </a:rPr>
              <a:t>21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clock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cycles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pipelined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execution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requires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9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clock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cycles.</a:t>
            </a:r>
            <a:endParaRPr sz="2200">
              <a:latin typeface="Arial MT"/>
              <a:cs typeface="Arial MT"/>
            </a:endParaRPr>
          </a:p>
          <a:p>
            <a:pPr marL="698500" marR="272415" indent="-228600">
              <a:lnSpc>
                <a:spcPct val="90000"/>
              </a:lnSpc>
              <a:spcBef>
                <a:spcPts val="825"/>
              </a:spcBef>
            </a:pPr>
            <a:r>
              <a:rPr sz="2400" spc="-20" dirty="0">
                <a:solidFill>
                  <a:srgbClr val="008011"/>
                </a:solidFill>
                <a:latin typeface="Arial MT"/>
                <a:cs typeface="Arial MT"/>
              </a:rPr>
              <a:t>–</a:t>
            </a:r>
            <a:r>
              <a:rPr sz="2400" spc="-204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For</a:t>
            </a:r>
            <a:r>
              <a:rPr sz="2400" b="1" u="sng" spc="-95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the</a:t>
            </a:r>
            <a:r>
              <a:rPr sz="2400" b="1" u="sng" spc="-70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same</a:t>
            </a:r>
            <a:r>
              <a:rPr sz="2400" b="1" u="sng" spc="-45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solidFill>
                  <a:srgbClr val="008011"/>
                </a:solidFill>
                <a:uFill>
                  <a:solidFill>
                    <a:srgbClr val="008011"/>
                  </a:solidFill>
                </a:uFill>
                <a:latin typeface="Arial"/>
                <a:cs typeface="Arial"/>
              </a:rPr>
              <a:t>task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,</a:t>
            </a:r>
            <a:r>
              <a:rPr sz="24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speedup</a:t>
            </a:r>
            <a:r>
              <a:rPr sz="24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ratio</a:t>
            </a:r>
            <a:r>
              <a:rPr sz="24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4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pipelined</a:t>
            </a:r>
            <a:r>
              <a:rPr sz="24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8011"/>
                </a:solidFill>
                <a:latin typeface="Arial MT"/>
                <a:cs typeface="Arial MT"/>
              </a:rPr>
              <a:t>and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unpipelined</a:t>
            </a:r>
            <a:r>
              <a:rPr sz="24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executions</a:t>
            </a:r>
            <a:r>
              <a:rPr sz="24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task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is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independent</a:t>
            </a:r>
            <a:r>
              <a:rPr sz="24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400" spc="-7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8011"/>
                </a:solidFill>
                <a:latin typeface="Arial MT"/>
                <a:cs typeface="Arial MT"/>
              </a:rPr>
              <a:t>the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“clock</a:t>
            </a:r>
            <a:r>
              <a:rPr sz="2400" b="1" spc="-8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cycle</a:t>
            </a:r>
            <a:r>
              <a:rPr sz="2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time”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.</a:t>
            </a:r>
            <a:r>
              <a:rPr sz="2400" spc="-8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Therefore,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speedup</a:t>
            </a:r>
            <a:r>
              <a:rPr sz="22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is</a:t>
            </a:r>
            <a:r>
              <a:rPr sz="22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200" spc="-5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ratio</a:t>
            </a:r>
            <a:r>
              <a:rPr sz="22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8011"/>
                </a:solidFill>
                <a:latin typeface="Arial MT"/>
                <a:cs typeface="Arial MT"/>
              </a:rPr>
              <a:t>the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number</a:t>
            </a:r>
            <a:r>
              <a:rPr sz="22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of</a:t>
            </a:r>
            <a:r>
              <a:rPr sz="2200" spc="-6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clock</a:t>
            </a:r>
            <a:r>
              <a:rPr sz="22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cycles.</a:t>
            </a:r>
            <a:r>
              <a:rPr sz="2200" spc="-4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“Clock</a:t>
            </a:r>
            <a:r>
              <a:rPr sz="22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cycle</a:t>
            </a:r>
            <a:r>
              <a:rPr sz="22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time”</a:t>
            </a:r>
            <a:r>
              <a:rPr sz="22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has</a:t>
            </a:r>
            <a:r>
              <a:rPr sz="2200" spc="-5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no</a:t>
            </a:r>
            <a:r>
              <a:rPr sz="22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effect</a:t>
            </a:r>
            <a:r>
              <a:rPr sz="22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spc="-25" dirty="0">
                <a:solidFill>
                  <a:srgbClr val="008011"/>
                </a:solidFill>
                <a:latin typeface="Arial MT"/>
                <a:cs typeface="Arial MT"/>
              </a:rPr>
              <a:t>on </a:t>
            </a:r>
            <a:r>
              <a:rPr sz="2200" dirty="0">
                <a:solidFill>
                  <a:srgbClr val="008011"/>
                </a:solidFill>
                <a:latin typeface="Arial MT"/>
                <a:cs typeface="Arial MT"/>
              </a:rPr>
              <a:t>the</a:t>
            </a:r>
            <a:r>
              <a:rPr sz="22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008011"/>
                </a:solidFill>
                <a:latin typeface="Arial MT"/>
                <a:cs typeface="Arial MT"/>
              </a:rPr>
              <a:t>ratio.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24191" y="1675535"/>
            <a:ext cx="1063625" cy="0"/>
          </a:xfrm>
          <a:custGeom>
            <a:avLst/>
            <a:gdLst/>
            <a:ahLst/>
            <a:cxnLst/>
            <a:rect l="l" t="t" r="r" b="b"/>
            <a:pathLst>
              <a:path w="1063625">
                <a:moveTo>
                  <a:pt x="0" y="0"/>
                </a:moveTo>
                <a:lnTo>
                  <a:pt x="1063337" y="0"/>
                </a:lnTo>
              </a:path>
            </a:pathLst>
          </a:custGeom>
          <a:ln w="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5557" y="1367579"/>
            <a:ext cx="3602990" cy="5854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47320" marR="5080" indent="-135255">
              <a:lnSpc>
                <a:spcPts val="2010"/>
              </a:lnSpc>
              <a:spcBef>
                <a:spcPts val="484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CPU time</a:t>
            </a:r>
            <a:r>
              <a:rPr sz="2000" u="sng" spc="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000" u="sng" spc="1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u="sng" spc="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</a:t>
            </a:r>
            <a:r>
              <a:rPr sz="2000" u="sng" spc="1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unpipelined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CPU time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task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pipelined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40807" y="1463697"/>
            <a:ext cx="172085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5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12500" y="1367579"/>
            <a:ext cx="46545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b="1" spc="-20" dirty="0">
                <a:latin typeface="Calibri"/>
                <a:cs typeface="Calibri"/>
              </a:rPr>
              <a:t>n</a:t>
            </a:r>
            <a:r>
              <a:rPr sz="2000" spc="-20" dirty="0">
                <a:latin typeface="Symbol"/>
                <a:cs typeface="Symbol"/>
              </a:rPr>
              <a:t></a:t>
            </a:r>
            <a:r>
              <a:rPr sz="2000" b="1" spc="-20" dirty="0">
                <a:latin typeface="Calibri"/>
                <a:cs typeface="Calibri"/>
              </a:rPr>
              <a:t>t</a:t>
            </a:r>
            <a:r>
              <a:rPr sz="1800" b="1" spc="-30" baseline="-16203" dirty="0">
                <a:latin typeface="Calibri"/>
                <a:cs typeface="Calibri"/>
              </a:rPr>
              <a:t>n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1546" y="1566692"/>
            <a:ext cx="111188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900" spc="-262" baseline="-6410" dirty="0">
                <a:latin typeface="Symbol"/>
                <a:cs typeface="Symbol"/>
              </a:rPr>
              <a:t></a:t>
            </a:r>
            <a:r>
              <a:rPr sz="2000" b="1" spc="-175" dirty="0">
                <a:latin typeface="Calibri"/>
                <a:cs typeface="Calibri"/>
              </a:rPr>
              <a:t>k</a:t>
            </a:r>
            <a:r>
              <a:rPr sz="2000" b="1" spc="-195" dirty="0">
                <a:latin typeface="Calibri"/>
                <a:cs typeface="Calibri"/>
              </a:rPr>
              <a:t> </a:t>
            </a:r>
            <a:r>
              <a:rPr sz="2000" spc="-10" dirty="0">
                <a:latin typeface="Symbol"/>
                <a:cs typeface="Symbol"/>
              </a:rPr>
              <a:t></a:t>
            </a:r>
            <a:r>
              <a:rPr sz="2000" b="1" spc="-10" dirty="0">
                <a:latin typeface="Calibri"/>
                <a:cs typeface="Calibri"/>
              </a:rPr>
              <a:t>n</a:t>
            </a:r>
            <a:r>
              <a:rPr sz="2000" spc="-10" dirty="0">
                <a:latin typeface="Symbol"/>
                <a:cs typeface="Symbol"/>
              </a:rPr>
              <a:t></a:t>
            </a:r>
            <a:r>
              <a:rPr sz="2000" spc="-10" dirty="0">
                <a:latin typeface="Times New Roman"/>
                <a:cs typeface="Times New Roman"/>
              </a:rPr>
              <a:t>1</a:t>
            </a:r>
            <a:r>
              <a:rPr sz="3900" spc="-15" baseline="-6410" dirty="0">
                <a:latin typeface="Symbol"/>
                <a:cs typeface="Symbol"/>
              </a:rPr>
              <a:t></a:t>
            </a:r>
            <a:r>
              <a:rPr sz="2000" b="1" spc="-10" dirty="0">
                <a:latin typeface="Calibri"/>
                <a:cs typeface="Calibri"/>
              </a:rPr>
              <a:t>t</a:t>
            </a:r>
            <a:r>
              <a:rPr sz="1800" b="1" spc="-15" baseline="-16203" dirty="0">
                <a:latin typeface="Calibri"/>
                <a:cs typeface="Calibri"/>
              </a:rPr>
              <a:t>p</a:t>
            </a:r>
            <a:endParaRPr sz="1800" baseline="-162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843" y="50003"/>
            <a:ext cx="8571865" cy="2019300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795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WHAT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IS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</a:t>
            </a:r>
            <a:r>
              <a:rPr sz="2400" b="1" spc="-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MAXIMUM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THEORETICAL</a:t>
            </a:r>
            <a:r>
              <a:rPr sz="2400" b="1" spc="-1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SPEEDUP?</a:t>
            </a:r>
            <a:endParaRPr sz="2400">
              <a:latin typeface="Arial"/>
              <a:cs typeface="Arial"/>
            </a:endParaRPr>
          </a:p>
          <a:p>
            <a:pPr marL="337185" indent="-286385">
              <a:lnSpc>
                <a:spcPts val="2510"/>
              </a:lnSpc>
              <a:spcBef>
                <a:spcPts val="1550"/>
              </a:spcBef>
              <a:buChar char="•"/>
              <a:tabLst>
                <a:tab pos="337185" algn="l"/>
              </a:tabLst>
            </a:pPr>
            <a:r>
              <a:rPr sz="2200" dirty="0">
                <a:latin typeface="Arial MT"/>
                <a:cs typeface="Arial MT"/>
              </a:rPr>
              <a:t>As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22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increases,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speedup</a:t>
            </a:r>
            <a:r>
              <a:rPr sz="2200" b="1" spc="-2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may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simply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denoted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ratio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2175" b="1" spc="-37" baseline="-21072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endParaRPr sz="2175" baseline="-21072">
              <a:latin typeface="Arial"/>
              <a:cs typeface="Arial"/>
            </a:endParaRPr>
          </a:p>
          <a:p>
            <a:pPr marL="337185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to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b="1" spc="-25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2175" b="1" spc="-37" baseline="-21072" dirty="0">
                <a:solidFill>
                  <a:srgbClr val="008011"/>
                </a:solidFill>
                <a:latin typeface="Arial"/>
                <a:cs typeface="Arial"/>
              </a:rPr>
              <a:t>p</a:t>
            </a:r>
            <a:r>
              <a:rPr sz="2200" spc="-25" dirty="0">
                <a:latin typeface="Arial MT"/>
                <a:cs typeface="Arial MT"/>
              </a:rPr>
              <a:t>:</a:t>
            </a:r>
            <a:endParaRPr sz="2200">
              <a:latin typeface="Arial MT"/>
              <a:cs typeface="Arial MT"/>
            </a:endParaRPr>
          </a:p>
          <a:p>
            <a:pPr marL="735965" marR="206375" indent="-228600">
              <a:lnSpc>
                <a:spcPts val="1939"/>
              </a:lnSpc>
              <a:spcBef>
                <a:spcPts val="700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instructions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increases,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becomes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k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1</a:t>
            </a:r>
            <a:r>
              <a:rPr sz="1800" spc="-25" dirty="0">
                <a:latin typeface="Arial MT"/>
                <a:cs typeface="Arial MT"/>
              </a:rPr>
              <a:t>,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k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approaches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;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n/(k+n-1)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approaches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1</a:t>
            </a:r>
            <a:r>
              <a:rPr sz="1800" dirty="0">
                <a:latin typeface="Arial MT"/>
                <a:cs typeface="Arial MT"/>
              </a:rPr>
              <a:t>;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speedup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91940" y="2523542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>
                <a:moveTo>
                  <a:pt x="0" y="0"/>
                </a:moveTo>
                <a:lnTo>
                  <a:pt x="205866" y="0"/>
                </a:lnTo>
              </a:path>
            </a:pathLst>
          </a:custGeom>
          <a:ln w="4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18743" y="1997336"/>
            <a:ext cx="2760980" cy="65849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Arial MT"/>
                <a:cs typeface="Arial MT"/>
              </a:rPr>
              <a:t>approaches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tn/tp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1537335">
              <a:lnSpc>
                <a:spcPct val="100000"/>
              </a:lnSpc>
              <a:spcBef>
                <a:spcPts val="210"/>
              </a:spcBef>
            </a:pPr>
            <a:r>
              <a:rPr sz="2050" b="1" dirty="0">
                <a:latin typeface="Calibri"/>
                <a:cs typeface="Calibri"/>
              </a:rPr>
              <a:t>Speedup</a:t>
            </a:r>
            <a:r>
              <a:rPr sz="2050" b="1" spc="405" dirty="0">
                <a:latin typeface="Calibri"/>
                <a:cs typeface="Calibri"/>
              </a:rPr>
              <a:t> </a:t>
            </a:r>
            <a:r>
              <a:rPr sz="2050" spc="-50" dirty="0">
                <a:latin typeface="Symbol"/>
                <a:cs typeface="Symbol"/>
              </a:rPr>
              <a:t>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3583" y="2190940"/>
            <a:ext cx="250825" cy="60515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100" marR="30480" indent="635">
              <a:lnSpc>
                <a:spcPct val="75100"/>
              </a:lnSpc>
              <a:spcBef>
                <a:spcPts val="780"/>
              </a:spcBef>
            </a:pPr>
            <a:r>
              <a:rPr sz="2150" b="1" spc="-35" dirty="0">
                <a:latin typeface="Calibri"/>
                <a:cs typeface="Calibri"/>
              </a:rPr>
              <a:t>t</a:t>
            </a:r>
            <a:r>
              <a:rPr sz="1800" b="1" spc="-52" baseline="-16203" dirty="0">
                <a:latin typeface="Calibri"/>
                <a:cs typeface="Calibri"/>
              </a:rPr>
              <a:t>n </a:t>
            </a:r>
            <a:r>
              <a:rPr sz="2150" b="1" spc="-40" dirty="0">
                <a:latin typeface="Calibri"/>
                <a:cs typeface="Calibri"/>
              </a:rPr>
              <a:t>t</a:t>
            </a:r>
            <a:r>
              <a:rPr sz="1800" b="1" spc="-60" baseline="-16203" dirty="0">
                <a:latin typeface="Calibri"/>
                <a:cs typeface="Calibri"/>
              </a:rPr>
              <a:t>p</a:t>
            </a:r>
            <a:endParaRPr sz="1800" baseline="-16203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1967" y="3517900"/>
            <a:ext cx="8440420" cy="2922905"/>
            <a:chOff x="351967" y="3517900"/>
            <a:chExt cx="8440420" cy="2922905"/>
          </a:xfrm>
        </p:grpSpPr>
        <p:sp>
          <p:nvSpPr>
            <p:cNvPr id="7" name="object 7"/>
            <p:cNvSpPr/>
            <p:nvPr/>
          </p:nvSpPr>
          <p:spPr>
            <a:xfrm>
              <a:off x="377367" y="3530650"/>
              <a:ext cx="8389620" cy="2884805"/>
            </a:xfrm>
            <a:custGeom>
              <a:avLst/>
              <a:gdLst/>
              <a:ahLst/>
              <a:cxnLst/>
              <a:rect l="l" t="t" r="r" b="b"/>
              <a:pathLst>
                <a:path w="8389620" h="2884804">
                  <a:moveTo>
                    <a:pt x="8389315" y="0"/>
                  </a:moveTo>
                  <a:lnTo>
                    <a:pt x="4194683" y="0"/>
                  </a:lnTo>
                  <a:lnTo>
                    <a:pt x="0" y="0"/>
                  </a:lnTo>
                  <a:lnTo>
                    <a:pt x="0" y="2884665"/>
                  </a:lnTo>
                  <a:lnTo>
                    <a:pt x="4194632" y="2884665"/>
                  </a:lnTo>
                  <a:lnTo>
                    <a:pt x="8389315" y="2884665"/>
                  </a:lnTo>
                  <a:lnTo>
                    <a:pt x="838931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1017" y="3524250"/>
              <a:ext cx="8402320" cy="2910205"/>
            </a:xfrm>
            <a:custGeom>
              <a:avLst/>
              <a:gdLst/>
              <a:ahLst/>
              <a:cxnLst/>
              <a:rect l="l" t="t" r="r" b="b"/>
              <a:pathLst>
                <a:path w="8402320" h="2910204">
                  <a:moveTo>
                    <a:pt x="4200982" y="0"/>
                  </a:moveTo>
                  <a:lnTo>
                    <a:pt x="4200982" y="2910116"/>
                  </a:lnTo>
                </a:path>
                <a:path w="8402320" h="2910204">
                  <a:moveTo>
                    <a:pt x="6350" y="0"/>
                  </a:moveTo>
                  <a:lnTo>
                    <a:pt x="6350" y="2910116"/>
                  </a:lnTo>
                </a:path>
                <a:path w="8402320" h="2910204">
                  <a:moveTo>
                    <a:pt x="8395665" y="0"/>
                  </a:moveTo>
                  <a:lnTo>
                    <a:pt x="8395665" y="2910116"/>
                  </a:lnTo>
                </a:path>
                <a:path w="8402320" h="2910204">
                  <a:moveTo>
                    <a:pt x="0" y="6350"/>
                  </a:moveTo>
                  <a:lnTo>
                    <a:pt x="8402015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1017" y="6415316"/>
              <a:ext cx="8402320" cy="0"/>
            </a:xfrm>
            <a:custGeom>
              <a:avLst/>
              <a:gdLst/>
              <a:ahLst/>
              <a:cxnLst/>
              <a:rect l="l" t="t" r="r" b="b"/>
              <a:pathLst>
                <a:path w="8402320">
                  <a:moveTo>
                    <a:pt x="0" y="0"/>
                  </a:moveTo>
                  <a:lnTo>
                    <a:pt x="840201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91895" y="3832986"/>
            <a:ext cx="2767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958215" algn="l"/>
                <a:tab pos="1642745" algn="l"/>
                <a:tab pos="2284730" algn="l"/>
              </a:tabLst>
            </a:pPr>
            <a:r>
              <a:rPr sz="1800" b="1" spc="-10" dirty="0">
                <a:solidFill>
                  <a:srgbClr val="DD0805"/>
                </a:solidFill>
                <a:latin typeface="Arial"/>
                <a:cs typeface="Arial"/>
              </a:rPr>
              <a:t>n=700</a:t>
            </a:r>
            <a:r>
              <a:rPr sz="1800" b="1" spc="-10" dirty="0">
                <a:latin typeface="Arial"/>
                <a:cs typeface="Arial"/>
              </a:rPr>
              <a:t>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t</a:t>
            </a:r>
            <a:r>
              <a:rPr sz="1800" b="1" spc="-30" baseline="-20833" dirty="0">
                <a:latin typeface="Arial"/>
                <a:cs typeface="Arial"/>
              </a:rPr>
              <a:t>n</a:t>
            </a:r>
            <a:r>
              <a:rPr sz="1800" b="1" spc="-20" dirty="0">
                <a:latin typeface="Arial"/>
                <a:cs typeface="Arial"/>
              </a:rPr>
              <a:t>=3,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k=3,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t</a:t>
            </a:r>
            <a:r>
              <a:rPr sz="1800" b="1" spc="-30" baseline="-20833" dirty="0">
                <a:latin typeface="Arial"/>
                <a:cs typeface="Arial"/>
              </a:rPr>
              <a:t>p</a:t>
            </a:r>
            <a:r>
              <a:rPr sz="1800" b="1" spc="-20" dirty="0">
                <a:latin typeface="Arial"/>
                <a:cs typeface="Arial"/>
              </a:rPr>
              <a:t>=1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751" y="2967354"/>
            <a:ext cx="7772400" cy="89090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29565" marR="227329" indent="-228600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2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instance,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reconsider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Scenarios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previous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lecture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slides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with </a:t>
            </a:r>
            <a:r>
              <a:rPr sz="1800" dirty="0">
                <a:latin typeface="Arial MT"/>
                <a:cs typeface="Arial MT"/>
              </a:rPr>
              <a:t>several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very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large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60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  <a:tabLst>
                <a:tab pos="4177029" algn="l"/>
              </a:tabLst>
            </a:pPr>
            <a:r>
              <a:rPr sz="1800" b="1" spc="-10" dirty="0">
                <a:latin typeface="Arial"/>
                <a:cs typeface="Arial"/>
              </a:rPr>
              <a:t>Scenario-</a:t>
            </a:r>
            <a:r>
              <a:rPr sz="1800" b="1" dirty="0">
                <a:latin typeface="Arial"/>
                <a:cs typeface="Arial"/>
              </a:rPr>
              <a:t>I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(with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large value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 </a:t>
            </a:r>
            <a:r>
              <a:rPr sz="1800" b="1" spc="-25" dirty="0">
                <a:latin typeface="Arial"/>
                <a:cs typeface="Arial"/>
              </a:rPr>
              <a:t>n)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Scenario-</a:t>
            </a:r>
            <a:r>
              <a:rPr sz="1800" b="1" dirty="0">
                <a:latin typeface="Arial"/>
                <a:cs typeface="Arial"/>
              </a:rPr>
              <a:t>II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(with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large value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0059" y="4471727"/>
            <a:ext cx="855344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83590" algn="l"/>
              </a:tabLst>
            </a:pPr>
            <a:r>
              <a:rPr sz="2600" spc="-459" dirty="0">
                <a:latin typeface="Symbol"/>
                <a:cs typeface="Symbol"/>
              </a:rPr>
              <a:t>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459" dirty="0">
                <a:latin typeface="Symbol"/>
                <a:cs typeface="Symbol"/>
              </a:rPr>
              <a:t>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77268" y="4545358"/>
            <a:ext cx="1031240" cy="0"/>
          </a:xfrm>
          <a:custGeom>
            <a:avLst/>
            <a:gdLst/>
            <a:ahLst/>
            <a:cxnLst/>
            <a:rect l="l" t="t" r="r" b="b"/>
            <a:pathLst>
              <a:path w="1031239">
                <a:moveTo>
                  <a:pt x="0" y="0"/>
                </a:moveTo>
                <a:lnTo>
                  <a:pt x="1031022" y="0"/>
                </a:lnTo>
              </a:path>
            </a:pathLst>
          </a:custGeom>
          <a:ln w="4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74577" y="4384988"/>
            <a:ext cx="1054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93310" y="4661833"/>
            <a:ext cx="1054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82089" y="4238112"/>
            <a:ext cx="32575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35" dirty="0">
                <a:latin typeface="Calibri"/>
                <a:cs typeface="Calibri"/>
              </a:rPr>
              <a:t>n</a:t>
            </a:r>
            <a:r>
              <a:rPr sz="1950" spc="35" dirty="0">
                <a:latin typeface="Symbol"/>
                <a:cs typeface="Symbol"/>
              </a:rPr>
              <a:t></a:t>
            </a:r>
            <a:r>
              <a:rPr sz="1950" spc="35" dirty="0">
                <a:latin typeface="Calibri"/>
                <a:cs typeface="Calibri"/>
              </a:rPr>
              <a:t>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34783" y="4514958"/>
            <a:ext cx="89090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spc="105" dirty="0">
                <a:latin typeface="Calibri"/>
                <a:cs typeface="Calibri"/>
              </a:rPr>
              <a:t>k</a:t>
            </a:r>
            <a:r>
              <a:rPr sz="1950" spc="105" dirty="0">
                <a:latin typeface="Symbol"/>
                <a:cs typeface="Symbol"/>
              </a:rPr>
              <a:t></a:t>
            </a:r>
            <a:r>
              <a:rPr sz="1950" spc="105" dirty="0">
                <a:latin typeface="Calibri"/>
                <a:cs typeface="Calibri"/>
              </a:rPr>
              <a:t>n</a:t>
            </a:r>
            <a:r>
              <a:rPr sz="1950" spc="105" dirty="0">
                <a:latin typeface="Symbol"/>
                <a:cs typeface="Symbol"/>
              </a:rPr>
              <a:t></a:t>
            </a:r>
            <a:r>
              <a:rPr sz="1950" spc="105" dirty="0">
                <a:latin typeface="Times New Roman"/>
                <a:cs typeface="Times New Roman"/>
              </a:rPr>
              <a:t>1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Calibri"/>
                <a:cs typeface="Calibri"/>
              </a:rPr>
              <a:t>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4131" y="4333906"/>
            <a:ext cx="171450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00" spc="-5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50491" y="5341668"/>
            <a:ext cx="1336040" cy="0"/>
          </a:xfrm>
          <a:custGeom>
            <a:avLst/>
            <a:gdLst/>
            <a:ahLst/>
            <a:cxnLst/>
            <a:rect l="l" t="t" r="r" b="b"/>
            <a:pathLst>
              <a:path w="1336039">
                <a:moveTo>
                  <a:pt x="0" y="0"/>
                </a:moveTo>
                <a:lnTo>
                  <a:pt x="1336020" y="0"/>
                </a:lnTo>
              </a:path>
            </a:pathLst>
          </a:custGeom>
          <a:ln w="42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818216" y="5034435"/>
            <a:ext cx="1426210" cy="6210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5715" algn="ctr">
              <a:lnSpc>
                <a:spcPts val="1935"/>
              </a:lnSpc>
              <a:spcBef>
                <a:spcPts val="140"/>
              </a:spcBef>
            </a:pPr>
            <a:r>
              <a:rPr sz="1950" spc="40" dirty="0">
                <a:latin typeface="Times New Roman"/>
                <a:cs typeface="Times New Roman"/>
              </a:rPr>
              <a:t>700</a:t>
            </a:r>
            <a:r>
              <a:rPr sz="1600" spc="40" dirty="0">
                <a:latin typeface="Symbol"/>
                <a:cs typeface="Symbol"/>
              </a:rPr>
              <a:t></a:t>
            </a:r>
            <a:r>
              <a:rPr sz="1950" spc="40" dirty="0">
                <a:latin typeface="Times New Roman"/>
                <a:cs typeface="Times New Roman"/>
              </a:rPr>
              <a:t>3</a:t>
            </a:r>
            <a:endParaRPr sz="1950">
              <a:latin typeface="Times New Roman"/>
              <a:cs typeface="Times New Roman"/>
            </a:endParaRPr>
          </a:p>
          <a:p>
            <a:pPr algn="ctr">
              <a:lnSpc>
                <a:spcPts val="2715"/>
              </a:lnSpc>
            </a:pPr>
            <a:r>
              <a:rPr sz="3900" spc="-82" baseline="-6410" dirty="0">
                <a:latin typeface="Symbol"/>
                <a:cs typeface="Symbol"/>
              </a:rPr>
              <a:t></a:t>
            </a:r>
            <a:r>
              <a:rPr sz="1950" spc="-55" dirty="0">
                <a:latin typeface="Times New Roman"/>
                <a:cs typeface="Times New Roman"/>
              </a:rPr>
              <a:t>3</a:t>
            </a:r>
            <a:r>
              <a:rPr sz="1950" spc="-55" dirty="0">
                <a:latin typeface="Symbol"/>
                <a:cs typeface="Symbol"/>
              </a:rPr>
              <a:t></a:t>
            </a:r>
            <a:r>
              <a:rPr sz="1950" spc="-270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700</a:t>
            </a:r>
            <a:r>
              <a:rPr sz="1950" spc="-10" dirty="0">
                <a:latin typeface="Symbol"/>
                <a:cs typeface="Symbol"/>
              </a:rPr>
              <a:t></a:t>
            </a:r>
            <a:r>
              <a:rPr sz="1950" spc="-10" dirty="0">
                <a:latin typeface="Times New Roman"/>
                <a:cs typeface="Times New Roman"/>
              </a:rPr>
              <a:t>1</a:t>
            </a:r>
            <a:r>
              <a:rPr sz="3900" spc="-15" baseline="-6410" dirty="0">
                <a:latin typeface="Symbol"/>
                <a:cs typeface="Symbol"/>
              </a:rPr>
              <a:t></a:t>
            </a:r>
            <a:r>
              <a:rPr sz="1600" spc="-10" dirty="0">
                <a:latin typeface="Symbol"/>
                <a:cs typeface="Symbol"/>
              </a:rPr>
              <a:t></a:t>
            </a:r>
            <a:r>
              <a:rPr sz="2050" spc="-10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57706" y="5130317"/>
            <a:ext cx="172085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spc="-50" dirty="0">
                <a:latin typeface="Symbol"/>
                <a:cs typeface="Symbol"/>
              </a:rPr>
              <a:t>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43970" y="6087581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>
                <a:moveTo>
                  <a:pt x="0" y="0"/>
                </a:moveTo>
                <a:lnTo>
                  <a:pt x="520207" y="0"/>
                </a:lnTo>
              </a:path>
            </a:pathLst>
          </a:custGeom>
          <a:ln w="4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02612" y="6035025"/>
            <a:ext cx="40703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Times New Roman"/>
                <a:cs typeface="Times New Roman"/>
              </a:rPr>
              <a:t>702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5520" y="5874490"/>
            <a:ext cx="16859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latin typeface="Symbol"/>
                <a:cs typeface="Symbol"/>
              </a:rPr>
              <a:t></a:t>
            </a:r>
            <a:r>
              <a:rPr sz="2100" spc="-185" dirty="0">
                <a:latin typeface="Times New Roman"/>
                <a:cs typeface="Times New Roman"/>
              </a:rPr>
              <a:t> </a:t>
            </a:r>
            <a:r>
              <a:rPr sz="3000" spc="-15" baseline="23611" dirty="0">
                <a:latin typeface="Times New Roman"/>
                <a:cs typeface="Times New Roman"/>
              </a:rPr>
              <a:t>2100</a:t>
            </a:r>
            <a:r>
              <a:rPr sz="3000" spc="-262" baseline="23611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Symbol"/>
                <a:cs typeface="Symbol"/>
              </a:rPr>
              <a:t></a:t>
            </a:r>
            <a:r>
              <a:rPr sz="2100" b="1" spc="-10" dirty="0">
                <a:latin typeface="Malgun Gothic"/>
                <a:cs typeface="Malgun Gothic"/>
              </a:rPr>
              <a:t>2.991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33789" y="4340240"/>
            <a:ext cx="838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459" dirty="0">
                <a:latin typeface="Symbol"/>
                <a:cs typeface="Symbol"/>
              </a:rPr>
              <a:t>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169792" y="4413717"/>
            <a:ext cx="1031240" cy="0"/>
          </a:xfrm>
          <a:custGeom>
            <a:avLst/>
            <a:gdLst/>
            <a:ahLst/>
            <a:cxnLst/>
            <a:rect l="l" t="t" r="r" b="b"/>
            <a:pathLst>
              <a:path w="1031240">
                <a:moveTo>
                  <a:pt x="0" y="0"/>
                </a:moveTo>
                <a:lnTo>
                  <a:pt x="1031022" y="0"/>
                </a:lnTo>
              </a:path>
            </a:pathLst>
          </a:custGeom>
          <a:ln w="4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767100" y="4253722"/>
            <a:ext cx="10541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50" dirty="0"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85834" y="4529863"/>
            <a:ext cx="10541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50" dirty="0">
                <a:latin typeface="Calibri"/>
                <a:cs typeface="Calibri"/>
              </a:rPr>
              <a:t>p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74612" y="4107219"/>
            <a:ext cx="32575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35" dirty="0">
                <a:latin typeface="Calibri"/>
                <a:cs typeface="Calibri"/>
              </a:rPr>
              <a:t>n</a:t>
            </a:r>
            <a:r>
              <a:rPr sz="1950" spc="35" dirty="0">
                <a:latin typeface="Symbol"/>
                <a:cs typeface="Symbol"/>
              </a:rPr>
              <a:t></a:t>
            </a:r>
            <a:r>
              <a:rPr sz="1950" spc="35" dirty="0">
                <a:latin typeface="Calibri"/>
                <a:cs typeface="Calibri"/>
              </a:rPr>
              <a:t>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27307" y="4383362"/>
            <a:ext cx="89090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105" dirty="0">
                <a:latin typeface="Calibri"/>
                <a:cs typeface="Calibri"/>
              </a:rPr>
              <a:t>k</a:t>
            </a:r>
            <a:r>
              <a:rPr sz="1950" spc="105" dirty="0">
                <a:latin typeface="Symbol"/>
                <a:cs typeface="Symbol"/>
              </a:rPr>
              <a:t></a:t>
            </a:r>
            <a:r>
              <a:rPr sz="1950" spc="105" dirty="0">
                <a:latin typeface="Calibri"/>
                <a:cs typeface="Calibri"/>
              </a:rPr>
              <a:t>n</a:t>
            </a:r>
            <a:r>
              <a:rPr sz="1950" spc="105" dirty="0">
                <a:latin typeface="Symbol"/>
                <a:cs typeface="Symbol"/>
              </a:rPr>
              <a:t></a:t>
            </a:r>
            <a:r>
              <a:rPr sz="1950" spc="105" dirty="0">
                <a:latin typeface="Times New Roman"/>
                <a:cs typeface="Times New Roman"/>
              </a:rPr>
              <a:t>1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spc="-50" dirty="0">
                <a:latin typeface="Calibri"/>
                <a:cs typeface="Calibri"/>
              </a:rPr>
              <a:t>t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74436" y="3812199"/>
            <a:ext cx="2780030" cy="74739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60"/>
              </a:spcBef>
              <a:tabLst>
                <a:tab pos="970915" algn="l"/>
                <a:tab pos="1656080" algn="l"/>
                <a:tab pos="2297430" algn="l"/>
              </a:tabLst>
            </a:pPr>
            <a:r>
              <a:rPr sz="1800" b="1" spc="-10" dirty="0">
                <a:solidFill>
                  <a:srgbClr val="DD0805"/>
                </a:solidFill>
                <a:latin typeface="Arial"/>
                <a:cs typeface="Arial"/>
              </a:rPr>
              <a:t>n=700</a:t>
            </a:r>
            <a:r>
              <a:rPr sz="1800" b="1" spc="-10" dirty="0">
                <a:latin typeface="Arial"/>
                <a:cs typeface="Arial"/>
              </a:rPr>
              <a:t>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t</a:t>
            </a:r>
            <a:r>
              <a:rPr sz="1800" b="1" spc="-30" baseline="-20833" dirty="0">
                <a:latin typeface="Arial"/>
                <a:cs typeface="Arial"/>
              </a:rPr>
              <a:t>n</a:t>
            </a:r>
            <a:r>
              <a:rPr sz="1800" b="1" spc="-20" dirty="0">
                <a:latin typeface="Arial"/>
                <a:cs typeface="Arial"/>
              </a:rPr>
              <a:t>=9,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k=3,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0" dirty="0">
                <a:latin typeface="Arial"/>
                <a:cs typeface="Arial"/>
              </a:rPr>
              <a:t>t</a:t>
            </a:r>
            <a:r>
              <a:rPr sz="1800" b="1" spc="-30" baseline="-20833" dirty="0">
                <a:latin typeface="Arial"/>
                <a:cs typeface="Arial"/>
              </a:rPr>
              <a:t>p</a:t>
            </a:r>
            <a:r>
              <a:rPr sz="1800" b="1" spc="-20" dirty="0">
                <a:latin typeface="Arial"/>
                <a:cs typeface="Arial"/>
              </a:rPr>
              <a:t>=3</a:t>
            </a:r>
            <a:endParaRPr sz="1800">
              <a:latin typeface="Arial"/>
              <a:cs typeface="Arial"/>
            </a:endParaRPr>
          </a:p>
          <a:p>
            <a:pPr marL="714375">
              <a:lnSpc>
                <a:spcPct val="100000"/>
              </a:lnSpc>
              <a:spcBef>
                <a:spcPts val="240"/>
              </a:spcBef>
            </a:pPr>
            <a:r>
              <a:rPr sz="2050" dirty="0">
                <a:latin typeface="Symbol"/>
                <a:cs typeface="Symbol"/>
              </a:rPr>
              <a:t></a:t>
            </a:r>
            <a:r>
              <a:rPr sz="2050" spc="-180" dirty="0">
                <a:latin typeface="Times New Roman"/>
                <a:cs typeface="Times New Roman"/>
              </a:rPr>
              <a:t> </a:t>
            </a:r>
            <a:r>
              <a:rPr sz="3900" spc="-690" baseline="-34188" dirty="0">
                <a:latin typeface="Symbol"/>
                <a:cs typeface="Symbol"/>
              </a:rPr>
              <a:t></a:t>
            </a:r>
            <a:endParaRPr sz="3900" baseline="-34188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50548" y="5105867"/>
            <a:ext cx="83820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00" spc="-459" dirty="0">
                <a:latin typeface="Symbol"/>
                <a:cs typeface="Symbol"/>
              </a:rPr>
              <a:t>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17259" y="5179211"/>
            <a:ext cx="1369060" cy="0"/>
          </a:xfrm>
          <a:custGeom>
            <a:avLst/>
            <a:gdLst/>
            <a:ahLst/>
            <a:cxnLst/>
            <a:rect l="l" t="t" r="r" b="b"/>
            <a:pathLst>
              <a:path w="1369059">
                <a:moveTo>
                  <a:pt x="0" y="0"/>
                </a:moveTo>
                <a:lnTo>
                  <a:pt x="1368534" y="0"/>
                </a:lnTo>
              </a:path>
            </a:pathLst>
          </a:custGeom>
          <a:ln w="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369330" y="4871255"/>
            <a:ext cx="66802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/>
                <a:cs typeface="Times New Roman"/>
              </a:rPr>
              <a:t>700</a:t>
            </a:r>
            <a:r>
              <a:rPr sz="1600" spc="-10" dirty="0">
                <a:latin typeface="Symbol"/>
                <a:cs typeface="Symbol"/>
              </a:rPr>
              <a:t></a:t>
            </a:r>
            <a:r>
              <a:rPr sz="2000" spc="-10" dirty="0">
                <a:latin typeface="Times New Roman"/>
                <a:cs typeface="Times New Roman"/>
              </a:rPr>
              <a:t>9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82595" y="5135982"/>
            <a:ext cx="1323340" cy="3448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Symbol"/>
                <a:cs typeface="Symbol"/>
              </a:rPr>
              <a:t></a:t>
            </a:r>
            <a:r>
              <a:rPr sz="2000" spc="-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700</a:t>
            </a:r>
            <a:r>
              <a:rPr sz="2000" dirty="0">
                <a:latin typeface="Symbol"/>
                <a:cs typeface="Symbol"/>
              </a:rPr>
              <a:t>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Symbol"/>
                <a:cs typeface="Symbol"/>
              </a:rPr>
              <a:t></a:t>
            </a:r>
            <a:r>
              <a:rPr sz="2100" spc="-25" dirty="0"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98904" y="4901758"/>
            <a:ext cx="320675" cy="423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dirty="0">
                <a:latin typeface="Symbol"/>
                <a:cs typeface="Symbol"/>
              </a:rPr>
              <a:t></a:t>
            </a:r>
            <a:r>
              <a:rPr sz="2100" spc="-215" dirty="0">
                <a:latin typeface="Times New Roman"/>
                <a:cs typeface="Times New Roman"/>
              </a:rPr>
              <a:t> </a:t>
            </a:r>
            <a:r>
              <a:rPr sz="3900" spc="-690" baseline="-34188" dirty="0">
                <a:latin typeface="Symbol"/>
                <a:cs typeface="Symbol"/>
              </a:rPr>
              <a:t></a:t>
            </a:r>
            <a:endParaRPr sz="3900" baseline="-34188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369472" y="5968708"/>
            <a:ext cx="520065" cy="0"/>
          </a:xfrm>
          <a:custGeom>
            <a:avLst/>
            <a:gdLst/>
            <a:ahLst/>
            <a:cxnLst/>
            <a:rect l="l" t="t" r="r" b="b"/>
            <a:pathLst>
              <a:path w="520064">
                <a:moveTo>
                  <a:pt x="0" y="0"/>
                </a:moveTo>
                <a:lnTo>
                  <a:pt x="519706" y="0"/>
                </a:lnTo>
              </a:path>
            </a:pathLst>
          </a:custGeom>
          <a:ln w="4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366549" y="5916152"/>
            <a:ext cx="5334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Times New Roman"/>
                <a:cs typeface="Times New Roman"/>
              </a:rPr>
              <a:t>2106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51196" y="5755618"/>
            <a:ext cx="168402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latin typeface="Symbol"/>
                <a:cs typeface="Symbol"/>
              </a:rPr>
              <a:t></a:t>
            </a:r>
            <a:r>
              <a:rPr sz="2100" spc="-204" dirty="0">
                <a:latin typeface="Times New Roman"/>
                <a:cs typeface="Times New Roman"/>
              </a:rPr>
              <a:t> </a:t>
            </a:r>
            <a:r>
              <a:rPr sz="3000" spc="-15" baseline="23611" dirty="0">
                <a:latin typeface="Times New Roman"/>
                <a:cs typeface="Times New Roman"/>
              </a:rPr>
              <a:t>6300</a:t>
            </a:r>
            <a:r>
              <a:rPr sz="3000" spc="-254" baseline="23611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Symbol"/>
                <a:cs typeface="Symbol"/>
              </a:rPr>
              <a:t></a:t>
            </a:r>
            <a:r>
              <a:rPr sz="2100" b="1" spc="-10" dirty="0">
                <a:latin typeface="Malgun Gothic"/>
                <a:cs typeface="Malgun Gothic"/>
              </a:rPr>
              <a:t>2.991</a:t>
            </a:r>
            <a:endParaRPr sz="2100">
              <a:latin typeface="Malgun Gothic"/>
              <a:cs typeface="Malgun Gothic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717292" y="5766815"/>
            <a:ext cx="1562100" cy="635635"/>
            <a:chOff x="2717292" y="5766815"/>
            <a:chExt cx="1562100" cy="635635"/>
          </a:xfrm>
        </p:grpSpPr>
        <p:sp>
          <p:nvSpPr>
            <p:cNvPr id="41" name="object 41"/>
            <p:cNvSpPr/>
            <p:nvPr/>
          </p:nvSpPr>
          <p:spPr>
            <a:xfrm>
              <a:off x="2717292" y="5766815"/>
              <a:ext cx="1562100" cy="635635"/>
            </a:xfrm>
            <a:custGeom>
              <a:avLst/>
              <a:gdLst/>
              <a:ahLst/>
              <a:cxnLst/>
              <a:rect l="l" t="t" r="r" b="b"/>
              <a:pathLst>
                <a:path w="1562100" h="635635">
                  <a:moveTo>
                    <a:pt x="1562100" y="0"/>
                  </a:moveTo>
                  <a:lnTo>
                    <a:pt x="0" y="0"/>
                  </a:lnTo>
                  <a:lnTo>
                    <a:pt x="0" y="635508"/>
                  </a:lnTo>
                  <a:lnTo>
                    <a:pt x="1562100" y="635508"/>
                  </a:lnTo>
                  <a:lnTo>
                    <a:pt x="1562100" y="0"/>
                  </a:lnTo>
                  <a:close/>
                </a:path>
              </a:pathLst>
            </a:custGeom>
            <a:solidFill>
              <a:srgbClr val="DD08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09321" y="6081049"/>
              <a:ext cx="733425" cy="0"/>
            </a:xfrm>
            <a:custGeom>
              <a:avLst/>
              <a:gdLst/>
              <a:ahLst/>
              <a:cxnLst/>
              <a:rect l="l" t="t" r="r" b="b"/>
              <a:pathLst>
                <a:path w="733425">
                  <a:moveTo>
                    <a:pt x="0" y="0"/>
                  </a:moveTo>
                  <a:lnTo>
                    <a:pt x="205402" y="0"/>
                  </a:lnTo>
                </a:path>
                <a:path w="733425">
                  <a:moveTo>
                    <a:pt x="605184" y="0"/>
                  </a:moveTo>
                  <a:lnTo>
                    <a:pt x="732833" y="0"/>
                  </a:lnTo>
                </a:path>
              </a:pathLst>
            </a:custGeom>
            <a:ln w="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305483" y="5869123"/>
            <a:ext cx="995680" cy="568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2145"/>
              </a:lnSpc>
              <a:spcBef>
                <a:spcPts val="90"/>
              </a:spcBef>
            </a:pPr>
            <a:r>
              <a:rPr sz="2100" dirty="0">
                <a:latin typeface="Symbol"/>
                <a:cs typeface="Symbol"/>
              </a:rPr>
              <a:t></a:t>
            </a:r>
            <a:r>
              <a:rPr sz="2100" spc="455" dirty="0">
                <a:latin typeface="Times New Roman"/>
                <a:cs typeface="Times New Roman"/>
              </a:rPr>
              <a:t> </a:t>
            </a:r>
            <a:r>
              <a:rPr sz="3150" baseline="29100" dirty="0">
                <a:latin typeface="Times New Roman"/>
                <a:cs typeface="Times New Roman"/>
              </a:rPr>
              <a:t>3</a:t>
            </a:r>
            <a:r>
              <a:rPr sz="3150" spc="637" baseline="29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355" dirty="0">
                <a:latin typeface="Times New Roman"/>
                <a:cs typeface="Times New Roman"/>
              </a:rPr>
              <a:t> </a:t>
            </a:r>
            <a:r>
              <a:rPr sz="2100" spc="-60" dirty="0"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  <a:p>
            <a:pPr marL="305435">
              <a:lnSpc>
                <a:spcPts val="2145"/>
              </a:lnSpc>
            </a:pPr>
            <a:r>
              <a:rPr sz="2100" spc="-50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00619" y="5747807"/>
            <a:ext cx="53086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18770" algn="l"/>
              </a:tabLst>
            </a:pPr>
            <a:r>
              <a:rPr sz="3150" spc="-75" baseline="-22486" dirty="0">
                <a:latin typeface="Symbol"/>
                <a:cs typeface="Symbol"/>
              </a:rPr>
              <a:t></a:t>
            </a:r>
            <a:r>
              <a:rPr sz="3150" baseline="-22486" dirty="0">
                <a:latin typeface="Times New Roman"/>
                <a:cs typeface="Times New Roman"/>
              </a:rPr>
              <a:t>	</a:t>
            </a:r>
            <a:r>
              <a:rPr sz="2200" b="1" spc="-25" dirty="0">
                <a:latin typeface="Calibri"/>
                <a:cs typeface="Calibri"/>
              </a:rPr>
              <a:t>t</a:t>
            </a:r>
            <a:r>
              <a:rPr sz="1800" b="1" spc="-37" baseline="-16203" dirty="0">
                <a:latin typeface="Calibri"/>
                <a:cs typeface="Calibri"/>
              </a:rPr>
              <a:t>n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80714" y="5994494"/>
            <a:ext cx="249554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200" b="1" spc="-25" dirty="0">
                <a:latin typeface="Calibri"/>
                <a:cs typeface="Calibri"/>
              </a:rPr>
              <a:t>t</a:t>
            </a:r>
            <a:r>
              <a:rPr sz="1800" b="1" spc="-37" baseline="-16203" dirty="0">
                <a:latin typeface="Calibri"/>
                <a:cs typeface="Calibri"/>
              </a:rPr>
              <a:t>p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28744" y="2257044"/>
            <a:ext cx="634365" cy="546100"/>
          </a:xfrm>
          <a:prstGeom prst="rect">
            <a:avLst/>
          </a:prstGeom>
          <a:solidFill>
            <a:srgbClr val="DD0805"/>
          </a:solidFill>
        </p:spPr>
        <p:txBody>
          <a:bodyPr vert="horz" wrap="square" lIns="0" tIns="8064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635"/>
              </a:spcBef>
              <a:tabLst>
                <a:tab pos="367665" algn="l"/>
              </a:tabLst>
            </a:pPr>
            <a:r>
              <a:rPr sz="1950" spc="-50" dirty="0">
                <a:latin typeface="Symbol"/>
                <a:cs typeface="Symbol"/>
              </a:rPr>
              <a:t>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b="1" spc="-50" dirty="0">
                <a:latin typeface="Calibri"/>
                <a:cs typeface="Calibri"/>
              </a:rPr>
              <a:t>k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77916" y="2350973"/>
            <a:ext cx="13874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82600" algn="l"/>
              </a:tabLst>
            </a:pPr>
            <a:r>
              <a:rPr sz="1800" spc="-25" dirty="0">
                <a:latin typeface="Arial MT"/>
                <a:cs typeface="Arial MT"/>
              </a:rPr>
              <a:t>(as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1800" b="1" dirty="0">
                <a:latin typeface="Arial"/>
                <a:cs typeface="Arial"/>
              </a:rPr>
              <a:t>t</a:t>
            </a:r>
            <a:r>
              <a:rPr sz="1800" b="1" baseline="-20833" dirty="0">
                <a:latin typeface="Arial"/>
                <a:cs typeface="Arial"/>
              </a:rPr>
              <a:t>n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k.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t</a:t>
            </a:r>
            <a:r>
              <a:rPr sz="1800" b="1" spc="-37" baseline="-20833" dirty="0">
                <a:latin typeface="Arial"/>
                <a:cs typeface="Arial"/>
              </a:rPr>
              <a:t>p</a:t>
            </a:r>
            <a:r>
              <a:rPr sz="1800" spc="-25" dirty="0"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940295" y="5678423"/>
            <a:ext cx="1562100" cy="635635"/>
            <a:chOff x="6940295" y="5678423"/>
            <a:chExt cx="1562100" cy="635635"/>
          </a:xfrm>
        </p:grpSpPr>
        <p:sp>
          <p:nvSpPr>
            <p:cNvPr id="49" name="object 49"/>
            <p:cNvSpPr/>
            <p:nvPr/>
          </p:nvSpPr>
          <p:spPr>
            <a:xfrm>
              <a:off x="6940295" y="5678423"/>
              <a:ext cx="1562100" cy="635635"/>
            </a:xfrm>
            <a:custGeom>
              <a:avLst/>
              <a:gdLst/>
              <a:ahLst/>
              <a:cxnLst/>
              <a:rect l="l" t="t" r="r" b="b"/>
              <a:pathLst>
                <a:path w="1562100" h="635635">
                  <a:moveTo>
                    <a:pt x="1562100" y="0"/>
                  </a:moveTo>
                  <a:lnTo>
                    <a:pt x="0" y="0"/>
                  </a:lnTo>
                  <a:lnTo>
                    <a:pt x="0" y="635507"/>
                  </a:lnTo>
                  <a:lnTo>
                    <a:pt x="1562100" y="635507"/>
                  </a:lnTo>
                  <a:lnTo>
                    <a:pt x="1562100" y="0"/>
                  </a:lnTo>
                  <a:close/>
                </a:path>
              </a:pathLst>
            </a:custGeom>
            <a:solidFill>
              <a:srgbClr val="DD08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232325" y="5992657"/>
              <a:ext cx="741680" cy="0"/>
            </a:xfrm>
            <a:custGeom>
              <a:avLst/>
              <a:gdLst/>
              <a:ahLst/>
              <a:cxnLst/>
              <a:rect l="l" t="t" r="r" b="b"/>
              <a:pathLst>
                <a:path w="741679">
                  <a:moveTo>
                    <a:pt x="0" y="0"/>
                  </a:moveTo>
                  <a:lnTo>
                    <a:pt x="205402" y="0"/>
                  </a:lnTo>
                </a:path>
                <a:path w="741679">
                  <a:moveTo>
                    <a:pt x="605184" y="0"/>
                  </a:moveTo>
                  <a:lnTo>
                    <a:pt x="741098" y="0"/>
                  </a:lnTo>
                </a:path>
              </a:pathLst>
            </a:custGeom>
            <a:ln w="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541187" y="5780731"/>
            <a:ext cx="991869" cy="5689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ts val="2145"/>
              </a:lnSpc>
              <a:spcBef>
                <a:spcPts val="90"/>
              </a:spcBef>
              <a:tabLst>
                <a:tab pos="560705" algn="l"/>
              </a:tabLst>
            </a:pPr>
            <a:r>
              <a:rPr sz="2100" dirty="0">
                <a:latin typeface="Symbol"/>
                <a:cs typeface="Symbol"/>
              </a:rPr>
              <a:t></a:t>
            </a:r>
            <a:r>
              <a:rPr sz="2100" spc="465" dirty="0">
                <a:latin typeface="Times New Roman"/>
                <a:cs typeface="Times New Roman"/>
              </a:rPr>
              <a:t> </a:t>
            </a:r>
            <a:r>
              <a:rPr sz="3150" spc="-89" baseline="29100" dirty="0">
                <a:latin typeface="Times New Roman"/>
                <a:cs typeface="Times New Roman"/>
              </a:rPr>
              <a:t>9</a:t>
            </a:r>
            <a:r>
              <a:rPr sz="3150" baseline="29100" dirty="0">
                <a:latin typeface="Times New Roman"/>
                <a:cs typeface="Times New Roman"/>
              </a:rPr>
              <a:t>	</a:t>
            </a:r>
            <a:r>
              <a:rPr sz="2100" dirty="0">
                <a:latin typeface="Symbol"/>
                <a:cs typeface="Symbol"/>
              </a:rPr>
              <a:t></a:t>
            </a:r>
            <a:r>
              <a:rPr sz="2100" spc="36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  <a:p>
            <a:pPr marL="301625">
              <a:lnSpc>
                <a:spcPts val="2145"/>
              </a:lnSpc>
            </a:pPr>
            <a:r>
              <a:rPr sz="2100" spc="-50" dirty="0">
                <a:latin typeface="Times New Roman"/>
                <a:cs typeface="Times New Roman"/>
              </a:rPr>
              <a:t>3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16</a:t>
            </a:fld>
            <a:endParaRPr spc="-25" dirty="0"/>
          </a:p>
        </p:txBody>
      </p:sp>
      <p:sp>
        <p:nvSpPr>
          <p:cNvPr id="52" name="object 52"/>
          <p:cNvSpPr txBox="1"/>
          <p:nvPr/>
        </p:nvSpPr>
        <p:spPr>
          <a:xfrm>
            <a:off x="6936323" y="5659415"/>
            <a:ext cx="518159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306070" algn="l"/>
              </a:tabLst>
            </a:pPr>
            <a:r>
              <a:rPr sz="3150" spc="-75" baseline="-22486" dirty="0">
                <a:latin typeface="Symbol"/>
                <a:cs typeface="Symbol"/>
              </a:rPr>
              <a:t></a:t>
            </a:r>
            <a:r>
              <a:rPr sz="3150" baseline="-22486" dirty="0">
                <a:latin typeface="Times New Roman"/>
                <a:cs typeface="Times New Roman"/>
              </a:rPr>
              <a:t>	</a:t>
            </a:r>
            <a:r>
              <a:rPr sz="2200" b="1" spc="-25" dirty="0">
                <a:latin typeface="Calibri"/>
                <a:cs typeface="Calibri"/>
              </a:rPr>
              <a:t>t</a:t>
            </a:r>
            <a:r>
              <a:rPr sz="1800" b="1" spc="-37" baseline="-16203" dirty="0">
                <a:latin typeface="Calibri"/>
                <a:cs typeface="Calibri"/>
              </a:rPr>
              <a:t>n</a:t>
            </a:r>
            <a:endParaRPr sz="1800" baseline="-16203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216418" y="5906103"/>
            <a:ext cx="236854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2200" b="1" spc="-25" dirty="0">
                <a:latin typeface="Calibri"/>
                <a:cs typeface="Calibri"/>
              </a:rPr>
              <a:t>t</a:t>
            </a:r>
            <a:r>
              <a:rPr sz="1800" b="1" spc="-37" baseline="-16203" dirty="0">
                <a:latin typeface="Calibri"/>
                <a:cs typeface="Calibri"/>
              </a:rPr>
              <a:t>p</a:t>
            </a:r>
            <a:endParaRPr sz="1800" baseline="-16203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MAXIMUM</a:t>
            </a:r>
            <a:r>
              <a:rPr spc="-20" dirty="0"/>
              <a:t> </a:t>
            </a:r>
            <a:r>
              <a:rPr dirty="0"/>
              <a:t>THEORETICAL</a:t>
            </a:r>
            <a:r>
              <a:rPr spc="-15" dirty="0"/>
              <a:t> </a:t>
            </a:r>
            <a:r>
              <a:rPr spc="-10" dirty="0"/>
              <a:t>SPEEDUP?</a:t>
            </a:r>
          </a:p>
        </p:txBody>
      </p:sp>
      <p:sp>
        <p:nvSpPr>
          <p:cNvPr id="3" name="object 3"/>
          <p:cNvSpPr/>
          <p:nvPr/>
        </p:nvSpPr>
        <p:spPr>
          <a:xfrm>
            <a:off x="1977268" y="4545358"/>
            <a:ext cx="1031240" cy="0"/>
          </a:xfrm>
          <a:custGeom>
            <a:avLst/>
            <a:gdLst/>
            <a:ahLst/>
            <a:cxnLst/>
            <a:rect l="l" t="t" r="r" b="b"/>
            <a:pathLst>
              <a:path w="1031239">
                <a:moveTo>
                  <a:pt x="0" y="0"/>
                </a:moveTo>
                <a:lnTo>
                  <a:pt x="1031022" y="0"/>
                </a:lnTo>
              </a:path>
            </a:pathLst>
          </a:custGeom>
          <a:ln w="42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60152" y="5341668"/>
            <a:ext cx="1717039" cy="0"/>
          </a:xfrm>
          <a:custGeom>
            <a:avLst/>
            <a:gdLst/>
            <a:ahLst/>
            <a:cxnLst/>
            <a:rect l="l" t="t" r="r" b="b"/>
            <a:pathLst>
              <a:path w="1717039">
                <a:moveTo>
                  <a:pt x="0" y="0"/>
                </a:moveTo>
                <a:lnTo>
                  <a:pt x="1716807" y="0"/>
                </a:lnTo>
              </a:path>
            </a:pathLst>
          </a:custGeom>
          <a:ln w="42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1965" y="6130252"/>
            <a:ext cx="901065" cy="0"/>
          </a:xfrm>
          <a:custGeom>
            <a:avLst/>
            <a:gdLst/>
            <a:ahLst/>
            <a:cxnLst/>
            <a:rect l="l" t="t" r="r" b="b"/>
            <a:pathLst>
              <a:path w="901065">
                <a:moveTo>
                  <a:pt x="0" y="0"/>
                </a:moveTo>
                <a:lnTo>
                  <a:pt x="900784" y="0"/>
                </a:lnTo>
              </a:path>
            </a:pathLst>
          </a:custGeom>
          <a:ln w="4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69792" y="4413717"/>
            <a:ext cx="1031240" cy="0"/>
          </a:xfrm>
          <a:custGeom>
            <a:avLst/>
            <a:gdLst/>
            <a:ahLst/>
            <a:cxnLst/>
            <a:rect l="l" t="t" r="r" b="b"/>
            <a:pathLst>
              <a:path w="1031240">
                <a:moveTo>
                  <a:pt x="0" y="0"/>
                </a:moveTo>
                <a:lnTo>
                  <a:pt x="1031022" y="0"/>
                </a:lnTo>
              </a:path>
            </a:pathLst>
          </a:custGeom>
          <a:ln w="42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26630" y="5179211"/>
            <a:ext cx="1749425" cy="0"/>
          </a:xfrm>
          <a:custGeom>
            <a:avLst/>
            <a:gdLst/>
            <a:ahLst/>
            <a:cxnLst/>
            <a:rect l="l" t="t" r="r" b="b"/>
            <a:pathLst>
              <a:path w="1749425">
                <a:moveTo>
                  <a:pt x="0" y="0"/>
                </a:moveTo>
                <a:lnTo>
                  <a:pt x="1749330" y="0"/>
                </a:lnTo>
              </a:path>
            </a:pathLst>
          </a:custGeom>
          <a:ln w="42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77289" y="5968708"/>
            <a:ext cx="901700" cy="0"/>
          </a:xfrm>
          <a:custGeom>
            <a:avLst/>
            <a:gdLst/>
            <a:ahLst/>
            <a:cxnLst/>
            <a:rect l="l" t="t" r="r" b="b"/>
            <a:pathLst>
              <a:path w="901700">
                <a:moveTo>
                  <a:pt x="0" y="0"/>
                </a:moveTo>
                <a:lnTo>
                  <a:pt x="901356" y="0"/>
                </a:lnTo>
              </a:path>
            </a:pathLst>
          </a:custGeom>
          <a:ln w="4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77367" y="3530637"/>
            <a:ext cx="8389620" cy="2884805"/>
            <a:chOff x="377367" y="3530637"/>
            <a:chExt cx="8389620" cy="2884805"/>
          </a:xfrm>
        </p:grpSpPr>
        <p:sp>
          <p:nvSpPr>
            <p:cNvPr id="10" name="object 10"/>
            <p:cNvSpPr/>
            <p:nvPr/>
          </p:nvSpPr>
          <p:spPr>
            <a:xfrm>
              <a:off x="377367" y="3530650"/>
              <a:ext cx="8389620" cy="2884805"/>
            </a:xfrm>
            <a:custGeom>
              <a:avLst/>
              <a:gdLst/>
              <a:ahLst/>
              <a:cxnLst/>
              <a:rect l="l" t="t" r="r" b="b"/>
              <a:pathLst>
                <a:path w="8389620" h="2884804">
                  <a:moveTo>
                    <a:pt x="8389315" y="0"/>
                  </a:moveTo>
                  <a:lnTo>
                    <a:pt x="4194683" y="0"/>
                  </a:lnTo>
                  <a:lnTo>
                    <a:pt x="0" y="0"/>
                  </a:lnTo>
                  <a:lnTo>
                    <a:pt x="0" y="2884665"/>
                  </a:lnTo>
                  <a:lnTo>
                    <a:pt x="4194632" y="2884665"/>
                  </a:lnTo>
                  <a:lnTo>
                    <a:pt x="8389315" y="2884665"/>
                  </a:lnTo>
                  <a:lnTo>
                    <a:pt x="8389315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21508" y="5766815"/>
              <a:ext cx="1562100" cy="635635"/>
            </a:xfrm>
            <a:custGeom>
              <a:avLst/>
              <a:gdLst/>
              <a:ahLst/>
              <a:cxnLst/>
              <a:rect l="l" t="t" r="r" b="b"/>
              <a:pathLst>
                <a:path w="1562100" h="635635">
                  <a:moveTo>
                    <a:pt x="1562099" y="0"/>
                  </a:moveTo>
                  <a:lnTo>
                    <a:pt x="0" y="0"/>
                  </a:lnTo>
                  <a:lnTo>
                    <a:pt x="0" y="635508"/>
                  </a:lnTo>
                  <a:lnTo>
                    <a:pt x="1562099" y="635508"/>
                  </a:lnTo>
                  <a:lnTo>
                    <a:pt x="1562099" y="0"/>
                  </a:lnTo>
                  <a:close/>
                </a:path>
              </a:pathLst>
            </a:custGeom>
            <a:solidFill>
              <a:srgbClr val="DD08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13537" y="6081049"/>
              <a:ext cx="733425" cy="0"/>
            </a:xfrm>
            <a:custGeom>
              <a:avLst/>
              <a:gdLst/>
              <a:ahLst/>
              <a:cxnLst/>
              <a:rect l="l" t="t" r="r" b="b"/>
              <a:pathLst>
                <a:path w="733425">
                  <a:moveTo>
                    <a:pt x="0" y="0"/>
                  </a:moveTo>
                  <a:lnTo>
                    <a:pt x="205402" y="0"/>
                  </a:lnTo>
                </a:path>
                <a:path w="733425">
                  <a:moveTo>
                    <a:pt x="605184" y="0"/>
                  </a:moveTo>
                  <a:lnTo>
                    <a:pt x="732833" y="0"/>
                  </a:lnTo>
                </a:path>
              </a:pathLst>
            </a:custGeom>
            <a:ln w="42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44512" y="5695187"/>
              <a:ext cx="1562100" cy="634365"/>
            </a:xfrm>
            <a:custGeom>
              <a:avLst/>
              <a:gdLst/>
              <a:ahLst/>
              <a:cxnLst/>
              <a:rect l="l" t="t" r="r" b="b"/>
              <a:pathLst>
                <a:path w="1562100" h="634364">
                  <a:moveTo>
                    <a:pt x="1562100" y="0"/>
                  </a:moveTo>
                  <a:lnTo>
                    <a:pt x="0" y="0"/>
                  </a:lnTo>
                  <a:lnTo>
                    <a:pt x="0" y="633984"/>
                  </a:lnTo>
                  <a:lnTo>
                    <a:pt x="1562100" y="633984"/>
                  </a:lnTo>
                  <a:lnTo>
                    <a:pt x="1562100" y="0"/>
                  </a:lnTo>
                  <a:close/>
                </a:path>
              </a:pathLst>
            </a:custGeom>
            <a:solidFill>
              <a:srgbClr val="DD08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0143" y="2877693"/>
            <a:ext cx="774319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5080" indent="-22860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instance,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reconsider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Scenarios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previous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lecture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slides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several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large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b="1" spc="-50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191829"/>
              </p:ext>
            </p:extLst>
          </p:nvPr>
        </p:nvGraphicFramePr>
        <p:xfrm>
          <a:off x="371017" y="3583813"/>
          <a:ext cx="8390890" cy="2893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0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5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4170">
                <a:tc>
                  <a:txBody>
                    <a:bodyPr/>
                    <a:lstStyle/>
                    <a:p>
                      <a:pPr marL="8699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Scenario-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(with</a:t>
                      </a:r>
                      <a:r>
                        <a:rPr sz="1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large value</a:t>
                      </a:r>
                      <a:r>
                        <a:rPr sz="1800" b="1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n)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88265" algn="ctr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1440815" algn="l"/>
                          <a:tab pos="2124710" algn="l"/>
                          <a:tab pos="2766695" algn="l"/>
                        </a:tabLst>
                      </a:pPr>
                      <a:r>
                        <a:rPr sz="1800" b="1" spc="-10" dirty="0">
                          <a:solidFill>
                            <a:srgbClr val="DD0805"/>
                          </a:solidFill>
                          <a:latin typeface="Arial"/>
                          <a:cs typeface="Arial"/>
                        </a:rPr>
                        <a:t>n=700,000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="1" spc="-15" baseline="-20833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=3,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k=3,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="1" spc="-30" baseline="-20833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=1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R="243840" algn="ctr">
                        <a:lnSpc>
                          <a:spcPts val="2975"/>
                        </a:lnSpc>
                        <a:spcBef>
                          <a:spcPts val="420"/>
                        </a:spcBef>
                        <a:tabLst>
                          <a:tab pos="497840" algn="l"/>
                        </a:tabLst>
                      </a:pPr>
                      <a:r>
                        <a:rPr sz="3150" spc="-30" baseline="-22486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150" spc="-307" baseline="-2248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690" baseline="-52350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3900" baseline="-523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950" dirty="0">
                          <a:latin typeface="Symbol"/>
                          <a:cs typeface="Symbol"/>
                        </a:rPr>
                        <a:t></a:t>
                      </a:r>
                      <a:r>
                        <a:rPr sz="195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202" baseline="-16203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3900" spc="-690" baseline="-52350" dirty="0">
                          <a:latin typeface="Symbol"/>
                          <a:cs typeface="Symbol"/>
                        </a:rPr>
                        <a:t></a:t>
                      </a:r>
                      <a:endParaRPr sz="3900" baseline="-52350">
                        <a:latin typeface="Symbol"/>
                        <a:cs typeface="Symbol"/>
                      </a:endParaRPr>
                    </a:p>
                    <a:p>
                      <a:pPr marL="172085" algn="ctr">
                        <a:lnSpc>
                          <a:spcPts val="2195"/>
                        </a:lnSpc>
                      </a:pPr>
                      <a:r>
                        <a:rPr sz="1950" spc="10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950" spc="105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1950" spc="10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950" spc="10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1950" spc="10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9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37" baseline="-16203" dirty="0">
                          <a:latin typeface="Calibri"/>
                          <a:cs typeface="Calibri"/>
                        </a:rPr>
                        <a:t>p</a:t>
                      </a:r>
                      <a:endParaRPr sz="1800" baseline="-16203">
                        <a:latin typeface="Calibri"/>
                        <a:cs typeface="Calibri"/>
                      </a:endParaRPr>
                    </a:p>
                    <a:p>
                      <a:pPr marR="227329" algn="ctr">
                        <a:lnSpc>
                          <a:spcPts val="2925"/>
                        </a:lnSpc>
                        <a:spcBef>
                          <a:spcPts val="1100"/>
                        </a:spcBef>
                        <a:tabLst>
                          <a:tab pos="532130" algn="l"/>
                        </a:tabLst>
                      </a:pPr>
                      <a:r>
                        <a:rPr sz="3075" baseline="-23035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75" spc="-277" baseline="-230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705" baseline="-52350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3900" baseline="-523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700000</a:t>
                      </a:r>
                      <a:r>
                        <a:rPr sz="1600" dirty="0">
                          <a:latin typeface="Symbol"/>
                          <a:cs typeface="Symbol"/>
                        </a:rPr>
                        <a:t>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95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690" baseline="-52350" dirty="0">
                          <a:latin typeface="Symbol"/>
                          <a:cs typeface="Symbol"/>
                        </a:rPr>
                        <a:t></a:t>
                      </a:r>
                      <a:endParaRPr sz="3900" baseline="-52350">
                        <a:latin typeface="Symbol"/>
                        <a:cs typeface="Symbol"/>
                      </a:endParaRPr>
                    </a:p>
                    <a:p>
                      <a:pPr marL="273685" algn="ctr">
                        <a:lnSpc>
                          <a:spcPts val="2265"/>
                        </a:lnSpc>
                      </a:pPr>
                      <a:r>
                        <a:rPr sz="1950" spc="7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950" spc="75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1950" spc="-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700000</a:t>
                      </a:r>
                      <a:r>
                        <a:rPr sz="195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195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950" spc="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Symbol"/>
                          <a:cs typeface="Symbol"/>
                        </a:rPr>
                        <a:t></a:t>
                      </a:r>
                      <a:r>
                        <a:rPr sz="2050" spc="-25" dirty="0">
                          <a:latin typeface="Times New Roman"/>
                          <a:cs typeface="Times New Roman"/>
                        </a:rPr>
                        <a:t>1</a:t>
                      </a: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7310" algn="ctr">
                        <a:lnSpc>
                          <a:spcPts val="1900"/>
                        </a:lnSpc>
                        <a:tabLst>
                          <a:tab pos="2830195" algn="l"/>
                          <a:tab pos="3153410" algn="l"/>
                        </a:tabLst>
                      </a:pPr>
                      <a:r>
                        <a:rPr sz="210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21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-15" baseline="23611" dirty="0">
                          <a:latin typeface="Times New Roman"/>
                          <a:cs typeface="Times New Roman"/>
                        </a:rPr>
                        <a:t>2100000</a:t>
                      </a:r>
                      <a:r>
                        <a:rPr sz="3000" spc="-150" baseline="2361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2100" b="1" dirty="0">
                          <a:latin typeface="Malgun Gothic"/>
                          <a:cs typeface="Malgun Gothic"/>
                        </a:rPr>
                        <a:t>2.999991</a:t>
                      </a:r>
                      <a:r>
                        <a:rPr sz="2100" b="1" spc="-434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3150" spc="-75" baseline="10582" dirty="0">
                          <a:latin typeface="Symbol"/>
                          <a:cs typeface="Symbol"/>
                        </a:rPr>
                        <a:t></a:t>
                      </a:r>
                      <a:r>
                        <a:rPr sz="3150" baseline="10582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300" b="1" spc="-37" baseline="3156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37" baseline="41666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baseline="41666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150" baseline="10582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150" spc="682" baseline="1058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150" baseline="39682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3150" spc="637" baseline="3968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150" baseline="10582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150" spc="532" baseline="10582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150" spc="-75" baseline="10582" dirty="0">
                          <a:latin typeface="Times New Roman"/>
                          <a:cs typeface="Times New Roman"/>
                        </a:rPr>
                        <a:t>3</a:t>
                      </a:r>
                      <a:endParaRPr sz="3150" baseline="10582">
                        <a:latin typeface="Times New Roman"/>
                        <a:cs typeface="Times New Roman"/>
                      </a:endParaRPr>
                    </a:p>
                    <a:p>
                      <a:pPr marR="190500" algn="ctr">
                        <a:lnSpc>
                          <a:spcPts val="1900"/>
                        </a:lnSpc>
                        <a:tabLst>
                          <a:tab pos="2509520" algn="l"/>
                          <a:tab pos="3101975" algn="l"/>
                        </a:tabLst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700002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300" b="1" spc="-37" baseline="11363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37" baseline="4629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baseline="4629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150" spc="-75" baseline="-5291" dirty="0">
                          <a:latin typeface="Times New Roman"/>
                          <a:cs typeface="Times New Roman"/>
                        </a:rPr>
                        <a:t>1</a:t>
                      </a:r>
                      <a:endParaRPr sz="3150" baseline="-5291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Scenario-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II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(with</a:t>
                      </a:r>
                      <a:r>
                        <a:rPr sz="1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large value</a:t>
                      </a:r>
                      <a:r>
                        <a:rPr sz="1800" b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n)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ts val="1850"/>
                        </a:lnSpc>
                        <a:spcBef>
                          <a:spcPts val="5"/>
                        </a:spcBef>
                        <a:tabLst>
                          <a:tab pos="1353185" algn="l"/>
                          <a:tab pos="2037714" algn="l"/>
                          <a:tab pos="2679065" algn="l"/>
                        </a:tabLst>
                      </a:pPr>
                      <a:r>
                        <a:rPr sz="1800" b="1" spc="-10" dirty="0">
                          <a:solidFill>
                            <a:srgbClr val="DD0805"/>
                          </a:solidFill>
                          <a:latin typeface="Arial"/>
                          <a:cs typeface="Arial"/>
                        </a:rPr>
                        <a:t>n=700,000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="1" spc="-15" baseline="-20833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=9,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k=3,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800" b="1" spc="-30" baseline="-20833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=3</a:t>
                      </a:r>
                      <a:endParaRPr sz="1800" dirty="0">
                        <a:latin typeface="Arial"/>
                        <a:cs typeface="Arial"/>
                      </a:endParaRPr>
                    </a:p>
                    <a:p>
                      <a:pPr marR="336550" algn="ctr">
                        <a:lnSpc>
                          <a:spcPts val="2665"/>
                        </a:lnSpc>
                        <a:tabLst>
                          <a:tab pos="497840" algn="l"/>
                        </a:tabLst>
                      </a:pPr>
                      <a:r>
                        <a:rPr sz="3075" baseline="-23035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75" spc="-270" baseline="-230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690" baseline="-52350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3900" baseline="-523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5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950" dirty="0">
                          <a:latin typeface="Symbol"/>
                          <a:cs typeface="Symbol"/>
                        </a:rPr>
                        <a:t></a:t>
                      </a:r>
                      <a:r>
                        <a:rPr sz="195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aseline="-16203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202" baseline="-16203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3900" spc="-690" baseline="-52350" dirty="0">
                          <a:latin typeface="Symbol"/>
                          <a:cs typeface="Symbol"/>
                        </a:rPr>
                        <a:t></a:t>
                      </a:r>
                      <a:endParaRPr sz="3900" baseline="-52350" dirty="0">
                        <a:latin typeface="Symbol"/>
                        <a:cs typeface="Symbol"/>
                      </a:endParaRPr>
                    </a:p>
                    <a:p>
                      <a:pPr marL="79375" algn="ctr">
                        <a:lnSpc>
                          <a:spcPts val="2190"/>
                        </a:lnSpc>
                      </a:pPr>
                      <a:r>
                        <a:rPr sz="1950" spc="105" dirty="0">
                          <a:latin typeface="Calibri"/>
                          <a:cs typeface="Calibri"/>
                        </a:rPr>
                        <a:t>k</a:t>
                      </a:r>
                      <a:r>
                        <a:rPr sz="1950" spc="105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1950" spc="105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950" spc="105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1950" spc="10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95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spc="-2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37" baseline="-16203" dirty="0">
                          <a:latin typeface="Calibri"/>
                          <a:cs typeface="Calibri"/>
                        </a:rPr>
                        <a:t>p</a:t>
                      </a:r>
                      <a:endParaRPr sz="1800" baseline="-16203" dirty="0">
                        <a:latin typeface="Calibri"/>
                        <a:cs typeface="Calibri"/>
                      </a:endParaRPr>
                    </a:p>
                    <a:p>
                      <a:pPr marL="1332230" marR="1175385" indent="-258445">
                        <a:lnSpc>
                          <a:spcPct val="83300"/>
                        </a:lnSpc>
                        <a:spcBef>
                          <a:spcPts val="1385"/>
                        </a:spcBef>
                        <a:tabLst>
                          <a:tab pos="1619250" algn="l"/>
                        </a:tabLst>
                      </a:pPr>
                      <a:r>
                        <a:rPr sz="3150" baseline="-22486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150" spc="-330" baseline="-22486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705" baseline="-52350" dirty="0">
                          <a:latin typeface="Symbol"/>
                          <a:cs typeface="Symbol"/>
                        </a:rPr>
                        <a:t></a:t>
                      </a:r>
                      <a:r>
                        <a:rPr sz="3900" baseline="-52350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700000</a:t>
                      </a:r>
                      <a:r>
                        <a:rPr sz="1600" dirty="0">
                          <a:latin typeface="Symbol"/>
                          <a:cs typeface="Symbol"/>
                        </a:rPr>
                        <a:t>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900" spc="-690" baseline="-52350" dirty="0">
                          <a:latin typeface="Symbol"/>
                          <a:cs typeface="Symbol"/>
                        </a:rPr>
                        <a:t></a:t>
                      </a:r>
                      <a:r>
                        <a:rPr sz="3900" baseline="-52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</a:t>
                      </a:r>
                      <a:r>
                        <a:rPr sz="2000" spc="-2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700000</a:t>
                      </a:r>
                      <a:r>
                        <a:rPr sz="2000" dirty="0">
                          <a:latin typeface="Symbol"/>
                          <a:cs typeface="Symbol"/>
                        </a:rPr>
                        <a:t>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0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20" dirty="0">
                          <a:latin typeface="Symbol"/>
                          <a:cs typeface="Symbol"/>
                        </a:rPr>
                        <a:t>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3</a:t>
                      </a:r>
                      <a:endParaRPr sz="21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ts val="1870"/>
                        </a:lnSpc>
                        <a:tabLst>
                          <a:tab pos="2874645" algn="l"/>
                          <a:tab pos="3198495" algn="l"/>
                          <a:tab pos="3733800" algn="l"/>
                        </a:tabLst>
                      </a:pPr>
                      <a:r>
                        <a:rPr sz="210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2100" spc="-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00" spc="-15" baseline="23611" dirty="0">
                          <a:latin typeface="Times New Roman"/>
                          <a:cs typeface="Times New Roman"/>
                        </a:rPr>
                        <a:t>6300000</a:t>
                      </a:r>
                      <a:r>
                        <a:rPr sz="3000" spc="-254" baseline="2361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-1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2100" b="1" spc="-10" dirty="0">
                          <a:latin typeface="Malgun Gothic"/>
                          <a:cs typeface="Malgun Gothic"/>
                        </a:rPr>
                        <a:t>2.999991</a:t>
                      </a:r>
                      <a:r>
                        <a:rPr sz="3075" spc="-15" baseline="-8130" dirty="0">
                          <a:latin typeface="Symbol"/>
                          <a:cs typeface="Symbol"/>
                        </a:rPr>
                        <a:t></a:t>
                      </a:r>
                      <a:r>
                        <a:rPr sz="3075" baseline="-813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225" b="1" spc="-37" baseline="1421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37" baseline="9259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b="1" baseline="9259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075" baseline="-813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75" spc="735" baseline="-8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75" spc="-75" baseline="2168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3075" baseline="2168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075" baseline="-8130" dirty="0">
                          <a:latin typeface="Symbol"/>
                          <a:cs typeface="Symbol"/>
                        </a:rPr>
                        <a:t></a:t>
                      </a:r>
                      <a:r>
                        <a:rPr sz="3075" spc="577" baseline="-8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075" spc="-75" baseline="-8130" dirty="0">
                          <a:latin typeface="Times New Roman"/>
                          <a:cs typeface="Times New Roman"/>
                        </a:rPr>
                        <a:t>3</a:t>
                      </a:r>
                      <a:endParaRPr sz="3075" baseline="-8130" dirty="0">
                        <a:latin typeface="Times New Roman"/>
                        <a:cs typeface="Times New Roman"/>
                      </a:endParaRPr>
                    </a:p>
                    <a:p>
                      <a:pPr marL="314960">
                        <a:lnSpc>
                          <a:spcPts val="1870"/>
                        </a:lnSpc>
                        <a:tabLst>
                          <a:tab pos="2873375" algn="l"/>
                          <a:tab pos="3474720" algn="l"/>
                        </a:tabLst>
                      </a:pP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2100006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3225" b="1" spc="-37" baseline="-6459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spc="-37" baseline="-27777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b="1" baseline="-27777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075" spc="-75" baseline="-24390" dirty="0">
                          <a:latin typeface="Times New Roman"/>
                          <a:cs typeface="Times New Roman"/>
                        </a:rPr>
                        <a:t>3</a:t>
                      </a:r>
                      <a:endParaRPr sz="3075" baseline="-2439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7436541" y="6008670"/>
            <a:ext cx="205740" cy="0"/>
          </a:xfrm>
          <a:custGeom>
            <a:avLst/>
            <a:gdLst/>
            <a:ahLst/>
            <a:cxnLst/>
            <a:rect l="l" t="t" r="r" b="b"/>
            <a:pathLst>
              <a:path w="205740">
                <a:moveTo>
                  <a:pt x="0" y="0"/>
                </a:moveTo>
                <a:lnTo>
                  <a:pt x="205402" y="0"/>
                </a:lnTo>
              </a:path>
            </a:pathLst>
          </a:custGeom>
          <a:ln w="4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41725" y="6008670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5914" y="0"/>
                </a:lnTo>
              </a:path>
            </a:pathLst>
          </a:custGeom>
          <a:ln w="4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3A0FD-BC71-3AF5-C7DE-6D88566A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25C5FC-A72E-3E44-7E75-12B0C7AA0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661" y="1846263"/>
            <a:ext cx="711712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3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BB017-49E1-629F-72E8-E73F26AB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EF5507-90AC-E895-9ACC-1727B4FD26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2" b="21068"/>
          <a:stretch>
            <a:fillRect/>
          </a:stretch>
        </p:blipFill>
        <p:spPr>
          <a:xfrm>
            <a:off x="476592" y="640080"/>
            <a:ext cx="8187348" cy="360273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530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MAXIMUM</a:t>
            </a:r>
            <a:r>
              <a:rPr spc="-20" dirty="0"/>
              <a:t> </a:t>
            </a:r>
            <a:r>
              <a:rPr dirty="0"/>
              <a:t>THEORETICAL</a:t>
            </a:r>
            <a:r>
              <a:rPr spc="-15" dirty="0"/>
              <a:t> </a:t>
            </a:r>
            <a:r>
              <a:rPr spc="-10" dirty="0"/>
              <a:t>SPEEDUP?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652142"/>
            <a:ext cx="8159115" cy="1760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maximum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speedup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can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“theoretically”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achieve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k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segments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particular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pipeline.</a:t>
            </a:r>
            <a:endParaRPr sz="2400">
              <a:latin typeface="Arial MT"/>
              <a:cs typeface="Arial MT"/>
            </a:endParaRPr>
          </a:p>
          <a:p>
            <a:pPr marR="113030" algn="ctr">
              <a:lnSpc>
                <a:spcPct val="100000"/>
              </a:lnSpc>
              <a:spcBef>
                <a:spcPts val="2680"/>
              </a:spcBef>
              <a:tabLst>
                <a:tab pos="4560570" algn="l"/>
              </a:tabLst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Maximum</a:t>
            </a:r>
            <a:r>
              <a:rPr sz="2400" b="1" spc="-12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theoretical</a:t>
            </a:r>
            <a:r>
              <a:rPr sz="2400" b="1" spc="-11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Speedup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	</a:t>
            </a:r>
            <a:r>
              <a:rPr sz="3600" baseline="1157" dirty="0">
                <a:latin typeface="Symbol"/>
                <a:cs typeface="Symbol"/>
              </a:rPr>
              <a:t></a:t>
            </a:r>
            <a:r>
              <a:rPr sz="3600" spc="337" baseline="1157" dirty="0">
                <a:latin typeface="Times New Roman"/>
                <a:cs typeface="Times New Roman"/>
              </a:rPr>
              <a:t> </a:t>
            </a:r>
            <a:r>
              <a:rPr sz="3600" b="1" spc="-75" baseline="1157" dirty="0">
                <a:latin typeface="Calibri"/>
                <a:cs typeface="Calibri"/>
              </a:rPr>
              <a:t>k</a:t>
            </a:r>
            <a:endParaRPr sz="3600" baseline="1157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611" y="4424934"/>
            <a:ext cx="7363459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maximum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theoretical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speedup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k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since,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possible </a:t>
            </a:r>
            <a:r>
              <a:rPr sz="2000" dirty="0">
                <a:latin typeface="Arial MT"/>
                <a:cs typeface="Arial MT"/>
              </a:rPr>
              <a:t>case,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tn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partitioned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exactly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evenly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among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k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stages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tp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=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tn/k.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67BAD3-D04F-416D-881B-A5CAEE9DDEFC}"/>
</file>

<file path=customXml/itemProps2.xml><?xml version="1.0" encoding="utf-8"?>
<ds:datastoreItem xmlns:ds="http://schemas.openxmlformats.org/officeDocument/2006/customXml" ds:itemID="{C8EEE567-2FC5-42A9-BF4B-18AB13968040}"/>
</file>

<file path=customXml/itemProps3.xml><?xml version="1.0" encoding="utf-8"?>
<ds:datastoreItem xmlns:ds="http://schemas.openxmlformats.org/officeDocument/2006/customXml" ds:itemID="{DFA55151-CC59-49BD-89B1-5E1FF7ACE26D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127</TotalTime>
  <Words>2064</Words>
  <Application>Microsoft Office PowerPoint</Application>
  <PresentationFormat>On-screen Show (4:3)</PresentationFormat>
  <Paragraphs>460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 MT</vt:lpstr>
      <vt:lpstr>Malgun Gothic</vt:lpstr>
      <vt:lpstr>Arial</vt:lpstr>
      <vt:lpstr>Calibri</vt:lpstr>
      <vt:lpstr>Calibri Light</vt:lpstr>
      <vt:lpstr>Symbol</vt:lpstr>
      <vt:lpstr>Times New Roman</vt:lpstr>
      <vt:lpstr>Wingdings</vt:lpstr>
      <vt:lpstr>Retrospect</vt:lpstr>
      <vt:lpstr>CS361: Computer Architecture</vt:lpstr>
      <vt:lpstr>PIPELINING INSTRUCTIONS</vt:lpstr>
      <vt:lpstr>WHAT TASKS CAN BENEFIT FROM PIPELINING?</vt:lpstr>
      <vt:lpstr>EXAMPLE: A PIPELINING TASK</vt:lpstr>
      <vt:lpstr>EXAMPLE: A PIPELINING TASK</vt:lpstr>
      <vt:lpstr>SPACE-TIME DIAGRAM</vt:lpstr>
      <vt:lpstr>CS361: Computer Architecture</vt:lpstr>
      <vt:lpstr>EXAMPLE: A PIPELINING TASK</vt:lpstr>
      <vt:lpstr>SPEEDUP SCENARIO-I</vt:lpstr>
      <vt:lpstr>SPEEDUP SCENARIO-I</vt:lpstr>
      <vt:lpstr>GENERALIZED SPEEDUP EQUATION</vt:lpstr>
      <vt:lpstr>PIPELINE SPEEDUP</vt:lpstr>
      <vt:lpstr>SPEEDUP SCENARIO-II</vt:lpstr>
      <vt:lpstr>Speedup Scenario II</vt:lpstr>
      <vt:lpstr>PowerPoint Presentation</vt:lpstr>
      <vt:lpstr>PowerPoint Presentation</vt:lpstr>
      <vt:lpstr>WHAT IS THE MAXIMUM THEORETICAL SPEEDUP?</vt:lpstr>
      <vt:lpstr>PowerPoint Presentation</vt:lpstr>
      <vt:lpstr>PowerPoint Presentation</vt:lpstr>
      <vt:lpstr>WHAT IS THE MAXIMUM THEORETICAL SPEEDUP?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</cp:lastModifiedBy>
  <cp:revision>3</cp:revision>
  <dcterms:created xsi:type="dcterms:W3CDTF">2025-11-16T11:12:58Z</dcterms:created>
  <dcterms:modified xsi:type="dcterms:W3CDTF">2025-11-18T05:54:57Z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2025-11-16T00:00:00Z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0x0101006E4823951FA9BF42B980A03718EB0B18</vt:lpwstr>
  </property>
</Properties>
</file>